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day's topic and its question. The topics come first, each counted on an</a:t>
            </a:r>
          </a:p>
          <a:p>
            <a:r>
              <a:t>invented example small enough to check by hand; the case then asks the same questions of 40,000</a:t>
            </a:r>
          </a:p>
          <a:p>
            <a:r>
              <a:t>carts; the lab asks them of Kalpa's baskets. Transition: where Wednesday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 and Tuesday carry the numbers the room produced on them. Today's node is</a:t>
            </a:r>
          </a:p>
          <a:p>
            <a:r>
              <a:t>lit; Thursday, Friday and Saturday stay dashed. Each day asks what one number is compared with, and</a:t>
            </a:r>
          </a:p>
          <a:p>
            <a:r>
              <a:t>today compares two items sharing a basket with what chance alone would give. The Kalpa node is the</a:t>
            </a:r>
          </a:p>
          <a:p>
            <a:r>
              <a:t>lab after class. Explorer: the home screen, Wednesday lit. Transition: the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topics down the second column once: these are the words the</a:t>
            </a:r>
          </a:p>
          <a:p>
            <a:r>
              <a:t>curriculum uses, so a learner can find each one again by name. Each concept chapter ends on a</a:t>
            </a:r>
          </a:p>
          <a:p>
            <a:r>
              <a:t>number counted from the canteen or the corner shop; the case then asks the same question of</a:t>
            </a:r>
          </a:p>
          <a:p>
            <a:r>
              <a:t>40,000 carts. A 10-minute break follows chapter 4. Chapter 9 opens the afternoon so the morning</a:t>
            </a:r>
          </a:p>
          <a:p>
            <a:r>
              <a:t>carries four new ideas a block. The IITGN faculty session (tentative) takes the afternoon's last</a:t>
            </a:r>
          </a:p>
          <a:p>
            <a:r>
              <a:t>120 minutes. Transition: how the five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map top to bottom. The top band is what the room already has: Week 1's</a:t>
            </a:r>
          </a:p>
          <a:p>
            <a:r>
              <a:t>denominators and like-with-like, Week 1 Thursday's chance reference and its rule of thirty, Week</a:t>
            </a:r>
          </a:p>
          <a:p>
            <a:r>
              <a:t>2's groupby. The five dark boxes are today's topics in the curriculum's order. Every topic is</a:t>
            </a:r>
          </a:p>
          <a:p>
            <a:r>
              <a:t>applied to the case, and the case runs once more on Kalpa in the lab. Lift returns on Thursday</a:t>
            </a:r>
          </a:p>
          <a:p>
            <a:r>
              <a:t>as "beyond the blend" and on Friday as "beyond the baseline". The map comes back at the close of</a:t>
            </a:r>
          </a:p>
          <a:p>
            <a:r>
              <a:t>each chapter with that chapter's box filled. Transition: the case these topics will be used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table top to bottom, then the label line: the company is real, the</a:t>
            </a:r>
          </a:p>
          <a:p>
            <a:r>
              <a:t>situation and the data are synthetic. Define two words as they appear: an impression is one time a</a:t>
            </a:r>
          </a:p>
          <a:p>
            <a:r>
              <a:t>slot was shown, and click-through is clicks divided by impressions. Point at the three tables and</a:t>
            </a:r>
          </a:p>
          <a:p>
            <a:r>
              <a:t>their columns. Ask the room for one reason "in most carts" might be the wrong reason to show an</a:t>
            </a:r>
          </a:p>
          <a:p>
            <a:r>
              <a:t>item, and write the answers on the board without judging them; chapter 4 settles it. This is the</a:t>
            </a:r>
          </a:p>
          <a:p>
            <a:r>
              <a:t>destination: the seven chapters build every tool the ticket needs before chapter 7 opens it again.</a:t>
            </a:r>
          </a:p>
          <a:p>
            <a:r>
              <a:t>Transition: the first topic, on a hostel canteen.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1 of the concept block, the first of three chapters on the topic</a:t>
            </a:r>
          </a:p>
          <a:p>
            <a:r>
              <a:t>"Support, confidence and lift, derived by counting". The canteen cards go on every table now,</a:t>
            </a:r>
          </a:p>
          <a:p>
            <a:r>
              <a:t>twelve per group. No laptop opens until slide S9. Transition: who needs the count.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basket is one bill at a kirana, one order at the canteen, one cart on an app.</a:t>
            </a:r>
          </a:p>
          <a:p>
            <a:r>
              <a:t>One customer fills many baskets, so the basket, never the customer, is what today counts.</a:t>
            </a:r>
          </a:p>
          <a:p>
            <a:r>
              <a:t>Together means in the same basket. Read the four questions; each gets a number before the next.</a:t>
            </a:r>
          </a:p>
          <a:p>
            <a:r>
              <a:t>Transition: the twelve orders.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first: the hurried count adds the two items' counts. Groups</a:t>
            </a:r>
          </a:p>
          <a:p>
            <a:r>
              <a:t>vote with a letter card, argue with a neighbour for a minute, then vote again; the split is</a:t>
            </a:r>
          </a:p>
          <a:p>
            <a:r>
              <a:t>usually a against c. Each option is a claim the cards can settle, so send the room to the cards:</a:t>
            </a:r>
          </a:p>
          <a:p>
            <a:r>
              <a:t>"find the orders that hold both". Explorer: none yet.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each cell of the 2 by 2 aloud from the cards (StatQuest): both, roti</a:t>
            </a:r>
          </a:p>
          <a:p>
            <a:r>
              <a:t>only, sabzi only, neither, and the total. The trap, exactly: 8 for roti and sabzi, from adding</a:t>
            </a:r>
          </a:p>
          <a:p>
            <a:r>
              <a:t>the two counts; the decision it misleads is a combo printed for a pair that shares three orders.</a:t>
            </a:r>
          </a:p>
          <a:p>
            <a:r>
              <a:t>The check is the 2 by 2 adding to twelve. Callback to Week 1 Monday: support is a rate, and its</a:t>
            </a:r>
          </a:p>
          <a:p>
            <a:r>
              <a:t>denominator is every basket. Transition: every pair at once.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bars: dal rice and chaas share 6 of the 12 orders, the most common pair,</a:t>
            </a:r>
          </a:p>
          <a:p>
            <a:r>
              <a:t>and four of the six most common pairs hold chaas. Park the question the room will ask: is the</a:t>
            </a:r>
          </a:p>
          <a:p>
            <a:r>
              <a:t>most common pair the best one to put on the combo board? Chapter 4 answers it. Then the formula,</a:t>
            </a:r>
          </a:p>
          <a:p>
            <a:r>
              <a:t>once, as the shorthand for the count just done, and the three lines, each said in plain words</a:t>
            </a:r>
          </a:p>
          <a:p>
            <a:r>
              <a:t>(Krish Naik); notebook 01 runs them.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rules are the slide a learner photographs. Check question before moving on:</a:t>
            </a:r>
          </a:p>
          <a:p>
            <a:r>
              <a:t>"Roti and sabzi and roti and chaas both read support 0.25. Does support tell the two pairs apart?"</a:t>
            </a:r>
          </a:p>
          <a:p>
            <a:r>
              <a:t>It does not, which is what chapters 2 and 3 are for. Fill the map's first box with 0.25.</a:t>
            </a:r>
          </a:p>
          <a:p>
            <a:r>
              <a:t>Transition: chapter 2, confidence.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2 of the concept block, the second of three chapters on "Support,</a:t>
            </a:r>
          </a:p>
          <a:p>
            <a:r>
              <a:t>confidence and lift, derived by counting". Same cards.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Callback to Week 1 Tuesday: a rate inside a segment, whose denominator is the</a:t>
            </a:r>
          </a:p>
          <a:p>
            <a:r>
              <a:t>segment's size. Confidence from A to B shrinks the world to A's baskets, then counts how many of</a:t>
            </a:r>
          </a:p>
          <a:p>
            <a:r>
              <a:t>those hold B.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Put the common wrong answer to the room in its own words first: "confidence is</a:t>
            </a:r>
          </a:p>
          <a:p>
            <a:r>
              <a:t>the chance the two go together, so it reads the same both ways". Vote, argue, vote again; the</a:t>
            </a:r>
          </a:p>
          <a:p>
            <a:r>
              <a:t>split is usually a against b. Option c is support, which the room met in chapter 1. Transition:</a:t>
            </a:r>
          </a:p>
          <a:p>
            <a:r>
              <a:t>both directions, counted.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both directions on the cards. The GIF of the shrinking world (whiteboards,</a:t>
            </a:r>
          </a:p>
          <a:p>
            <a:r>
              <a:t>canteen_shrink) dims the orders in two steps: all twelve, then dal rice's six, then the three with</a:t>
            </a:r>
          </a:p>
          <a:p>
            <a:r>
              <a:t>papad. Explorer: scene W2, two buttons that grey the baskets without A, then without B.</a:t>
            </a:r>
          </a:p>
          <a:p>
            <a:r>
              <a:t>Transition: how far direction can swing a number.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Points on the diagonal read the same both ways; every point off it is a pair</a:t>
            </a:r>
          </a:p>
          <a:p>
            <a:r>
              <a:t>whose two items have different counts. Check question: "Chaas is in 9 orders and sabzi in 4,</a:t>
            </a:r>
          </a:p>
          <a:p>
            <a:r>
              <a:t>together in 4. Sabzi to chaas? Chaas to sabzi?" 1.00 and 0.44: the same four orders, two</a:t>
            </a:r>
          </a:p>
          <a:p>
            <a:r>
              <a:t>sentences. Notebook 02 runs both directions for every pair.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Rule 4 is the question chapter 3 answers: is a confidence of 1.00 special when</a:t>
            </a:r>
          </a:p>
          <a:p>
            <a:r>
              <a:t>chaas is in 9 of 12 orders anyway? Fill the map's second box with 0.60. Transition: chapter 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3 of the concept block, the third of three chapters on "Support,</a:t>
            </a:r>
          </a:p>
          <a:p>
            <a:r>
              <a:t>confidence and lift, derived by counting".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Callback to Week 1 Thursday: the chance reference, the number a count would show</a:t>
            </a:r>
          </a:p>
          <a:p>
            <a:r>
              <a:t>if nothing were going on, which the shuffle made and which this chapter makes with one</a:t>
            </a:r>
          </a:p>
          <a:p>
            <a:r>
              <a:t>multiplication. The chapter stays with counts and shares.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misconceptions said aloud: "expected means what I expect to see", when it</a:t>
            </a:r>
          </a:p>
          <a:p>
            <a:r>
              <a:t>means what chance alone would give; and "ignoring each other means never meeting", when two</a:t>
            </a:r>
          </a:p>
          <a:p>
            <a:r>
              <a:t>items that ignore each other still share baskets at their own rates. Vote, argue, vote again;</a:t>
            </a:r>
          </a:p>
          <a:p>
            <a:r>
              <a:t>the split is usually b against c. Transition: the proportion, counted.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Build the chance count aloud on the board: total times A's share times B's share.</a:t>
            </a:r>
          </a:p>
          <a:p>
            <a:r>
              <a:t>Then the four pairs on the picture, left to right: 2.25, 1.20, 1.00, 0.80. Below one, together</a:t>
            </a:r>
          </a:p>
          <a:p>
            <a:r>
              <a:t>less often than chance; near one, chance; above one, a pull. Transition: the same idea as areas.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4 on the picture and the formula and 4 in notebook 03, which runs the second</a:t>
            </a:r>
          </a:p>
          <a:p>
            <a:r>
              <a:t>route and the thirteen pairs' lifts. Read the picture as two areas (3Blue1Brown): roti's band times sabzi's band is</a:t>
            </a:r>
          </a:p>
          <a:p>
            <a:r>
              <a:t>the box chance gives; the seen box is taller. Show the cancelling step on the board:</a:t>
            </a:r>
          </a:p>
          <a:p>
            <a:r>
              <a:t>3 / (12 x 4/12 x 4/12) = 3 x 12 / (4 x 4). Explorer: scene W1, sliders for the two shares and the</a:t>
            </a:r>
          </a:p>
          <a:p>
            <a:r>
              <a:t>overlap. Check question: "Papad is in 5 orders, chaas in 9, both in 3. Chance? Lift?" 3.75 and</a:t>
            </a:r>
          </a:p>
          <a:p>
            <a:r>
              <a:t>0.80. Transition: the rules, and what lift never says.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Rule 4 is this chapter's trap: the number is right and the sentence is wrong.</a:t>
            </a:r>
          </a:p>
          <a:p>
            <a:r>
              <a:t>The decision it misleads is a roti promotion run to sell sabzi, whose sabzi sales need not move as</a:t>
            </a:r>
          </a:p>
          <a:p>
            <a:r>
              <a:t>the number seems to promise; the fix is a change at the counter, tested fairly. The test that would</a:t>
            </a:r>
          </a:p>
          <a:p>
            <a:r>
              <a:t>show cause is this week's Monday faculty session on A/B testing (tentative).</a:t>
            </a:r>
          </a:p>
          <a:p>
            <a:r>
              <a:t>Checkpoint: three learners say roti and sabzi's three numbers from the board, 0.25, 0.75 and 2.25.</a:t>
            </a:r>
          </a:p>
          <a:p>
            <a:r>
              <a:t>Fill the map's third box. Transition: chapter 4, the item in every order.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4 of the concept block, on the topic "The confidence trap; lift near</a:t>
            </a:r>
          </a:p>
          <a:p>
            <a:r>
              <a:t>one".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base rate is chaas's own share of all orders, 0.75: how common it is anyway.</a:t>
            </a:r>
          </a:p>
          <a:p>
            <a:r>
              <a:t>An item in most baskets is in most of A's baskets too, whatever A is.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in the manager's words: "every dal rice order has chaas, so</a:t>
            </a:r>
          </a:p>
          <a:p>
            <a:r>
              <a:t>chaas is dal rice's perfect partner; print the combo." Peer instruction here: the room usually</a:t>
            </a:r>
          </a:p>
          <a:p>
            <a:r>
              <a:t>splits between a and c. Vote, two minutes with a neighbour, vote again.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trap, exactly: 1.00 read as a bundle; the decision it misleads is a combo</a:t>
            </a:r>
          </a:p>
          <a:p>
            <a:r>
              <a:t>board filled with chaas beside everything, which changes nothing, since chaas was already in nine</a:t>
            </a:r>
          </a:p>
          <a:p>
            <a:r>
              <a:t>of twelve orders. The check: chaas's own share. The fix: read lift. Today, near one means under</a:t>
            </a:r>
          </a:p>
          <a:p>
            <a:r>
              <a:t>the 1.5 bar chapter 6 sets, too weak a pull to act on; on twelve orders a lift of 1.33 is also</a:t>
            </a:r>
          </a:p>
          <a:p>
            <a:r>
              <a:t>within luck's reach, as chapter 6's month shows.</a:t>
            </a:r>
          </a:p>
          <a:p>
            <a:r>
              <a:t>Transition: what popularity does to confidence, in general.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Notebook 04's cells 6 to 10 run the chaas pairs and the sweep for any learner</a:t>
            </a:r>
          </a:p>
          <a:p>
            <a:r>
              <a:t>who wants the code. Explorer: scene W3, the slider that raises the popular item's share while lift</a:t>
            </a:r>
          </a:p>
          <a:p>
            <a:r>
              <a:t>stays put. Check question: "An item is in 60 percent of a shop's bills. A partner reads confidence</a:t>
            </a:r>
          </a:p>
          <a:p>
            <a:r>
              <a:t>0.66 toward it. Bundle them?" Lift 1.10, near one: no, since the partner's buyers take it about</a:t>
            </a:r>
          </a:p>
          <a:p>
            <a:r>
              <a:t>as often as everyone does.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2 for the rules and 6 for the drill. The Feynman line for the room to repeat: "the item in every basket makes a</a:t>
            </a:r>
          </a:p>
          <a:p>
            <a:r>
              <a:t>weak bundle partner, because it was going into the basket anyway". Where the room has met this: the</a:t>
            </a:r>
          </a:p>
          <a:p>
            <a:r>
              <a:t>"frequently bought together" strip on any shopping app. Then the first concept drill, items 1 to</a:t>
            </a:r>
          </a:p>
          <a:p>
            <a:r>
              <a:t>4 of `exercises/unguided/C2_W04_D03_canteen_concepts_STUDENT.md`, on paper, 6 minutes inside this</a:t>
            </a:r>
          </a:p>
          <a:p>
            <a:r>
              <a:t>chapter's 18. Checkpoint: every group posts its four letters. Fill the map's fourth box, then a</a:t>
            </a:r>
          </a:p>
          <a:p>
            <a:r>
              <a:t>break of 10 minutes. Transition after the break:</a:t>
            </a:r>
          </a:p>
          <a:p>
            <a:r>
              <a:t>chapter 5, every pair at once.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5 of the concept block, on the topic "Basket analysis on the order</a:t>
            </a:r>
          </a:p>
          <a:p>
            <a:r>
              <a:t>items". Notebook 05 opens now and the chapter runs as a code-along.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Callback to Week 2 Thursday: groupby and agg on order lines. The questions on the</a:t>
            </a:r>
          </a:p>
          <a:p>
            <a:r>
              <a:t>way: what is an order line; how does a basket become pairs; how many pairs do twelve orders hold;</a:t>
            </a:r>
          </a:p>
          <a:p>
            <a:r>
              <a:t>why sort the two names; which pair tops the table.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misconception: "33 lines, so 33 pairs". Vote, then count one order by hand</a:t>
            </a:r>
          </a:p>
          <a:p>
            <a:r>
              <a:t>before the reveal; the split is usually a against b. Transition: one order, by hand.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T01 into its three pairs on the board. The trap, exactly: 60 pair counts</a:t>
            </a:r>
          </a:p>
          <a:p>
            <a:r>
              <a:t>against 30, from counting each pair with its names both ways round, or a pair's count split across</a:t>
            </a:r>
          </a:p>
          <a:p>
            <a:r>
              <a:t>two keys when the names are left unsorted. The decision it misleads is a ranking built on doubled</a:t>
            </a:r>
          </a:p>
          <a:p>
            <a:r>
              <a:t>or split counts; the check is each basket's k x (k - 1) / 2 added up; the fix is sorted names and</a:t>
            </a:r>
          </a:p>
          <a:p>
            <a:r>
              <a:t>`combinations`. A one-item basket adds no pair.</a:t>
            </a:r>
          </a:p>
          <a:p>
            <a:r>
              <a:t>Transition: the five lines that do it for every basket.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Code-along in notebook 05 (Krish Naik): say what each line is for before running</a:t>
            </a:r>
          </a:p>
          <a:p>
            <a:r>
              <a:t>it. `combinations` of a sorted basket gives each pair once with its names in order (Python's</a:t>
            </a:r>
          </a:p>
          <a:p>
            <a:r>
              <a:t>itertools documentation, checked 13 October 2026). The roti and sabzi row reads back chapters 1 to</a:t>
            </a:r>
          </a:p>
          <a:p>
            <a:r>
              <a:t>3's hand counts: 3 orders, lift 2.25. Hold the question "which top do you trust?" for chapter 6.</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Check question: "A basket with four items adds how many pairs, and which line</a:t>
            </a:r>
          </a:p>
          <a:p>
            <a:r>
              <a:t>builds the baskets?" Six; the groupby line. Fill the map's fifth box. Transition: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6 of the concept block, on the topic "The support floor and the watch</a:t>
            </a:r>
          </a:p>
          <a:p>
            <a:r>
              <a:t>list".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Callback to Week 1 Thursday: distrust any rate under thirty observations. A floor</a:t>
            </a:r>
          </a:p>
          <a:p>
            <a:r>
              <a:t>is the fewest baskets a pair must sit in before anyone acts on its lift. Transition: luck, tested.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Prediction one, on the canteen's own pair first: gulab jamun and curd read 6.0;</a:t>
            </a:r>
          </a:p>
          <a:p>
            <a:r>
              <a:t>promote it, drop it, watch it with a trial, or lower the floor until it qualifies? Then this</a:t>
            </a:r>
          </a:p>
          <a:p>
            <a:r>
              <a:t>prediction, on 600 orders where nothing is going on by construction; the split is usually a</a:t>
            </a:r>
          </a:p>
          <a:p>
            <a:r>
              <a:t>against b. Transition: the month.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picture left to right: wild on the left, flat on the right. Explorer:</a:t>
            </a:r>
          </a:p>
          <a:p>
            <a:r>
              <a:t>scene W5, the floor slider that counts the pairs that qualify. Transition: the floor, set on the</a:t>
            </a:r>
          </a:p>
          <a:p>
            <a:r>
              <a:t>twelve orders.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floor is a decision, stated as a count: 3 of 12 orders here, 1 percent of</a:t>
            </a:r>
          </a:p>
          <a:p>
            <a:r>
              <a:t>40,000 carts in the case, 5 percent of the lab's baskets. With no month of pure chance to hand,</a:t>
            </a:r>
          </a:p>
          <a:p>
            <a:r>
              <a:t>Week 1's thirty is the safe default. A watch-list entry is the pair, its lift and support, the</a:t>
            </a:r>
          </a:p>
          <a:p>
            <a:r>
              <a:t>trial (where, for how long, against which other half of customers) and the pass rule: the pair is</a:t>
            </a:r>
          </a:p>
          <a:p>
            <a:r>
              <a:t>promoted only if the half that sees it buys the pair more often than the other half, by a gap</a:t>
            </a:r>
          </a:p>
          <a:p>
            <a:r>
              <a:t>written down before the trial starts. Notebook 06's cells 7 and 8 sort the thirteen pairs and draw</a:t>
            </a:r>
          </a:p>
          <a:p>
            <a:r>
              <a:t>this map. How long a trial must run is a sample-size question, parked</a:t>
            </a:r>
          </a:p>
          <a:p>
            <a:r>
              <a:t>for the IITGN faculty session (tentative).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Fill the map's sixth box. The concept block now pauses with five of six morning</a:t>
            </a:r>
          </a:p>
          <a:p>
            <a:r>
              <a:t>boxes filled; chapter 9 fills the last after lunch. Transition: the case, opened again.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first case chapter, level L1. Receipts on the table: twelve cart cards per</a:t>
            </a:r>
          </a:p>
          <a:p>
            <a:r>
              <a:t>group. Laptops stay shut while the cards are counted; notebook 07 repeats the count in code and runs</a:t>
            </a:r>
          </a:p>
          <a:p>
            <a:r>
              <a:t>in the lab or the evening, or at S42 if the drill finishes early. Transition: what the chapter</a:t>
            </a:r>
          </a:p>
          <a:p>
            <a:r>
              <a:t>answers,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room knows all three counts from the canteen; here they are a drill on the</a:t>
            </a:r>
          </a:p>
          <a:p>
            <a:r>
              <a:t>case's own carts. Transition: where the case ends.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the finished answer's shape once, then earn it (fast.ai). Every word on the</a:t>
            </a:r>
          </a:p>
          <a:p>
            <a:r>
              <a:t>three cards is now one the room can read: lift and the floor from chapters 3 and 6, and the rupees</a:t>
            </a:r>
          </a:p>
          <a:p>
            <a:r>
              <a:t>from chapter 9 after lunch. The numbers arrive in chapter 10, so its predictions stay open. Leave</a:t>
            </a:r>
          </a:p>
          <a:p>
            <a:r>
              <a:t>the cause of the fall open too: chapter 8 finds it. Transition: twelve carts.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16 minutes, the twelve-cart drill with the guided set</a:t>
            </a:r>
          </a:p>
          <a:p>
            <a:r>
              <a:t>`exercises/guided/C2_W04_D03_three_counts_STUDENT.md`. Each group holds these twelve as printed</a:t>
            </a:r>
          </a:p>
          <a:p>
            <a:r>
              <a:t>cards. Say: "sort the pack by whether it has bread, then count how many of those have milk; now</a:t>
            </a:r>
          </a:p>
          <a:p>
            <a:r>
              <a:t>count how many have milk at all." Counts are called out and written on the board: milk 8, bread 4,</a:t>
            </a:r>
          </a:p>
          <a:p>
            <a:r>
              <a:t>both 4; the room says 0.33, 1.00, 2.67 expected, 1.50. When a group stops at a confidence and calls</a:t>
            </a:r>
          </a:p>
          <a:p>
            <a:r>
              <a:t>it the answer, ask: "how many carts hold milk whether or not they hold bread?" Transition: predict</a:t>
            </a:r>
          </a:p>
          <a:p>
            <a:r>
              <a:t>before the reveal.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drill gave bread to milk; this asks the other direction, which no item of the</a:t>
            </a:r>
          </a:p>
          <a:p>
            <a:r>
              <a:t>guided set computed. Groups commit in writing; the split is usually a against b. Option a is</a:t>
            </a:r>
          </a:p>
          <a:p>
            <a:r>
              <a:t>chapter 2's misconception on the case's carts. 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boxes left to right, writing each number on the board; these are</a:t>
            </a:r>
          </a:p>
          <a:p>
            <a:r>
              <a:t>chapters 1 to 3's counts on new numbers. Then the reverse confidence, milk to bread, 4 of 8, 0.50:</a:t>
            </a:r>
          </a:p>
          <a:p>
            <a:r>
              <a:t>the same four carts, two sentences, as chapter 2 showed. Lift is the same from both sides.</a:t>
            </a:r>
          </a:p>
          <a:p>
            <a:r>
              <a:t>Transition: what confidence threw away.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now predicts this trap, since chapter 4 met it on chaas. The GIF beside</a:t>
            </a:r>
          </a:p>
          <a:p>
            <a:r>
              <a:t>this still dims the carts in two steps (whiteboards folder). Explorer: scene W2. Transition: the</a:t>
            </a:r>
          </a:p>
          <a:p>
            <a:r>
              <a:t>other pairs on the cards.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Groups compute the chips row first, then the ice cream row. Ask: "would you give</a:t>
            </a:r>
          </a:p>
          <a:p>
            <a:r>
              <a:t>a slot to the lift of 12?" The room answers with chapter 6's floor. Transition: which pair the</a:t>
            </a:r>
          </a:p>
          <a:p>
            <a:r>
              <a:t>full data puts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argue in pairs, vote again; the split is usually a against b. Write it on</a:t>
            </a:r>
          </a:p>
          <a:p>
            <a:r>
              <a:t>the board. 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trap aloud: the team built the strip on this table. The check is</a:t>
            </a:r>
          </a:p>
          <a:p>
            <a:r>
              <a:t>chapter 3's question, how often would milk sit beside bread if the two ignored each other.</a:t>
            </a:r>
          </a:p>
          <a:p>
            <a:r>
              <a:t>Transition: chapter 8, every cart.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second case chapter, levels L2 and L3. Notebook 08 opens now: one plain line</a:t>
            </a:r>
          </a:p>
          <a:p>
            <a:r>
              <a:t>above every cell, run top to bottom with the room. Transition: what it answers.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opening on the five-minute paper check</a:t>
            </a:r>
          </a:p>
          <a:p>
            <a:r>
              <a:t>`exercises/unguided/C2_W04_D03_ch8_one_pair_STUDENT.md`: four counts from the case, three numbers</a:t>
            </a:r>
          </a:p>
          <a:p>
            <a:r>
              <a:t>and a second route, letters posted before the notebook runs. Then read the four questions; each</a:t>
            </a:r>
          </a:p>
          <a:p>
            <a:r>
              <a:t>ends on a number from notebook 08. Transition: the five lines.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Code-along in notebook 08 (Krish Naik), shortened, since the room built these</a:t>
            </a:r>
          </a:p>
          <a:p>
            <a:r>
              <a:t>lines in chapter 5: say what each line is for and run it. Interview note: "why sorted?" is a</a:t>
            </a:r>
          </a:p>
          <a:p>
            <a:r>
              <a:t>common follow-up. Transition: bread and milk on every cart.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picture as two areas, the same picture chapter 3 drew for roti and</a:t>
            </a:r>
          </a:p>
          <a:p>
            <a:r>
              <a:t>sabzi: bread's band times milk's band is the overlap chance gives; the overlap seen is barely</a:t>
            </a:r>
          </a:p>
          <a:p>
            <a:r>
              <a:t>bigger. The 4 percent above chance is no pull: bigger carts hold any two staples more often, and</a:t>
            </a:r>
          </a:p>
          <a:p>
            <a:r>
              <a:t>the interview extra counts chance within each cart size. Explorer: scene W1. Transition: is bread</a:t>
            </a:r>
          </a:p>
          <a:p>
            <a:r>
              <a:t>special, or is every item like this?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quick vote; the room that sat chapter 4 should predict b from chaas.</a:t>
            </a:r>
          </a:p>
          <a:p>
            <a:r>
              <a:t>Transition: the chart.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left panel is what the new strip ranked by; the right panel is what it</a:t>
            </a:r>
          </a:p>
          <a:p>
            <a:r>
              <a:t>should have read. The Feynman line again: "the item in every bag makes a weak bundle partner,</a:t>
            </a:r>
          </a:p>
          <a:p>
            <a:r>
              <a:t>because it was going in the bag anyway". Explorer: scene W3. Transition: a company that met this</a:t>
            </a:r>
          </a:p>
          <a:p>
            <a:r>
              <a:t>trap.</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Name the decision and the cost: a slot shown to everyone that moves nothing. The</a:t>
            </a:r>
          </a:p>
          <a:p>
            <a:r>
              <a:t>heavy-buyer point returns after lunch as the top tenth of customers. The row asks for one legend</a:t>
            </a:r>
          </a:p>
          <a:p>
            <a:r>
              <a:t>told accurately: in 1992 about 1.2 million baskets from Osco Drug stores showed beer and diapers</a:t>
            </a:r>
          </a:p>
          <a:p>
            <a:r>
              <a:t>together in the early evening, and the chain does not appear to have moved any shelf (The</a:t>
            </a:r>
          </a:p>
          <a:p>
            <a:r>
              <a:t>Register, checked 12 October 2026). Transition: four pairs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chips row: confidence 0.42 looks weak beside 0.74, yet its lift is</a:t>
            </a:r>
          </a:p>
          <a:p>
            <a:r>
              <a:t>3.39. Confidence and lift can rank pairs in opposite orders. Notebook 08 asserts the second route</a:t>
            </a:r>
          </a:p>
          <a:p>
            <a:r>
              <a:t>for three pairs. Transition: why did the click-through fall?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Vote. A view count says nothing about a rate, which rules out b for anyone who</a:t>
            </a:r>
          </a:p>
          <a:p>
            <a:r>
              <a:t>thinks it through; let the room find that. Transition: the split.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This is notebook 08's your-turn cell: each learner splits the after rows by</a:t>
            </a:r>
          </a:p>
          <a:p>
            <a:r>
              <a:t>whether the slot suggested milk before the answer is shown. A blended rate is a mix of two rates,</a:t>
            </a:r>
          </a:p>
          <a:p>
            <a:r>
              <a:t>Thursday's topic in preview. The decision the habits answer misleads is a redesign of the strip,</a:t>
            </a:r>
          </a:p>
          <a:p>
            <a:r>
              <a:t>when only what it ranks needs to change. Checkpoint: every learner's your-turn cell prints 1.2 and</a:t>
            </a:r>
          </a:p>
          <a:p>
            <a:r>
              <a:t>6.4 percent. Transition: the slot milk took, for self-study, then the case's answer so far.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0 minutes live. This is the strip's own pull: whatever slot 1 shows draws clicks. It</a:t>
            </a:r>
          </a:p>
          <a:p>
            <a:r>
              <a:t>returns after lunch as a doubt the counts cannot settle. Transition: the case's answer so far.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concept map comes back with the case's numbers on its boxes: each topic,</a:t>
            </a:r>
          </a:p>
          <a:p>
            <a:r>
              <a:t>counted first on the canteen, now speaks about Instamart. Ask a learner to say the fall in one</a:t>
            </a:r>
          </a:p>
          <a:p>
            <a:r>
              <a:t>sentence. Then lunch. After lunch, chapter 9 teaches the last topic, cross-sell and expected value</a:t>
            </a:r>
          </a:p>
          <a:p>
            <a:r>
              <a:t>in rupees, before chapter 10 prices the strip.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2.png"/><Relationship Id="rId6"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2.png"/><Relationship Id="rId6"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2.png"/><Relationship Id="rId6"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14.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2.png"/><Relationship Id="rId6"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image" Target="../media/image21.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3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12.png"/><Relationship Id="rId6" Type="http://schemas.openxmlformats.org/officeDocument/2006/relationships/image" Target="../media/image3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28.png"/><Relationship Id="rId6" Type="http://schemas.openxmlformats.org/officeDocument/2006/relationships/image" Target="../media/image38.png"/><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0.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12.png"/><Relationship Id="rId6"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4.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4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6.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8.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image" Target="../media/image11.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1.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6.png"/><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7.png"/><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3.xml"/><Relationship Id="rId5" Type="http://schemas.openxmlformats.org/officeDocument/2006/relationships/image" Target="../media/image5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 basket, lift and cross-sell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pairs lift frequency, and what is each one worth?</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tensils_9954c33a840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TOPICS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Counted on invented examples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hostel canteen's twelve lunch orders and a Pune corner shop's month carry the five topics, chapter by chapter, by hand first.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CASE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Swiggy Instamart, Pune</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cart page's strip of three suggestions, whose click-through fell once it showed the items most often bought together.</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tore_71a4685294d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LAB</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Kalpa Retail's baskets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Merchandising wants every product bundled with the Rs 199 phone charger; the lab counts Kalpa's own order lines.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9" name="Oval 2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1" name="Oval 3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7" name="Oval 36"/>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9" name="TextBox 38"/>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63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Wednesday asks what goes with what, beyond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among the week's five tickets?</a:t>
            </a:r>
          </a:p>
        </p:txBody>
      </p:sp>
      <p:pic>
        <p:nvPicPr>
          <p:cNvPr id="9" name="mermaid diagram" descr="36b1066f71c9d558.png"/>
          <p:cNvPicPr>
            <a:picLocks noChangeAspect="1"/>
          </p:cNvPicPr>
          <p:nvPr/>
        </p:nvPicPr>
        <p:blipFill>
          <a:blip r:embed="rId5"/>
          <a:stretch>
            <a:fillRect/>
          </a:stretch>
        </p:blipFill>
        <p:spPr>
          <a:xfrm>
            <a:off x="2986755" y="1682496"/>
            <a:ext cx="6218183"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6" name="Oval 1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2" name="TextBox 21"/>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63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in seven chapters, then the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Wednesday teach, in what order, and where?</a:t>
            </a:r>
          </a:p>
        </p:txBody>
      </p:sp>
      <p:graphicFrame>
        <p:nvGraphicFramePr>
          <p:cNvPr id="9" name="Table 8"/>
          <p:cNvGraphicFramePr>
            <a:graphicFrameLocks noGrp="1"/>
          </p:cNvGraphicFramePr>
          <p:nvPr/>
        </p:nvGraphicFramePr>
        <p:xfrm>
          <a:off x="530352" y="1937512"/>
          <a:ext cx="11130989" cy="2426208"/>
        </p:xfrm>
        <a:graphic>
          <a:graphicData uri="http://schemas.openxmlformats.org/drawingml/2006/table">
            <a:tbl>
              <a:tblPr firstRow="0" bandRow="0">
                <a:tableStyleId>{2D5ABB26-0587-4C30-8999-92F81FD0307C}</a:tableStyleId>
              </a:tblPr>
              <a:tblGrid>
                <a:gridCol w="914400"/>
                <a:gridCol w="4693555"/>
                <a:gridCol w="3515900"/>
                <a:gridCol w="1003567"/>
                <a:gridCol w="1003567"/>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 in the curriculum's words</a:t>
                      </a:r>
                    </a:p>
                  </a:txBody>
                  <a:tcPr marL="101600" marR="101600" marT="38100" marB="38100" anchor="ctr">
                    <a:solidFill>
                      <a:srgbClr val="1A0F5C"/>
                    </a:solidFill>
                  </a:tcPr>
                </a:tc>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542544">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Support, confidence and lift, derived by counting</a:t>
                      </a:r>
                    </a:p>
                  </a:txBody>
                  <a:tcPr marL="101600" marR="101600" marT="38100" marB="38100" anchor="ctr">
                    <a:solidFill>
                      <a:srgbClr val="FFFFFF"/>
                    </a:solidFill>
                  </a:tcPr>
                </a:tc>
                <a:tc>
                  <a:txBody>
                    <a:bodyPr/>
                    <a:lstStyle/>
                    <a:p>
                      <a:r>
                        <a:rPr sz="1200" b="0" i="0">
                          <a:solidFill>
                            <a:srgbClr val="1A1440"/>
                          </a:solidFill>
                          <a:latin typeface="Calibri"/>
                        </a:rPr>
                        <a:t>1 Support; 2 Confidence; 3 Chance and lift</a:t>
                      </a:r>
                    </a:p>
                  </a:txBody>
                  <a:tcPr marL="101600" marR="101600" marT="38100" marB="38100" anchor="ctr">
                    <a:solidFill>
                      <a:srgbClr val="FFFFFF"/>
                    </a:solidFill>
                  </a:tcPr>
                </a:tc>
                <a:tc>
                  <a:txBody>
                    <a:bodyPr/>
                    <a:lstStyle/>
                    <a:p>
                      <a:r>
                        <a:rPr sz="1200" b="0" i="0">
                          <a:solidFill>
                            <a:srgbClr val="1A1440"/>
                          </a:solidFill>
                          <a:latin typeface="Calibri"/>
                        </a:rPr>
                        <a:t>12, 12, 18</a:t>
                      </a:r>
                    </a:p>
                  </a:txBody>
                  <a:tcPr marL="101600" marR="101600" marT="38100" marB="38100" anchor="ctr">
                    <a:solidFill>
                      <a:srgbClr val="FFFFFF"/>
                    </a:solidFill>
                  </a:tcPr>
                </a:tc>
                <a:tc>
                  <a:txBody>
                    <a:bodyPr/>
                    <a:lstStyle/>
                    <a:p>
                      <a:r>
                        <a:rPr sz="1200" b="0" i="0">
                          <a:solidFill>
                            <a:srgbClr val="1A1440"/>
                          </a:solidFill>
                          <a:latin typeface="Calibri"/>
                        </a:rPr>
                        <a:t>01, 02, 03</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The confidence trap; lift near one</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04</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Basket analysis on the order items</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05</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The support floor and the watch list</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c>
                  <a:txBody>
                    <a:bodyPr/>
                    <a:lstStyle/>
                    <a:p>
                      <a:r>
                        <a:rPr sz="1200" b="0" i="0">
                          <a:solidFill>
                            <a:srgbClr val="1A1440"/>
                          </a:solidFill>
                          <a:latin typeface="Calibri"/>
                        </a:rPr>
                        <a:t>06</a:t>
                      </a:r>
                    </a:p>
                  </a:txBody>
                  <a:tcPr marL="101600" marR="101600" marT="38100" marB="38100" anchor="ctr">
                    <a:solidFill>
                      <a:srgbClr val="F4F2FA"/>
                    </a:solidFill>
                  </a:tcPr>
                </a:tc>
              </a:tr>
              <a:tr h="542544">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Cross-sell and upsell reasoning; expected value in rupees</a:t>
                      </a:r>
                    </a:p>
                  </a:txBody>
                  <a:tcPr marL="101600" marR="101600" marT="38100" marB="38100" anchor="ctr">
                    <a:solidFill>
                      <a:srgbClr val="FFFFFF"/>
                    </a:solidFill>
                  </a:tcPr>
                </a:tc>
                <a:tc>
                  <a:txBody>
                    <a:bodyPr/>
                    <a:lstStyle/>
                    <a:p>
                      <a:r>
                        <a:rPr sz="1200" b="0" i="0">
                          <a:solidFill>
                            <a:srgbClr val="1A1440"/>
                          </a:solidFill>
                          <a:latin typeface="Calibri"/>
                        </a:rPr>
                        <a:t>9, after lunch</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09</a:t>
                      </a:r>
                    </a:p>
                  </a:txBody>
                  <a:tcPr marL="101600" marR="101600" marT="38100" marB="38100" anchor="ctr">
                    <a:solidFill>
                      <a:srgbClr val="FFFFFF"/>
                    </a:solidFill>
                  </a:tcPr>
                </a:tc>
              </a:tr>
            </a:tbl>
          </a:graphicData>
        </a:graphic>
      </p:graphicFrame>
      <p:sp>
        <p:nvSpPr>
          <p:cNvPr id="10" name="TextBox 9"/>
          <p:cNvSpPr txBox="1"/>
          <p:nvPr/>
        </p:nvSpPr>
        <p:spPr>
          <a:xfrm>
            <a:off x="530352" y="461975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Chapters 7 and 8 apply the topics to Swiggy Instamart's Pune carts before lunch, chapter 10 after it, and the lab runs them on Kalpa Retail's order lines in notebook 11. A slide numbered D is for self-study, and each interview line carries this programme's tag: [S] a staple asked everywhere, [F] frequent in product-company and global capability centre screens, [D] a differentiator.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TextBox 22"/>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63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joined to what came before and after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topic rest on, what does it feed, and where is it applied?</a:t>
            </a:r>
          </a:p>
        </p:txBody>
      </p:sp>
      <p:pic>
        <p:nvPicPr>
          <p:cNvPr id="9" name="mermaid diagram" descr="bb16dbdba642e1a1.png"/>
          <p:cNvPicPr>
            <a:picLocks noChangeAspect="1"/>
          </p:cNvPicPr>
          <p:nvPr/>
        </p:nvPicPr>
        <p:blipFill>
          <a:blip r:embed="rId5"/>
          <a:stretch>
            <a:fillRect/>
          </a:stretch>
        </p:blipFill>
        <p:spPr>
          <a:xfrm>
            <a:off x="2792377" y="1682496"/>
            <a:ext cx="6606939"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6" name="Oval 1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2" name="TextBox 21"/>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63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Strip click-through fell from 6.1 to 3.8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analyst been handed, and what is due Friday?</a:t>
            </a:r>
          </a:p>
        </p:txBody>
      </p:sp>
      <p:graphicFrame>
        <p:nvGraphicFramePr>
          <p:cNvPr id="9" name="Table 8"/>
          <p:cNvGraphicFramePr>
            <a:graphicFrameLocks noGrp="1"/>
          </p:cNvGraphicFramePr>
          <p:nvPr/>
        </p:nvGraphicFramePr>
        <p:xfrm>
          <a:off x="530352" y="1682496"/>
          <a:ext cx="11130990" cy="3438144"/>
        </p:xfrm>
        <a:graphic>
          <a:graphicData uri="http://schemas.openxmlformats.org/drawingml/2006/table">
            <a:tbl>
              <a:tblPr firstRow="0" bandRow="0">
                <a:tableStyleId>{2D5ABB26-0587-4C30-8999-92F81FD0307C}</a:tableStyleId>
              </a:tblPr>
              <a:tblGrid>
                <a:gridCol w="3342320"/>
                <a:gridCol w="7788670"/>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part of the app</a:t>
                      </a:r>
                    </a:p>
                  </a:txBody>
                  <a:tcPr marL="101600" marR="101600" marT="38100" marB="38100" anchor="ctr">
                    <a:solidFill>
                      <a:srgbClr val="FFFFFF"/>
                    </a:solidFill>
                  </a:tcPr>
                </a:tc>
                <a:tc>
                  <a:txBody>
                    <a:bodyPr/>
                    <a:lstStyle/>
                    <a:p>
                      <a:r>
                        <a:rPr sz="900" b="0" i="0">
                          <a:solidFill>
                            <a:srgbClr val="1A1440"/>
                          </a:solidFill>
                          <a:latin typeface="Calibri"/>
                        </a:rPr>
                        <a:t>Swiggy Instamart, Pune: the cart page's strip of three suggested items, each in a slot</a:t>
                      </a:r>
                    </a:p>
                  </a:txBody>
                  <a:tcPr marL="101600" marR="101600" marT="38100" marB="38100" anchor="ctr">
                    <a:solidFill>
                      <a:srgbClr val="FFFFFF"/>
                    </a:solidFill>
                  </a:tcPr>
                </a:tc>
              </a:tr>
              <a:tr h="438912">
                <a:tc>
                  <a:txBody>
                    <a:bodyPr/>
                    <a:lstStyle/>
                    <a:p>
                      <a:r>
                        <a:rPr sz="900" b="0" i="0">
                          <a:solidFill>
                            <a:srgbClr val="1A1440"/>
                          </a:solidFill>
                          <a:latin typeface="Calibri"/>
                        </a:rPr>
                        <a:t>The change</a:t>
                      </a:r>
                    </a:p>
                  </a:txBody>
                  <a:tcPr marL="101600" marR="101600" marT="38100" marB="38100" anchor="ctr">
                    <a:solidFill>
                      <a:srgbClr val="F4F2FA"/>
                    </a:solidFill>
                  </a:tcPr>
                </a:tc>
                <a:tc>
                  <a:txBody>
                    <a:bodyPr/>
                    <a:lstStyle/>
                    <a:p>
                      <a:r>
                        <a:rPr sz="900" b="0" i="0">
                          <a:solidFill>
                            <a:srgbClr val="1A1440"/>
                          </a:solidFill>
                          <a:latin typeface="Calibri"/>
                        </a:rPr>
                        <a:t>Monday 7 September 2026: a curated list became the items most often found in the same cart; toned milk is in 71 percent of carts, so it now sits beside nearly everything</a:t>
                      </a:r>
                    </a:p>
                  </a:txBody>
                  <a:tcPr marL="101600" marR="101600" marT="38100" marB="38100" anchor="ctr">
                    <a:solidFill>
                      <a:srgbClr val="F4F2FA"/>
                    </a:solidFill>
                  </a:tcPr>
                </a:tc>
              </a:tr>
              <a:tr h="438912">
                <a:tc>
                  <a:txBody>
                    <a:bodyPr/>
                    <a:lstStyle/>
                    <a:p>
                      <a:r>
                        <a:rPr sz="900" b="0" i="0">
                          <a:solidFill>
                            <a:srgbClr val="1A1440"/>
                          </a:solidFill>
                          <a:latin typeface="Calibri"/>
                        </a:rPr>
                        <a:t>The metric</a:t>
                      </a:r>
                    </a:p>
                  </a:txBody>
                  <a:tcPr marL="101600" marR="101600" marT="38100" marB="38100" anchor="ctr">
                    <a:solidFill>
                      <a:srgbClr val="FFFFFF"/>
                    </a:solidFill>
                  </a:tcPr>
                </a:tc>
                <a:tc>
                  <a:txBody>
                    <a:bodyPr/>
                    <a:lstStyle/>
                    <a:p>
                      <a:r>
                        <a:rPr sz="900" b="0" i="0">
                          <a:solidFill>
                            <a:srgbClr val="1A1440"/>
                          </a:solidFill>
                          <a:latin typeface="Calibri"/>
                        </a:rPr>
                        <a:t>Strip click-through, clicks over impressions (an impression is one showing of one slot): 6.1 percent from 17 August to 6 September, 3.8 percent from 7 to 27 September</a:t>
                      </a:r>
                    </a:p>
                  </a:txBody>
                  <a:tcPr marL="101600" marR="101600" marT="38100" marB="38100" anchor="ctr">
                    <a:solidFill>
                      <a:srgbClr val="FFFFFF"/>
                    </a:solidFill>
                  </a:tcPr>
                </a:tc>
              </a:tr>
              <a:tr h="749808">
                <a:tc>
                  <a:txBody>
                    <a:bodyPr/>
                    <a:lstStyle/>
                    <a:p>
                      <a:r>
                        <a:rPr sz="900" b="0" i="0">
                          <a:solidFill>
                            <a:srgbClr val="1A1440"/>
                          </a:solidFill>
                          <a:latin typeface="Calibri"/>
                        </a:rPr>
                        <a:t>The data</a:t>
                      </a:r>
                    </a:p>
                  </a:txBody>
                  <a:tcPr marL="101600" marR="101600" marT="38100" marB="38100" anchor="ctr">
                    <a:solidFill>
                      <a:srgbClr val="F4F2FA"/>
                    </a:solidFill>
                  </a:tcPr>
                </a:tc>
                <a:tc>
                  <a:txBody>
                    <a:bodyPr/>
                    <a:lstStyle/>
                    <a:p>
                      <a:r>
                        <a:rPr sz="900" b="0" i="0">
                          <a:solidFill>
                            <a:srgbClr val="1A1440"/>
                          </a:solidFill>
                          <a:latin typeface="Calibri"/>
                        </a:rPr>
                        <a:t>carts (cart_id, customer_id, placed_date, zone, time_band, cart_value_rs): a sample of 40,000 carts, every cart 12,000 customers placed from 1 to 28 September, in eight zones; cart_items (cart_id, item, quantity, price_rs, margin_rs); strip_log (date, slot, anchor_item, the cart item a suggestion sits beside, suggested_item, impressions, clicks, adds, the suggestions put in the cart)</a:t>
                      </a:r>
                    </a:p>
                  </a:txBody>
                  <a:tcPr marL="101600" marR="101600" marT="38100" marB="38100" anchor="ctr">
                    <a:solidFill>
                      <a:srgbClr val="F4F2FA"/>
                    </a:solidFill>
                  </a:tcPr>
                </a:tc>
              </a:tr>
              <a:tr h="310896">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Rank the pairs the strip should show, explain the fall, put a rupee value on a slot</a:t>
                      </a:r>
                    </a:p>
                  </a:txBody>
                  <a:tcPr marL="101600" marR="101600" marT="38100" marB="38100" anchor="ctr">
                    <a:solidFill>
                      <a:srgbClr val="FFFFFF"/>
                    </a:solidFill>
                  </a:tcPr>
                </a:tc>
              </a:tr>
              <a:tr h="438912">
                <a:tc>
                  <a:txBody>
                    <a:bodyPr/>
                    <a:lstStyle/>
                    <a:p>
                      <a:r>
                        <a:rPr sz="900" b="0" i="0">
                          <a:solidFill>
                            <a:srgbClr val="1A1440"/>
                          </a:solidFill>
                          <a:latin typeface="Calibri"/>
                        </a:rPr>
                        <a:t>Who asks</a:t>
                      </a:r>
                    </a:p>
                  </a:txBody>
                  <a:tcPr marL="101600" marR="101600" marT="38100" marB="38100" anchor="ctr">
                    <a:solidFill>
                      <a:srgbClr val="F4F2FA"/>
                    </a:solidFill>
                  </a:tcPr>
                </a:tc>
                <a:tc>
                  <a:txBody>
                    <a:bodyPr/>
                    <a:lstStyle/>
                    <a:p>
                      <a:r>
                        <a:rPr sz="900" b="0" i="0">
                          <a:solidFill>
                            <a:srgbClr val="1A1440"/>
                          </a:solidFill>
                          <a:latin typeface="Calibri"/>
                        </a:rPr>
                        <a:t>The growth lead, who owns the strip's clicks and orders, and the category manager, who decides which products are promoted; Friday's review is the weekly meeting where both defend their numbers</a:t>
                      </a:r>
                    </a:p>
                  </a:txBody>
                  <a:tcPr marL="101600" marR="101600" marT="38100" marB="38100" anchor="ctr">
                    <a:solidFill>
                      <a:srgbClr val="F4F2FA"/>
                    </a:solidFill>
                  </a:tcPr>
                </a:tc>
              </a:tr>
              <a:tr h="438912">
                <a:tc>
                  <a:txBody>
                    <a:bodyPr/>
                    <a:lstStyle/>
                    <a:p>
                      <a:r>
                        <a:rPr sz="900" b="0" i="0">
                          <a:solidFill>
                            <a:srgbClr val="1A1440"/>
                          </a:solidFill>
                          <a:latin typeface="Calibri"/>
                        </a:rPr>
                        <a:t>Caveats</a:t>
                      </a:r>
                    </a:p>
                  </a:txBody>
                  <a:tcPr marL="101600" marR="101600" marT="38100" marB="38100" anchor="ctr">
                    <a:solidFill>
                      <a:srgbClr val="FFFFFF"/>
                    </a:solidFill>
                  </a:tcPr>
                </a:tc>
                <a:tc>
                  <a:txBody>
                    <a:bodyPr/>
                    <a:lstStyle/>
                    <a:p>
                      <a:r>
                        <a:rPr sz="900" b="0" i="0">
                          <a:solidFill>
                            <a:srgbClr val="1A1440"/>
                          </a:solidFill>
                          <a:latin typeface="Calibri"/>
                        </a:rPr>
                        <a:t>Curd ran out in two zones in week three; the top tenth of customers place 38 percent of carts; the strip causes some of the pairs it counts, since a milk add from the strip puts bread and milk in one cart; a cart is one order, a customer places many</a:t>
                      </a:r>
                    </a:p>
                  </a:txBody>
                  <a:tcPr marL="101600" marR="101600" marT="38100" marB="38100" anchor="ctr">
                    <a:solidFill>
                      <a:srgbClr val="FFFFFF"/>
                    </a:solidFill>
                  </a:tcPr>
                </a:tc>
              </a:tr>
            </a:tbl>
          </a:graphicData>
        </a:graphic>
      </p:graphicFrame>
      <p:sp>
        <p:nvSpPr>
          <p:cNvPr id="10" name="TextBox 9"/>
          <p:cNvSpPr txBox="1"/>
          <p:nvPr/>
        </p:nvSpPr>
        <p:spPr>
          <a:xfrm>
            <a:off x="530352" y="5376672"/>
            <a:ext cx="11130991" cy="633984"/>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This page is the ticket, the work request the analyst is handed. 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TextBox 22"/>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63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Support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often together?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Support, the first of the three counts, counted on a hostel canteen's twelve lunch orders, invented, before any code: how often do two items share a basket?</a:t>
            </a:r>
          </a:p>
        </p:txBody>
      </p:sp>
      <p:sp>
        <p:nvSpPr>
          <p:cNvPr id="11" name="Rounded Rectangle 10"/>
          <p:cNvSpPr/>
          <p:nvPr/>
        </p:nvSpPr>
        <p:spPr>
          <a:xfrm>
            <a:off x="731519" y="5074920"/>
            <a:ext cx="107893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63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Support counts how often two items share a basket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Support, confidence and lift, derived by counting: part one of three, support.</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who prints two items side by side on the combo board; without a count, the board goes to whichever pair the manager remembers selling.</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a basket?</a:t>
            </a:r>
          </a:p>
        </p:txBody>
      </p:sp>
      <p:sp>
        <p:nvSpPr>
          <p:cNvPr id="20" name="TextBox 19"/>
          <p:cNvSpPr txBox="1"/>
          <p:nvPr/>
        </p:nvSpPr>
        <p:spPr>
          <a:xfrm>
            <a:off x="694944"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Everything one customer pays for in one go.</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many orders hold both?</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Roti and sabzi, counted inside the orders.</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pair is most common?</a:t>
            </a:r>
          </a:p>
        </p:txBody>
      </p:sp>
      <p:sp>
        <p:nvSpPr>
          <p:cNvPr id="30" name="TextBox 29"/>
          <p:cNvSpPr txBox="1"/>
          <p:nvPr/>
        </p:nvSpPr>
        <p:spPr>
          <a:xfrm>
            <a:off x="6351879"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Every pair's count over the twelve orders.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support leave out?</a:t>
            </a:r>
          </a:p>
        </p:txBody>
      </p:sp>
      <p:sp>
        <p:nvSpPr>
          <p:cNvPr id="35" name="TextBox 34"/>
          <p:cNvSpPr txBox="1"/>
          <p:nvPr/>
        </p:nvSpPr>
        <p:spPr>
          <a:xfrm>
            <a:off x="9180347" y="517042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question chapters 2 and 3 answer.</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TextBox 47"/>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of twelve orders hold roti and sabzi?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hostel canteen's twelve lunch orders, invented: roti is in 4 and sabzi in 4. How many hold both?</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914400"/>
                <a:gridCol w="2997517"/>
                <a:gridCol w="914400"/>
                <a:gridCol w="2876565"/>
                <a:gridCol w="914400"/>
                <a:gridCol w="2513707"/>
              </a:tblGrid>
              <a:tr h="335280">
                <a:tc>
                  <a:txBody>
                    <a:bodyPr/>
                    <a:lstStyle/>
                    <a:p>
                      <a:r>
                        <a:rPr sz="1250" b="1" i="0">
                          <a:solidFill>
                            <a:srgbClr val="FFFFFF"/>
                          </a:solidFill>
                          <a:latin typeface="Calibri"/>
                        </a:rPr>
                        <a:t>Order</a:t>
                      </a:r>
                    </a:p>
                  </a:txBody>
                  <a:tcPr marL="101600" marR="101600" marT="38100" marB="38100" anchor="ctr">
                    <a:solidFill>
                      <a:srgbClr val="1A0F5C"/>
                    </a:solidFill>
                  </a:tcPr>
                </a:tc>
                <a:tc>
                  <a:txBody>
                    <a:bodyPr/>
                    <a:lstStyle/>
                    <a:p>
                      <a:r>
                        <a:rPr sz="1250" b="1" i="0">
                          <a:solidFill>
                            <a:srgbClr val="FFFFFF"/>
                          </a:solidFill>
                          <a:latin typeface="Calibri"/>
                        </a:rPr>
                        <a:t>Items</a:t>
                      </a:r>
                    </a:p>
                  </a:txBody>
                  <a:tcPr marL="101600" marR="101600" marT="38100" marB="38100" anchor="ctr">
                    <a:solidFill>
                      <a:srgbClr val="1A0F5C"/>
                    </a:solidFill>
                  </a:tcPr>
                </a:tc>
                <a:tc>
                  <a:txBody>
                    <a:bodyPr/>
                    <a:lstStyle/>
                    <a:p>
                      <a:r>
                        <a:rPr sz="1250" b="1" i="0">
                          <a:solidFill>
                            <a:srgbClr val="FFFFFF"/>
                          </a:solidFill>
                          <a:latin typeface="Calibri"/>
                        </a:rPr>
                        <a:t>Order</a:t>
                      </a:r>
                    </a:p>
                  </a:txBody>
                  <a:tcPr marL="101600" marR="101600" marT="38100" marB="38100" anchor="ctr">
                    <a:solidFill>
                      <a:srgbClr val="1A0F5C"/>
                    </a:solidFill>
                  </a:tcPr>
                </a:tc>
                <a:tc>
                  <a:txBody>
                    <a:bodyPr/>
                    <a:lstStyle/>
                    <a:p>
                      <a:r>
                        <a:rPr sz="1250" b="1" i="0">
                          <a:solidFill>
                            <a:srgbClr val="FFFFFF"/>
                          </a:solidFill>
                          <a:latin typeface="Calibri"/>
                        </a:rPr>
                        <a:t>Items</a:t>
                      </a:r>
                    </a:p>
                  </a:txBody>
                  <a:tcPr marL="101600" marR="101600" marT="38100" marB="38100" anchor="ctr">
                    <a:solidFill>
                      <a:srgbClr val="1A0F5C"/>
                    </a:solidFill>
                  </a:tcPr>
                </a:tc>
                <a:tc>
                  <a:txBody>
                    <a:bodyPr/>
                    <a:lstStyle/>
                    <a:p>
                      <a:r>
                        <a:rPr sz="1250" b="1" i="0">
                          <a:solidFill>
                            <a:srgbClr val="FFFFFF"/>
                          </a:solidFill>
                          <a:latin typeface="Calibri"/>
                        </a:rPr>
                        <a:t>Order</a:t>
                      </a:r>
                    </a:p>
                  </a:txBody>
                  <a:tcPr marL="101600" marR="101600" marT="38100" marB="38100" anchor="ctr">
                    <a:solidFill>
                      <a:srgbClr val="1A0F5C"/>
                    </a:solidFill>
                  </a:tcPr>
                </a:tc>
                <a:tc>
                  <a:txBody>
                    <a:bodyPr/>
                    <a:lstStyle/>
                    <a:p>
                      <a:r>
                        <a:rPr sz="1250" b="1" i="0">
                          <a:solidFill>
                            <a:srgbClr val="FFFFFF"/>
                          </a:solidFill>
                          <a:latin typeface="Calibri"/>
                        </a:rPr>
                        <a:t>Items</a:t>
                      </a:r>
                    </a:p>
                  </a:txBody>
                  <a:tcPr marL="101600" marR="101600" marT="38100" marB="38100" anchor="ctr">
                    <a:solidFill>
                      <a:srgbClr val="1A0F5C"/>
                    </a:solidFill>
                  </a:tcPr>
                </a:tc>
              </a:tr>
              <a:tr h="335280">
                <a:tc>
                  <a:txBody>
                    <a:bodyPr/>
                    <a:lstStyle/>
                    <a:p>
                      <a:r>
                        <a:rPr sz="1200" b="0" i="0">
                          <a:solidFill>
                            <a:srgbClr val="1A1440"/>
                          </a:solidFill>
                          <a:latin typeface="Calibri"/>
                        </a:rPr>
                        <a:t>T01</a:t>
                      </a:r>
                    </a:p>
                  </a:txBody>
                  <a:tcPr marL="101600" marR="101600" marT="38100" marB="38100" anchor="ctr">
                    <a:solidFill>
                      <a:srgbClr val="FFFFFF"/>
                    </a:solidFill>
                  </a:tcPr>
                </a:tc>
                <a:tc>
                  <a:txBody>
                    <a:bodyPr/>
                    <a:lstStyle/>
                    <a:p>
                      <a:r>
                        <a:rPr sz="1200" b="0" i="0">
                          <a:solidFill>
                            <a:srgbClr val="1A1440"/>
                          </a:solidFill>
                          <a:latin typeface="Calibri"/>
                        </a:rPr>
                        <a:t>dal rice, papad, chaas</a:t>
                      </a:r>
                    </a:p>
                  </a:txBody>
                  <a:tcPr marL="101600" marR="101600" marT="38100" marB="38100" anchor="ctr">
                    <a:solidFill>
                      <a:srgbClr val="FFFFFF"/>
                    </a:solidFill>
                  </a:tcPr>
                </a:tc>
                <a:tc>
                  <a:txBody>
                    <a:bodyPr/>
                    <a:lstStyle/>
                    <a:p>
                      <a:r>
                        <a:rPr sz="1200" b="0" i="0">
                          <a:solidFill>
                            <a:srgbClr val="1A1440"/>
                          </a:solidFill>
                          <a:latin typeface="Calibri"/>
                        </a:rPr>
                        <a:t>T05</a:t>
                      </a:r>
                    </a:p>
                  </a:txBody>
                  <a:tcPr marL="101600" marR="101600" marT="38100" marB="38100" anchor="ctr">
                    <a:solidFill>
                      <a:srgbClr val="FFFFFF"/>
                    </a:solidFill>
                  </a:tcPr>
                </a:tc>
                <a:tc>
                  <a:txBody>
                    <a:bodyPr/>
                    <a:lstStyle/>
                    <a:p>
                      <a:r>
                        <a:rPr sz="1200" b="0" i="0">
                          <a:solidFill>
                            <a:srgbClr val="1A1440"/>
                          </a:solidFill>
                          <a:latin typeface="Calibri"/>
                        </a:rPr>
                        <a:t>dal rice, chaas</a:t>
                      </a:r>
                    </a:p>
                  </a:txBody>
                  <a:tcPr marL="101600" marR="101600" marT="38100" marB="38100" anchor="ctr">
                    <a:solidFill>
                      <a:srgbClr val="FFFFFF"/>
                    </a:solidFill>
                  </a:tcPr>
                </a:tc>
                <a:tc>
                  <a:txBody>
                    <a:bodyPr/>
                    <a:lstStyle/>
                    <a:p>
                      <a:r>
                        <a:rPr sz="1200" b="0" i="0">
                          <a:solidFill>
                            <a:srgbClr val="1A1440"/>
                          </a:solidFill>
                          <a:latin typeface="Calibri"/>
                        </a:rPr>
                        <a:t>T09</a:t>
                      </a:r>
                    </a:p>
                  </a:txBody>
                  <a:tcPr marL="101600" marR="101600" marT="38100" marB="38100" anchor="ctr">
                    <a:solidFill>
                      <a:srgbClr val="FFFFFF"/>
                    </a:solidFill>
                  </a:tcPr>
                </a:tc>
                <a:tc>
                  <a:txBody>
                    <a:bodyPr/>
                    <a:lstStyle/>
                    <a:p>
                      <a:r>
                        <a:rPr sz="1200" b="0" i="0">
                          <a:solidFill>
                            <a:srgbClr val="1A1440"/>
                          </a:solidFill>
                          <a:latin typeface="Calibri"/>
                        </a:rPr>
                        <a:t>roti, sabzi, chaas</a:t>
                      </a:r>
                    </a:p>
                  </a:txBody>
                  <a:tcPr marL="101600" marR="101600" marT="38100" marB="38100" anchor="ctr">
                    <a:solidFill>
                      <a:srgbClr val="FFFFFF"/>
                    </a:solidFill>
                  </a:tcPr>
                </a:tc>
              </a:tr>
              <a:tr h="335280">
                <a:tc>
                  <a:txBody>
                    <a:bodyPr/>
                    <a:lstStyle/>
                    <a:p>
                      <a:r>
                        <a:rPr sz="1200" b="0" i="0">
                          <a:solidFill>
                            <a:srgbClr val="1A1440"/>
                          </a:solidFill>
                          <a:latin typeface="Calibri"/>
                        </a:rPr>
                        <a:t>T02</a:t>
                      </a:r>
                    </a:p>
                  </a:txBody>
                  <a:tcPr marL="101600" marR="101600" marT="38100" marB="38100" anchor="ctr">
                    <a:solidFill>
                      <a:srgbClr val="F4F2FA"/>
                    </a:solidFill>
                  </a:tcPr>
                </a:tc>
                <a:tc>
                  <a:txBody>
                    <a:bodyPr/>
                    <a:lstStyle/>
                    <a:p>
                      <a:r>
                        <a:rPr sz="1200" b="0" i="0">
                          <a:solidFill>
                            <a:srgbClr val="1A1440"/>
                          </a:solidFill>
                          <a:latin typeface="Calibri"/>
                        </a:rPr>
                        <a:t>dal rice, papad, chaas</a:t>
                      </a:r>
                    </a:p>
                  </a:txBody>
                  <a:tcPr marL="101600" marR="101600" marT="38100" marB="38100" anchor="ctr">
                    <a:solidFill>
                      <a:srgbClr val="F4F2FA"/>
                    </a:solidFill>
                  </a:tcPr>
                </a:tc>
                <a:tc>
                  <a:txBody>
                    <a:bodyPr/>
                    <a:lstStyle/>
                    <a:p>
                      <a:r>
                        <a:rPr sz="1200" b="0" i="0">
                          <a:solidFill>
                            <a:srgbClr val="1A1440"/>
                          </a:solidFill>
                          <a:latin typeface="Calibri"/>
                        </a:rPr>
                        <a:t>T06</a:t>
                      </a:r>
                    </a:p>
                  </a:txBody>
                  <a:tcPr marL="101600" marR="101600" marT="38100" marB="38100" anchor="ctr">
                    <a:solidFill>
                      <a:srgbClr val="F4F2FA"/>
                    </a:solidFill>
                  </a:tcPr>
                </a:tc>
                <a:tc>
                  <a:txBody>
                    <a:bodyPr/>
                    <a:lstStyle/>
                    <a:p>
                      <a:r>
                        <a:rPr sz="1200" b="0" i="0">
                          <a:solidFill>
                            <a:srgbClr val="1A1440"/>
                          </a:solidFill>
                          <a:latin typeface="Calibri"/>
                        </a:rPr>
                        <a:t>dal rice, curd, chaas</a:t>
                      </a:r>
                    </a:p>
                  </a:txBody>
                  <a:tcPr marL="101600" marR="101600" marT="38100" marB="38100" anchor="ctr">
                    <a:solidFill>
                      <a:srgbClr val="F4F2FA"/>
                    </a:solidFill>
                  </a:tcPr>
                </a:tc>
                <a:tc>
                  <a:txBody>
                    <a:bodyPr/>
                    <a:lstStyle/>
                    <a:p>
                      <a:r>
                        <a:rPr sz="1200" b="0" i="0">
                          <a:solidFill>
                            <a:srgbClr val="1A1440"/>
                          </a:solidFill>
                          <a:latin typeface="Calibri"/>
                        </a:rPr>
                        <a:t>T10</a:t>
                      </a:r>
                    </a:p>
                  </a:txBody>
                  <a:tcPr marL="101600" marR="101600" marT="38100" marB="38100" anchor="ctr">
                    <a:solidFill>
                      <a:srgbClr val="F4F2FA"/>
                    </a:solidFill>
                  </a:tcPr>
                </a:tc>
                <a:tc>
                  <a:txBody>
                    <a:bodyPr/>
                    <a:lstStyle/>
                    <a:p>
                      <a:r>
                        <a:rPr sz="1200" b="0" i="0">
                          <a:solidFill>
                            <a:srgbClr val="1A1440"/>
                          </a:solidFill>
                          <a:latin typeface="Calibri"/>
                        </a:rPr>
                        <a:t>roti, sabzi, chaas</a:t>
                      </a:r>
                    </a:p>
                  </a:txBody>
                  <a:tcPr marL="101600" marR="101600" marT="38100" marB="38100" anchor="ctr">
                    <a:solidFill>
                      <a:srgbClr val="F4F2FA"/>
                    </a:solidFill>
                  </a:tcPr>
                </a:tc>
              </a:tr>
              <a:tr h="335280">
                <a:tc>
                  <a:txBody>
                    <a:bodyPr/>
                    <a:lstStyle/>
                    <a:p>
                      <a:r>
                        <a:rPr sz="1200" b="0" i="0">
                          <a:solidFill>
                            <a:srgbClr val="1A1440"/>
                          </a:solidFill>
                          <a:latin typeface="Calibri"/>
                        </a:rPr>
                        <a:t>T03</a:t>
                      </a:r>
                    </a:p>
                  </a:txBody>
                  <a:tcPr marL="101600" marR="101600" marT="38100" marB="38100" anchor="ctr">
                    <a:solidFill>
                      <a:srgbClr val="FFFFFF"/>
                    </a:solidFill>
                  </a:tcPr>
                </a:tc>
                <a:tc>
                  <a:txBody>
                    <a:bodyPr/>
                    <a:lstStyle/>
                    <a:p>
                      <a:r>
                        <a:rPr sz="1200" b="0" i="0">
                          <a:solidFill>
                            <a:srgbClr val="1A1440"/>
                          </a:solidFill>
                          <a:latin typeface="Calibri"/>
                        </a:rPr>
                        <a:t>dal rice, papad, chaas</a:t>
                      </a:r>
                    </a:p>
                  </a:txBody>
                  <a:tcPr marL="101600" marR="101600" marT="38100" marB="38100" anchor="ctr">
                    <a:solidFill>
                      <a:srgbClr val="FFFFFF"/>
                    </a:solidFill>
                  </a:tcPr>
                </a:tc>
                <a:tc>
                  <a:txBody>
                    <a:bodyPr/>
                    <a:lstStyle/>
                    <a:p>
                      <a:r>
                        <a:rPr sz="1200" b="0" i="0">
                          <a:solidFill>
                            <a:srgbClr val="1A1440"/>
                          </a:solidFill>
                          <a:latin typeface="Calibri"/>
                        </a:rPr>
                        <a:t>T07</a:t>
                      </a:r>
                    </a:p>
                  </a:txBody>
                  <a:tcPr marL="101600" marR="101600" marT="38100" marB="38100" anchor="ctr">
                    <a:solidFill>
                      <a:srgbClr val="FFFFFF"/>
                    </a:solidFill>
                  </a:tcPr>
                </a:tc>
                <a:tc>
                  <a:txBody>
                    <a:bodyPr/>
                    <a:lstStyle/>
                    <a:p>
                      <a:r>
                        <a:rPr sz="1200" b="0" i="0">
                          <a:solidFill>
                            <a:srgbClr val="1A1440"/>
                          </a:solidFill>
                          <a:latin typeface="Calibri"/>
                        </a:rPr>
                        <a:t>roti, papad, pickle</a:t>
                      </a:r>
                    </a:p>
                  </a:txBody>
                  <a:tcPr marL="101600" marR="101600" marT="38100" marB="38100" anchor="ctr">
                    <a:solidFill>
                      <a:srgbClr val="FFFFFF"/>
                    </a:solidFill>
                  </a:tcPr>
                </a:tc>
                <a:tc>
                  <a:txBody>
                    <a:bodyPr/>
                    <a:lstStyle/>
                    <a:p>
                      <a:r>
                        <a:rPr sz="1200" b="0" i="0">
                          <a:solidFill>
                            <a:srgbClr val="1A1440"/>
                          </a:solidFill>
                          <a:latin typeface="Calibri"/>
                        </a:rPr>
                        <a:t>T11</a:t>
                      </a:r>
                    </a:p>
                  </a:txBody>
                  <a:tcPr marL="101600" marR="101600" marT="38100" marB="38100" anchor="ctr">
                    <a:solidFill>
                      <a:srgbClr val="FFFFFF"/>
                    </a:solidFill>
                  </a:tcPr>
                </a:tc>
                <a:tc>
                  <a:txBody>
                    <a:bodyPr/>
                    <a:lstStyle/>
                    <a:p>
                      <a:r>
                        <a:rPr sz="1200" b="0" i="0">
                          <a:solidFill>
                            <a:srgbClr val="1A1440"/>
                          </a:solidFill>
                          <a:latin typeface="Calibri"/>
                        </a:rPr>
                        <a:t>roti, sabzi, chaas</a:t>
                      </a:r>
                    </a:p>
                  </a:txBody>
                  <a:tcPr marL="101600" marR="101600" marT="38100" marB="38100" anchor="ctr">
                    <a:solidFill>
                      <a:srgbClr val="FFFFFF"/>
                    </a:solidFill>
                  </a:tcPr>
                </a:tc>
              </a:tr>
              <a:tr h="335280">
                <a:tc>
                  <a:txBody>
                    <a:bodyPr/>
                    <a:lstStyle/>
                    <a:p>
                      <a:r>
                        <a:rPr sz="1200" b="0" i="0">
                          <a:solidFill>
                            <a:srgbClr val="1A1440"/>
                          </a:solidFill>
                          <a:latin typeface="Calibri"/>
                        </a:rPr>
                        <a:t>T04</a:t>
                      </a:r>
                    </a:p>
                  </a:txBody>
                  <a:tcPr marL="101600" marR="101600" marT="38100" marB="38100" anchor="ctr">
                    <a:solidFill>
                      <a:srgbClr val="F4F2FA"/>
                    </a:solidFill>
                  </a:tcPr>
                </a:tc>
                <a:tc>
                  <a:txBody>
                    <a:bodyPr/>
                    <a:lstStyle/>
                    <a:p>
                      <a:r>
                        <a:rPr sz="1200" b="0" i="0">
                          <a:solidFill>
                            <a:srgbClr val="1A1440"/>
                          </a:solidFill>
                          <a:latin typeface="Calibri"/>
                        </a:rPr>
                        <a:t>dal rice, sabzi, chaas</a:t>
                      </a:r>
                    </a:p>
                  </a:txBody>
                  <a:tcPr marL="101600" marR="101600" marT="38100" marB="38100" anchor="ctr">
                    <a:solidFill>
                      <a:srgbClr val="F4F2FA"/>
                    </a:solidFill>
                  </a:tcPr>
                </a:tc>
                <a:tc>
                  <a:txBody>
                    <a:bodyPr/>
                    <a:lstStyle/>
                    <a:p>
                      <a:r>
                        <a:rPr sz="1200" b="0" i="0">
                          <a:solidFill>
                            <a:srgbClr val="1A1440"/>
                          </a:solidFill>
                          <a:latin typeface="Calibri"/>
                        </a:rPr>
                        <a:t>T08</a:t>
                      </a:r>
                    </a:p>
                  </a:txBody>
                  <a:tcPr marL="101600" marR="101600" marT="38100" marB="38100" anchor="ctr">
                    <a:solidFill>
                      <a:srgbClr val="F4F2FA"/>
                    </a:solidFill>
                  </a:tcPr>
                </a:tc>
                <a:tc>
                  <a:txBody>
                    <a:bodyPr/>
                    <a:lstStyle/>
                    <a:p>
                      <a:r>
                        <a:rPr sz="1200" b="0" i="0">
                          <a:solidFill>
                            <a:srgbClr val="1A1440"/>
                          </a:solidFill>
                          <a:latin typeface="Calibri"/>
                        </a:rPr>
                        <a:t>papad, pickle</a:t>
                      </a:r>
                    </a:p>
                  </a:txBody>
                  <a:tcPr marL="101600" marR="101600" marT="38100" marB="38100" anchor="ctr">
                    <a:solidFill>
                      <a:srgbClr val="F4F2FA"/>
                    </a:solidFill>
                  </a:tcPr>
                </a:tc>
                <a:tc>
                  <a:txBody>
                    <a:bodyPr/>
                    <a:lstStyle/>
                    <a:p>
                      <a:r>
                        <a:rPr sz="1200" b="0" i="0">
                          <a:solidFill>
                            <a:srgbClr val="1A1440"/>
                          </a:solidFill>
                          <a:latin typeface="Calibri"/>
                        </a:rPr>
                        <a:t>T12</a:t>
                      </a:r>
                    </a:p>
                  </a:txBody>
                  <a:tcPr marL="101600" marR="101600" marT="38100" marB="38100" anchor="ctr">
                    <a:solidFill>
                      <a:srgbClr val="F4F2FA"/>
                    </a:solidFill>
                  </a:tcPr>
                </a:tc>
                <a:tc>
                  <a:txBody>
                    <a:bodyPr/>
                    <a:lstStyle/>
                    <a:p>
                      <a:r>
                        <a:rPr sz="1200" b="0" i="0">
                          <a:solidFill>
                            <a:srgbClr val="1A1440"/>
                          </a:solidFill>
                          <a:latin typeface="Calibri"/>
                        </a:rPr>
                        <a:t>gulab jamun, curd</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8, since four roti orders and four sabzi orders make eight. b) 5, since five orders hold roti or sabzi. c) 3, since three orders hold roti with sabzi. d) 4, since every roti order also holds sabzi.</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TextBox 22"/>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3 of 12 orders hold both: support 0.25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2 by 2 count the twelve orders?</a:t>
            </a:r>
          </a:p>
        </p:txBody>
      </p:sp>
      <p:pic>
        <p:nvPicPr>
          <p:cNvPr id="9" name="mermaid diagram" descr="C2_W04_D03_canteen_dots_STUDENT.png"/>
          <p:cNvPicPr>
            <a:picLocks noChangeAspect="1"/>
          </p:cNvPicPr>
          <p:nvPr/>
        </p:nvPicPr>
        <p:blipFill>
          <a:blip r:embed="rId4"/>
          <a:stretch>
            <a:fillRect/>
          </a:stretch>
        </p:blipFill>
        <p:spPr>
          <a:xfrm>
            <a:off x="1800113" y="1664208"/>
            <a:ext cx="859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Twelve invented lunch orders as dots in two circles, roti and sabzi, beside the 2 by 2 table of counts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T09, T10 and T11 hold both, T07 holds roti alone, T04 holds sabzi alone, and seven orders hold neither: the four cells add to twelve. Support is the orders holding both over all orders, 3 / 12 = 0.25. Adding 4 and 4 gives 8, which counts T09 to T11 twice and never looks inside an order.</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TextBox 23"/>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63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Dal rice and chaas share the most orders: 0.50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pair is most common, and what does support compute for every pair?</a:t>
            </a:r>
          </a:p>
        </p:txBody>
      </p:sp>
      <p:pic>
        <p:nvPicPr>
          <p:cNvPr id="9" name="mermaid diagram" descr="C2_W04_D03_canteen_pair_counts_STUDENT.png"/>
          <p:cNvPicPr>
            <a:picLocks noChangeAspect="1"/>
          </p:cNvPicPr>
          <p:nvPr/>
        </p:nvPicPr>
        <p:blipFill>
          <a:blip r:embed="rId4"/>
          <a:stretch>
            <a:fillRect/>
          </a:stretch>
        </p:blipFill>
        <p:spPr>
          <a:xfrm>
            <a:off x="530352" y="1943503"/>
            <a:ext cx="4786326" cy="3470864"/>
          </a:xfrm>
          <a:prstGeom prst="rect">
            <a:avLst/>
          </a:prstGeom>
        </p:spPr>
      </p:pic>
      <p:sp>
        <p:nvSpPr>
          <p:cNvPr id="10" name="picture caption"/>
          <p:cNvSpPr txBox="1"/>
          <p:nvPr/>
        </p:nvSpPr>
        <p:spPr>
          <a:xfrm>
            <a:off x="530352" y="5450944"/>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six most common pairs of the twelve invented orders by the orders each shares</a:t>
            </a:r>
          </a:p>
        </p:txBody>
      </p:sp>
      <p:sp>
        <p:nvSpPr>
          <p:cNvPr id="11" name="TextBox 10"/>
          <p:cNvSpPr txBox="1"/>
          <p:nvPr/>
        </p:nvSpPr>
        <p:spPr>
          <a:xfrm>
            <a:off x="5761917" y="1956816"/>
            <a:ext cx="5899425"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formula, named last: support of a pair is the baskets holding both over all baskets. Chaas's own support is its share, 9 / 12 = 0.75. Three lines count it:</a:t>
            </a:r>
          </a:p>
        </p:txBody>
      </p:sp>
      <p:sp>
        <p:nvSpPr>
          <p:cNvPr id="12" name="Rounded Rectangle 11"/>
          <p:cNvSpPr/>
          <p:nvPr/>
        </p:nvSpPr>
        <p:spPr>
          <a:xfrm>
            <a:off x="5761917" y="3133344"/>
            <a:ext cx="5899425"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26136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26136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26136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3462528"/>
            <a:ext cx="5442225" cy="1822195"/>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set of items per order</a:t>
            </a:r>
          </a:p>
          <a:p>
            <a:pPr>
              <a:spcAft>
                <a:spcPts val="200"/>
              </a:spcAft>
            </a:pPr>
            <a:r>
              <a:rPr sz="1400" b="0" i="0">
                <a:solidFill>
                  <a:srgbClr val="E4E1F1"/>
                </a:solidFill>
                <a:latin typeface="Consolas"/>
              </a:rPr>
              <a:t>orders = lines.groupby("order_id")</a:t>
            </a:r>
          </a:p>
          <a:p>
            <a:pPr>
              <a:spcAft>
                <a:spcPts val="200"/>
              </a:spcAft>
            </a:pPr>
            <a:r>
              <a:rPr sz="1400" b="0" i="0">
                <a:solidFill>
                  <a:srgbClr val="E4E1F1"/>
                </a:solidFill>
                <a:latin typeface="Consolas"/>
              </a:rPr>
              <a:t>baskets = orders.item.apply(set)</a:t>
            </a:r>
          </a:p>
          <a:p>
            <a:pPr>
              <a:spcAft>
                <a:spcPts val="200"/>
              </a:spcAft>
            </a:pPr>
            <a:r>
              <a:rPr sz="1400" b="0" i="0">
                <a:solidFill>
                  <a:srgbClr val="A9A3D2"/>
                </a:solidFill>
                <a:latin typeface="Consolas"/>
              </a:rPr>
              <a:t># orders holding roti and sabzi: 3</a:t>
            </a:r>
          </a:p>
          <a:p>
            <a:pPr>
              <a:spcAft>
                <a:spcPts val="200"/>
              </a:spcAft>
            </a:pPr>
            <a:r>
              <a:rPr sz="1400" b="0" i="0">
                <a:solidFill>
                  <a:srgbClr val="E4E1F1"/>
                </a:solidFill>
                <a:latin typeface="Consolas"/>
              </a:rPr>
              <a:t>both = sum("roti" in b and "sabzi" in b</a:t>
            </a:r>
          </a:p>
          <a:p>
            <a:pPr>
              <a:spcAft>
                <a:spcPts val="200"/>
              </a:spcAft>
            </a:pPr>
            <a:r>
              <a:rPr sz="1400" b="0" i="0">
                <a:solidFill>
                  <a:srgbClr val="E4E1F1"/>
                </a:solidFill>
                <a:latin typeface="Consolas"/>
              </a:rPr>
              <a:t>           for b in baskets)</a:t>
            </a:r>
          </a:p>
          <a:p>
            <a:pPr>
              <a:spcAft>
                <a:spcPts val="200"/>
              </a:spcAft>
            </a:pPr>
            <a:r>
              <a:rPr sz="1400" b="0" i="0">
                <a:solidFill>
                  <a:srgbClr val="E4E1F1"/>
                </a:solidFill>
                <a:latin typeface="Consolas"/>
              </a:rPr>
              <a:t>print(both / len(baskets))     # 0.25</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19" name="Oval 1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1" name="Oval 2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7" name="Oval 26"/>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9" name="TextBox 28"/>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Support answers how often, and nothing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1, and where is support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A basket is everything one customer pays for in one go, and together means in the same basket.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Support of a pair is the baskets holding both over all baskets, so its denominator is every basket.</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An item's own support is its share of baskets: chaas sits in 0.75 of the twelve orders.</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The most common pair is a count and nothing more yet: dal rice and chaas lead with 6 of 12.</a:t>
            </a:r>
          </a:p>
        </p:txBody>
      </p:sp>
      <p:sp>
        <p:nvSpPr>
          <p:cNvPr id="17" name="Rounded Rectangle 16"/>
          <p:cNvSpPr/>
          <p:nvPr/>
        </p:nvSpPr>
        <p:spPr>
          <a:xfrm>
            <a:off x="530352" y="35600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627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7248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423672"/>
          </a:xfrm>
          <a:prstGeom prst="rect">
            <a:avLst/>
          </a:prstGeom>
          <a:noFill/>
        </p:spPr>
        <p:txBody>
          <a:bodyPr wrap="square" anchor="t" lIns="0" rIns="0" tIns="0" bIns="0">
            <a:spAutoFit/>
          </a:bodyPr>
          <a:lstStyle/>
          <a:p>
            <a:r>
              <a:rPr sz="1500" b="0" i="0">
                <a:solidFill>
                  <a:srgbClr val="1A1440"/>
                </a:solidFill>
                <a:latin typeface="Calibri"/>
              </a:rPr>
              <a:t>[S] "What is support?" The share of all baskets that hold both items, said with its denominator.</a:t>
            </a:r>
          </a:p>
        </p:txBody>
      </p:sp>
      <p:pic>
        <p:nvPicPr>
          <p:cNvPr id="22" name="mermaid diagram" descr="592d8a6b66c02116.png"/>
          <p:cNvPicPr>
            <a:picLocks noChangeAspect="1"/>
          </p:cNvPicPr>
          <p:nvPr/>
        </p:nvPicPr>
        <p:blipFill>
          <a:blip r:embed="rId6"/>
          <a:stretch>
            <a:fillRect/>
          </a:stretch>
        </p:blipFill>
        <p:spPr>
          <a:xfrm>
            <a:off x="3266555" y="4587240"/>
            <a:ext cx="5658583" cy="1612392"/>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25" name="Oval 2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7" name="Oval 2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9" name="Oval 2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1" name="Oval 3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3" name="Oval 3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5" name="TextBox 34"/>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63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Confidence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reliably together?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Confidence, the second count, on the same twelve orders: how reliably one item brings the other, and why the direction changes the number.</a:t>
            </a:r>
          </a:p>
        </p:txBody>
      </p:sp>
      <p:sp>
        <p:nvSpPr>
          <p:cNvPr id="11" name="Rounded Rectangle 10"/>
          <p:cNvSpPr/>
          <p:nvPr/>
        </p:nvSpPr>
        <p:spPr>
          <a:xfrm>
            <a:off x="731519" y="5074920"/>
            <a:ext cx="10789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12 / 63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Confidence counts inside the baskets that hold 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Support, confidence and lift, derived by counting: part two of three, confidence.</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again, who must decide which item the combo card is printed beside: a card aimed at the wrong buyer reads well and sells nothing.</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"of those" count?</a:t>
            </a:r>
          </a:p>
        </p:txBody>
      </p:sp>
      <p:sp>
        <p:nvSpPr>
          <p:cNvPr id="20" name="TextBox 19"/>
          <p:cNvSpPr txBox="1"/>
          <p:nvPr/>
        </p:nvSpPr>
        <p:spPr>
          <a:xfrm>
            <a:off x="694944"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baskets with A, then those with B too.</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Does direction matter?</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Dal rice to papad against papad to dal rice.</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far can it swing?</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Papad and pickle, two orders.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can it not say?</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Whether a pair is special at all.</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TextBox 47"/>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63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Dal rice to papad reads 0.50; papad to dal rice?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Dal rice is in 6 orders, papad in 5, both in 3. What is the confidence from papad to dal rice?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qual_08ba08324b5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0.50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Confidence reads the same both ways, like support.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ercent_3c2cac06876b.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0.60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of papad's five orders hold dal rice.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rcent_3c2cac06876b.png"/>
          <p:cNvPicPr>
            <a:picLocks noChangeAspect="1"/>
          </p:cNvPicPr>
          <p:nvPr/>
        </p:nvPicPr>
        <p:blipFill>
          <a:blip r:embed="rId5"/>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0.25</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of all twelve orders hold both.</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heck_b9076ab140eb.png"/>
          <p:cNvPicPr>
            <a:picLocks noChangeAspect="1"/>
          </p:cNvPicPr>
          <p:nvPr/>
        </p:nvPicPr>
        <p:blipFill>
          <a:blip r:embed="rId6"/>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1.00</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papad order holds dal rice.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1" name="Oval 4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TextBox 44"/>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63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0.60: three of papad's five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same three orders give two different confidences?</a:t>
            </a:r>
          </a:p>
        </p:txBody>
      </p:sp>
      <p:pic>
        <p:nvPicPr>
          <p:cNvPr id="9" name="mermaid diagram" descr="C2_W04_D03_canteen_two_ways_STUDENT.png"/>
          <p:cNvPicPr>
            <a:picLocks noChangeAspect="1"/>
          </p:cNvPicPr>
          <p:nvPr/>
        </p:nvPicPr>
        <p:blipFill>
          <a:blip r:embed="rId4"/>
          <a:stretch>
            <a:fillRect/>
          </a:stretch>
        </p:blipFill>
        <p:spPr>
          <a:xfrm>
            <a:off x="1579563" y="1664208"/>
            <a:ext cx="9032568"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twelve invented orders shrunk two ways: dal rice's six orders, then papad's five, the three holding both filled</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From dal rice, the world shrinks to its 6 orders and 3 hold papad: 3 / 6 = 0.50. From papad, it shrinks to 5 orders and the same 3 hold dal rice: 3 / 5 = 0.60. The trap is reporting one direction's number for the other, which aims the combo card at the wrong buyer.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TextBox 23"/>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63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Direction can swing a pair from 1.00 to 0.40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apart can the two directions sit, and when do they agree?</a:t>
            </a:r>
          </a:p>
        </p:txBody>
      </p:sp>
      <p:pic>
        <p:nvPicPr>
          <p:cNvPr id="9" name="mermaid diagram" descr="C2_W04_D03_canteen_direction_STUDENT.png"/>
          <p:cNvPicPr>
            <a:picLocks noChangeAspect="1"/>
          </p:cNvPicPr>
          <p:nvPr/>
        </p:nvPicPr>
        <p:blipFill>
          <a:blip r:embed="rId4"/>
          <a:stretch>
            <a:fillRect/>
          </a:stretch>
        </p:blipFill>
        <p:spPr>
          <a:xfrm>
            <a:off x="530352" y="1764321"/>
            <a:ext cx="4786326" cy="3621964"/>
          </a:xfrm>
          <a:prstGeom prst="rect">
            <a:avLst/>
          </a:prstGeom>
        </p:spPr>
      </p:pic>
      <p:sp>
        <p:nvSpPr>
          <p:cNvPr id="10" name="picture caption"/>
          <p:cNvSpPr txBox="1"/>
          <p:nvPr/>
        </p:nvSpPr>
        <p:spPr>
          <a:xfrm>
            <a:off x="530352" y="5422862"/>
            <a:ext cx="4786326" cy="731520"/>
          </a:xfrm>
          <a:prstGeom prst="rect">
            <a:avLst/>
          </a:prstGeom>
          <a:noFill/>
        </p:spPr>
        <p:txBody>
          <a:bodyPr wrap="square" anchor="t" lIns="0" rIns="0" tIns="0" bIns="0">
            <a:spAutoFit/>
          </a:bodyPr>
          <a:lstStyle/>
          <a:p>
            <a:pPr algn="ctr"/>
            <a:r>
              <a:rPr sz="1200" b="0" i="0">
                <a:solidFill>
                  <a:srgbClr val="6B6690"/>
                </a:solidFill>
                <a:latin typeface="Calibri"/>
              </a:rPr>
              <a:t>Confidence one way against the other for all 13 pairs of the twelve invented orders, with the diagonal where both ways are equal</a:t>
            </a:r>
          </a:p>
        </p:txBody>
      </p:sp>
      <p:sp>
        <p:nvSpPr>
          <p:cNvPr id="11" name="TextBox 10"/>
          <p:cNvSpPr txBox="1"/>
          <p:nvPr/>
        </p:nvSpPr>
        <p:spPr>
          <a:xfrm>
            <a:off x="5761917" y="1956816"/>
            <a:ext cx="5899425"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formula, named last: confidence from A to B is the baskets holding both over the baskets holding A. Pickle's two orders both hold papad, 1.00, while papad's five orders hold pickle twice, 0.40. Roti and sabzi read 0.75 both ways only because each sits in 4 orders.</a:t>
            </a:r>
          </a:p>
        </p:txBody>
      </p:sp>
      <p:sp>
        <p:nvSpPr>
          <p:cNvPr id="12" name="Rounded Rectangle 11"/>
          <p:cNvSpPr/>
          <p:nvPr/>
        </p:nvSpPr>
        <p:spPr>
          <a:xfrm>
            <a:off x="5761917" y="3686048"/>
            <a:ext cx="589942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81406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81406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81406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4015232"/>
            <a:ext cx="5442225" cy="1569719"/>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orders holding dal rice: 6</a:t>
            </a:r>
          </a:p>
          <a:p>
            <a:pPr>
              <a:spcAft>
                <a:spcPts val="200"/>
              </a:spcAft>
            </a:pPr>
            <a:r>
              <a:rPr sz="1400" b="0" i="0">
                <a:solidFill>
                  <a:srgbClr val="E4E1F1"/>
                </a:solidFill>
                <a:latin typeface="Consolas"/>
              </a:rPr>
              <a:t>dal = sum("dal rice" in b for b in baskets)</a:t>
            </a:r>
          </a:p>
          <a:p>
            <a:pPr>
              <a:spcAft>
                <a:spcPts val="200"/>
              </a:spcAft>
            </a:pPr>
            <a:r>
              <a:rPr sz="1400" b="0" i="0">
                <a:solidFill>
                  <a:srgbClr val="A9A3D2"/>
                </a:solidFill>
                <a:latin typeface="Consolas"/>
              </a:rPr>
              <a:t># of those, orders holding papad too: 3</a:t>
            </a:r>
          </a:p>
          <a:p>
            <a:pPr>
              <a:spcAft>
                <a:spcPts val="200"/>
              </a:spcAft>
            </a:pPr>
            <a:r>
              <a:rPr sz="1400" b="0" i="0">
                <a:solidFill>
                  <a:srgbClr val="E4E1F1"/>
                </a:solidFill>
                <a:latin typeface="Consolas"/>
              </a:rPr>
              <a:t>both = sum("papad" in b for b in baskets</a:t>
            </a:r>
          </a:p>
          <a:p>
            <a:pPr>
              <a:spcAft>
                <a:spcPts val="200"/>
              </a:spcAft>
            </a:pPr>
            <a:r>
              <a:rPr sz="1400" b="0" i="0">
                <a:solidFill>
                  <a:srgbClr val="E4E1F1"/>
                </a:solidFill>
                <a:latin typeface="Consolas"/>
              </a:rPr>
              <a:t>           if "dal rice" in b)</a:t>
            </a:r>
          </a:p>
          <a:p>
            <a:pPr>
              <a:spcAft>
                <a:spcPts val="200"/>
              </a:spcAft>
            </a:pPr>
            <a:r>
              <a:rPr sz="1400" b="0" i="0">
                <a:solidFill>
                  <a:srgbClr val="E4E1F1"/>
                </a:solidFill>
                <a:latin typeface="Consolas"/>
              </a:rPr>
              <a:t>print(both / dal)        # 0.50 from dal rice</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9" name="Oval 18"/>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21" name="Oval 2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7" name="Oval 26"/>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9" name="TextBox 28"/>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Confidence is a rate with a direction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2, and where is confidence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Confidence from A to B is the baskets holding both over the baskets holding A.</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It is written with its direction, since the denominator is the basket count of A.</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The two directions agree only when the two items sit in the same number of baskets.</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Confidence alone never says whether a pair is special, since it ignores how common B is anyway.</a:t>
            </a:r>
          </a:p>
        </p:txBody>
      </p:sp>
      <p:sp>
        <p:nvSpPr>
          <p:cNvPr id="17" name="Rounded Rectangle 16"/>
          <p:cNvSpPr/>
          <p:nvPr/>
        </p:nvSpPr>
        <p:spPr>
          <a:xfrm>
            <a:off x="530352" y="342188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19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29304"/>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613664"/>
          </a:xfrm>
          <a:prstGeom prst="rect">
            <a:avLst/>
          </a:prstGeom>
          <a:noFill/>
        </p:spPr>
        <p:txBody>
          <a:bodyPr wrap="square" anchor="t" lIns="0" rIns="0" tIns="0" bIns="0">
            <a:spAutoFit/>
          </a:bodyPr>
          <a:lstStyle/>
          <a:p>
            <a:r>
              <a:rPr sz="1300" b="0" i="0">
                <a:solidFill>
                  <a:srgbClr val="1A1440"/>
                </a:solidFill>
                <a:latin typeface="Calibri"/>
              </a:rPr>
              <a:t>[S] "What is confidence, and why does the direction matter?" Both over A, so A to B and B to A divide by different baskets.</a:t>
            </a:r>
          </a:p>
        </p:txBody>
      </p:sp>
      <p:pic>
        <p:nvPicPr>
          <p:cNvPr id="22" name="mermaid diagram" descr="a26710964252ffe3.png"/>
          <p:cNvPicPr>
            <a:picLocks noChangeAspect="1"/>
          </p:cNvPicPr>
          <p:nvPr/>
        </p:nvPicPr>
        <p:blipFill>
          <a:blip r:embed="rId6"/>
          <a:stretch>
            <a:fillRect/>
          </a:stretch>
        </p:blipFill>
        <p:spPr>
          <a:xfrm>
            <a:off x="3357478" y="4639056"/>
            <a:ext cx="5476738" cy="1560576"/>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5" name="Oval 2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27" name="Oval 2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9" name="Oval 2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1" name="Oval 3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3" name="Oval 3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5" name="TextBox 34"/>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Chance and lift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More often than chance?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Lift, the third count, built from what chance alone would put in a basket: do two items meet more often than chance would put them together?</a:t>
            </a:r>
          </a:p>
        </p:txBody>
      </p:sp>
      <p:sp>
        <p:nvSpPr>
          <p:cNvPr id="11" name="Rounded Rectangle 10"/>
          <p:cNvSpPr/>
          <p:nvPr/>
        </p:nvSpPr>
        <p:spPr>
          <a:xfrm>
            <a:off x="731519" y="5074920"/>
            <a:ext cx="10789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63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compares what is seen with what chance gives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Support, confidence and lift, derived by counting: part three of three, chance and lift.</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who wants pairs that sell together more than they would anyway; a pair that merely meets as often as chance puts nothing extra on the counter.</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would chance give?</a:t>
            </a:r>
          </a:p>
        </p:txBody>
      </p:sp>
      <p:sp>
        <p:nvSpPr>
          <p:cNvPr id="20" name="TextBox 19"/>
          <p:cNvSpPr txBox="1"/>
          <p:nvPr/>
        </p:nvSpPr>
        <p:spPr>
          <a:xfrm>
            <a:off x="694944"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If two items ignored each other.</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lift?</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seen count over the chance count.</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Does lift have a direction?</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Read it from both sides.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lift not say?</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Why the two meet.</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TextBox 47"/>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If roti and sabzi ignored each other, how many?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Roti is in 4 of 12 orders and sabzi in 4. How many orders would hold both by chance alone?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off_a67030a88d5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Items that ignore each other never meet.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ivide_8fbee41b51cd.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1.33</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third of roti's 4 orders, if sabzi ignored roti.</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basket_3377944e7502.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3</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orders hold both on the cards.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hash_29aa8cda0b5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4</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Roti's own count.</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1" name="Oval 4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TextBox 44"/>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63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1.33 by chance; 3 seen; lift 2.25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chance give a count, and how does lift compare with it?</a:t>
            </a:r>
          </a:p>
        </p:txBody>
      </p:sp>
      <p:pic>
        <p:nvPicPr>
          <p:cNvPr id="9" name="mermaid diagram" descr="C2_W04_D03_canteen_seen_expected_STUDENT.png"/>
          <p:cNvPicPr>
            <a:picLocks noChangeAspect="1"/>
          </p:cNvPicPr>
          <p:nvPr/>
        </p:nvPicPr>
        <p:blipFill>
          <a:blip r:embed="rId4"/>
          <a:stretch>
            <a:fillRect/>
          </a:stretch>
        </p:blipFill>
        <p:spPr>
          <a:xfrm>
            <a:off x="1710502" y="1664208"/>
            <a:ext cx="8770689"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Seen against chance for four pairs of the twelve invented orders: roti and sabzi, dal rice and papad, roti and chaas, papad and chaas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If roti and sabzi ignored each other, roti's orders would hold sabzi at the rate all orders do, 4 of 12, so a third of the 4 roti orders: 12 x 4/12 x 4/12 = 1.33. Three are seen, so lift is 3 / 1.33 = 2.25. Roti and chaas show chance itself: 12 x 4/12 x 9/12 = 3 by chance, 3 seen, lift 1.00.</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TextBox 23"/>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63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is a ratio of two areas, the same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say lift is, and why does it have no direction?</a:t>
            </a:r>
          </a:p>
        </p:txBody>
      </p:sp>
      <p:pic>
        <p:nvPicPr>
          <p:cNvPr id="9" name="mermaid diagram" descr="C2_W04_D03_canteen_areas_STUDENT.png"/>
          <p:cNvPicPr>
            <a:picLocks noChangeAspect="1"/>
          </p:cNvPicPr>
          <p:nvPr/>
        </p:nvPicPr>
        <p:blipFill>
          <a:blip r:embed="rId4"/>
          <a:stretch>
            <a:fillRect/>
          </a:stretch>
        </p:blipFill>
        <p:spPr>
          <a:xfrm>
            <a:off x="530352" y="2207929"/>
            <a:ext cx="4786326" cy="2942012"/>
          </a:xfrm>
          <a:prstGeom prst="rect">
            <a:avLst/>
          </a:prstGeom>
        </p:spPr>
      </p:pic>
      <p:sp>
        <p:nvSpPr>
          <p:cNvPr id="10" name="picture caption"/>
          <p:cNvSpPr txBox="1"/>
          <p:nvPr/>
        </p:nvSpPr>
        <p:spPr>
          <a:xfrm>
            <a:off x="530352" y="5186518"/>
            <a:ext cx="4786326" cy="524256"/>
          </a:xfrm>
          <a:prstGeom prst="rect">
            <a:avLst/>
          </a:prstGeom>
          <a:noFill/>
        </p:spPr>
        <p:txBody>
          <a:bodyPr wrap="square" anchor="t" lIns="0" rIns="0" tIns="0" bIns="0">
            <a:spAutoFit/>
          </a:bodyPr>
          <a:lstStyle/>
          <a:p>
            <a:pPr algn="ctr"/>
            <a:r>
              <a:rPr sz="1200" b="0" i="0">
                <a:solidFill>
                  <a:srgbClr val="6B6690"/>
                </a:solidFill>
                <a:latin typeface="Calibri"/>
              </a:rPr>
              <a:t>Lift as a ratio of two areas on the unit square for roti and sabzi: chance 0.11 against seen 0.25</a:t>
            </a:r>
          </a:p>
        </p:txBody>
      </p:sp>
      <p:sp>
        <p:nvSpPr>
          <p:cNvPr id="11" name="TextBox 10"/>
          <p:cNvSpPr txBox="1"/>
          <p:nvPr/>
        </p:nvSpPr>
        <p:spPr>
          <a:xfrm>
            <a:off x="5761917" y="1956816"/>
            <a:ext cx="5899425"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formula, named last: lift = seen / chance = both x all / (A x B) = 3 x 12 / (4 x 4) = 2.25. The second route is confidence over the partner's share: 0.75 / (4/12) = 2.25 from either side, which is why lift has no direction.</a:t>
            </a:r>
          </a:p>
        </p:txBody>
      </p:sp>
      <p:sp>
        <p:nvSpPr>
          <p:cNvPr id="12" name="Rounded Rectangle 11"/>
          <p:cNvSpPr/>
          <p:nvPr/>
        </p:nvSpPr>
        <p:spPr>
          <a:xfrm>
            <a:off x="5761917" y="3686048"/>
            <a:ext cx="5899425"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81406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81406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81406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4015232"/>
            <a:ext cx="5442225" cy="1317244"/>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chance: all orders x both shares</a:t>
            </a:r>
          </a:p>
          <a:p>
            <a:pPr>
              <a:spcAft>
                <a:spcPts val="200"/>
              </a:spcAft>
            </a:pPr>
            <a:r>
              <a:rPr sz="1400" b="0" i="0">
                <a:solidFill>
                  <a:srgbClr val="E4E1F1"/>
                </a:solidFill>
                <a:latin typeface="Consolas"/>
              </a:rPr>
              <a:t>chance = 12 * (4 / 12) * (4 / 12)  # 1.33</a:t>
            </a:r>
          </a:p>
          <a:p>
            <a:pPr>
              <a:spcAft>
                <a:spcPts val="200"/>
              </a:spcAft>
            </a:pPr>
            <a:r>
              <a:rPr sz="1400" b="0" i="0">
                <a:solidFill>
                  <a:srgbClr val="E4E1F1"/>
                </a:solidFill>
                <a:latin typeface="Consolas"/>
              </a:rPr>
              <a:t>print(3 / chance)          # lift: 2.25</a:t>
            </a:r>
          </a:p>
          <a:p>
            <a:pPr>
              <a:spcAft>
                <a:spcPts val="200"/>
              </a:spcAft>
            </a:pPr>
            <a:r>
              <a:rPr sz="1400" b="0" i="0">
                <a:solidFill>
                  <a:srgbClr val="A9A3D2"/>
                </a:solidFill>
                <a:latin typeface="Consolas"/>
              </a:rPr>
              <a:t># second route: confidence over share</a:t>
            </a:r>
          </a:p>
          <a:p>
            <a:pPr>
              <a:spcAft>
                <a:spcPts val="200"/>
              </a:spcAft>
            </a:pPr>
            <a:r>
              <a:rPr sz="1400" b="0" i="0">
                <a:solidFill>
                  <a:srgbClr val="E4E1F1"/>
                </a:solidFill>
                <a:latin typeface="Consolas"/>
              </a:rPr>
              <a:t>print((3 / 4) / (4 / 12))  # also 2.25</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9" name="Oval 1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1" name="Oval 20"/>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7" name="Oval 26"/>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9" name="TextBox 28"/>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63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counts a pull and never names a cause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3, and where is lift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Chance alone gives a pair all baskets times A's share times B's share.</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Lift is the seen count over the chance count, and it reads the same from both sides.</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Lift below one means together less often than chance, exactly one means chance, and above one more often.</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Lift 2.25 never means roti makes anyone buy 2.25 times the sabzi; only a change at the counter tested fairly shows cause.</a:t>
            </a:r>
          </a:p>
        </p:txBody>
      </p:sp>
      <p:sp>
        <p:nvSpPr>
          <p:cNvPr id="17" name="Rounded Rectangle 16"/>
          <p:cNvSpPr/>
          <p:nvPr/>
        </p:nvSpPr>
        <p:spPr>
          <a:xfrm>
            <a:off x="530352" y="342188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19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29304"/>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613664"/>
          </a:xfrm>
          <a:prstGeom prst="rect">
            <a:avLst/>
          </a:prstGeom>
          <a:noFill/>
        </p:spPr>
        <p:txBody>
          <a:bodyPr wrap="square" anchor="t" lIns="0" rIns="0" tIns="0" bIns="0">
            <a:spAutoFit/>
          </a:bodyPr>
          <a:lstStyle/>
          <a:p>
            <a:r>
              <a:rPr sz="1300" b="0" i="0">
                <a:solidFill>
                  <a:srgbClr val="1A1440"/>
                </a:solidFill>
                <a:latin typeface="Calibri"/>
              </a:rPr>
              <a:t>[S] "Which of the three counts cannot be fooled by popularity?" Lift, because it divides by the partner's share; chapter 4 shows the trap it avoids.</a:t>
            </a:r>
          </a:p>
        </p:txBody>
      </p:sp>
      <p:pic>
        <p:nvPicPr>
          <p:cNvPr id="22" name="mermaid diagram" descr="1742fea109b752cb.png"/>
          <p:cNvPicPr>
            <a:picLocks noChangeAspect="1"/>
          </p:cNvPicPr>
          <p:nvPr/>
        </p:nvPicPr>
        <p:blipFill>
          <a:blip r:embed="rId6"/>
          <a:stretch>
            <a:fillRect/>
          </a:stretch>
        </p:blipFill>
        <p:spPr>
          <a:xfrm>
            <a:off x="3357478" y="4639056"/>
            <a:ext cx="5476738" cy="1560576"/>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5" name="Oval 2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7" name="Oval 26"/>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29" name="Oval 2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1" name="Oval 3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3" name="Oval 3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5" name="TextBox 34"/>
          <p:cNvSpPr txBox="1"/>
          <p:nvPr/>
        </p:nvSpPr>
        <p:spPr>
          <a:xfrm>
            <a:off x="9640061"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confidence trap; lift near one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1.00 mean a bundle?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the item in most baskets reads like a bundle with everything, why its lift can never climb far above one, and what near one means today.</a:t>
            </a:r>
          </a:p>
        </p:txBody>
      </p:sp>
      <p:sp>
        <p:nvSpPr>
          <p:cNvPr id="11" name="Rounded Rectangle 10"/>
          <p:cNvSpPr/>
          <p:nvPr/>
        </p:nvSpPr>
        <p:spPr>
          <a:xfrm>
            <a:off x="731519" y="5074920"/>
            <a:ext cx="10789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63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Chaas is in 9 of 12 orders: a base rate of 0.75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confidence trap; lift near one.</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who is told that every dal rice order has chaas and is tempted to print chaas beside everything; a board full of chaas sells nothing that was not selling already.</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a base rate?</a:t>
            </a:r>
          </a:p>
        </p:txBody>
      </p:sp>
      <p:sp>
        <p:nvSpPr>
          <p:cNvPr id="20" name="TextBox 19"/>
          <p:cNvSpPr txBox="1"/>
          <p:nvPr/>
        </p:nvSpPr>
        <p:spPr>
          <a:xfrm>
            <a:off x="694944"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How common an item is in all baskets anyway.</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dal rice to chaas worth?</a:t>
            </a:r>
          </a:p>
        </p:txBody>
      </p:sp>
      <p:sp>
        <p:nvSpPr>
          <p:cNvPr id="25" name="TextBox 24"/>
          <p:cNvSpPr txBox="1"/>
          <p:nvPr/>
        </p:nvSpPr>
        <p:spPr>
          <a:xfrm>
            <a:off x="3523411"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Confidence 1.00, read against 0.75.</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Does every item look bundled?</a:t>
            </a:r>
          </a:p>
        </p:txBody>
      </p:sp>
      <p:sp>
        <p:nvSpPr>
          <p:cNvPr id="30" name="TextBox 29"/>
          <p:cNvSpPr txBox="1"/>
          <p:nvPr/>
        </p:nvSpPr>
        <p:spPr>
          <a:xfrm>
            <a:off x="6351879"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four common items toward chaas.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count resists it?</a:t>
            </a:r>
          </a:p>
        </p:txBody>
      </p:sp>
      <p:sp>
        <p:nvSpPr>
          <p:cNvPr id="35" name="TextBox 34"/>
          <p:cNvSpPr txBox="1"/>
          <p:nvPr/>
        </p:nvSpPr>
        <p:spPr>
          <a:xfrm>
            <a:off x="9180347"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one that divides the base rate out.</a:t>
            </a:r>
          </a:p>
        </p:txBody>
      </p:sp>
      <p:sp>
        <p:nvSpPr>
          <p:cNvPr id="36" name="TextBox 35"/>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7" name="Oval 36"/>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961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9" name="Oval 38"/>
          <p:cNvSpPr/>
          <p:nvPr/>
        </p:nvSpPr>
        <p:spPr>
          <a:xfrm>
            <a:off x="227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3837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1" name="Oval 40"/>
          <p:cNvSpPr/>
          <p:nvPr/>
        </p:nvSpPr>
        <p:spPr>
          <a:xfrm>
            <a:off x="38076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91734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Does 1.00 mean a bundle?</a:t>
            </a:r>
          </a:p>
        </p:txBody>
      </p:sp>
      <p:sp>
        <p:nvSpPr>
          <p:cNvPr id="43" name="Oval 42"/>
          <p:cNvSpPr/>
          <p:nvPr/>
        </p:nvSpPr>
        <p:spPr>
          <a:xfrm>
            <a:off x="538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49697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5" name="Oval 44"/>
          <p:cNvSpPr/>
          <p:nvPr/>
        </p:nvSpPr>
        <p:spPr>
          <a:xfrm>
            <a:off x="69668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07659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7" name="Oval 46"/>
          <p:cNvSpPr/>
          <p:nvPr/>
        </p:nvSpPr>
        <p:spPr>
          <a:xfrm>
            <a:off x="854649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65622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9" name="TextBox 48"/>
          <p:cNvSpPr txBox="1"/>
          <p:nvPr/>
        </p:nvSpPr>
        <p:spPr>
          <a:xfrm>
            <a:off x="10172128"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63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Dal rice to chaas reads 1.00: what is the lift?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dal rice order holds chaas, and chaas is in 9 of 12 orders. What is their lift?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eck-check_1617a5259dce.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1.00</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same as the confidence.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cale_b0ee069e815e.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1.33</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confidence over chaas's share.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2.00</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Twice as strong as an ordinary pair.</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ercent_3c2cac06876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0.75</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Chaas's own share of the orders.</a:t>
            </a:r>
          </a:p>
        </p:txBody>
      </p:sp>
      <p:sp>
        <p:nvSpPr>
          <p:cNvPr id="33" name="TextBox 3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4" name="Oval 3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961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6" name="Oval 35"/>
          <p:cNvSpPr/>
          <p:nvPr/>
        </p:nvSpPr>
        <p:spPr>
          <a:xfrm>
            <a:off x="227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3837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8" name="Oval 37"/>
          <p:cNvSpPr/>
          <p:nvPr/>
        </p:nvSpPr>
        <p:spPr>
          <a:xfrm>
            <a:off x="38076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91734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Does 1.00 mean a bundle?</a:t>
            </a:r>
          </a:p>
        </p:txBody>
      </p:sp>
      <p:sp>
        <p:nvSpPr>
          <p:cNvPr id="40" name="Oval 39"/>
          <p:cNvSpPr/>
          <p:nvPr/>
        </p:nvSpPr>
        <p:spPr>
          <a:xfrm>
            <a:off x="538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49697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2" name="Oval 41"/>
          <p:cNvSpPr/>
          <p:nvPr/>
        </p:nvSpPr>
        <p:spPr>
          <a:xfrm>
            <a:off x="69668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07659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4" name="Oval 43"/>
          <p:cNvSpPr/>
          <p:nvPr/>
        </p:nvSpPr>
        <p:spPr>
          <a:xfrm>
            <a:off x="854649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65622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6" name="TextBox 45"/>
          <p:cNvSpPr txBox="1"/>
          <p:nvPr/>
        </p:nvSpPr>
        <p:spPr>
          <a:xfrm>
            <a:off x="10172128"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63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1.33: chance already gave dal rice 4.5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confidence of 1.00 add so little?</a:t>
            </a:r>
          </a:p>
        </p:txBody>
      </p:sp>
      <p:pic>
        <p:nvPicPr>
          <p:cNvPr id="9" name="mermaid diagram" descr="C2_W04_D03_chaas_partner_STUDENT.png"/>
          <p:cNvPicPr>
            <a:picLocks noChangeAspect="1"/>
          </p:cNvPicPr>
          <p:nvPr/>
        </p:nvPicPr>
        <p:blipFill>
          <a:blip r:embed="rId4"/>
          <a:stretch>
            <a:fillRect/>
          </a:stretch>
        </p:blipFill>
        <p:spPr>
          <a:xfrm>
            <a:off x="1704268" y="1664208"/>
            <a:ext cx="8783157"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toward chaas and lift with chaas for the four items in four or more of the twelve invented orders</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Chance alone puts chaas in 12 x 6/12 x 9/12 = 4.5 of dal rice's 6 orders; 6 are seen, so lift is 6 / 4.5 = 1.33, and 1.00 / 0.75 gives the same. That is as high as any lift with chaas can go: a partner cannot hold chaas more than every time, so lift stops at one over chaas's 0.75, 1.33. Every item in four or more orders reads confidence 0.60 to 1.00 toward chaas, and lift 0.80 to 1.33.</a:t>
            </a:r>
          </a:p>
        </p:txBody>
      </p:sp>
      <p:sp>
        <p:nvSpPr>
          <p:cNvPr id="12" name="TextBox 11"/>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3" name="Oval 12"/>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961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227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837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38076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91734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Does 1.00 mean a bundle?</a:t>
            </a:r>
          </a:p>
        </p:txBody>
      </p:sp>
      <p:sp>
        <p:nvSpPr>
          <p:cNvPr id="19" name="Oval 18"/>
          <p:cNvSpPr/>
          <p:nvPr/>
        </p:nvSpPr>
        <p:spPr>
          <a:xfrm>
            <a:off x="538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9697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69668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07659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854649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65622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5" name="TextBox 24"/>
          <p:cNvSpPr txBox="1"/>
          <p:nvPr/>
        </p:nvSpPr>
        <p:spPr>
          <a:xfrm>
            <a:off x="10172128"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63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Confidence follows popularity; lift divides it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two counts as an item gets more popular?</a:t>
            </a:r>
          </a:p>
        </p:txBody>
      </p:sp>
      <p:pic>
        <p:nvPicPr>
          <p:cNvPr id="9" name="mermaid diagram" descr="C2_W04_D03_popular_sweep_STUDENT.png"/>
          <p:cNvPicPr>
            <a:picLocks noChangeAspect="1"/>
          </p:cNvPicPr>
          <p:nvPr/>
        </p:nvPicPr>
        <p:blipFill>
          <a:blip r:embed="rId4"/>
          <a:stretch>
            <a:fillRect/>
          </a:stretch>
        </p:blipFill>
        <p:spPr>
          <a:xfrm>
            <a:off x="530352" y="1913200"/>
            <a:ext cx="4786326" cy="3324207"/>
          </a:xfrm>
          <a:prstGeom prst="rect">
            <a:avLst/>
          </a:prstGeom>
        </p:spPr>
      </p:pic>
      <p:sp>
        <p:nvSpPr>
          <p:cNvPr id="10" name="picture caption"/>
          <p:cNvSpPr txBox="1"/>
          <p:nvPr/>
        </p:nvSpPr>
        <p:spPr>
          <a:xfrm>
            <a:off x="530352" y="5273983"/>
            <a:ext cx="4786326" cy="731520"/>
          </a:xfrm>
          <a:prstGeom prst="rect">
            <a:avLst/>
          </a:prstGeom>
          <a:noFill/>
        </p:spPr>
        <p:txBody>
          <a:bodyPr wrap="square" anchor="t" lIns="0" rIns="0" tIns="0" bIns="0">
            <a:spAutoFit/>
          </a:bodyPr>
          <a:lstStyle/>
          <a:p>
            <a:pPr algn="ctr"/>
            <a:r>
              <a:rPr sz="1200" b="0" i="0">
                <a:solidFill>
                  <a:srgbClr val="6B6690"/>
                </a:solidFill>
                <a:latin typeface="Calibri"/>
              </a:rPr>
              <a:t>An invented sweep: as the popular item's share rises from 20 to 90 percent, an ignoring partner's confidence rises with it and lift stays at one</a:t>
            </a:r>
          </a:p>
        </p:txBody>
      </p:sp>
      <p:sp>
        <p:nvSpPr>
          <p:cNvPr id="11" name="TextBox 10"/>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rule, named last: for a partner that ignores it, confidence toward an item equals that item's share, so the most popular item tops the confidence ranking beside almost every item, while lift stays at one.</a:t>
            </a:r>
          </a:p>
        </p:txBody>
      </p:sp>
      <p:sp>
        <p:nvSpPr>
          <p:cNvPr id="12" name="Rounded Rectangle 11"/>
          <p:cNvSpPr/>
          <p:nvPr/>
        </p:nvSpPr>
        <p:spPr>
          <a:xfrm>
            <a:off x="5761917" y="3409696"/>
            <a:ext cx="589942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5377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5377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5377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3738880"/>
            <a:ext cx="5442225" cy="1569719"/>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the popular item's share, invented</a:t>
            </a:r>
          </a:p>
          <a:p>
            <a:pPr>
              <a:spcAft>
                <a:spcPts val="200"/>
              </a:spcAft>
            </a:pPr>
            <a:r>
              <a:rPr sz="1400" b="0" i="0">
                <a:solidFill>
                  <a:srgbClr val="E4E1F1"/>
                </a:solidFill>
                <a:latin typeface="Consolas"/>
              </a:rPr>
              <a:t>for share in [0.2, 0.5, 0.9]:</a:t>
            </a:r>
          </a:p>
          <a:p>
            <a:pPr>
              <a:spcAft>
                <a:spcPts val="200"/>
              </a:spcAft>
            </a:pPr>
            <a:r>
              <a:rPr sz="1400" b="0" i="0">
                <a:solidFill>
                  <a:srgbClr val="A9A3D2"/>
                </a:solidFill>
                <a:latin typeface="Consolas"/>
              </a:rPr>
              <a:t>    # a partner ignoring it holds it</a:t>
            </a:r>
          </a:p>
          <a:p>
            <a:pPr>
              <a:spcAft>
                <a:spcPts val="200"/>
              </a:spcAft>
            </a:pPr>
            <a:r>
              <a:rPr sz="1400" b="0" i="0">
                <a:solidFill>
                  <a:srgbClr val="A9A3D2"/>
                </a:solidFill>
                <a:latin typeface="Consolas"/>
              </a:rPr>
              <a:t>    # at its own share</a:t>
            </a:r>
          </a:p>
          <a:p>
            <a:pPr>
              <a:spcAft>
                <a:spcPts val="200"/>
              </a:spcAft>
            </a:pPr>
            <a:r>
              <a:rPr sz="1400" b="0" i="0">
                <a:solidFill>
                  <a:srgbClr val="E4E1F1"/>
                </a:solidFill>
                <a:latin typeface="Consolas"/>
              </a:rPr>
              <a:t>    confidence = share</a:t>
            </a:r>
          </a:p>
          <a:p>
            <a:pPr>
              <a:spcAft>
                <a:spcPts val="200"/>
              </a:spcAft>
            </a:pPr>
            <a:r>
              <a:rPr sz="1400" b="0" i="0">
                <a:solidFill>
                  <a:srgbClr val="E4E1F1"/>
                </a:solidFill>
                <a:latin typeface="Consolas"/>
              </a:rPr>
              <a:t>    print(share, confidence / share)  # 1.0</a:t>
            </a:r>
          </a:p>
        </p:txBody>
      </p:sp>
      <p:sp>
        <p:nvSpPr>
          <p:cNvPr id="17" name="TextBox 16"/>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8" name="Oval 17"/>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961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0" name="Oval 19"/>
          <p:cNvSpPr/>
          <p:nvPr/>
        </p:nvSpPr>
        <p:spPr>
          <a:xfrm>
            <a:off x="227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837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2" name="Oval 21"/>
          <p:cNvSpPr/>
          <p:nvPr/>
        </p:nvSpPr>
        <p:spPr>
          <a:xfrm>
            <a:off x="38076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91734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Does 1.00 mean a bundle?</a:t>
            </a:r>
          </a:p>
        </p:txBody>
      </p:sp>
      <p:sp>
        <p:nvSpPr>
          <p:cNvPr id="24" name="Oval 23"/>
          <p:cNvSpPr/>
          <p:nvPr/>
        </p:nvSpPr>
        <p:spPr>
          <a:xfrm>
            <a:off x="538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49697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6" name="Oval 25"/>
          <p:cNvSpPr/>
          <p:nvPr/>
        </p:nvSpPr>
        <p:spPr>
          <a:xfrm>
            <a:off x="69668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07659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8" name="Oval 27"/>
          <p:cNvSpPr/>
          <p:nvPr/>
        </p:nvSpPr>
        <p:spPr>
          <a:xfrm>
            <a:off x="854649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65622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0" name="TextBox 29"/>
          <p:cNvSpPr txBox="1"/>
          <p:nvPr/>
        </p:nvSpPr>
        <p:spPr>
          <a:xfrm>
            <a:off x="10172128"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63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divides the popular item's share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4, and where is the trap met next?</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0" i="0">
                <a:solidFill>
                  <a:srgbClr val="1A1440"/>
                </a:solidFill>
                <a:latin typeface="Calibri"/>
              </a:rPr>
              <a:t>A base rate is how common an item is in all baskets anyway.</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0" i="0">
                <a:solidFill>
                  <a:srgbClr val="1A1440"/>
                </a:solidFill>
                <a:latin typeface="Calibri"/>
              </a:rPr>
              <a:t>Confidence toward an item in most baskets is high from every partner, so its size says nothing.</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0" i="0">
                <a:solidFill>
                  <a:srgbClr val="1A1440"/>
                </a:solidFill>
                <a:latin typeface="Calibri"/>
              </a:rPr>
              <a:t>Beside one item, confidence ranks candidates by share times pull; lift divides the share out.</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0" i="0">
                <a:solidFill>
                  <a:srgbClr val="1A1440"/>
                </a:solidFill>
                <a:latin typeface="Calibri"/>
              </a:rPr>
              <a:t>Lift with an item cannot pass one over its share, 1.33 for chaas, so the popular item stays under the 1.5 bar.</a:t>
            </a:r>
          </a:p>
        </p:txBody>
      </p:sp>
      <p:sp>
        <p:nvSpPr>
          <p:cNvPr id="17" name="Rounded Rectangle 16"/>
          <p:cNvSpPr/>
          <p:nvPr/>
        </p:nvSpPr>
        <p:spPr>
          <a:xfrm>
            <a:off x="530352" y="3283712"/>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546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656584"/>
            <a:ext cx="237744" cy="237744"/>
          </a:xfrm>
          <a:prstGeom prst="rect">
            <a:avLst/>
          </a:prstGeom>
        </p:spPr>
      </p:pic>
      <p:sp>
        <p:nvSpPr>
          <p:cNvPr id="20" name="TextBox 19"/>
          <p:cNvSpPr txBox="1"/>
          <p:nvPr/>
        </p:nvSpPr>
        <p:spPr>
          <a:xfrm>
            <a:off x="1399031" y="34300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649472"/>
            <a:ext cx="9987991" cy="544576"/>
          </a:xfrm>
          <a:prstGeom prst="rect">
            <a:avLst/>
          </a:prstGeom>
          <a:noFill/>
        </p:spPr>
        <p:txBody>
          <a:bodyPr wrap="square" anchor="t" lIns="0" rIns="0" tIns="0" bIns="0">
            <a:spAutoFit/>
          </a:bodyPr>
          <a:lstStyle/>
          <a:p>
            <a:r>
              <a:rPr sz="1100" b="0" i="0">
                <a:solidFill>
                  <a:srgbClr val="1A1440"/>
                </a:solidFill>
                <a:latin typeface="Calibri"/>
              </a:rPr>
              <a:t>[S] Weak answer: "confidence, since dal rice to chaas is 1.00". Hire-grade: "lift, since chaas is in 0.75 of orders anyway, so 1.00 is only 1.33 times chance."</a:t>
            </a:r>
          </a:p>
        </p:txBody>
      </p:sp>
      <p:pic>
        <p:nvPicPr>
          <p:cNvPr id="22" name="mermaid diagram" descr="2b9685c50072948a.png"/>
          <p:cNvPicPr>
            <a:picLocks noChangeAspect="1"/>
          </p:cNvPicPr>
          <p:nvPr/>
        </p:nvPicPr>
        <p:blipFill>
          <a:blip r:embed="rId6"/>
          <a:stretch>
            <a:fillRect/>
          </a:stretch>
        </p:blipFill>
        <p:spPr>
          <a:xfrm>
            <a:off x="3433351" y="4431792"/>
            <a:ext cx="5324991" cy="1767839"/>
          </a:xfrm>
          <a:prstGeom prst="rect">
            <a:avLst/>
          </a:prstGeom>
        </p:spPr>
      </p:pic>
      <p:sp>
        <p:nvSpPr>
          <p:cNvPr id="23" name="TextBox 2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4" name="Oval 2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96112"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6" name="Oval 25"/>
          <p:cNvSpPr/>
          <p:nvPr/>
        </p:nvSpPr>
        <p:spPr>
          <a:xfrm>
            <a:off x="227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837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8" name="Oval 27"/>
          <p:cNvSpPr/>
          <p:nvPr/>
        </p:nvSpPr>
        <p:spPr>
          <a:xfrm>
            <a:off x="38076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91734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Does 1.00 mean a bundle?</a:t>
            </a:r>
          </a:p>
        </p:txBody>
      </p:sp>
      <p:sp>
        <p:nvSpPr>
          <p:cNvPr id="30" name="Oval 29"/>
          <p:cNvSpPr/>
          <p:nvPr/>
        </p:nvSpPr>
        <p:spPr>
          <a:xfrm>
            <a:off x="538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49697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2" name="Oval 31"/>
          <p:cNvSpPr/>
          <p:nvPr/>
        </p:nvSpPr>
        <p:spPr>
          <a:xfrm>
            <a:off x="69668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07659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4" name="Oval 33"/>
          <p:cNvSpPr/>
          <p:nvPr/>
        </p:nvSpPr>
        <p:spPr>
          <a:xfrm>
            <a:off x="854649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65622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6" name="TextBox 35"/>
          <p:cNvSpPr txBox="1"/>
          <p:nvPr/>
        </p:nvSpPr>
        <p:spPr>
          <a:xfrm>
            <a:off x="10172128"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63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Basket analysis on the order items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 lines make pairs?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a table of order lines becomes every pair's three numbers, built from scratch on the canteen's 33 lines.</a:t>
            </a:r>
          </a:p>
        </p:txBody>
      </p:sp>
      <p:sp>
        <p:nvSpPr>
          <p:cNvPr id="11" name="Rounded Rectangle 10"/>
          <p:cNvSpPr/>
          <p:nvPr/>
        </p:nvSpPr>
        <p:spPr>
          <a:xfrm>
            <a:off x="731519" y="5074920"/>
            <a:ext cx="10789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63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Order lines become baskets, and baskets become pairs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Basket analysis on the order items.</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Anyone who must count every pair of a real shop: a warehouse stores a bill as order lines, one row per order and item, which is how Kalpa's order_items and Instamart's cart_items are kept.</a:t>
            </a:r>
          </a:p>
        </p:txBody>
      </p:sp>
      <p:pic>
        <p:nvPicPr>
          <p:cNvPr id="15" name="mermaid diagram" descr="3c62a73861f7cdf6.png"/>
          <p:cNvPicPr>
            <a:picLocks noChangeAspect="1"/>
          </p:cNvPicPr>
          <p:nvPr/>
        </p:nvPicPr>
        <p:blipFill>
          <a:blip r:embed="rId5"/>
          <a:stretch>
            <a:fillRect/>
          </a:stretch>
        </p:blipFill>
        <p:spPr>
          <a:xfrm>
            <a:off x="530352" y="3634740"/>
            <a:ext cx="11130991" cy="1545971"/>
          </a:xfrm>
          <a:prstGeom prst="rect">
            <a:avLst/>
          </a:prstGeom>
        </p:spPr>
      </p:pic>
      <p:sp>
        <p:nvSpPr>
          <p:cNvPr id="16" name="TextBox 15"/>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7" name="Oval 16"/>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9" name="Oval 18"/>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1" name="Oval 20"/>
          <p:cNvSpPr/>
          <p:nvPr/>
        </p:nvSpPr>
        <p:spPr>
          <a:xfrm>
            <a:off x="38996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0935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23" name="Oval 22"/>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5" name="Oval 24"/>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7" name="Oval 26"/>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31 / 63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pairs do the twelve orders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canteen's twelve orders hold 33 lines. Counted once per basket, how many pairs?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33</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pair for every order line.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basket_3377944e7502.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30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Each order's own pairs, added up.</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opy_327f3a00049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60</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pair, its names read both ways round.</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ayout-grid_bb7508f12af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28</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pair the eight menu items could form.</a:t>
            </a:r>
          </a:p>
        </p:txBody>
      </p:sp>
      <p:sp>
        <p:nvSpPr>
          <p:cNvPr id="33" name="TextBox 3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4" name="Oval 3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6" name="Oval 35"/>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8" name="Oval 37"/>
          <p:cNvSpPr/>
          <p:nvPr/>
        </p:nvSpPr>
        <p:spPr>
          <a:xfrm>
            <a:off x="38996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0935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40" name="Oval 39"/>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2" name="Oval 41"/>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4" name="Oval 43"/>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32 / 63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30 pairs from 33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order turn into pairs, and how do twelve add up?</a:t>
            </a:r>
          </a:p>
        </p:txBody>
      </p:sp>
      <p:pic>
        <p:nvPicPr>
          <p:cNvPr id="9" name="mermaid diagram" descr="1f4d0c27a190e8b5.png"/>
          <p:cNvPicPr>
            <a:picLocks noChangeAspect="1"/>
          </p:cNvPicPr>
          <p:nvPr/>
        </p:nvPicPr>
        <p:blipFill>
          <a:blip r:embed="rId5"/>
          <a:stretch>
            <a:fillRect/>
          </a:stretch>
        </p:blipFill>
        <p:spPr>
          <a:xfrm>
            <a:off x="1197221" y="1682496"/>
            <a:ext cx="3452588" cy="4517136"/>
          </a:xfrm>
          <a:prstGeom prst="rect">
            <a:avLst/>
          </a:prstGeom>
        </p:spPr>
      </p:pic>
      <p:sp>
        <p:nvSpPr>
          <p:cNvPr id="10" name="TextBox 9"/>
          <p:cNvSpPr txBox="1"/>
          <p:nvPr/>
        </p:nvSpPr>
        <p:spPr>
          <a:xfrm>
            <a:off x="5761917" y="1956816"/>
            <a:ext cx="5899425" cy="243027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basket of three items holds three pairs, four items hold six, and k items hold k x (k - 1) / 2. Nine three-line orders give 27 and three two-line orders give 3, so 30. The names are sorted first, so chaas with dal rice and dal rice with chaas are one key. Left unsorted, a pair can land under two keys and its count splits; counted with its names both ways round, as permutations does, every pair counts twice and the total reads 60.</a:t>
            </a:r>
          </a:p>
        </p:txBody>
      </p:sp>
      <p:sp>
        <p:nvSpPr>
          <p:cNvPr id="11" name="TextBox 10"/>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2" name="Oval 11"/>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4" name="Oval 13"/>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6" name="Oval 15"/>
          <p:cNvSpPr/>
          <p:nvPr/>
        </p:nvSpPr>
        <p:spPr>
          <a:xfrm>
            <a:off x="38996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0935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18" name="Oval 17"/>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0" name="Oval 19"/>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2" name="Oval 21"/>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33 / 63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Ranked by count and by lift, two different tops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pairs table say, and what code builds it?</a:t>
            </a:r>
          </a:p>
        </p:txBody>
      </p:sp>
      <p:pic>
        <p:nvPicPr>
          <p:cNvPr id="9" name="mermaid diagram" descr="C2_W04_D03_canteen_rankings_STUDENT.png"/>
          <p:cNvPicPr>
            <a:picLocks noChangeAspect="1"/>
          </p:cNvPicPr>
          <p:nvPr/>
        </p:nvPicPr>
        <p:blipFill>
          <a:blip r:embed="rId4"/>
          <a:stretch>
            <a:fillRect/>
          </a:stretch>
        </p:blipFill>
        <p:spPr>
          <a:xfrm>
            <a:off x="660182" y="1682496"/>
            <a:ext cx="4526665" cy="3992880"/>
          </a:xfrm>
          <a:prstGeom prst="rect">
            <a:avLst/>
          </a:prstGeom>
        </p:spPr>
      </p:pic>
      <p:sp>
        <p:nvSpPr>
          <p:cNvPr id="10" name="picture caption"/>
          <p:cNvSpPr txBox="1"/>
          <p:nvPr/>
        </p:nvSpPr>
        <p:spPr>
          <a:xfrm>
            <a:off x="530352" y="5711952"/>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canteen's pairs ranked by orders shared and by lift: two different tops</a:t>
            </a:r>
          </a:p>
        </p:txBody>
      </p:sp>
      <p:sp>
        <p:nvSpPr>
          <p:cNvPr id="11" name="Rounded Rectangle 10"/>
          <p:cNvSpPr/>
          <p:nvPr/>
        </p:nvSpPr>
        <p:spPr>
          <a:xfrm>
            <a:off x="5761917" y="1954784"/>
            <a:ext cx="5899425" cy="2621279"/>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44797" y="208280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100245" y="208280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255693" y="208280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036237" y="2283968"/>
            <a:ext cx="5442225" cy="2218943"/>
          </a:xfrm>
          <a:prstGeom prst="rect">
            <a:avLst/>
          </a:prstGeom>
          <a:noFill/>
        </p:spPr>
        <p:txBody>
          <a:bodyPr wrap="square" anchor="t" lIns="0" rIns="0" tIns="0" bIns="0">
            <a:spAutoFit/>
          </a:bodyPr>
          <a:lstStyle/>
          <a:p>
            <a:pPr>
              <a:spcAft>
                <a:spcPts val="200"/>
              </a:spcAft>
            </a:pPr>
            <a:r>
              <a:rPr sz="1200" b="0" i="0">
                <a:solidFill>
                  <a:srgbClr val="A9A3D2"/>
                </a:solidFill>
                <a:latin typeface="Consolas"/>
              </a:rPr>
              <a:t># one set of items per order</a:t>
            </a:r>
          </a:p>
          <a:p>
            <a:pPr>
              <a:spcAft>
                <a:spcPts val="200"/>
              </a:spcAft>
            </a:pPr>
            <a:r>
              <a:rPr sz="1200" b="0" i="0">
                <a:solidFill>
                  <a:srgbClr val="E4E1F1"/>
                </a:solidFill>
                <a:latin typeface="Consolas"/>
              </a:rPr>
              <a:t>orders = lines.groupby("order_id")</a:t>
            </a:r>
          </a:p>
          <a:p>
            <a:pPr>
              <a:spcAft>
                <a:spcPts val="200"/>
              </a:spcAft>
            </a:pPr>
            <a:r>
              <a:rPr sz="1200" b="0" i="0">
                <a:solidFill>
                  <a:srgbClr val="E4E1F1"/>
                </a:solidFill>
                <a:latin typeface="Consolas"/>
              </a:rPr>
              <a:t>baskets = orders.item.apply(set)</a:t>
            </a:r>
          </a:p>
          <a:p>
            <a:pPr>
              <a:spcAft>
                <a:spcPts val="200"/>
              </a:spcAft>
            </a:pPr>
            <a:r>
              <a:rPr sz="1200" b="0" i="0">
                <a:solidFill>
                  <a:srgbClr val="A9A3D2"/>
                </a:solidFill>
                <a:latin typeface="Consolas"/>
              </a:rPr>
              <a:t># every two items, names sorted, once</a:t>
            </a:r>
          </a:p>
          <a:p>
            <a:pPr>
              <a:spcAft>
                <a:spcPts val="200"/>
              </a:spcAft>
            </a:pPr>
            <a:r>
              <a:rPr sz="1200" b="0" i="0">
                <a:solidFill>
                  <a:srgbClr val="E4E1F1"/>
                </a:solidFill>
                <a:latin typeface="Consolas"/>
              </a:rPr>
              <a:t>pairs = Counter(</a:t>
            </a:r>
          </a:p>
          <a:p>
            <a:pPr>
              <a:spcAft>
                <a:spcPts val="200"/>
              </a:spcAft>
            </a:pPr>
            <a:r>
              <a:rPr sz="1200" b="0" i="0">
                <a:solidFill>
                  <a:srgbClr val="E4E1F1"/>
                </a:solidFill>
                <a:latin typeface="Consolas"/>
              </a:rPr>
              <a:t>    p for b in baskets</a:t>
            </a:r>
          </a:p>
          <a:p>
            <a:pPr>
              <a:spcAft>
                <a:spcPts val="200"/>
              </a:spcAft>
            </a:pPr>
            <a:r>
              <a:rPr sz="1200" b="0" i="0">
                <a:solidFill>
                  <a:srgbClr val="E4E1F1"/>
                </a:solidFill>
                <a:latin typeface="Consolas"/>
              </a:rPr>
              <a:t>    for p in combinations(sorted(b), 2))</a:t>
            </a:r>
          </a:p>
          <a:p>
            <a:pPr>
              <a:spcAft>
                <a:spcPts val="200"/>
              </a:spcAft>
            </a:pPr>
            <a:r>
              <a:rPr sz="1200" b="0" i="0">
                <a:solidFill>
                  <a:srgbClr val="E4E1F1"/>
                </a:solidFill>
                <a:latin typeface="Consolas"/>
              </a:rPr>
              <a:t>single = Counter(x for b in baskets</a:t>
            </a:r>
          </a:p>
          <a:p>
            <a:pPr>
              <a:spcAft>
                <a:spcPts val="200"/>
              </a:spcAft>
            </a:pPr>
            <a:r>
              <a:rPr sz="1200" b="0" i="0">
                <a:solidFill>
                  <a:srgbClr val="E4E1F1"/>
                </a:solidFill>
                <a:latin typeface="Consolas"/>
              </a:rPr>
              <a:t>                 for x in b)</a:t>
            </a:r>
          </a:p>
          <a:p>
            <a:pPr>
              <a:spcAft>
                <a:spcPts val="200"/>
              </a:spcAft>
            </a:pPr>
            <a:r>
              <a:rPr sz="1200" b="0" i="0">
                <a:solidFill>
                  <a:srgbClr val="E4E1F1"/>
                </a:solidFill>
                <a:latin typeface="Consolas"/>
              </a:rPr>
              <a:t>print(sum(pairs.values()))     # 30</a:t>
            </a:r>
          </a:p>
        </p:txBody>
      </p:sp>
      <p:sp>
        <p:nvSpPr>
          <p:cNvPr id="16" name="TextBox 15"/>
          <p:cNvSpPr txBox="1"/>
          <p:nvPr/>
        </p:nvSpPr>
        <p:spPr>
          <a:xfrm>
            <a:off x="5761917" y="4740655"/>
            <a:ext cx="5899425" cy="1186688"/>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By count, dal rice and chaas lead with 6 orders at lift 1.33; by lift, gulab jamun and curd lead at 6.0 on one order, then papad and pickle at 2.40 on two, then roti and sabzi at 2.25 on three.</a:t>
            </a:r>
          </a:p>
        </p:txBody>
      </p:sp>
      <p:sp>
        <p:nvSpPr>
          <p:cNvPr id="17" name="TextBox 16"/>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8" name="Oval 17"/>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0" name="Oval 19"/>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2" name="Oval 21"/>
          <p:cNvSpPr/>
          <p:nvPr/>
        </p:nvSpPr>
        <p:spPr>
          <a:xfrm>
            <a:off x="38996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00935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24" name="Oval 23"/>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6" name="Oval 25"/>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8" name="Oval 27"/>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63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pairs table is a count, never a ranking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5, and where is the table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Group the order lines by order into a set of items, so each basket counts an item once.</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Count every two items in a basket, with the two names sorted, so each pair has one key.</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A one-item basket adds no pair, and k items add k x (k - 1) / 2.</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The table holds counts; which pair to promote is the next chapter's decision.</a:t>
            </a:r>
          </a:p>
        </p:txBody>
      </p:sp>
      <p:sp>
        <p:nvSpPr>
          <p:cNvPr id="17" name="Rounded Rectangle 16"/>
          <p:cNvSpPr/>
          <p:nvPr/>
        </p:nvSpPr>
        <p:spPr>
          <a:xfrm>
            <a:off x="530352" y="3421888"/>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073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717036"/>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389128"/>
          </a:xfrm>
          <a:prstGeom prst="rect">
            <a:avLst/>
          </a:prstGeom>
          <a:noFill/>
        </p:spPr>
        <p:txBody>
          <a:bodyPr wrap="square" anchor="t" lIns="0" rIns="0" tIns="0" bIns="0">
            <a:spAutoFit/>
          </a:bodyPr>
          <a:lstStyle/>
          <a:p>
            <a:r>
              <a:rPr sz="1300" b="0" i="0">
                <a:solidFill>
                  <a:srgbClr val="1A1440"/>
                </a:solidFill>
                <a:latin typeface="Calibri"/>
              </a:rPr>
              <a:t>[F] "Why sort the pair's names before counting?" So that each pair has one key and no count is split or doubled.</a:t>
            </a:r>
          </a:p>
        </p:txBody>
      </p:sp>
      <p:pic>
        <p:nvPicPr>
          <p:cNvPr id="22" name="mermaid diagram" descr="5cb45ffccaab038e.png"/>
          <p:cNvPicPr>
            <a:picLocks noChangeAspect="1"/>
          </p:cNvPicPr>
          <p:nvPr/>
        </p:nvPicPr>
        <p:blipFill>
          <a:blip r:embed="rId6"/>
          <a:stretch>
            <a:fillRect/>
          </a:stretch>
        </p:blipFill>
        <p:spPr>
          <a:xfrm>
            <a:off x="3091043" y="4414520"/>
            <a:ext cx="6009607" cy="1785112"/>
          </a:xfrm>
          <a:prstGeom prst="rect">
            <a:avLst/>
          </a:prstGeom>
        </p:spPr>
      </p:pic>
      <p:sp>
        <p:nvSpPr>
          <p:cNvPr id="23" name="TextBox 2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4" name="Oval 2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6" name="Oval 25"/>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8" name="Oval 27"/>
          <p:cNvSpPr/>
          <p:nvPr/>
        </p:nvSpPr>
        <p:spPr>
          <a:xfrm>
            <a:off x="38996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00935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30" name="Oval 29"/>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2" name="Oval 31"/>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4" name="Oval 33"/>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35 / 63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support floor and the watch list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is a pair too thin?</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a lift on one or two baskets swings by luck, where a floor goes, and what a watch list does with a strong pair below it.</a:t>
            </a:r>
          </a:p>
        </p:txBody>
      </p:sp>
      <p:sp>
        <p:nvSpPr>
          <p:cNvPr id="11" name="Rounded Rectangle 10"/>
          <p:cNvSpPr/>
          <p:nvPr/>
        </p:nvSpPr>
        <p:spPr>
          <a:xfrm>
            <a:off x="731519" y="5074920"/>
            <a:ext cx="10789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36 / 63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floor is the fewest baskets a lift needs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support floor and the watch list.</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who sees gulab jamun and curd read lift 6.0, the canteen's strongest pair, and must decide whether one order is enough to print a combo card.</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How much can luck move a lift?</a:t>
            </a:r>
          </a:p>
        </p:txBody>
      </p:sp>
      <p:sp>
        <p:nvSpPr>
          <p:cNvPr id="20" name="TextBox 19"/>
          <p:cNvSpPr txBox="1"/>
          <p:nvPr/>
        </p:nvSpPr>
        <p:spPr>
          <a:xfrm>
            <a:off x="694944" y="5170424"/>
            <a:ext cx="2316403" cy="366776"/>
          </a:xfrm>
          <a:prstGeom prst="rect">
            <a:avLst/>
          </a:prstGeom>
          <a:noFill/>
        </p:spPr>
        <p:txBody>
          <a:bodyPr wrap="square" anchor="t" lIns="0" rIns="0" tIns="0" bIns="0">
            <a:spAutoFit/>
          </a:bodyPr>
          <a:lstStyle/>
          <a:p>
            <a:pPr algn="l"/>
            <a:r>
              <a:rPr sz="1000" b="0" i="0">
                <a:solidFill>
                  <a:srgbClr val="6B6690"/>
                </a:solidFill>
                <a:latin typeface="Calibri"/>
              </a:rPr>
              <a:t>On one or two orders, and on thirty.</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a floor?</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fewest baskets before a lift is read.</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 watch list do?</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A trial with a pass rule set first.</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does each pair go?</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Promote, watch, ignore or trap.</a:t>
            </a:r>
          </a:p>
        </p:txBody>
      </p:sp>
      <p:sp>
        <p:nvSpPr>
          <p:cNvPr id="36" name="TextBox 35"/>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7" name="Oval 36"/>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1" name="Oval 40"/>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547925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58898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45" name="Oval 44"/>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37 / 63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600 orders of pure chance, how high can lift go?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month of the canteen's orders, invented so that no item depends on another. On one or two orders, how high can a lift read?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qual_08ba08324b5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1.2</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Items that ignore each other stay near one.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2</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Luck can double a lift, no more.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5"/>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3</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Luck can triple it.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zap_2f973f740390.png"/>
          <p:cNvPicPr>
            <a:picLocks noChangeAspect="1"/>
          </p:cNvPicPr>
          <p:nvPr/>
        </p:nvPicPr>
        <p:blipFill>
          <a:blip r:embed="rId6"/>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Above 6</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More than six times chance.</a:t>
            </a:r>
          </a:p>
        </p:txBody>
      </p:sp>
      <p:sp>
        <p:nvSpPr>
          <p:cNvPr id="33" name="TextBox 3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4" name="Oval 3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6" name="Oval 35"/>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8" name="Oval 37"/>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0" name="Oval 39"/>
          <p:cNvSpPr/>
          <p:nvPr/>
        </p:nvSpPr>
        <p:spPr>
          <a:xfrm>
            <a:off x="547925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58898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42" name="Oval 41"/>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4" name="Oval 43"/>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38 / 63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8.57 on 2 orders; near one past thirty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month of pure chance show about thin and thick pairs?</a:t>
            </a:r>
          </a:p>
        </p:txBody>
      </p:sp>
      <p:pic>
        <p:nvPicPr>
          <p:cNvPr id="9" name="mermaid diagram" descr="C2_W04_D03_month_luck_STUDENT.png"/>
          <p:cNvPicPr>
            <a:picLocks noChangeAspect="1"/>
          </p:cNvPicPr>
          <p:nvPr/>
        </p:nvPicPr>
        <p:blipFill>
          <a:blip r:embed="rId4"/>
          <a:stretch>
            <a:fillRect/>
          </a:stretch>
        </p:blipFill>
        <p:spPr>
          <a:xfrm>
            <a:off x="1569133" y="1664208"/>
            <a:ext cx="9053428" cy="3422904"/>
          </a:xfrm>
          <a:prstGeom prst="rect">
            <a:avLst/>
          </a:prstGeom>
        </p:spPr>
      </p:pic>
      <p:sp>
        <p:nvSpPr>
          <p:cNvPr id="10" name="picture caption"/>
          <p:cNvSpPr txBox="1"/>
          <p:nvPr/>
        </p:nvSpPr>
        <p:spPr>
          <a:xfrm>
            <a:off x="530352" y="5123688"/>
            <a:ext cx="11130991" cy="316992"/>
          </a:xfrm>
          <a:prstGeom prst="rect">
            <a:avLst/>
          </a:prstGeom>
          <a:noFill/>
        </p:spPr>
        <p:txBody>
          <a:bodyPr wrap="square" anchor="t" lIns="0" rIns="0" tIns="0" bIns="0">
            <a:spAutoFit/>
          </a:bodyPr>
          <a:lstStyle/>
          <a:p>
            <a:pPr algn="ctr"/>
            <a:r>
              <a:rPr sz="1200" b="0" i="0">
                <a:solidFill>
                  <a:srgbClr val="6B6690"/>
                </a:solidFill>
                <a:latin typeface="Calibri"/>
              </a:rPr>
              <a:t>Lift against the orders behind each pair in 600 invented orders where no item depends on another</a:t>
            </a:r>
          </a:p>
        </p:txBody>
      </p:sp>
      <p:sp>
        <p:nvSpPr>
          <p:cNvPr id="11" name="TextBox 10"/>
          <p:cNvSpPr txBox="1"/>
          <p:nvPr/>
        </p:nvSpPr>
        <p:spPr>
          <a:xfrm>
            <a:off x="530352" y="5449824"/>
            <a:ext cx="11130991" cy="749808"/>
          </a:xfrm>
          <a:prstGeom prst="rect">
            <a:avLst/>
          </a:prstGeom>
          <a:noFill/>
        </p:spPr>
        <p:txBody>
          <a:bodyPr wrap="square" anchor="t" lIns="0" rIns="0" tIns="0" bIns="0">
            <a:spAutoFit/>
          </a:bodyPr>
          <a:lstStyle/>
          <a:p>
            <a:r>
              <a:rPr sz="1200" b="0" i="0">
                <a:solidFill>
                  <a:srgbClr val="1A1440"/>
                </a:solidFill>
                <a:latin typeface="Calibri"/>
              </a:rPr>
              <a:t>Nothing in this month pulls any item toward another, yet gulab jamun and jalebi read lift 8.57 on 2 orders. The 10 pairs on 30 or more orders read 0.90 to 1.00, a shade under one because every order must hold at least one item. In between, three pairs on 4 to 7 orders still pass 1.5, up to 1.83, and none on 8 or more orders does. A lift on a handful of baskets says more about luck than about the pair.</a:t>
            </a:r>
          </a:p>
        </p:txBody>
      </p:sp>
      <p:sp>
        <p:nvSpPr>
          <p:cNvPr id="12" name="TextBox 11"/>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3" name="Oval 12"/>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5" name="Oval 14"/>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7" name="Oval 16"/>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9" name="Oval 18"/>
          <p:cNvSpPr/>
          <p:nvPr/>
        </p:nvSpPr>
        <p:spPr>
          <a:xfrm>
            <a:off x="547925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58898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21" name="Oval 20"/>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3" name="Oval 22"/>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39 / 63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Set a floor, then sort: promote, watch, ignore,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canteen pair go once a floor is set?</a:t>
            </a:r>
          </a:p>
        </p:txBody>
      </p:sp>
      <p:pic>
        <p:nvPicPr>
          <p:cNvPr id="9" name="mermaid diagram" descr="C2_W04_D03_canteen_action_map_STUDENT.png"/>
          <p:cNvPicPr>
            <a:picLocks noChangeAspect="1"/>
          </p:cNvPicPr>
          <p:nvPr/>
        </p:nvPicPr>
        <p:blipFill>
          <a:blip r:embed="rId4"/>
          <a:stretch>
            <a:fillRect/>
          </a:stretch>
        </p:blipFill>
        <p:spPr>
          <a:xfrm>
            <a:off x="530352" y="1867953"/>
            <a:ext cx="4786326" cy="3621964"/>
          </a:xfrm>
          <a:prstGeom prst="rect">
            <a:avLst/>
          </a:prstGeom>
        </p:spPr>
      </p:pic>
      <p:sp>
        <p:nvSpPr>
          <p:cNvPr id="10" name="picture caption"/>
          <p:cNvSpPr txBox="1"/>
          <p:nvPr/>
        </p:nvSpPr>
        <p:spPr>
          <a:xfrm>
            <a:off x="530352" y="5526494"/>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canteen's 13 pairs on an action map: a floor of three orders, a lift bar of 1.5, four regions</a:t>
            </a:r>
          </a:p>
        </p:txBody>
      </p:sp>
      <p:sp>
        <p:nvSpPr>
          <p:cNvPr id="11" name="TextBox 10"/>
          <p:cNvSpPr txBox="1"/>
          <p:nvPr/>
        </p:nvSpPr>
        <p:spPr>
          <a:xfrm>
            <a:off x="5761917" y="1956816"/>
            <a:ext cx="5899425" cy="1877568"/>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The rule, named last: set the floor where luck stops carrying a lift past the bar, read a lift only at or above it, and promote only at 1.5 or more. In the month that floor is 8 orders; twelve orders are too few for any floor, so 3 here only shows the sort. Roti and sabzi, 2.25 on three orders, lands in promote and would still be trialled first; papad and pickle (2.40 on two), roti and pickle (1.50 on one) and gulab jamun and curd (6.0 on one) are watched; dal rice and chaas, 1.33 on six, is the trap, near one on plenty of orders.</a:t>
            </a:r>
          </a:p>
        </p:txBody>
      </p:sp>
      <p:sp>
        <p:nvSpPr>
          <p:cNvPr id="12" name="Rounded Rectangle 11"/>
          <p:cNvSpPr/>
          <p:nvPr/>
        </p:nvSpPr>
        <p:spPr>
          <a:xfrm>
            <a:off x="5761917" y="3962400"/>
            <a:ext cx="5899425"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4090415"/>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4090415"/>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4090415"/>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4291584"/>
            <a:ext cx="5442225" cy="1317244"/>
          </a:xfrm>
          <a:prstGeom prst="rect">
            <a:avLst/>
          </a:prstGeom>
          <a:noFill/>
        </p:spPr>
        <p:txBody>
          <a:bodyPr wrap="square" anchor="t" lIns="0" rIns="0" tIns="0" bIns="0">
            <a:spAutoFit/>
          </a:bodyPr>
          <a:lstStyle/>
          <a:p>
            <a:pPr>
              <a:spcAft>
                <a:spcPts val="200"/>
              </a:spcAft>
            </a:pPr>
            <a:r>
              <a:rPr sz="1000" b="0" i="0">
                <a:solidFill>
                  <a:srgbClr val="E4E1F1"/>
                </a:solidFill>
                <a:latin typeface="Consolas"/>
              </a:rPr>
              <a:t>FLOOR, BAR = 3, 1.5     # orders, lift</a:t>
            </a:r>
          </a:p>
          <a:p>
            <a:pPr>
              <a:spcAft>
                <a:spcPts val="200"/>
              </a:spcAft>
            </a:pPr>
            <a:r>
              <a:rPr sz="1000" b="0" i="0">
                <a:solidFill>
                  <a:srgbClr val="E4E1F1"/>
                </a:solidFill>
                <a:latin typeface="Consolas"/>
              </a:rPr>
              <a:t>def region(k, lift):</a:t>
            </a:r>
          </a:p>
          <a:p>
            <a:pPr>
              <a:spcAft>
                <a:spcPts val="200"/>
              </a:spcAft>
            </a:pPr>
            <a:r>
              <a:rPr sz="1000" b="0" i="0">
                <a:solidFill>
                  <a:srgbClr val="E4E1F1"/>
                </a:solidFill>
                <a:latin typeface="Consolas"/>
              </a:rPr>
              <a:t>    strong = lift &gt;= BAR</a:t>
            </a:r>
          </a:p>
          <a:p>
            <a:pPr>
              <a:spcAft>
                <a:spcPts val="200"/>
              </a:spcAft>
            </a:pPr>
            <a:r>
              <a:rPr sz="1000" b="0" i="0">
                <a:solidFill>
                  <a:srgbClr val="E4E1F1"/>
                </a:solidFill>
                <a:latin typeface="Consolas"/>
              </a:rPr>
              <a:t>    if k &gt;= FLOOR:</a:t>
            </a:r>
          </a:p>
          <a:p>
            <a:pPr>
              <a:spcAft>
                <a:spcPts val="200"/>
              </a:spcAft>
            </a:pPr>
            <a:r>
              <a:rPr sz="1000" b="0" i="0">
                <a:solidFill>
                  <a:srgbClr val="E4E1F1"/>
                </a:solidFill>
                <a:latin typeface="Consolas"/>
              </a:rPr>
              <a:t>        return "promote" if strong else "trap"</a:t>
            </a:r>
          </a:p>
          <a:p>
            <a:pPr>
              <a:spcAft>
                <a:spcPts val="200"/>
              </a:spcAft>
            </a:pPr>
            <a:r>
              <a:rPr sz="1000" b="0" i="0">
                <a:solidFill>
                  <a:srgbClr val="E4E1F1"/>
                </a:solidFill>
                <a:latin typeface="Consolas"/>
              </a:rPr>
              <a:t>    return "watch" if strong else "ignore"</a:t>
            </a:r>
          </a:p>
          <a:p>
            <a:pPr>
              <a:spcAft>
                <a:spcPts val="200"/>
              </a:spcAft>
            </a:pPr>
            <a:r>
              <a:rPr sz="1000" b="0" i="0">
                <a:solidFill>
                  <a:srgbClr val="E4E1F1"/>
                </a:solidFill>
                <a:latin typeface="Consolas"/>
              </a:rPr>
              <a:t>print(region(3, 2.25), region(2, 2.40))</a:t>
            </a:r>
          </a:p>
        </p:txBody>
      </p:sp>
      <p:sp>
        <p:nvSpPr>
          <p:cNvPr id="17" name="TextBox 16"/>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8" name="Oval 17"/>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0" name="Oval 19"/>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2" name="Oval 21"/>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4" name="Oval 23"/>
          <p:cNvSpPr/>
          <p:nvPr/>
        </p:nvSpPr>
        <p:spPr>
          <a:xfrm>
            <a:off x="547925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58898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26" name="Oval 25"/>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8" name="Oval 27"/>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40 / 63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strong pair on thin support earns a trial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6, and where is the floor used next?</a:t>
            </a:r>
          </a:p>
        </p:txBody>
      </p:sp>
      <p:sp>
        <p:nvSpPr>
          <p:cNvPr id="9" name="TextBox 8"/>
          <p:cNvSpPr txBox="1"/>
          <p:nvPr/>
        </p:nvSpPr>
        <p:spPr>
          <a:xfrm>
            <a:off x="530352" y="1645920"/>
            <a:ext cx="502920" cy="251205"/>
          </a:xfrm>
          <a:prstGeom prst="rect">
            <a:avLst/>
          </a:prstGeom>
          <a:noFill/>
        </p:spPr>
        <p:txBody>
          <a:bodyPr wrap="square" anchor="t" lIns="0" rIns="0" tIns="0" bIns="0">
            <a:spAutoFit/>
          </a:bodyPr>
          <a:lstStyle/>
          <a:p>
            <a:pPr algn="l"/>
            <a:r>
              <a:rPr sz="1300" b="0" i="0">
                <a:solidFill>
                  <a:srgbClr val="5B3FD6"/>
                </a:solidFill>
                <a:latin typeface="Georgia"/>
              </a:rPr>
              <a:t>01</a:t>
            </a:r>
          </a:p>
        </p:txBody>
      </p:sp>
      <p:sp>
        <p:nvSpPr>
          <p:cNvPr id="10" name="TextBox 9"/>
          <p:cNvSpPr txBox="1"/>
          <p:nvPr/>
        </p:nvSpPr>
        <p:spPr>
          <a:xfrm>
            <a:off x="1097280" y="1682496"/>
            <a:ext cx="10564063" cy="282448"/>
          </a:xfrm>
          <a:prstGeom prst="rect">
            <a:avLst/>
          </a:prstGeom>
          <a:noFill/>
        </p:spPr>
        <p:txBody>
          <a:bodyPr wrap="square" anchor="t" lIns="0" rIns="0" tIns="0" bIns="0">
            <a:spAutoFit/>
          </a:bodyPr>
          <a:lstStyle/>
          <a:p>
            <a:r>
              <a:rPr sz="1000" b="0" i="0">
                <a:solidFill>
                  <a:srgbClr val="1A1440"/>
                </a:solidFill>
                <a:latin typeface="Calibri"/>
              </a:rPr>
              <a:t>A lift on one or two baskets swings by luck, so it is read only above a floor.</a:t>
            </a:r>
          </a:p>
        </p:txBody>
      </p:sp>
      <p:sp>
        <p:nvSpPr>
          <p:cNvPr id="11" name="TextBox 10"/>
          <p:cNvSpPr txBox="1"/>
          <p:nvPr/>
        </p:nvSpPr>
        <p:spPr>
          <a:xfrm>
            <a:off x="530352" y="2001520"/>
            <a:ext cx="502920" cy="251205"/>
          </a:xfrm>
          <a:prstGeom prst="rect">
            <a:avLst/>
          </a:prstGeom>
          <a:noFill/>
        </p:spPr>
        <p:txBody>
          <a:bodyPr wrap="square" anchor="t" lIns="0" rIns="0" tIns="0" bIns="0">
            <a:spAutoFit/>
          </a:bodyPr>
          <a:lstStyle/>
          <a:p>
            <a:pPr algn="l"/>
            <a:r>
              <a:rPr sz="1300" b="0" i="0">
                <a:solidFill>
                  <a:srgbClr val="5B3FD6"/>
                </a:solidFill>
                <a:latin typeface="Georgia"/>
              </a:rPr>
              <a:t>02</a:t>
            </a:r>
          </a:p>
        </p:txBody>
      </p:sp>
      <p:sp>
        <p:nvSpPr>
          <p:cNvPr id="12" name="TextBox 11"/>
          <p:cNvSpPr txBox="1"/>
          <p:nvPr/>
        </p:nvSpPr>
        <p:spPr>
          <a:xfrm>
            <a:off x="1097280" y="2038096"/>
            <a:ext cx="10564063" cy="282448"/>
          </a:xfrm>
          <a:prstGeom prst="rect">
            <a:avLst/>
          </a:prstGeom>
          <a:noFill/>
        </p:spPr>
        <p:txBody>
          <a:bodyPr wrap="square" anchor="t" lIns="0" rIns="0" tIns="0" bIns="0">
            <a:spAutoFit/>
          </a:bodyPr>
          <a:lstStyle/>
          <a:p>
            <a:r>
              <a:rPr sz="1000" b="0" i="0">
                <a:solidFill>
                  <a:srgbClr val="1A1440"/>
                </a:solidFill>
                <a:latin typeface="Calibri"/>
              </a:rPr>
              <a:t>The floor is a count of baskets set where luck stops carrying a lift past the bar, before the ranking is read.</a:t>
            </a:r>
          </a:p>
        </p:txBody>
      </p:sp>
      <p:sp>
        <p:nvSpPr>
          <p:cNvPr id="13" name="TextBox 12"/>
          <p:cNvSpPr txBox="1"/>
          <p:nvPr/>
        </p:nvSpPr>
        <p:spPr>
          <a:xfrm>
            <a:off x="530352" y="2357120"/>
            <a:ext cx="502920" cy="251205"/>
          </a:xfrm>
          <a:prstGeom prst="rect">
            <a:avLst/>
          </a:prstGeom>
          <a:noFill/>
        </p:spPr>
        <p:txBody>
          <a:bodyPr wrap="square" anchor="t" lIns="0" rIns="0" tIns="0" bIns="0">
            <a:spAutoFit/>
          </a:bodyPr>
          <a:lstStyle/>
          <a:p>
            <a:pPr algn="l"/>
            <a:r>
              <a:rPr sz="1300" b="0" i="0">
                <a:solidFill>
                  <a:srgbClr val="5B3FD6"/>
                </a:solidFill>
                <a:latin typeface="Georgia"/>
              </a:rPr>
              <a:t>03</a:t>
            </a:r>
          </a:p>
        </p:txBody>
      </p:sp>
      <p:sp>
        <p:nvSpPr>
          <p:cNvPr id="14" name="TextBox 13"/>
          <p:cNvSpPr txBox="1"/>
          <p:nvPr/>
        </p:nvSpPr>
        <p:spPr>
          <a:xfrm>
            <a:off x="1097280" y="2393696"/>
            <a:ext cx="10564063" cy="455168"/>
          </a:xfrm>
          <a:prstGeom prst="rect">
            <a:avLst/>
          </a:prstGeom>
          <a:noFill/>
        </p:spPr>
        <p:txBody>
          <a:bodyPr wrap="square" anchor="t" lIns="0" rIns="0" tIns="0" bIns="0">
            <a:spAutoFit/>
          </a:bodyPr>
          <a:lstStyle/>
          <a:p>
            <a:r>
              <a:rPr sz="1000" b="0" i="0">
                <a:solidFill>
                  <a:srgbClr val="1A1440"/>
                </a:solidFill>
                <a:latin typeface="Calibri"/>
              </a:rPr>
              <a:t>A strong pair below the floor goes on a watch list: a trial on a random half of customers, its pass rule written first, shows whether the pull is real and whether it sells.</a:t>
            </a:r>
          </a:p>
        </p:txBody>
      </p:sp>
      <p:sp>
        <p:nvSpPr>
          <p:cNvPr id="15" name="TextBox 14"/>
          <p:cNvSpPr txBox="1"/>
          <p:nvPr/>
        </p:nvSpPr>
        <p:spPr>
          <a:xfrm>
            <a:off x="530352" y="2885440"/>
            <a:ext cx="502920" cy="251205"/>
          </a:xfrm>
          <a:prstGeom prst="rect">
            <a:avLst/>
          </a:prstGeom>
          <a:noFill/>
        </p:spPr>
        <p:txBody>
          <a:bodyPr wrap="square" anchor="t" lIns="0" rIns="0" tIns="0" bIns="0">
            <a:spAutoFit/>
          </a:bodyPr>
          <a:lstStyle/>
          <a:p>
            <a:pPr algn="l"/>
            <a:r>
              <a:rPr sz="1300" b="0" i="0">
                <a:solidFill>
                  <a:srgbClr val="5B3FD6"/>
                </a:solidFill>
                <a:latin typeface="Georgia"/>
              </a:rPr>
              <a:t>04</a:t>
            </a:r>
          </a:p>
        </p:txBody>
      </p:sp>
      <p:sp>
        <p:nvSpPr>
          <p:cNvPr id="16" name="TextBox 15"/>
          <p:cNvSpPr txBox="1"/>
          <p:nvPr/>
        </p:nvSpPr>
        <p:spPr>
          <a:xfrm>
            <a:off x="1097280" y="2922016"/>
            <a:ext cx="10564063" cy="282448"/>
          </a:xfrm>
          <a:prstGeom prst="rect">
            <a:avLst/>
          </a:prstGeom>
          <a:noFill/>
        </p:spPr>
        <p:txBody>
          <a:bodyPr wrap="square" anchor="t" lIns="0" rIns="0" tIns="0" bIns="0">
            <a:spAutoFit/>
          </a:bodyPr>
          <a:lstStyle/>
          <a:p>
            <a:r>
              <a:rPr sz="1000" b="0" i="0">
                <a:solidFill>
                  <a:srgbClr val="1A1440"/>
                </a:solidFill>
                <a:latin typeface="Calibri"/>
              </a:rPr>
              <a:t>A pair near one is never promoted: below the floor it is ignored, and above it, where a count ranks it first, it is the trap.</a:t>
            </a:r>
          </a:p>
        </p:txBody>
      </p:sp>
      <p:sp>
        <p:nvSpPr>
          <p:cNvPr id="17" name="Rounded Rectangle 16"/>
          <p:cNvSpPr/>
          <p:nvPr/>
        </p:nvSpPr>
        <p:spPr>
          <a:xfrm>
            <a:off x="530352" y="338734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5702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679952"/>
            <a:ext cx="237744" cy="237744"/>
          </a:xfrm>
          <a:prstGeom prst="rect">
            <a:avLst/>
          </a:prstGeom>
        </p:spPr>
      </p:pic>
      <p:sp>
        <p:nvSpPr>
          <p:cNvPr id="20" name="TextBox 19"/>
          <p:cNvSpPr txBox="1"/>
          <p:nvPr/>
        </p:nvSpPr>
        <p:spPr>
          <a:xfrm>
            <a:off x="1399031" y="35336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53104"/>
            <a:ext cx="9987991" cy="384048"/>
          </a:xfrm>
          <a:prstGeom prst="rect">
            <a:avLst/>
          </a:prstGeom>
          <a:noFill/>
        </p:spPr>
        <p:txBody>
          <a:bodyPr wrap="square" anchor="t" lIns="0" rIns="0" tIns="0" bIns="0">
            <a:spAutoFit/>
          </a:bodyPr>
          <a:lstStyle/>
          <a:p>
            <a:r>
              <a:rPr sz="1000" b="0" i="0">
                <a:solidFill>
                  <a:srgbClr val="1A1440"/>
                </a:solidFill>
                <a:latin typeface="Calibri"/>
              </a:rPr>
              <a:t>[F] "A pair has a high lift on very few baskets; act or not?" Watch it: test it on a random half of customers with a pass rule set first.</a:t>
            </a:r>
          </a:p>
        </p:txBody>
      </p:sp>
      <p:pic>
        <p:nvPicPr>
          <p:cNvPr id="22" name="mermaid diagram" descr="1d07b0345a55c06b.png"/>
          <p:cNvPicPr>
            <a:picLocks noChangeAspect="1"/>
          </p:cNvPicPr>
          <p:nvPr/>
        </p:nvPicPr>
        <p:blipFill>
          <a:blip r:embed="rId6"/>
          <a:stretch>
            <a:fillRect/>
          </a:stretch>
        </p:blipFill>
        <p:spPr>
          <a:xfrm>
            <a:off x="3347662" y="4374896"/>
            <a:ext cx="5496370" cy="1824736"/>
          </a:xfrm>
          <a:prstGeom prst="rect">
            <a:avLst/>
          </a:prstGeom>
        </p:spPr>
      </p:pic>
      <p:sp>
        <p:nvSpPr>
          <p:cNvPr id="23" name="TextBox 2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4" name="Oval 2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6" name="Oval 25"/>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8" name="Oval 27"/>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0" name="Oval 29"/>
          <p:cNvSpPr/>
          <p:nvPr/>
        </p:nvSpPr>
        <p:spPr>
          <a:xfrm>
            <a:off x="547925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58898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32" name="Oval 31"/>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4" name="Oval 33"/>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41 / 63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Twelve carts by hand, with support, confidence and lift and the confidence trap</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twelve carts say?</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Twelve of Instamart's carts counted by hand with the three counts of chapters 1 to 3, the confidence trap of chapter 4 met again, and a lift on one cart that chapter 6's floor would refuse.</a:t>
            </a:r>
          </a:p>
        </p:txBody>
      </p:sp>
      <p:sp>
        <p:nvSpPr>
          <p:cNvPr id="11" name="Rounded Rectangle 10"/>
          <p:cNvSpPr/>
          <p:nvPr/>
        </p:nvSpPr>
        <p:spPr>
          <a:xfrm>
            <a:off x="731519" y="5074920"/>
            <a:ext cx="10789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the three counts and one limit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Support, Confidence, Chance and lift (chapters 1 to 3, support, confidence and lift, derived by counting); The confidence trap; lift near one (chapter 4); The support floor and the watch list (chapter 6).</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category manager, who picks what the strip may suggest: a strip filled on the wrong count wastes the three spaces under every cart.</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OFTEN?</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Support</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holding both items, over all carts.</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RELIABLY?</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Confidence</a:t>
            </a:r>
          </a:p>
        </p:txBody>
      </p:sp>
      <p:sp>
        <p:nvSpPr>
          <p:cNvPr id="25" name="TextBox 24"/>
          <p:cNvSpPr txBox="1"/>
          <p:nvPr/>
        </p:nvSpPr>
        <p:spPr>
          <a:xfrm>
            <a:off x="3523411"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Of the carts holding A, the share that also hold B.</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AGAINST CHANCE?</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Lift</a:t>
            </a:r>
          </a:p>
        </p:txBody>
      </p:sp>
      <p:sp>
        <p:nvSpPr>
          <p:cNvPr id="30" name="TextBox 29"/>
          <p:cNvSpPr txBox="1"/>
          <p:nvPr/>
        </p:nvSpPr>
        <p:spPr>
          <a:xfrm>
            <a:off x="6351879"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seen holding both, over the carts chance alone would give.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FAR?</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twelve cannot say</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Whether a pull on four carts is real or luck.</a:t>
            </a:r>
          </a:p>
        </p:txBody>
      </p:sp>
      <p:sp>
        <p:nvSpPr>
          <p:cNvPr id="36" name="TextBox 35"/>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7" name="Oval 36"/>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1" name="Oval 40"/>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705888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16861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47" name="Oval 46"/>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43 / 63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pairs, a floor, a rupee figure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growth lead carry out of the room?</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checks_8726d21bc746.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PROMOTE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Pairs above a floor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pairs that beat chance on enough carts, each with its support and its lift, ranked by lift.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_6af225eae81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WATCH</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strong, thin pair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pair with a high lift on too few carts, tested before it is promoted.</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indian-rupee_76b0281c013b.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PRICE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slot, in rupees</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a slot earns a day and what a month recovers, each assumption said with its range.</a:t>
            </a:r>
          </a:p>
        </p:txBody>
      </p:sp>
      <p:sp>
        <p:nvSpPr>
          <p:cNvPr id="27" name="TextBox 26"/>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8" name="Oval 27"/>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0" name="Oval 29"/>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2" name="Oval 31"/>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4" name="Oval 33"/>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6" name="Oval 35"/>
          <p:cNvSpPr/>
          <p:nvPr/>
        </p:nvSpPr>
        <p:spPr>
          <a:xfrm>
            <a:off x="705888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16861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38" name="Oval 37"/>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44 / 63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from the 40,000: milk in 8, bread in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twelve of the 40,000 carts hold, card by card?</a:t>
            </a:r>
          </a:p>
        </p:txBody>
      </p:sp>
      <p:graphicFrame>
        <p:nvGraphicFramePr>
          <p:cNvPr id="9" name="Table 8"/>
          <p:cNvGraphicFramePr>
            <a:graphicFrameLocks noGrp="1"/>
          </p:cNvGraphicFramePr>
          <p:nvPr/>
        </p:nvGraphicFramePr>
        <p:xfrm>
          <a:off x="530352" y="1874012"/>
          <a:ext cx="11130991" cy="4134104"/>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Cart</a:t>
                      </a:r>
                    </a:p>
                  </a:txBody>
                  <a:tcPr marL="101600" marR="101600" marT="38100" marB="38100" anchor="ctr">
                    <a:solidFill>
                      <a:srgbClr val="1A0F5C"/>
                    </a:solidFill>
                  </a:tcPr>
                </a:tc>
                <a:tc>
                  <a:txBody>
                    <a:bodyPr/>
                    <a:lstStyle/>
                    <a:p>
                      <a:r>
                        <a:rPr sz="1150" b="1" i="0">
                          <a:solidFill>
                            <a:srgbClr val="FFFFFF"/>
                          </a:solidFill>
                          <a:latin typeface="Calibri"/>
                        </a:rPr>
                        <a:t>Items held</a:t>
                      </a:r>
                    </a:p>
                  </a:txBody>
                  <a:tcPr marL="101600" marR="101600" marT="38100" marB="38100" anchor="ctr">
                    <a:solidFill>
                      <a:srgbClr val="1A0F5C"/>
                    </a:solidFill>
                  </a:tcPr>
                </a:tc>
              </a:tr>
              <a:tr h="318008">
                <a:tc>
                  <a:txBody>
                    <a:bodyPr/>
                    <a:lstStyle/>
                    <a:p>
                      <a:r>
                        <a:rPr sz="1100" b="0" i="0">
                          <a:solidFill>
                            <a:srgbClr val="1A1440"/>
                          </a:solidFill>
                          <a:latin typeface="Calibri"/>
                        </a:rPr>
                        <a:t>C000098</a:t>
                      </a:r>
                    </a:p>
                  </a:txBody>
                  <a:tcPr marL="101600" marR="101600" marT="38100" marB="38100" anchor="ctr">
                    <a:solidFill>
                      <a:srgbClr val="FFFFFF"/>
                    </a:solidFill>
                  </a:tcPr>
                </a:tc>
                <a:tc>
                  <a:txBody>
                    <a:bodyPr/>
                    <a:lstStyle/>
                    <a:p>
                      <a:r>
                        <a:rPr sz="1100" b="0" i="0">
                          <a:solidFill>
                            <a:srgbClr val="1A1440"/>
                          </a:solidFill>
                          <a:latin typeface="Calibri"/>
                        </a:rPr>
                        <a:t>toned milk, bread, eggs, bananas,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C003216</a:t>
                      </a:r>
                    </a:p>
                  </a:txBody>
                  <a:tcPr marL="101600" marR="101600" marT="38100" marB="38100" anchor="ctr">
                    <a:solidFill>
                      <a:srgbClr val="F4F2FA"/>
                    </a:solidFill>
                  </a:tcPr>
                </a:tc>
                <a:tc>
                  <a:txBody>
                    <a:bodyPr/>
                    <a:lstStyle/>
                    <a:p>
                      <a:r>
                        <a:rPr sz="1100" b="0" i="0">
                          <a:solidFill>
                            <a:srgbClr val="1A1440"/>
                          </a:solidFill>
                          <a:latin typeface="Calibri"/>
                        </a:rPr>
                        <a:t>toned milk, bread, eggs, curd, bananas</a:t>
                      </a:r>
                    </a:p>
                  </a:txBody>
                  <a:tcPr marL="101600" marR="101600" marT="38100" marB="38100" anchor="ctr">
                    <a:solidFill>
                      <a:srgbClr val="F4F2FA"/>
                    </a:solidFill>
                  </a:tcPr>
                </a:tc>
              </a:tr>
              <a:tr h="318008">
                <a:tc>
                  <a:txBody>
                    <a:bodyPr/>
                    <a:lstStyle/>
                    <a:p>
                      <a:r>
                        <a:rPr sz="1100" b="0" i="0">
                          <a:solidFill>
                            <a:srgbClr val="1A1440"/>
                          </a:solidFill>
                          <a:latin typeface="Calibri"/>
                        </a:rPr>
                        <a:t>C006334</a:t>
                      </a:r>
                    </a:p>
                  </a:txBody>
                  <a:tcPr marL="101600" marR="101600" marT="38100" marB="38100" anchor="ctr">
                    <a:solidFill>
                      <a:srgbClr val="FFFFFF"/>
                    </a:solidFill>
                  </a:tcPr>
                </a:tc>
                <a:tc>
                  <a:txBody>
                    <a:bodyPr/>
                    <a:lstStyle/>
                    <a:p>
                      <a:r>
                        <a:rPr sz="1100" b="0" i="0">
                          <a:solidFill>
                            <a:srgbClr val="1A1440"/>
                          </a:solidFill>
                          <a:latin typeface="Calibri"/>
                        </a:rPr>
                        <a:t>toned milk, bread, curd, paneer, onions</a:t>
                      </a:r>
                    </a:p>
                  </a:txBody>
                  <a:tcPr marL="101600" marR="101600" marT="38100" marB="38100" anchor="ctr">
                    <a:solidFill>
                      <a:srgbClr val="FFFFFF"/>
                    </a:solidFill>
                  </a:tcPr>
                </a:tc>
              </a:tr>
              <a:tr h="318008">
                <a:tc>
                  <a:txBody>
                    <a:bodyPr/>
                    <a:lstStyle/>
                    <a:p>
                      <a:r>
                        <a:rPr sz="1100" b="0" i="0">
                          <a:solidFill>
                            <a:srgbClr val="1A1440"/>
                          </a:solidFill>
                          <a:latin typeface="Calibri"/>
                        </a:rPr>
                        <a:t>C009452</a:t>
                      </a:r>
                    </a:p>
                  </a:txBody>
                  <a:tcPr marL="101600" marR="101600" marT="38100" marB="38100" anchor="ctr">
                    <a:solidFill>
                      <a:srgbClr val="F4F2FA"/>
                    </a:solidFill>
                  </a:tcPr>
                </a:tc>
                <a:tc>
                  <a:txBody>
                    <a:bodyPr/>
                    <a:lstStyle/>
                    <a:p>
                      <a:r>
                        <a:rPr sz="1100" b="0" i="0">
                          <a:solidFill>
                            <a:srgbClr val="1A1440"/>
                          </a:solidFill>
                          <a:latin typeface="Calibri"/>
                        </a:rPr>
                        <a:t>toned milk, bread, eggs, tomatoes</a:t>
                      </a:r>
                    </a:p>
                  </a:txBody>
                  <a:tcPr marL="101600" marR="101600" marT="38100" marB="38100" anchor="ctr">
                    <a:solidFill>
                      <a:srgbClr val="F4F2FA"/>
                    </a:solidFill>
                  </a:tcPr>
                </a:tc>
              </a:tr>
              <a:tr h="318008">
                <a:tc>
                  <a:txBody>
                    <a:bodyPr/>
                    <a:lstStyle/>
                    <a:p>
                      <a:r>
                        <a:rPr sz="1100" b="0" i="0">
                          <a:solidFill>
                            <a:srgbClr val="1A1440"/>
                          </a:solidFill>
                          <a:latin typeface="Calibri"/>
                        </a:rPr>
                        <a:t>C012570</a:t>
                      </a:r>
                    </a:p>
                  </a:txBody>
                  <a:tcPr marL="101600" marR="101600" marT="38100" marB="38100" anchor="ctr">
                    <a:solidFill>
                      <a:srgbClr val="FFFFFF"/>
                    </a:solidFill>
                  </a:tcPr>
                </a:tc>
                <a:tc>
                  <a:txBody>
                    <a:bodyPr/>
                    <a:lstStyle/>
                    <a:p>
                      <a:r>
                        <a:rPr sz="1100" b="0" i="0">
                          <a:solidFill>
                            <a:srgbClr val="1A1440"/>
                          </a:solidFill>
                          <a:latin typeface="Calibri"/>
                        </a:rPr>
                        <a:t>toned milk, eggs, chips, cold drink, onions</a:t>
                      </a:r>
                    </a:p>
                  </a:txBody>
                  <a:tcPr marL="101600" marR="101600" marT="38100" marB="38100" anchor="ctr">
                    <a:solidFill>
                      <a:srgbClr val="FFFFFF"/>
                    </a:solidFill>
                  </a:tcPr>
                </a:tc>
              </a:tr>
              <a:tr h="318008">
                <a:tc>
                  <a:txBody>
                    <a:bodyPr/>
                    <a:lstStyle/>
                    <a:p>
                      <a:r>
                        <a:rPr sz="1100" b="0" i="0">
                          <a:solidFill>
                            <a:srgbClr val="1A1440"/>
                          </a:solidFill>
                          <a:latin typeface="Calibri"/>
                        </a:rPr>
                        <a:t>C015688</a:t>
                      </a:r>
                    </a:p>
                  </a:txBody>
                  <a:tcPr marL="101600" marR="101600" marT="38100" marB="38100" anchor="ctr">
                    <a:solidFill>
                      <a:srgbClr val="F4F2FA"/>
                    </a:solidFill>
                  </a:tcPr>
                </a:tc>
                <a:tc>
                  <a:txBody>
                    <a:bodyPr/>
                    <a:lstStyle/>
                    <a:p>
                      <a:r>
                        <a:rPr sz="1100" b="0" i="0">
                          <a:solidFill>
                            <a:srgbClr val="1A1440"/>
                          </a:solidFill>
                          <a:latin typeface="Calibri"/>
                        </a:rPr>
                        <a:t>toned milk, chips, cold drink, coriander</a:t>
                      </a:r>
                    </a:p>
                  </a:txBody>
                  <a:tcPr marL="101600" marR="101600" marT="38100" marB="38100" anchor="ctr">
                    <a:solidFill>
                      <a:srgbClr val="F4F2FA"/>
                    </a:solidFill>
                  </a:tcPr>
                </a:tc>
              </a:tr>
              <a:tr h="318008">
                <a:tc>
                  <a:txBody>
                    <a:bodyPr/>
                    <a:lstStyle/>
                    <a:p>
                      <a:r>
                        <a:rPr sz="1100" b="0" i="0">
                          <a:solidFill>
                            <a:srgbClr val="1A1440"/>
                          </a:solidFill>
                          <a:latin typeface="Calibri"/>
                        </a:rPr>
                        <a:t>C018806</a:t>
                      </a:r>
                    </a:p>
                  </a:txBody>
                  <a:tcPr marL="101600" marR="101600" marT="38100" marB="38100" anchor="ctr">
                    <a:solidFill>
                      <a:srgbClr val="FFFFFF"/>
                    </a:solidFill>
                  </a:tcPr>
                </a:tc>
                <a:tc>
                  <a:txBody>
                    <a:bodyPr/>
                    <a:lstStyle/>
                    <a:p>
                      <a:r>
                        <a:rPr sz="1100" b="0" i="0">
                          <a:solidFill>
                            <a:srgbClr val="1A1440"/>
                          </a:solidFill>
                          <a:latin typeface="Calibri"/>
                        </a:rPr>
                        <a:t>toned milk, bananas,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C022633</a:t>
                      </a:r>
                    </a:p>
                  </a:txBody>
                  <a:tcPr marL="101600" marR="101600" marT="38100" marB="38100" anchor="ctr">
                    <a:solidFill>
                      <a:srgbClr val="F4F2FA"/>
                    </a:solidFill>
                  </a:tcPr>
                </a:tc>
                <a:tc>
                  <a:txBody>
                    <a:bodyPr/>
                    <a:lstStyle/>
                    <a:p>
                      <a:r>
                        <a:rPr sz="1100" b="0" i="0">
                          <a:solidFill>
                            <a:srgbClr val="1A1440"/>
                          </a:solidFill>
                          <a:latin typeface="Calibri"/>
                        </a:rPr>
                        <a:t>toned milk, paneer, coriander, tomatoes</a:t>
                      </a:r>
                    </a:p>
                  </a:txBody>
                  <a:tcPr marL="101600" marR="101600" marT="38100" marB="38100" anchor="ctr">
                    <a:solidFill>
                      <a:srgbClr val="F4F2FA"/>
                    </a:solidFill>
                  </a:tcPr>
                </a:tc>
              </a:tr>
              <a:tr h="318008">
                <a:tc>
                  <a:txBody>
                    <a:bodyPr/>
                    <a:lstStyle/>
                    <a:p>
                      <a:r>
                        <a:rPr sz="1100" b="0" i="0">
                          <a:solidFill>
                            <a:srgbClr val="1A1440"/>
                          </a:solidFill>
                          <a:latin typeface="Calibri"/>
                        </a:rPr>
                        <a:t>C026803</a:t>
                      </a:r>
                    </a:p>
                  </a:txBody>
                  <a:tcPr marL="101600" marR="101600" marT="38100" marB="38100" anchor="ctr">
                    <a:solidFill>
                      <a:srgbClr val="FFFFFF"/>
                    </a:solidFill>
                  </a:tcPr>
                </a:tc>
                <a:tc>
                  <a:txBody>
                    <a:bodyPr/>
                    <a:lstStyle/>
                    <a:p>
                      <a:r>
                        <a:rPr sz="1100" b="0" i="0">
                          <a:solidFill>
                            <a:srgbClr val="1A1440"/>
                          </a:solidFill>
                          <a:latin typeface="Calibri"/>
                        </a:rPr>
                        <a:t>chips,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C030743</a:t>
                      </a:r>
                    </a:p>
                  </a:txBody>
                  <a:tcPr marL="101600" marR="101600" marT="38100" marB="38100" anchor="ctr">
                    <a:solidFill>
                      <a:srgbClr val="F4F2FA"/>
                    </a:solidFill>
                  </a:tcPr>
                </a:tc>
                <a:tc>
                  <a:txBody>
                    <a:bodyPr/>
                    <a:lstStyle/>
                    <a:p>
                      <a:r>
                        <a:rPr sz="1100" b="0" i="0">
                          <a:solidFill>
                            <a:srgbClr val="1A1440"/>
                          </a:solidFill>
                          <a:latin typeface="Calibri"/>
                        </a:rPr>
                        <a:t>cold drink, curd, bananas, tomatoes</a:t>
                      </a:r>
                    </a:p>
                  </a:txBody>
                  <a:tcPr marL="101600" marR="101600" marT="38100" marB="38100" anchor="ctr">
                    <a:solidFill>
                      <a:srgbClr val="F4F2FA"/>
                    </a:solidFill>
                  </a:tcPr>
                </a:tc>
              </a:tr>
              <a:tr h="318008">
                <a:tc>
                  <a:txBody>
                    <a:bodyPr/>
                    <a:lstStyle/>
                    <a:p>
                      <a:r>
                        <a:rPr sz="1100" b="0" i="0">
                          <a:solidFill>
                            <a:srgbClr val="1A1440"/>
                          </a:solidFill>
                          <a:latin typeface="Calibri"/>
                        </a:rPr>
                        <a:t>C033861</a:t>
                      </a:r>
                    </a:p>
                  </a:txBody>
                  <a:tcPr marL="101600" marR="101600" marT="38100" marB="38100" anchor="ctr">
                    <a:solidFill>
                      <a:srgbClr val="FFFFFF"/>
                    </a:solidFill>
                  </a:tcPr>
                </a:tc>
                <a:tc>
                  <a:txBody>
                    <a:bodyPr/>
                    <a:lstStyle/>
                    <a:p>
                      <a:r>
                        <a:rPr sz="1100" b="0" i="0">
                          <a:solidFill>
                            <a:srgbClr val="1A1440"/>
                          </a:solidFill>
                          <a:latin typeface="Calibri"/>
                        </a:rPr>
                        <a:t>eggs, ice cream, chocolate sauce</a:t>
                      </a:r>
                    </a:p>
                  </a:txBody>
                  <a:tcPr marL="101600" marR="101600" marT="38100" marB="38100" anchor="ctr">
                    <a:solidFill>
                      <a:srgbClr val="FFFFFF"/>
                    </a:solidFill>
                  </a:tcPr>
                </a:tc>
              </a:tr>
              <a:tr h="318008">
                <a:tc>
                  <a:txBody>
                    <a:bodyPr/>
                    <a:lstStyle/>
                    <a:p>
                      <a:r>
                        <a:rPr sz="1100" b="0" i="0">
                          <a:solidFill>
                            <a:srgbClr val="1A1440"/>
                          </a:solidFill>
                          <a:latin typeface="Calibri"/>
                        </a:rPr>
                        <a:t>C036979</a:t>
                      </a:r>
                    </a:p>
                  </a:txBody>
                  <a:tcPr marL="101600" marR="101600" marT="38100" marB="38100" anchor="ctr">
                    <a:solidFill>
                      <a:srgbClr val="F4F2FA"/>
                    </a:solidFill>
                  </a:tcPr>
                </a:tc>
                <a:tc>
                  <a:txBody>
                    <a:bodyPr/>
                    <a:lstStyle/>
                    <a:p>
                      <a:r>
                        <a:rPr sz="1100" b="0" i="0">
                          <a:solidFill>
                            <a:srgbClr val="1A1440"/>
                          </a:solidFill>
                          <a:latin typeface="Calibri"/>
                        </a:rPr>
                        <a:t>curd, onions</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1" name="Oval 10"/>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3" name="Oval 12"/>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5" name="Oval 14"/>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7" name="Oval 16"/>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19" name="Oval 18"/>
          <p:cNvSpPr/>
          <p:nvPr/>
        </p:nvSpPr>
        <p:spPr>
          <a:xfrm>
            <a:off x="705888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16861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1" name="Oval 20"/>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45 / 63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Bread to milk is 1.00; milk to bread?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All four bread carts hold milk, and milk is in 8 of the 12. What is the confidence from milk to bread?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qual_08ba08324b5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1.00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same both ways, like support.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ercent_3c2cac06876b.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Milk's carts are the denominator now.</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rcent_3c2cac06876b.png"/>
          <p:cNvPicPr>
            <a:picLocks noChangeAspect="1"/>
          </p:cNvPicPr>
          <p:nvPr/>
        </p:nvPicPr>
        <p:blipFill>
          <a:blip r:embed="rId5"/>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0.33</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Bread's share of all twelve carts.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ercent_3c2cac06876b.png"/>
          <p:cNvPicPr>
            <a:picLocks noChangeAspect="1"/>
          </p:cNvPicPr>
          <p:nvPr/>
        </p:nvPicPr>
        <p:blipFill>
          <a:blip r:embed="rId5"/>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0.67</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Milk's share of all twelve carts.</a:t>
            </a:r>
          </a:p>
        </p:txBody>
      </p:sp>
      <p:sp>
        <p:nvSpPr>
          <p:cNvPr id="33" name="TextBox 3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4" name="Oval 3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6" name="Oval 35"/>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8" name="Oval 37"/>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0" name="Oval 39"/>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2" name="Oval 41"/>
          <p:cNvSpPr/>
          <p:nvPr/>
        </p:nvSpPr>
        <p:spPr>
          <a:xfrm>
            <a:off x="705888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16861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44" name="Oval 43"/>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46 / 63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0.50 the other way; lift 1.50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three counts read for bread and milk?</a:t>
            </a:r>
          </a:p>
        </p:txBody>
      </p:sp>
      <p:pic>
        <p:nvPicPr>
          <p:cNvPr id="9" name="mermaid diagram" descr="00eaf65d8d13166a.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four bread carts hold milk, so bread to milk is 1.00; milk's 8 carts hold bread 4 times, so milk to bread is 0.50. Milk is in 8 of 12 carts anyway, so chance alone puts it in 2.67 of the four bread carts, and lift is 4 / 2.67 = 1.50 from either side: on these twelve carts, bread and milk meet half again as often as chance would.</a:t>
            </a:r>
          </a:p>
        </p:txBody>
      </p:sp>
      <p:sp>
        <p:nvSpPr>
          <p:cNvPr id="11" name="TextBox 10"/>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2" name="Oval 11"/>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4" name="Oval 13"/>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6" name="Oval 15"/>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8" name="Oval 17"/>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0" name="Oval 19"/>
          <p:cNvSpPr/>
          <p:nvPr/>
        </p:nvSpPr>
        <p:spPr>
          <a:xfrm>
            <a:off x="705888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16861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2" name="Oval 21"/>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47 / 63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1.00 reads like a bundle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confidence throw away that lift keeps?</a:t>
            </a:r>
          </a:p>
        </p:txBody>
      </p:sp>
      <p:pic>
        <p:nvPicPr>
          <p:cNvPr id="9" name="mermaid diagram" descr="C2_W04_D03_shrink_still_last_STUDENT.png"/>
          <p:cNvPicPr>
            <a:picLocks noChangeAspect="1"/>
          </p:cNvPicPr>
          <p:nvPr/>
        </p:nvPicPr>
        <p:blipFill>
          <a:blip r:embed="rId4"/>
          <a:stretch>
            <a:fillRect/>
          </a:stretch>
        </p:blipFill>
        <p:spPr>
          <a:xfrm>
            <a:off x="2400720" y="1664208"/>
            <a:ext cx="7390253"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twelve carts, then only the four bread carts, then the four that also hold milk</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plausible wrong answer: "confidence 1.00, so show milk beside bread." This is chapter 4's confidence trap on the case's carts: confidence looked only inside the four bread carts, and milk is in 8 of 12 carts anyway. The fix: read lift instead, 1.50, though twelve carts are too few to trust it.</a:t>
            </a:r>
          </a:p>
        </p:txBody>
      </p:sp>
      <p:sp>
        <p:nvSpPr>
          <p:cNvPr id="12" name="TextBox 11"/>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3" name="Oval 12"/>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5" name="Oval 14"/>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7" name="Oval 16"/>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9" name="Oval 18"/>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1" name="Oval 20"/>
          <p:cNvSpPr/>
          <p:nvPr/>
        </p:nvSpPr>
        <p:spPr>
          <a:xfrm>
            <a:off x="705888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6861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3" name="Oval 22"/>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48 / 63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Chips and cold drink beat chance; one cart cannot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other two pairs on the cards read?</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3077117"/>
                <a:gridCol w="1734341"/>
                <a:gridCol w="1734341"/>
                <a:gridCol w="914400"/>
                <a:gridCol w="2756390"/>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Carts with A</a:t>
                      </a:r>
                    </a:p>
                  </a:txBody>
                  <a:tcPr marL="101600" marR="101600" marT="38100" marB="38100" anchor="ctr">
                    <a:solidFill>
                      <a:srgbClr val="1A0F5C"/>
                    </a:solidFill>
                  </a:tcPr>
                </a:tc>
                <a:tc>
                  <a:txBody>
                    <a:bodyPr/>
                    <a:lstStyle/>
                    <a:p>
                      <a:r>
                        <a:rPr sz="1250" b="1" i="0">
                          <a:solidFill>
                            <a:srgbClr val="FFFFFF"/>
                          </a:solidFill>
                          <a:latin typeface="Calibri"/>
                        </a:rPr>
                        <a:t>Carts with B</a:t>
                      </a:r>
                    </a:p>
                  </a:txBody>
                  <a:tcPr marL="101600" marR="101600" marT="38100" marB="38100" anchor="ctr">
                    <a:solidFill>
                      <a:srgbClr val="1A0F5C"/>
                    </a:solidFill>
                  </a:tcPr>
                </a:tc>
                <a:tc>
                  <a:txBody>
                    <a:bodyPr/>
                    <a:lstStyle/>
                    <a:p>
                      <a:r>
                        <a:rPr sz="1250" b="1" i="0">
                          <a:solidFill>
                            <a:srgbClr val="FFFFFF"/>
                          </a:solidFill>
                          <a:latin typeface="Calibri"/>
                        </a:rPr>
                        <a:t>Both</a:t>
                      </a:r>
                    </a:p>
                  </a:txBody>
                  <a:tcPr marL="101600" marR="101600" marT="38100" marB="38100" anchor="ctr">
                    <a:solidFill>
                      <a:srgbClr val="1A0F5C"/>
                    </a:solidFill>
                  </a:tcPr>
                </a:tc>
                <a:tc>
                  <a:txBody>
                    <a:bodyPr/>
                    <a:lstStyle/>
                    <a:p>
                      <a:r>
                        <a:rPr sz="1250" b="1" i="0">
                          <a:solidFill>
                            <a:srgbClr val="FFFFFF"/>
                          </a:solidFill>
                          <a:latin typeface="Calibri"/>
                        </a:rPr>
                        <a:t>Expected by chance</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12 x 3/12 x 3/12 = 0.75</a:t>
                      </a:r>
                    </a:p>
                  </a:txBody>
                  <a:tcPr marL="101600" marR="101600" marT="38100" marB="38100" anchor="ctr">
                    <a:solidFill>
                      <a:srgbClr val="FFFFFF"/>
                    </a:solidFill>
                  </a:tcPr>
                </a:tc>
                <a:tc>
                  <a:txBody>
                    <a:bodyPr/>
                    <a:lstStyle/>
                    <a:p>
                      <a:r>
                        <a:rPr sz="1200" b="0" i="0">
                          <a:solidFill>
                            <a:srgbClr val="1A1440"/>
                          </a:solidFill>
                          <a:latin typeface="Calibri"/>
                        </a:rPr>
                        <a:t>2.67</a:t>
                      </a:r>
                    </a:p>
                  </a:txBody>
                  <a:tcPr marL="101600" marR="101600" marT="38100" marB="38100" anchor="ctr">
                    <a:solidFill>
                      <a:srgbClr val="FFFFFF"/>
                    </a:solidFill>
                  </a:tcPr>
                </a:tc>
              </a:tr>
              <a:tr h="335280">
                <a:tc>
                  <a:txBody>
                    <a:bodyPr/>
                    <a:lstStyle/>
                    <a:p>
                      <a:r>
                        <a:rPr sz="1200" b="0" i="0">
                          <a:solidFill>
                            <a:srgbClr val="1A1440"/>
                          </a:solidFill>
                          <a:latin typeface="Calibri"/>
                        </a:rPr>
                        <a:t>ice cream, chocolate sauce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12 x 1/12 x 1/12 = 0.08</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Chips and cold drink share 2 carts where chance gives 0.75: lift 2.67, a pull between two items that are each in only 3 carts. Ice cream and chocolate sauce share a single cart, and one cart makes a lift of 12, the number chapter 6's floor exists to refuse.</a:t>
            </a:r>
          </a:p>
        </p:txBody>
      </p:sp>
      <p:sp>
        <p:nvSpPr>
          <p:cNvPr id="11" name="TextBox 10"/>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2" name="Oval 11"/>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4" name="Oval 13"/>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6" name="Oval 15"/>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8" name="Oval 17"/>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0" name="Oval 19"/>
          <p:cNvSpPr/>
          <p:nvPr/>
        </p:nvSpPr>
        <p:spPr>
          <a:xfrm>
            <a:off x="705888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16861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2" name="Oval 21"/>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49 / 63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pair sits together most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Rank all 40,000 carts' pairs by count. Which pair comes first?</a:t>
            </a:r>
          </a:p>
        </p:txBody>
      </p:sp>
      <p:sp>
        <p:nvSpPr>
          <p:cNvPr id="9" name="Rounded Rectangle 8"/>
          <p:cNvSpPr/>
          <p:nvPr/>
        </p:nvSpPr>
        <p:spPr>
          <a:xfrm>
            <a:off x="530352"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Chips and cold drink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pair that beat chance on the cards.</a:t>
            </a:r>
          </a:p>
        </p:txBody>
      </p:sp>
      <p:sp>
        <p:nvSpPr>
          <p:cNvPr id="15" name="Rounded Rectangle 14"/>
          <p:cNvSpPr/>
          <p:nvPr/>
        </p:nvSpPr>
        <p:spPr>
          <a:xfrm>
            <a:off x="3358819"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Bread and toned milk</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daily staples.</a:t>
            </a:r>
          </a:p>
        </p:txBody>
      </p:sp>
      <p:sp>
        <p:nvSpPr>
          <p:cNvPr id="21" name="Rounded Rectangle 20"/>
          <p:cNvSpPr/>
          <p:nvPr/>
        </p:nvSpPr>
        <p:spPr>
          <a:xfrm>
            <a:off x="6187287"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Ice cream and chocolate sauce</a:t>
            </a:r>
          </a:p>
        </p:txBody>
      </p:sp>
      <p:sp>
        <p:nvSpPr>
          <p:cNvPr id="26" name="TextBox 25"/>
          <p:cNvSpPr txBox="1"/>
          <p:nvPr/>
        </p:nvSpPr>
        <p:spPr>
          <a:xfrm>
            <a:off x="6388455"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lift of 12 on one card.</a:t>
            </a:r>
          </a:p>
        </p:txBody>
      </p:sp>
      <p:sp>
        <p:nvSpPr>
          <p:cNvPr id="27" name="Rounded Rectangle 26"/>
          <p:cNvSpPr/>
          <p:nvPr/>
        </p:nvSpPr>
        <p:spPr>
          <a:xfrm>
            <a:off x="9015755"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opping-cart_3d6cc98c6b44.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Onions and tomatoes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cooking pair.</a:t>
            </a:r>
          </a:p>
        </p:txBody>
      </p:sp>
      <p:sp>
        <p:nvSpPr>
          <p:cNvPr id="33" name="TextBox 3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4" name="Oval 3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6" name="Oval 35"/>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8" name="Oval 37"/>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0" name="Oval 39"/>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2" name="Oval 41"/>
          <p:cNvSpPr/>
          <p:nvPr/>
        </p:nvSpPr>
        <p:spPr>
          <a:xfrm>
            <a:off x="705888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16861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44" name="Oval 43"/>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50 / 63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bread and milk, in 10,064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ranking by count put on top?</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5545676"/>
                <a:gridCol w="5585314"/>
              </a:tblGrid>
              <a:tr h="369824">
                <a:tc>
                  <a:txBody>
                    <a:bodyPr/>
                    <a:lstStyle/>
                    <a:p>
                      <a:r>
                        <a:rPr sz="1450" b="1" i="0">
                          <a:solidFill>
                            <a:srgbClr val="FFFFFF"/>
                          </a:solidFill>
                          <a:latin typeface="Calibri"/>
                        </a:rPr>
                        <a:t>Pair</a:t>
                      </a:r>
                    </a:p>
                  </a:txBody>
                  <a:tcPr marL="101600" marR="101600" marT="38100" marB="38100" anchor="ctr">
                    <a:solidFill>
                      <a:srgbClr val="1A0F5C"/>
                    </a:solidFill>
                  </a:tcPr>
                </a:tc>
                <a:tc>
                  <a:txBody>
                    <a:bodyPr/>
                    <a:lstStyle/>
                    <a:p>
                      <a:r>
                        <a:rPr sz="1450" b="1" i="0">
                          <a:solidFill>
                            <a:srgbClr val="FFFFFF"/>
                          </a:solidFill>
                          <a:latin typeface="Calibri"/>
                        </a:rPr>
                        <a:t>Carts holding both</a:t>
                      </a:r>
                    </a:p>
                  </a:txBody>
                  <a:tcPr marL="101600" marR="101600" marT="38100" marB="38100" anchor="ctr">
                    <a:solidFill>
                      <a:srgbClr val="1A0F5C"/>
                    </a:solidFill>
                  </a:tcPr>
                </a:tc>
              </a:tr>
              <a:tr h="369824">
                <a:tc>
                  <a:txBody>
                    <a:bodyPr/>
                    <a:lstStyle/>
                    <a:p>
                      <a:r>
                        <a:rPr sz="1400" b="0" i="0">
                          <a:solidFill>
                            <a:srgbClr val="1A1440"/>
                          </a:solidFill>
                          <a:latin typeface="Calibri"/>
                        </a:rPr>
                        <a:t>bread, toned milk</a:t>
                      </a:r>
                    </a:p>
                  </a:txBody>
                  <a:tcPr marL="101600" marR="101600" marT="38100" marB="38100" anchor="ctr">
                    <a:solidFill>
                      <a:srgbClr val="FFFFFF"/>
                    </a:solidFill>
                  </a:tcPr>
                </a:tc>
                <a:tc>
                  <a:txBody>
                    <a:bodyPr/>
                    <a:lstStyle/>
                    <a:p>
                      <a:r>
                        <a:rPr sz="1400" b="0" i="0">
                          <a:solidFill>
                            <a:srgbClr val="1A1440"/>
                          </a:solidFill>
                          <a:latin typeface="Calibri"/>
                        </a:rPr>
                        <a:t>10,064</a:t>
                      </a:r>
                    </a:p>
                  </a:txBody>
                  <a:tcPr marL="101600" marR="101600" marT="38100" marB="38100" anchor="ctr">
                    <a:solidFill>
                      <a:srgbClr val="FFFFFF"/>
                    </a:solidFill>
                  </a:tcPr>
                </a:tc>
              </a:tr>
              <a:tr h="369824">
                <a:tc>
                  <a:txBody>
                    <a:bodyPr/>
                    <a:lstStyle/>
                    <a:p>
                      <a:r>
                        <a:rPr sz="1400" b="0" i="0">
                          <a:solidFill>
                            <a:srgbClr val="1A1440"/>
                          </a:solidFill>
                          <a:latin typeface="Calibri"/>
                        </a:rPr>
                        <a:t>eggs, toned milk</a:t>
                      </a:r>
                    </a:p>
                  </a:txBody>
                  <a:tcPr marL="101600" marR="101600" marT="38100" marB="38100" anchor="ctr">
                    <a:solidFill>
                      <a:srgbClr val="F4F2FA"/>
                    </a:solidFill>
                  </a:tcPr>
                </a:tc>
                <a:tc>
                  <a:txBody>
                    <a:bodyPr/>
                    <a:lstStyle/>
                    <a:p>
                      <a:r>
                        <a:rPr sz="1400" b="0" i="0">
                          <a:solidFill>
                            <a:srgbClr val="1A1440"/>
                          </a:solidFill>
                          <a:latin typeface="Calibri"/>
                        </a:rPr>
                        <a:t>8,468</a:t>
                      </a:r>
                    </a:p>
                  </a:txBody>
                  <a:tcPr marL="101600" marR="101600" marT="38100" marB="38100" anchor="ctr">
                    <a:solidFill>
                      <a:srgbClr val="F4F2FA"/>
                    </a:solidFill>
                  </a:tcPr>
                </a:tc>
              </a:tr>
              <a:tr h="369824">
                <a:tc>
                  <a:txBody>
                    <a:bodyPr/>
                    <a:lstStyle/>
                    <a:p>
                      <a:r>
                        <a:rPr sz="1400" b="0" i="0">
                          <a:solidFill>
                            <a:srgbClr val="1A1440"/>
                          </a:solidFill>
                          <a:latin typeface="Calibri"/>
                        </a:rPr>
                        <a:t>curd, toned milk</a:t>
                      </a:r>
                    </a:p>
                  </a:txBody>
                  <a:tcPr marL="101600" marR="101600" marT="38100" marB="38100" anchor="ctr">
                    <a:solidFill>
                      <a:srgbClr val="FFFFFF"/>
                    </a:solidFill>
                  </a:tcPr>
                </a:tc>
                <a:tc>
                  <a:txBody>
                    <a:bodyPr/>
                    <a:lstStyle/>
                    <a:p>
                      <a:r>
                        <a:rPr sz="1400" b="0" i="0">
                          <a:solidFill>
                            <a:srgbClr val="1A1440"/>
                          </a:solidFill>
                          <a:latin typeface="Calibri"/>
                        </a:rPr>
                        <a:t>7,436</a:t>
                      </a:r>
                    </a:p>
                  </a:txBody>
                  <a:tcPr marL="101600" marR="101600" marT="38100" marB="38100" anchor="ctr">
                    <a:solidFill>
                      <a:srgbClr val="FFFFFF"/>
                    </a:solidFill>
                  </a:tcPr>
                </a:tc>
              </a:tr>
              <a:tr h="369824">
                <a:tc>
                  <a:txBody>
                    <a:bodyPr/>
                    <a:lstStyle/>
                    <a:p>
                      <a:r>
                        <a:rPr sz="1400" b="0" i="0">
                          <a:solidFill>
                            <a:srgbClr val="1A1440"/>
                          </a:solidFill>
                          <a:latin typeface="Calibri"/>
                        </a:rPr>
                        <a:t>bananas, toned milk</a:t>
                      </a:r>
                    </a:p>
                  </a:txBody>
                  <a:tcPr marL="101600" marR="101600" marT="38100" marB="38100" anchor="ctr">
                    <a:solidFill>
                      <a:srgbClr val="F4F2FA"/>
                    </a:solidFill>
                  </a:tcPr>
                </a:tc>
                <a:tc>
                  <a:txBody>
                    <a:bodyPr/>
                    <a:lstStyle/>
                    <a:p>
                      <a:r>
                        <a:rPr sz="1400" b="0" i="0">
                          <a:solidFill>
                            <a:srgbClr val="1A1440"/>
                          </a:solidFill>
                          <a:latin typeface="Calibri"/>
                        </a:rPr>
                        <a:t>6,624</a:t>
                      </a:r>
                    </a:p>
                  </a:txBody>
                  <a:tcPr marL="101600" marR="101600" marT="38100" marB="38100" anchor="ctr">
                    <a:solidFill>
                      <a:srgbClr val="F4F2FA"/>
                    </a:solidFill>
                  </a:tcPr>
                </a:tc>
              </a:tr>
              <a:tr h="369824">
                <a:tc>
                  <a:txBody>
                    <a:bodyPr/>
                    <a:lstStyle/>
                    <a:p>
                      <a:r>
                        <a:rPr sz="1400" b="0" i="0">
                          <a:solidFill>
                            <a:srgbClr val="1A1440"/>
                          </a:solidFill>
                          <a:latin typeface="Calibri"/>
                        </a:rPr>
                        <a:t>onions, toned milk</a:t>
                      </a:r>
                    </a:p>
                  </a:txBody>
                  <a:tcPr marL="101600" marR="101600" marT="38100" marB="38100" anchor="ctr">
                    <a:solidFill>
                      <a:srgbClr val="FFFFFF"/>
                    </a:solidFill>
                  </a:tcPr>
                </a:tc>
                <a:tc>
                  <a:txBody>
                    <a:bodyPr/>
                    <a:lstStyle/>
                    <a:p>
                      <a:r>
                        <a:rPr sz="1400" b="0" i="0">
                          <a:solidFill>
                            <a:srgbClr val="1A1440"/>
                          </a:solidFill>
                          <a:latin typeface="Calibri"/>
                        </a:rPr>
                        <a:t>6,248</a:t>
                      </a:r>
                    </a:p>
                  </a:txBody>
                  <a:tcPr marL="101600" marR="101600" marT="38100" marB="38100" anchor="ctr">
                    <a:solidFill>
                      <a:srgbClr val="FFFFFF"/>
                    </a:solidFill>
                  </a:tcPr>
                </a:tc>
              </a:tr>
              <a:tr h="369824">
                <a:tc>
                  <a:txBody>
                    <a:bodyPr/>
                    <a:lstStyle/>
                    <a:p>
                      <a:r>
                        <a:rPr sz="1400" b="0" i="0">
                          <a:solidFill>
                            <a:srgbClr val="1A1440"/>
                          </a:solidFill>
                          <a:latin typeface="Calibri"/>
                        </a:rPr>
                        <a:t>tomatoes, toned milk</a:t>
                      </a:r>
                    </a:p>
                  </a:txBody>
                  <a:tcPr marL="101600" marR="101600" marT="38100" marB="38100" anchor="ctr">
                    <a:solidFill>
                      <a:srgbClr val="F4F2FA"/>
                    </a:solidFill>
                  </a:tcPr>
                </a:tc>
                <a:tc>
                  <a:txBody>
                    <a:bodyPr/>
                    <a:lstStyle/>
                    <a:p>
                      <a:r>
                        <a:rPr sz="1400" b="0" i="0">
                          <a:solidFill>
                            <a:srgbClr val="1A1440"/>
                          </a:solidFill>
                          <a:latin typeface="Calibri"/>
                        </a:rPr>
                        <a:t>5,680</a:t>
                      </a:r>
                    </a:p>
                  </a:txBody>
                  <a:tcPr marL="101600" marR="101600" marT="38100" marB="38100" anchor="ctr">
                    <a:solidFill>
                      <a:srgbClr val="F4F2FA"/>
                    </a:solidFill>
                  </a:tcPr>
                </a:tc>
              </a:tr>
            </a:tbl>
          </a:graphicData>
        </a:graphic>
      </p:graphicFrame>
      <p:sp>
        <p:nvSpPr>
          <p:cNvPr id="10" name="TextBox 9"/>
          <p:cNvSpPr txBox="1"/>
          <p:nvPr/>
        </p:nvSpPr>
        <p:spPr>
          <a:xfrm>
            <a:off x="530352" y="48016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one of the six most frequent pairs holds milk. The plausible wrong answer is "the pairs table is the ranking": ranked by count, milk is the top partner of almost every item, which is what the strip has shown since 7 September. Chapter 5 said it: the pairs table is a count, never a ranking.</a:t>
            </a:r>
          </a:p>
        </p:txBody>
      </p:sp>
      <p:sp>
        <p:nvSpPr>
          <p:cNvPr id="11" name="TextBox 10"/>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2" name="Oval 11"/>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4" name="Oval 13"/>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6" name="Oval 15"/>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8" name="Oval 17"/>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0" name="Oval 19"/>
          <p:cNvSpPr/>
          <p:nvPr/>
        </p:nvSpPr>
        <p:spPr>
          <a:xfrm>
            <a:off x="705888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16861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2" name="Oval 21"/>
          <p:cNvSpPr/>
          <p:nvPr/>
        </p:nvSpPr>
        <p:spPr>
          <a:xfrm>
            <a:off x="86845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9424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51 / 63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Basket analysis on 40,000 carts, with lift near one and the floor</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40,000 carts say?</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Chapter 5's five lines run on every cart, lift reads milk at chance as chapter 4 predicts, and the click-through's fall is split into its two parts.</a:t>
            </a:r>
          </a:p>
        </p:txBody>
      </p:sp>
      <p:sp>
        <p:nvSpPr>
          <p:cNvPr id="11" name="Rounded Rectangle 10"/>
          <p:cNvSpPr/>
          <p:nvPr/>
        </p:nvSpPr>
        <p:spPr>
          <a:xfrm>
            <a:off x="731519" y="5074920"/>
            <a:ext cx="10789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52 / 63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from counts to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Support, Confidence, Chance and lift (chapters 1 to 3); The confidence trap; lift near one (chapter 4); Basket analysis on the order items (chapter 5); The support floor and the watch list (chapter 6).</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lead, who explains the fall on Friday, against a category manager who defends milk because it is the top seller.</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How often is each item in a cart?</a:t>
            </a:r>
          </a:p>
        </p:txBody>
      </p:sp>
      <p:sp>
        <p:nvSpPr>
          <p:cNvPr id="20" name="TextBox 19"/>
          <p:cNvSpPr txBox="1"/>
          <p:nvPr/>
        </p:nvSpPr>
        <p:spPr>
          <a:xfrm>
            <a:off x="694944"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Each item's share of the 40,000 carts.</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Do 40,000 carts agree with twelve?</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Bread and milk's lift on every cart.</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lift say about milk?</a:t>
            </a:r>
          </a:p>
        </p:txBody>
      </p:sp>
      <p:sp>
        <p:nvSpPr>
          <p:cNvPr id="30" name="TextBox 29"/>
          <p:cNvSpPr txBox="1"/>
          <p:nvPr/>
        </p:nvSpPr>
        <p:spPr>
          <a:xfrm>
            <a:off x="6351879"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For every item in at least 2 percent of carts.</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Why did the click-through fall?</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Split by what each slot suggested.</a:t>
            </a:r>
          </a:p>
        </p:txBody>
      </p:sp>
      <p:sp>
        <p:nvSpPr>
          <p:cNvPr id="36" name="TextBox 35"/>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7" name="Oval 36"/>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1" name="Oval 40"/>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53 / 63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pair counted in five lines of pandas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code count 40,000 carts of pairs?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baskets = items.groupby("cart_id").item.apply(set)          # one set of items per cart</a:t>
            </a:r>
          </a:p>
          <a:p>
            <a:pPr>
              <a:spcAft>
                <a:spcPts val="200"/>
              </a:spcAft>
            </a:pPr>
            <a:r>
              <a:rPr sz="1400" b="0" i="0">
                <a:solidFill>
                  <a:srgbClr val="E4E1F1"/>
                </a:solidFill>
                <a:latin typeface="Consolas"/>
              </a:rPr>
              <a:t>pair_count = Counter(p for b in baskets                      # every two items in a cart</a:t>
            </a:r>
          </a:p>
          <a:p>
            <a:pPr>
              <a:spcAft>
                <a:spcPts val="200"/>
              </a:spcAft>
            </a:pPr>
            <a:r>
              <a:rPr sz="1400" b="0" i="0">
                <a:solidFill>
                  <a:srgbClr val="E4E1F1"/>
                </a:solidFill>
                <a:latin typeface="Consolas"/>
              </a:rPr>
              <a:t>                     for p in combinations(sorted(b), 2))    # sorted, so (a, b) is one key</a:t>
            </a:r>
          </a:p>
          <a:p>
            <a:pPr>
              <a:spcAft>
                <a:spcPts val="200"/>
              </a:spcAft>
            </a:pPr>
            <a:r>
              <a:rPr sz="1400" b="0" i="0">
                <a:solidFill>
                  <a:srgbClr val="E4E1F1"/>
                </a:solidFill>
                <a:latin typeface="Consolas"/>
              </a:rPr>
              <a:t>single = Counter(x for b in baskets for x in b)              # carts holding each item</a:t>
            </a:r>
          </a:p>
          <a:p>
            <a:pPr>
              <a:spcAft>
                <a:spcPts val="200"/>
              </a:spcAft>
            </a:pPr>
            <a:r>
              <a:rPr sz="1400" b="0" i="0">
                <a:solidFill>
                  <a:srgbClr val="E4E1F1"/>
                </a:solidFill>
                <a:latin typeface="Consolas"/>
              </a:rPr>
              <a:t>lift = pair_count[("bread", "toned milk")] * n / (single["bread"] * single["toned milk"])</a:t>
            </a:r>
          </a:p>
        </p:txBody>
      </p:sp>
      <p:sp>
        <p:nvSpPr>
          <p:cNvPr id="14" name="TextBox 13"/>
          <p:cNvSpPr txBox="1"/>
          <p:nvPr/>
        </p:nvSpPr>
        <p:spPr>
          <a:xfrm>
            <a:off x="530352" y="38409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These are chapter 5's lines on the canteen, unchanged: a cart becomes a set of items, and every pair inside it adds one to its tally. The last line is seen over chance rearranged: on the twelve carts, 4 / (12 x 4/12 x 8/12) is the same as 4 x 12 / (4 x 8), which is 1.50. Here n is 40,000.</a:t>
            </a:r>
          </a:p>
        </p:txBody>
      </p:sp>
      <p:sp>
        <p:nvSpPr>
          <p:cNvPr id="15" name="TextBox 14"/>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6" name="Oval 15"/>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0" name="Oval 19"/>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54 / 63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said lift 1.50; 40,000 carts say 1.04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lift say about bread and milk on all the carts?</a:t>
            </a:r>
          </a:p>
        </p:txBody>
      </p:sp>
      <p:pic>
        <p:nvPicPr>
          <p:cNvPr id="9" name="mermaid diagram" descr="C2_W04_D03_areas_STUDENT.png"/>
          <p:cNvPicPr>
            <a:picLocks noChangeAspect="1"/>
          </p:cNvPicPr>
          <p:nvPr/>
        </p:nvPicPr>
        <p:blipFill>
          <a:blip r:embed="rId4"/>
          <a:stretch>
            <a:fillRect/>
          </a:stretch>
        </p:blipFill>
        <p:spPr>
          <a:xfrm>
            <a:off x="2173256" y="1664208"/>
            <a:ext cx="7845182"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Bread's share times milk's share as the overlap chance would give, beside the overlap seen in 40,000 carts</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On twelve carts lift read 1.50 because all four bread carts happened to hold milk. On 40,000 carts bread to milk reads confidence 0.74: chance gives 0.34 x 0.71 x 40,000 = 9,656 carts holding both, 10,064 do, and 10,064 / 9,656 = 1.04. Chapter 6's lesson on the case: a few carts can make a pull look strong.</a:t>
            </a:r>
          </a:p>
        </p:txBody>
      </p:sp>
      <p:sp>
        <p:nvSpPr>
          <p:cNvPr id="12" name="TextBox 11"/>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3" name="Oval 12"/>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5" name="Oval 14"/>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7" name="Oval 16"/>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9" name="Oval 18"/>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1" name="Oval 20"/>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3" name="Oval 22"/>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55 / 63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is a popular item's lift with milk?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 the 50 items in at least 2 percent of carts, what does lift with milk look like?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rises with popularity</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more common the item, the higher its lift.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qual_08ba08324b53.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Near one for all of them</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item sits close to chance with milk.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down_69bb86911a1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falls with popularity</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Common items pair less with milk than rare ones.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uffle_1f5f2f56d507.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scatters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Each item goes its own way.</a:t>
            </a:r>
          </a:p>
        </p:txBody>
      </p:sp>
      <p:sp>
        <p:nvSpPr>
          <p:cNvPr id="33" name="TextBox 3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4" name="Oval 3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6" name="Oval 35"/>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8" name="Oval 37"/>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0" name="Oval 39"/>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2" name="Oval 41"/>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4" name="Oval 43"/>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56 / 63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near one for every common item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every item look bundled with milk, and what does lift say?</a:t>
            </a:r>
          </a:p>
        </p:txBody>
      </p:sp>
      <p:pic>
        <p:nvPicPr>
          <p:cNvPr id="9" name="mermaid diagram" descr="C2_W04_D03_milk_everywhere_STUDENT.png"/>
          <p:cNvPicPr>
            <a:picLocks noChangeAspect="1"/>
          </p:cNvPicPr>
          <p:nvPr/>
        </p:nvPicPr>
        <p:blipFill>
          <a:blip r:embed="rId4"/>
          <a:stretch>
            <a:fillRect/>
          </a:stretch>
        </p:blipFill>
        <p:spPr>
          <a:xfrm>
            <a:off x="1460388" y="1664208"/>
            <a:ext cx="9270917"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toward milk and lift with milk for the nine most common items</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For all 50 items in at least 2 percent of carts, confidence toward milk runs 0.70 to 0.74, near milk's own 0.71, and lift runs 0.99 to 1.04. This is chapter 4's chaas at the scale of a city: lift divides milk's popularity out, and no item's lift with milk can pass one over its share, 1 / 0.71 = 1.41, under the 1.5 bar.</a:t>
            </a:r>
          </a:p>
        </p:txBody>
      </p:sp>
      <p:sp>
        <p:nvSpPr>
          <p:cNvPr id="12" name="TextBox 11"/>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3" name="Oval 12"/>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5" name="Oval 14"/>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7" name="Oval 16"/>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9" name="Oval 18"/>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1" name="Oval 20"/>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3" name="Oval 22"/>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57 / 63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met the same popular-partner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has a real recommender met the item that sits beside everything?</a:t>
            </a:r>
          </a:p>
        </p:txBody>
      </p:sp>
      <p:sp>
        <p:nvSpPr>
          <p:cNvPr id="9" name="Rounded Rectangle 8"/>
          <p:cNvSpPr/>
          <p:nvPr/>
        </p:nvSpPr>
        <p:spPr>
          <a:xfrm>
            <a:off x="530352" y="1956816"/>
            <a:ext cx="11130991" cy="2141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8851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958340"/>
          </a:xfrm>
          <a:prstGeom prst="rect">
            <a:avLst/>
          </a:prstGeom>
          <a:noFill/>
        </p:spPr>
        <p:txBody>
          <a:bodyPr wrap="square" anchor="ctr" lIns="0" rIns="0" tIns="0" bIns="0">
            <a:spAutoFit/>
          </a:bodyPr>
          <a:lstStyle/>
          <a:p>
            <a:r>
              <a:rPr sz="1500" b="1">
                <a:solidFill>
                  <a:srgbClr val="5B3FD6"/>
                </a:solidFill>
                <a:latin typeface="Calibri"/>
              </a:rPr>
              <a:t>Amazon. </a:t>
            </a:r>
            <a:r>
              <a:rPr sz="1500" b="0" i="0">
                <a:solidFill>
                  <a:srgbClr val="1A1440"/>
                </a:solidFill>
                <a:latin typeface="Calibri"/>
              </a:rPr>
              <a:t>Amazon Science's history of the company's recommendation algorithm says that counting how often buyers of one item bought another would make a few bestsellers, such as Harry Potter books and trash bags, the top recommendations for every customer. The fix scored how much more likely buyers of one item were to buy another than the average customer, a difference in probabilities; lift makes the same comparison with chance as a ratio, which rare items inflate. Later the team found that buyers of one item are heavier buyers of everything, so it measured the increased likelihood of a purchase with any given purchase, discounting heavy buyers (Amazon Science, checked 13 October 2026).</a:t>
            </a:r>
          </a:p>
        </p:txBody>
      </p:sp>
      <p:sp>
        <p:nvSpPr>
          <p:cNvPr id="12" name="TextBox 11"/>
          <p:cNvSpPr txBox="1"/>
          <p:nvPr/>
        </p:nvSpPr>
        <p:spPr>
          <a:xfrm>
            <a:off x="530352" y="426262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cost of the trap is a recommendation slot spent on an item the shopper was buying anyway.</a:t>
            </a:r>
          </a:p>
        </p:txBody>
      </p:sp>
      <p:sp>
        <p:nvSpPr>
          <p:cNvPr id="13" name="TextBox 1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4" name="Oval 1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6" name="Oval 15"/>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8" name="Oval 17"/>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0" name="Oval 19"/>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2" name="Oval 21"/>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4" name="Oval 23"/>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58 / 63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pairs, three numbers each, one second route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support, confidence both ways and lift read for four pairs?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96663"/>
                <a:gridCol w="914400"/>
                <a:gridCol w="2802763"/>
                <a:gridCol w="2802763"/>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Support</a:t>
                      </a:r>
                    </a:p>
                  </a:txBody>
                  <a:tcPr marL="101600" marR="101600" marT="38100" marB="38100" anchor="ctr">
                    <a:solidFill>
                      <a:srgbClr val="1A0F5C"/>
                    </a:solidFill>
                  </a:tcPr>
                </a:tc>
                <a:tc>
                  <a:txBody>
                    <a:bodyPr/>
                    <a:lstStyle/>
                    <a:p>
                      <a:r>
                        <a:rPr sz="1250" b="1" i="0">
                          <a:solidFill>
                            <a:srgbClr val="FFFFFF"/>
                          </a:solidFill>
                          <a:latin typeface="Calibri"/>
                        </a:rPr>
                        <a:t>Confidence A to B</a:t>
                      </a:r>
                    </a:p>
                  </a:txBody>
                  <a:tcPr marL="101600" marR="101600" marT="38100" marB="38100" anchor="ctr">
                    <a:solidFill>
                      <a:srgbClr val="1A0F5C"/>
                    </a:solidFill>
                  </a:tcPr>
                </a:tc>
                <a:tc>
                  <a:txBody>
                    <a:bodyPr/>
                    <a:lstStyle/>
                    <a:p>
                      <a:r>
                        <a:rPr sz="1250" b="1" i="0">
                          <a:solidFill>
                            <a:srgbClr val="FFFFFF"/>
                          </a:solidFill>
                          <a:latin typeface="Calibri"/>
                        </a:rPr>
                        <a:t>Confidence B to A</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bread, toned milk</a:t>
                      </a:r>
                    </a:p>
                  </a:txBody>
                  <a:tcPr marL="101600" marR="101600" marT="38100" marB="38100" anchor="ctr">
                    <a:solidFill>
                      <a:srgbClr val="FFFFFF"/>
                    </a:solidFill>
                  </a:tcPr>
                </a:tc>
                <a:tc>
                  <a:txBody>
                    <a:bodyPr/>
                    <a:lstStyle/>
                    <a:p>
                      <a:r>
                        <a:rPr sz="1200" b="0" i="0">
                          <a:solidFill>
                            <a:srgbClr val="1A1440"/>
                          </a:solidFill>
                          <a:latin typeface="Calibri"/>
                        </a:rPr>
                        <a:t>25.2%</a:t>
                      </a:r>
                    </a:p>
                  </a:txBody>
                  <a:tcPr marL="101600" marR="101600" marT="38100" marB="38100" anchor="ctr">
                    <a:solidFill>
                      <a:srgbClr val="FFFFFF"/>
                    </a:solidFill>
                  </a:tcPr>
                </a:tc>
                <a:tc>
                  <a:txBody>
                    <a:bodyPr/>
                    <a:lstStyle/>
                    <a:p>
                      <a:r>
                        <a:rPr sz="1200" b="0" i="0">
                          <a:solidFill>
                            <a:srgbClr val="1A1440"/>
                          </a:solidFill>
                          <a:latin typeface="Calibri"/>
                        </a:rPr>
                        <a:t>0.74</a:t>
                      </a:r>
                    </a:p>
                  </a:txBody>
                  <a:tcPr marL="101600" marR="101600" marT="38100" marB="38100" anchor="ctr">
                    <a:solidFill>
                      <a:srgbClr val="FFFFFF"/>
                    </a:solidFill>
                  </a:tcPr>
                </a:tc>
                <a:tc>
                  <a:txBody>
                    <a:bodyPr/>
                    <a:lstStyle/>
                    <a:p>
                      <a:r>
                        <a:rPr sz="1200" b="0" i="0">
                          <a:solidFill>
                            <a:srgbClr val="1A1440"/>
                          </a:solidFill>
                          <a:latin typeface="Calibri"/>
                        </a:rPr>
                        <a:t>0.35</a:t>
                      </a:r>
                    </a:p>
                  </a:txBody>
                  <a:tcPr marL="101600" marR="101600" marT="38100" marB="38100" anchor="ctr">
                    <a:solidFill>
                      <a:srgbClr val="FFFFFF"/>
                    </a:solidFill>
                  </a:tcPr>
                </a:tc>
                <a:tc>
                  <a:txBody>
                    <a:bodyPr/>
                    <a:lstStyle/>
                    <a:p>
                      <a:r>
                        <a:rPr sz="1200" b="0" i="0">
                          <a:solidFill>
                            <a:srgbClr val="1A1440"/>
                          </a:solidFill>
                          <a:latin typeface="Calibri"/>
                        </a:rPr>
                        <a:t>1.04</a:t>
                      </a:r>
                    </a:p>
                  </a:txBody>
                  <a:tcPr marL="101600" marR="101600" marT="38100" marB="38100" anchor="ctr">
                    <a:solidFill>
                      <a:srgbClr val="FFFFFF"/>
                    </a:solidFill>
                  </a:tcPr>
                </a:tc>
              </a:tr>
              <a:tr h="335280">
                <a:tc>
                  <a:txBody>
                    <a:bodyPr/>
                    <a:lstStyle/>
                    <a:p>
                      <a:r>
                        <a:rPr sz="1200" b="0" i="0">
                          <a:solidFill>
                            <a:srgbClr val="1A1440"/>
                          </a:solidFill>
                          <a:latin typeface="Calibri"/>
                        </a:rPr>
                        <a:t>eggs, toned milk</a:t>
                      </a:r>
                    </a:p>
                  </a:txBody>
                  <a:tcPr marL="101600" marR="101600" marT="38100" marB="38100" anchor="ctr">
                    <a:solidFill>
                      <a:srgbClr val="F4F2FA"/>
                    </a:solidFill>
                  </a:tcPr>
                </a:tc>
                <a:tc>
                  <a:txBody>
                    <a:bodyPr/>
                    <a:lstStyle/>
                    <a:p>
                      <a:r>
                        <a:rPr sz="1200" b="0" i="0">
                          <a:solidFill>
                            <a:srgbClr val="1A1440"/>
                          </a:solidFill>
                          <a:latin typeface="Calibri"/>
                        </a:rPr>
                        <a:t>21.2%</a:t>
                      </a:r>
                    </a:p>
                  </a:txBody>
                  <a:tcPr marL="101600" marR="101600" marT="38100" marB="38100" anchor="ctr">
                    <a:solidFill>
                      <a:srgbClr val="F4F2FA"/>
                    </a:solidFill>
                  </a:tcPr>
                </a:tc>
                <a:tc>
                  <a:txBody>
                    <a:bodyPr/>
                    <a:lstStyle/>
                    <a:p>
                      <a:r>
                        <a:rPr sz="1200" b="0" i="0">
                          <a:solidFill>
                            <a:srgbClr val="1A1440"/>
                          </a:solidFill>
                          <a:latin typeface="Calibri"/>
                        </a:rPr>
                        <a:t>0.73</a:t>
                      </a:r>
                    </a:p>
                  </a:txBody>
                  <a:tcPr marL="101600" marR="101600" marT="38100" marB="38100" anchor="ctr">
                    <a:solidFill>
                      <a:srgbClr val="F4F2FA"/>
                    </a:solidFill>
                  </a:tcPr>
                </a:tc>
                <a:tc>
                  <a:txBody>
                    <a:bodyPr/>
                    <a:lstStyle/>
                    <a:p>
                      <a:r>
                        <a:rPr sz="1200" b="0" i="0">
                          <a:solidFill>
                            <a:srgbClr val="1A1440"/>
                          </a:solidFill>
                          <a:latin typeface="Calibri"/>
                        </a:rPr>
                        <a:t>0.30</a:t>
                      </a:r>
                    </a:p>
                  </a:txBody>
                  <a:tcPr marL="101600" marR="101600" marT="38100" marB="38100" anchor="ctr">
                    <a:solidFill>
                      <a:srgbClr val="F4F2FA"/>
                    </a:solidFill>
                  </a:tcPr>
                </a:tc>
                <a:tc>
                  <a:txBody>
                    <a:bodyPr/>
                    <a:lstStyle/>
                    <a:p>
                      <a:r>
                        <a:rPr sz="1200" b="0" i="0">
                          <a:solidFill>
                            <a:srgbClr val="1A1440"/>
                          </a:solidFill>
                          <a:latin typeface="Calibri"/>
                        </a:rPr>
                        <a:t>1.03</a:t>
                      </a:r>
                    </a:p>
                  </a:txBody>
                  <a:tcPr marL="101600" marR="101600" marT="38100" marB="38100" anchor="ctr">
                    <a:solidFill>
                      <a:srgbClr val="F4F2FA"/>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0.42</a:t>
                      </a:r>
                    </a:p>
                  </a:txBody>
                  <a:tcPr marL="101600" marR="101600" marT="38100" marB="38100" anchor="ctr">
                    <a:solidFill>
                      <a:srgbClr val="FFFFFF"/>
                    </a:solidFill>
                  </a:tcPr>
                </a:tc>
                <a:tc>
                  <a:txBody>
                    <a:bodyPr/>
                    <a:lstStyle/>
                    <a:p>
                      <a:r>
                        <a:rPr sz="1200" b="0" i="0">
                          <a:solidFill>
                            <a:srgbClr val="1A1440"/>
                          </a:solidFill>
                          <a:latin typeface="Calibri"/>
                        </a:rPr>
                        <a:t>0.41</a:t>
                      </a:r>
                    </a:p>
                  </a:txBody>
                  <a:tcPr marL="101600" marR="101600" marT="38100" marB="38100" anchor="ctr">
                    <a:solidFill>
                      <a:srgbClr val="FFFFFF"/>
                    </a:solidFill>
                  </a:tcPr>
                </a:tc>
                <a:tc>
                  <a:txBody>
                    <a:bodyPr/>
                    <a:lstStyle/>
                    <a:p>
                      <a:r>
                        <a:rPr sz="1200" b="0" i="0">
                          <a:solidFill>
                            <a:srgbClr val="1A1440"/>
                          </a:solidFill>
                          <a:latin typeface="Calibri"/>
                        </a:rPr>
                        <a:t>3.39</a:t>
                      </a:r>
                    </a:p>
                  </a:txBody>
                  <a:tcPr marL="101600" marR="101600" marT="38100" marB="38100" anchor="ctr">
                    <a:solidFill>
                      <a:srgbClr val="FFFFFF"/>
                    </a:solidFill>
                  </a:tcPr>
                </a:tc>
              </a:tr>
              <a:tr h="335280">
                <a:tc>
                  <a:txBody>
                    <a:bodyPr/>
                    <a:lstStyle/>
                    <a:p>
                      <a:r>
                        <a:rPr sz="1200" b="0" i="0">
                          <a:solidFill>
                            <a:srgbClr val="1A1440"/>
                          </a:solidFill>
                          <a:latin typeface="Calibri"/>
                        </a:rPr>
                        <a:t>chocolate sauce, ice cream</a:t>
                      </a:r>
                    </a:p>
                  </a:txBody>
                  <a:tcPr marL="101600" marR="101600" marT="38100" marB="38100" anchor="ctr">
                    <a:solidFill>
                      <a:srgbClr val="F4F2FA"/>
                    </a:solidFill>
                  </a:tcPr>
                </a:tc>
                <a:tc>
                  <a:txBody>
                    <a:bodyPr/>
                    <a:lstStyle/>
                    <a:p>
                      <a:r>
                        <a:rPr sz="1200" b="0" i="0">
                          <a:solidFill>
                            <a:srgbClr val="1A1440"/>
                          </a:solidFill>
                          <a:latin typeface="Calibri"/>
                        </a:rPr>
                        <a:t>0.25%</a:t>
                      </a:r>
                    </a:p>
                  </a:txBody>
                  <a:tcPr marL="101600" marR="101600" marT="38100" marB="38100" anchor="ctr">
                    <a:solidFill>
                      <a:srgbClr val="F4F2FA"/>
                    </a:solidFill>
                  </a:tcPr>
                </a:tc>
                <a:tc>
                  <a:txBody>
                    <a:bodyPr/>
                    <a:lstStyle/>
                    <a:p>
                      <a:r>
                        <a:rPr sz="1200" b="0" i="0">
                          <a:solidFill>
                            <a:srgbClr val="1A1440"/>
                          </a:solidFill>
                          <a:latin typeface="Calibri"/>
                        </a:rPr>
                        <a:t>0.18</a:t>
                      </a:r>
                    </a:p>
                  </a:txBody>
                  <a:tcPr marL="101600" marR="101600" marT="38100" marB="38100" anchor="ctr">
                    <a:solidFill>
                      <a:srgbClr val="F4F2FA"/>
                    </a:solidFill>
                  </a:tcPr>
                </a:tc>
                <a:tc>
                  <a:txBody>
                    <a:bodyPr/>
                    <a:lstStyle/>
                    <a:p>
                      <a:r>
                        <a:rPr sz="1200" b="0" i="0">
                          <a:solidFill>
                            <a:srgbClr val="1A1440"/>
                          </a:solidFill>
                          <a:latin typeface="Calibri"/>
                        </a:rPr>
                        <a:t>0.06</a:t>
                      </a:r>
                    </a:p>
                  </a:txBody>
                  <a:tcPr marL="101600" marR="101600" marT="38100" marB="38100" anchor="ctr">
                    <a:solidFill>
                      <a:srgbClr val="F4F2FA"/>
                    </a:solidFill>
                  </a:tcPr>
                </a:tc>
                <a:tc>
                  <a:txBody>
                    <a:bodyPr/>
                    <a:lstStyle/>
                    <a:p>
                      <a:r>
                        <a:rPr sz="1200" b="0" i="0">
                          <a:solidFill>
                            <a:srgbClr val="1A1440"/>
                          </a:solidFill>
                          <a:latin typeface="Calibri"/>
                        </a:rPr>
                        <a:t>4.60</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Support is a share of all carts, written as a percent; confidence is a share of A's carts, written as a decimal. Chapter 3's second route: lift is also confidence over the partner's share. Bread to milk 0.74 / 0.71 = 1.04, and milk to bread 0.354 / 0.34 = 1.04.</a:t>
            </a:r>
          </a:p>
        </p:txBody>
      </p:sp>
      <p:sp>
        <p:nvSpPr>
          <p:cNvPr id="11" name="TextBox 10"/>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2" name="Oval 11"/>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4" name="Oval 13"/>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6" name="Oval 15"/>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8" name="Oval 17"/>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0" name="Oval 19"/>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2" name="Oval 21"/>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59 / 63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did the strip's click-through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fell from 6.1 to 3.8 percent after 7 September. Which explanation will the log support?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s_11340fce0ad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Shoppers changed habits</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After the monsoon, carts shifted away from the old pairs.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off_659cbed618bb.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cart-page views</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Fewer people opened the cart page in September.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lk_1de4a85ac355.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Milk fills the slots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Milk now takes the slots and few shoppers click it.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anel-top_a0e90cde8e6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strip moved down</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strip sits lower on the page than before.</a:t>
            </a:r>
          </a:p>
        </p:txBody>
      </p:sp>
      <p:sp>
        <p:nvSpPr>
          <p:cNvPr id="33" name="TextBox 3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4" name="Oval 3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6" name="Oval 35"/>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8" name="Oval 37"/>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0" name="Oval 39"/>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2" name="Oval 41"/>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4" name="Oval 43"/>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60 / 63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milk took half the slots at 1.2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in the log does the fall sit?</a:t>
            </a:r>
          </a:p>
        </p:txBody>
      </p:sp>
      <p:pic>
        <p:nvPicPr>
          <p:cNvPr id="9" name="mermaid diagram" descr="C2_W04_D03_strip_daily_STUDENT.png"/>
          <p:cNvPicPr>
            <a:picLocks noChangeAspect="1"/>
          </p:cNvPicPr>
          <p:nvPr/>
        </p:nvPicPr>
        <p:blipFill>
          <a:blip r:embed="rId4"/>
          <a:stretch>
            <a:fillRect/>
          </a:stretch>
        </p:blipFill>
        <p:spPr>
          <a:xfrm>
            <a:off x="1605114" y="1664208"/>
            <a:ext cx="898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Daily strip click-through from 17 August to 27 September, and milk's share of slot impressions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Milk took half the slot impressions at 1.2 percent; everything else clicked at 6.4, up from 6.2 before the change, when milk held 2 percent of them. Half of 1.2 plus half of 6.4 is 3.8. The plausible wrong answer, "shoppers changed after the monsoon", fails the split by suggested item.</a:t>
            </a:r>
          </a:p>
        </p:txBody>
      </p:sp>
      <p:sp>
        <p:nvSpPr>
          <p:cNvPr id="12" name="TextBox 11"/>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3" name="Oval 12"/>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5" name="Oval 14"/>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7" name="Oval 16"/>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9" name="Oval 18"/>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1" name="Oval 20"/>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3" name="Oval 22"/>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61 / 63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Slot 1 draws the most clicks, and milk took 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position of a slot change its click-through?</a:t>
            </a:r>
          </a:p>
        </p:txBody>
      </p:sp>
      <p:pic>
        <p:nvPicPr>
          <p:cNvPr id="10" name="mermaid diagram" descr="C2_W04_D03_ctr_by_slot_STUDENT.png"/>
          <p:cNvPicPr>
            <a:picLocks noChangeAspect="1"/>
          </p:cNvPicPr>
          <p:nvPr/>
        </p:nvPicPr>
        <p:blipFill>
          <a:blip r:embed="rId4"/>
          <a:stretch>
            <a:fillRect/>
          </a:stretch>
        </p:blipFill>
        <p:spPr>
          <a:xfrm>
            <a:off x="1391568" y="1664208"/>
            <a:ext cx="9408557" cy="3215640"/>
          </a:xfrm>
          <a:prstGeom prst="rect">
            <a:avLst/>
          </a:prstGeom>
        </p:spPr>
      </p:pic>
      <p:sp>
        <p:nvSpPr>
          <p:cNvPr id="11"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Click-through by slot position: before the change, milk after, everything else after</a:t>
            </a:r>
          </a:p>
        </p:txBody>
      </p:sp>
      <p:sp>
        <p:nvSpPr>
          <p:cNvPr id="12" name="TextBox 11"/>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After the change, slot 1 draws 8.2 percent for a suggestion other than milk and slot 3 draws 5.4. Milk clicks at 1.4, 1.1 and 0.9 percent and holds 70 percent of slot 1. The best slot went to the item nobody needed reminding of.</a:t>
            </a:r>
          </a:p>
        </p:txBody>
      </p:sp>
      <p:sp>
        <p:nvSpPr>
          <p:cNvPr id="13" name="TextBox 1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4" name="Oval 1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6" name="Oval 15"/>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8" name="Oval 17"/>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0" name="Oval 19"/>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2" name="Oval 21"/>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4" name="Oval 23"/>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D54  ·  62 / 63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case answered the topics, on 40,000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topic say about Instamart's carts?</a:t>
            </a:r>
          </a:p>
        </p:txBody>
      </p:sp>
      <p:pic>
        <p:nvPicPr>
          <p:cNvPr id="9" name="mermaid diagram" descr="93169e6bff143ba0.png"/>
          <p:cNvPicPr>
            <a:picLocks noChangeAspect="1"/>
          </p:cNvPicPr>
          <p:nvPr/>
        </p:nvPicPr>
        <p:blipFill>
          <a:blip r:embed="rId5"/>
          <a:stretch>
            <a:fillRect/>
          </a:stretch>
        </p:blipFill>
        <p:spPr>
          <a:xfrm>
            <a:off x="1349026" y="1682496"/>
            <a:ext cx="9493641" cy="4517136"/>
          </a:xfrm>
          <a:prstGeom prst="rect">
            <a:avLst/>
          </a:prstGeom>
        </p:spPr>
      </p:pic>
      <p:sp>
        <p:nvSpPr>
          <p:cNvPr id="10" name="TextBox 9"/>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1" name="Oval 10"/>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9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3" name="Oval 12"/>
          <p:cNvSpPr/>
          <p:nvPr/>
        </p:nvSpPr>
        <p:spPr>
          <a:xfrm>
            <a:off x="232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2973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5" name="Oval 14"/>
          <p:cNvSpPr/>
          <p:nvPr/>
        </p:nvSpPr>
        <p:spPr>
          <a:xfrm>
            <a:off x="38996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0935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17" name="Oval 16"/>
          <p:cNvSpPr/>
          <p:nvPr/>
        </p:nvSpPr>
        <p:spPr>
          <a:xfrm>
            <a:off x="547925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8898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19" name="Oval 18"/>
          <p:cNvSpPr/>
          <p:nvPr/>
        </p:nvSpPr>
        <p:spPr>
          <a:xfrm>
            <a:off x="705888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16861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1" name="Oval 20"/>
          <p:cNvSpPr/>
          <p:nvPr/>
        </p:nvSpPr>
        <p:spPr>
          <a:xfrm>
            <a:off x="86845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79424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63 / 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