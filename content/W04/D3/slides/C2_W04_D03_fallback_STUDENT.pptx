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screen when the IITGN faculty session (tentative) cannot run in its slot. These 120 minutes</a:t>
            </a:r>
          </a:p>
          <a:p>
            <a:r>
              <a:t>extend the morning: a trial for a thin pair, a rerun for one zone and one time band, a storm that</a:t>
            </a:r>
          </a:p>
          <a:p>
            <a:r>
              <a:t>is no pair rule, and the second transcript. Nothing here treats association rules as probability</a:t>
            </a:r>
          </a:p>
          <a:p>
            <a:r>
              <a:t>or the algorithms that find them; that stays with the faculty session (tentative) whenever it runs.</a:t>
            </a:r>
          </a:p>
          <a:p>
            <a:r>
              <a:t>Transition: the four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How long a trial must run before its answer can be trusted is a sample-size</a:t>
            </a:r>
          </a:p>
          <a:p>
            <a:r>
              <a:t>question, parked by name for the faculty session (tentative). Transition: the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35 minutes for the section. Groups design the trial; the TA plays the growth lead.</a:t>
            </a:r>
          </a:p>
          <a:p>
            <a:r>
              <a:t>Transition: the four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12 minutes. Each group fills the four cards for its own trial. Press on "fixed before it</a:t>
            </a:r>
          </a:p>
          <a:p>
            <a:r>
              <a:t>starts": a trial watched daily and stopped when it looks good finds a winner by luck. The rule for</a:t>
            </a:r>
          </a:p>
          <a:p>
            <a:r>
              <a:t>how long is the parked sample-size question. Transition: the first data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This is a real analyst's moment: the method is ready and the data are not. Ask</a:t>
            </a:r>
          </a:p>
          <a:p>
            <a:r>
              <a:t>the room to write the request in one sentence: which table, which new column, which dates.</a:t>
            </a:r>
          </a:p>
          <a:p>
            <a:r>
              <a:t>Transition: the pass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minutes. Groups present their pass rule in two sentences. The weak rule names only the</a:t>
            </a:r>
          </a:p>
          <a:p>
            <a:r>
              <a:t>click-through; the strong rule names the rupees too. Transition: one zone, one time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40 minutes for the section, the row's after-class task done in class on notebook 03.</a:t>
            </a:r>
          </a:p>
          <a:p>
            <a:r>
              <a:t>Transition: the code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Code along. Morning carts hold milk 80 percent of the time against 66 to 69 in the</a:t>
            </a:r>
          </a:p>
          <a:p>
            <a:r>
              <a:t>other bands, so milk's pairs read slightly differently in the morning. Transition: the slices.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25 minutes of group work. Groups 5 and 6 find the stock-out in their own slice: curd's pairs</a:t>
            </a:r>
          </a:p>
          <a:p>
            <a:r>
              <a:t>vanish in week three and return in week four. The common stall is a pair below the slice's floor</a:t>
            </a:r>
          </a:p>
          <a:p>
            <a:r>
              <a:t>that looks exciting; the hint is "how many carts is that lift resting on?". Transition: what the</a:t>
            </a:r>
          </a:p>
          <a:p>
            <a:r>
              <a:t>slices say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7 minutes. Each group reads one line of its report against this list. Transition: a storm.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section. Transition: Walmart's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10 minutes. Read the account. Ask: "is strawberry Pop-Tarts with a storm a pair, like chips</a:t>
            </a:r>
          </a:p>
          <a:p>
            <a:r>
              <a:t>with cold drink?" 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10 minutes. Friday's ticket at Flipkart's Lucknow fulfilment centre takes this up with</a:t>
            </a:r>
          </a:p>
          <a:p>
            <a:r>
              <a:t>Diwali as the event. Transition: the second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25 minutes for the section: the dispute transcript read in pairs, then scored.</a:t>
            </a:r>
          </a:p>
          <a:p>
            <a:r>
              <a:t>Transition: the three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Pairs list what is partly right and what is unproven before the next slide.</a:t>
            </a:r>
          </a:p>
          <a:p>
            <a:r>
              <a:t>Transition: the four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10 minutes. Score each pair's answer on the four moves, 0 to 2 each. Transition: the one</a:t>
            </a:r>
          </a:p>
          <a:p>
            <a:r>
              <a:t>chart to hand the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7 minutes. The sentence to carry: "a redesign is worth testing; the ranking is what fell".</a:t>
            </a:r>
          </a:p>
          <a:p>
            <a:r>
              <a:t>Transition: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The faculty session (tentative) runs when IITGN next confirms a slot. Tomorrow's</a:t>
            </a:r>
          </a:p>
          <a:p>
            <a:r>
              <a:t>pre-read ships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66928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1952" y="804672"/>
            <a:ext cx="6858000" cy="300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133856"/>
            <a:ext cx="777240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D9A7FF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938528"/>
            <a:ext cx="10948111" cy="10972"/>
          </a:xfrm>
          <a:prstGeom prst="rect">
            <a:avLst/>
          </a:prstGeom>
          <a:solidFill>
            <a:srgbClr val="A9A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6124155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00" b="1" spc="250">
                <a:solidFill>
                  <a:srgbClr val="FFFFFF"/>
                </a:solidFill>
                <a:latin typeface="Calibri"/>
              </a:rPr>
              <a:t>WEEK 4  ·  WEDNESDAY  ·  FALLBACK, FACULTY SESSION TENTATIVE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07208"/>
            <a:ext cx="10582351" cy="1291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Instamart Pune: the watch list, one zone, and a storm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263136"/>
            <a:ext cx="10033711" cy="66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D9A7FF"/>
                </a:solidFill>
                <a:latin typeface="Georgia"/>
              </a:rPr>
              <a:t>“Before ice cream and chocolate sauce take a slot, what must a trial show, and what changes when the strip is ranked for one zone at one time of day?”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981956"/>
            <a:ext cx="10033711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The growth lead's next questions on the Instamart Pune strip. Illustrative case: the company is real, the situation and the data are synthetic, built for this class.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70179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5738368"/>
            <a:ext cx="1993392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570179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738368"/>
            <a:ext cx="1993392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570179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738368"/>
            <a:ext cx="1993392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570179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738368"/>
            <a:ext cx="1993392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4, Day 3. Instamart Pune: the watch list, one zone, and a storm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parts fill the 120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runs, for how long, and what does each part answer?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2332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67677"/>
                <a:gridCol w="1137049"/>
                <a:gridCol w="672626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question it answers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watch-list trial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must ice cream and chocolate sauce show before they take a slot?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zone, one time band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pairs change rank when the strip is ranked for one slice of Pune?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storm and the Pop-Tarts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Why is a sale that jumps before a storm no pair rule?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second transcript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do you answer a category manager who is sure the strip needs a redesign?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2" name="Oval 11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4" name="Oval 13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6" name="Oval 15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When may a thin pair take a slot?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What must ice cream and chocolate sauce, lift 4.60 on 100 carts, show before they take a slot?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 Day 3: what goes with what, beyond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trial in two zones answers four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Where, for how long, against what, and what stops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2645587" cy="2344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map-pin_d669bc82d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Two zones alike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2243251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Two zones with similar carts and similar ice cream sales, one shown the pair and one left as it 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8819" y="1956816"/>
            <a:ext cx="2645587" cy="2344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59987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calendar_52de2a0009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715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59987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HOW 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987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Fixed before it starts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9987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length is chosen before the first day and never stretched to chase a result.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1956816"/>
            <a:ext cx="2645587" cy="2344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8455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target_975d45d39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183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88455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AGAINST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455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slot's own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455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pair must beat the click-through that slot drew in the same zones before the trial.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755" y="1956816"/>
            <a:ext cx="2645587" cy="23444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16923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octagon-x_d3aae6c5cd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651" y="22677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16923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WHAT STOPS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6923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 shock in either zone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6923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A stock-out or a campaign in either zone voids the window and the trial restarts.</a:t>
            </a:r>
          </a:p>
        </p:txBody>
      </p:sp>
      <p:sp>
        <p:nvSpPr>
          <p:cNvPr id="33" name="Oval 3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35" name="Oval 34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37" name="Oval 36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39" name="Oval 38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trial's first need is a log split by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Can today's strip_log measure a two-zone trial?</a:t>
            </a:r>
          </a:p>
        </p:txBody>
      </p:sp>
      <p:pic>
        <p:nvPicPr>
          <p:cNvPr id="9" name="mermaid diagram" descr="6f2fefc937eff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97" y="1797050"/>
            <a:ext cx="788670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strip_log counts impressions, clicks and adds for the whole city; it has no zone column. A two-zone trial starts with a data request: the same log, split by zone, for the weeks before and during the trial.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3" name="Oval 12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5" name="Oval 14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7" name="Oval 16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Pass only if the clicks and the rupees both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rule promotes the pair, and what keeps it on the watch list?</a:t>
            </a:r>
          </a:p>
        </p:txBody>
      </p:sp>
      <p:pic>
        <p:nvPicPr>
          <p:cNvPr id="9" name="mermaid diagram" descr="0b06b4099da534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97" y="1787461"/>
            <a:ext cx="7886700" cy="3286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242560"/>
            <a:ext cx="11130991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The pair is promoted when its slot beats the slot's own record by a margin set before the trial and its adds repay the slot in margin, after any bundle discount. If either fails, it stays on the watch list, which is what a watch list is for.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3" name="Oval 12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5" name="Oval 14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7" name="Oval 16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changes in one zone at one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pairs change rank when the strip is ranked for one zone and one time band?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 Day 3: what goes with what, beyond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rerun is the same pairs table on fewer carts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changes in the code, and what changes in the reading?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slice_ids = carts.loc[(carts.zone == "Kothrud") &amp; (carts.time_band == "morning"), "cart_id"]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part = baskets[slice_ids]                                  # the same sets, fewer carts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pair_count = Counter(p for b in part for p in combinations(sorted(b), 2))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floor = 0.01 * len(part)                                   # the floor is a share of the 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88512"/>
            <a:ext cx="11130991" cy="1048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code changes in one line: which carts enter. The reading changes more: a slice holds fewer carts, so every pair rests on fewer of them, and a floor written as a share of the slice admits pairs on thinner ground.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7" name="Oval 16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9" name="Oval 18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21" name="Oval 20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Nine groups, nine slices, one report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slice does each group take, and what does it report?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090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267247"/>
                <a:gridCol w="594934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Groups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the group reports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 and 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Kothrud, morning; Kothrud, evening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top five pairs above the slice's floor, with support and lift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 and 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Baner, morning; Hinjewadi, night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same, and one pair that moved against the city ranking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 and 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Hadapsar, week three; Hadapsar, week four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happened to curd's pairs in the stock-out week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 to 9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zone and band of the group's choice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top five, and whether the city's three slots still lead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2" name="Oval 11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4" name="Oval 13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6" name="Oval 15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the slices agree on, and what they do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findings survive slicing, and which belong to one slice?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53145" y="2523744"/>
            <a:ext cx="8485403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SURVIVES</a:t>
            </a:r>
          </a:p>
        </p:txBody>
      </p:sp>
      <p:sp>
        <p:nvSpPr>
          <p:cNvPr id="11" name="Oval 10"/>
          <p:cNvSpPr/>
          <p:nvPr/>
        </p:nvSpPr>
        <p:spPr>
          <a:xfrm>
            <a:off x="1752561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Milk's lift near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In every band, bread with milk reads about 1.04.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8819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SURVIVES</a:t>
            </a:r>
          </a:p>
        </p:txBody>
      </p:sp>
      <p:sp>
        <p:nvSpPr>
          <p:cNvPr id="16" name="Oval 15"/>
          <p:cNvSpPr/>
          <p:nvPr/>
        </p:nvSpPr>
        <p:spPr>
          <a:xfrm>
            <a:off x="4581029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8819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3411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The top two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3411" y="327787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Chips with cold drink and coriander with green chillies lead every one of the six slices.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ONE SLICE ONLY</a:t>
            </a:r>
          </a:p>
        </p:txBody>
      </p:sp>
      <p:sp>
        <p:nvSpPr>
          <p:cNvPr id="21" name="Oval 20"/>
          <p:cNvSpPr/>
          <p:nvPr/>
        </p:nvSpPr>
        <p:spPr>
          <a:xfrm>
            <a:off x="7409497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7287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2990088"/>
            <a:ext cx="2316403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Curd in Hadapsar, week three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349250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Curd falls to 0.2 percent of carts, then 28 percent in week four: a stock-out, never a change in taste.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755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THIN GROUND</a:t>
            </a:r>
          </a:p>
        </p:txBody>
      </p:sp>
      <p:sp>
        <p:nvSpPr>
          <p:cNvPr id="26" name="Oval 25"/>
          <p:cNvSpPr/>
          <p:nvPr/>
        </p:nvSpPr>
        <p:spPr>
          <a:xfrm>
            <a:off x="10237965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5755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0347" y="2990088"/>
            <a:ext cx="2316403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Hinjewadi at night, 649 carts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347" y="349250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Three pairs resting on 7 to 10 carts each slip in above bread with butter.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32" name="Oval 31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34" name="Oval 33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36" name="Oval 35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Why is a storm's sale no pair rule?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Why is a sale that jumps before a storm a forecasting question rather than a pair rule?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 Day 3: what goes with what, beyond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Walmart stocked Pop-Tarts before Hurricane Frances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Walmart see, and what did it do with it?</a:t>
            </a:r>
          </a:p>
        </p:txBody>
      </p:sp>
      <p:pic>
        <p:nvPicPr>
          <p:cNvPr id="9" name="mermaid diagram" descr="4a719b52eb0b4c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" y="1956816"/>
            <a:ext cx="10629900" cy="21002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4203382"/>
            <a:ext cx="11130991" cy="132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Walmart's analysts had seen strawberry Pop-Tart sales rise about seven times before Hurricane Charley, so when Hurricane Frances was forecast the chain shipped extra Pop-Tarts to the stores in its path (OpenStax and Newsweek, checked 12 October 2026). The decision moved stock ahead of the storm; a wrong forecast would have left it on the wrong shelves.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3" name="Oval 12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5" name="Oval 14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7" name="Oval 16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pair holds weekly; a storm's sale needs a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Where does each kind of pattern belong this week?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53145" y="2523744"/>
            <a:ext cx="8485403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A PAIR RULE,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1752561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Chips with cold drink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Found together in about 5 percent of carts, week after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8819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AN EVENT, FRIDAY</a:t>
            </a:r>
          </a:p>
        </p:txBody>
      </p:sp>
      <p:sp>
        <p:nvSpPr>
          <p:cNvPr id="16" name="Oval 15"/>
          <p:cNvSpPr/>
          <p:nvPr/>
        </p:nvSpPr>
        <p:spPr>
          <a:xfrm>
            <a:off x="4581029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8819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3411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Pop-Tarts before a storm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3411" y="327787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Sales jump around a known future event, which a forecast with the event in it captures.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FRIDAY'S METHOD</a:t>
            </a:r>
          </a:p>
        </p:txBody>
      </p:sp>
      <p:sp>
        <p:nvSpPr>
          <p:cNvPr id="21" name="Oval 20"/>
          <p:cNvSpPr/>
          <p:nvPr/>
        </p:nvSpPr>
        <p:spPr>
          <a:xfrm>
            <a:off x="7409497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7287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Line up the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327787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Compare each week with the same distance from the event, never the same calendar week.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755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WHAT STAYS</a:t>
            </a:r>
          </a:p>
        </p:txBody>
      </p:sp>
      <p:sp>
        <p:nvSpPr>
          <p:cNvPr id="26" name="Oval 25"/>
          <p:cNvSpPr/>
          <p:nvPr/>
        </p:nvSpPr>
        <p:spPr>
          <a:xfrm>
            <a:off x="10237965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5755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0347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Two events are two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347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A pattern seen twice is thin ground, as a pair on 100 carts is.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32" name="Oval 31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34" name="Oval 33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36" name="Oval 35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The category manager wants a redesign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How do you answer a category manager who is sure the strip needs a new layout?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507492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7224" y="5074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4 Day 3: what goes with what, beyond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sentences that sound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category manager say, and which parts hold?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45720" cy="1036319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56816"/>
            <a:ext cx="10820095" cy="1036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1A0F5C"/>
                </a:solidFill>
                <a:latin typeface="Georgia"/>
              </a:rPr>
              <a:t>The click-through fell because shoppers buy differently after the monsoon. The strip needs a redesign; our team has mocked up a two-row layout that sits higher on the page. We can run it next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139440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first sentence names a cause the log can test. The second proposes a fix for a problem nobody has shown. The third is a test, which is the part worth keeping.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4" name="Oval 13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6" name="Oval 15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8" name="Oval 17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four moves, answered from the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does the growth lead answer without dismissing the manager?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2645587" cy="238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ear_2c90737cfd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RESTATE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Habits may have shifted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monsoon ended inside the window, so a change in habits is possible.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8819" y="1956816"/>
            <a:ext cx="2645587" cy="238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59987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chart-column_a266b7a044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715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59987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987" y="2962656"/>
            <a:ext cx="2243251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fall sits in milk's slots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9987" y="353466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Milk slots clicked 1.2 percent; every other slot 6.4, up from 6.2 before the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1956816"/>
            <a:ext cx="2645587" cy="238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8455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handshake_e365765057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183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88455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CONCEDE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455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Position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455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Slot 1 draws 8.2 percent against 5.4 for slot 3, so a layout is worth testing on its own.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755" y="1956816"/>
            <a:ext cx="2645587" cy="238556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16923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refresh-cw_c3ada071ae1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651" y="22677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16923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WHAT WOULD CHANGE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6923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If other slots fell too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6923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Had the non-milk slots fallen with milk's, the habits story would lead.</a:t>
            </a:r>
          </a:p>
        </p:txBody>
      </p:sp>
      <p:sp>
        <p:nvSpPr>
          <p:cNvPr id="33" name="Oval 3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35" name="Oval 34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37" name="Oval 36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39" name="Oval 38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chart that settles the dispute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picture answers "shoppers changed"?</a:t>
            </a:r>
          </a:p>
        </p:txBody>
      </p:sp>
      <p:pic>
        <p:nvPicPr>
          <p:cNvPr id="9" name="mermaid diagram" descr="C2_W04_D03_ctr_by_slot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568" y="1664208"/>
            <a:ext cx="9408557" cy="3215640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4916424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Click-through by slot position: before the change, milk after, everything else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242560"/>
            <a:ext cx="11130991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In every slot, suggestions other than milk clicked as well after the change as before; milk clicked low in all three. Shoppers who had changed their habits would have stopped clicking everything. A new layout is worth a test of its own; it is not what fell.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14" name="Oval 13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16" name="Oval 15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18" name="Oval 17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4  ·  DAY 3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the fallback leaves the room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room keep from the four parts?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53145" y="2523744"/>
            <a:ext cx="8485403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THE TRIAL</a:t>
            </a:r>
          </a:p>
        </p:txBody>
      </p:sp>
      <p:sp>
        <p:nvSpPr>
          <p:cNvPr id="11" name="Oval 10"/>
          <p:cNvSpPr/>
          <p:nvPr/>
        </p:nvSpPr>
        <p:spPr>
          <a:xfrm>
            <a:off x="1752561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2316403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Four decisions before day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49250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Where, how long, against what, and what voids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8819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THE SLICES</a:t>
            </a:r>
          </a:p>
        </p:txBody>
      </p:sp>
      <p:sp>
        <p:nvSpPr>
          <p:cNvPr id="16" name="Oval 15"/>
          <p:cNvSpPr/>
          <p:nvPr/>
        </p:nvSpPr>
        <p:spPr>
          <a:xfrm>
            <a:off x="4581029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8819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3411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Thin ground moves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3411" y="327787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city's three slots survive; curd's dip belongs to one zone and week.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THE STORM</a:t>
            </a:r>
          </a:p>
        </p:txBody>
      </p:sp>
      <p:sp>
        <p:nvSpPr>
          <p:cNvPr id="21" name="Oval 20"/>
          <p:cNvSpPr/>
          <p:nvPr/>
        </p:nvSpPr>
        <p:spPr>
          <a:xfrm>
            <a:off x="7409497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7287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An event needs a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Friday's question, with Diwali as the event.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755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THE DISPUTE</a:t>
            </a:r>
          </a:p>
        </p:txBody>
      </p:sp>
      <p:sp>
        <p:nvSpPr>
          <p:cNvPr id="26" name="Oval 25"/>
          <p:cNvSpPr/>
          <p:nvPr/>
        </p:nvSpPr>
        <p:spPr>
          <a:xfrm>
            <a:off x="10237965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5755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0347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Four moves, one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347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log settles what fell; a layout earns its own test.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179250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may a thin pair take a slot?</a:t>
            </a:r>
          </a:p>
        </p:txBody>
      </p:sp>
      <p:sp>
        <p:nvSpPr>
          <p:cNvPr id="32" name="Oval 31"/>
          <p:cNvSpPr/>
          <p:nvPr/>
        </p:nvSpPr>
        <p:spPr>
          <a:xfrm>
            <a:off x="252402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75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in one zone at one time?</a:t>
            </a:r>
          </a:p>
        </p:txBody>
      </p:sp>
      <p:sp>
        <p:nvSpPr>
          <p:cNvPr id="34" name="Oval 33"/>
          <p:cNvSpPr/>
          <p:nvPr/>
        </p:nvSpPr>
        <p:spPr>
          <a:xfrm>
            <a:off x="470173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1458" y="6437376"/>
            <a:ext cx="1884521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Why is a storm's sale no pair rule?</a:t>
            </a:r>
          </a:p>
        </p:txBody>
      </p:sp>
      <p:sp>
        <p:nvSpPr>
          <p:cNvPr id="36" name="Oval 35"/>
          <p:cNvSpPr/>
          <p:nvPr/>
        </p:nvSpPr>
        <p:spPr>
          <a:xfrm>
            <a:off x="678741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7147" y="6437376"/>
            <a:ext cx="19765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category manager wants a redesign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