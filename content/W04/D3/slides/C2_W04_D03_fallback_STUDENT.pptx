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when the IITGN faculty session (tentative) cannot run in its slot. These</a:t>
            </a:r>
          </a:p>
          <a:p>
            <a:r>
              <a:t>120 minutes extend the morning and teach nothing the block owns: no association rules as</a:t>
            </a:r>
          </a:p>
          <a:p>
            <a:r>
              <a:t>probability, no algorithm that finds them. How long a trial must run before its answer can be</a:t>
            </a:r>
          </a:p>
          <a:p>
            <a:r>
              <a:t>trusted is a sample-size question, parked by name for the faculty session (tentative). Transition:</a:t>
            </a:r>
          </a:p>
          <a:p>
            <a:r>
              <a:t>the trial.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for the section. Groups design the trial; the TA plays the growth lead.</a:t>
            </a:r>
          </a:p>
          <a:p>
            <a:r>
              <a:t>Transition: the four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Each group fills the four cards for its own trial. Press on "fixed before it</a:t>
            </a:r>
          </a:p>
          <a:p>
            <a:r>
              <a:t>starts": a trial watched daily and stopped when it looks good finds a winner by luck. The rule for</a:t>
            </a:r>
          </a:p>
          <a:p>
            <a:r>
              <a:t>how long is the parked sample-size question. Transition: the first data request.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This is a real analyst's moment: the method is ready and the data are not. Ask</a:t>
            </a:r>
          </a:p>
          <a:p>
            <a:r>
              <a:t>the room to write the request in one sentence: which table, which new column, from which day.</a:t>
            </a:r>
          </a:p>
          <a:p>
            <a:r>
              <a:t>Transition: the pass rule.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present their pass rule in two sentences. The weak rule names the slot's</a:t>
            </a:r>
          </a:p>
          <a:p>
            <a:r>
              <a:t>click-through, which counts only shoppers who saw the pair; the strong rule compares sauce bought in</a:t>
            </a:r>
          </a:p>
          <a:p>
            <a:r>
              <a:t>the two halves' ice-cream carts and keeps margin per shopper as the guardrail. Transition: one zone,</a:t>
            </a:r>
          </a:p>
          <a:p>
            <a:r>
              <a:t>one time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for the section, the row's after-class task done in class on notebook 03.</a:t>
            </a:r>
          </a:p>
          <a:p>
            <a:r>
              <a:t>Transition: the code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Code along. Morning carts hold milk 80 percent of the time against 66 to 69 in the</a:t>
            </a:r>
          </a:p>
          <a:p>
            <a:r>
              <a:t>other bands, so milk's pairs read slightly differently in the morning. Transition: the slices.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of group work. The fifth and sixth groups find the stock-out in their own slice: curd's pairs</a:t>
            </a:r>
          </a:p>
          <a:p>
            <a:r>
              <a:t>vanish in week three and return in week four. The common stall is a pair below the slice's floor</a:t>
            </a:r>
          </a:p>
          <a:p>
            <a:r>
              <a:t>that looks exciting; the hint is "how many carts is that lift resting on?". Transition: what the</a:t>
            </a:r>
          </a:p>
          <a:p>
            <a:r>
              <a:t>slices say together.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Each group reads one line of its report against this list. Transition: a storm.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for the section. Transition: Walmart's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Read the account. Ask: "is strawberry Pop-Tarts with a storm a pair, like chips</a:t>
            </a:r>
          </a:p>
          <a:p>
            <a:r>
              <a:t>with cold drink?"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Friday's ticket at Flipkart's Lucknow fulfilment centre takes this up with</a:t>
            </a:r>
          </a:p>
          <a:p>
            <a:r>
              <a:t>Diwali as the event. 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for the section: the dispute transcript read in pairs, then scored.</a:t>
            </a:r>
          </a:p>
          <a:p>
            <a:r>
              <a:t>Transition: the three sentences.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list what is partly right and what is unproven before the next slide.</a:t>
            </a:r>
          </a:p>
          <a:p>
            <a:r>
              <a:t>Transition: the four moves.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Score each pair's answer on the four moves, 0 to 2 each. Transition: the one</a:t>
            </a:r>
          </a:p>
          <a:p>
            <a:r>
              <a:t>chart to hand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sentence to carry: "the mix moved, and a layout gets its own test".</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only that the faculty session (tentative) did not run today. Tomorrow's</a:t>
            </a:r>
          </a:p>
          <a:p>
            <a:r>
              <a:t>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fill the 120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for how long, and what does each part answer?</a:t>
            </a:r>
          </a:p>
        </p:txBody>
      </p:sp>
      <p:graphicFrame>
        <p:nvGraphicFramePr>
          <p:cNvPr id="9" name="Table 8"/>
          <p:cNvGraphicFramePr>
            <a:graphicFrameLocks noGrp="1"/>
          </p:cNvGraphicFramePr>
          <p:nvPr/>
        </p:nvGraphicFramePr>
        <p:xfrm>
          <a:off x="530352" y="1956816"/>
          <a:ext cx="11130989" cy="2332736"/>
        </p:xfrm>
        <a:graphic>
          <a:graphicData uri="http://schemas.openxmlformats.org/drawingml/2006/table">
            <a:tbl>
              <a:tblPr firstRow="0" bandRow="0">
                <a:tableStyleId>{2D5ABB26-0587-4C30-8999-92F81FD0307C}</a:tableStyleId>
              </a:tblPr>
              <a:tblGrid>
                <a:gridCol w="3267677"/>
                <a:gridCol w="1137049"/>
                <a:gridCol w="672626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r>
              <a:tr h="369824">
                <a:tc>
                  <a:txBody>
                    <a:bodyPr/>
                    <a:lstStyle/>
                    <a:p>
                      <a:r>
                        <a:rPr sz="1400" b="0" i="0">
                          <a:solidFill>
                            <a:srgbClr val="1A1440"/>
                          </a:solidFill>
                          <a:latin typeface="Calibri"/>
                        </a:rPr>
                        <a:t>The watch-list trial</a:t>
                      </a:r>
                    </a:p>
                  </a:txBody>
                  <a:tcPr marL="101600" marR="101600" marT="38100" marB="38100" anchor="ctr">
                    <a:solidFill>
                      <a:srgbClr val="FFFFFF"/>
                    </a:solidFill>
                  </a:tcPr>
                </a:tc>
                <a:tc>
                  <a:txBody>
                    <a:bodyPr/>
                    <a:lstStyle/>
                    <a:p>
                      <a:r>
                        <a:rPr sz="1400" b="0" i="0">
                          <a:solidFill>
                            <a:srgbClr val="1A1440"/>
                          </a:solidFill>
                          <a:latin typeface="Calibri"/>
                        </a:rPr>
                        <a:t>35</a:t>
                      </a:r>
                    </a:p>
                  </a:txBody>
                  <a:tcPr marL="101600" marR="101600" marT="38100" marB="38100" anchor="ctr">
                    <a:solidFill>
                      <a:srgbClr val="FFFFFF"/>
                    </a:solidFill>
                  </a:tcPr>
                </a:tc>
                <a:tc>
                  <a:txBody>
                    <a:bodyPr/>
                    <a:lstStyle/>
                    <a:p>
                      <a:r>
                        <a:rPr sz="1400" b="0" i="0">
                          <a:solidFill>
                            <a:srgbClr val="1A1440"/>
                          </a:solidFill>
                          <a:latin typeface="Calibri"/>
                        </a:rPr>
                        <a:t>What must ice cream and chocolate sauce show before they take a slot?</a:t>
                      </a:r>
                    </a:p>
                  </a:txBody>
                  <a:tcPr marL="101600" marR="101600" marT="38100" marB="38100" anchor="ctr">
                    <a:solidFill>
                      <a:srgbClr val="FFFFFF"/>
                    </a:solidFill>
                  </a:tcPr>
                </a:tc>
              </a:tr>
              <a:tr h="611632">
                <a:tc>
                  <a:txBody>
                    <a:bodyPr/>
                    <a:lstStyle/>
                    <a:p>
                      <a:r>
                        <a:rPr sz="1400" b="0" i="0">
                          <a:solidFill>
                            <a:srgbClr val="1A1440"/>
                          </a:solidFill>
                          <a:latin typeface="Calibri"/>
                        </a:rPr>
                        <a:t>One zone, one time band</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c>
                  <a:txBody>
                    <a:bodyPr/>
                    <a:lstStyle/>
                    <a:p>
                      <a:r>
                        <a:rPr sz="1400" b="0" i="0">
                          <a:solidFill>
                            <a:srgbClr val="1A1440"/>
                          </a:solidFill>
                          <a:latin typeface="Calibri"/>
                        </a:rPr>
                        <a:t>Which pairs change rank when the strip is ranked for one slice of Pune?</a:t>
                      </a:r>
                    </a:p>
                  </a:txBody>
                  <a:tcPr marL="101600" marR="101600" marT="38100" marB="38100" anchor="ctr">
                    <a:solidFill>
                      <a:srgbClr val="F4F2FA"/>
                    </a:solidFill>
                  </a:tcPr>
                </a:tc>
              </a:tr>
              <a:tr h="369824">
                <a:tc>
                  <a:txBody>
                    <a:bodyPr/>
                    <a:lstStyle/>
                    <a:p>
                      <a:r>
                        <a:rPr sz="1400" b="0" i="0">
                          <a:solidFill>
                            <a:srgbClr val="1A1440"/>
                          </a:solidFill>
                          <a:latin typeface="Calibri"/>
                        </a:rPr>
                        <a:t>The storm and the Pop-Tarts</a:t>
                      </a:r>
                    </a:p>
                  </a:txBody>
                  <a:tcPr marL="101600" marR="101600" marT="38100" marB="38100" anchor="ctr">
                    <a:solidFill>
                      <a:srgbClr val="FFFFFF"/>
                    </a:solidFill>
                  </a:tcPr>
                </a:tc>
                <a:tc>
                  <a:txBody>
                    <a:bodyPr/>
                    <a:lstStyle/>
                    <a:p>
                      <a:r>
                        <a:rPr sz="1400" b="0" i="0">
                          <a:solidFill>
                            <a:srgbClr val="1A1440"/>
                          </a:solidFill>
                          <a:latin typeface="Calibri"/>
                        </a:rPr>
                        <a:t>20</a:t>
                      </a:r>
                    </a:p>
                  </a:txBody>
                  <a:tcPr marL="101600" marR="101600" marT="38100" marB="38100" anchor="ctr">
                    <a:solidFill>
                      <a:srgbClr val="FFFFFF"/>
                    </a:solidFill>
                  </a:tcPr>
                </a:tc>
                <a:tc>
                  <a:txBody>
                    <a:bodyPr/>
                    <a:lstStyle/>
                    <a:p>
                      <a:r>
                        <a:rPr sz="1400" b="0" i="0">
                          <a:solidFill>
                            <a:srgbClr val="1A1440"/>
                          </a:solidFill>
                          <a:latin typeface="Calibri"/>
                        </a:rPr>
                        <a:t>Why is a sale that jumps before a storm no pair rule?</a:t>
                      </a:r>
                    </a:p>
                  </a:txBody>
                  <a:tcPr marL="101600" marR="101600" marT="38100" marB="38100" anchor="ctr">
                    <a:solidFill>
                      <a:srgbClr val="FFFFFF"/>
                    </a:solidFill>
                  </a:tcPr>
                </a:tc>
              </a:tr>
              <a:tr h="611632">
                <a:tc>
                  <a:txBody>
                    <a:bodyPr/>
                    <a:lstStyle/>
                    <a:p>
                      <a:r>
                        <a:rPr sz="1400" b="0" i="0">
                          <a:solidFill>
                            <a:srgbClr val="1A1440"/>
                          </a:solidFill>
                          <a:latin typeface="Calibri"/>
                        </a:rPr>
                        <a:t>The second transcript</a:t>
                      </a:r>
                    </a:p>
                  </a:txBody>
                  <a:tcPr marL="101600" marR="101600" marT="38100" marB="38100" anchor="ctr">
                    <a:solidFill>
                      <a:srgbClr val="F4F2FA"/>
                    </a:solidFill>
                  </a:tcPr>
                </a:tc>
                <a:tc>
                  <a:txBody>
                    <a:bodyPr/>
                    <a:lstStyle/>
                    <a:p>
                      <a:r>
                        <a:rPr sz="1400" b="0" i="0">
                          <a:solidFill>
                            <a:srgbClr val="1A1440"/>
                          </a:solidFill>
                          <a:latin typeface="Calibri"/>
                        </a:rPr>
                        <a:t>25</a:t>
                      </a:r>
                    </a:p>
                  </a:txBody>
                  <a:tcPr marL="101600" marR="101600" marT="38100" marB="38100" anchor="ctr">
                    <a:solidFill>
                      <a:srgbClr val="F4F2FA"/>
                    </a:solidFill>
                  </a:tcPr>
                </a:tc>
                <a:tc>
                  <a:txBody>
                    <a:bodyPr/>
                    <a:lstStyle/>
                    <a:p>
                      <a:r>
                        <a:rPr sz="1400" b="0" i="0">
                          <a:solidFill>
                            <a:srgbClr val="1A1440"/>
                          </a:solidFill>
                          <a:latin typeface="Calibri"/>
                        </a:rPr>
                        <a:t>How do you answer a category manager who is sure the strip needs a redesign?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4" name="Oval 1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6" name="Oval 1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may a thin pair take a slot?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must ice cream and chocolate sauce, lift 4.60 on 100 carts, show before they take a slot?</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trial in two zones answers four decisions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for how long, against what, and what stops it?</a:t>
            </a:r>
          </a:p>
        </p:txBody>
      </p:sp>
      <p:sp>
        <p:nvSpPr>
          <p:cNvPr id="9" name="Rounded Rectangle 8"/>
          <p:cNvSpPr/>
          <p:nvPr/>
        </p:nvSpPr>
        <p:spPr>
          <a:xfrm>
            <a:off x="530352"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ap-pin_d669bc82d62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WHERE</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zones, shoppers split</a:t>
            </a:r>
          </a:p>
        </p:txBody>
      </p:sp>
      <p:sp>
        <p:nvSpPr>
          <p:cNvPr id="14" name="TextBox 13"/>
          <p:cNvSpPr txBox="1"/>
          <p:nvPr/>
        </p:nvSpPr>
        <p:spPr>
          <a:xfrm>
            <a:off x="731519" y="3534664"/>
            <a:ext cx="2243251" cy="763016"/>
          </a:xfrm>
          <a:prstGeom prst="rect">
            <a:avLst/>
          </a:prstGeom>
          <a:noFill/>
        </p:spPr>
        <p:txBody>
          <a:bodyPr wrap="square" anchor="t" lIns="0" rIns="0" tIns="0" bIns="0">
            <a:spAutoFit/>
          </a:bodyPr>
          <a:lstStyle/>
          <a:p>
            <a:pPr algn="l"/>
            <a:r>
              <a:rPr sz="1100" b="0" i="0">
                <a:solidFill>
                  <a:srgbClr val="6B6690"/>
                </a:solidFill>
                <a:latin typeface="Calibri"/>
              </a:rPr>
              <a:t>In two zones, a random half of shoppers see the pair beside ice cream and the other half do not.</a:t>
            </a:r>
          </a:p>
        </p:txBody>
      </p:sp>
      <p:sp>
        <p:nvSpPr>
          <p:cNvPr id="15" name="Rounded Rectangle 14"/>
          <p:cNvSpPr/>
          <p:nvPr/>
        </p:nvSpPr>
        <p:spPr>
          <a:xfrm>
            <a:off x="3358819"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HOW LONG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Fixed before it starts</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length is chosen before the first day and never stretched to chase a result.</a:t>
            </a:r>
          </a:p>
        </p:txBody>
      </p:sp>
      <p:sp>
        <p:nvSpPr>
          <p:cNvPr id="21" name="Rounded Rectangle 20"/>
          <p:cNvSpPr/>
          <p:nvPr/>
        </p:nvSpPr>
        <p:spPr>
          <a:xfrm>
            <a:off x="6187287"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arget_975d45d39ce7.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AGAINST WHAT</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shoppers who do not see it</a:t>
            </a:r>
          </a:p>
        </p:txBody>
      </p:sp>
      <p:sp>
        <p:nvSpPr>
          <p:cNvPr id="26" name="TextBox 25"/>
          <p:cNvSpPr txBox="1"/>
          <p:nvPr/>
        </p:nvSpPr>
        <p:spPr>
          <a:xfrm>
            <a:off x="6388455"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other half see the next-best suggestion in that slot, over the same weeks.</a:t>
            </a:r>
          </a:p>
        </p:txBody>
      </p:sp>
      <p:sp>
        <p:nvSpPr>
          <p:cNvPr id="27" name="Rounded Rectangle 26"/>
          <p:cNvSpPr/>
          <p:nvPr/>
        </p:nvSpPr>
        <p:spPr>
          <a:xfrm>
            <a:off x="9015755" y="1956816"/>
            <a:ext cx="2645587"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octagon-x_d3aae6c5cd3c.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STOPS IT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A shock to one half</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A stock-out or a campaign that reaches one half and not the other voids the window.</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When may a thin pair take a slot?</a:t>
            </a:r>
          </a:p>
        </p:txBody>
      </p:sp>
      <p:sp>
        <p:nvSpPr>
          <p:cNvPr id="35" name="Oval 34"/>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7" name="Oval 36"/>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9" name="Oval 38"/>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trial's first need is each shopper's half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today's tables measure a two-zone trial?</a:t>
            </a:r>
          </a:p>
        </p:txBody>
      </p:sp>
      <p:pic>
        <p:nvPicPr>
          <p:cNvPr id="9" name="mermaid diagram" descr="72d7103e0d1ad14d.png"/>
          <p:cNvPicPr>
            <a:picLocks noChangeAspect="1"/>
          </p:cNvPicPr>
          <p:nvPr/>
        </p:nvPicPr>
        <p:blipFill>
          <a:blip r:embed="rId5"/>
          <a:stretch>
            <a:fillRect/>
          </a:stretch>
        </p:blipFill>
        <p:spPr>
          <a:xfrm>
            <a:off x="3194042" y="1664208"/>
            <a:ext cx="5803609"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strip_log counts impressions, clicks and adds for the whole city, with no zone and no shopper, so it cannot read the trial. carts holds the zone and the customer, and cart_items every item and its margin. A two-zone trial starts with a data request: which half each shopper was in, logged from the first day.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When may a thin pair take a slot?</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5" name="Oval 14"/>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7" name="Oval 16"/>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Pass only if sauce sells more and margin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rule promotes the pair, and what keeps it on the watch list?</a:t>
            </a:r>
          </a:p>
        </p:txBody>
      </p:sp>
      <p:pic>
        <p:nvPicPr>
          <p:cNvPr id="9" name="mermaid diagram" descr="5f44cab6e200e3db.png"/>
          <p:cNvPicPr>
            <a:picLocks noChangeAspect="1"/>
          </p:cNvPicPr>
          <p:nvPr/>
        </p:nvPicPr>
        <p:blipFill>
          <a:blip r:embed="rId5"/>
          <a:stretch>
            <a:fillRect/>
          </a:stretch>
        </p:blipFill>
        <p:spPr>
          <a:xfrm>
            <a:off x="530352" y="2332615"/>
            <a:ext cx="4786326" cy="3216896"/>
          </a:xfrm>
          <a:prstGeom prst="rect">
            <a:avLst/>
          </a:prstGeom>
        </p:spPr>
      </p:pic>
      <p:sp>
        <p:nvSpPr>
          <p:cNvPr id="10" name="TextBox 9"/>
          <p:cNvSpPr txBox="1"/>
          <p:nvPr/>
        </p:nvSpPr>
        <p:spPr>
          <a:xfrm>
            <a:off x="5761917" y="1956816"/>
            <a:ext cx="5899425" cy="32593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pair is promoted only if ice-cream carts in the shown half buy sauce more often than the other half's, by a gap set before the trial, and margin per shopper, after any bundle discount, does not fall. Comparing the halves nets out the sauce shoppers would have bought anyway, which a slot's click-through cannot. The purchase rate is the read because it moves visibly when the strip works; a whole cart's margin swings too much to show a gain this size, so it guards the decision instead. If either fails, the pair stays on the watch list, which is what a watch list is for.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When may a thin pair take a slot?</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5" name="Oval 14"/>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7" name="Oval 16"/>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changes in one zone at one time?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pairs change rank when the strip is ranked for one zone and one time band?</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rerun is the same pairs table on fewer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in the code, and what changes in the reading?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slice_ids = carts.loc[(carts.zone == "Kothrud") &amp; (carts.time_band == "morning"), "cart_id"]</a:t>
            </a:r>
          </a:p>
          <a:p>
            <a:pPr>
              <a:spcAft>
                <a:spcPts val="200"/>
              </a:spcAft>
            </a:pPr>
            <a:r>
              <a:rPr sz="1400" b="0" i="0">
                <a:solidFill>
                  <a:srgbClr val="E4E1F1"/>
                </a:solidFill>
                <a:latin typeface="Consolas"/>
              </a:rPr>
              <a:t>part = baskets[slice_ids]                                  # the same sets, fewer carts</a:t>
            </a:r>
          </a:p>
          <a:p>
            <a:pPr>
              <a:spcAft>
                <a:spcPts val="200"/>
              </a:spcAft>
            </a:pPr>
            <a:r>
              <a:rPr sz="1400" b="0" i="0">
                <a:solidFill>
                  <a:srgbClr val="E4E1F1"/>
                </a:solidFill>
                <a:latin typeface="Consolas"/>
              </a:rPr>
              <a:t>pair_count = Counter(p for b in part for p in combinations(sorted(b), 2))</a:t>
            </a:r>
          </a:p>
          <a:p>
            <a:pPr>
              <a:spcAft>
                <a:spcPts val="200"/>
              </a:spcAft>
            </a:pPr>
            <a:r>
              <a:rPr sz="1400" b="0" i="0">
                <a:solidFill>
                  <a:srgbClr val="E4E1F1"/>
                </a:solidFill>
                <a:latin typeface="Consolas"/>
              </a:rPr>
              <a:t>floor = 0.01 * len(part)                                   # the floor is a share of the slice</a:t>
            </a:r>
          </a:p>
        </p:txBody>
      </p:sp>
      <p:sp>
        <p:nvSpPr>
          <p:cNvPr id="14" name="TextBox 13"/>
          <p:cNvSpPr txBox="1"/>
          <p:nvPr/>
        </p:nvSpPr>
        <p:spPr>
          <a:xfrm>
            <a:off x="530352" y="358851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code changes in one line: which carts enter. The reading changes more: a slice holds fewer carts, so every pair rests on fewer of them, and a floor written as a share of the slice admits pairs on thinner ground.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7" name="Oval 16"/>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33757" y="6437376"/>
            <a:ext cx="1976532" cy="152146"/>
          </a:xfrm>
          <a:prstGeom prst="rect">
            <a:avLst/>
          </a:prstGeom>
          <a:noFill/>
        </p:spPr>
        <p:txBody>
          <a:bodyPr wrap="square" anchor="t" lIns="0" rIns="0" tIns="0" bIns="0">
            <a:spAutoFit/>
          </a:bodyPr>
          <a:lstStyle/>
          <a:p>
            <a:pPr algn="l"/>
            <a:r>
              <a:rPr sz="700" b="1" i="0">
                <a:solidFill>
                  <a:srgbClr val="5B3FD6"/>
                </a:solidFill>
                <a:latin typeface="Calibri"/>
              </a:rPr>
              <a:t>What changes in one zone at one time?</a:t>
            </a:r>
          </a:p>
        </p:txBody>
      </p:sp>
      <p:sp>
        <p:nvSpPr>
          <p:cNvPr id="19" name="Oval 18"/>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21" name="Oval 20"/>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group takes one slice and reports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slice does each group take, and what does it report?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1750610"/>
                <a:gridCol w="3917980"/>
                <a:gridCol w="5462399"/>
              </a:tblGrid>
              <a:tr h="369824">
                <a:tc>
                  <a:txBody>
                    <a:bodyPr/>
                    <a:lstStyle/>
                    <a:p>
                      <a:r>
                        <a:rPr sz="1450" b="1" i="0">
                          <a:solidFill>
                            <a:srgbClr val="FFFFFF"/>
                          </a:solidFill>
                          <a:latin typeface="Calibri"/>
                        </a:rPr>
                        <a:t>Group</a:t>
                      </a:r>
                    </a:p>
                  </a:txBody>
                  <a:tcPr marL="101600" marR="101600" marT="38100" marB="38100" anchor="ctr">
                    <a:solidFill>
                      <a:srgbClr val="1A0F5C"/>
                    </a:solidFill>
                  </a:tcPr>
                </a:tc>
                <a:tc>
                  <a:txBody>
                    <a:bodyPr/>
                    <a:lstStyle/>
                    <a:p>
                      <a:r>
                        <a:rPr sz="1450" b="1" i="0">
                          <a:solidFill>
                            <a:srgbClr val="FFFFFF"/>
                          </a:solidFill>
                          <a:latin typeface="Calibri"/>
                        </a:rPr>
                        <a:t>Slice</a:t>
                      </a:r>
                    </a:p>
                  </a:txBody>
                  <a:tcPr marL="101600" marR="101600" marT="38100" marB="38100" anchor="ctr">
                    <a:solidFill>
                      <a:srgbClr val="1A0F5C"/>
                    </a:solidFill>
                  </a:tcPr>
                </a:tc>
                <a:tc>
                  <a:txBody>
                    <a:bodyPr/>
                    <a:lstStyle/>
                    <a:p>
                      <a:r>
                        <a:rPr sz="1450" b="1" i="0">
                          <a:solidFill>
                            <a:srgbClr val="FFFFFF"/>
                          </a:solidFill>
                          <a:latin typeface="Calibri"/>
                        </a:rPr>
                        <a:t>What the group reports</a:t>
                      </a:r>
                    </a:p>
                  </a:txBody>
                  <a:tcPr marL="101600" marR="101600" marT="38100" marB="38100" anchor="ctr">
                    <a:solidFill>
                      <a:srgbClr val="1A0F5C"/>
                    </a:solidFill>
                  </a:tcPr>
                </a:tc>
              </a:tr>
              <a:tr h="611632">
                <a:tc>
                  <a:txBody>
                    <a:bodyPr/>
                    <a:lstStyle/>
                    <a:p>
                      <a:r>
                        <a:rPr sz="1400" b="0" i="0">
                          <a:solidFill>
                            <a:srgbClr val="1A1440"/>
                          </a:solidFill>
                          <a:latin typeface="Calibri"/>
                        </a:rPr>
                        <a:t>First and second</a:t>
                      </a:r>
                    </a:p>
                  </a:txBody>
                  <a:tcPr marL="101600" marR="101600" marT="38100" marB="38100" anchor="ctr">
                    <a:solidFill>
                      <a:srgbClr val="FFFFFF"/>
                    </a:solidFill>
                  </a:tcPr>
                </a:tc>
                <a:tc>
                  <a:txBody>
                    <a:bodyPr/>
                    <a:lstStyle/>
                    <a:p>
                      <a:r>
                        <a:rPr sz="1400" b="0" i="0">
                          <a:solidFill>
                            <a:srgbClr val="1A1440"/>
                          </a:solidFill>
                          <a:latin typeface="Calibri"/>
                        </a:rPr>
                        <a:t>Kothrud, morning; Kothrud, evening</a:t>
                      </a:r>
                    </a:p>
                  </a:txBody>
                  <a:tcPr marL="101600" marR="101600" marT="38100" marB="38100" anchor="ctr">
                    <a:solidFill>
                      <a:srgbClr val="FFFFFF"/>
                    </a:solidFill>
                  </a:tcPr>
                </a:tc>
                <a:tc>
                  <a:txBody>
                    <a:bodyPr/>
                    <a:lstStyle/>
                    <a:p>
                      <a:r>
                        <a:rPr sz="1400" b="0" i="0">
                          <a:solidFill>
                            <a:srgbClr val="1A1440"/>
                          </a:solidFill>
                          <a:latin typeface="Calibri"/>
                        </a:rPr>
                        <a:t>The top five pairs above the slice's floor, with support and lift</a:t>
                      </a:r>
                    </a:p>
                  </a:txBody>
                  <a:tcPr marL="101600" marR="101600" marT="38100" marB="38100" anchor="ctr">
                    <a:solidFill>
                      <a:srgbClr val="FFFFFF"/>
                    </a:solidFill>
                  </a:tcPr>
                </a:tc>
              </a:tr>
              <a:tr h="611632">
                <a:tc>
                  <a:txBody>
                    <a:bodyPr/>
                    <a:lstStyle/>
                    <a:p>
                      <a:r>
                        <a:rPr sz="1400" b="0" i="0">
                          <a:solidFill>
                            <a:srgbClr val="1A1440"/>
                          </a:solidFill>
                          <a:latin typeface="Calibri"/>
                        </a:rPr>
                        <a:t>Third and fourth</a:t>
                      </a:r>
                    </a:p>
                  </a:txBody>
                  <a:tcPr marL="101600" marR="101600" marT="38100" marB="38100" anchor="ctr">
                    <a:solidFill>
                      <a:srgbClr val="F4F2FA"/>
                    </a:solidFill>
                  </a:tcPr>
                </a:tc>
                <a:tc>
                  <a:txBody>
                    <a:bodyPr/>
                    <a:lstStyle/>
                    <a:p>
                      <a:r>
                        <a:rPr sz="1400" b="0" i="0">
                          <a:solidFill>
                            <a:srgbClr val="1A1440"/>
                          </a:solidFill>
                          <a:latin typeface="Calibri"/>
                        </a:rPr>
                        <a:t>Baner, morning; Hinjewadi, night</a:t>
                      </a:r>
                    </a:p>
                  </a:txBody>
                  <a:tcPr marL="101600" marR="101600" marT="38100" marB="38100" anchor="ctr">
                    <a:solidFill>
                      <a:srgbClr val="F4F2FA"/>
                    </a:solidFill>
                  </a:tcPr>
                </a:tc>
                <a:tc>
                  <a:txBody>
                    <a:bodyPr/>
                    <a:lstStyle/>
                    <a:p>
                      <a:r>
                        <a:rPr sz="1400" b="0" i="0">
                          <a:solidFill>
                            <a:srgbClr val="1A1440"/>
                          </a:solidFill>
                          <a:latin typeface="Calibri"/>
                        </a:rPr>
                        <a:t>The same, and one pair that moved against the city ranking</a:t>
                      </a:r>
                    </a:p>
                  </a:txBody>
                  <a:tcPr marL="101600" marR="101600" marT="38100" marB="38100" anchor="ctr">
                    <a:solidFill>
                      <a:srgbClr val="F4F2FA"/>
                    </a:solidFill>
                  </a:tcPr>
                </a:tc>
              </a:tr>
              <a:tr h="611632">
                <a:tc>
                  <a:txBody>
                    <a:bodyPr/>
                    <a:lstStyle/>
                    <a:p>
                      <a:r>
                        <a:rPr sz="1400" b="0" i="0">
                          <a:solidFill>
                            <a:srgbClr val="1A1440"/>
                          </a:solidFill>
                          <a:latin typeface="Calibri"/>
                        </a:rPr>
                        <a:t>Fifth and sixth</a:t>
                      </a:r>
                    </a:p>
                  </a:txBody>
                  <a:tcPr marL="101600" marR="101600" marT="38100" marB="38100" anchor="ctr">
                    <a:solidFill>
                      <a:srgbClr val="FFFFFF"/>
                    </a:solidFill>
                  </a:tcPr>
                </a:tc>
                <a:tc>
                  <a:txBody>
                    <a:bodyPr/>
                    <a:lstStyle/>
                    <a:p>
                      <a:r>
                        <a:rPr sz="1400" b="0" i="0">
                          <a:solidFill>
                            <a:srgbClr val="1A1440"/>
                          </a:solidFill>
                          <a:latin typeface="Calibri"/>
                        </a:rPr>
                        <a:t>Hadapsar, week three; Hadapsar, week four</a:t>
                      </a:r>
                    </a:p>
                  </a:txBody>
                  <a:tcPr marL="101600" marR="101600" marT="38100" marB="38100" anchor="ctr">
                    <a:solidFill>
                      <a:srgbClr val="FFFFFF"/>
                    </a:solidFill>
                  </a:tcPr>
                </a:tc>
                <a:tc>
                  <a:txBody>
                    <a:bodyPr/>
                    <a:lstStyle/>
                    <a:p>
                      <a:r>
                        <a:rPr sz="1400" b="0" i="0">
                          <a:solidFill>
                            <a:srgbClr val="1A1440"/>
                          </a:solidFill>
                          <a:latin typeface="Calibri"/>
                        </a:rPr>
                        <a:t>What happened to curd's pairs in the stock-out week</a:t>
                      </a:r>
                    </a:p>
                  </a:txBody>
                  <a:tcPr marL="101600" marR="101600" marT="38100" marB="38100" anchor="ctr">
                    <a:solidFill>
                      <a:srgbClr val="FFFFFF"/>
                    </a:solidFill>
                  </a:tcPr>
                </a:tc>
              </a:tr>
              <a:tr h="611632">
                <a:tc>
                  <a:txBody>
                    <a:bodyPr/>
                    <a:lstStyle/>
                    <a:p>
                      <a:r>
                        <a:rPr sz="1400" b="0" i="0">
                          <a:solidFill>
                            <a:srgbClr val="1A1440"/>
                          </a:solidFill>
                          <a:latin typeface="Calibri"/>
                        </a:rPr>
                        <a:t>Any further group</a:t>
                      </a:r>
                    </a:p>
                  </a:txBody>
                  <a:tcPr marL="101600" marR="101600" marT="38100" marB="38100" anchor="ctr">
                    <a:solidFill>
                      <a:srgbClr val="F4F2FA"/>
                    </a:solidFill>
                  </a:tcPr>
                </a:tc>
                <a:tc>
                  <a:txBody>
                    <a:bodyPr/>
                    <a:lstStyle/>
                    <a:p>
                      <a:r>
                        <a:rPr sz="1400" b="0" i="0">
                          <a:solidFill>
                            <a:srgbClr val="1A1440"/>
                          </a:solidFill>
                          <a:latin typeface="Calibri"/>
                        </a:rPr>
                        <a:t>A zone and band of the group's choice</a:t>
                      </a:r>
                    </a:p>
                  </a:txBody>
                  <a:tcPr marL="101600" marR="101600" marT="38100" marB="38100" anchor="ctr">
                    <a:solidFill>
                      <a:srgbClr val="F4F2FA"/>
                    </a:solidFill>
                  </a:tcPr>
                </a:tc>
                <a:tc>
                  <a:txBody>
                    <a:bodyPr/>
                    <a:lstStyle/>
                    <a:p>
                      <a:r>
                        <a:rPr sz="1400" b="0" i="0">
                          <a:solidFill>
                            <a:srgbClr val="1A1440"/>
                          </a:solidFill>
                          <a:latin typeface="Calibri"/>
                        </a:rPr>
                        <a:t>The top five, and whether the city's three slots still lead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2" name="Oval 11"/>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976532" cy="152146"/>
          </a:xfrm>
          <a:prstGeom prst="rect">
            <a:avLst/>
          </a:prstGeom>
          <a:noFill/>
        </p:spPr>
        <p:txBody>
          <a:bodyPr wrap="square" anchor="t" lIns="0" rIns="0" tIns="0" bIns="0">
            <a:spAutoFit/>
          </a:bodyPr>
          <a:lstStyle/>
          <a:p>
            <a:pPr algn="l"/>
            <a:r>
              <a:rPr sz="700" b="1" i="0">
                <a:solidFill>
                  <a:srgbClr val="5B3FD6"/>
                </a:solidFill>
                <a:latin typeface="Calibri"/>
              </a:rPr>
              <a:t>What changes in one zone at one time?</a:t>
            </a:r>
          </a:p>
        </p:txBody>
      </p:sp>
      <p:sp>
        <p:nvSpPr>
          <p:cNvPr id="14" name="Oval 1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6" name="Oval 1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slices agree on, and what they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findings survive slicing, and which belong to one slice?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SURVIVES</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lift near one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In every band, bread with milk reads about 1.04.</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SURVIVES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top two pairs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Chips with cold drink and coriander with green chillies lead every one of the six slices.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SLICE ONLY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Curd in Hadapsar, week three</a:t>
            </a:r>
          </a:p>
        </p:txBody>
      </p:sp>
      <p:sp>
        <p:nvSpPr>
          <p:cNvPr id="24" name="TextBox 23"/>
          <p:cNvSpPr txBox="1"/>
          <p:nvPr/>
        </p:nvSpPr>
        <p:spPr>
          <a:xfrm>
            <a:off x="6351879" y="3492500"/>
            <a:ext cx="2316403" cy="531876"/>
          </a:xfrm>
          <a:prstGeom prst="rect">
            <a:avLst/>
          </a:prstGeom>
          <a:noFill/>
        </p:spPr>
        <p:txBody>
          <a:bodyPr wrap="square" anchor="t" lIns="0" rIns="0" tIns="0" bIns="0">
            <a:spAutoFit/>
          </a:bodyPr>
          <a:lstStyle/>
          <a:p>
            <a:pPr algn="l"/>
            <a:r>
              <a:rPr sz="1000" b="0" i="0">
                <a:solidFill>
                  <a:srgbClr val="6B6690"/>
                </a:solidFill>
                <a:latin typeface="Calibri"/>
              </a:rPr>
              <a:t>Curd falls to 0.2 percent of carts, then 28 percent in week four: a stock-out, never a change in taste.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THIN GROUND</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Hinjewadi at night, 649 carts</a:t>
            </a:r>
          </a:p>
        </p:txBody>
      </p:sp>
      <p:sp>
        <p:nvSpPr>
          <p:cNvPr id="29" name="TextBox 28"/>
          <p:cNvSpPr txBox="1"/>
          <p:nvPr/>
        </p:nvSpPr>
        <p:spPr>
          <a:xfrm>
            <a:off x="9180347" y="3492500"/>
            <a:ext cx="2316403" cy="531876"/>
          </a:xfrm>
          <a:prstGeom prst="rect">
            <a:avLst/>
          </a:prstGeom>
          <a:noFill/>
        </p:spPr>
        <p:txBody>
          <a:bodyPr wrap="square" anchor="t" lIns="0" rIns="0" tIns="0" bIns="0">
            <a:spAutoFit/>
          </a:bodyPr>
          <a:lstStyle/>
          <a:p>
            <a:pPr algn="l"/>
            <a:r>
              <a:rPr sz="1000" b="0" i="0">
                <a:solidFill>
                  <a:srgbClr val="6B6690"/>
                </a:solidFill>
                <a:latin typeface="Calibri"/>
              </a:rPr>
              <a:t>Three pairs resting on 7 to 10 carts each slip in above bread with butter.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2" name="Oval 31"/>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33757" y="6437376"/>
            <a:ext cx="1976532" cy="152146"/>
          </a:xfrm>
          <a:prstGeom prst="rect">
            <a:avLst/>
          </a:prstGeom>
          <a:noFill/>
        </p:spPr>
        <p:txBody>
          <a:bodyPr wrap="square" anchor="t" lIns="0" rIns="0" tIns="0" bIns="0">
            <a:spAutoFit/>
          </a:bodyPr>
          <a:lstStyle/>
          <a:p>
            <a:pPr algn="l"/>
            <a:r>
              <a:rPr sz="700" b="1" i="0">
                <a:solidFill>
                  <a:srgbClr val="5B3FD6"/>
                </a:solidFill>
                <a:latin typeface="Calibri"/>
              </a:rPr>
              <a:t>What changes in one zone at one time?</a:t>
            </a:r>
          </a:p>
        </p:txBody>
      </p:sp>
      <p:sp>
        <p:nvSpPr>
          <p:cNvPr id="34" name="Oval 3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6" name="Oval 3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is a storm's sale no pair rule?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is a sale that jumps before a storm a forecasting question rather than a pair rule?</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Walmart stocked Pop-Tarts before Hurricane Frances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Walmart see, and what did it do with it?</a:t>
            </a:r>
          </a:p>
        </p:txBody>
      </p:sp>
      <p:pic>
        <p:nvPicPr>
          <p:cNvPr id="9" name="mermaid diagram" descr="4a719b52eb0b4cd7.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Walmart's analysts had seen strawberry Pop-Tart sales rise about seven times before Hurricane Charley, so when Hurricane Frances was forecast the chain shipped extra Pop-Tarts to the stores in its path (OpenStax, checked 12 October 2026). The decision moved stock ahead of the storm; a wrong forecast would have left it on the wrong shelves.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5" name="Oval 14"/>
          <p:cNvSpPr/>
          <p:nvPr/>
        </p:nvSpPr>
        <p:spPr>
          <a:xfrm>
            <a:off x="47017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11458"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Why is a storm's sale no pair rule?</a:t>
            </a:r>
          </a:p>
        </p:txBody>
      </p:sp>
      <p:sp>
        <p:nvSpPr>
          <p:cNvPr id="17" name="Oval 16"/>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pair holds weekly; a storm's sale needs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kind of pattern belong this week?</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PAIR RULE, TODAY</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Chips with cold drink</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Found together in about 5 percent of carts, week after week.</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AN EVENT, FRIDAY</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Pop-Tarts before a storm</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Sales jump around a known future event, which a forecast with the event in it captures.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FRIDAY'S METHOD</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Line up the event</a:t>
            </a:r>
          </a:p>
        </p:txBody>
      </p:sp>
      <p:sp>
        <p:nvSpPr>
          <p:cNvPr id="24" name="TextBox 23"/>
          <p:cNvSpPr txBox="1"/>
          <p:nvPr/>
        </p:nvSpPr>
        <p:spPr>
          <a:xfrm>
            <a:off x="6351879" y="3277870"/>
            <a:ext cx="2316403" cy="862076"/>
          </a:xfrm>
          <a:prstGeom prst="rect">
            <a:avLst/>
          </a:prstGeom>
          <a:noFill/>
        </p:spPr>
        <p:txBody>
          <a:bodyPr wrap="square" anchor="t" lIns="0" rIns="0" tIns="0" bIns="0">
            <a:spAutoFit/>
          </a:bodyPr>
          <a:lstStyle/>
          <a:p>
            <a:pPr algn="l"/>
            <a:r>
              <a:rPr sz="1000" b="0" i="0">
                <a:solidFill>
                  <a:srgbClr val="6B6690"/>
                </a:solidFill>
                <a:latin typeface="Calibri"/>
              </a:rPr>
              <a:t>Diwali fell on 31 October 2024 and 20 October 2025, so the week before Diwali is compared with the week before Diwali, never the same calendar week.</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STAYS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events are two points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pattern seen twice is thin ground, as a pair on 100 carts is.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2" name="Oval 3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4" name="Oval 33"/>
          <p:cNvSpPr/>
          <p:nvPr/>
        </p:nvSpPr>
        <p:spPr>
          <a:xfrm>
            <a:off x="47017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11458"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Why is a storm's sale no pair rule?</a:t>
            </a:r>
          </a:p>
        </p:txBody>
      </p:sp>
      <p:sp>
        <p:nvSpPr>
          <p:cNvPr id="36" name="Oval 35"/>
          <p:cNvSpPr/>
          <p:nvPr/>
        </p:nvSpPr>
        <p:spPr>
          <a:xfrm>
            <a:off x="67874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971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How do you answer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answer a redesign?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 you answer a category manager who is sure the strip needs a new layout?</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may a thin pair take a slot?</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one zone at one time?</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is a storm's sale no pair rule?</a:t>
            </a:r>
          </a:p>
        </p:txBody>
      </p:sp>
      <p:sp>
        <p:nvSpPr>
          <p:cNvPr id="13" name="Rounded Rectangle 12"/>
          <p:cNvSpPr/>
          <p:nvPr/>
        </p:nvSpPr>
        <p:spPr>
          <a:xfrm>
            <a:off x="7507224"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answer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watch list, one zone, and a storm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sentences that sound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category manager say, and which parts hold?</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The click-through fell because shoppers buy differently after the monsoon. The strip needs a redesign; our team has mocked up a two-row layout that sits higher on the page. We can run it next week.</a:t>
            </a:r>
          </a:p>
        </p:txBody>
      </p:sp>
      <p:sp>
        <p:nvSpPr>
          <p:cNvPr id="11" name="TextBox 10"/>
          <p:cNvSpPr txBox="1"/>
          <p:nvPr/>
        </p:nvSpPr>
        <p:spPr>
          <a:xfrm>
            <a:off x="530352" y="313944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sentence names a cause the log can test. The second proposes a fix for a problem nobody has shown. The third is a test, which is the part worth keeping.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6" name="Oval 15"/>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8" name="Oval 17"/>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moves, answered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growth lead answer without dismissing the manager?</a:t>
            </a:r>
          </a:p>
        </p:txBody>
      </p:sp>
      <p:sp>
        <p:nvSpPr>
          <p:cNvPr id="9" name="Rounded Rectangle 8"/>
          <p:cNvSpPr/>
          <p:nvPr/>
        </p:nvSpPr>
        <p:spPr>
          <a:xfrm>
            <a:off x="530352" y="1956816"/>
            <a:ext cx="2645587"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Habits may have shifted</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You think shoppers changed when the monsoon ended, and a new layout would win the clicks back.</a:t>
            </a:r>
          </a:p>
        </p:txBody>
      </p:sp>
      <p:sp>
        <p:nvSpPr>
          <p:cNvPr id="15" name="Rounded Rectangle 14"/>
          <p:cNvSpPr/>
          <p:nvPr/>
        </p:nvSpPr>
        <p:spPr>
          <a:xfrm>
            <a:off x="3358819" y="1956816"/>
            <a:ext cx="2645587"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_a266b7a0447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mix moved</a:t>
            </a:r>
          </a:p>
        </p:txBody>
      </p:sp>
      <p:sp>
        <p:nvSpPr>
          <p:cNvPr id="20" name="TextBox 19"/>
          <p:cNvSpPr txBox="1"/>
          <p:nvPr/>
        </p:nvSpPr>
        <p:spPr>
          <a:xfrm>
            <a:off x="3559987"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Milk went from 2 to 50 percent of impressions at 0.9 to 1.4 percent, and the rest rose in every slot.</a:t>
            </a:r>
          </a:p>
        </p:txBody>
      </p:sp>
      <p:sp>
        <p:nvSpPr>
          <p:cNvPr id="21" name="Rounded Rectangle 20"/>
          <p:cNvSpPr/>
          <p:nvPr/>
        </p:nvSpPr>
        <p:spPr>
          <a:xfrm>
            <a:off x="6187287" y="1956816"/>
            <a:ext cx="2645587"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shake_e365765057e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Position matters</a:t>
            </a:r>
          </a:p>
        </p:txBody>
      </p:sp>
      <p:sp>
        <p:nvSpPr>
          <p:cNvPr id="26" name="TextBox 25"/>
          <p:cNvSpPr txBox="1"/>
          <p:nvPr/>
        </p:nvSpPr>
        <p:spPr>
          <a:xfrm>
            <a:off x="6388455" y="3303524"/>
            <a:ext cx="2243251" cy="1126236"/>
          </a:xfrm>
          <a:prstGeom prst="rect">
            <a:avLst/>
          </a:prstGeom>
          <a:noFill/>
        </p:spPr>
        <p:txBody>
          <a:bodyPr wrap="square" anchor="t" lIns="0" rIns="0" tIns="0" bIns="0">
            <a:spAutoFit/>
          </a:bodyPr>
          <a:lstStyle/>
          <a:p>
            <a:pPr algn="l"/>
            <a:r>
              <a:rPr sz="1100" b="0" i="0">
                <a:solidFill>
                  <a:srgbClr val="6B6690"/>
                </a:solidFill>
                <a:latin typeface="Calibri"/>
              </a:rPr>
              <a:t>Among suggestions other than milk, slot 1 draws 8.2 percent against 5.4 for slot 3; a test that shuffles the order separates position from the strongest suggestion.</a:t>
            </a:r>
          </a:p>
        </p:txBody>
      </p:sp>
      <p:sp>
        <p:nvSpPr>
          <p:cNvPr id="27" name="Rounded Rectangle 26"/>
          <p:cNvSpPr/>
          <p:nvPr/>
        </p:nvSpPr>
        <p:spPr>
          <a:xfrm>
            <a:off x="9015755" y="1956816"/>
            <a:ext cx="2645587" cy="272440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fresh-cw_c3ada071ae1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 IT</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If the rest had fallen too</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Had the suggestions other than milk fallen with the blend, the habits story would lead.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5" name="Oval 34"/>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7" name="Oval 36"/>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9" name="Oval 38"/>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chart that settles the dispute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picture answers "shoppers changed"?</a:t>
            </a:r>
          </a:p>
        </p:txBody>
      </p:sp>
      <p:pic>
        <p:nvPicPr>
          <p:cNvPr id="9" name="mermaid diagram" descr="C2_W04_D03_ctr_by_slot_STUDENT.png"/>
          <p:cNvPicPr>
            <a:picLocks noChangeAspect="1"/>
          </p:cNvPicPr>
          <p:nvPr/>
        </p:nvPicPr>
        <p:blipFill>
          <a:blip r:embed="rId4"/>
          <a:stretch>
            <a:fillRect/>
          </a:stretch>
        </p:blipFill>
        <p:spPr>
          <a:xfrm>
            <a:off x="1795854" y="1664208"/>
            <a:ext cx="859998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In every slot, suggestions other than milk clicked better after the change than before, 8.2 against 7.5 percent in slot 1. Milk's share of impressions grew from 2 to 50 percent at 0.9 to 1.4 percent; its old cell, slot 3, slipped from 1.2 to 0.9, too little to move the blend. A new layout earns a test of its own, run beside the ranking as a two-by-two with customers randomised.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16" name="Oval 15"/>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18" name="Oval 17"/>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fallback leaves the room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keep from the four parts?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TRIAL</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Four decisions before day one</a:t>
            </a:r>
          </a:p>
        </p:txBody>
      </p:sp>
      <p:sp>
        <p:nvSpPr>
          <p:cNvPr id="14" name="TextBox 13"/>
          <p:cNvSpPr txBox="1"/>
          <p:nvPr/>
        </p:nvSpPr>
        <p:spPr>
          <a:xfrm>
            <a:off x="694944" y="3492500"/>
            <a:ext cx="2316403" cy="366776"/>
          </a:xfrm>
          <a:prstGeom prst="rect">
            <a:avLst/>
          </a:prstGeom>
          <a:noFill/>
        </p:spPr>
        <p:txBody>
          <a:bodyPr wrap="square" anchor="t" lIns="0" rIns="0" tIns="0" bIns="0">
            <a:spAutoFit/>
          </a:bodyPr>
          <a:lstStyle/>
          <a:p>
            <a:pPr algn="l"/>
            <a:r>
              <a:rPr sz="1000" b="0" i="0">
                <a:solidFill>
                  <a:srgbClr val="6B6690"/>
                </a:solidFill>
                <a:latin typeface="Calibri"/>
              </a:rPr>
              <a:t>Where, how long, against what, and what voids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SLICES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Thin ground moves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city's three slots survive; curd's dip belongs to one zone and week.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STORM</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 event needs a forecast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Friday's question, with Diwali as the event.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DISPUTE</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moves, one chart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log settles what fell; a layout earns its own test.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When may a thin pair take a slot?</a:t>
            </a:r>
          </a:p>
        </p:txBody>
      </p:sp>
      <p:sp>
        <p:nvSpPr>
          <p:cNvPr id="32" name="Oval 3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33757" y="6437376"/>
            <a:ext cx="1976532" cy="152146"/>
          </a:xfrm>
          <a:prstGeom prst="rect">
            <a:avLst/>
          </a:prstGeom>
          <a:noFill/>
        </p:spPr>
        <p:txBody>
          <a:bodyPr wrap="square" anchor="t" lIns="0" rIns="0" tIns="0" bIns="0">
            <a:spAutoFit/>
          </a:bodyPr>
          <a:lstStyle/>
          <a:p>
            <a:pPr algn="l"/>
            <a:r>
              <a:rPr sz="700" b="0" i="0">
                <a:solidFill>
                  <a:srgbClr val="6B6690"/>
                </a:solidFill>
                <a:latin typeface="Calibri"/>
              </a:rPr>
              <a:t>What changes in one zone at one time?</a:t>
            </a:r>
          </a:p>
        </p:txBody>
      </p:sp>
      <p:sp>
        <p:nvSpPr>
          <p:cNvPr id="34" name="Oval 33"/>
          <p:cNvSpPr/>
          <p:nvPr/>
        </p:nvSpPr>
        <p:spPr>
          <a:xfrm>
            <a:off x="47017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11458"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Why is a storm's sale no pair rule?</a:t>
            </a:r>
          </a:p>
        </p:txBody>
      </p:sp>
      <p:sp>
        <p:nvSpPr>
          <p:cNvPr id="36" name="Oval 35"/>
          <p:cNvSpPr/>
          <p:nvPr/>
        </p:nvSpPr>
        <p:spPr>
          <a:xfrm>
            <a:off x="67874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971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How do you answer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