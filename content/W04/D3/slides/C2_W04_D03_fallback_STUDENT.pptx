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when the room is told the W4-2 block cannot run as planned. The deck covers four</a:t>
            </a:r>
          </a:p>
          <a:p>
            <a:r>
              <a:t>pieces of ground that extend the morning: the watch-list protocol, a rerun of the strip for one</a:t>
            </a:r>
          </a:p>
          <a:p>
            <a:r>
              <a:t>zone and one time band, the Pop-Tarts bridge into Friday's forecasting, and the second interview</a:t>
            </a:r>
          </a:p>
          <a:p>
            <a:r>
              <a:t>transcript. None of this teaches independence as probability or Apriori pruning; those stay with</a:t>
            </a:r>
          </a:p>
          <a:p>
            <a:r>
              <a:t>the faculty whenever the block runs.</a:t>
            </a:r>
          </a:p>
          <a:p>
            <a:r>
              <a:t>Transition: the four parts, with their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fallback teaches nothing the faculty's block owns. The sample-size</a:t>
            </a:r>
          </a:p>
          <a:p>
            <a:r>
              <a:t>question is parked by name for the faculty.</a:t>
            </a:r>
          </a:p>
          <a:p>
            <a:r>
              <a:t>Transition: the watch-list protocol.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Walk the three questions.</a:t>
            </a:r>
          </a:p>
          <a:p>
            <a:r>
              <a:t>Transition: the trial design.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Walk the four blocks. Say that "a clear gap" is a decision; the right rule for</a:t>
            </a:r>
          </a:p>
          <a:p>
            <a:r>
              <a:t>how large it has to be is the sample-size question the faculty will teach.</a:t>
            </a:r>
          </a:p>
          <a:p>
            <a:r>
              <a:t>Transition: the baseline the room would compare against.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Press that the baseline choice is a decision; the room's two sentences are the</a:t>
            </a:r>
          </a:p>
          <a:p>
            <a:r>
              <a:t>pick and the why. Walk the strip_log query to pull the before-trial CTR for the trial zone.</a:t>
            </a:r>
          </a:p>
          <a:p>
            <a:r>
              <a:t>Transition: the pass criterion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Walk the mechanism. The strip's own click-through plus the cost line gives</a:t>
            </a:r>
          </a:p>
          <a:p>
            <a:r>
              <a:t>the trial a clear hurdle. Say that if the pair fails the trial, it stays on the watch list, which</a:t>
            </a:r>
          </a:p>
          <a:p>
            <a:r>
              <a:t>is the point of a watch list.</a:t>
            </a:r>
          </a:p>
          <a:p>
            <a:r>
              <a:t>Transition: the rerun by zone and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Groups split by zone and time band. One Kothrud morning table, one evening</a:t>
            </a:r>
          </a:p>
          <a:p>
            <a:r>
              <a:t>table, one Baner table.</a:t>
            </a:r>
          </a:p>
          <a:p>
            <a:r>
              <a:t>Transition: the rerun's shape.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Walk the four cards. Press that the floor as a share scales with the slice;</a:t>
            </a:r>
          </a:p>
          <a:p>
            <a:r>
              <a:t>the row count floor would need a bigger relative share on a smaller slice.</a:t>
            </a:r>
          </a:p>
          <a:p>
            <a:r>
              <a:t>Transition: the room runs the rerun.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TA circulates; the common fail is pairs with support below 1 percent of</a:t>
            </a:r>
          </a:p>
          <a:p>
            <a:r>
              <a:t>the slice looking promising. Hint: the floor sits at 1 percent of the SLICE.</a:t>
            </a:r>
          </a:p>
          <a:p>
            <a:r>
              <a:t>Transition: the Pop-Tarts bridge.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one piece of real industry history that lands cleanly. Verified against</a:t>
            </a:r>
          </a:p>
          <a:p>
            <a:r>
              <a:t>the published Teradata and Newsweek accounts, dated 12 October 2026 in the internal/sources</a:t>
            </a:r>
          </a:p>
          <a:p>
            <a:r>
              <a:t>file.</a:t>
            </a:r>
          </a:p>
          <a:p>
            <a:r>
              <a:t>Transition: the story in one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Read the account. Say the source is Newsweek dated the day the trip was</a:t>
            </a:r>
          </a:p>
          <a:p>
            <a:r>
              <a:t>checked (12 October 2026, in internal/sources). Press the mechanism: this is not a pair rule.</a:t>
            </a:r>
          </a:p>
          <a:p>
            <a:r>
              <a:t>Chips and cold drink pair in any week; strawberry Pop-Tarts spike only when a hurricane is</a:t>
            </a:r>
          </a:p>
          <a:p>
            <a:r>
              <a:t>coming. A pair rule has no event in it.</a:t>
            </a:r>
          </a:p>
          <a:p>
            <a:r>
              <a:t>Transition: why Friday is the right day for this.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Walk the four blocks. The last one is Friday's handoff in one line: the fit on</a:t>
            </a:r>
          </a:p>
          <a:p>
            <a:r>
              <a:t>two events is not the forecast on a third. The W4-4 faculty block on Friday (tentative) takes the method up</a:t>
            </a:r>
          </a:p>
          <a:p>
            <a:r>
              <a:t>one level: autocorrelation and ARIMA at recognition depth.</a:t>
            </a:r>
          </a:p>
          <a:p>
            <a:r>
              <a:t>Transition: the second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The dispute transcript, run in pairs. Scorer on the four defence moves and the</a:t>
            </a:r>
          </a:p>
          <a:p>
            <a:r>
              <a:t>Aced scorecard.</a:t>
            </a:r>
          </a:p>
          <a:p>
            <a:r>
              <a:t>Transition: the transcript, in blocks.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three sentences aloud. Ask the room to list what the category manager</a:t>
            </a:r>
          </a:p>
          <a:p>
            <a:r>
              <a:t>is partly right about and what the three sentences overstate.</a:t>
            </a:r>
          </a:p>
          <a:p>
            <a:r>
              <a:t>Transition: what the growth lead concedes.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Walk the four moves. Say the structure is Tuesday's, which the room already</a:t>
            </a:r>
          </a:p>
          <a:p>
            <a:r>
              <a:t>has. Score each pair on the four moves on a 0 to 2 scale.</a:t>
            </a:r>
          </a:p>
          <a:p>
            <a:r>
              <a:t>Transition: the one chart that settles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Walk the four bars. The sentence to carry: "a redesign is worth testing; it is</a:t>
            </a:r>
          </a:p>
          <a:p>
            <a:r>
              <a:t>not what fell". Say the scorer on each pair reads structure first, then evidence, then concession,</a:t>
            </a:r>
          </a:p>
          <a:p>
            <a:r>
              <a:t>then "what would change my mind".</a:t>
            </a:r>
          </a:p>
          <a:p>
            <a:r>
              <a:t>Transition: the end of the fallback.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four blocks. Say the W4-2 block will run on the next window IITGN sends.</a:t>
            </a:r>
          </a:p>
          <a:p>
            <a:r>
              <a:t>Transition: tomorrow's pre-read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WEDNESDAY  ·  FALLBACK</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watch-list hour and the Pop-Tarts bridge</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“120 minutes that stand in for the W4-2 faculty block (tentative) if it slips, and teach none of its content.”</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trainer, who runs this when IITGN cannot send the block in time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993392" cy="333756"/>
          </a:xfrm>
          <a:prstGeom prst="rect">
            <a:avLst/>
          </a:prstGeom>
          <a:noFill/>
        </p:spPr>
        <p:txBody>
          <a:bodyPr wrap="square" anchor="t" lIns="0" rIns="0" tIns="0" bIns="0">
            <a:spAutoFit/>
          </a:bodyPr>
          <a:lstStyle/>
          <a:p>
            <a:pPr algn="l"/>
            <a:r>
              <a:rPr sz="900" b="0" i="0">
                <a:solidFill>
                  <a:srgbClr val="FFFFFF"/>
                </a:solidFill>
                <a:latin typeface="Calibri"/>
              </a:rPr>
              <a:t>When should a thin pair be promoted?</a:t>
            </a:r>
          </a:p>
        </p:txBody>
      </p:sp>
      <p:sp>
        <p:nvSpPr>
          <p:cNvPr id="13" name="TextBox 12"/>
          <p:cNvSpPr txBox="1"/>
          <p:nvPr/>
        </p:nvSpPr>
        <p:spPr>
          <a:xfrm>
            <a:off x="318211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566160" y="5556758"/>
            <a:ext cx="1993392" cy="333756"/>
          </a:xfrm>
          <a:prstGeom prst="rect">
            <a:avLst/>
          </a:prstGeom>
          <a:noFill/>
        </p:spPr>
        <p:txBody>
          <a:bodyPr wrap="square" anchor="t" lIns="0" rIns="0" tIns="0" bIns="0">
            <a:spAutoFit/>
          </a:bodyPr>
          <a:lstStyle/>
          <a:p>
            <a:pPr algn="l"/>
            <a:r>
              <a:rPr sz="900" b="0" i="0">
                <a:solidFill>
                  <a:srgbClr val="FFFFFF"/>
                </a:solidFill>
                <a:latin typeface="Calibri"/>
              </a:rPr>
              <a:t>What changes in Kothrud, morning only?</a:t>
            </a:r>
          </a:p>
        </p:txBody>
      </p:sp>
      <p:sp>
        <p:nvSpPr>
          <p:cNvPr id="15" name="TextBox 14"/>
          <p:cNvSpPr txBox="1"/>
          <p:nvPr/>
        </p:nvSpPr>
        <p:spPr>
          <a:xfrm>
            <a:off x="574243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6126480" y="5556758"/>
            <a:ext cx="1993392" cy="185166"/>
          </a:xfrm>
          <a:prstGeom prst="rect">
            <a:avLst/>
          </a:prstGeom>
          <a:noFill/>
        </p:spPr>
        <p:txBody>
          <a:bodyPr wrap="square" anchor="t" lIns="0" rIns="0" tIns="0" bIns="0">
            <a:spAutoFit/>
          </a:bodyPr>
          <a:lstStyle/>
          <a:p>
            <a:pPr algn="l"/>
            <a:r>
              <a:rPr sz="900" b="0" i="0">
                <a:solidFill>
                  <a:srgbClr val="FFFFFF"/>
                </a:solidFill>
                <a:latin typeface="Calibri"/>
              </a:rPr>
              <a:t>Why do Pop-Tarts ride the storm?</a:t>
            </a:r>
          </a:p>
        </p:txBody>
      </p:sp>
      <p:sp>
        <p:nvSpPr>
          <p:cNvPr id="17" name="TextBox 16"/>
          <p:cNvSpPr txBox="1"/>
          <p:nvPr/>
        </p:nvSpPr>
        <p:spPr>
          <a:xfrm>
            <a:off x="830275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8686800" y="5556758"/>
            <a:ext cx="1993392" cy="333756"/>
          </a:xfrm>
          <a:prstGeom prst="rect">
            <a:avLst/>
          </a:prstGeom>
          <a:noFill/>
        </p:spPr>
        <p:txBody>
          <a:bodyPr wrap="square" anchor="t" lIns="0" rIns="0" tIns="0" bIns="0">
            <a:spAutoFit/>
          </a:bodyPr>
          <a:lstStyle/>
          <a:p>
            <a:pPr algn="l"/>
            <a:r>
              <a:rPr sz="900" b="0" i="0">
                <a:solidFill>
                  <a:srgbClr val="FFFFFF"/>
                </a:solidFill>
                <a:latin typeface="Calibri"/>
              </a:rPr>
              <a:t>Answering the manager who wants a redesign</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The watch-list hour and the Pop-Tarts bridge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fallback runs four parts in 120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in the fallback and what is not.</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3421713"/>
                <a:gridCol w="1114775"/>
                <a:gridCol w="6594501"/>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r>
              <a:tr h="611632">
                <a:tc>
                  <a:txBody>
                    <a:bodyPr/>
                    <a:lstStyle/>
                    <a:p>
                      <a:r>
                        <a:rPr sz="1400" b="0" i="0">
                          <a:solidFill>
                            <a:srgbClr val="1A1440"/>
                          </a:solidFill>
                          <a:latin typeface="Calibri"/>
                        </a:rPr>
                        <a:t>1. The watch-list protocol</a:t>
                      </a:r>
                    </a:p>
                  </a:txBody>
                  <a:tcPr marL="101600" marR="101600" marT="38100" marB="38100" anchor="ctr">
                    <a:solidFill>
                      <a:srgbClr val="FFFFFF"/>
                    </a:solidFill>
                  </a:tcPr>
                </a:tc>
                <a:tc>
                  <a:txBody>
                    <a:bodyPr/>
                    <a:lstStyle/>
                    <a:p>
                      <a:r>
                        <a:rPr sz="1400" b="0" i="0">
                          <a:solidFill>
                            <a:srgbClr val="1A1440"/>
                          </a:solidFill>
                          <a:latin typeface="Calibri"/>
                        </a:rPr>
                        <a:t>35</a:t>
                      </a:r>
                    </a:p>
                  </a:txBody>
                  <a:tcPr marL="101600" marR="101600" marT="38100" marB="38100" anchor="ctr">
                    <a:solidFill>
                      <a:srgbClr val="FFFFFF"/>
                    </a:solidFill>
                  </a:tcPr>
                </a:tc>
                <a:tc>
                  <a:txBody>
                    <a:bodyPr/>
                    <a:lstStyle/>
                    <a:p>
                      <a:r>
                        <a:rPr sz="1400" b="0" i="0">
                          <a:solidFill>
                            <a:srgbClr val="1A1440"/>
                          </a:solidFill>
                          <a:latin typeface="Calibri"/>
                        </a:rPr>
                        <a:t>What a two-week trial in two zones must show before a thin pair is promoted.</a:t>
                      </a:r>
                    </a:p>
                  </a:txBody>
                  <a:tcPr marL="101600" marR="101600" marT="38100" marB="38100" anchor="ctr">
                    <a:solidFill>
                      <a:srgbClr val="FFFFFF"/>
                    </a:solidFill>
                  </a:tcPr>
                </a:tc>
              </a:tr>
              <a:tr h="611632">
                <a:tc>
                  <a:txBody>
                    <a:bodyPr/>
                    <a:lstStyle/>
                    <a:p>
                      <a:r>
                        <a:rPr sz="1400" b="0" i="0">
                          <a:solidFill>
                            <a:srgbClr val="1A1440"/>
                          </a:solidFill>
                          <a:latin typeface="Calibri"/>
                        </a:rPr>
                        <a:t>2. The rerun by zone and time</a:t>
                      </a:r>
                    </a:p>
                  </a:txBody>
                  <a:tcPr marL="101600" marR="101600" marT="38100" marB="38100" anchor="ctr">
                    <a:solidFill>
                      <a:srgbClr val="F4F2FA"/>
                    </a:solidFill>
                  </a:tcPr>
                </a:tc>
                <a:tc>
                  <a:txBody>
                    <a:bodyPr/>
                    <a:lstStyle/>
                    <a:p>
                      <a:r>
                        <a:rPr sz="1400" b="0" i="0">
                          <a:solidFill>
                            <a:srgbClr val="1A1440"/>
                          </a:solidFill>
                          <a:latin typeface="Calibri"/>
                        </a:rPr>
                        <a:t>40</a:t>
                      </a:r>
                    </a:p>
                  </a:txBody>
                  <a:tcPr marL="101600" marR="101600" marT="38100" marB="38100" anchor="ctr">
                    <a:solidFill>
                      <a:srgbClr val="F4F2FA"/>
                    </a:solidFill>
                  </a:tcPr>
                </a:tc>
                <a:tc>
                  <a:txBody>
                    <a:bodyPr/>
                    <a:lstStyle/>
                    <a:p>
                      <a:r>
                        <a:rPr sz="1400" b="0" i="0">
                          <a:solidFill>
                            <a:srgbClr val="1A1440"/>
                          </a:solidFill>
                          <a:latin typeface="Calibri"/>
                        </a:rPr>
                        <a:t>The strip's new ranking recomputed for one zone and one time band; the row's after-class task done in class.</a:t>
                      </a:r>
                    </a:p>
                  </a:txBody>
                  <a:tcPr marL="101600" marR="101600" marT="38100" marB="38100" anchor="ctr">
                    <a:solidFill>
                      <a:srgbClr val="F4F2FA"/>
                    </a:solidFill>
                  </a:tcPr>
                </a:tc>
              </a:tr>
              <a:tr h="611632">
                <a:tc>
                  <a:txBody>
                    <a:bodyPr/>
                    <a:lstStyle/>
                    <a:p>
                      <a:r>
                        <a:rPr sz="1400" b="0" i="0">
                          <a:solidFill>
                            <a:srgbClr val="1A1440"/>
                          </a:solidFill>
                          <a:latin typeface="Calibri"/>
                        </a:rPr>
                        <a:t>3. The Pop-Tarts bridge</a:t>
                      </a:r>
                    </a:p>
                  </a:txBody>
                  <a:tcPr marL="101600" marR="101600" marT="38100" marB="38100" anchor="ctr">
                    <a:solidFill>
                      <a:srgbClr val="FFFFFF"/>
                    </a:solidFill>
                  </a:tcPr>
                </a:tc>
                <a:tc>
                  <a:txBody>
                    <a:bodyPr/>
                    <a:lstStyle/>
                    <a:p>
                      <a:r>
                        <a:rPr sz="1400" b="0" i="0">
                          <a:solidFill>
                            <a:srgbClr val="1A1440"/>
                          </a:solidFill>
                          <a:latin typeface="Calibri"/>
                        </a:rPr>
                        <a:t>20</a:t>
                      </a:r>
                    </a:p>
                  </a:txBody>
                  <a:tcPr marL="101600" marR="101600" marT="38100" marB="38100" anchor="ctr">
                    <a:solidFill>
                      <a:srgbClr val="FFFFFF"/>
                    </a:solidFill>
                  </a:tcPr>
                </a:tc>
                <a:tc>
                  <a:txBody>
                    <a:bodyPr/>
                    <a:lstStyle/>
                    <a:p>
                      <a:r>
                        <a:rPr sz="1400" b="0" i="0">
                          <a:solidFill>
                            <a:srgbClr val="1A1440"/>
                          </a:solidFill>
                          <a:latin typeface="Calibri"/>
                        </a:rPr>
                        <a:t>A real event-driven pattern that is not a pair rule, and why Friday is the question for it.</a:t>
                      </a:r>
                    </a:p>
                  </a:txBody>
                  <a:tcPr marL="101600" marR="101600" marT="38100" marB="38100" anchor="ctr">
                    <a:solidFill>
                      <a:srgbClr val="FFFFFF"/>
                    </a:solidFill>
                  </a:tcPr>
                </a:tc>
              </a:tr>
              <a:tr h="611632">
                <a:tc>
                  <a:txBody>
                    <a:bodyPr/>
                    <a:lstStyle/>
                    <a:p>
                      <a:r>
                        <a:rPr sz="1400" b="0" i="0">
                          <a:solidFill>
                            <a:srgbClr val="1A1440"/>
                          </a:solidFill>
                          <a:latin typeface="Calibri"/>
                        </a:rPr>
                        <a:t>4. The second transcript</a:t>
                      </a:r>
                    </a:p>
                  </a:txBody>
                  <a:tcPr marL="101600" marR="101600" marT="38100" marB="38100" anchor="ctr">
                    <a:solidFill>
                      <a:srgbClr val="F4F2FA"/>
                    </a:solidFill>
                  </a:tcPr>
                </a:tc>
                <a:tc>
                  <a:txBody>
                    <a:bodyPr/>
                    <a:lstStyle/>
                    <a:p>
                      <a:r>
                        <a:rPr sz="1400" b="0" i="0">
                          <a:solidFill>
                            <a:srgbClr val="1A1440"/>
                          </a:solidFill>
                          <a:latin typeface="Calibri"/>
                        </a:rPr>
                        <a:t>25</a:t>
                      </a:r>
                    </a:p>
                  </a:txBody>
                  <a:tcPr marL="101600" marR="101600" marT="38100" marB="38100" anchor="ctr">
                    <a:solidFill>
                      <a:srgbClr val="F4F2FA"/>
                    </a:solidFill>
                  </a:tcPr>
                </a:tc>
                <a:tc>
                  <a:txBody>
                    <a:bodyPr/>
                    <a:lstStyle/>
                    <a:p>
                      <a:r>
                        <a:rPr sz="1400" b="0" i="0">
                          <a:solidFill>
                            <a:srgbClr val="1A1440"/>
                          </a:solidFill>
                          <a:latin typeface="Calibri"/>
                        </a:rPr>
                        <a:t>The category manager is sure; the room answers with the slot-by-slot CTR split.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When should a thin pair be promoted?</a:t>
            </a:r>
          </a:p>
        </p:txBody>
      </p:sp>
      <p:sp>
        <p:nvSpPr>
          <p:cNvPr id="12" name="Oval 11"/>
          <p:cNvSpPr/>
          <p:nvPr/>
        </p:nvSpPr>
        <p:spPr>
          <a:xfrm>
            <a:off x="26620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771775"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What changes in Kothrud, morning only?</a:t>
            </a:r>
          </a:p>
        </p:txBody>
      </p:sp>
      <p:sp>
        <p:nvSpPr>
          <p:cNvPr id="14" name="Oval 13"/>
          <p:cNvSpPr/>
          <p:nvPr/>
        </p:nvSpPr>
        <p:spPr>
          <a:xfrm>
            <a:off x="48857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95481"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Why do Pop-Tarts ride the storm?</a:t>
            </a:r>
          </a:p>
        </p:txBody>
      </p:sp>
      <p:sp>
        <p:nvSpPr>
          <p:cNvPr id="16" name="Oval 15"/>
          <p:cNvSpPr/>
          <p:nvPr/>
        </p:nvSpPr>
        <p:spPr>
          <a:xfrm>
            <a:off x="683342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3153"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Answering the manager who wants a redesign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When should a thin pair be promoted?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watch-list protocol, 35 minutes.</a:t>
            </a:r>
          </a:p>
        </p:txBody>
      </p:sp>
      <p:sp>
        <p:nvSpPr>
          <p:cNvPr id="10" name="Rounded Rectangle 9"/>
          <p:cNvSpPr/>
          <p:nvPr/>
        </p:nvSpPr>
        <p:spPr>
          <a:xfrm>
            <a:off x="73151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When should a thin pair be promoted?</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changes in Kothrud, morning only?</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do Pop-Tarts ride the storm?</a:t>
            </a:r>
          </a:p>
        </p:txBody>
      </p:sp>
      <p:sp>
        <p:nvSpPr>
          <p:cNvPr id="13" name="Rounded Rectangle 12"/>
          <p:cNvSpPr/>
          <p:nvPr/>
        </p:nvSpPr>
        <p:spPr>
          <a:xfrm>
            <a:off x="7507224"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Answering the manager who wants a redesign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The watch-list hour and the Pop-Tarts bridge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Try the thin pair in two zones for two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trial carry?</a:t>
            </a:r>
          </a:p>
        </p:txBody>
      </p:sp>
      <p:sp>
        <p:nvSpPr>
          <p:cNvPr id="9" name="Rounded Rectangle 8"/>
          <p:cNvSpPr/>
          <p:nvPr/>
        </p:nvSpPr>
        <p:spPr>
          <a:xfrm>
            <a:off x="530352"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ap-pin_d669bc82d62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WHERE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 zones</a:t>
            </a:r>
          </a:p>
        </p:txBody>
      </p:sp>
      <p:sp>
        <p:nvSpPr>
          <p:cNvPr id="14" name="TextBox 13"/>
          <p:cNvSpPr txBox="1"/>
          <p:nvPr/>
        </p:nvSpPr>
        <p:spPr>
          <a:xfrm>
            <a:off x="731519"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Zones with similar cart volume and category mix; the current zone and one close neighbour by basket shape.</a:t>
            </a:r>
          </a:p>
        </p:txBody>
      </p:sp>
      <p:sp>
        <p:nvSpPr>
          <p:cNvPr id="15" name="Rounded Rectangle 14"/>
          <p:cNvSpPr/>
          <p:nvPr/>
        </p:nvSpPr>
        <p:spPr>
          <a:xfrm>
            <a:off x="3358819"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HOW LONG</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 weeks</a:t>
            </a:r>
          </a:p>
        </p:txBody>
      </p:sp>
      <p:sp>
        <p:nvSpPr>
          <p:cNvPr id="20" name="TextBox 19"/>
          <p:cNvSpPr txBox="1"/>
          <p:nvPr/>
        </p:nvSpPr>
        <p:spPr>
          <a:xfrm>
            <a:off x="3559987"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Enough for 20 to 40 appearances of the pair at the current support; the sample-size question is for the faculty.</a:t>
            </a:r>
          </a:p>
        </p:txBody>
      </p:sp>
      <p:sp>
        <p:nvSpPr>
          <p:cNvPr id="21" name="Rounded Rectangle 20"/>
          <p:cNvSpPr/>
          <p:nvPr/>
        </p:nvSpPr>
        <p:spPr>
          <a:xfrm>
            <a:off x="6187287"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WHAT MUST BEAT</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CTR against baseline</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slot's click-through must beat its before-change CTR by a clear gap.</a:t>
            </a:r>
          </a:p>
        </p:txBody>
      </p:sp>
      <p:sp>
        <p:nvSpPr>
          <p:cNvPr id="27" name="Rounded Rectangle 26"/>
          <p:cNvSpPr/>
          <p:nvPr/>
        </p:nvSpPr>
        <p:spPr>
          <a:xfrm>
            <a:off x="9015755" y="1956816"/>
            <a:ext cx="2645587"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triangle-alert_e79485772e4f.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WHAT STOPS IT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The caveat</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A new campaign or a stock-out invalidates the window; the trial restarts.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When should a thin pair be promoted?</a:t>
            </a:r>
          </a:p>
        </p:txBody>
      </p:sp>
      <p:sp>
        <p:nvSpPr>
          <p:cNvPr id="35" name="Oval 34"/>
          <p:cNvSpPr/>
          <p:nvPr/>
        </p:nvSpPr>
        <p:spPr>
          <a:xfrm>
            <a:off x="26620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771775"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What changes in Kothrud, morning only?</a:t>
            </a:r>
          </a:p>
        </p:txBody>
      </p:sp>
      <p:sp>
        <p:nvSpPr>
          <p:cNvPr id="37" name="Oval 36"/>
          <p:cNvSpPr/>
          <p:nvPr/>
        </p:nvSpPr>
        <p:spPr>
          <a:xfrm>
            <a:off x="48857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95481"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Why do Pop-Tarts ride the storm?</a:t>
            </a:r>
          </a:p>
        </p:txBody>
      </p:sp>
      <p:sp>
        <p:nvSpPr>
          <p:cNvPr id="39" name="Oval 38"/>
          <p:cNvSpPr/>
          <p:nvPr/>
        </p:nvSpPr>
        <p:spPr>
          <a:xfrm>
            <a:off x="683342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43153"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Answering the manager who wants a redesign</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baseline is the trial zone's own CTR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baseline does the room pick, and why?</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before-after baseline is the same zone's own slot CTR before the trial. A cross-zone comparison would carry seasonality and city effects; the same-zone before window keeps those controlled. The baseline needs the four weeks of September already in strip_log, segmented by zone.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When should a thin pair be promoted?</a:t>
            </a:r>
          </a:p>
        </p:txBody>
      </p:sp>
      <p:sp>
        <p:nvSpPr>
          <p:cNvPr id="12" name="Oval 11"/>
          <p:cNvSpPr/>
          <p:nvPr/>
        </p:nvSpPr>
        <p:spPr>
          <a:xfrm>
            <a:off x="26620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771775"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What changes in Kothrud, morning only?</a:t>
            </a:r>
          </a:p>
        </p:txBody>
      </p:sp>
      <p:sp>
        <p:nvSpPr>
          <p:cNvPr id="14" name="Oval 13"/>
          <p:cNvSpPr/>
          <p:nvPr/>
        </p:nvSpPr>
        <p:spPr>
          <a:xfrm>
            <a:off x="48857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95481"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Why do Pop-Tarts ride the storm?</a:t>
            </a:r>
          </a:p>
        </p:txBody>
      </p:sp>
      <p:sp>
        <p:nvSpPr>
          <p:cNvPr id="16" name="Oval 15"/>
          <p:cNvSpPr/>
          <p:nvPr/>
        </p:nvSpPr>
        <p:spPr>
          <a:xfrm>
            <a:off x="683342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3153"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Answering the manager who wants a redesign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Pass if the pair beats before and the strip's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strip need to see?</a:t>
            </a:r>
          </a:p>
        </p:txBody>
      </p:sp>
      <p:pic>
        <p:nvPicPr>
          <p:cNvPr id="9" name="mermaid diagram" descr="01202349c3acff54.png"/>
          <p:cNvPicPr>
            <a:picLocks noChangeAspect="1"/>
          </p:cNvPicPr>
          <p:nvPr/>
        </p:nvPicPr>
        <p:blipFill>
          <a:blip r:embed="rId5"/>
          <a:stretch>
            <a:fillRect/>
          </a:stretch>
        </p:blipFill>
        <p:spPr>
          <a:xfrm>
            <a:off x="1729936" y="1664208"/>
            <a:ext cx="8731821"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thin pair's slot CTR must beat the trial zone's own before-window strip CTR by a clear gap, and the pair's incremental adds must repay the slot's cost line (margin returned per cart to the heavy tenth). The strip rolls the pair out only if both numbers hold.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When should a thin pair be promoted?</a:t>
            </a:r>
          </a:p>
        </p:txBody>
      </p:sp>
      <p:sp>
        <p:nvSpPr>
          <p:cNvPr id="13" name="Oval 12"/>
          <p:cNvSpPr/>
          <p:nvPr/>
        </p:nvSpPr>
        <p:spPr>
          <a:xfrm>
            <a:off x="26620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771775"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What changes in Kothrud, morning only?</a:t>
            </a:r>
          </a:p>
        </p:txBody>
      </p:sp>
      <p:sp>
        <p:nvSpPr>
          <p:cNvPr id="15" name="Oval 14"/>
          <p:cNvSpPr/>
          <p:nvPr/>
        </p:nvSpPr>
        <p:spPr>
          <a:xfrm>
            <a:off x="48857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995481"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Why do Pop-Tarts ride the storm?</a:t>
            </a:r>
          </a:p>
        </p:txBody>
      </p:sp>
      <p:sp>
        <p:nvSpPr>
          <p:cNvPr id="17" name="Oval 16"/>
          <p:cNvSpPr/>
          <p:nvPr/>
        </p:nvSpPr>
        <p:spPr>
          <a:xfrm>
            <a:off x="683342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3153"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Answering the manager who wants a redesign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changes in Kothrud, morning only?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rerun by zone and time band, 40 minutes.</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should a thin pair be promoted?</a:t>
            </a:r>
          </a:p>
        </p:txBody>
      </p:sp>
      <p:sp>
        <p:nvSpPr>
          <p:cNvPr id="11" name="Rounded Rectangle 10"/>
          <p:cNvSpPr/>
          <p:nvPr/>
        </p:nvSpPr>
        <p:spPr>
          <a:xfrm>
            <a:off x="2990088"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changes in Kothrud, morning only?</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do Pop-Tarts ride the storm?</a:t>
            </a:r>
          </a:p>
        </p:txBody>
      </p:sp>
      <p:sp>
        <p:nvSpPr>
          <p:cNvPr id="13" name="Rounded Rectangle 12"/>
          <p:cNvSpPr/>
          <p:nvPr/>
        </p:nvSpPr>
        <p:spPr>
          <a:xfrm>
            <a:off x="7507224"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Answering the manager who wants a redesign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The watch-list hour and the Pop-Tarts bridge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rerun is the pairs table, filtered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in the code?</a:t>
            </a:r>
          </a:p>
        </p:txBody>
      </p:sp>
      <p:sp>
        <p:nvSpPr>
          <p:cNvPr id="9" name="Rounded Rectangle 8"/>
          <p:cNvSpPr/>
          <p:nvPr/>
        </p:nvSpPr>
        <p:spPr>
          <a:xfrm>
            <a:off x="530352"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ter_c3942426586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ONE ZONE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carts.zone == "Kothrud"</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Pull the Kothrud carts; run the same marginals, pairs and lifts on them.</a:t>
            </a:r>
          </a:p>
        </p:txBody>
      </p:sp>
      <p:sp>
        <p:nvSpPr>
          <p:cNvPr id="15" name="Rounded Rectangle 14"/>
          <p:cNvSpPr/>
          <p:nvPr/>
        </p:nvSpPr>
        <p:spPr>
          <a:xfrm>
            <a:off x="3358819"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lock_ca1635f017e3.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ONE TIME BAND</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carts.time_band == "morning"</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strip page's morning cart population; same shape.</a:t>
            </a:r>
          </a:p>
        </p:txBody>
      </p:sp>
      <p:sp>
        <p:nvSpPr>
          <p:cNvPr id="21" name="Rounded Rectangle 20"/>
          <p:cNvSpPr/>
          <p:nvPr/>
        </p:nvSpPr>
        <p:spPr>
          <a:xfrm>
            <a:off x="6187287"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BOTH</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Zone and band</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smaller the slice, the thinner the ground; expect the lifts to be noisier.</a:t>
            </a:r>
          </a:p>
        </p:txBody>
      </p:sp>
      <p:sp>
        <p:nvSpPr>
          <p:cNvPr id="27" name="Rounded Rectangle 26"/>
          <p:cNvSpPr/>
          <p:nvPr/>
        </p:nvSpPr>
        <p:spPr>
          <a:xfrm>
            <a:off x="9015755" y="1956816"/>
            <a:ext cx="2645587"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heck_adac4adaf554.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KEEP THE FLOOR</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1 percent of the slice</a:t>
            </a:r>
          </a:p>
        </p:txBody>
      </p:sp>
      <p:sp>
        <p:nvSpPr>
          <p:cNvPr id="32" name="TextBox 31"/>
          <p:cNvSpPr txBox="1"/>
          <p:nvPr/>
        </p:nvSpPr>
        <p:spPr>
          <a:xfrm>
            <a:off x="9216923" y="3303524"/>
            <a:ext cx="2243251" cy="763016"/>
          </a:xfrm>
          <a:prstGeom prst="rect">
            <a:avLst/>
          </a:prstGeom>
          <a:noFill/>
        </p:spPr>
        <p:txBody>
          <a:bodyPr wrap="square" anchor="t" lIns="0" rIns="0" tIns="0" bIns="0">
            <a:spAutoFit/>
          </a:bodyPr>
          <a:lstStyle/>
          <a:p>
            <a:pPr algn="l"/>
            <a:r>
              <a:rPr sz="1100" b="0" i="0">
                <a:solidFill>
                  <a:srgbClr val="CFC9EE"/>
                </a:solidFill>
                <a:latin typeface="Calibri"/>
              </a:rPr>
              <a:t>The floor is a share, so it scales with the slice; a 1 percent floor on a Kothrud morning subset is a smaller count.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When should a thin pair be promoted?</a:t>
            </a:r>
          </a:p>
        </p:txBody>
      </p:sp>
      <p:sp>
        <p:nvSpPr>
          <p:cNvPr id="35" name="Oval 34"/>
          <p:cNvSpPr/>
          <p:nvPr/>
        </p:nvSpPr>
        <p:spPr>
          <a:xfrm>
            <a:off x="26620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771775" y="6437376"/>
            <a:ext cx="2022538" cy="152146"/>
          </a:xfrm>
          <a:prstGeom prst="rect">
            <a:avLst/>
          </a:prstGeom>
          <a:noFill/>
        </p:spPr>
        <p:txBody>
          <a:bodyPr wrap="square" anchor="t" lIns="0" rIns="0" tIns="0" bIns="0">
            <a:spAutoFit/>
          </a:bodyPr>
          <a:lstStyle/>
          <a:p>
            <a:pPr algn="l"/>
            <a:r>
              <a:rPr sz="700" b="1" i="0">
                <a:solidFill>
                  <a:srgbClr val="5B3FD6"/>
                </a:solidFill>
                <a:latin typeface="Calibri"/>
              </a:rPr>
              <a:t>What changes in Kothrud, morning only?</a:t>
            </a:r>
          </a:p>
        </p:txBody>
      </p:sp>
      <p:sp>
        <p:nvSpPr>
          <p:cNvPr id="37" name="Oval 36"/>
          <p:cNvSpPr/>
          <p:nvPr/>
        </p:nvSpPr>
        <p:spPr>
          <a:xfrm>
            <a:off x="48857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95481"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Why do Pop-Tarts ride the storm?</a:t>
            </a:r>
          </a:p>
        </p:txBody>
      </p:sp>
      <p:sp>
        <p:nvSpPr>
          <p:cNvPr id="39" name="Oval 38"/>
          <p:cNvSpPr/>
          <p:nvPr/>
        </p:nvSpPr>
        <p:spPr>
          <a:xfrm>
            <a:off x="683342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43153"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Answering the manager who wants a redesign</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groups, 30 minutes, one slice per group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handed in.</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914400"/>
                <a:gridCol w="2479585"/>
                <a:gridCol w="7737005"/>
              </a:tblGrid>
              <a:tr h="369824">
                <a:tc>
                  <a:txBody>
                    <a:bodyPr/>
                    <a:lstStyle/>
                    <a:p>
                      <a:r>
                        <a:rPr sz="1450" b="1" i="0">
                          <a:solidFill>
                            <a:srgbClr val="FFFFFF"/>
                          </a:solidFill>
                          <a:latin typeface="Calibri"/>
                        </a:rPr>
                        <a:t>Group</a:t>
                      </a:r>
                    </a:p>
                  </a:txBody>
                  <a:tcPr marL="101600" marR="101600" marT="38100" marB="38100" anchor="ctr">
                    <a:solidFill>
                      <a:srgbClr val="1A0F5C"/>
                    </a:solidFill>
                  </a:tcPr>
                </a:tc>
                <a:tc>
                  <a:txBody>
                    <a:bodyPr/>
                    <a:lstStyle/>
                    <a:p>
                      <a:r>
                        <a:rPr sz="1450" b="1" i="0">
                          <a:solidFill>
                            <a:srgbClr val="FFFFFF"/>
                          </a:solidFill>
                          <a:latin typeface="Calibri"/>
                        </a:rPr>
                        <a:t>Slice</a:t>
                      </a:r>
                    </a:p>
                  </a:txBody>
                  <a:tcPr marL="101600" marR="101600" marT="38100" marB="38100" anchor="ctr">
                    <a:solidFill>
                      <a:srgbClr val="1A0F5C"/>
                    </a:solidFill>
                  </a:tcPr>
                </a:tc>
                <a:tc>
                  <a:txBody>
                    <a:bodyPr/>
                    <a:lstStyle/>
                    <a:p>
                      <a:r>
                        <a:rPr sz="1450" b="1" i="0">
                          <a:solidFill>
                            <a:srgbClr val="FFFFFF"/>
                          </a:solidFill>
                          <a:latin typeface="Calibri"/>
                        </a:rPr>
                        <a:t>What they report</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Kothrud, all day</a:t>
                      </a:r>
                    </a:p>
                  </a:txBody>
                  <a:tcPr marL="101600" marR="101600" marT="38100" marB="38100" anchor="ctr">
                    <a:solidFill>
                      <a:srgbClr val="FFFFFF"/>
                    </a:solidFill>
                  </a:tcPr>
                </a:tc>
                <a:tc>
                  <a:txBody>
                    <a:bodyPr/>
                    <a:lstStyle/>
                    <a:p>
                      <a:r>
                        <a:rPr sz="1400" b="0" i="0">
                          <a:solidFill>
                            <a:srgbClr val="1A1440"/>
                          </a:solidFill>
                          <a:latin typeface="Calibri"/>
                        </a:rPr>
                        <a:t>The top five pairs by lift, with support</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Baner, morning</a:t>
                      </a:r>
                    </a:p>
                  </a:txBody>
                  <a:tcPr marL="101600" marR="101600" marT="38100" marB="38100" anchor="ctr">
                    <a:solidFill>
                      <a:srgbClr val="F4F2FA"/>
                    </a:solidFill>
                  </a:tcPr>
                </a:tc>
                <a:tc>
                  <a:txBody>
                    <a:bodyPr/>
                    <a:lstStyle/>
                    <a:p>
                      <a:r>
                        <a:rPr sz="1400" b="0" i="0">
                          <a:solidFill>
                            <a:srgbClr val="1A1440"/>
                          </a:solidFill>
                          <a:latin typeface="Calibri"/>
                        </a:rPr>
                        <a:t>The top five pairs by lift, with support</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Any zone, evening</a:t>
                      </a:r>
                    </a:p>
                  </a:txBody>
                  <a:tcPr marL="101600" marR="101600" marT="38100" marB="38100" anchor="ctr">
                    <a:solidFill>
                      <a:srgbClr val="FFFFFF"/>
                    </a:solidFill>
                  </a:tcPr>
                </a:tc>
                <a:tc>
                  <a:txBody>
                    <a:bodyPr/>
                    <a:lstStyle/>
                    <a:p>
                      <a:r>
                        <a:rPr sz="1400" b="0" i="0">
                          <a:solidFill>
                            <a:srgbClr val="1A1440"/>
                          </a:solidFill>
                          <a:latin typeface="Calibri"/>
                        </a:rPr>
                        <a:t>The top five pairs by lift, with support</a:t>
                      </a:r>
                    </a:p>
                  </a:txBody>
                  <a:tcPr marL="101600" marR="101600" marT="38100" marB="38100" anchor="ctr">
                    <a:solidFill>
                      <a:srgbClr val="FFFFFF"/>
                    </a:solidFill>
                  </a:tcPr>
                </a:tc>
              </a:tr>
              <a:tr h="369824">
                <a:tc>
                  <a:txBody>
                    <a:bodyPr/>
                    <a:lstStyle/>
                    <a:p>
                      <a:r>
                        <a:rPr sz="1400" b="0" i="0">
                          <a:solidFill>
                            <a:srgbClr val="1A1440"/>
                          </a:solidFill>
                          <a:latin typeface="Calibri"/>
                        </a:rPr>
                        <a:t>4 to 9</a:t>
                      </a:r>
                    </a:p>
                  </a:txBody>
                  <a:tcPr marL="101600" marR="101600" marT="38100" marB="38100" anchor="ctr">
                    <a:solidFill>
                      <a:srgbClr val="F4F2FA"/>
                    </a:solidFill>
                  </a:tcPr>
                </a:tc>
                <a:tc>
                  <a:txBody>
                    <a:bodyPr/>
                    <a:lstStyle/>
                    <a:p>
                      <a:r>
                        <a:rPr sz="1400" b="0" i="0">
                          <a:solidFill>
                            <a:srgbClr val="1A1440"/>
                          </a:solidFill>
                          <a:latin typeface="Calibri"/>
                        </a:rPr>
                        <a:t>Zone of choice</a:t>
                      </a:r>
                    </a:p>
                  </a:txBody>
                  <a:tcPr marL="101600" marR="101600" marT="38100" marB="38100" anchor="ctr">
                    <a:solidFill>
                      <a:srgbClr val="F4F2FA"/>
                    </a:solidFill>
                  </a:tcPr>
                </a:tc>
                <a:tc>
                  <a:txBody>
                    <a:bodyPr/>
                    <a:lstStyle/>
                    <a:p>
                      <a:r>
                        <a:rPr sz="1400" b="0" i="0">
                          <a:solidFill>
                            <a:srgbClr val="1A1440"/>
                          </a:solidFill>
                          <a:latin typeface="Calibri"/>
                        </a:rPr>
                        <a:t>The top five pairs; name one that changed rank against the full-data table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When should a thin pair be promoted?</a:t>
            </a:r>
          </a:p>
        </p:txBody>
      </p:sp>
      <p:sp>
        <p:nvSpPr>
          <p:cNvPr id="12" name="Oval 11"/>
          <p:cNvSpPr/>
          <p:nvPr/>
        </p:nvSpPr>
        <p:spPr>
          <a:xfrm>
            <a:off x="26620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771775" y="6437376"/>
            <a:ext cx="2022538" cy="152146"/>
          </a:xfrm>
          <a:prstGeom prst="rect">
            <a:avLst/>
          </a:prstGeom>
          <a:noFill/>
        </p:spPr>
        <p:txBody>
          <a:bodyPr wrap="square" anchor="t" lIns="0" rIns="0" tIns="0" bIns="0">
            <a:spAutoFit/>
          </a:bodyPr>
          <a:lstStyle/>
          <a:p>
            <a:pPr algn="l"/>
            <a:r>
              <a:rPr sz="700" b="1" i="0">
                <a:solidFill>
                  <a:srgbClr val="5B3FD6"/>
                </a:solidFill>
                <a:latin typeface="Calibri"/>
              </a:rPr>
              <a:t>What changes in Kothrud, morning only?</a:t>
            </a:r>
          </a:p>
        </p:txBody>
      </p:sp>
      <p:sp>
        <p:nvSpPr>
          <p:cNvPr id="14" name="Oval 13"/>
          <p:cNvSpPr/>
          <p:nvPr/>
        </p:nvSpPr>
        <p:spPr>
          <a:xfrm>
            <a:off x="48857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95481"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Why do Pop-Tarts ride the storm?</a:t>
            </a:r>
          </a:p>
        </p:txBody>
      </p:sp>
      <p:sp>
        <p:nvSpPr>
          <p:cNvPr id="16" name="Oval 15"/>
          <p:cNvSpPr/>
          <p:nvPr/>
        </p:nvSpPr>
        <p:spPr>
          <a:xfrm>
            <a:off x="683342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3153"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Answering the manager who wants a redesign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do Pop-Tarts ride the storm?</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Pop-Tarts bridge into Friday's forecasting, 20 minutes.</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should a thin pair be promoted?</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changes in Kothrud, morning only?</a:t>
            </a:r>
          </a:p>
        </p:txBody>
      </p:sp>
      <p:sp>
        <p:nvSpPr>
          <p:cNvPr id="12" name="Rounded Rectangle 11"/>
          <p:cNvSpPr/>
          <p:nvPr/>
        </p:nvSpPr>
        <p:spPr>
          <a:xfrm>
            <a:off x="524865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do Pop-Tarts ride the storm?</a:t>
            </a:r>
          </a:p>
        </p:txBody>
      </p:sp>
      <p:sp>
        <p:nvSpPr>
          <p:cNvPr id="13" name="Rounded Rectangle 12"/>
          <p:cNvSpPr/>
          <p:nvPr/>
        </p:nvSpPr>
        <p:spPr>
          <a:xfrm>
            <a:off x="7507224"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Answering the manager who wants a redesign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The watch-list hour and the Pop-Tarts bridge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Walmart shipped Pop-Tarts ahead of Frances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Walmart see, and why move the stock?</a:t>
            </a:r>
          </a:p>
        </p:txBody>
      </p:sp>
      <p:pic>
        <p:nvPicPr>
          <p:cNvPr id="9" name="mermaid diagram" descr="779f1550160ce87f.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Walmart's data analysts had seen strawberry Pop-Tart sales rise about seven times in the week before Hurricane Charley. When Hurricane Frances was forecast, the chain shipped extra strawberry Pop-Tarts to the Florida stores before the storm. The pattern is event-conditioned demand: the trigger is a known future event, and the signal is prior behaviour under the same trigger.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When should a thin pair be promoted?</a:t>
            </a:r>
          </a:p>
        </p:txBody>
      </p:sp>
      <p:sp>
        <p:nvSpPr>
          <p:cNvPr id="13" name="Oval 12"/>
          <p:cNvSpPr/>
          <p:nvPr/>
        </p:nvSpPr>
        <p:spPr>
          <a:xfrm>
            <a:off x="26620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771775"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What changes in Kothrud, morning only?</a:t>
            </a:r>
          </a:p>
        </p:txBody>
      </p:sp>
      <p:sp>
        <p:nvSpPr>
          <p:cNvPr id="15" name="Oval 14"/>
          <p:cNvSpPr/>
          <p:nvPr/>
        </p:nvSpPr>
        <p:spPr>
          <a:xfrm>
            <a:off x="48857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995481"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Why do Pop-Tarts ride the storm?</a:t>
            </a:r>
          </a:p>
        </p:txBody>
      </p:sp>
      <p:sp>
        <p:nvSpPr>
          <p:cNvPr id="17" name="Oval 16"/>
          <p:cNvSpPr/>
          <p:nvPr/>
        </p:nvSpPr>
        <p:spPr>
          <a:xfrm>
            <a:off x="683342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3153"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Answering the manager who wants a redesign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is a forecasting question, which is Friday's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Friday do with event-conditioned demand?</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PAIR RULE TODAY</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Chips and cold drink</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pair sits in 5 percent of carts in every week.</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EVENT-DRIVEN TOMORROW</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Strawberry Pop-Tarts</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Sales jump around a known future event; the measure is a forecast with the event as a feature.</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FRIDAY'S METHOD</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Festival-aligned baseline</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Compare each week to the same distance from the festival, not the calendar week.</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WHAT STAYS</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caveat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Two events a year is two observations; the fit is not the forecast.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When should a thin pair be promoted?</a:t>
            </a:r>
          </a:p>
        </p:txBody>
      </p:sp>
      <p:sp>
        <p:nvSpPr>
          <p:cNvPr id="32" name="Oval 31"/>
          <p:cNvSpPr/>
          <p:nvPr/>
        </p:nvSpPr>
        <p:spPr>
          <a:xfrm>
            <a:off x="26620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771775"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What changes in Kothrud, morning only?</a:t>
            </a:r>
          </a:p>
        </p:txBody>
      </p:sp>
      <p:sp>
        <p:nvSpPr>
          <p:cNvPr id="34" name="Oval 33"/>
          <p:cNvSpPr/>
          <p:nvPr/>
        </p:nvSpPr>
        <p:spPr>
          <a:xfrm>
            <a:off x="48857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995481"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Why do Pop-Tarts ride the storm?</a:t>
            </a:r>
          </a:p>
        </p:txBody>
      </p:sp>
      <p:sp>
        <p:nvSpPr>
          <p:cNvPr id="36" name="Oval 35"/>
          <p:cNvSpPr/>
          <p:nvPr/>
        </p:nvSpPr>
        <p:spPr>
          <a:xfrm>
            <a:off x="683342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43153"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Answering the manager who wants a redesign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Answering the manager who wants a redesign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second interview transcript, 25 minutes.</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When should a thin pair be promoted?</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changes in Kothrud, morning only?</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do Pop-Tarts ride the storm?</a:t>
            </a:r>
          </a:p>
        </p:txBody>
      </p:sp>
      <p:sp>
        <p:nvSpPr>
          <p:cNvPr id="13" name="Rounded Rectangle 12"/>
          <p:cNvSpPr/>
          <p:nvPr/>
        </p:nvSpPr>
        <p:spPr>
          <a:xfrm>
            <a:off x="7507224"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Answering the manager who wants a redesign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The watch-list hour and the Pop-Tarts bridge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dispute, as it would reach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category manager's three sentences, in full.</a:t>
            </a:r>
          </a:p>
        </p:txBody>
      </p:sp>
      <p:pic>
        <p:nvPicPr>
          <p:cNvPr id="9" name="mermaid diagram" descr="176262a705c32302.png"/>
          <p:cNvPicPr>
            <a:picLocks noChangeAspect="1"/>
          </p:cNvPicPr>
          <p:nvPr/>
        </p:nvPicPr>
        <p:blipFill>
          <a:blip r:embed="rId5"/>
          <a:stretch>
            <a:fillRect/>
          </a:stretch>
        </p:blipFill>
        <p:spPr>
          <a:xfrm>
            <a:off x="1977282" y="1682496"/>
            <a:ext cx="1892465" cy="4517136"/>
          </a:xfrm>
          <a:prstGeom prst="rect">
            <a:avLst/>
          </a:prstGeom>
        </p:spPr>
      </p:pic>
      <p:sp>
        <p:nvSpPr>
          <p:cNvPr id="10" name="Rounded Rectangle 9"/>
          <p:cNvSpPr/>
          <p:nvPr/>
        </p:nvSpPr>
        <p:spPr>
          <a:xfrm>
            <a:off x="5761917"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17949" y="1956816"/>
            <a:ext cx="5588529" cy="1605279"/>
          </a:xfrm>
          <a:prstGeom prst="rect">
            <a:avLst/>
          </a:prstGeom>
          <a:noFill/>
        </p:spPr>
        <p:txBody>
          <a:bodyPr wrap="square" anchor="t" lIns="0" rIns="0" tIns="0" bIns="0">
            <a:spAutoFit/>
          </a:bodyPr>
          <a:lstStyle/>
          <a:p>
            <a:r>
              <a:rPr sz="1600" b="0" i="1">
                <a:solidFill>
                  <a:srgbClr val="1A0F5C"/>
                </a:solidFill>
                <a:latin typeface="Georgia"/>
              </a:rPr>
              <a:t>The strip's click-through fell because shoppers after the monsoon buy differently. The strip needs a redesign; our team mocked up a two-row layout that puts the suggestions higher on the page. We can run it next week.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When should a thin pair be promoted?</a:t>
            </a:r>
          </a:p>
        </p:txBody>
      </p:sp>
      <p:sp>
        <p:nvSpPr>
          <p:cNvPr id="14" name="Oval 13"/>
          <p:cNvSpPr/>
          <p:nvPr/>
        </p:nvSpPr>
        <p:spPr>
          <a:xfrm>
            <a:off x="26620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771775"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What changes in Kothrud, morning only?</a:t>
            </a:r>
          </a:p>
        </p:txBody>
      </p:sp>
      <p:sp>
        <p:nvSpPr>
          <p:cNvPr id="16" name="Oval 15"/>
          <p:cNvSpPr/>
          <p:nvPr/>
        </p:nvSpPr>
        <p:spPr>
          <a:xfrm>
            <a:off x="48857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95481"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Why do Pop-Tarts ride the storm?</a:t>
            </a:r>
          </a:p>
        </p:txBody>
      </p:sp>
      <p:sp>
        <p:nvSpPr>
          <p:cNvPr id="18" name="Oval 17"/>
          <p:cNvSpPr/>
          <p:nvPr/>
        </p:nvSpPr>
        <p:spPr>
          <a:xfrm>
            <a:off x="683342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3153"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Answering the manager who wants a redesign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moves applied to the dispute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scorecard structure, applied here.</a:t>
            </a:r>
          </a:p>
        </p:txBody>
      </p:sp>
      <p:sp>
        <p:nvSpPr>
          <p:cNvPr id="9" name="Rounded Rectangle 8"/>
          <p:cNvSpPr/>
          <p:nvPr/>
        </p:nvSpPr>
        <p:spPr>
          <a:xfrm>
            <a:off x="530352" y="1956816"/>
            <a:ext cx="2645587"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ar_2c90737cfd2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RESTATE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Habits may have shifted</a:t>
            </a:r>
          </a:p>
        </p:txBody>
      </p:sp>
      <p:sp>
        <p:nvSpPr>
          <p:cNvPr id="14" name="TextBox 13"/>
          <p:cNvSpPr txBox="1"/>
          <p:nvPr/>
        </p:nvSpPr>
        <p:spPr>
          <a:xfrm>
            <a:off x="731519"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Monsoon ended inside the window; a share of the fall could be habits, but the strip log settles it.</a:t>
            </a:r>
          </a:p>
        </p:txBody>
      </p:sp>
      <p:sp>
        <p:nvSpPr>
          <p:cNvPr id="15" name="Rounded Rectangle 14"/>
          <p:cNvSpPr/>
          <p:nvPr/>
        </p:nvSpPr>
        <p:spPr>
          <a:xfrm>
            <a:off x="3358819" y="1956816"/>
            <a:ext cx="2645587"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ssage-square_192cf68fa4e6.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ANSWER</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Milk fills half the slots</a:t>
            </a:r>
          </a:p>
        </p:txBody>
      </p:sp>
      <p:sp>
        <p:nvSpPr>
          <p:cNvPr id="20" name="TextBox 19"/>
          <p:cNvSpPr txBox="1"/>
          <p:nvPr/>
        </p:nvSpPr>
        <p:spPr>
          <a:xfrm>
            <a:off x="3559987" y="3534664"/>
            <a:ext cx="2243251" cy="763016"/>
          </a:xfrm>
          <a:prstGeom prst="rect">
            <a:avLst/>
          </a:prstGeom>
          <a:noFill/>
        </p:spPr>
        <p:txBody>
          <a:bodyPr wrap="square" anchor="t" lIns="0" rIns="0" tIns="0" bIns="0">
            <a:spAutoFit/>
          </a:bodyPr>
          <a:lstStyle/>
          <a:p>
            <a:pPr algn="l"/>
            <a:r>
              <a:rPr sz="1100" b="0" i="0">
                <a:solidFill>
                  <a:srgbClr val="6B6690"/>
                </a:solidFill>
                <a:latin typeface="Calibri"/>
              </a:rPr>
              <a:t>The fall sits in milk slots at 1.2 percent click-through; other slots clicked 6.4 percent, up from before.</a:t>
            </a:r>
          </a:p>
        </p:txBody>
      </p:sp>
      <p:sp>
        <p:nvSpPr>
          <p:cNvPr id="21" name="Rounded Rectangle 20"/>
          <p:cNvSpPr/>
          <p:nvPr/>
        </p:nvSpPr>
        <p:spPr>
          <a:xfrm>
            <a:off x="6187287" y="1956816"/>
            <a:ext cx="2645587"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eck_b9076ab140e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CONCEDE</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Layout is worth trying</a:t>
            </a:r>
          </a:p>
        </p:txBody>
      </p:sp>
      <p:sp>
        <p:nvSpPr>
          <p:cNvPr id="26" name="TextBox 25"/>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Position bias is real, and we would A/B test the two-row layout; the fall is not what it tests.</a:t>
            </a:r>
          </a:p>
        </p:txBody>
      </p:sp>
      <p:sp>
        <p:nvSpPr>
          <p:cNvPr id="27" name="Rounded Rectangle 26"/>
          <p:cNvSpPr/>
          <p:nvPr/>
        </p:nvSpPr>
        <p:spPr>
          <a:xfrm>
            <a:off x="9015755" y="1956816"/>
            <a:ext cx="2645587"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triangle-alert_e79485772e4f.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WHAT WOULD CHANGE</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If other slots fell too</a:t>
            </a:r>
          </a:p>
        </p:txBody>
      </p:sp>
      <p:sp>
        <p:nvSpPr>
          <p:cNvPr id="32" name="TextBox 31"/>
          <p:cNvSpPr txBox="1"/>
          <p:nvPr/>
        </p:nvSpPr>
        <p:spPr>
          <a:xfrm>
            <a:off x="9216923" y="3303524"/>
            <a:ext cx="2243251" cy="763016"/>
          </a:xfrm>
          <a:prstGeom prst="rect">
            <a:avLst/>
          </a:prstGeom>
          <a:noFill/>
        </p:spPr>
        <p:txBody>
          <a:bodyPr wrap="square" anchor="t" lIns="0" rIns="0" tIns="0" bIns="0">
            <a:spAutoFit/>
          </a:bodyPr>
          <a:lstStyle/>
          <a:p>
            <a:pPr algn="l"/>
            <a:r>
              <a:rPr sz="1100" b="0" i="0">
                <a:solidFill>
                  <a:srgbClr val="CFC9EE"/>
                </a:solidFill>
                <a:latin typeface="Calibri"/>
              </a:rPr>
              <a:t>If removing the milk slots from the blend did not recover 6.4 percent CTR, the habits hypothesis would stand.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When should a thin pair be promoted?</a:t>
            </a:r>
          </a:p>
        </p:txBody>
      </p:sp>
      <p:sp>
        <p:nvSpPr>
          <p:cNvPr id="35" name="Oval 34"/>
          <p:cNvSpPr/>
          <p:nvPr/>
        </p:nvSpPr>
        <p:spPr>
          <a:xfrm>
            <a:off x="26620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771775"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What changes in Kothrud, morning only?</a:t>
            </a:r>
          </a:p>
        </p:txBody>
      </p:sp>
      <p:sp>
        <p:nvSpPr>
          <p:cNvPr id="37" name="Oval 36"/>
          <p:cNvSpPr/>
          <p:nvPr/>
        </p:nvSpPr>
        <p:spPr>
          <a:xfrm>
            <a:off x="48857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95481"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Why do Pop-Tarts ride the storm?</a:t>
            </a:r>
          </a:p>
        </p:txBody>
      </p:sp>
      <p:sp>
        <p:nvSpPr>
          <p:cNvPr id="39" name="Oval 38"/>
          <p:cNvSpPr/>
          <p:nvPr/>
        </p:nvSpPr>
        <p:spPr>
          <a:xfrm>
            <a:off x="683342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43153"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Answering the manager who wants a redesign</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chart that settles the dispute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picture would you hand the manager?</a:t>
            </a:r>
          </a:p>
        </p:txBody>
      </p:sp>
      <p:pic>
        <p:nvPicPr>
          <p:cNvPr id="9" name="mermaid diagram" descr="C2_W04_D03_ctr_by_slot_STUDENT.png"/>
          <p:cNvPicPr>
            <a:picLocks noChangeAspect="1"/>
          </p:cNvPicPr>
          <p:nvPr/>
        </p:nvPicPr>
        <p:blipFill>
          <a:blip r:embed="rId4"/>
          <a:stretch>
            <a:fillRect/>
          </a:stretch>
        </p:blipFill>
        <p:spPr>
          <a:xfrm>
            <a:off x="2788913" y="1664208"/>
            <a:ext cx="6613867" cy="3630168"/>
          </a:xfrm>
          <a:prstGeom prst="rect">
            <a:avLst/>
          </a:prstGeom>
        </p:spPr>
      </p:pic>
      <p:sp>
        <p:nvSpPr>
          <p:cNvPr id="10" name="picture caption"/>
          <p:cNvSpPr txBox="1"/>
          <p:nvPr/>
        </p:nvSpPr>
        <p:spPr>
          <a:xfrm>
            <a:off x="530352" y="5330952"/>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before change 6.1 percent; after change 1.2 percent milk, 6.4 percent other, 3.8 percent blended</a:t>
            </a:r>
          </a:p>
        </p:txBody>
      </p:sp>
      <p:sp>
        <p:nvSpPr>
          <p:cNvPr id="11" name="TextBox 10"/>
          <p:cNvSpPr txBox="1"/>
          <p:nvPr/>
        </p:nvSpPr>
        <p:spPr>
          <a:xfrm>
            <a:off x="530352" y="5657088"/>
            <a:ext cx="11130991" cy="542544"/>
          </a:xfrm>
          <a:prstGeom prst="rect">
            <a:avLst/>
          </a:prstGeom>
          <a:noFill/>
        </p:spPr>
        <p:txBody>
          <a:bodyPr wrap="square" anchor="t" lIns="0" rIns="0" tIns="0" bIns="0">
            <a:spAutoFit/>
          </a:bodyPr>
          <a:lstStyle/>
          <a:p>
            <a:r>
              <a:rPr sz="1200" b="0" i="0">
                <a:solidFill>
                  <a:srgbClr val="1A1440"/>
                </a:solidFill>
                <a:latin typeface="Calibri"/>
              </a:rPr>
              <a:t>The before-change bar reads 6.1 percent, which is the pre-switch CTR. After the switch, the milk-slots bar reads 1.2 percent and the other-slots bar reads 6.4. The blended 3.8 is what the manager saw. The redesign cannot help milk slots click better; the ranking is the lever.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When should a thin pair be promoted?</a:t>
            </a:r>
          </a:p>
        </p:txBody>
      </p:sp>
      <p:sp>
        <p:nvSpPr>
          <p:cNvPr id="14" name="Oval 13"/>
          <p:cNvSpPr/>
          <p:nvPr/>
        </p:nvSpPr>
        <p:spPr>
          <a:xfrm>
            <a:off x="26620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771775"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What changes in Kothrud, morning only?</a:t>
            </a:r>
          </a:p>
        </p:txBody>
      </p:sp>
      <p:sp>
        <p:nvSpPr>
          <p:cNvPr id="16" name="Oval 15"/>
          <p:cNvSpPr/>
          <p:nvPr/>
        </p:nvSpPr>
        <p:spPr>
          <a:xfrm>
            <a:off x="48857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95481"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Why do Pop-Tarts ride the storm?</a:t>
            </a:r>
          </a:p>
        </p:txBody>
      </p:sp>
      <p:sp>
        <p:nvSpPr>
          <p:cNvPr id="18" name="Oval 17"/>
          <p:cNvSpPr/>
          <p:nvPr/>
        </p:nvSpPr>
        <p:spPr>
          <a:xfrm>
            <a:off x="683342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3153"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Answering the manager who wants a redesign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End of the fallback: four blocks the room keeps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the room leaves with when the IITGN session (tentative) cannot run.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WATCH LIST</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Trial design</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Two zones, two weeks, same-zone before baseline, CTR above the before window.</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ZONE AND TIME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Rerun by slice</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floor scales with the slice; the top-five pairs change rank in Baner mornings.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POP-TARTS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Event, not pair</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Hurricane-driven demand is Friday's question; today's method cannot cover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DISPUTE</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moves</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Restate, answer, concede, what would change my mind; the strip log settles the fall.</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When should a thin pair be promoted?</a:t>
            </a:r>
          </a:p>
        </p:txBody>
      </p:sp>
      <p:sp>
        <p:nvSpPr>
          <p:cNvPr id="32" name="Oval 31"/>
          <p:cNvSpPr/>
          <p:nvPr/>
        </p:nvSpPr>
        <p:spPr>
          <a:xfrm>
            <a:off x="26620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771775" y="6437376"/>
            <a:ext cx="2022538" cy="152146"/>
          </a:xfrm>
          <a:prstGeom prst="rect">
            <a:avLst/>
          </a:prstGeom>
          <a:noFill/>
        </p:spPr>
        <p:txBody>
          <a:bodyPr wrap="square" anchor="t" lIns="0" rIns="0" tIns="0" bIns="0">
            <a:spAutoFit/>
          </a:bodyPr>
          <a:lstStyle/>
          <a:p>
            <a:pPr algn="l"/>
            <a:r>
              <a:rPr sz="700" b="0" i="0">
                <a:solidFill>
                  <a:srgbClr val="6B6690"/>
                </a:solidFill>
                <a:latin typeface="Calibri"/>
              </a:rPr>
              <a:t>What changes in Kothrud, morning only?</a:t>
            </a:r>
          </a:p>
        </p:txBody>
      </p:sp>
      <p:sp>
        <p:nvSpPr>
          <p:cNvPr id="34" name="Oval 33"/>
          <p:cNvSpPr/>
          <p:nvPr/>
        </p:nvSpPr>
        <p:spPr>
          <a:xfrm>
            <a:off x="48857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995481"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Why do Pop-Tarts ride the storm?</a:t>
            </a:r>
          </a:p>
        </p:txBody>
      </p:sp>
      <p:sp>
        <p:nvSpPr>
          <p:cNvPr id="36" name="Oval 35"/>
          <p:cNvSpPr/>
          <p:nvPr/>
        </p:nvSpPr>
        <p:spPr>
          <a:xfrm>
            <a:off x="683342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43153"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Answering the manager who wants a redesign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