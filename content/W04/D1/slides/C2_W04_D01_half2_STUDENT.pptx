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for round 3 of the war game: the brief (3), groups write and price (14), the</a:t>
            </a:r>
          </a:p>
          <a:p>
            <a:r>
              <a:t>attacks and the defences (10), the scoring (3). Level 5: decide and cost it. Run sheet:</a:t>
            </a:r>
          </a:p>
          <a:p>
            <a:r>
              <a:t>trainer/C2_W04_D01_war_game_TRAINER.md; role cards: trainer/C2_W04_D01_role_cards_TRAINER.md;</a:t>
            </a:r>
          </a:p>
          <a:p>
            <a:r>
              <a:t>the unguided exercise: exercises/unguided/C2_W04_D01_redesign_STUDENT.md.</a:t>
            </a:r>
          </a:p>
          <a:p>
            <a:r>
              <a:t>Styles: the case method (roles with partly-right objections), Veritasium (predict which line</a:t>
            </a:r>
          </a:p>
          <a:p>
            <a:r>
              <a:t>answers which attack), Striver's ladder (the unguided items climb from a line to a cost).</a:t>
            </a:r>
          </a:p>
          <a:p>
            <a:r>
              <a:t>Transition: what each group hands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Hand out the definition template (exercises/guided/C2_W04_D01_definition_STUDENT.md</a:t>
            </a:r>
          </a:p>
          <a:p>
            <a:r>
              <a:t>carries it). Nine groups work at once; the trainer voices one role per visit and rotates.</a:t>
            </a:r>
          </a:p>
          <a:p>
            <a:r>
              <a:t>When it stalls: a group with a guardrail that is another growth count ("bookings per driver") is</a:t>
            </a:r>
          </a:p>
          <a:p>
            <a:r>
              <a:t>asked what that guardrail would catch.</a:t>
            </a:r>
          </a:p>
          <a:p>
            <a:r>
              <a:t>Transition: the three attacks.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three cards in the roles' voices. The numbers on the cards come from the</a:t>
            </a:r>
          </a:p>
          <a:p>
            <a:r>
              <a:t>data: 880 is the 1,060 drivers there before the launch less the 180 in the idle tail, and they made</a:t>
            </a:r>
          </a:p>
          <a:p>
            <a:r>
              <a:t>1.90 trips an hour in both windows; the rate stepped down in the launch week while weekly requests</a:t>
            </a:r>
          </a:p>
          <a:p>
            <a:r>
              <a:t>stayed between about 41,000 and 44,000, and the three weeks with the most requests already read</a:t>
            </a:r>
          </a:p>
          <a:p>
            <a:r>
              <a:t>1.60. If the 180 quit, their 33,440 trips would need about 17,600 more hours from the others. The</a:t>
            </a:r>
          </a:p>
          <a:p>
            <a:r>
              <a:t>top-up budget is finance's number, so finance decides what the floor may cost.</a:t>
            </a:r>
          </a:p>
          <a:p>
            <a:r>
              <a:t>Transition: which line answers the hardest attack.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Groups that answered b are half right: the denominator would</a:t>
            </a:r>
          </a:p>
          <a:p>
            <a:r>
              <a:t>shrink, and the next slide says why the wait is the line that protects riders.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floor is the city's call; the data says a floor anywhere between the two numbers</a:t>
            </a:r>
          </a:p>
          <a:p>
            <a:r>
              <a:t>stops the gaming without touching a driver who declines the odd bad trip. Say that the gap is this</a:t>
            </a:r>
          </a:p>
          <a:p>
            <a:r>
              <a:t>clean because the data is synthetic; on a real city the two groups overlap and the floor is a</a:t>
            </a:r>
          </a:p>
          <a:p>
            <a:r>
              <a:t>trade-off the test measures.</a:t>
            </a:r>
          </a:p>
          <a:p>
            <a:r>
              <a:t>Transition: what the redesign would save, said honestly.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compare their own saving with the range. A group that wrote "saves Rs 1.16</a:t>
            </a:r>
          </a:p>
          <a:p>
            <a:r>
              <a:t>crore" has assumed nobody changes; ask what the idle tail would do on Monday morning under the new</a:t>
            </a:r>
          </a:p>
          <a:p>
            <a:r>
              <a:t>rule.</a:t>
            </a:r>
          </a:p>
          <a:p>
            <a:r>
              <a:t>Transition: two companies whose north stars had to match what they were trying to 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parallel: the redesign pays for what the city wants (trips) and names what it</a:t>
            </a:r>
          </a:p>
          <a:p>
            <a:r>
              <a:t>does not reward (hours), the way Eternal moved its headline from gross to net. Do not say either</a:t>
            </a:r>
          </a:p>
          <a:p>
            <a:r>
              <a:t>company used a metric badly; both letters describe their own choice. Sources:</a:t>
            </a:r>
          </a:p>
          <a:p>
            <a:r>
              <a:t>https://www.swiggy.com/corporate/wp-content/uploads/2025/07/Q1-FY2026-Shareholder-letter.pdf (checked 12 October 2026)</a:t>
            </a:r>
          </a:p>
          <a:p>
            <a:r>
              <a:t>https://drive.google.com/file/d/1VtoiLsA2OpKauFnkKIlhXRmnbvxL-6ha/view (Eternal Q1 FY26 letter, checked 12 October 2026)</a:t>
            </a:r>
          </a:p>
          <a:p>
            <a:r>
              <a:t>https://drive.google.com/file/d/1jb9KWd4Ap4RTKHFHxzEOO7jgQqVZEGcd/view (Eternal Q1 FY27 letter, checked 12 October 2026)</a:t>
            </a:r>
          </a:p>
          <a:p>
            <a:r>
              <a:t>https://www.eternal.com/blog/q1fy27/ (the page that links the Q1 FY27 letter, checked 12 October 2026)</a:t>
            </a:r>
          </a:p>
          <a:p>
            <a:r>
              <a:t>Transition: the interview room.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transcript read in pairs and scored (9), the AI-company variant (4), the</a:t>
            </a:r>
          </a:p>
          <a:p>
            <a:r>
              <a:t>handoff (2). Level 6. The transcript: extras/C2_W04_D01_transcript_STUDENT.md; the scorecard:</a:t>
            </a:r>
          </a:p>
          <a:p>
            <a:r>
              <a:t>trainer/C2_W04_D01_interview_scorecards_TRAINER.md.</a:t>
            </a:r>
          </a:p>
          <a:p>
            <a:r>
              <a:t>Styles: the case method in the interview room, Feynman (the first sentence a newcomer could</a:t>
            </a:r>
          </a:p>
          <a:p>
            <a:r>
              <a:t>repeat), Striver's ladder (the follow-ups climb).</a:t>
            </a:r>
          </a:p>
          <a:p>
            <a:r>
              <a:t>Transition: the question as a screen asks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Pairs: one reads the interviewer, one answers cold for sixty seconds before</a:t>
            </a:r>
          </a:p>
          <a:p>
            <a:r>
              <a:t>opening the transcript. Every transcript opens with the line that it was written for this</a:t>
            </a:r>
          </a:p>
          <a:p>
            <a:r>
              <a:t>programme in the style of product-company and GCC screens, with the facts from the case.</a:t>
            </a:r>
          </a:p>
          <a:p>
            <a:r>
              <a:t>Transition: two answers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score both answers on the scorecard's seven criteria, 0 to 2 each, then</a:t>
            </a:r>
          </a:p>
          <a:p>
            <a:r>
              <a:t>compare with the trainer's scores. A hire-grade answer scores 2 on the first three: clarified</a:t>
            </a:r>
          </a:p>
          <a:p>
            <a:r>
              <a:t>scope, named the denominator and window, saw the paradox.</a:t>
            </a:r>
          </a:p>
          <a:p>
            <a:r>
              <a:t>Transition: the follow-ups an interviewer pushes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each follow-up in the interviewer's voice; the pair that answered cold tries</a:t>
            </a:r>
          </a:p>
          <a:p>
            <a:r>
              <a:t>the line before reading it.</a:t>
            </a:r>
          </a:p>
          <a:p>
            <a:r>
              <a:t>Transition: the same question at an AI company.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which line catches a developer who accepts every suggestion and deletes it in</a:t>
            </a:r>
          </a:p>
          <a:p>
            <a:r>
              <a:t>the next edit: the north star itself, since deleted text is not present at the next commit.</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to run. The trap item uses numbers other than today's; read the most-missed item</a:t>
            </a:r>
          </a:p>
          <a:p>
            <a:r>
              <a:t>again before the room leaves.</a:t>
            </a:r>
          </a:p>
          <a:p>
            <a:r>
              <a:t>Transition: the handoff to the afternoon block.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handoff aloud. Park every "is the fall real, or the season?" question for</a:t>
            </a:r>
          </a:p>
          <a:p>
            <a:r>
              <a:t>the block; it is the question a test answers.</a:t>
            </a:r>
          </a:p>
          <a:p>
            <a:r>
              <a:t>Transition: the day's close.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sentence; it is the blanked sentence from the morning, filled. The</a:t>
            </a:r>
          </a:p>
          <a:p>
            <a:r>
              <a:t>pre-read for Tuesday ships tonight. The TA lab now runs the same method on Kalpa Retail.</a:t>
            </a:r>
          </a:p>
          <a:p>
            <a:r>
              <a:t>Transition: the lab.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it survive the roles?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Does the room's definition survive three roles who each lose something under it, and what would the redesign save, before the city head signs it on Friday?</a:t>
            </a:r>
          </a:p>
        </p:txBody>
      </p:sp>
      <p:sp>
        <p:nvSpPr>
          <p:cNvPr id="10" name="Rounded Rectangle 9"/>
          <p:cNvSpPr/>
          <p:nvPr/>
        </p:nvSpPr>
        <p:spPr>
          <a:xfrm>
            <a:off x="73151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it survive the roles?</a:t>
            </a:r>
          </a:p>
        </p:txBody>
      </p:sp>
      <p:sp>
        <p:nvSpPr>
          <p:cNvPr id="11" name="Rounded Rectangle 10"/>
          <p:cNvSpPr/>
          <p:nvPr/>
        </p:nvSpPr>
        <p:spPr>
          <a:xfrm>
            <a:off x="2746623"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interviewer hear?</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Does the definition survive the people it costs?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3: write it, price it, defend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hand in, and how is it scored?</a:t>
            </a:r>
          </a:p>
        </p:txBody>
      </p:sp>
      <p:pic>
        <p:nvPicPr>
          <p:cNvPr id="9" name="mermaid diagram" descr="7e11d0c0378b0ef8.png"/>
          <p:cNvPicPr>
            <a:picLocks noChangeAspect="1"/>
          </p:cNvPicPr>
          <p:nvPr/>
        </p:nvPicPr>
        <p:blipFill>
          <a:blip r:embed="rId5"/>
          <a:stretch>
            <a:fillRect/>
          </a:stretch>
        </p:blipFill>
        <p:spPr>
          <a:xfrm>
            <a:off x="530352" y="1956816"/>
            <a:ext cx="11130991" cy="1562725"/>
          </a:xfrm>
          <a:prstGeom prst="rect">
            <a:avLst/>
          </a:prstGeom>
        </p:spPr>
      </p:pic>
      <p:sp>
        <p:nvSpPr>
          <p:cNvPr id="10" name="Rounded Rectangle 9"/>
          <p:cNvSpPr/>
          <p:nvPr/>
        </p:nvSpPr>
        <p:spPr>
          <a:xfrm>
            <a:off x="530352" y="36658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9386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84717"/>
            <a:ext cx="10564063" cy="891540"/>
          </a:xfrm>
          <a:prstGeom prst="rect">
            <a:avLst/>
          </a:prstGeom>
          <a:noFill/>
        </p:spPr>
        <p:txBody>
          <a:bodyPr wrap="square" anchor="ctr" lIns="0" rIns="0" tIns="0" bIns="0">
            <a:spAutoFit/>
          </a:bodyPr>
          <a:lstStyle/>
          <a:p>
            <a:r>
              <a:rPr sz="1500" b="1">
                <a:solidFill>
                  <a:srgbClr val="5B3FD6"/>
                </a:solidFill>
                <a:latin typeface="Calibri"/>
              </a:rPr>
              <a:t>The survival rule. </a:t>
            </a:r>
            <a:r>
              <a:rPr sz="1500" b="0" i="0">
                <a:solidFill>
                  <a:srgbClr val="1A1440"/>
                </a:solidFill>
                <a:latin typeface="Calibri"/>
              </a:rPr>
              <a:t>A definition survives when every role's attack is answered by one of its lines or a guardrail. A definition that survives only by dropping the guarantee has lost the driver-operations lead, and Tuesday's slide has to win that lead back.</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attacks, and the part of each that is true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each role say against the redesign, and which part of it holds?</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r_2853f22980e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"Drivers will log off"</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True for the 180 in the idle tail; the other 880 who joined before the launch held 1.90 trips an hour, and the wait by zone shows any loss</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"Changing terms looks like bait"</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True that the floor was the promise; the redesign keeps it for drivers who accept at least half their offers</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wallet_3a2d2f5ade1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fall is the monsoon's end"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Partly: the season moves requests, but the rate stepped from 1.88 to 1.64 in the launch week itself</a:t>
            </a:r>
          </a:p>
        </p:txBody>
      </p:sp>
      <p:sp>
        <p:nvSpPr>
          <p:cNvPr id="27" name="TextBox 26"/>
          <p:cNvSpPr txBox="1"/>
          <p:nvPr/>
        </p:nvSpPr>
        <p:spPr>
          <a:xfrm>
            <a:off x="530352" y="448411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attack is partly right by design, and a defence names the true part before answering the rest.</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30" name="Oval 29"/>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311717"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line answers "drivers will log off"?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drivers log off and riders wait longer, which line tells the city head that riders are worse off?</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numerator: trips completed in the peak windows</a:t>
            </a:r>
          </a:p>
          <a:p>
            <a:pPr>
              <a:spcAft>
                <a:spcPts val="800"/>
              </a:spcAft>
            </a:pPr>
            <a:r>
              <a:rPr sz="1600" b="0" i="0">
                <a:solidFill>
                  <a:srgbClr val="1A1440"/>
                </a:solidFill>
                <a:latin typeface="Calibri"/>
              </a:rPr>
              <a:t>b) The denominator: drivers online at least one peak hour</a:t>
            </a:r>
          </a:p>
          <a:p>
            <a:pPr>
              <a:spcAft>
                <a:spcPts val="800"/>
              </a:spcAft>
            </a:pPr>
            <a:r>
              <a:rPr sz="1600" b="0" i="0">
                <a:solidFill>
                  <a:srgbClr val="1A1440"/>
                </a:solidFill>
                <a:latin typeface="Calibri"/>
              </a:rPr>
              <a:t>c) Guardrail 2: median rider wait at peak</a:t>
            </a:r>
          </a:p>
          <a:p>
            <a:pPr>
              <a:spcAft>
                <a:spcPts val="800"/>
              </a:spcAft>
            </a:pPr>
            <a:r>
              <a:rPr sz="1600" b="0" i="0">
                <a:solidFill>
                  <a:srgbClr val="1A1440"/>
                </a:solidFill>
                <a:latin typeface="Calibri"/>
              </a:rPr>
              <a:t>d) What it does not reward: hours online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wait guardrail catches lost supply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rider's wait answer driver operations, and where should the acceptance floor sit?</a:t>
            </a:r>
          </a:p>
        </p:txBody>
      </p:sp>
      <p:pic>
        <p:nvPicPr>
          <p:cNvPr id="9" name="mermaid diagram" descr="C2_W04_D01_acceptance_gap_STUDENT.png"/>
          <p:cNvPicPr>
            <a:picLocks noChangeAspect="1"/>
          </p:cNvPicPr>
          <p:nvPr/>
        </p:nvPicPr>
        <p:blipFill>
          <a:blip r:embed="rId4"/>
          <a:stretch>
            <a:fillRect/>
          </a:stretch>
        </p:blipFill>
        <p:spPr>
          <a:xfrm>
            <a:off x="2695188" y="1664208"/>
            <a:ext cx="6801317" cy="2809240"/>
          </a:xfrm>
          <a:prstGeom prst="rect">
            <a:avLst/>
          </a:prstGeom>
        </p:spPr>
      </p:pic>
      <p:sp>
        <p:nvSpPr>
          <p:cNvPr id="10" name="picture caption"/>
          <p:cNvSpPr txBox="1"/>
          <p:nvPr/>
        </p:nvSpPr>
        <p:spPr>
          <a:xfrm>
            <a:off x="530352" y="45100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share of offers accepted after the launch, idle-tail weeks against every other week</a:t>
            </a:r>
          </a:p>
        </p:txBody>
      </p:sp>
      <p:sp>
        <p:nvSpPr>
          <p:cNvPr id="11" name="Rounded Rectangle 10"/>
          <p:cNvSpPr/>
          <p:nvPr/>
        </p:nvSpPr>
        <p:spPr>
          <a:xfrm>
            <a:off x="530352" y="4836160"/>
            <a:ext cx="11130991" cy="11988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964176"/>
            <a:ext cx="45720" cy="9428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955032"/>
            <a:ext cx="10564063" cy="1016000"/>
          </a:xfrm>
          <a:prstGeom prst="rect">
            <a:avLst/>
          </a:prstGeom>
          <a:noFill/>
        </p:spPr>
        <p:txBody>
          <a:bodyPr wrap="square" anchor="ctr" lIns="0" rIns="0" tIns="0" bIns="0">
            <a:spAutoFit/>
          </a:bodyPr>
          <a:lstStyle/>
          <a:p>
            <a:r>
              <a:rPr sz="1300" b="1">
                <a:solidFill>
                  <a:srgbClr val="5B3FD6"/>
                </a:solidFill>
                <a:latin typeface="Calibri"/>
              </a:rPr>
              <a:t>Answer: c. </a:t>
            </a:r>
            <a:r>
              <a:rPr sz="1300" b="0" i="0">
                <a:solidFill>
                  <a:srgbClr val="1A1440"/>
                </a:solidFill>
                <a:latin typeface="Calibri"/>
              </a:rPr>
              <a:t>If drivers who serve riders log off, riders wait longer, and the wait, read zone by zone, is the line that moves for riders; the shrinking count of drivers shows who left, while the north star would rise. The floor sits in the gap: no idle-tail week accepted more than 0.46 of its offers and no other week fewer than 0.78; counting an accepted trip later cancelled as declined moves the edges to 0.43 and 0.67, and half still sits between.</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6" name="Oval 1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311717"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saving is a range, with its assumption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paying for hours cost, and what would the redesign save if some idle drivers changed?</a:t>
            </a:r>
          </a:p>
        </p:txBody>
      </p:sp>
      <p:sp>
        <p:nvSpPr>
          <p:cNvPr id="9" name="TextBox 8"/>
          <p:cNvSpPr txBox="1"/>
          <p:nvPr/>
        </p:nvSpPr>
        <p:spPr>
          <a:xfrm>
            <a:off x="530352" y="1956816"/>
            <a:ext cx="3527450" cy="380999"/>
          </a:xfrm>
          <a:prstGeom prst="rect">
            <a:avLst/>
          </a:prstGeom>
          <a:noFill/>
        </p:spPr>
        <p:txBody>
          <a:bodyPr wrap="square" anchor="t" lIns="0" rIns="0" tIns="0" bIns="0">
            <a:spAutoFit/>
          </a:bodyPr>
          <a:lstStyle/>
          <a:p>
            <a:pPr algn="l"/>
            <a:r>
              <a:rPr sz="2400" b="0" i="0">
                <a:solidFill>
                  <a:srgbClr val="5B3FD6"/>
                </a:solidFill>
                <a:latin typeface="Georgia"/>
              </a:rPr>
              <a:t>Rs 1.159 crore</a:t>
            </a:r>
          </a:p>
        </p:txBody>
      </p:sp>
      <p:sp>
        <p:nvSpPr>
          <p:cNvPr id="10" name="TextBox 9"/>
          <p:cNvSpPr txBox="1"/>
          <p:nvPr/>
        </p:nvSpPr>
        <p:spPr>
          <a:xfrm>
            <a:off x="530352" y="2374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PAID TO DECLINING WEEKS</a:t>
            </a:r>
          </a:p>
        </p:txBody>
      </p:sp>
      <p:sp>
        <p:nvSpPr>
          <p:cNvPr id="11" name="TextBox 10"/>
          <p:cNvSpPr txBox="1"/>
          <p:nvPr/>
        </p:nvSpPr>
        <p:spPr>
          <a:xfrm>
            <a:off x="530352" y="2575560"/>
            <a:ext cx="3527450" cy="193421"/>
          </a:xfrm>
          <a:prstGeom prst="rect">
            <a:avLst/>
          </a:prstGeom>
          <a:noFill/>
        </p:spPr>
        <p:txBody>
          <a:bodyPr wrap="square" anchor="t" lIns="0" rIns="0" tIns="0" bIns="0">
            <a:spAutoFit/>
          </a:bodyPr>
          <a:lstStyle/>
          <a:p>
            <a:pPr algn="l"/>
            <a:r>
              <a:rPr sz="950" b="0" i="0">
                <a:solidFill>
                  <a:srgbClr val="6B6690"/>
                </a:solidFill>
                <a:latin typeface="Calibri"/>
              </a:rPr>
              <a:t>61 percent of the Rs 1.9 crore top-up, six weeks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80999"/>
          </a:xfrm>
          <a:prstGeom prst="rect">
            <a:avLst/>
          </a:prstGeom>
          <a:noFill/>
        </p:spPr>
        <p:txBody>
          <a:bodyPr wrap="square" anchor="t" lIns="0" rIns="0" tIns="0" bIns="0">
            <a:spAutoFit/>
          </a:bodyPr>
          <a:lstStyle/>
          <a:p>
            <a:pPr algn="l"/>
            <a:r>
              <a:rPr sz="2400" b="0" i="0">
                <a:solidFill>
                  <a:srgbClr val="5B3FD6"/>
                </a:solidFill>
                <a:latin typeface="Georgia"/>
              </a:rPr>
              <a:t>Rs 58 to 92.7 lakh</a:t>
            </a:r>
          </a:p>
        </p:txBody>
      </p:sp>
      <p:sp>
        <p:nvSpPr>
          <p:cNvPr id="14" name="TextBox 13"/>
          <p:cNvSpPr txBox="1"/>
          <p:nvPr/>
        </p:nvSpPr>
        <p:spPr>
          <a:xfrm>
            <a:off x="4332122" y="2374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REDESIGN'S SAVING</a:t>
            </a:r>
          </a:p>
        </p:txBody>
      </p:sp>
      <p:sp>
        <p:nvSpPr>
          <p:cNvPr id="15" name="TextBox 14"/>
          <p:cNvSpPr txBox="1"/>
          <p:nvPr/>
        </p:nvSpPr>
        <p:spPr>
          <a:xfrm>
            <a:off x="4332122" y="2575560"/>
            <a:ext cx="3527450" cy="193421"/>
          </a:xfrm>
          <a:prstGeom prst="rect">
            <a:avLst/>
          </a:prstGeom>
          <a:noFill/>
        </p:spPr>
        <p:txBody>
          <a:bodyPr wrap="square" anchor="t" lIns="0" rIns="0" tIns="0" bIns="0">
            <a:spAutoFit/>
          </a:bodyPr>
          <a:lstStyle/>
          <a:p>
            <a:pPr algn="l"/>
            <a:r>
              <a:rPr sz="950" b="0" i="0">
                <a:solidFill>
                  <a:srgbClr val="6B6690"/>
                </a:solidFill>
                <a:latin typeface="Calibri"/>
              </a:rPr>
              <a:t>if a half to a fifth of that would still be paid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80999"/>
          </a:xfrm>
          <a:prstGeom prst="rect">
            <a:avLst/>
          </a:prstGeom>
          <a:noFill/>
        </p:spPr>
        <p:txBody>
          <a:bodyPr wrap="square" anchor="t" lIns="0" rIns="0" tIns="0" bIns="0">
            <a:spAutoFit/>
          </a:bodyPr>
          <a:lstStyle/>
          <a:p>
            <a:pPr algn="l"/>
            <a:r>
              <a:rPr sz="2400" b="0" i="0">
                <a:solidFill>
                  <a:srgbClr val="5B3FD6"/>
                </a:solidFill>
                <a:latin typeface="Georgia"/>
              </a:rPr>
              <a:t>Rs 82.3</a:t>
            </a:r>
          </a:p>
        </p:txBody>
      </p:sp>
      <p:sp>
        <p:nvSpPr>
          <p:cNvPr id="18" name="TextBox 17"/>
          <p:cNvSpPr txBox="1"/>
          <p:nvPr/>
        </p:nvSpPr>
        <p:spPr>
          <a:xfrm>
            <a:off x="8133892" y="2374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TOP-UP PER COMPLETED TRIP</a:t>
            </a:r>
          </a:p>
        </p:txBody>
      </p:sp>
      <p:sp>
        <p:nvSpPr>
          <p:cNvPr id="19" name="TextBox 18"/>
          <p:cNvSpPr txBox="1"/>
          <p:nvPr/>
        </p:nvSpPr>
        <p:spPr>
          <a:xfrm>
            <a:off x="8133892" y="2575560"/>
            <a:ext cx="3527450" cy="193421"/>
          </a:xfrm>
          <a:prstGeom prst="rect">
            <a:avLst/>
          </a:prstGeom>
          <a:noFill/>
        </p:spPr>
        <p:txBody>
          <a:bodyPr wrap="square" anchor="t" lIns="0" rIns="0" tIns="0" bIns="0">
            <a:spAutoFit/>
          </a:bodyPr>
          <a:lstStyle/>
          <a:p>
            <a:pPr algn="l"/>
            <a:r>
              <a:rPr sz="950" b="0" i="0">
                <a:solidFill>
                  <a:srgbClr val="6B6690"/>
                </a:solidFill>
                <a:latin typeface="Calibri"/>
              </a:rPr>
              <a:t>after the launch; guardrail 3 watches 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1691639"/>
          </a:xfrm>
          <a:prstGeom prst="rect">
            <a:avLst/>
          </a:prstGeom>
          <a:noFill/>
        </p:spPr>
        <p:txBody>
          <a:bodyPr wrap="square" anchor="ctr" lIns="0" rIns="0" tIns="0" bIns="0">
            <a:spAutoFit/>
          </a:bodyPr>
          <a:lstStyle/>
          <a:p>
            <a:r>
              <a:rPr sz="1500" b="1">
                <a:solidFill>
                  <a:srgbClr val="5B3FD6"/>
                </a:solidFill>
                <a:latin typeface="Calibri"/>
              </a:rPr>
              <a:t>The rule priced. </a:t>
            </a:r>
            <a:r>
              <a:rPr sz="1500" b="0" i="0">
                <a:solidFill>
                  <a:srgbClr val="1A1440"/>
                </a:solidFill>
                <a:latin typeface="Calibri"/>
              </a:rPr>
              <a:t>The Rs 300 floor stays, and a driver-week earns its top-up only if the driver accepted at least half the offers shown, an accepted trip later cancelled counting as declined. </a:t>
            </a:r>
            <a:r>
              <a:rPr sz="1500" b="1" i="0">
                <a:solidFill>
                  <a:srgbClr val="1A1440"/>
                </a:solidFill>
                <a:latin typeface="Calibri"/>
              </a:rPr>
              <a:t>The assumption, stated.</a:t>
            </a:r>
            <a:r>
              <a:rPr sz="1500" b="0" i="0">
                <a:solidFill>
                  <a:srgbClr val="1A1440"/>
                </a:solidFill>
                <a:latin typeface="Calibri"/>
              </a:rPr>
              <a:t> Some idle drivers would start accepting enough to qualify, so between a fifth and a half of the idle tail's top-up would still be paid. </a:t>
            </a:r>
            <a:r>
              <a:rPr sz="1500" b="1" i="0">
                <a:solidFill>
                  <a:srgbClr val="1A1440"/>
                </a:solidFill>
                <a:latin typeface="Calibri"/>
              </a:rPr>
              <a:t>What would settle it:</a:t>
            </a:r>
            <a:r>
              <a:rPr sz="1500" b="0" i="0">
                <a:solidFill>
                  <a:srgbClr val="1A1440"/>
                </a:solidFill>
                <a:latin typeface="Calibri"/>
              </a:rPr>
              <a:t> the test of the redesign that this afternoon's tentative faculty block designs. Rs 74 lakh, what the other driver-weeks received, is what the rule would have paid had every driver behaved the same, so it is the least the redesign would cost.</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Maxxsaver: fewer orders per user, bigger baskets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north star counts the wrong thing for what the business is trying to do?</a:t>
            </a:r>
          </a:p>
        </p:txBody>
      </p:sp>
      <p:sp>
        <p:nvSpPr>
          <p:cNvPr id="9" name="TextBox 8"/>
          <p:cNvSpPr txBox="1"/>
          <p:nvPr/>
        </p:nvSpPr>
        <p:spPr>
          <a:xfrm>
            <a:off x="530352" y="1956816"/>
            <a:ext cx="11130991" cy="281635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Swiggy Instamart's Maxxsaver</a:t>
            </a:r>
            <a:r>
              <a:rPr sz="1600" b="0" i="0">
                <a:solidFill>
                  <a:srgbClr val="1A1440"/>
                </a:solidFill>
                <a:latin typeface="Calibri"/>
              </a:rPr>
              <a:t> unlocks extra discounts once a cart passes a threshold. In the quarter to 30 June 2025 over 28 percent of its monthly transacting users used it, Instamart's average order value rose 16 percent quarter on quarter to Rs 612, and Swiggy wrote that some cart consolidation led by Maxxsaver (customers putting more into fewer, larger orders), with some low-value orders let go, lowered order growth (Q1 FY26 shareholder letter, checked 12 October 2026). Orders per user would have read that success as a fall.</a:t>
            </a:r>
          </a:p>
          <a:p>
            <a:pPr>
              <a:spcAft>
                <a:spcPts val="800"/>
              </a:spcAft>
            </a:pPr>
            <a:r>
              <a:rPr sz="1600" b="1" i="0">
                <a:solidFill>
                  <a:srgbClr val="1A1440"/>
                </a:solidFill>
                <a:latin typeface="Calibri"/>
              </a:rPr>
              <a:t>Eternal</a:t>
            </a:r>
            <a:r>
              <a:rPr sz="1600" b="0" i="0">
                <a:solidFill>
                  <a:srgbClr val="1A1440"/>
                </a:solidFill>
                <a:latin typeface="Calibri"/>
              </a:rPr>
              <a:t>, whose businesses include Zomato and Blinkit, defines net order value (NOV) as gross order value (GOV), what orders were worth, minus discounts (its Q1 FY26 letter), and in its Q1 FY27 letter stopped disclosing GOV "as NOV more accurately reflects underlying performance"; both checked 12 October 2026.</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interviewer hear?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would you measure the success of a new feature, and an AI coding assistant without rewarding deleted suggestions, when an interviewer asks it cold?</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the roles?</a:t>
            </a:r>
          </a:p>
        </p:txBody>
      </p:sp>
      <p:sp>
        <p:nvSpPr>
          <p:cNvPr id="11" name="Rounded Rectangle 10"/>
          <p:cNvSpPr/>
          <p:nvPr/>
        </p:nvSpPr>
        <p:spPr>
          <a:xfrm>
            <a:off x="2746623"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interviewer hear?</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Does the definition survive the people it costs?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 and what to clarify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interviewer ask, what should a candidate ask back, and which trap is set?</a:t>
            </a:r>
          </a:p>
        </p:txBody>
      </p:sp>
      <p:sp>
        <p:nvSpPr>
          <p:cNvPr id="9" name="Rounded Rectangle 8"/>
          <p:cNvSpPr/>
          <p:nvPr/>
        </p:nvSpPr>
        <p:spPr>
          <a:xfrm>
            <a:off x="530352" y="168249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751840"/>
          </a:xfrm>
          <a:prstGeom prst="rect">
            <a:avLst/>
          </a:prstGeom>
          <a:noFill/>
        </p:spPr>
        <p:txBody>
          <a:bodyPr wrap="square" anchor="t" lIns="0" rIns="0" tIns="0" bIns="0">
            <a:spAutoFit/>
          </a:bodyPr>
          <a:lstStyle/>
          <a:p>
            <a:r>
              <a:rPr sz="1600" b="0" i="1">
                <a:solidFill>
                  <a:srgbClr val="1A0F5C"/>
                </a:solidFill>
                <a:latin typeface="Georgia"/>
              </a:rPr>
              <a:t>"Uber launched a peak-hour earnings guarantee for drivers in one city six weeks ago. How would you measure whether it is a success?"</a:t>
            </a:r>
          </a:p>
        </p:txBody>
      </p:sp>
      <p:sp>
        <p:nvSpPr>
          <p:cNvPr id="11" name="Rounded Rectangle 10"/>
          <p:cNvSpPr/>
          <p:nvPr/>
        </p:nvSpPr>
        <p:spPr>
          <a:xfrm>
            <a:off x="530352" y="25806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27086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2699512"/>
            <a:ext cx="10564063" cy="891540"/>
          </a:xfrm>
          <a:prstGeom prst="rect">
            <a:avLst/>
          </a:prstGeom>
          <a:noFill/>
        </p:spPr>
        <p:txBody>
          <a:bodyPr wrap="square" anchor="ctr" lIns="0" rIns="0" tIns="0" bIns="0">
            <a:spAutoFit/>
          </a:bodyPr>
          <a:lstStyle/>
          <a:p>
            <a:r>
              <a:rPr sz="1500" b="1">
                <a:solidFill>
                  <a:srgbClr val="5B3FD6"/>
                </a:solidFill>
                <a:latin typeface="Calibri"/>
              </a:rPr>
              <a:t>Clarify before any number. </a:t>
            </a:r>
            <a:r>
              <a:rPr sz="1500" b="0" i="0">
                <a:solidFill>
                  <a:srgbClr val="1A1440"/>
                </a:solidFill>
                <a:latin typeface="Calibri"/>
              </a:rPr>
              <a:t>What was the scheme meant to change: more drivers online, or riders picked up faster? Who is in it, and who pays? What would count as harm? Which decision rides on the answer, and against which baseline?</a:t>
            </a:r>
          </a:p>
        </p:txBody>
      </p:sp>
      <p:pic>
        <p:nvPicPr>
          <p:cNvPr id="14" name="mermaid diagram" descr="447b002fddc9322f.png"/>
          <p:cNvPicPr>
            <a:picLocks noChangeAspect="1"/>
          </p:cNvPicPr>
          <p:nvPr/>
        </p:nvPicPr>
        <p:blipFill>
          <a:blip r:embed="rId5"/>
          <a:stretch>
            <a:fillRect/>
          </a:stretch>
        </p:blipFill>
        <p:spPr>
          <a:xfrm>
            <a:off x="530352" y="3819652"/>
            <a:ext cx="11130991" cy="1266084"/>
          </a:xfrm>
          <a:prstGeom prst="rect">
            <a:avLst/>
          </a:prstGeom>
        </p:spPr>
      </p:pic>
      <p:sp>
        <p:nvSpPr>
          <p:cNvPr id="15" name="Rounded Rectangle 14"/>
          <p:cNvSpPr/>
          <p:nvPr/>
        </p:nvSpPr>
        <p:spPr>
          <a:xfrm>
            <a:off x="530352" y="52320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3600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350912"/>
            <a:ext cx="10564063" cy="624840"/>
          </a:xfrm>
          <a:prstGeom prst="rect">
            <a:avLst/>
          </a:prstGeom>
          <a:noFill/>
        </p:spPr>
        <p:txBody>
          <a:bodyPr wrap="square" anchor="ctr" lIns="0" rIns="0" tIns="0" bIns="0">
            <a:spAutoFit/>
          </a:bodyPr>
          <a:lstStyle/>
          <a:p>
            <a:r>
              <a:rPr sz="1500" b="1">
                <a:solidFill>
                  <a:srgbClr val="5B3FD6"/>
                </a:solidFill>
                <a:latin typeface="Calibri"/>
              </a:rPr>
              <a:t>The trap the interviewer sets. </a:t>
            </a:r>
            <a:r>
              <a:rPr sz="1500" b="0" i="0">
                <a:solidFill>
                  <a:srgbClr val="1A1440"/>
                </a:solidFill>
                <a:latin typeface="Calibri"/>
              </a:rPr>
              <a:t>Peak online hours rose 24 percent; a candidate who names that number and stops has measured the scheme by what it paid for.</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20" name="Oval 19"/>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11717"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Weak and hire-grade answers,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weak answer lose the interviewer, and what does a hire-grade one do instead?</a:t>
            </a:r>
          </a:p>
        </p:txBody>
      </p:sp>
      <p:graphicFrame>
        <p:nvGraphicFramePr>
          <p:cNvPr id="9" name="Table 8"/>
          <p:cNvGraphicFramePr>
            <a:graphicFrameLocks noGrp="1"/>
          </p:cNvGraphicFramePr>
          <p:nvPr/>
        </p:nvGraphicFramePr>
        <p:xfrm>
          <a:off x="530352" y="1956816"/>
          <a:ext cx="11130989" cy="3669792"/>
        </p:xfrm>
        <a:graphic>
          <a:graphicData uri="http://schemas.openxmlformats.org/drawingml/2006/table">
            <a:tbl>
              <a:tblPr firstRow="0" bandRow="0">
                <a:tableStyleId>{2D5ABB26-0587-4C30-8999-92F81FD0307C}</a:tableStyleId>
              </a:tblPr>
              <a:tblGrid>
                <a:gridCol w="1794282"/>
                <a:gridCol w="3738040"/>
                <a:gridCol w="5598667"/>
              </a:tblGrid>
              <a:tr h="369824">
                <a:tc>
                  <a:txBody>
                    <a:bodyPr/>
                    <a:lstStyle/>
                    <a:p>
                      <a:r>
                        <a:rPr sz="1450" b="1" i="0">
                          <a:solidFill>
                            <a:srgbClr val="FFFFFF"/>
                          </a:solidFill>
                          <a:latin typeface="Calibri"/>
                        </a:rPr>
                        <a:t>Beat</a:t>
                      </a:r>
                    </a:p>
                  </a:txBody>
                  <a:tcPr marL="101600" marR="101600" marT="38100" marB="38100" anchor="ctr">
                    <a:solidFill>
                      <a:srgbClr val="1A0F5C"/>
                    </a:solidFill>
                  </a:tcPr>
                </a:tc>
                <a:tc>
                  <a:txBody>
                    <a:bodyPr/>
                    <a:lstStyle/>
                    <a:p>
                      <a:r>
                        <a:rPr sz="1450" b="1" i="0">
                          <a:solidFill>
                            <a:srgbClr val="FFFFFF"/>
                          </a:solidFill>
                          <a:latin typeface="Calibri"/>
                        </a:rPr>
                        <a:t>Weak answer</a:t>
                      </a:r>
                    </a:p>
                  </a:txBody>
                  <a:tcPr marL="101600" marR="101600" marT="38100" marB="38100" anchor="ctr">
                    <a:solidFill>
                      <a:srgbClr val="1A0F5C"/>
                    </a:solidFill>
                  </a:tcPr>
                </a:tc>
                <a:tc>
                  <a:txBody>
                    <a:bodyPr/>
                    <a:lstStyle/>
                    <a:p>
                      <a:r>
                        <a:rPr sz="1450" b="1" i="0">
                          <a:solidFill>
                            <a:srgbClr val="FFFFFF"/>
                          </a:solidFill>
                          <a:latin typeface="Calibri"/>
                        </a:rPr>
                        <a:t>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Clarify</a:t>
                      </a:r>
                    </a:p>
                  </a:txBody>
                  <a:tcPr marL="101600" marR="101600" marT="38100" marB="38100" anchor="ctr">
                    <a:solidFill>
                      <a:srgbClr val="FFFFFF"/>
                    </a:solidFill>
                  </a:tcPr>
                </a:tc>
                <a:tc>
                  <a:txBody>
                    <a:bodyPr/>
                    <a:lstStyle/>
                    <a:p>
                      <a:r>
                        <a:rPr sz="1400" b="0" i="0">
                          <a:solidFill>
                            <a:srgbClr val="1A1440"/>
                          </a:solidFill>
                          <a:latin typeface="Calibri"/>
                        </a:rPr>
                        <a:t>Starts on metrics at once</a:t>
                      </a:r>
                    </a:p>
                  </a:txBody>
                  <a:tcPr marL="101600" marR="101600" marT="38100" marB="38100" anchor="ctr">
                    <a:solidFill>
                      <a:srgbClr val="FFFFFF"/>
                    </a:solidFill>
                  </a:tcPr>
                </a:tc>
                <a:tc>
                  <a:txBody>
                    <a:bodyPr/>
                    <a:lstStyle/>
                    <a:p>
                      <a:r>
                        <a:rPr sz="1400" b="0" i="0">
                          <a:solidFill>
                            <a:srgbClr val="1A1440"/>
                          </a:solidFill>
                          <a:latin typeface="Calibri"/>
                        </a:rPr>
                        <a:t>Asks what the scheme is for, what counts as harm, which decision rides on it and against what</a:t>
                      </a:r>
                    </a:p>
                  </a:txBody>
                  <a:tcPr marL="101600" marR="101600" marT="38100" marB="38100" anchor="ctr">
                    <a:solidFill>
                      <a:srgbClr val="FFFFFF"/>
                    </a:solidFill>
                  </a:tcPr>
                </a:tc>
              </a:tr>
              <a:tr h="611632">
                <a:tc>
                  <a:txBody>
                    <a:bodyPr/>
                    <a:lstStyle/>
                    <a:p>
                      <a:r>
                        <a:rPr sz="1400" b="0" i="0">
                          <a:solidFill>
                            <a:srgbClr val="1A1440"/>
                          </a:solidFill>
                          <a:latin typeface="Calibri"/>
                        </a:rPr>
                        <a:t>Structure</a:t>
                      </a:r>
                    </a:p>
                  </a:txBody>
                  <a:tcPr marL="101600" marR="101600" marT="38100" marB="38100" anchor="ctr">
                    <a:solidFill>
                      <a:srgbClr val="F4F2FA"/>
                    </a:solidFill>
                  </a:tcPr>
                </a:tc>
                <a:tc>
                  <a:txBody>
                    <a:bodyPr/>
                    <a:lstStyle/>
                    <a:p>
                      <a:r>
                        <a:rPr sz="1400" b="0" i="0">
                          <a:solidFill>
                            <a:srgbClr val="1A1440"/>
                          </a:solidFill>
                          <a:latin typeface="Calibri"/>
                        </a:rPr>
                        <a:t>Lists hours, satisfaction, a survey</a:t>
                      </a:r>
                    </a:p>
                  </a:txBody>
                  <a:tcPr marL="101600" marR="101600" marT="38100" marB="38100" anchor="ctr">
                    <a:solidFill>
                      <a:srgbClr val="F4F2FA"/>
                    </a:solidFill>
                  </a:tcPr>
                </a:tc>
                <a:tc>
                  <a:txBody>
                    <a:bodyPr/>
                    <a:lstStyle/>
                    <a:p>
                      <a:r>
                        <a:rPr sz="1400" b="0" i="0">
                          <a:solidFill>
                            <a:srgbClr val="1A1440"/>
                          </a:solidFill>
                          <a:latin typeface="Calibri"/>
                        </a:rPr>
                        <a:t>Goal, one north star with its lines, three guardrails, a leading input, the test by zone</a:t>
                      </a:r>
                    </a:p>
                  </a:txBody>
                  <a:tcPr marL="101600" marR="101600" marT="38100" marB="38100" anchor="ctr">
                    <a:solidFill>
                      <a:srgbClr val="F4F2FA"/>
                    </a:solidFill>
                  </a:tcPr>
                </a:tc>
              </a:tr>
              <a:tr h="611632">
                <a:tc>
                  <a:txBody>
                    <a:bodyPr/>
                    <a:lstStyle/>
                    <a:p>
                      <a:r>
                        <a:rPr sz="1400" b="0" i="0">
                          <a:solidFill>
                            <a:srgbClr val="1A1440"/>
                          </a:solidFill>
                          <a:latin typeface="Calibri"/>
                        </a:rPr>
                        <a:t>The trap</a:t>
                      </a:r>
                    </a:p>
                  </a:txBody>
                  <a:tcPr marL="101600" marR="101600" marT="38100" marB="38100" anchor="ctr">
                    <a:solidFill>
                      <a:srgbClr val="FFFFFF"/>
                    </a:solidFill>
                  </a:tcPr>
                </a:tc>
                <a:tc>
                  <a:txBody>
                    <a:bodyPr/>
                    <a:lstStyle/>
                    <a:p>
                      <a:r>
                        <a:rPr sz="1400" b="0" i="0">
                          <a:solidFill>
                            <a:srgbClr val="1A1440"/>
                          </a:solidFill>
                          <a:latin typeface="Calibri"/>
                        </a:rPr>
                        <a:t>"Hours are up 24 percent, so it works"</a:t>
                      </a:r>
                    </a:p>
                  </a:txBody>
                  <a:tcPr marL="101600" marR="101600" marT="38100" marB="38100" anchor="ctr">
                    <a:solidFill>
                      <a:srgbClr val="FFFFFF"/>
                    </a:solidFill>
                  </a:tcPr>
                </a:tc>
                <a:tc>
                  <a:txBody>
                    <a:bodyPr/>
                    <a:lstStyle/>
                    <a:p>
                      <a:r>
                        <a:rPr sz="1400" b="0" i="0">
                          <a:solidFill>
                            <a:srgbClr val="1A1440"/>
                          </a:solidFill>
                          <a:latin typeface="Calibri"/>
                        </a:rPr>
                        <a:t>Trips per online hour fell from 1.90 to 1.58, stepping down in the launch week, and the north star barely moved</a:t>
                      </a:r>
                    </a:p>
                  </a:txBody>
                  <a:tcPr marL="101600" marR="101600" marT="38100" marB="38100" anchor="ctr">
                    <a:solidFill>
                      <a:srgbClr val="FFFFFF"/>
                    </a:solidFill>
                  </a:tcPr>
                </a:tc>
              </a:tr>
              <a:tr h="853440">
                <a:tc>
                  <a:txBody>
                    <a:bodyPr/>
                    <a:lstStyle/>
                    <a:p>
                      <a:r>
                        <a:rPr sz="1400" b="0" i="0">
                          <a:solidFill>
                            <a:srgbClr val="1A1440"/>
                          </a:solidFill>
                          <a:latin typeface="Calibri"/>
                        </a:rPr>
                        <a:t>Segment and zones</a:t>
                      </a:r>
                    </a:p>
                  </a:txBody>
                  <a:tcPr marL="101600" marR="101600" marT="38100" marB="38100" anchor="ctr">
                    <a:solidFill>
                      <a:srgbClr val="F4F2FA"/>
                    </a:solidFill>
                  </a:tcPr>
                </a:tc>
                <a:tc>
                  <a:txBody>
                    <a:bodyPr/>
                    <a:lstStyle/>
                    <a:p>
                      <a:r>
                        <a:rPr sz="1400" b="0" i="0">
                          <a:solidFill>
                            <a:srgbClr val="1A1440"/>
                          </a:solidFill>
                          <a:latin typeface="Calibri"/>
                        </a:rPr>
                        <a:t>None</a:t>
                      </a:r>
                    </a:p>
                  </a:txBody>
                  <a:tcPr marL="101600" marR="101600" marT="38100" marB="38100" anchor="ctr">
                    <a:solidFill>
                      <a:srgbClr val="F4F2FA"/>
                    </a:solidFill>
                  </a:tcPr>
                </a:tc>
                <a:tc>
                  <a:txBody>
                    <a:bodyPr/>
                    <a:lstStyle/>
                    <a:p>
                      <a:r>
                        <a:rPr sz="1400" b="0" i="0">
                          <a:solidFill>
                            <a:srgbClr val="1A1440"/>
                          </a:solidFill>
                          <a:latin typeface="Calibri"/>
                        </a:rPr>
                        <a:t>180 drivers added hours on fewer trips, mostly in the outer zones, where waits fell 6.6 to 5.95 minutes at about Rs 46,000 per extra trip</a:t>
                      </a:r>
                    </a:p>
                  </a:txBody>
                  <a:tcPr marL="101600" marR="101600" marT="38100" marB="38100" anchor="ctr">
                    <a:solidFill>
                      <a:srgbClr val="F4F2FA"/>
                    </a:solidFill>
                  </a:tcPr>
                </a:tc>
              </a:tr>
              <a:tr h="611632">
                <a:tc>
                  <a:txBody>
                    <a:bodyPr/>
                    <a:lstStyle/>
                    <a:p>
                      <a:r>
                        <a:rPr sz="1400" b="0" i="0">
                          <a:solidFill>
                            <a:srgbClr val="1A1440"/>
                          </a:solidFill>
                          <a:latin typeface="Calibri"/>
                        </a:rPr>
                        <a:t>Decision and cost</a:t>
                      </a:r>
                    </a:p>
                  </a:txBody>
                  <a:tcPr marL="101600" marR="101600" marT="38100" marB="38100" anchor="ctr">
                    <a:solidFill>
                      <a:srgbClr val="FFFFFF"/>
                    </a:solidFill>
                  </a:tcPr>
                </a:tc>
                <a:tc>
                  <a:txBody>
                    <a:bodyPr/>
                    <a:lstStyle/>
                    <a:p>
                      <a:r>
                        <a:rPr sz="1400" b="0" i="0">
                          <a:solidFill>
                            <a:srgbClr val="1A1440"/>
                          </a:solidFill>
                          <a:latin typeface="Calibri"/>
                        </a:rPr>
                        <a:t>"Roll it out to more cities"</a:t>
                      </a:r>
                    </a:p>
                  </a:txBody>
                  <a:tcPr marL="101600" marR="101600" marT="38100" marB="38100" anchor="ctr">
                    <a:solidFill>
                      <a:srgbClr val="FFFFFF"/>
                    </a:solidFill>
                  </a:tcPr>
                </a:tc>
                <a:tc>
                  <a:txBody>
                    <a:bodyPr/>
                    <a:lstStyle/>
                    <a:p>
                      <a:r>
                        <a:rPr sz="1400" b="0" i="0">
                          <a:solidFill>
                            <a:srgbClr val="1A1440"/>
                          </a:solidFill>
                          <a:latin typeface="Calibri"/>
                        </a:rPr>
                        <a:t>Hold it: Rs 2,836 per extra trip; floor only for weeks accepting half their offers; test by zone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2" name="Oval 1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follow-ups and the line that answers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interviewer push next, and what does a hire-grade answer say in one breath?</a:t>
            </a:r>
          </a:p>
        </p:txBody>
      </p:sp>
      <p:graphicFrame>
        <p:nvGraphicFramePr>
          <p:cNvPr id="9" name="Table 8"/>
          <p:cNvGraphicFramePr>
            <a:graphicFrameLocks noGrp="1"/>
          </p:cNvGraphicFramePr>
          <p:nvPr/>
        </p:nvGraphicFramePr>
        <p:xfrm>
          <a:off x="530352" y="1956816"/>
          <a:ext cx="11130990" cy="2930144"/>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Follow-up</a:t>
                      </a:r>
                    </a:p>
                  </a:txBody>
                  <a:tcPr marL="101600" marR="101600" marT="38100" marB="38100" anchor="ctr">
                    <a:solidFill>
                      <a:srgbClr val="1A0F5C"/>
                    </a:solidFill>
                  </a:tcPr>
                </a:tc>
                <a:tc>
                  <a:txBody>
                    <a:bodyPr/>
                    <a:lstStyle/>
                    <a:p>
                      <a:r>
                        <a:rPr sz="1450" b="1" i="0">
                          <a:solidFill>
                            <a:srgbClr val="FFFFFF"/>
                          </a:solidFill>
                          <a:latin typeface="Calibri"/>
                        </a:rPr>
                        <a:t>The hire-grade line</a:t>
                      </a:r>
                    </a:p>
                  </a:txBody>
                  <a:tcPr marL="101600" marR="101600" marT="38100" marB="38100" anchor="ctr">
                    <a:solidFill>
                      <a:srgbClr val="1A0F5C"/>
                    </a:solidFill>
                  </a:tcPr>
                </a:tc>
              </a:tr>
              <a:tr h="853440">
                <a:tc>
                  <a:txBody>
                    <a:bodyPr/>
                    <a:lstStyle/>
                    <a:p>
                      <a:r>
                        <a:rPr sz="1400" b="0" i="0">
                          <a:solidFill>
                            <a:srgbClr val="1A1440"/>
                          </a:solidFill>
                          <a:latin typeface="Calibri"/>
                        </a:rPr>
                        <a:t>"Online hours rose 24 percent; what do you check before you celebrate?"</a:t>
                      </a:r>
                    </a:p>
                  </a:txBody>
                  <a:tcPr marL="101600" marR="101600" marT="38100" marB="38100" anchor="ctr">
                    <a:solidFill>
                      <a:srgbClr val="FFFFFF"/>
                    </a:solidFill>
                  </a:tcPr>
                </a:tc>
                <a:tc>
                  <a:txBody>
                    <a:bodyPr/>
                    <a:lstStyle/>
                    <a:p>
                      <a:r>
                        <a:rPr sz="1400" b="0" i="0">
                          <a:solidFill>
                            <a:srgbClr val="1A1440"/>
                          </a:solidFill>
                          <a:latin typeface="Calibri"/>
                        </a:rPr>
                        <a:t>Trips per online hour and the rider's wait: hours rose 24 percent and trips 3, so the rate fell from 1.90 to 1.58 and waits barely moved</a:t>
                      </a:r>
                    </a:p>
                  </a:txBody>
                  <a:tcPr marL="101600" marR="101600" marT="38100" marB="38100" anchor="ctr">
                    <a:solidFill>
                      <a:srgbClr val="FFFFFF"/>
                    </a:solidFill>
                  </a:tcPr>
                </a:tc>
              </a:tr>
              <a:tr h="853440">
                <a:tc>
                  <a:txBody>
                    <a:bodyPr/>
                    <a:lstStyle/>
                    <a:p>
                      <a:r>
                        <a:rPr sz="1400" b="0" i="0">
                          <a:solidFill>
                            <a:srgbClr val="1A1440"/>
                          </a:solidFill>
                          <a:latin typeface="Calibri"/>
                        </a:rPr>
                        <a:t>"Which guardrail would driver operations fight, and why are they partly right?"</a:t>
                      </a:r>
                    </a:p>
                  </a:txBody>
                  <a:tcPr marL="101600" marR="101600" marT="38100" marB="38100" anchor="ctr">
                    <a:solidFill>
                      <a:srgbClr val="F4F2FA"/>
                    </a:solidFill>
                  </a:tcPr>
                </a:tc>
                <a:tc>
                  <a:txBody>
                    <a:bodyPr/>
                    <a:lstStyle/>
                    <a:p>
                      <a:r>
                        <a:rPr sz="1400" b="0" i="0">
                          <a:solidFill>
                            <a:srgbClr val="1A1440"/>
                          </a:solidFill>
                          <a:latin typeface="Calibri"/>
                        </a:rPr>
                        <a:t>The acceptance floor: some declines are fair, so set it in the gap the data shows, above 0.46 and below 0.78, and test two levels, since on a real city the groups overlap</a:t>
                      </a:r>
                    </a:p>
                  </a:txBody>
                  <a:tcPr marL="101600" marR="101600" marT="38100" marB="38100" anchor="ctr">
                    <a:solidFill>
                      <a:srgbClr val="F4F2FA"/>
                    </a:solidFill>
                  </a:tcPr>
                </a:tc>
              </a:tr>
              <a:tr h="853440">
                <a:tc>
                  <a:txBody>
                    <a:bodyPr/>
                    <a:lstStyle/>
                    <a:p>
                      <a:r>
                        <a:rPr sz="1400" b="0" i="0">
                          <a:solidFill>
                            <a:srgbClr val="1A1440"/>
                          </a:solidFill>
                          <a:latin typeface="Calibri"/>
                        </a:rPr>
                        <a:t>"The drivers control when they log in; what happens to your number?"</a:t>
                      </a:r>
                    </a:p>
                  </a:txBody>
                  <a:tcPr marL="101600" marR="101600" marT="38100" marB="38100" anchor="ctr">
                    <a:solidFill>
                      <a:srgbClr val="FFFFFF"/>
                    </a:solidFill>
                  </a:tcPr>
                </a:tc>
                <a:tc>
                  <a:txBody>
                    <a:bodyPr/>
                    <a:lstStyle/>
                    <a:p>
                      <a:r>
                        <a:rPr sz="1400" b="0" i="0">
                          <a:solidFill>
                            <a:srgbClr val="1A1440"/>
                          </a:solidFill>
                          <a:latin typeface="Calibri"/>
                        </a:rPr>
                        <a:t>Logging in cannot raise it, since each trip needs a rider's request; logging off can, so print the driver count beside the rate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2" name="Oval 1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AI-company variant: a coding assistant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you measure an AI coding assistant without rewarding suggestions that were accepted and then deleted?</a:t>
            </a:r>
          </a:p>
        </p:txBody>
      </p:sp>
      <p:graphicFrame>
        <p:nvGraphicFramePr>
          <p:cNvPr id="9" name="Table 8"/>
          <p:cNvGraphicFramePr>
            <a:graphicFrameLocks noGrp="1"/>
          </p:cNvGraphicFramePr>
          <p:nvPr/>
        </p:nvGraphicFramePr>
        <p:xfrm>
          <a:off x="530352" y="1904492"/>
          <a:ext cx="11130990" cy="3114040"/>
        </p:xfrm>
        <a:graphic>
          <a:graphicData uri="http://schemas.openxmlformats.org/drawingml/2006/table">
            <a:tbl>
              <a:tblPr firstRow="0" bandRow="0">
                <a:tableStyleId>{2D5ABB26-0587-4C30-8999-92F81FD0307C}</a:tableStyleId>
              </a:tblPr>
              <a:tblGrid>
                <a:gridCol w="1392496"/>
                <a:gridCol w="4771211"/>
                <a:gridCol w="4967283"/>
              </a:tblGrid>
              <a:tr h="318008">
                <a:tc>
                  <a:txBody>
                    <a:bodyPr/>
                    <a:lstStyle/>
                    <a:p>
                      <a:r>
                        <a:rPr sz="1150" b="1" i="0">
                          <a:solidFill>
                            <a:srgbClr val="FFFFFF"/>
                          </a:solidFill>
                          <a:latin typeface="Calibri"/>
                        </a:rPr>
                        <a:t>Line</a:t>
                      </a:r>
                    </a:p>
                  </a:txBody>
                  <a:tcPr marL="101600" marR="101600" marT="38100" marB="38100" anchor="ctr">
                    <a:solidFill>
                      <a:srgbClr val="1A0F5C"/>
                    </a:solidFill>
                  </a:tcPr>
                </a:tc>
                <a:tc>
                  <a:txBody>
                    <a:bodyPr/>
                    <a:lstStyle/>
                    <a:p>
                      <a:r>
                        <a:rPr sz="1150" b="1" i="0">
                          <a:solidFill>
                            <a:srgbClr val="FFFFFF"/>
                          </a:solidFill>
                          <a:latin typeface="Calibri"/>
                        </a:rPr>
                        <a:t>Uber's guarantee</a:t>
                      </a:r>
                    </a:p>
                  </a:txBody>
                  <a:tcPr marL="101600" marR="101600" marT="38100" marB="38100" anchor="ctr">
                    <a:solidFill>
                      <a:srgbClr val="1A0F5C"/>
                    </a:solidFill>
                  </a:tcPr>
                </a:tc>
                <a:tc>
                  <a:txBody>
                    <a:bodyPr/>
                    <a:lstStyle/>
                    <a:p>
                      <a:r>
                        <a:rPr sz="1150" b="1" i="0">
                          <a:solidFill>
                            <a:srgbClr val="FFFFFF"/>
                          </a:solidFill>
                          <a:latin typeface="Calibri"/>
                        </a:rPr>
                        <a:t>An AI coding assistant</a:t>
                      </a:r>
                    </a:p>
                  </a:txBody>
                  <a:tcPr marL="101600" marR="101600" marT="38100" marB="38100" anchor="ctr">
                    <a:solidFill>
                      <a:srgbClr val="1A0F5C"/>
                    </a:solidFill>
                  </a:tcPr>
                </a:tc>
              </a:tr>
              <a:tr h="318008">
                <a:tc>
                  <a:txBody>
                    <a:bodyPr/>
                    <a:lstStyle/>
                    <a:p>
                      <a:r>
                        <a:rPr sz="1100" b="0" i="0">
                          <a:solidFill>
                            <a:srgbClr val="1A1440"/>
                          </a:solidFill>
                          <a:latin typeface="Calibri"/>
                        </a:rPr>
                        <a:t>The gamed proxy</a:t>
                      </a:r>
                    </a:p>
                  </a:txBody>
                  <a:tcPr marL="101600" marR="101600" marT="38100" marB="38100" anchor="ctr">
                    <a:solidFill>
                      <a:srgbClr val="FFFFFF"/>
                    </a:solidFill>
                  </a:tcPr>
                </a:tc>
                <a:tc>
                  <a:txBody>
                    <a:bodyPr/>
                    <a:lstStyle/>
                    <a:p>
                      <a:r>
                        <a:rPr sz="1100" b="0" i="0">
                          <a:solidFill>
                            <a:srgbClr val="1A1440"/>
                          </a:solidFill>
                          <a:latin typeface="Calibri"/>
                        </a:rPr>
                        <a:t>Peak online hours</a:t>
                      </a:r>
                    </a:p>
                  </a:txBody>
                  <a:tcPr marL="101600" marR="101600" marT="38100" marB="38100" anchor="ctr">
                    <a:solidFill>
                      <a:srgbClr val="FFFFFF"/>
                    </a:solidFill>
                  </a:tcPr>
                </a:tc>
                <a:tc>
                  <a:txBody>
                    <a:bodyPr/>
                    <a:lstStyle/>
                    <a:p>
                      <a:r>
                        <a:rPr sz="1100" b="0" i="0">
                          <a:solidFill>
                            <a:srgbClr val="1A1440"/>
                          </a:solidFill>
                          <a:latin typeface="Calibri"/>
                        </a:rPr>
                        <a:t>Suggestions accepted</a:t>
                      </a:r>
                    </a:p>
                  </a:txBody>
                  <a:tcPr marL="101600" marR="101600" marT="38100" marB="38100" anchor="ctr">
                    <a:solidFill>
                      <a:srgbClr val="FFFFFF"/>
                    </a:solidFill>
                  </a:tcPr>
                </a:tc>
              </a:tr>
              <a:tr h="508000">
                <a:tc>
                  <a:txBody>
                    <a:bodyPr/>
                    <a:lstStyle/>
                    <a:p>
                      <a:r>
                        <a:rPr sz="1100" b="0" i="0">
                          <a:solidFill>
                            <a:srgbClr val="1A1440"/>
                          </a:solidFill>
                          <a:latin typeface="Calibri"/>
                        </a:rPr>
                        <a:t>North star</a:t>
                      </a:r>
                    </a:p>
                  </a:txBody>
                  <a:tcPr marL="101600" marR="101600" marT="38100" marB="38100" anchor="ctr">
                    <a:solidFill>
                      <a:srgbClr val="F4F2FA"/>
                    </a:solidFill>
                  </a:tcPr>
                </a:tc>
                <a:tc>
                  <a:txBody>
                    <a:bodyPr/>
                    <a:lstStyle/>
                    <a:p>
                      <a:r>
                        <a:rPr sz="1100" b="0" i="0">
                          <a:solidFill>
                            <a:srgbClr val="1A1440"/>
                          </a:solidFill>
                          <a:latin typeface="Calibri"/>
                        </a:rPr>
                        <a:t>Completed peak trips per enrolled driver online at peak, per week</a:t>
                      </a:r>
                    </a:p>
                  </a:txBody>
                  <a:tcPr marL="101600" marR="101600" marT="38100" marB="38100" anchor="ctr">
                    <a:solidFill>
                      <a:srgbClr val="F4F2FA"/>
                    </a:solidFill>
                  </a:tcPr>
                </a:tc>
                <a:tc>
                  <a:txBody>
                    <a:bodyPr/>
                    <a:lstStyle/>
                    <a:p>
                      <a:r>
                        <a:rPr sz="1100" b="0" i="0">
                          <a:solidFill>
                            <a:srgbClr val="1A1440"/>
                          </a:solidFill>
                          <a:latin typeface="Calibri"/>
                        </a:rPr>
                        <a:t>Suggested code still present at the next commit, per developer with a seat, per week</a:t>
                      </a:r>
                    </a:p>
                  </a:txBody>
                  <a:tcPr marL="101600" marR="101600" marT="38100" marB="38100" anchor="ctr">
                    <a:solidFill>
                      <a:srgbClr val="F4F2FA"/>
                    </a:solidFill>
                  </a:tcPr>
                </a:tc>
              </a:tr>
              <a:tr h="318008">
                <a:tc>
                  <a:txBody>
                    <a:bodyPr/>
                    <a:lstStyle/>
                    <a:p>
                      <a:r>
                        <a:rPr sz="1100" b="0" i="0">
                          <a:solidFill>
                            <a:srgbClr val="1A1440"/>
                          </a:solidFill>
                          <a:latin typeface="Calibri"/>
                        </a:rPr>
                        <a:t>Read beside it</a:t>
                      </a:r>
                    </a:p>
                  </a:txBody>
                  <a:tcPr marL="101600" marR="101600" marT="38100" marB="38100" anchor="ctr">
                    <a:solidFill>
                      <a:srgbClr val="FFFFFF"/>
                    </a:solidFill>
                  </a:tcPr>
                </a:tc>
                <a:tc>
                  <a:txBody>
                    <a:bodyPr/>
                    <a:lstStyle/>
                    <a:p>
                      <a:r>
                        <a:rPr sz="1100" b="0" i="0">
                          <a:solidFill>
                            <a:srgbClr val="1A1440"/>
                          </a:solidFill>
                          <a:latin typeface="Calibri"/>
                        </a:rPr>
                        <a:t>The rider's wait, zone by zone</a:t>
                      </a:r>
                    </a:p>
                  </a:txBody>
                  <a:tcPr marL="101600" marR="101600" marT="38100" marB="38100" anchor="ctr">
                    <a:solidFill>
                      <a:srgbClr val="FFFFFF"/>
                    </a:solidFill>
                  </a:tcPr>
                </a:tc>
                <a:tc>
                  <a:txBody>
                    <a:bodyPr/>
                    <a:lstStyle/>
                    <a:p>
                      <a:r>
                        <a:rPr sz="1100" b="0" i="0">
                          <a:solidFill>
                            <a:srgbClr val="1A1440"/>
                          </a:solidFill>
                          <a:latin typeface="Calibri"/>
                        </a:rPr>
                        <a:t>Time from first commit to merge</a:t>
                      </a:r>
                    </a:p>
                  </a:txBody>
                  <a:tcPr marL="101600" marR="101600" marT="38100" marB="38100" anchor="ctr">
                    <a:solidFill>
                      <a:srgbClr val="FFFFFF"/>
                    </a:solidFill>
                  </a:tcPr>
                </a:tc>
              </a:tr>
              <a:tr h="508000">
                <a:tc>
                  <a:txBody>
                    <a:bodyPr/>
                    <a:lstStyle/>
                    <a:p>
                      <a:r>
                        <a:rPr sz="1100" b="0" i="0">
                          <a:solidFill>
                            <a:srgbClr val="1A1440"/>
                          </a:solidFill>
                          <a:latin typeface="Calibri"/>
                        </a:rPr>
                        <a:t>Guardrails</a:t>
                      </a:r>
                    </a:p>
                  </a:txBody>
                  <a:tcPr marL="101600" marR="101600" marT="38100" marB="38100" anchor="ctr">
                    <a:solidFill>
                      <a:srgbClr val="F4F2FA"/>
                    </a:solidFill>
                  </a:tcPr>
                </a:tc>
                <a:tc>
                  <a:txBody>
                    <a:bodyPr/>
                    <a:lstStyle/>
                    <a:p>
                      <a:r>
                        <a:rPr sz="1100" b="0" i="0">
                          <a:solidFill>
                            <a:srgbClr val="1A1440"/>
                          </a:solidFill>
                          <a:latin typeface="Calibri"/>
                        </a:rPr>
                        <a:t>Accepted share of offers; rider wait; top-up per trip</a:t>
                      </a:r>
                    </a:p>
                  </a:txBody>
                  <a:tcPr marL="101600" marR="101600" marT="38100" marB="38100" anchor="ctr">
                    <a:solidFill>
                      <a:srgbClr val="F4F2FA"/>
                    </a:solidFill>
                  </a:tcPr>
                </a:tc>
                <a:tc>
                  <a:txBody>
                    <a:bodyPr/>
                    <a:lstStyle/>
                    <a:p>
                      <a:r>
                        <a:rPr sz="1100" b="0" i="0">
                          <a:solidFill>
                            <a:srgbClr val="1A1440"/>
                          </a:solidFill>
                          <a:latin typeface="Calibri"/>
                        </a:rPr>
                        <a:t>Build failures and reverts on suggested code; security findings; rewritten lines</a:t>
                      </a:r>
                    </a:p>
                  </a:txBody>
                  <a:tcPr marL="101600" marR="101600" marT="38100" marB="38100" anchor="ctr">
                    <a:solidFill>
                      <a:srgbClr val="F4F2FA"/>
                    </a:solidFill>
                  </a:tcPr>
                </a:tc>
              </a:tr>
              <a:tr h="318008">
                <a:tc>
                  <a:txBody>
                    <a:bodyPr/>
                    <a:lstStyle/>
                    <a:p>
                      <a:r>
                        <a:rPr sz="1100" b="0" i="0">
                          <a:solidFill>
                            <a:srgbClr val="1A1440"/>
                          </a:solidFill>
                          <a:latin typeface="Calibri"/>
                        </a:rPr>
                        <a:t>Leading input</a:t>
                      </a:r>
                    </a:p>
                  </a:txBody>
                  <a:tcPr marL="101600" marR="101600" marT="38100" marB="38100" anchor="ctr">
                    <a:solidFill>
                      <a:srgbClr val="FFFFFF"/>
                    </a:solidFill>
                  </a:tcPr>
                </a:tc>
                <a:tc>
                  <a:txBody>
                    <a:bodyPr/>
                    <a:lstStyle/>
                    <a:p>
                      <a:r>
                        <a:rPr sz="1100" b="0" i="0">
                          <a:solidFill>
                            <a:srgbClr val="1A1440"/>
                          </a:solidFill>
                          <a:latin typeface="Calibri"/>
                        </a:rPr>
                        <a:t>Rider requests per online hour, by zone</a:t>
                      </a:r>
                    </a:p>
                  </a:txBody>
                  <a:tcPr marL="101600" marR="101600" marT="38100" marB="38100" anchor="ctr">
                    <a:solidFill>
                      <a:srgbClr val="FFFFFF"/>
                    </a:solidFill>
                  </a:tcPr>
                </a:tc>
                <a:tc>
                  <a:txBody>
                    <a:bodyPr/>
                    <a:lstStyle/>
                    <a:p>
                      <a:r>
                        <a:rPr sz="1100" b="0" i="0">
                          <a:solidFill>
                            <a:srgbClr val="1A1440"/>
                          </a:solidFill>
                          <a:latin typeface="Calibri"/>
                        </a:rPr>
                        <a:t>Acceptance, an input nobody is paid on</a:t>
                      </a:r>
                    </a:p>
                  </a:txBody>
                  <a:tcPr marL="101600" marR="101600" marT="38100" marB="38100" anchor="ctr">
                    <a:solidFill>
                      <a:srgbClr val="FFFFFF"/>
                    </a:solidFill>
                  </a:tcPr>
                </a:tc>
              </a:tr>
              <a:tr h="318008">
                <a:tc>
                  <a:txBody>
                    <a:bodyPr/>
                    <a:lstStyle/>
                    <a:p>
                      <a:r>
                        <a:rPr sz="1100" b="0" i="0">
                          <a:solidFill>
                            <a:srgbClr val="1A1440"/>
                          </a:solidFill>
                          <a:latin typeface="Calibri"/>
                        </a:rPr>
                        <a:t>The gaming</a:t>
                      </a:r>
                    </a:p>
                  </a:txBody>
                  <a:tcPr marL="101600" marR="101600" marT="38100" marB="38100" anchor="ctr">
                    <a:solidFill>
                      <a:srgbClr val="F4F2FA"/>
                    </a:solidFill>
                  </a:tcPr>
                </a:tc>
                <a:tc>
                  <a:txBody>
                    <a:bodyPr/>
                    <a:lstStyle/>
                    <a:p>
                      <a:r>
                        <a:rPr sz="1100" b="0" i="0">
                          <a:solidFill>
                            <a:srgbClr val="1A1440"/>
                          </a:solidFill>
                          <a:latin typeface="Calibri"/>
                        </a:rPr>
                        <a:t>Stay online, decline the offers</a:t>
                      </a:r>
                    </a:p>
                  </a:txBody>
                  <a:tcPr marL="101600" marR="101600" marT="38100" marB="38100" anchor="ctr">
                    <a:solidFill>
                      <a:srgbClr val="F4F2FA"/>
                    </a:solidFill>
                  </a:tcPr>
                </a:tc>
                <a:tc>
                  <a:txBody>
                    <a:bodyPr/>
                    <a:lstStyle/>
                    <a:p>
                      <a:r>
                        <a:rPr sz="1100" b="0" i="0">
                          <a:solidFill>
                            <a:srgbClr val="1A1440"/>
                          </a:solidFill>
                          <a:latin typeface="Calibri"/>
                        </a:rPr>
                        <a:t>Fewer, safer suggestions shown; short ones accepted, then deleted</a:t>
                      </a:r>
                    </a:p>
                  </a:txBody>
                  <a:tcPr marL="101600" marR="101600" marT="38100" marB="38100" anchor="ctr">
                    <a:solidFill>
                      <a:srgbClr val="F4F2FA"/>
                    </a:solidFill>
                  </a:tcPr>
                </a:tc>
              </a:tr>
              <a:tr h="508000">
                <a:tc>
                  <a:txBody>
                    <a:bodyPr/>
                    <a:lstStyle/>
                    <a:p>
                      <a:r>
                        <a:rPr sz="1100" b="0" i="0">
                          <a:solidFill>
                            <a:srgbClr val="1A1440"/>
                          </a:solidFill>
                          <a:latin typeface="Calibri"/>
                        </a:rPr>
                        <a:t>How it is settled</a:t>
                      </a:r>
                    </a:p>
                  </a:txBody>
                  <a:tcPr marL="101600" marR="101600" marT="38100" marB="38100" anchor="ctr">
                    <a:solidFill>
                      <a:srgbClr val="FFFFFF"/>
                    </a:solidFill>
                  </a:tcPr>
                </a:tc>
                <a:tc>
                  <a:txBody>
                    <a:bodyPr/>
                    <a:lstStyle/>
                    <a:p>
                      <a:r>
                        <a:rPr sz="1100" b="0" i="0">
                          <a:solidFill>
                            <a:srgbClr val="1A1440"/>
                          </a:solidFill>
                          <a:latin typeface="Calibri"/>
                        </a:rPr>
                        <a:t>A test with zones as the unit</a:t>
                      </a:r>
                    </a:p>
                  </a:txBody>
                  <a:tcPr marL="101600" marR="101600" marT="38100" marB="38100" anchor="ctr">
                    <a:solidFill>
                      <a:srgbClr val="FFFFFF"/>
                    </a:solidFill>
                  </a:tcPr>
                </a:tc>
                <a:tc>
                  <a:txBody>
                    <a:bodyPr/>
                    <a:lstStyle/>
                    <a:p>
                      <a:r>
                        <a:rPr sz="1100" b="0" i="0">
                          <a:solidFill>
                            <a:srgbClr val="1A1440"/>
                          </a:solidFill>
                          <a:latin typeface="Calibri"/>
                        </a:rPr>
                        <a:t>A test with teams as the unit, old rule against new</a:t>
                      </a:r>
                    </a:p>
                  </a:txBody>
                  <a:tcPr marL="101600" marR="101600" marT="38100" marB="38100" anchor="ctr">
                    <a:solidFill>
                      <a:srgbClr val="FFFFFF"/>
                    </a:solidFill>
                  </a:tcPr>
                </a:tc>
              </a:tr>
            </a:tbl>
          </a:graphicData>
        </a:graphic>
      </p:graphicFrame>
      <p:sp>
        <p:nvSpPr>
          <p:cNvPr id="10" name="TextBox 9"/>
          <p:cNvSpPr txBox="1"/>
          <p:nvPr/>
        </p:nvSpPr>
        <p:spPr>
          <a:xfrm>
            <a:off x="530352" y="5274564"/>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Programme-written: the variant names no company and no figure. A commit is a saved change to the code; time to merge is how long a change waits before it joins the main code.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3" name="Oval 1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calls, one from Week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room make today's calls in seconds, and one from Week 2 Friday?</a:t>
            </a:r>
          </a:p>
        </p:txBody>
      </p:sp>
      <p:pic>
        <p:nvPicPr>
          <p:cNvPr id="9" name="mermaid diagram" descr="d84ca4e988475a48.png"/>
          <p:cNvPicPr>
            <a:picLocks noChangeAspect="1"/>
          </p:cNvPicPr>
          <p:nvPr/>
        </p:nvPicPr>
        <p:blipFill>
          <a:blip r:embed="rId5"/>
          <a:stretch>
            <a:fillRect/>
          </a:stretch>
        </p:blipFill>
        <p:spPr>
          <a:xfrm>
            <a:off x="3488378" y="1682496"/>
            <a:ext cx="5214937" cy="3729037"/>
          </a:xfrm>
          <a:prstGeom prst="rect">
            <a:avLst/>
          </a:prstGeom>
        </p:spPr>
      </p:pic>
      <p:sp>
        <p:nvSpPr>
          <p:cNvPr id="10" name="TextBox 9"/>
          <p:cNvSpPr txBox="1"/>
          <p:nvPr/>
        </p:nvSpPr>
        <p:spPr>
          <a:xfrm>
            <a:off x="530352" y="555783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Eight items, scored on correctness and speed together; the pack is kahoot/C2_W04_D01_quiz_STUDENT.md.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3" name="Oval 1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designing the test of the redesign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next 120 minutes add to what the room has built?</a:t>
            </a:r>
          </a:p>
        </p:txBody>
      </p:sp>
      <p:sp>
        <p:nvSpPr>
          <p:cNvPr id="9" name="Rounded Rectangle 8"/>
          <p:cNvSpPr/>
          <p:nvPr/>
        </p:nvSpPr>
        <p:spPr>
          <a:xfrm>
            <a:off x="530352" y="1956816"/>
            <a:ext cx="45720" cy="13207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20799"/>
          </a:xfrm>
          <a:prstGeom prst="rect">
            <a:avLst/>
          </a:prstGeom>
          <a:noFill/>
        </p:spPr>
        <p:txBody>
          <a:bodyPr wrap="square" anchor="t" lIns="0" rIns="0" tIns="0" bIns="0">
            <a:spAutoFit/>
          </a:bodyPr>
          <a:lstStyle/>
          <a:p>
            <a:r>
              <a:rPr sz="1600" b="0" i="1">
                <a:solidFill>
                  <a:srgbClr val="1A0F5C"/>
                </a:solidFill>
                <a:latin typeface="Georgia"/>
              </a:rPr>
              <a:t>"You have a number the scheme should pay for and two guardrails that catch the ways of hitting it that hurt riders. You have not tested whether the redesign moves it. The next 120 minutes design that test on this city: the unit you randomise, the metric, the guardrail and how long you run it before you look."</a:t>
            </a:r>
          </a:p>
        </p:txBody>
      </p:sp>
      <p:sp>
        <p:nvSpPr>
          <p:cNvPr id="11" name="TextBox 10"/>
          <p:cNvSpPr txBox="1"/>
          <p:nvPr/>
        </p:nvSpPr>
        <p:spPr>
          <a:xfrm>
            <a:off x="530352" y="342392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IITGN faculty block W4-1 is tentative</a:t>
            </a:r>
            <a:r>
              <a:rPr sz="1600" b="0" i="0">
                <a:solidFill>
                  <a:srgbClr val="1A1440"/>
                </a:solidFill>
                <a:latin typeface="Calibri"/>
              </a:rPr>
              <a:t> until IIT Gandhinagar confirms it. If it does not run, the metric clinic runs in its place, and the test stays with the block.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4" name="Oval 13"/>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11717"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the sentence, filled from the data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hand the city head, and what does Tuesday ask of it?</a:t>
            </a:r>
          </a:p>
        </p:txBody>
      </p:sp>
      <p:sp>
        <p:nvSpPr>
          <p:cNvPr id="9" name="Rounded Rectangle 8"/>
          <p:cNvSpPr/>
          <p:nvPr/>
        </p:nvSpPr>
        <p:spPr>
          <a:xfrm>
            <a:off x="530352" y="1876298"/>
            <a:ext cx="45720" cy="10363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876298"/>
            <a:ext cx="10820095" cy="1036319"/>
          </a:xfrm>
          <a:prstGeom prst="rect">
            <a:avLst/>
          </a:prstGeom>
          <a:noFill/>
        </p:spPr>
        <p:txBody>
          <a:bodyPr wrap="square" anchor="t" lIns="0" rIns="0" tIns="0" bIns="0">
            <a:spAutoFit/>
          </a:bodyPr>
          <a:lstStyle/>
          <a:p>
            <a:r>
              <a:rPr sz="1600" b="0" i="1">
                <a:solidFill>
                  <a:srgbClr val="1A0F5C"/>
                </a:solidFill>
                <a:latin typeface="Georgia"/>
              </a:rPr>
              <a:t>"Judge the scheme by completed peak trips per enrolled driver online at peak, guarded by the share of offers accepted and the rider's wait, because paying for hours cost Rs 1.159 crore in six weeks for driver-weeks that declined most of what they were offered."</a:t>
            </a:r>
          </a:p>
        </p:txBody>
      </p:sp>
      <p:sp>
        <p:nvSpPr>
          <p:cNvPr id="11" name="TextBox 10"/>
          <p:cNvSpPr txBox="1"/>
          <p:nvPr/>
        </p:nvSpPr>
        <p:spPr>
          <a:xfrm>
            <a:off x="530352" y="305892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rule that follows from it: the Rs 300 floor stays only for driver-weeks that accept at least half their offers, an accepted trip later cancelled counting as declined.</a:t>
            </a:r>
          </a:p>
        </p:txBody>
      </p:sp>
      <p:sp>
        <p:nvSpPr>
          <p:cNvPr id="12" name="Rounded Rectangle 11"/>
          <p:cNvSpPr/>
          <p:nvPr/>
        </p:nvSpPr>
        <p:spPr>
          <a:xfrm>
            <a:off x="530352" y="395909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408711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4077969"/>
            <a:ext cx="10564063" cy="891540"/>
          </a:xfrm>
          <a:prstGeom prst="rect">
            <a:avLst/>
          </a:prstGeom>
          <a:noFill/>
        </p:spPr>
        <p:txBody>
          <a:bodyPr wrap="square" anchor="ctr" lIns="0" rIns="0" tIns="0" bIns="0">
            <a:spAutoFit/>
          </a:bodyPr>
          <a:lstStyle/>
          <a:p>
            <a:r>
              <a:rPr sz="1500" b="1">
                <a:solidFill>
                  <a:srgbClr val="5B3FD6"/>
                </a:solidFill>
                <a:latin typeface="Calibri"/>
              </a:rPr>
              <a:t>The crux lines. </a:t>
            </a:r>
            <a:r>
              <a:rPr sz="1500" b="0" i="0">
                <a:solidFill>
                  <a:srgbClr val="1A1440"/>
                </a:solidFill>
                <a:latin typeface="Calibri"/>
              </a:rPr>
              <a:t>A number is safe to pay for only if hitting it requires the thing it stands for. A rate is two sums divided once, with its denominator named. A saving is said as a range, with the assumption about how people respond beside it.</a:t>
            </a:r>
          </a:p>
        </p:txBody>
      </p:sp>
      <p:sp>
        <p:nvSpPr>
          <p:cNvPr id="15" name="Rounded Rectangle 14"/>
          <p:cNvSpPr/>
          <p:nvPr/>
        </p:nvSpPr>
        <p:spPr>
          <a:xfrm>
            <a:off x="530352" y="519810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32612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316981"/>
            <a:ext cx="10564063" cy="624840"/>
          </a:xfrm>
          <a:prstGeom prst="rect">
            <a:avLst/>
          </a:prstGeom>
          <a:noFill/>
        </p:spPr>
        <p:txBody>
          <a:bodyPr wrap="square" anchor="ctr" lIns="0" rIns="0" tIns="0" bIns="0">
            <a:spAutoFit/>
          </a:bodyPr>
          <a:lstStyle/>
          <a:p>
            <a:r>
              <a:rPr sz="1500" b="1">
                <a:solidFill>
                  <a:srgbClr val="5B3FD6"/>
                </a:solidFill>
                <a:latin typeface="Calibri"/>
              </a:rPr>
              <a:t>Tuesday's question. </a:t>
            </a:r>
            <a:r>
              <a:rPr sz="1500" b="0" i="0">
                <a:solidFill>
                  <a:srgbClr val="1A1440"/>
                </a:solidFill>
                <a:latin typeface="Calibri"/>
              </a:rPr>
              <a:t>Can this answer survive one slide, five minutes, in front of the three people who each lose something under it?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20" name="Oval 19"/>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11717"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