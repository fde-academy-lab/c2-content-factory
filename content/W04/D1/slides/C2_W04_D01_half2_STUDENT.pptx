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Half two is the afternoon's first 60 minutes: war game round 3, the interview</a:t>
            </a:r>
          </a:p>
          <a:p>
            <a:r>
              <a:t>transcript and the AI-company variant, the Kahoot and the handoff to the (tentative) faculty</a:t>
            </a:r>
          </a:p>
          <a:p>
            <a:r>
              <a:t>block. The lab's Kalpa transfer runs after the trainer's time.</a:t>
            </a:r>
          </a:p>
          <a:p>
            <a:r>
              <a:t>Transition: round 3, where the room's definition meets the three roles'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35 minutes: round 3 (30), close (5). Styles: the case method (roles with partly-right</a:t>
            </a:r>
          </a:p>
          <a:p>
            <a:r>
              <a:t>objections), takeUforward's problem-first items, Veritasium's predict-then-reveal on round 3's</a:t>
            </a:r>
          </a:p>
          <a:p>
            <a:r>
              <a:t>reveal of which roles conceded what.</a:t>
            </a:r>
          </a:p>
          <a:p>
            <a:r>
              <a:t>Transition: the three roles' objections, in one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to set the round. Read the three cards aloud. Each group has 20 minutes to write</a:t>
            </a:r>
          </a:p>
          <a:p>
            <a:r>
              <a:t>and defend. Scoring: a definition survives when every role's attack is answered by a line of the</a:t>
            </a:r>
          </a:p>
          <a:p>
            <a:r>
              <a:t>definition or a guardrail; a definition that drops the guarantee has lost driver operations,</a:t>
            </a:r>
          </a:p>
          <a:p>
            <a:r>
              <a:t>which Tuesday takes up. Nine groups work in parallel; the trainer rotates through three groups,</a:t>
            </a:r>
          </a:p>
          <a:p>
            <a:r>
              <a:t>voicing one role per visit.</a:t>
            </a:r>
          </a:p>
          <a:p>
            <a:r>
              <a:t>Transition: the scorer's card the groups hold.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Model one defence yourself before the groups start. Pick driver operations and</a:t>
            </a:r>
          </a:p>
          <a:p>
            <a:r>
              <a:t>restate: "You are saying that if we pay only for completed trips, drivers in slow outer zones</a:t>
            </a:r>
          </a:p>
          <a:p>
            <a:r>
              <a:t>will log off." Answer: "The acceptance floor keeps the floor for drivers who accept at the floor</a:t>
            </a:r>
          </a:p>
          <a:p>
            <a:r>
              <a:t>rate; the acceptance pattern is what defines idle." Concede: "You are right that outer-zone</a:t>
            </a:r>
          </a:p>
          <a:p>
            <a:r>
              <a:t>supply is thinner; the fall was concentrated there and we would ask the city for a separate</a:t>
            </a:r>
          </a:p>
          <a:p>
            <a:r>
              <a:t>guarantee for outer zones with its own acceptance floor." Change: "If outer-zone wait rose past</a:t>
            </a:r>
          </a:p>
          <a:p>
            <a:r>
              <a:t>seven minutes, we would raise the floor there."</a:t>
            </a:r>
          </a:p>
          <a:p>
            <a:r>
              <a:t>Transition: the groups go. Thirty minutes, the trainer rotates.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transcript (10), the AI-company variant (5). Styles: the case method's</a:t>
            </a:r>
          </a:p>
          <a:p>
            <a:r>
              <a:t>reading in pairs with a scorecard; Striver's ladder's hire-grade next to weak answer side by</a:t>
            </a:r>
          </a:p>
          <a:p>
            <a:r>
              <a:t>side; Feynman's "say it to a hostel warden" as the pass criterion.</a:t>
            </a:r>
          </a:p>
          <a:p>
            <a:r>
              <a:t>Transition: the question as a screener would ask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Read the weak and hire-grade answers side by side, one beat at a time. Pause on</a:t>
            </a:r>
          </a:p>
          <a:p>
            <a:r>
              <a:t>"the trap": the weak answer celebrates the proxy; the hire-grade answer names it as a proxy and</a:t>
            </a:r>
          </a:p>
          <a:p>
            <a:r>
              <a:t>tells the paradox. Then read the three follow-ups and have two learners answer the first one</a:t>
            </a:r>
          </a:p>
          <a:p>
            <a:r>
              <a:t>aloud. The scorecard goes to the trainer; a group ranks a hire-grade answer at 2 on the first</a:t>
            </a:r>
          </a:p>
          <a:p>
            <a:r>
              <a:t>three criteria.</a:t>
            </a:r>
          </a:p>
          <a:p>
            <a:r>
              <a:t>Transition: the AI-company variant, which asks the same question about an AI coding assistant.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two columns side by side. Say the point: the structure of a good</a:t>
            </a:r>
          </a:p>
          <a:p>
            <a:r>
              <a:t>measurement is the same whether the product is a ride-hail or a coding assistant. Ask: for a</a:t>
            </a:r>
          </a:p>
          <a:p>
            <a:r>
              <a:t>developer who accepts a suggestion and deletes it in the next edit, which guardrail catches it?</a:t>
            </a:r>
          </a:p>
          <a:p>
            <a:r>
              <a:t>Revert rate.</a:t>
            </a:r>
          </a:p>
          <a:p>
            <a:r>
              <a:t>Transition: the Kahoot, eight items, with Week 2 Friday's return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to run. The return question tests Week 2 Friday's lesson on validation at the</a:t>
            </a:r>
          </a:p>
          <a:p>
            <a:r>
              <a:t>end of reporting day. The Wells Fargo item (7) asks the room to name "no usage condition" as the</a:t>
            </a:r>
          </a:p>
          <a:p>
            <a:r>
              <a:t>breach that parallels Uber's "online means app open".</a:t>
            </a:r>
          </a:p>
          <a:p>
            <a:r>
              <a:t>Transition: the handoff line to the tentative faculty block.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trainer says the handoff aloud. Say the block is tentative until IIT</a:t>
            </a:r>
          </a:p>
          <a:p>
            <a:r>
              <a:t>Gandhinagar confirms the session. If the tentative block does not run, the metric clinic</a:t>
            </a:r>
          </a:p>
          <a:p>
            <a:r>
              <a:t>fallback runs. Park "is the fall real" for the block.</a:t>
            </a:r>
          </a:p>
          <a:p>
            <a:r>
              <a:t>Transition: the day's close.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room reads tonight's pre-read; the TA lab runs the Kalpa transfer now. The</a:t>
            </a:r>
          </a:p>
          <a:p>
            <a:r>
              <a:t>lab's twelve rows and the plant stay in the TA note.</a:t>
            </a:r>
          </a:p>
          <a:p>
            <a:r>
              <a:t>Transition: lab.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4329619"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4  ·  MONDAY  ·  AFTERNOON, FIRST 60</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War game round 3, the transcript and the handoff</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“Your definition has to survive our three objections, each partly right. Then one of you reads the interview question in a transcript.”</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afternoon's close, before the Hyderabad faculty block (tentative)</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2" name="TextBox 11"/>
          <p:cNvSpPr txBox="1"/>
          <p:nvPr/>
        </p:nvSpPr>
        <p:spPr>
          <a:xfrm>
            <a:off x="1005839" y="5556758"/>
            <a:ext cx="1993392" cy="333756"/>
          </a:xfrm>
          <a:prstGeom prst="rect">
            <a:avLst/>
          </a:prstGeom>
          <a:noFill/>
        </p:spPr>
        <p:txBody>
          <a:bodyPr wrap="square" anchor="t" lIns="0" rIns="0" tIns="0" bIns="0">
            <a:spAutoFit/>
          </a:bodyPr>
          <a:lstStyle/>
          <a:p>
            <a:pPr algn="l"/>
            <a:r>
              <a:rPr sz="900" b="0" i="0">
                <a:solidFill>
                  <a:srgbClr val="FFFFFF"/>
                </a:solidFill>
                <a:latin typeface="Calibri"/>
              </a:rPr>
              <a:t>Does the definition survive three partly-right attacks?</a:t>
            </a:r>
          </a:p>
        </p:txBody>
      </p:sp>
      <p:sp>
        <p:nvSpPr>
          <p:cNvPr id="13" name="TextBox 12"/>
          <p:cNvSpPr txBox="1"/>
          <p:nvPr/>
        </p:nvSpPr>
        <p:spPr>
          <a:xfrm>
            <a:off x="318211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14" name="TextBox 13"/>
          <p:cNvSpPr txBox="1"/>
          <p:nvPr/>
        </p:nvSpPr>
        <p:spPr>
          <a:xfrm>
            <a:off x="3566160" y="5556758"/>
            <a:ext cx="1993392" cy="185166"/>
          </a:xfrm>
          <a:prstGeom prst="rect">
            <a:avLst/>
          </a:prstGeom>
          <a:noFill/>
        </p:spPr>
        <p:txBody>
          <a:bodyPr wrap="square" anchor="t" lIns="0" rIns="0" tIns="0" bIns="0">
            <a:spAutoFit/>
          </a:bodyPr>
          <a:lstStyle/>
          <a:p>
            <a:pPr algn="l"/>
            <a:r>
              <a:rPr sz="900" b="0" i="0">
                <a:solidFill>
                  <a:srgbClr val="FFFFFF"/>
                </a:solidFill>
                <a:latin typeface="Calibri"/>
              </a:rPr>
              <a:t>What the interviewer listens for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War game round 3, the transcript and the handoff</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the definition survive three partly-right attacks?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the room's seven-line definition answer when driver operations, marketing and finance each raise a real objection?</a:t>
            </a:r>
          </a:p>
        </p:txBody>
      </p:sp>
      <p:sp>
        <p:nvSpPr>
          <p:cNvPr id="10" name="Rounded Rectangle 9"/>
          <p:cNvSpPr/>
          <p:nvPr/>
        </p:nvSpPr>
        <p:spPr>
          <a:xfrm>
            <a:off x="731519"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the definition survive three partly-right attacks?</a:t>
            </a:r>
          </a:p>
        </p:txBody>
      </p:sp>
      <p:sp>
        <p:nvSpPr>
          <p:cNvPr id="11" name="Rounded Rectangle 10"/>
          <p:cNvSpPr/>
          <p:nvPr/>
        </p:nvSpPr>
        <p:spPr>
          <a:xfrm>
            <a:off x="2990088"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interviewer listens for</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War game round 3, the transcript and the handoff</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3: the three objections, each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each objection does the definition concede, and which part does it answer?</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 OPERATIONS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Drivers will log off</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True for the idle tail, false for the 880 honest drivers; the definition keeps the floor for drivers who accept</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_c13406686cbb.png"/>
          <p:cNvPicPr>
            <a:picLocks noChangeAspect="1"/>
          </p:cNvPicPr>
          <p:nvPr/>
        </p:nvPicPr>
        <p:blipFill>
          <a:blip r:embed="rId4"/>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Bait and switch</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True that the hoarding promised a floor; the floor is kept for drivers who accept, and the acceptance guardrail is named</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_c13406686cbb.png"/>
          <p:cNvPicPr>
            <a:picLocks noChangeAspect="1"/>
          </p:cNvPicPr>
          <p:nvPr/>
        </p:nvPicPr>
        <p:blipFill>
          <a:blip r:embed="rId4"/>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monsoon ended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Partly: the L4 cuts bound it, the fall survives drivers present in both windows, and the top-up budget is still finance's number</a:t>
            </a:r>
          </a:p>
        </p:txBody>
      </p:sp>
      <p:sp>
        <p:nvSpPr>
          <p:cNvPr id="27" name="Rounded Rectangle 26"/>
          <p:cNvSpPr/>
          <p:nvPr/>
        </p:nvSpPr>
        <p:spPr>
          <a:xfrm>
            <a:off x="530352" y="429412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42214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412996"/>
            <a:ext cx="10564063" cy="891540"/>
          </a:xfrm>
          <a:prstGeom prst="rect">
            <a:avLst/>
          </a:prstGeom>
          <a:noFill/>
        </p:spPr>
        <p:txBody>
          <a:bodyPr wrap="square" anchor="ctr" lIns="0" rIns="0" tIns="0" bIns="0">
            <a:spAutoFit/>
          </a:bodyPr>
          <a:lstStyle/>
          <a:p>
            <a:r>
              <a:rPr sz="1500" b="1">
                <a:solidFill>
                  <a:srgbClr val="5B3FD6"/>
                </a:solidFill>
                <a:latin typeface="Calibri"/>
              </a:rPr>
              <a:t>The template each group fills. </a:t>
            </a:r>
            <a:r>
              <a:rPr sz="1500" b="0" i="0">
                <a:solidFill>
                  <a:srgbClr val="1A1440"/>
                </a:solidFill>
                <a:latin typeface="Calibri"/>
              </a:rPr>
              <a:t>North star; numerator; denominator; window; exclusions; what it does not reward; two guardrails with the gaming each catches; two leading inputs. Round 3 scores the definition on whether every role's attack is answered by one of these lines.</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Does the definition survive three partly-right attacks?</a:t>
            </a:r>
          </a:p>
        </p:txBody>
      </p:sp>
      <p:sp>
        <p:nvSpPr>
          <p:cNvPr id="32" name="Oval 31"/>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035808"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What the interviewer listens for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scorer's card, four moves of a defence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group answer an objection without conceding too much or too little?</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Restate the objection until the role agrees you understood it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Name the line of the definition or guardrail that catches the gaming</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Say which part of the objection is true, with a number if the data has one</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Change</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what would change your mind, with the fact that would do it</a:t>
            </a:r>
          </a:p>
        </p:txBody>
      </p:sp>
      <p:sp>
        <p:nvSpPr>
          <p:cNvPr id="30" name="TextBox 29"/>
          <p:cNvSpPr txBox="1"/>
          <p:nvPr/>
        </p:nvSpPr>
        <p:spPr>
          <a:xfrm>
            <a:off x="530352" y="4276344"/>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 defence that concedes nothing fails round 3.</a:t>
            </a:r>
            <a:r>
              <a:rPr sz="1600" b="0" i="0">
                <a:solidFill>
                  <a:srgbClr val="1A1440"/>
                </a:solidFill>
                <a:latin typeface="Calibri"/>
              </a:rPr>
              <a:t> A defence that concedes everything also fails: it ends with no definition left.</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Does the definition survive three partly-right attacks?</a:t>
            </a:r>
          </a:p>
        </p:txBody>
      </p:sp>
      <p:sp>
        <p:nvSpPr>
          <p:cNvPr id="33" name="Oval 32"/>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035808"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What the interviewer listens for</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the interviewer listens for</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structure does a hire-grade answer carry, and what does the trap look like?</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definition survive three partly-right attacks?</a:t>
            </a:r>
          </a:p>
        </p:txBody>
      </p:sp>
      <p:sp>
        <p:nvSpPr>
          <p:cNvPr id="11" name="Rounded Rectangle 10"/>
          <p:cNvSpPr/>
          <p:nvPr/>
        </p:nvSpPr>
        <p:spPr>
          <a:xfrm>
            <a:off x="2990088"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the interviewer listens for</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War game round 3, the transcript and the handoff</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Transcript: the four beats a hire-grade answer carries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hire-grade candidate open with, and what trap does the interviewer fish for?</a:t>
            </a:r>
          </a:p>
        </p:txBody>
      </p:sp>
      <p:pic>
        <p:nvPicPr>
          <p:cNvPr id="9" name="mermaid diagram" descr="336cc1418c5fd933.png"/>
          <p:cNvPicPr>
            <a:picLocks noChangeAspect="1"/>
          </p:cNvPicPr>
          <p:nvPr/>
        </p:nvPicPr>
        <p:blipFill>
          <a:blip r:embed="rId5"/>
          <a:stretch>
            <a:fillRect/>
          </a:stretch>
        </p:blipFill>
        <p:spPr>
          <a:xfrm>
            <a:off x="530352" y="1956816"/>
            <a:ext cx="11130991" cy="701632"/>
          </a:xfrm>
          <a:prstGeom prst="rect">
            <a:avLst/>
          </a:prstGeom>
        </p:spPr>
      </p:pic>
      <p:graphicFrame>
        <p:nvGraphicFramePr>
          <p:cNvPr id="10" name="Table 9"/>
          <p:cNvGraphicFramePr>
            <a:graphicFrameLocks noGrp="1"/>
          </p:cNvGraphicFramePr>
          <p:nvPr/>
        </p:nvGraphicFramePr>
        <p:xfrm>
          <a:off x="530352" y="2804752"/>
          <a:ext cx="11130989" cy="2090928"/>
        </p:xfrm>
        <a:graphic>
          <a:graphicData uri="http://schemas.openxmlformats.org/drawingml/2006/table">
            <a:tbl>
              <a:tblPr firstRow="0" bandRow="0">
                <a:tableStyleId>{2D5ABB26-0587-4C30-8999-92F81FD0307C}</a:tableStyleId>
              </a:tblPr>
              <a:tblGrid>
                <a:gridCol w="2132577"/>
                <a:gridCol w="2670595"/>
                <a:gridCol w="6327817"/>
              </a:tblGrid>
              <a:tr h="335280">
                <a:tc>
                  <a:txBody>
                    <a:bodyPr/>
                    <a:lstStyle/>
                    <a:p>
                      <a:r>
                        <a:rPr sz="1250" b="1" i="0">
                          <a:solidFill>
                            <a:srgbClr val="FFFFFF"/>
                          </a:solidFill>
                          <a:latin typeface="Calibri"/>
                        </a:rPr>
                        <a:t>Beat</a:t>
                      </a:r>
                    </a:p>
                  </a:txBody>
                  <a:tcPr marL="101600" marR="101600" marT="38100" marB="38100" anchor="ctr">
                    <a:solidFill>
                      <a:srgbClr val="1A0F5C"/>
                    </a:solidFill>
                  </a:tcPr>
                </a:tc>
                <a:tc>
                  <a:txBody>
                    <a:bodyPr/>
                    <a:lstStyle/>
                    <a:p>
                      <a:r>
                        <a:rPr sz="1250" b="1" i="0">
                          <a:solidFill>
                            <a:srgbClr val="FFFFFF"/>
                          </a:solidFill>
                          <a:latin typeface="Calibri"/>
                        </a:rPr>
                        <a:t>Weak answer</a:t>
                      </a:r>
                    </a:p>
                  </a:txBody>
                  <a:tcPr marL="101600" marR="101600" marT="38100" marB="38100" anchor="ctr">
                    <a:solidFill>
                      <a:srgbClr val="1A0F5C"/>
                    </a:solidFill>
                  </a:tcPr>
                </a:tc>
                <a:tc>
                  <a:txBody>
                    <a:bodyPr/>
                    <a:lstStyle/>
                    <a:p>
                      <a:r>
                        <a:rPr sz="1250" b="1" i="0">
                          <a:solidFill>
                            <a:srgbClr val="FFFFFF"/>
                          </a:solidFill>
                          <a:latin typeface="Calibri"/>
                        </a:rPr>
                        <a:t>Hire-grade answer</a:t>
                      </a:r>
                    </a:p>
                  </a:txBody>
                  <a:tcPr marL="101600" marR="101600" marT="38100" marB="38100" anchor="ctr">
                    <a:solidFill>
                      <a:srgbClr val="1A0F5C"/>
                    </a:solidFill>
                  </a:tcPr>
                </a:tc>
              </a:tr>
              <a:tr h="335280">
                <a:tc>
                  <a:txBody>
                    <a:bodyPr/>
                    <a:lstStyle/>
                    <a:p>
                      <a:r>
                        <a:rPr sz="1200" b="0" i="0">
                          <a:solidFill>
                            <a:srgbClr val="1A1440"/>
                          </a:solidFill>
                          <a:latin typeface="Calibri"/>
                        </a:rPr>
                        <a:t>Clarify</a:t>
                      </a:r>
                    </a:p>
                  </a:txBody>
                  <a:tcPr marL="101600" marR="101600" marT="38100" marB="38100" anchor="ctr">
                    <a:solidFill>
                      <a:srgbClr val="FFFFFF"/>
                    </a:solidFill>
                  </a:tcPr>
                </a:tc>
                <a:tc>
                  <a:txBody>
                    <a:bodyPr/>
                    <a:lstStyle/>
                    <a:p>
                      <a:r>
                        <a:rPr sz="1200" b="0" i="0">
                          <a:solidFill>
                            <a:srgbClr val="1A1440"/>
                          </a:solidFill>
                          <a:latin typeface="Calibri"/>
                        </a:rPr>
                        <a:t>"A new feature on the app?"</a:t>
                      </a:r>
                    </a:p>
                  </a:txBody>
                  <a:tcPr marL="101600" marR="101600" marT="38100" marB="38100" anchor="ctr">
                    <a:solidFill>
                      <a:srgbClr val="FFFFFF"/>
                    </a:solidFill>
                  </a:tcPr>
                </a:tc>
                <a:tc>
                  <a:txBody>
                    <a:bodyPr/>
                    <a:lstStyle/>
                    <a:p>
                      <a:r>
                        <a:rPr sz="1200" b="0" i="0">
                          <a:solidFill>
                            <a:srgbClr val="1A1440"/>
                          </a:solidFill>
                          <a:latin typeface="Calibri"/>
                        </a:rPr>
                        <a:t>"Which user, which business decision, and what would count as harm?"</a:t>
                      </a:r>
                    </a:p>
                  </a:txBody>
                  <a:tcPr marL="101600" marR="101600" marT="38100" marB="38100" anchor="ctr">
                    <a:solidFill>
                      <a:srgbClr val="FFFFFF"/>
                    </a:solidFill>
                  </a:tcPr>
                </a:tc>
              </a:tr>
              <a:tr h="542544">
                <a:tc>
                  <a:txBody>
                    <a:bodyPr/>
                    <a:lstStyle/>
                    <a:p>
                      <a:r>
                        <a:rPr sz="1200" b="0" i="0">
                          <a:solidFill>
                            <a:srgbClr val="1A1440"/>
                          </a:solidFill>
                          <a:latin typeface="Calibri"/>
                        </a:rPr>
                        <a:t>Structure</a:t>
                      </a:r>
                    </a:p>
                  </a:txBody>
                  <a:tcPr marL="101600" marR="101600" marT="38100" marB="38100" anchor="ctr">
                    <a:solidFill>
                      <a:srgbClr val="F4F2FA"/>
                    </a:solidFill>
                  </a:tcPr>
                </a:tc>
                <a:tc>
                  <a:txBody>
                    <a:bodyPr/>
                    <a:lstStyle/>
                    <a:p>
                      <a:r>
                        <a:rPr sz="1200" b="0" i="0">
                          <a:solidFill>
                            <a:srgbClr val="1A1440"/>
                          </a:solidFill>
                          <a:latin typeface="Calibri"/>
                        </a:rPr>
                        <a:t>Lists five metrics</a:t>
                      </a:r>
                    </a:p>
                  </a:txBody>
                  <a:tcPr marL="101600" marR="101600" marT="38100" marB="38100" anchor="ctr">
                    <a:solidFill>
                      <a:srgbClr val="F4F2FA"/>
                    </a:solidFill>
                  </a:tcPr>
                </a:tc>
                <a:tc>
                  <a:txBody>
                    <a:bodyPr/>
                    <a:lstStyle/>
                    <a:p>
                      <a:r>
                        <a:rPr sz="1200" b="0" i="0">
                          <a:solidFill>
                            <a:srgbClr val="1A1440"/>
                          </a:solidFill>
                          <a:latin typeface="Calibri"/>
                        </a:rPr>
                        <a:t>Goal, user, one metric with numerator, denominator, window, two guardrails, one leading input, test</a:t>
                      </a:r>
                    </a:p>
                  </a:txBody>
                  <a:tcPr marL="101600" marR="101600" marT="38100" marB="38100" anchor="ctr">
                    <a:solidFill>
                      <a:srgbClr val="F4F2FA"/>
                    </a:solidFill>
                  </a:tcPr>
                </a:tc>
              </a:tr>
              <a:tr h="542544">
                <a:tc>
                  <a:txBody>
                    <a:bodyPr/>
                    <a:lstStyle/>
                    <a:p>
                      <a:r>
                        <a:rPr sz="1200" b="0" i="0">
                          <a:solidFill>
                            <a:srgbClr val="1A1440"/>
                          </a:solidFill>
                          <a:latin typeface="Calibri"/>
                        </a:rPr>
                        <a:t>The trap</a:t>
                      </a:r>
                    </a:p>
                  </a:txBody>
                  <a:tcPr marL="101600" marR="101600" marT="38100" marB="38100" anchor="ctr">
                    <a:solidFill>
                      <a:srgbClr val="FFFFFF"/>
                    </a:solidFill>
                  </a:tcPr>
                </a:tc>
                <a:tc>
                  <a:txBody>
                    <a:bodyPr/>
                    <a:lstStyle/>
                    <a:p>
                      <a:r>
                        <a:rPr sz="1200" b="0" i="0">
                          <a:solidFill>
                            <a:srgbClr val="1A1440"/>
                          </a:solidFill>
                          <a:latin typeface="Calibri"/>
                        </a:rPr>
                        <a:t>Online hours up 24 percent</a:t>
                      </a:r>
                    </a:p>
                  </a:txBody>
                  <a:tcPr marL="101600" marR="101600" marT="38100" marB="38100" anchor="ctr">
                    <a:solidFill>
                      <a:srgbClr val="FFFFFF"/>
                    </a:solidFill>
                  </a:tcPr>
                </a:tc>
                <a:tc>
                  <a:txBody>
                    <a:bodyPr/>
                    <a:lstStyle/>
                    <a:p>
                      <a:r>
                        <a:rPr sz="1200" b="0" i="0">
                          <a:solidFill>
                            <a:srgbClr val="1A1440"/>
                          </a:solidFill>
                          <a:latin typeface="Calibri"/>
                        </a:rPr>
                        <a:t>Names it as a proxy and tells the paradox: 2.1x hours with 12 percent fewer trips in the idle tail</a:t>
                      </a:r>
                    </a:p>
                  </a:txBody>
                  <a:tcPr marL="101600" marR="101600" marT="38100" marB="38100" anchor="ctr">
                    <a:solidFill>
                      <a:srgbClr val="FFFFFF"/>
                    </a:solidFill>
                  </a:tcPr>
                </a:tc>
              </a:tr>
              <a:tr h="335280">
                <a:tc>
                  <a:txBody>
                    <a:bodyPr/>
                    <a:lstStyle/>
                    <a:p>
                      <a:r>
                        <a:rPr sz="1200" b="0" i="0">
                          <a:solidFill>
                            <a:srgbClr val="1A1440"/>
                          </a:solidFill>
                          <a:latin typeface="Calibri"/>
                        </a:rPr>
                        <a:t>Decision tied to cost</a:t>
                      </a:r>
                    </a:p>
                  </a:txBody>
                  <a:tcPr marL="101600" marR="101600" marT="38100" marB="38100" anchor="ctr">
                    <a:solidFill>
                      <a:srgbClr val="F4F2FA"/>
                    </a:solidFill>
                  </a:tcPr>
                </a:tc>
                <a:tc>
                  <a:txBody>
                    <a:bodyPr/>
                    <a:lstStyle/>
                    <a:p>
                      <a:r>
                        <a:rPr sz="1200" b="0" i="0">
                          <a:solidFill>
                            <a:srgbClr val="1A1440"/>
                          </a:solidFill>
                          <a:latin typeface="Calibri"/>
                        </a:rPr>
                        <a:t>"We would roll it out"</a:t>
                      </a:r>
                    </a:p>
                  </a:txBody>
                  <a:tcPr marL="101600" marR="101600" marT="38100" marB="38100" anchor="ctr">
                    <a:solidFill>
                      <a:srgbClr val="F4F2FA"/>
                    </a:solidFill>
                  </a:tcPr>
                </a:tc>
                <a:tc>
                  <a:txBody>
                    <a:bodyPr/>
                    <a:lstStyle/>
                    <a:p>
                      <a:r>
                        <a:rPr sz="1200" b="0" i="0">
                          <a:solidFill>
                            <a:srgbClr val="1A1440"/>
                          </a:solidFill>
                          <a:latin typeface="Calibri"/>
                        </a:rPr>
                        <a:t>Pay per completed peak trip; gamed cost Rs 1.16 crore; redesign Rs 74 lakh</a:t>
                      </a:r>
                    </a:p>
                  </a:txBody>
                  <a:tcPr marL="101600" marR="101600" marT="38100" marB="38100" anchor="ctr">
                    <a:solidFill>
                      <a:srgbClr val="F4F2FA"/>
                    </a:solidFill>
                  </a:tcPr>
                </a:tc>
              </a:tr>
            </a:tbl>
          </a:graphicData>
        </a:graphic>
      </p:graphicFrame>
      <p:sp>
        <p:nvSpPr>
          <p:cNvPr id="11" name="Rounded Rectangle 10"/>
          <p:cNvSpPr/>
          <p:nvPr/>
        </p:nvSpPr>
        <p:spPr>
          <a:xfrm>
            <a:off x="530352" y="5151712"/>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279728"/>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70584"/>
            <a:ext cx="10564063" cy="553720"/>
          </a:xfrm>
          <a:prstGeom prst="rect">
            <a:avLst/>
          </a:prstGeom>
          <a:noFill/>
        </p:spPr>
        <p:txBody>
          <a:bodyPr wrap="square" anchor="ctr" lIns="0" rIns="0" tIns="0" bIns="0">
            <a:spAutoFit/>
          </a:bodyPr>
          <a:lstStyle/>
          <a:p>
            <a:r>
              <a:rPr sz="1300" b="1">
                <a:solidFill>
                  <a:srgbClr val="5B3FD6"/>
                </a:solidFill>
                <a:latin typeface="Calibri"/>
              </a:rPr>
              <a:t>Three follow-ups. </a:t>
            </a:r>
            <a:r>
              <a:rPr sz="1300" b="0" i="0">
                <a:solidFill>
                  <a:srgbClr val="1A1440"/>
                </a:solidFill>
                <a:latin typeface="Calibri"/>
              </a:rPr>
              <a:t>"Online hours rose 24 percent; what do you check first?" "Which guardrail would driver operations argue against, and why are they partly right?" "The measured drivers control when they log in; what happens to your number?"</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Does the definition survive three partly-right attacks?</a:t>
            </a:r>
          </a:p>
        </p:txBody>
      </p:sp>
      <p:sp>
        <p:nvSpPr>
          <p:cNvPr id="16" name="Oval 15"/>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035808"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What the interviewer listens for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AI-company variant: the coding assistant metric</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would you measure a coding assistant without rewarding accepted-but-deleted suggestions?</a:t>
            </a:r>
          </a:p>
        </p:txBody>
      </p:sp>
      <p:graphicFrame>
        <p:nvGraphicFramePr>
          <p:cNvPr id="9" name="Table 8"/>
          <p:cNvGraphicFramePr>
            <a:graphicFrameLocks noGrp="1"/>
          </p:cNvGraphicFramePr>
          <p:nvPr/>
        </p:nvGraphicFramePr>
        <p:xfrm>
          <a:off x="530352" y="1956816"/>
          <a:ext cx="11130990" cy="2889504"/>
        </p:xfrm>
        <a:graphic>
          <a:graphicData uri="http://schemas.openxmlformats.org/drawingml/2006/table">
            <a:tbl>
              <a:tblPr firstRow="0" bandRow="0">
                <a:tableStyleId>{2D5ABB26-0587-4C30-8999-92F81FD0307C}</a:tableStyleId>
              </a:tblPr>
              <a:tblGrid>
                <a:gridCol w="2038018"/>
                <a:gridCol w="3848427"/>
                <a:gridCol w="5244545"/>
              </a:tblGrid>
              <a:tr h="335280">
                <a:tc>
                  <a:txBody>
                    <a:bodyPr/>
                    <a:lstStyle/>
                    <a:p>
                      <a:r>
                        <a:rPr sz="1250" b="1" i="0">
                          <a:solidFill>
                            <a:srgbClr val="FFFFFF"/>
                          </a:solidFill>
                          <a:latin typeface="Calibri"/>
                        </a:rPr>
                        <a:t>Line of the definition</a:t>
                      </a:r>
                    </a:p>
                  </a:txBody>
                  <a:tcPr marL="101600" marR="101600" marT="38100" marB="38100" anchor="ctr">
                    <a:solidFill>
                      <a:srgbClr val="1A0F5C"/>
                    </a:solidFill>
                  </a:tcPr>
                </a:tc>
                <a:tc>
                  <a:txBody>
                    <a:bodyPr/>
                    <a:lstStyle/>
                    <a:p>
                      <a:r>
                        <a:rPr sz="1250" b="1" i="0">
                          <a:solidFill>
                            <a:srgbClr val="FFFFFF"/>
                          </a:solidFill>
                          <a:latin typeface="Calibri"/>
                        </a:rPr>
                        <a:t>For Uber's scheme</a:t>
                      </a:r>
                    </a:p>
                  </a:txBody>
                  <a:tcPr marL="101600" marR="101600" marT="38100" marB="38100" anchor="ctr">
                    <a:solidFill>
                      <a:srgbClr val="1A0F5C"/>
                    </a:solidFill>
                  </a:tcPr>
                </a:tc>
                <a:tc>
                  <a:txBody>
                    <a:bodyPr/>
                    <a:lstStyle/>
                    <a:p>
                      <a:r>
                        <a:rPr sz="1250" b="1" i="0">
                          <a:solidFill>
                            <a:srgbClr val="FFFFFF"/>
                          </a:solidFill>
                          <a:latin typeface="Calibri"/>
                        </a:rPr>
                        <a:t>For the AI coding assistant</a:t>
                      </a:r>
                    </a:p>
                  </a:txBody>
                  <a:tcPr marL="101600" marR="101600" marT="38100" marB="38100" anchor="ctr">
                    <a:solidFill>
                      <a:srgbClr val="1A0F5C"/>
                    </a:solidFill>
                  </a:tcPr>
                </a:tc>
              </a:tr>
              <a:tr h="542544">
                <a:tc>
                  <a:txBody>
                    <a:bodyPr/>
                    <a:lstStyle/>
                    <a:p>
                      <a:r>
                        <a:rPr sz="1200" b="0" i="0">
                          <a:solidFill>
                            <a:srgbClr val="1A1440"/>
                          </a:solidFill>
                          <a:latin typeface="Calibri"/>
                        </a:rPr>
                        <a:t>North star</a:t>
                      </a:r>
                    </a:p>
                  </a:txBody>
                  <a:tcPr marL="101600" marR="101600" marT="38100" marB="38100" anchor="ctr">
                    <a:solidFill>
                      <a:srgbClr val="FFFFFF"/>
                    </a:solidFill>
                  </a:tcPr>
                </a:tc>
                <a:tc>
                  <a:txBody>
                    <a:bodyPr/>
                    <a:lstStyle/>
                    <a:p>
                      <a:r>
                        <a:rPr sz="1200" b="0" i="0">
                          <a:solidFill>
                            <a:srgbClr val="1A1440"/>
                          </a:solidFill>
                          <a:latin typeface="Calibri"/>
                        </a:rPr>
                        <a:t>Completed peak trips per enrolled driver per week</a:t>
                      </a:r>
                    </a:p>
                  </a:txBody>
                  <a:tcPr marL="101600" marR="101600" marT="38100" marB="38100" anchor="ctr">
                    <a:solidFill>
                      <a:srgbClr val="FFFFFF"/>
                    </a:solidFill>
                  </a:tcPr>
                </a:tc>
                <a:tc>
                  <a:txBody>
                    <a:bodyPr/>
                    <a:lstStyle/>
                    <a:p>
                      <a:r>
                        <a:rPr sz="1200" b="0" i="0">
                          <a:solidFill>
                            <a:srgbClr val="1A1440"/>
                          </a:solidFill>
                          <a:latin typeface="Calibri"/>
                        </a:rPr>
                        <a:t>Suggested text still present at the next commit, per active developer per week</a:t>
                      </a:r>
                    </a:p>
                  </a:txBody>
                  <a:tcPr marL="101600" marR="101600" marT="38100" marB="38100" anchor="ctr">
                    <a:solidFill>
                      <a:srgbClr val="FFFFFF"/>
                    </a:solidFill>
                  </a:tcPr>
                </a:tc>
              </a:tr>
              <a:tr h="335280">
                <a:tc>
                  <a:txBody>
                    <a:bodyPr/>
                    <a:lstStyle/>
                    <a:p>
                      <a:r>
                        <a:rPr sz="1200" b="0" i="0">
                          <a:solidFill>
                            <a:srgbClr val="1A1440"/>
                          </a:solidFill>
                          <a:latin typeface="Calibri"/>
                        </a:rPr>
                        <a:t>The gamed proxy</a:t>
                      </a:r>
                    </a:p>
                  </a:txBody>
                  <a:tcPr marL="101600" marR="101600" marT="38100" marB="38100" anchor="ctr">
                    <a:solidFill>
                      <a:srgbClr val="F4F2FA"/>
                    </a:solidFill>
                  </a:tcPr>
                </a:tc>
                <a:tc>
                  <a:txBody>
                    <a:bodyPr/>
                    <a:lstStyle/>
                    <a:p>
                      <a:r>
                        <a:rPr sz="1200" b="0" i="0">
                          <a:solidFill>
                            <a:srgbClr val="1A1440"/>
                          </a:solidFill>
                          <a:latin typeface="Calibri"/>
                        </a:rPr>
                        <a:t>Peak online hours</a:t>
                      </a:r>
                    </a:p>
                  </a:txBody>
                  <a:tcPr marL="101600" marR="101600" marT="38100" marB="38100" anchor="ctr">
                    <a:solidFill>
                      <a:srgbClr val="F4F2FA"/>
                    </a:solidFill>
                  </a:tcPr>
                </a:tc>
                <a:tc>
                  <a:txBody>
                    <a:bodyPr/>
                    <a:lstStyle/>
                    <a:p>
                      <a:r>
                        <a:rPr sz="1200" b="0" i="0">
                          <a:solidFill>
                            <a:srgbClr val="1A1440"/>
                          </a:solidFill>
                          <a:latin typeface="Calibri"/>
                        </a:rPr>
                        <a:t>Suggestions accepted</a:t>
                      </a:r>
                    </a:p>
                  </a:txBody>
                  <a:tcPr marL="101600" marR="101600" marT="38100" marB="38100" anchor="ctr">
                    <a:solidFill>
                      <a:srgbClr val="F4F2FA"/>
                    </a:solidFill>
                  </a:tcPr>
                </a:tc>
              </a:tr>
              <a:tr h="335280">
                <a:tc>
                  <a:txBody>
                    <a:bodyPr/>
                    <a:lstStyle/>
                    <a:p>
                      <a:r>
                        <a:rPr sz="1200" b="0" i="0">
                          <a:solidFill>
                            <a:srgbClr val="1A1440"/>
                          </a:solidFill>
                          <a:latin typeface="Calibri"/>
                        </a:rPr>
                        <a:t>Guardrail 1</a:t>
                      </a:r>
                    </a:p>
                  </a:txBody>
                  <a:tcPr marL="101600" marR="101600" marT="38100" marB="38100" anchor="ctr">
                    <a:solidFill>
                      <a:srgbClr val="FFFFFF"/>
                    </a:solidFill>
                  </a:tcPr>
                </a:tc>
                <a:tc>
                  <a:txBody>
                    <a:bodyPr/>
                    <a:lstStyle/>
                    <a:p>
                      <a:r>
                        <a:rPr sz="1200" b="0" i="0">
                          <a:solidFill>
                            <a:srgbClr val="1A1440"/>
                          </a:solidFill>
                          <a:latin typeface="Calibri"/>
                        </a:rPr>
                        <a:t>Acceptance share</a:t>
                      </a:r>
                    </a:p>
                  </a:txBody>
                  <a:tcPr marL="101600" marR="101600" marT="38100" marB="38100" anchor="ctr">
                    <a:solidFill>
                      <a:srgbClr val="FFFFFF"/>
                    </a:solidFill>
                  </a:tcPr>
                </a:tc>
                <a:tc>
                  <a:txBody>
                    <a:bodyPr/>
                    <a:lstStyle/>
                    <a:p>
                      <a:r>
                        <a:rPr sz="1200" b="0" i="0">
                          <a:solidFill>
                            <a:srgbClr val="1A1440"/>
                          </a:solidFill>
                          <a:latin typeface="Calibri"/>
                        </a:rPr>
                        <a:t>Build failures per developer per week</a:t>
                      </a:r>
                    </a:p>
                  </a:txBody>
                  <a:tcPr marL="101600" marR="101600" marT="38100" marB="38100" anchor="ctr">
                    <a:solidFill>
                      <a:srgbClr val="FFFFFF"/>
                    </a:solidFill>
                  </a:tcPr>
                </a:tc>
              </a:tr>
              <a:tr h="335280">
                <a:tc>
                  <a:txBody>
                    <a:bodyPr/>
                    <a:lstStyle/>
                    <a:p>
                      <a:r>
                        <a:rPr sz="1200" b="0" i="0">
                          <a:solidFill>
                            <a:srgbClr val="1A1440"/>
                          </a:solidFill>
                          <a:latin typeface="Calibri"/>
                        </a:rPr>
                        <a:t>Guardrail 2</a:t>
                      </a:r>
                    </a:p>
                  </a:txBody>
                  <a:tcPr marL="101600" marR="101600" marT="38100" marB="38100" anchor="ctr">
                    <a:solidFill>
                      <a:srgbClr val="F4F2FA"/>
                    </a:solidFill>
                  </a:tcPr>
                </a:tc>
                <a:tc>
                  <a:txBody>
                    <a:bodyPr/>
                    <a:lstStyle/>
                    <a:p>
                      <a:r>
                        <a:rPr sz="1200" b="0" i="0">
                          <a:solidFill>
                            <a:srgbClr val="1A1440"/>
                          </a:solidFill>
                          <a:latin typeface="Calibri"/>
                        </a:rPr>
                        <a:t>Median rider wait</a:t>
                      </a:r>
                    </a:p>
                  </a:txBody>
                  <a:tcPr marL="101600" marR="101600" marT="38100" marB="38100" anchor="ctr">
                    <a:solidFill>
                      <a:srgbClr val="F4F2FA"/>
                    </a:solidFill>
                  </a:tcPr>
                </a:tc>
                <a:tc>
                  <a:txBody>
                    <a:bodyPr/>
                    <a:lstStyle/>
                    <a:p>
                      <a:r>
                        <a:rPr sz="1200" b="0" i="0">
                          <a:solidFill>
                            <a:srgbClr val="1A1440"/>
                          </a:solidFill>
                          <a:latin typeface="Calibri"/>
                        </a:rPr>
                        <a:t>Revert rate on suggested text</a:t>
                      </a:r>
                    </a:p>
                  </a:txBody>
                  <a:tcPr marL="101600" marR="101600" marT="38100" marB="38100" anchor="ctr">
                    <a:solidFill>
                      <a:srgbClr val="F4F2FA"/>
                    </a:solidFill>
                  </a:tcPr>
                </a:tc>
              </a:tr>
              <a:tr h="335280">
                <a:tc>
                  <a:txBody>
                    <a:bodyPr/>
                    <a:lstStyle/>
                    <a:p>
                      <a:r>
                        <a:rPr sz="1200" b="0" i="0">
                          <a:solidFill>
                            <a:srgbClr val="1A1440"/>
                          </a:solidFill>
                          <a:latin typeface="Calibri"/>
                        </a:rPr>
                        <a:t>Guardrail 3</a:t>
                      </a:r>
                    </a:p>
                  </a:txBody>
                  <a:tcPr marL="101600" marR="101600" marT="38100" marB="38100" anchor="ctr">
                    <a:solidFill>
                      <a:srgbClr val="FFFFFF"/>
                    </a:solidFill>
                  </a:tcPr>
                </a:tc>
                <a:tc>
                  <a:txBody>
                    <a:bodyPr/>
                    <a:lstStyle/>
                    <a:p>
                      <a:r>
                        <a:rPr sz="1200" b="0" i="0">
                          <a:solidFill>
                            <a:srgbClr val="1A1440"/>
                          </a:solidFill>
                          <a:latin typeface="Calibri"/>
                        </a:rPr>
                        <a:t>Top-up per completed trip</a:t>
                      </a:r>
                    </a:p>
                  </a:txBody>
                  <a:tcPr marL="101600" marR="101600" marT="38100" marB="38100" anchor="ctr">
                    <a:solidFill>
                      <a:srgbClr val="FFFFFF"/>
                    </a:solidFill>
                  </a:tcPr>
                </a:tc>
                <a:tc>
                  <a:txBody>
                    <a:bodyPr/>
                    <a:lstStyle/>
                    <a:p>
                      <a:r>
                        <a:rPr sz="1200" b="0" i="0">
                          <a:solidFill>
                            <a:srgbClr val="1A1440"/>
                          </a:solidFill>
                          <a:latin typeface="Calibri"/>
                        </a:rPr>
                        <a:t>Time to merge, per developer</a:t>
                      </a:r>
                    </a:p>
                  </a:txBody>
                  <a:tcPr marL="101600" marR="101600" marT="38100" marB="38100" anchor="ctr">
                    <a:solidFill>
                      <a:srgbClr val="FFFFFF"/>
                    </a:solidFill>
                  </a:tcPr>
                </a:tc>
              </a:tr>
              <a:tr h="335280">
                <a:tc>
                  <a:txBody>
                    <a:bodyPr/>
                    <a:lstStyle/>
                    <a:p>
                      <a:r>
                        <a:rPr sz="1200" b="0" i="0">
                          <a:solidFill>
                            <a:srgbClr val="1A1440"/>
                          </a:solidFill>
                          <a:latin typeface="Calibri"/>
                        </a:rPr>
                        <a:t>Window</a:t>
                      </a:r>
                    </a:p>
                  </a:txBody>
                  <a:tcPr marL="101600" marR="101600" marT="38100" marB="38100" anchor="ctr">
                    <a:solidFill>
                      <a:srgbClr val="F4F2FA"/>
                    </a:solidFill>
                  </a:tcPr>
                </a:tc>
                <a:tc>
                  <a:txBody>
                    <a:bodyPr/>
                    <a:lstStyle/>
                    <a:p>
                      <a:r>
                        <a:rPr sz="1200" b="0" i="0">
                          <a:solidFill>
                            <a:srgbClr val="1A1440"/>
                          </a:solidFill>
                          <a:latin typeface="Calibri"/>
                        </a:rPr>
                        <a:t>The calendar week</a:t>
                      </a:r>
                    </a:p>
                  </a:txBody>
                  <a:tcPr marL="101600" marR="101600" marT="38100" marB="38100" anchor="ctr">
                    <a:solidFill>
                      <a:srgbClr val="F4F2FA"/>
                    </a:solidFill>
                  </a:tcPr>
                </a:tc>
                <a:tc>
                  <a:txBody>
                    <a:bodyPr/>
                    <a:lstStyle/>
                    <a:p>
                      <a:r>
                        <a:rPr sz="1200" b="0" i="0">
                          <a:solidFill>
                            <a:srgbClr val="1A1440"/>
                          </a:solidFill>
                          <a:latin typeface="Calibri"/>
                        </a:rPr>
                        <a:t>The calendar week</a:t>
                      </a:r>
                    </a:p>
                  </a:txBody>
                  <a:tcPr marL="101600" marR="101600" marT="38100" marB="38100" anchor="ctr">
                    <a:solidFill>
                      <a:srgbClr val="F4F2FA"/>
                    </a:solidFill>
                  </a:tcPr>
                </a:tc>
              </a:tr>
              <a:tr h="335280">
                <a:tc>
                  <a:txBody>
                    <a:bodyPr/>
                    <a:lstStyle/>
                    <a:p>
                      <a:r>
                        <a:rPr sz="1200" b="0" i="0">
                          <a:solidFill>
                            <a:srgbClr val="1A1440"/>
                          </a:solidFill>
                          <a:latin typeface="Calibri"/>
                        </a:rPr>
                        <a:t>The gaming</a:t>
                      </a:r>
                    </a:p>
                  </a:txBody>
                  <a:tcPr marL="101600" marR="101600" marT="38100" marB="38100" anchor="ctr">
                    <a:solidFill>
                      <a:srgbClr val="FFFFFF"/>
                    </a:solidFill>
                  </a:tcPr>
                </a:tc>
                <a:tc>
                  <a:txBody>
                    <a:bodyPr/>
                    <a:lstStyle/>
                    <a:p>
                      <a:r>
                        <a:rPr sz="1200" b="0" i="0">
                          <a:solidFill>
                            <a:srgbClr val="1A1440"/>
                          </a:solidFill>
                          <a:latin typeface="Calibri"/>
                        </a:rPr>
                        <a:t>Stay online, decline requests</a:t>
                      </a:r>
                    </a:p>
                  </a:txBody>
                  <a:tcPr marL="101600" marR="101600" marT="38100" marB="38100" anchor="ctr">
                    <a:solidFill>
                      <a:srgbClr val="FFFFFF"/>
                    </a:solidFill>
                  </a:tcPr>
                </a:tc>
                <a:tc>
                  <a:txBody>
                    <a:bodyPr/>
                    <a:lstStyle/>
                    <a:p>
                      <a:r>
                        <a:rPr sz="1200" b="0" i="0">
                          <a:solidFill>
                            <a:srgbClr val="1A1440"/>
                          </a:solidFill>
                          <a:latin typeface="Calibri"/>
                        </a:rPr>
                        <a:t>Short suggestions accepted and deleted</a:t>
                      </a:r>
                    </a:p>
                  </a:txBody>
                  <a:tcPr marL="101600" marR="101600" marT="38100" marB="38100" anchor="ctr">
                    <a:solidFill>
                      <a:srgbClr val="FFFFFF"/>
                    </a:solidFill>
                  </a:tcPr>
                </a:tc>
              </a:tr>
            </a:tbl>
          </a:graphicData>
        </a:graphic>
      </p:graphicFrame>
      <p:sp>
        <p:nvSpPr>
          <p:cNvPr id="10" name="TextBox 9"/>
          <p:cNvSpPr txBox="1"/>
          <p:nvPr/>
        </p:nvSpPr>
        <p:spPr>
          <a:xfrm>
            <a:off x="530352" y="5102352"/>
            <a:ext cx="11130991" cy="703072"/>
          </a:xfrm>
          <a:prstGeom prst="rect">
            <a:avLst/>
          </a:prstGeom>
          <a:noFill/>
        </p:spPr>
        <p:txBody>
          <a:bodyPr wrap="square" anchor="t" lIns="0" rIns="0" tIns="0" bIns="0">
            <a:spAutoFit/>
          </a:bodyPr>
          <a:lstStyle/>
          <a:p>
            <a:pPr>
              <a:spcAft>
                <a:spcPts val="700"/>
              </a:spcAft>
            </a:pPr>
            <a:r>
              <a:rPr sz="1400" b="1" i="0">
                <a:solidFill>
                  <a:srgbClr val="1A1440"/>
                </a:solidFill>
                <a:latin typeface="Calibri"/>
              </a:rPr>
              <a:t>Programme-written variant; no company figure.</a:t>
            </a:r>
            <a:r>
              <a:rPr sz="1400" b="0" i="0">
                <a:solidFill>
                  <a:srgbClr val="1A1440"/>
                </a:solidFill>
                <a:latin typeface="Calibri"/>
              </a:rPr>
              <a:t> The structure travels: the proxy is replaced; the north star carries the thing the business wants; the guardrails catch each gaming.</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Does the definition survive three partly-right attacks?</a:t>
            </a:r>
          </a:p>
        </p:txBody>
      </p:sp>
      <p:sp>
        <p:nvSpPr>
          <p:cNvPr id="13" name="Oval 12"/>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035808"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What the interviewer listens for</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items in five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room answer today's traps, in writing, in under a minute each?</a:t>
            </a:r>
          </a:p>
        </p:txBody>
      </p:sp>
      <p:pic>
        <p:nvPicPr>
          <p:cNvPr id="9" name="mermaid diagram" descr="4e42b3d53ade2e3e.png"/>
          <p:cNvPicPr>
            <a:picLocks noChangeAspect="1"/>
          </p:cNvPicPr>
          <p:nvPr/>
        </p:nvPicPr>
        <p:blipFill>
          <a:blip r:embed="rId5"/>
          <a:stretch>
            <a:fillRect/>
          </a:stretch>
        </p:blipFill>
        <p:spPr>
          <a:xfrm>
            <a:off x="701972" y="1682496"/>
            <a:ext cx="4443084" cy="4517136"/>
          </a:xfrm>
          <a:prstGeom prst="rect">
            <a:avLst/>
          </a:prstGeom>
        </p:spPr>
      </p:pic>
      <p:sp>
        <p:nvSpPr>
          <p:cNvPr id="10" name="TextBox 9"/>
          <p:cNvSpPr txBox="1"/>
          <p:nvPr/>
        </p:nvSpPr>
        <p:spPr>
          <a:xfrm>
            <a:off x="5761917" y="1956816"/>
            <a:ext cx="5899425"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Items test: the proxy (1), the denominator (2), the idle-tail multiplier (3), the top-up share (4), the acceptance guardrail (5), Week 2 Friday's end-of-reporting-day validation (6), Wells Fargo's no-usage-condition breach (7), the twelve-row story (8). Keys sit in the TRAINER file.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Does the definition survive three partly-right attacks?</a:t>
            </a:r>
          </a:p>
        </p:txBody>
      </p:sp>
      <p:sp>
        <p:nvSpPr>
          <p:cNvPr id="13" name="Oval 12"/>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035808"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What the interviewer listens for</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handoff: the A/B test of the redesigned scheme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next 120 minutes test, and why does the scheme need it?</a:t>
            </a:r>
          </a:p>
        </p:txBody>
      </p:sp>
      <p:sp>
        <p:nvSpPr>
          <p:cNvPr id="9" name="Rounded Rectangle 8"/>
          <p:cNvSpPr/>
          <p:nvPr/>
        </p:nvSpPr>
        <p:spPr>
          <a:xfrm>
            <a:off x="530352" y="1956816"/>
            <a:ext cx="45720" cy="132079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20799"/>
          </a:xfrm>
          <a:prstGeom prst="rect">
            <a:avLst/>
          </a:prstGeom>
          <a:noFill/>
        </p:spPr>
        <p:txBody>
          <a:bodyPr wrap="square" anchor="t" lIns="0" rIns="0" tIns="0" bIns="0">
            <a:spAutoFit/>
          </a:bodyPr>
          <a:lstStyle/>
          <a:p>
            <a:r>
              <a:rPr sz="1600" b="0" i="1">
                <a:solidFill>
                  <a:srgbClr val="1A0F5C"/>
                </a:solidFill>
                <a:latin typeface="Georgia"/>
              </a:rPr>
              <a:t>*"You have a number the scheme should pay for and two guardrails that catch the ways of hitting it that hurt riders. You have not tested whether the redesign moves it. The next 120 minutes design that test on this city: the unit you randomise, the metric, the guardrail and how long you run it before you look."*</a:t>
            </a:r>
          </a:p>
        </p:txBody>
      </p:sp>
      <p:sp>
        <p:nvSpPr>
          <p:cNvPr id="11" name="Rounded Rectangle 10"/>
          <p:cNvSpPr/>
          <p:nvPr/>
        </p:nvSpPr>
        <p:spPr>
          <a:xfrm>
            <a:off x="530352" y="34239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35519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542792"/>
            <a:ext cx="10564063" cy="624840"/>
          </a:xfrm>
          <a:prstGeom prst="rect">
            <a:avLst/>
          </a:prstGeom>
          <a:noFill/>
        </p:spPr>
        <p:txBody>
          <a:bodyPr wrap="square" anchor="ctr" lIns="0" rIns="0" tIns="0" bIns="0">
            <a:spAutoFit/>
          </a:bodyPr>
          <a:lstStyle/>
          <a:p>
            <a:r>
              <a:rPr sz="1500" b="1">
                <a:solidFill>
                  <a:srgbClr val="5B3FD6"/>
                </a:solidFill>
                <a:latin typeface="Calibri"/>
              </a:rPr>
              <a:t>The faculty block is tentative. </a:t>
            </a:r>
            <a:r>
              <a:rPr sz="1500" b="0" i="0">
                <a:solidFill>
                  <a:srgbClr val="1A1440"/>
                </a:solidFill>
                <a:latin typeface="Calibri"/>
              </a:rPr>
              <a:t>W4-1, A/B testing: unit, metric, guardrail, duration, peeking. If the block slips, the fallback deck's metric clinic runs instead.</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Does the definition survive three partly-right attacks?</a:t>
            </a:r>
          </a:p>
        </p:txBody>
      </p:sp>
      <p:sp>
        <p:nvSpPr>
          <p:cNvPr id="16" name="Oval 15"/>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035808"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What the interviewer listens for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 close: a number redesigned, Tuesday to come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take into Tuesday, and what will the one-slide answer have to say?</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Monday earned. </a:t>
            </a:r>
            <a:r>
              <a:rPr sz="1500" b="0" i="0">
                <a:solidFill>
                  <a:srgbClr val="1A1440"/>
                </a:solidFill>
                <a:latin typeface="Calibri"/>
              </a:rPr>
              <a:t>A number that rose because the scheme paid for being online, a 180-driver idle tail that logged outer-zone hours without trips, a Rs 1.16 crore cost to idle online hours, and a definition that pays for completed trips with an acceptance guardrail.</a:t>
            </a:r>
          </a:p>
        </p:txBody>
      </p:sp>
      <p:sp>
        <p:nvSpPr>
          <p:cNvPr id="12" name="Rounded Rectangle 11"/>
          <p:cNvSpPr/>
          <p:nvPr/>
        </p:nvSpPr>
        <p:spPr>
          <a:xfrm>
            <a:off x="530352" y="31958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891540"/>
          </a:xfrm>
          <a:prstGeom prst="rect">
            <a:avLst/>
          </a:prstGeom>
          <a:noFill/>
        </p:spPr>
        <p:txBody>
          <a:bodyPr wrap="square" anchor="ctr" lIns="0" rIns="0" tIns="0" bIns="0">
            <a:spAutoFit/>
          </a:bodyPr>
          <a:lstStyle/>
          <a:p>
            <a:r>
              <a:rPr sz="1500" b="1">
                <a:solidFill>
                  <a:srgbClr val="5B3FD6"/>
                </a:solidFill>
                <a:latin typeface="Calibri"/>
              </a:rPr>
              <a:t>Tuesday brings. </a:t>
            </a:r>
            <a:r>
              <a:rPr sz="1500" b="0" i="0">
                <a:solidFill>
                  <a:srgbClr val="1A1440"/>
                </a:solidFill>
                <a:latin typeface="Calibri"/>
              </a:rPr>
              <a:t>The same case, one day on. The city head's one slide at the Thursday review: Rs 314 to Rs 260 per online hour; three objections, each partly right; four moves of a defence. Plus a guesstimate: how many drivers must be online at the evening peak to keep wait under five minutes.</a:t>
            </a:r>
          </a:p>
        </p:txBody>
      </p:sp>
      <p:sp>
        <p:nvSpPr>
          <p:cNvPr id="15" name="Rounded Rectangle 14"/>
          <p:cNvSpPr/>
          <p:nvPr/>
        </p:nvSpPr>
        <p:spPr>
          <a:xfrm>
            <a:off x="530352" y="443484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56285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553712"/>
            <a:ext cx="10564063" cy="624840"/>
          </a:xfrm>
          <a:prstGeom prst="rect">
            <a:avLst/>
          </a:prstGeom>
          <a:noFill/>
        </p:spPr>
        <p:txBody>
          <a:bodyPr wrap="square" anchor="ctr" lIns="0" rIns="0" tIns="0" bIns="0">
            <a:spAutoFit/>
          </a:bodyPr>
          <a:lstStyle/>
          <a:p>
            <a:r>
              <a:rPr sz="1500" b="1">
                <a:solidFill>
                  <a:srgbClr val="5B3FD6"/>
                </a:solidFill>
                <a:latin typeface="Calibri"/>
              </a:rPr>
              <a:t>Pre-read ships tonight. </a:t>
            </a:r>
            <a:r>
              <a:rPr sz="1500" b="0" i="0">
                <a:solidFill>
                  <a:srgbClr val="1A1440"/>
                </a:solidFill>
                <a:latin typeface="Calibri"/>
              </a:rPr>
              <a:t>The city head's one-slide terms, and the vocabulary: claim, evidence, caveat, action.</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Does the definition survive three partly-right attacks?</a:t>
            </a:r>
          </a:p>
        </p:txBody>
      </p:sp>
      <p:sp>
        <p:nvSpPr>
          <p:cNvPr id="20" name="Oval 19"/>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035808"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What the interviewer listens for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