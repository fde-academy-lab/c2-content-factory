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Round 3 of the war game, 25 minutes: the map (1), the brief (2), groups write and</a:t>
            </a:r>
          </a:p>
          <a:p>
            <a:r>
              <a:t>price (12), the attacks and the line that answers each (6 minutes 30 seconds), the saving (2), the</a:t>
            </a:r>
          </a:p>
          <a:p>
            <a:r>
              <a:t>scoring (1). Level 5: decide and</a:t>
            </a:r>
          </a:p>
          <a:p>
            <a:r>
              <a:t>cost it. Run sheet: trainer/C2_W04_D01_war_game_TRAINER.md; role cards:</a:t>
            </a:r>
          </a:p>
          <a:p>
            <a:r>
              <a:t>trainer/C2_W04_D01_role_cards_TRAINER.md; the unguided exercise:</a:t>
            </a:r>
          </a:p>
          <a:p>
            <a:r>
              <a:t>exercises/unguided/C2_W04_D01_redesign_STUDENT.md. Styles: the case method (roles with partly-right</a:t>
            </a:r>
          </a:p>
          <a:p>
            <a:r>
              <a:t>objections), Veritasium (predict which line answers which attack), Striver's ladder (the unguided</a:t>
            </a:r>
          </a:p>
          <a:p>
            <a:r>
              <a:t>items climb from a line to a cost). Transition: what the round applies.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Applies line: the page from chapter 6 and the lines from chapter 5 are what</a:t>
            </a:r>
          </a:p>
          <a:p>
            <a:r>
              <a:t>the roles now attack. Transition: what each group hands 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14 minutes: the brief (2), then groups write and price (12). Hand out the definition template (exercises/guided/C2_W04_D01_definition_STUDENT.md</a:t>
            </a:r>
          </a:p>
          <a:p>
            <a:r>
              <a:t>carries it, the same seven lines as Balaji Kirana's page in chapter 6). Nine groups work at once;</a:t>
            </a:r>
          </a:p>
          <a:p>
            <a:r>
              <a:t>the trainer voices one role per visit and rotates.</a:t>
            </a:r>
          </a:p>
          <a:p>
            <a:r>
              <a:t>When it stalls: a group with a guardrail that is another growth count ("bookings per driver") is</a:t>
            </a:r>
          </a:p>
          <a:p>
            <a:r>
              <a:t>asked what that guardrail would catch.</a:t>
            </a:r>
          </a:p>
          <a:p>
            <a:r>
              <a:t>Transition: the three attacks.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three cards in the roles' voices. The numbers on the cards come from the</a:t>
            </a:r>
          </a:p>
          <a:p>
            <a:r>
              <a:t>data: 880 is the 1,060 drivers there before the launch less the 180 in the idle tail, and they made</a:t>
            </a:r>
          </a:p>
          <a:p>
            <a:r>
              <a:t>1.90 trips an hour in both windows; the rate stepped down in the launch week while weekly requests</a:t>
            </a:r>
          </a:p>
          <a:p>
            <a:r>
              <a:t>stayed between about 41,000 and 44,000, and the three weeks with the most requests already read</a:t>
            </a:r>
          </a:p>
          <a:p>
            <a:r>
              <a:t>1.60. If the 180 quit, their 33,440 trips would need about 17,600 more hours from the others. The</a:t>
            </a:r>
          </a:p>
          <a:p>
            <a:r>
              <a:t>top-up budget is finance's number, so finance decides what the floor may cost.</a:t>
            </a:r>
          </a:p>
          <a:p>
            <a:r>
              <a:t>Transition: which line answers the hardest attack.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Letters on paper. Groups that answered b are half right: the denominator would</a:t>
            </a:r>
          </a:p>
          <a:p>
            <a:r>
              <a:t>shrink, and the next slide says why the wait is the line that protects riders.</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The floor is the city's call; the data says a floor anywhere between the two numbers</a:t>
            </a:r>
          </a:p>
          <a:p>
            <a:r>
              <a:t>stops the gaming without touching a driver who declines the odd bad trip. Say that the gap is this</a:t>
            </a:r>
          </a:p>
          <a:p>
            <a:r>
              <a:t>clean because the data is synthetic; on a real city the two groups overlap and the floor is a</a:t>
            </a:r>
          </a:p>
          <a:p>
            <a:r>
              <a:t>trade-off the test measures.</a:t>
            </a:r>
          </a:p>
          <a:p>
            <a:r>
              <a:t>Transition: what the redesign would save, said honestly.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Groups compare their own saving with the range. A group that wrote "saves Rs 1.16</a:t>
            </a:r>
          </a:p>
          <a:p>
            <a:r>
              <a:t>crore" has assumed nobody changes; ask what the idle tail would do on Monday morning under the new</a:t>
            </a:r>
          </a:p>
          <a:p>
            <a:r>
              <a:t>rule. Chapter 2's Maxxsaver made the same point from the other side: a north star has to match what</a:t>
            </a:r>
          </a:p>
          <a:p>
            <a:r>
              <a:t>the business is trying to do, and this one pays for trips. Then 1 minute of scoring.</a:t>
            </a:r>
          </a:p>
          <a:p>
            <a:r>
              <a:t>Transition: the interview room.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15 minutes: the opener and the map (2), the question and the clarifiers (2), the</a:t>
            </a:r>
          </a:p>
          <a:p>
            <a:r>
              <a:t>transcript read in pairs and scored (4), the follow-ups (3), the AI-company variant (4). Level 6.</a:t>
            </a:r>
          </a:p>
          <a:p>
            <a:r>
              <a:t>The transcript: extras/C2_W04_D01_transcript_STUDENT.md; the scorecard:</a:t>
            </a:r>
          </a:p>
          <a:p>
            <a:r>
              <a:t>trainer/C2_W04_D01_interview_scorecards_TRAINER.md. Styles: the case method in the interview room,</a:t>
            </a:r>
          </a:p>
          <a:p>
            <a:r>
              <a:t>Feynman (the first sentence a newcomer could repeat), Striver's ladder (the follow-ups climb).</a:t>
            </a:r>
          </a:p>
          <a:p>
            <a:r>
              <a:t>Transition: what the room applies.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Every chapter of the day returns here: the proxy test in the trap the interviewer</a:t>
            </a:r>
          </a:p>
          <a:p>
            <a:r>
              <a:t>sets, the north star and guardrails in the structure, the leading input, the four lines, the gaming</a:t>
            </a:r>
          </a:p>
          <a:p>
            <a:r>
              <a:t>and the page. Transition: the question as a screen asks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Pairs: one reads the interviewer, one answers cold for sixty seconds before</a:t>
            </a:r>
          </a:p>
          <a:p>
            <a:r>
              <a:t>opening the transcript. Every transcript opens with the line that it was written for this</a:t>
            </a:r>
          </a:p>
          <a:p>
            <a:r>
              <a:t>programme in the style of product-company and GCC screens, with the facts from the case.</a:t>
            </a:r>
          </a:p>
          <a:p>
            <a:r>
              <a:t>Transition: two answers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Pairs score both answers on the scorecard's seven criteria, 0 to 2 each, then</a:t>
            </a:r>
          </a:p>
          <a:p>
            <a:r>
              <a:t>compare with the trainer's scores. A hire-grade answer scores 2 on the first three: clarified</a:t>
            </a:r>
          </a:p>
          <a:p>
            <a:r>
              <a:t>scope, named the denominator and window, saw the paradox.</a:t>
            </a:r>
          </a:p>
          <a:p>
            <a:r>
              <a:t>Transition: the follow-ups an interviewer pushes 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each follow-up in the interviewer's voice; the pair that answered cold tries</a:t>
            </a:r>
          </a:p>
          <a:p>
            <a:r>
              <a:t>the line before reading it.</a:t>
            </a:r>
          </a:p>
          <a:p>
            <a:r>
              <a:t>Transition: the same question at an AI company.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Ask which line catches a developer who accepts every suggestion and deletes it in</a:t>
            </a:r>
          </a:p>
          <a:p>
            <a:r>
              <a:t>the next edit: the north star itself, since deleted text is not present at the next commit, the</a:t>
            </a:r>
          </a:p>
          <a:p>
            <a:r>
              <a:t>receipt condition of chapter 5.</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eight items at about a minute each, then the two most-missed items said again with</a:t>
            </a:r>
          </a:p>
          <a:p>
            <a:r>
              <a:t>the topic each tests. The trap item uses numbers other than today's.</a:t>
            </a:r>
          </a:p>
          <a:p>
            <a:r>
              <a:t>Transition: the handoff to the afternoon block.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handoff aloud. Park every "is the fall real, or the season?" question for</a:t>
            </a:r>
          </a:p>
          <a:p>
            <a:r>
              <a:t>the block; it is the question a test answers.</a:t>
            </a:r>
          </a:p>
          <a:p>
            <a:r>
              <a:t>Transition: the day's close.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Read the sentence; it is the blanked sentence from the morning, filled. Then the</a:t>
            </a:r>
          </a:p>
          <a:p>
            <a:r>
              <a:t>strip: ask the room for the city's number on each of the six topics before reading its line. The</a:t>
            </a:r>
          </a:p>
          <a:p>
            <a:r>
              <a:t>pre-read for Tuesday ships tonight. The TA lab now runs the same method on Kalpa Retail.</a:t>
            </a:r>
          </a:p>
          <a:p>
            <a:r>
              <a:t>Transition: the lab.</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 Id="rId5"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page under attack from three roles, with gaming and the seven lines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it survive the roles?</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Applies the lines that resist gaming (chapter 5) and the seven-line page (chapter 6) under attack from three roles who each lose something, and prices what the redesign would save, before the city head signs it on Friday.</a:t>
            </a:r>
          </a:p>
        </p:txBody>
      </p:sp>
      <p:sp>
        <p:nvSpPr>
          <p:cNvPr id="11" name="Rounded Rectangle 10"/>
          <p:cNvSpPr/>
          <p:nvPr/>
        </p:nvSpPr>
        <p:spPr>
          <a:xfrm>
            <a:off x="731519"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it survive the roles?</a:t>
            </a:r>
          </a:p>
        </p:txBody>
      </p:sp>
      <p:sp>
        <p:nvSpPr>
          <p:cNvPr id="12" name="Rounded Rectangle 11"/>
          <p:cNvSpPr/>
          <p:nvPr/>
        </p:nvSpPr>
        <p:spPr>
          <a:xfrm>
            <a:off x="2746623"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wins the interview?</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Does the definition survive the people it costs?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Round 3 applies chapters 5 and 6 under attack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Gaming, and definitions that resist it (chapter 5); The metric definition artifact (chapter 6).</a:t>
            </a:r>
          </a:p>
        </p:txBody>
      </p:sp>
      <p:sp>
        <p:nvSpPr>
          <p:cNvPr id="12" name="Rounded Rectangle 11"/>
          <p:cNvSpPr/>
          <p:nvPr/>
        </p:nvSpPr>
        <p:spPr>
          <a:xfrm>
            <a:off x="530352" y="26624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city head, who signs the page on Friday, and the three roles in the room who each lose something under it: a page that cannot answer them is dropped, and the city keeps paying for hours.</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SHEET</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a group hand in?</a:t>
            </a:r>
          </a:p>
        </p:txBody>
      </p:sp>
      <p:sp>
        <p:nvSpPr>
          <p:cNvPr id="20" name="TextBox 19"/>
          <p:cNvSpPr txBox="1"/>
          <p:nvPr/>
        </p:nvSpPr>
        <p:spPr>
          <a:xfrm>
            <a:off x="694944"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The seven lines, priced.</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ATTACKS</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will each role say?</a:t>
            </a:r>
          </a:p>
        </p:txBody>
      </p:sp>
      <p:sp>
        <p:nvSpPr>
          <p:cNvPr id="25" name="TextBox 24"/>
          <p:cNvSpPr txBox="1"/>
          <p:nvPr/>
        </p:nvSpPr>
        <p:spPr>
          <a:xfrm>
            <a:off x="3523411"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Three objections, each partly right.</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LINE</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line answers each?</a:t>
            </a:r>
          </a:p>
        </p:txBody>
      </p:sp>
      <p:sp>
        <p:nvSpPr>
          <p:cNvPr id="30" name="TextBox 29"/>
          <p:cNvSpPr txBox="1"/>
          <p:nvPr/>
        </p:nvSpPr>
        <p:spPr>
          <a:xfrm>
            <a:off x="6351879"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A guardrail or a line of the page.</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SAVING</a:t>
            </a:r>
          </a:p>
        </p:txBody>
      </p:sp>
      <p:sp>
        <p:nvSpPr>
          <p:cNvPr id="32" name="Oval 31"/>
          <p:cNvSpPr/>
          <p:nvPr/>
        </p:nvSpPr>
        <p:spPr>
          <a:xfrm>
            <a:off x="10237965" y="41102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would it save?</a:t>
            </a:r>
          </a:p>
        </p:txBody>
      </p:sp>
      <p:sp>
        <p:nvSpPr>
          <p:cNvPr id="35" name="TextBox 34"/>
          <p:cNvSpPr txBox="1"/>
          <p:nvPr/>
        </p:nvSpPr>
        <p:spPr>
          <a:xfrm>
            <a:off x="9180347" y="4955794"/>
            <a:ext cx="2316403" cy="201676"/>
          </a:xfrm>
          <a:prstGeom prst="rect">
            <a:avLst/>
          </a:prstGeom>
          <a:noFill/>
        </p:spPr>
        <p:txBody>
          <a:bodyPr wrap="square" anchor="t" lIns="0" rIns="0" tIns="0" bIns="0">
            <a:spAutoFit/>
          </a:bodyPr>
          <a:lstStyle/>
          <a:p>
            <a:pPr algn="l"/>
            <a:r>
              <a:rPr sz="1000" b="0" i="0">
                <a:solidFill>
                  <a:srgbClr val="CFC9EE"/>
                </a:solidFill>
                <a:latin typeface="Calibri"/>
              </a:rPr>
              <a:t>A range, with its assumption.</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it survive the roles?</a:t>
            </a:r>
          </a:p>
        </p:txBody>
      </p:sp>
      <p:sp>
        <p:nvSpPr>
          <p:cNvPr id="38" name="Oval 3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31171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wins the interview?</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S85  ·  2 / 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Round 3: write it, price it, defend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group hand in, and how is it scored?</a:t>
            </a:r>
          </a:p>
        </p:txBody>
      </p:sp>
      <p:pic>
        <p:nvPicPr>
          <p:cNvPr id="9" name="mermaid diagram" descr="6b958eed6d4003e3.png"/>
          <p:cNvPicPr>
            <a:picLocks noChangeAspect="1"/>
          </p:cNvPicPr>
          <p:nvPr/>
        </p:nvPicPr>
        <p:blipFill>
          <a:blip r:embed="rId5"/>
          <a:stretch>
            <a:fillRect/>
          </a:stretch>
        </p:blipFill>
        <p:spPr>
          <a:xfrm>
            <a:off x="530352" y="1956816"/>
            <a:ext cx="11130991" cy="1562725"/>
          </a:xfrm>
          <a:prstGeom prst="rect">
            <a:avLst/>
          </a:prstGeom>
        </p:spPr>
      </p:pic>
      <p:sp>
        <p:nvSpPr>
          <p:cNvPr id="10" name="Rounded Rectangle 9"/>
          <p:cNvSpPr/>
          <p:nvPr/>
        </p:nvSpPr>
        <p:spPr>
          <a:xfrm>
            <a:off x="530352" y="366584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79386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784717"/>
            <a:ext cx="10564063" cy="891540"/>
          </a:xfrm>
          <a:prstGeom prst="rect">
            <a:avLst/>
          </a:prstGeom>
          <a:noFill/>
        </p:spPr>
        <p:txBody>
          <a:bodyPr wrap="square" anchor="ctr" lIns="0" rIns="0" tIns="0" bIns="0">
            <a:spAutoFit/>
          </a:bodyPr>
          <a:lstStyle/>
          <a:p>
            <a:r>
              <a:rPr sz="1500" b="1">
                <a:solidFill>
                  <a:srgbClr val="5B3FD6"/>
                </a:solidFill>
                <a:latin typeface="Calibri"/>
              </a:rPr>
              <a:t>The survival rule. </a:t>
            </a:r>
            <a:r>
              <a:rPr sz="1500" b="0" i="0">
                <a:solidFill>
                  <a:srgbClr val="1A1440"/>
                </a:solidFill>
                <a:latin typeface="Calibri"/>
              </a:rPr>
              <a:t>A definition survives when every role's attack is answered by one of its lines or a guardrail. A definition that survives only by dropping the guarantee has lost the driver-operations lead, and Tuesday's slide has to win that lead back.</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it survive the roles?</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wins the interview?</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S86  ·  3 / 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attacks, and the part of each that is true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each role say against the redesign, and which part of it holds?</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r_2853f22980e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DRIVER-OPERATIONS LEAD</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"Drivers will log off"</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True for the 180 in the idle tail; the other 880 who joined before the launch held 1.90 trips an hour, and the wait by zone shows any loss</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egaphone_df6318bcf2f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 LEAD</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"Changing terms looks like bait"</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True that the floor was the promise; the redesign keeps it for drivers who accept at least half their offers</a:t>
            </a:r>
          </a:p>
        </p:txBody>
      </p:sp>
      <p:sp>
        <p:nvSpPr>
          <p:cNvPr id="21" name="Rounded Rectangle 20"/>
          <p:cNvSpPr/>
          <p:nvPr/>
        </p:nvSpPr>
        <p:spPr>
          <a:xfrm>
            <a:off x="807293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wallet_3a2d2f5ade12.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FINANCE PARTNER</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fall is the monsoon's end"</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Partly: the season moves requests, but the rate stepped from 1.88 to 1.64 in the launch week itself</a:t>
            </a:r>
          </a:p>
        </p:txBody>
      </p:sp>
      <p:sp>
        <p:nvSpPr>
          <p:cNvPr id="27" name="TextBox 26"/>
          <p:cNvSpPr txBox="1"/>
          <p:nvPr/>
        </p:nvSpPr>
        <p:spPr>
          <a:xfrm>
            <a:off x="530352" y="448411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attack is partly right by design, and a defence names the true part before answering the rest.</a:t>
            </a: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it survive the roles?</a:t>
            </a:r>
          </a:p>
        </p:txBody>
      </p:sp>
      <p:sp>
        <p:nvSpPr>
          <p:cNvPr id="30" name="Oval 29"/>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31171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wins the interview?</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S87  ·  4 / 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line answers "drivers will log off"?</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drivers log off and riders wait longer, which line tells the city head that riders are worse off?</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numerator: trips completed in the peak windows</a:t>
            </a:r>
          </a:p>
          <a:p>
            <a:pPr>
              <a:spcAft>
                <a:spcPts val="800"/>
              </a:spcAft>
            </a:pPr>
            <a:r>
              <a:rPr sz="1600" b="0" i="0">
                <a:solidFill>
                  <a:srgbClr val="1A1440"/>
                </a:solidFill>
                <a:latin typeface="Calibri"/>
              </a:rPr>
              <a:t>b) The denominator: drivers online at least one peak hour</a:t>
            </a:r>
          </a:p>
          <a:p>
            <a:pPr>
              <a:spcAft>
                <a:spcPts val="800"/>
              </a:spcAft>
            </a:pPr>
            <a:r>
              <a:rPr sz="1600" b="0" i="0">
                <a:solidFill>
                  <a:srgbClr val="1A1440"/>
                </a:solidFill>
                <a:latin typeface="Calibri"/>
              </a:rPr>
              <a:t>c) Guardrail 2: median rider wait at peak</a:t>
            </a:r>
          </a:p>
          <a:p>
            <a:pPr>
              <a:spcAft>
                <a:spcPts val="800"/>
              </a:spcAft>
            </a:pPr>
            <a:r>
              <a:rPr sz="1600" b="0" i="0">
                <a:solidFill>
                  <a:srgbClr val="1A1440"/>
                </a:solidFill>
                <a:latin typeface="Calibri"/>
              </a:rPr>
              <a:t>d) What it does not reward: hours online</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it survive the roles?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wins the interview?</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S88  ·  5 / 16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wait guardrail catches lost supply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rider's wait answer driver operations, and where should the acceptance floor sit?</a:t>
            </a:r>
          </a:p>
        </p:txBody>
      </p:sp>
      <p:pic>
        <p:nvPicPr>
          <p:cNvPr id="9" name="mermaid diagram" descr="C2_W04_D01_acceptance_gap_STUDENT.png"/>
          <p:cNvPicPr>
            <a:picLocks noChangeAspect="1"/>
          </p:cNvPicPr>
          <p:nvPr/>
        </p:nvPicPr>
        <p:blipFill>
          <a:blip r:embed="rId4"/>
          <a:stretch>
            <a:fillRect/>
          </a:stretch>
        </p:blipFill>
        <p:spPr>
          <a:xfrm>
            <a:off x="2695188" y="1664208"/>
            <a:ext cx="6801317" cy="2809240"/>
          </a:xfrm>
          <a:prstGeom prst="rect">
            <a:avLst/>
          </a:prstGeom>
        </p:spPr>
      </p:pic>
      <p:sp>
        <p:nvSpPr>
          <p:cNvPr id="10" name="picture caption"/>
          <p:cNvSpPr txBox="1"/>
          <p:nvPr/>
        </p:nvSpPr>
        <p:spPr>
          <a:xfrm>
            <a:off x="530352" y="45100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Weekly share of offers accepted after the launch, idle-tail weeks against every other week</a:t>
            </a:r>
          </a:p>
        </p:txBody>
      </p:sp>
      <p:sp>
        <p:nvSpPr>
          <p:cNvPr id="11" name="Rounded Rectangle 10"/>
          <p:cNvSpPr/>
          <p:nvPr/>
        </p:nvSpPr>
        <p:spPr>
          <a:xfrm>
            <a:off x="530352" y="4836160"/>
            <a:ext cx="11130991" cy="11988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964176"/>
            <a:ext cx="45720" cy="9428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955032"/>
            <a:ext cx="10564063" cy="1016000"/>
          </a:xfrm>
          <a:prstGeom prst="rect">
            <a:avLst/>
          </a:prstGeom>
          <a:noFill/>
        </p:spPr>
        <p:txBody>
          <a:bodyPr wrap="square" anchor="ctr" lIns="0" rIns="0" tIns="0" bIns="0">
            <a:spAutoFit/>
          </a:bodyPr>
          <a:lstStyle/>
          <a:p>
            <a:r>
              <a:rPr sz="1300" b="1">
                <a:solidFill>
                  <a:srgbClr val="5B3FD6"/>
                </a:solidFill>
                <a:latin typeface="Calibri"/>
              </a:rPr>
              <a:t>Answer: c. </a:t>
            </a:r>
            <a:r>
              <a:rPr sz="1300" b="0" i="0">
                <a:solidFill>
                  <a:srgbClr val="1A1440"/>
                </a:solidFill>
                <a:latin typeface="Calibri"/>
              </a:rPr>
              <a:t>If drivers who serve riders log off, riders wait longer, and the wait, read zone by zone, is the line that moves for riders; the shrinking count of drivers shows who left, while the north star would rise. The floor sits in the gap: no idle-tail week accepted more than 0.46 of its offers and no other week fewer than 0.78; counting an accepted trip later cancelled as declined moves the edges to 0.43 and 0.67, and half still sits between.</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it survive the roles?</a:t>
            </a:r>
          </a:p>
        </p:txBody>
      </p:sp>
      <p:sp>
        <p:nvSpPr>
          <p:cNvPr id="16" name="Oval 1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31171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wins the interview?</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S89  ·  6 / 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saving is a range, with its assumption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paying for hours cost, and what would the redesign save if some idle drivers changed?</a:t>
            </a:r>
          </a:p>
        </p:txBody>
      </p:sp>
      <p:sp>
        <p:nvSpPr>
          <p:cNvPr id="9" name="TextBox 8"/>
          <p:cNvSpPr txBox="1"/>
          <p:nvPr/>
        </p:nvSpPr>
        <p:spPr>
          <a:xfrm>
            <a:off x="530352" y="1956816"/>
            <a:ext cx="3527450" cy="380999"/>
          </a:xfrm>
          <a:prstGeom prst="rect">
            <a:avLst/>
          </a:prstGeom>
          <a:noFill/>
        </p:spPr>
        <p:txBody>
          <a:bodyPr wrap="square" anchor="t" lIns="0" rIns="0" tIns="0" bIns="0">
            <a:spAutoFit/>
          </a:bodyPr>
          <a:lstStyle/>
          <a:p>
            <a:pPr algn="l"/>
            <a:r>
              <a:rPr sz="2400" b="0" i="0">
                <a:solidFill>
                  <a:srgbClr val="5B3FD6"/>
                </a:solidFill>
                <a:latin typeface="Georgia"/>
              </a:rPr>
              <a:t>Rs 1.159 crore</a:t>
            </a:r>
          </a:p>
        </p:txBody>
      </p:sp>
      <p:sp>
        <p:nvSpPr>
          <p:cNvPr id="10" name="TextBox 9"/>
          <p:cNvSpPr txBox="1"/>
          <p:nvPr/>
        </p:nvSpPr>
        <p:spPr>
          <a:xfrm>
            <a:off x="530352" y="2374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PAID TO DECLINING WEEKS</a:t>
            </a:r>
          </a:p>
        </p:txBody>
      </p:sp>
      <p:sp>
        <p:nvSpPr>
          <p:cNvPr id="11" name="TextBox 10"/>
          <p:cNvSpPr txBox="1"/>
          <p:nvPr/>
        </p:nvSpPr>
        <p:spPr>
          <a:xfrm>
            <a:off x="530352" y="2575560"/>
            <a:ext cx="3527450" cy="193421"/>
          </a:xfrm>
          <a:prstGeom prst="rect">
            <a:avLst/>
          </a:prstGeom>
          <a:noFill/>
        </p:spPr>
        <p:txBody>
          <a:bodyPr wrap="square" anchor="t" lIns="0" rIns="0" tIns="0" bIns="0">
            <a:spAutoFit/>
          </a:bodyPr>
          <a:lstStyle/>
          <a:p>
            <a:pPr algn="l"/>
            <a:r>
              <a:rPr sz="950" b="0" i="0">
                <a:solidFill>
                  <a:srgbClr val="6B6690"/>
                </a:solidFill>
                <a:latin typeface="Calibri"/>
              </a:rPr>
              <a:t>61 percent of the Rs 1.9 crore top-up, six weeks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380999"/>
          </a:xfrm>
          <a:prstGeom prst="rect">
            <a:avLst/>
          </a:prstGeom>
          <a:noFill/>
        </p:spPr>
        <p:txBody>
          <a:bodyPr wrap="square" anchor="t" lIns="0" rIns="0" tIns="0" bIns="0">
            <a:spAutoFit/>
          </a:bodyPr>
          <a:lstStyle/>
          <a:p>
            <a:pPr algn="l"/>
            <a:r>
              <a:rPr sz="2400" b="0" i="0">
                <a:solidFill>
                  <a:srgbClr val="5B3FD6"/>
                </a:solidFill>
                <a:latin typeface="Georgia"/>
              </a:rPr>
              <a:t>Rs 58 to 92.7 lakh</a:t>
            </a:r>
          </a:p>
        </p:txBody>
      </p:sp>
      <p:sp>
        <p:nvSpPr>
          <p:cNvPr id="14" name="TextBox 13"/>
          <p:cNvSpPr txBox="1"/>
          <p:nvPr/>
        </p:nvSpPr>
        <p:spPr>
          <a:xfrm>
            <a:off x="4332122" y="2374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REDESIGN'S SAVING</a:t>
            </a:r>
          </a:p>
        </p:txBody>
      </p:sp>
      <p:sp>
        <p:nvSpPr>
          <p:cNvPr id="15" name="TextBox 14"/>
          <p:cNvSpPr txBox="1"/>
          <p:nvPr/>
        </p:nvSpPr>
        <p:spPr>
          <a:xfrm>
            <a:off x="4332122" y="2575560"/>
            <a:ext cx="3527450" cy="193421"/>
          </a:xfrm>
          <a:prstGeom prst="rect">
            <a:avLst/>
          </a:prstGeom>
          <a:noFill/>
        </p:spPr>
        <p:txBody>
          <a:bodyPr wrap="square" anchor="t" lIns="0" rIns="0" tIns="0" bIns="0">
            <a:spAutoFit/>
          </a:bodyPr>
          <a:lstStyle/>
          <a:p>
            <a:pPr algn="l"/>
            <a:r>
              <a:rPr sz="950" b="0" i="0">
                <a:solidFill>
                  <a:srgbClr val="6B6690"/>
                </a:solidFill>
                <a:latin typeface="Calibri"/>
              </a:rPr>
              <a:t>if a half to a fifth of that would still be paid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380999"/>
          </a:xfrm>
          <a:prstGeom prst="rect">
            <a:avLst/>
          </a:prstGeom>
          <a:noFill/>
        </p:spPr>
        <p:txBody>
          <a:bodyPr wrap="square" anchor="t" lIns="0" rIns="0" tIns="0" bIns="0">
            <a:spAutoFit/>
          </a:bodyPr>
          <a:lstStyle/>
          <a:p>
            <a:pPr algn="l"/>
            <a:r>
              <a:rPr sz="2400" b="0" i="0">
                <a:solidFill>
                  <a:srgbClr val="5B3FD6"/>
                </a:solidFill>
                <a:latin typeface="Georgia"/>
              </a:rPr>
              <a:t>Rs 82.3</a:t>
            </a:r>
          </a:p>
        </p:txBody>
      </p:sp>
      <p:sp>
        <p:nvSpPr>
          <p:cNvPr id="18" name="TextBox 17"/>
          <p:cNvSpPr txBox="1"/>
          <p:nvPr/>
        </p:nvSpPr>
        <p:spPr>
          <a:xfrm>
            <a:off x="8133892" y="2374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TOP-UP PER COMPLETED TRIP</a:t>
            </a:r>
          </a:p>
        </p:txBody>
      </p:sp>
      <p:sp>
        <p:nvSpPr>
          <p:cNvPr id="19" name="TextBox 18"/>
          <p:cNvSpPr txBox="1"/>
          <p:nvPr/>
        </p:nvSpPr>
        <p:spPr>
          <a:xfrm>
            <a:off x="8133892" y="2575560"/>
            <a:ext cx="3527450" cy="193421"/>
          </a:xfrm>
          <a:prstGeom prst="rect">
            <a:avLst/>
          </a:prstGeom>
          <a:noFill/>
        </p:spPr>
        <p:txBody>
          <a:bodyPr wrap="square" anchor="t" lIns="0" rIns="0" tIns="0" bIns="0">
            <a:spAutoFit/>
          </a:bodyPr>
          <a:lstStyle/>
          <a:p>
            <a:pPr algn="l"/>
            <a:r>
              <a:rPr sz="950" b="0" i="0">
                <a:solidFill>
                  <a:srgbClr val="6B6690"/>
                </a:solidFill>
                <a:latin typeface="Calibri"/>
              </a:rPr>
              <a:t>after the launch; guardrail 3 watches it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1691639"/>
          </a:xfrm>
          <a:prstGeom prst="rect">
            <a:avLst/>
          </a:prstGeom>
          <a:noFill/>
        </p:spPr>
        <p:txBody>
          <a:bodyPr wrap="square" anchor="ctr" lIns="0" rIns="0" tIns="0" bIns="0">
            <a:spAutoFit/>
          </a:bodyPr>
          <a:lstStyle/>
          <a:p>
            <a:r>
              <a:rPr sz="1500" b="1">
                <a:solidFill>
                  <a:srgbClr val="5B3FD6"/>
                </a:solidFill>
                <a:latin typeface="Calibri"/>
              </a:rPr>
              <a:t>The rule priced. </a:t>
            </a:r>
            <a:r>
              <a:rPr sz="1500" b="0" i="0">
                <a:solidFill>
                  <a:srgbClr val="1A1440"/>
                </a:solidFill>
                <a:latin typeface="Calibri"/>
              </a:rPr>
              <a:t>The Rs 300 floor stays, and a driver-week earns its top-up only if the driver accepted at least half the offers shown, an accepted trip later cancelled counting as declined. </a:t>
            </a:r>
            <a:r>
              <a:rPr sz="1500" b="1" i="0">
                <a:solidFill>
                  <a:srgbClr val="1A1440"/>
                </a:solidFill>
                <a:latin typeface="Calibri"/>
              </a:rPr>
              <a:t>The assumption, stated.</a:t>
            </a:r>
            <a:r>
              <a:rPr sz="1500" b="0" i="0">
                <a:solidFill>
                  <a:srgbClr val="1A1440"/>
                </a:solidFill>
                <a:latin typeface="Calibri"/>
              </a:rPr>
              <a:t> Some idle drivers would start accepting enough to qualify, so between a fifth and a half of the idle tail's top-up would still be paid. </a:t>
            </a:r>
            <a:r>
              <a:rPr sz="1500" b="1" i="0">
                <a:solidFill>
                  <a:srgbClr val="1A1440"/>
                </a:solidFill>
                <a:latin typeface="Calibri"/>
              </a:rPr>
              <a:t>What would settle it:</a:t>
            </a:r>
            <a:r>
              <a:rPr sz="1500" b="0" i="0">
                <a:solidFill>
                  <a:srgbClr val="1A1440"/>
                </a:solidFill>
                <a:latin typeface="Calibri"/>
              </a:rPr>
              <a:t> the test of the redesign that this afternoon's tentative faculty block designs. Rs 74 lakh, what the other driver-weeks received, is what the rule would have paid had every driver behaved the same, so it is the least the redesign would cost.</a:t>
            </a:r>
          </a:p>
        </p:txBody>
      </p:sp>
      <p:sp>
        <p:nvSpPr>
          <p:cNvPr id="24" name="Oval 2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it survive the roles?</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wins the interview?</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S90  ·  7 / 16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11</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interview question on a new feature, with all six topics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wins the interview?</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would you measure the success of a new feature, and an AI coding assistant without rewarding deleted suggestions, when an interviewer asks it cold?</a:t>
            </a:r>
          </a:p>
        </p:txBody>
      </p:sp>
      <p:sp>
        <p:nvSpPr>
          <p:cNvPr id="11" name="Rounded Rectangle 10"/>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it survive the roles?</a:t>
            </a:r>
          </a:p>
        </p:txBody>
      </p:sp>
      <p:sp>
        <p:nvSpPr>
          <p:cNvPr id="12" name="Rounded Rectangle 11"/>
          <p:cNvSpPr/>
          <p:nvPr/>
        </p:nvSpPr>
        <p:spPr>
          <a:xfrm>
            <a:off x="2746623"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wins the interview?</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Does the definition survive the people it costs?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interview room applies all six topics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8915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What to measure and why; the proxy test (chapter 1); North-star and guardrail metrics (chapter 2); Leading against lagging indicators (chapter 3); Definitions: numerator, denominator, window, exclusions (chapter 4); Gaming, and definitions that resist it (chapter 5); The metric definition artifact (chapter 6).</a:t>
            </a:r>
          </a:p>
        </p:txBody>
      </p:sp>
      <p:sp>
        <p:nvSpPr>
          <p:cNvPr id="12" name="Rounded Rectangle 11"/>
          <p:cNvSpPr/>
          <p:nvPr/>
        </p:nvSpPr>
        <p:spPr>
          <a:xfrm>
            <a:off x="530352" y="309245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22046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211322"/>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You, in a product or analytics screen, where the question below is asked cold and a candidate who names one number and stops is screened out.</a:t>
            </a:r>
          </a:p>
        </p:txBody>
      </p:sp>
      <p:sp>
        <p:nvSpPr>
          <p:cNvPr id="15" name="Rectangle 14"/>
          <p:cNvSpPr/>
          <p:nvPr/>
        </p:nvSpPr>
        <p:spPr>
          <a:xfrm>
            <a:off x="1853145" y="4631689"/>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CLARIFY</a:t>
            </a:r>
          </a:p>
        </p:txBody>
      </p:sp>
      <p:sp>
        <p:nvSpPr>
          <p:cNvPr id="17" name="Oval 16"/>
          <p:cNvSpPr/>
          <p:nvPr/>
        </p:nvSpPr>
        <p:spPr>
          <a:xfrm>
            <a:off x="1752561"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should a candidate ask?</a:t>
            </a:r>
          </a:p>
        </p:txBody>
      </p:sp>
      <p:sp>
        <p:nvSpPr>
          <p:cNvPr id="20" name="TextBox 19"/>
          <p:cNvSpPr txBox="1"/>
          <p:nvPr/>
        </p:nvSpPr>
        <p:spPr>
          <a:xfrm>
            <a:off x="694944" y="5600445"/>
            <a:ext cx="2316403" cy="366776"/>
          </a:xfrm>
          <a:prstGeom prst="rect">
            <a:avLst/>
          </a:prstGeom>
          <a:noFill/>
        </p:spPr>
        <p:txBody>
          <a:bodyPr wrap="square" anchor="t" lIns="0" rIns="0" tIns="0" bIns="0">
            <a:spAutoFit/>
          </a:bodyPr>
          <a:lstStyle/>
          <a:p>
            <a:pPr algn="l"/>
            <a:r>
              <a:rPr sz="1000" b="0" i="0">
                <a:solidFill>
                  <a:srgbClr val="6B6690"/>
                </a:solidFill>
                <a:latin typeface="Calibri"/>
              </a:rPr>
              <a:t>The goal, the harm, the decision, the baseline.</a:t>
            </a:r>
          </a:p>
        </p:txBody>
      </p:sp>
      <p:sp>
        <p:nvSpPr>
          <p:cNvPr id="21" name="TextBox 20"/>
          <p:cNvSpPr txBox="1"/>
          <p:nvPr/>
        </p:nvSpPr>
        <p:spPr>
          <a:xfrm>
            <a:off x="3358819"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COMPARE</a:t>
            </a:r>
          </a:p>
        </p:txBody>
      </p:sp>
      <p:sp>
        <p:nvSpPr>
          <p:cNvPr id="22" name="Oval 21"/>
          <p:cNvSpPr/>
          <p:nvPr/>
        </p:nvSpPr>
        <p:spPr>
          <a:xfrm>
            <a:off x="4581029"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3"/>
            <a:ext cx="2316403" cy="251205"/>
          </a:xfrm>
          <a:prstGeom prst="rect">
            <a:avLst/>
          </a:prstGeom>
          <a:noFill/>
        </p:spPr>
        <p:txBody>
          <a:bodyPr wrap="square" anchor="t" lIns="0" rIns="0" tIns="0" bIns="0">
            <a:spAutoFit/>
          </a:bodyPr>
          <a:lstStyle/>
          <a:p>
            <a:pPr algn="l"/>
            <a:r>
              <a:rPr sz="1300" b="1" i="0">
                <a:solidFill>
                  <a:srgbClr val="1A0F5C"/>
                </a:solidFill>
                <a:latin typeface="Calibri"/>
              </a:rPr>
              <a:t>Weak or hire-grade?</a:t>
            </a:r>
          </a:p>
        </p:txBody>
      </p:sp>
      <p:sp>
        <p:nvSpPr>
          <p:cNvPr id="25" name="TextBox 24"/>
          <p:cNvSpPr txBox="1"/>
          <p:nvPr/>
        </p:nvSpPr>
        <p:spPr>
          <a:xfrm>
            <a:off x="3523411"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Two answers, side by side.</a:t>
            </a:r>
          </a:p>
        </p:txBody>
      </p:sp>
      <p:sp>
        <p:nvSpPr>
          <p:cNvPr id="26" name="TextBox 25"/>
          <p:cNvSpPr txBox="1"/>
          <p:nvPr/>
        </p:nvSpPr>
        <p:spPr>
          <a:xfrm>
            <a:off x="6187287"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PUSH</a:t>
            </a:r>
          </a:p>
        </p:txBody>
      </p:sp>
      <p:sp>
        <p:nvSpPr>
          <p:cNvPr id="27" name="Oval 26"/>
          <p:cNvSpPr/>
          <p:nvPr/>
        </p:nvSpPr>
        <p:spPr>
          <a:xfrm>
            <a:off x="7409497"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Where does the interviewer push?</a:t>
            </a:r>
          </a:p>
        </p:txBody>
      </p:sp>
      <p:sp>
        <p:nvSpPr>
          <p:cNvPr id="30" name="TextBox 29"/>
          <p:cNvSpPr txBox="1"/>
          <p:nvPr/>
        </p:nvSpPr>
        <p:spPr>
          <a:xfrm>
            <a:off x="6351879" y="5600445"/>
            <a:ext cx="2316403" cy="201676"/>
          </a:xfrm>
          <a:prstGeom prst="rect">
            <a:avLst/>
          </a:prstGeom>
          <a:noFill/>
        </p:spPr>
        <p:txBody>
          <a:bodyPr wrap="square" anchor="t" lIns="0" rIns="0" tIns="0" bIns="0">
            <a:spAutoFit/>
          </a:bodyPr>
          <a:lstStyle/>
          <a:p>
            <a:pPr algn="l"/>
            <a:r>
              <a:rPr sz="1000" b="0" i="0">
                <a:solidFill>
                  <a:srgbClr val="6B6690"/>
                </a:solidFill>
                <a:latin typeface="Calibri"/>
              </a:rPr>
              <a:t>Three follow-ups.</a:t>
            </a:r>
          </a:p>
        </p:txBody>
      </p:sp>
      <p:sp>
        <p:nvSpPr>
          <p:cNvPr id="31" name="TextBox 30"/>
          <p:cNvSpPr txBox="1"/>
          <p:nvPr/>
        </p:nvSpPr>
        <p:spPr>
          <a:xfrm>
            <a:off x="9015755"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TRANSFER</a:t>
            </a:r>
          </a:p>
        </p:txBody>
      </p:sp>
      <p:sp>
        <p:nvSpPr>
          <p:cNvPr id="32" name="Oval 31"/>
          <p:cNvSpPr/>
          <p:nvPr/>
        </p:nvSpPr>
        <p:spPr>
          <a:xfrm>
            <a:off x="10237965" y="4540249"/>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29"/>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3"/>
            <a:ext cx="2316403" cy="251205"/>
          </a:xfrm>
          <a:prstGeom prst="rect">
            <a:avLst/>
          </a:prstGeom>
          <a:noFill/>
        </p:spPr>
        <p:txBody>
          <a:bodyPr wrap="square" anchor="t" lIns="0" rIns="0" tIns="0" bIns="0">
            <a:spAutoFit/>
          </a:bodyPr>
          <a:lstStyle/>
          <a:p>
            <a:pPr algn="l"/>
            <a:r>
              <a:rPr sz="1300" b="1" i="0">
                <a:solidFill>
                  <a:srgbClr val="FFFFFF"/>
                </a:solidFill>
                <a:latin typeface="Calibri"/>
              </a:rPr>
              <a:t>Does it move to AI?</a:t>
            </a:r>
          </a:p>
        </p:txBody>
      </p:sp>
      <p:sp>
        <p:nvSpPr>
          <p:cNvPr id="35" name="TextBox 34"/>
          <p:cNvSpPr txBox="1"/>
          <p:nvPr/>
        </p:nvSpPr>
        <p:spPr>
          <a:xfrm>
            <a:off x="9180347" y="5385816"/>
            <a:ext cx="2316403" cy="366776"/>
          </a:xfrm>
          <a:prstGeom prst="rect">
            <a:avLst/>
          </a:prstGeom>
          <a:noFill/>
        </p:spPr>
        <p:txBody>
          <a:bodyPr wrap="square" anchor="t" lIns="0" rIns="0" tIns="0" bIns="0">
            <a:spAutoFit/>
          </a:bodyPr>
          <a:lstStyle/>
          <a:p>
            <a:pPr algn="l"/>
            <a:r>
              <a:rPr sz="1000" b="0" i="0">
                <a:solidFill>
                  <a:srgbClr val="CFC9EE"/>
                </a:solidFill>
                <a:latin typeface="Calibri"/>
              </a:rPr>
              <a:t>A coding assistant, measured the same way.</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38" name="Oval 37"/>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31171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wins the interview?</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S91  ·  9 / 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question, and what to clarify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interviewer ask, what should a candidate ask back, and which trap is set?</a:t>
            </a:r>
          </a:p>
        </p:txBody>
      </p:sp>
      <p:sp>
        <p:nvSpPr>
          <p:cNvPr id="9" name="Rounded Rectangle 8"/>
          <p:cNvSpPr/>
          <p:nvPr/>
        </p:nvSpPr>
        <p:spPr>
          <a:xfrm>
            <a:off x="530352" y="168249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682496"/>
            <a:ext cx="10820095" cy="751840"/>
          </a:xfrm>
          <a:prstGeom prst="rect">
            <a:avLst/>
          </a:prstGeom>
          <a:noFill/>
        </p:spPr>
        <p:txBody>
          <a:bodyPr wrap="square" anchor="t" lIns="0" rIns="0" tIns="0" bIns="0">
            <a:spAutoFit/>
          </a:bodyPr>
          <a:lstStyle/>
          <a:p>
            <a:r>
              <a:rPr sz="1600" b="0" i="1">
                <a:solidFill>
                  <a:srgbClr val="1A0F5C"/>
                </a:solidFill>
                <a:latin typeface="Georgia"/>
              </a:rPr>
              <a:t>"Uber launched a peak-hour earnings guarantee for drivers in one city six weeks ago. How would you measure whether it is a success?"</a:t>
            </a:r>
          </a:p>
        </p:txBody>
      </p:sp>
      <p:sp>
        <p:nvSpPr>
          <p:cNvPr id="11" name="Rounded Rectangle 10"/>
          <p:cNvSpPr/>
          <p:nvPr/>
        </p:nvSpPr>
        <p:spPr>
          <a:xfrm>
            <a:off x="530352" y="258064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270865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2699512"/>
            <a:ext cx="10564063" cy="891540"/>
          </a:xfrm>
          <a:prstGeom prst="rect">
            <a:avLst/>
          </a:prstGeom>
          <a:noFill/>
        </p:spPr>
        <p:txBody>
          <a:bodyPr wrap="square" anchor="ctr" lIns="0" rIns="0" tIns="0" bIns="0">
            <a:spAutoFit/>
          </a:bodyPr>
          <a:lstStyle/>
          <a:p>
            <a:r>
              <a:rPr sz="1500" b="1">
                <a:solidFill>
                  <a:srgbClr val="5B3FD6"/>
                </a:solidFill>
                <a:latin typeface="Calibri"/>
              </a:rPr>
              <a:t>Clarify before any number. </a:t>
            </a:r>
            <a:r>
              <a:rPr sz="1500" b="0" i="0">
                <a:solidFill>
                  <a:srgbClr val="1A1440"/>
                </a:solidFill>
                <a:latin typeface="Calibri"/>
              </a:rPr>
              <a:t>What was the scheme meant to change: more drivers online, or riders picked up faster? Who is in it, and who pays? What would count as harm? Which decision rides on the answer, and against which baseline?</a:t>
            </a:r>
          </a:p>
        </p:txBody>
      </p:sp>
      <p:pic>
        <p:nvPicPr>
          <p:cNvPr id="14" name="mermaid diagram" descr="447b002fddc9322f.png"/>
          <p:cNvPicPr>
            <a:picLocks noChangeAspect="1"/>
          </p:cNvPicPr>
          <p:nvPr/>
        </p:nvPicPr>
        <p:blipFill>
          <a:blip r:embed="rId5"/>
          <a:stretch>
            <a:fillRect/>
          </a:stretch>
        </p:blipFill>
        <p:spPr>
          <a:xfrm>
            <a:off x="530352" y="3819652"/>
            <a:ext cx="11130991" cy="1266084"/>
          </a:xfrm>
          <a:prstGeom prst="rect">
            <a:avLst/>
          </a:prstGeom>
        </p:spPr>
      </p:pic>
      <p:sp>
        <p:nvSpPr>
          <p:cNvPr id="15" name="Rounded Rectangle 14"/>
          <p:cNvSpPr/>
          <p:nvPr/>
        </p:nvSpPr>
        <p:spPr>
          <a:xfrm>
            <a:off x="530352" y="523204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536005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5350912"/>
            <a:ext cx="10564063" cy="624840"/>
          </a:xfrm>
          <a:prstGeom prst="rect">
            <a:avLst/>
          </a:prstGeom>
          <a:noFill/>
        </p:spPr>
        <p:txBody>
          <a:bodyPr wrap="square" anchor="ctr" lIns="0" rIns="0" tIns="0" bIns="0">
            <a:spAutoFit/>
          </a:bodyPr>
          <a:lstStyle/>
          <a:p>
            <a:r>
              <a:rPr sz="1500" b="1">
                <a:solidFill>
                  <a:srgbClr val="5B3FD6"/>
                </a:solidFill>
                <a:latin typeface="Calibri"/>
              </a:rPr>
              <a:t>The trap the interviewer sets. </a:t>
            </a:r>
            <a:r>
              <a:rPr sz="1500" b="0" i="0">
                <a:solidFill>
                  <a:srgbClr val="1A1440"/>
                </a:solidFill>
                <a:latin typeface="Calibri"/>
              </a:rPr>
              <a:t>Peak online hours rose 24 percent; a candidate who names that number and stops has measured the scheme by what it paid for.</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20" name="Oval 19"/>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31171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wins the interview?</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S92  ·  10 / 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Weak and hire-grade answers, side by side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a weak answer lose the interviewer, and what does a hire-grade one do instead?</a:t>
            </a:r>
          </a:p>
        </p:txBody>
      </p:sp>
      <p:graphicFrame>
        <p:nvGraphicFramePr>
          <p:cNvPr id="9" name="Table 8"/>
          <p:cNvGraphicFramePr>
            <a:graphicFrameLocks noGrp="1"/>
          </p:cNvGraphicFramePr>
          <p:nvPr/>
        </p:nvGraphicFramePr>
        <p:xfrm>
          <a:off x="530352" y="1956816"/>
          <a:ext cx="11130989" cy="3669792"/>
        </p:xfrm>
        <a:graphic>
          <a:graphicData uri="http://schemas.openxmlformats.org/drawingml/2006/table">
            <a:tbl>
              <a:tblPr firstRow="0" bandRow="0">
                <a:tableStyleId>{2D5ABB26-0587-4C30-8999-92F81FD0307C}</a:tableStyleId>
              </a:tblPr>
              <a:tblGrid>
                <a:gridCol w="1794282"/>
                <a:gridCol w="3738040"/>
                <a:gridCol w="5598667"/>
              </a:tblGrid>
              <a:tr h="369824">
                <a:tc>
                  <a:txBody>
                    <a:bodyPr/>
                    <a:lstStyle/>
                    <a:p>
                      <a:r>
                        <a:rPr sz="1450" b="1" i="0">
                          <a:solidFill>
                            <a:srgbClr val="FFFFFF"/>
                          </a:solidFill>
                          <a:latin typeface="Calibri"/>
                        </a:rPr>
                        <a:t>Beat</a:t>
                      </a:r>
                    </a:p>
                  </a:txBody>
                  <a:tcPr marL="101600" marR="101600" marT="38100" marB="38100" anchor="ctr">
                    <a:solidFill>
                      <a:srgbClr val="1A0F5C"/>
                    </a:solidFill>
                  </a:tcPr>
                </a:tc>
                <a:tc>
                  <a:txBody>
                    <a:bodyPr/>
                    <a:lstStyle/>
                    <a:p>
                      <a:r>
                        <a:rPr sz="1450" b="1" i="0">
                          <a:solidFill>
                            <a:srgbClr val="FFFFFF"/>
                          </a:solidFill>
                          <a:latin typeface="Calibri"/>
                        </a:rPr>
                        <a:t>Weak answer</a:t>
                      </a:r>
                    </a:p>
                  </a:txBody>
                  <a:tcPr marL="101600" marR="101600" marT="38100" marB="38100" anchor="ctr">
                    <a:solidFill>
                      <a:srgbClr val="1A0F5C"/>
                    </a:solidFill>
                  </a:tcPr>
                </a:tc>
                <a:tc>
                  <a:txBody>
                    <a:bodyPr/>
                    <a:lstStyle/>
                    <a:p>
                      <a:r>
                        <a:rPr sz="1450" b="1" i="0">
                          <a:solidFill>
                            <a:srgbClr val="FFFFFF"/>
                          </a:solidFill>
                          <a:latin typeface="Calibri"/>
                        </a:rPr>
                        <a:t>Hire-grade answer</a:t>
                      </a:r>
                    </a:p>
                  </a:txBody>
                  <a:tcPr marL="101600" marR="101600" marT="38100" marB="38100" anchor="ctr">
                    <a:solidFill>
                      <a:srgbClr val="1A0F5C"/>
                    </a:solidFill>
                  </a:tcPr>
                </a:tc>
              </a:tr>
              <a:tr h="611632">
                <a:tc>
                  <a:txBody>
                    <a:bodyPr/>
                    <a:lstStyle/>
                    <a:p>
                      <a:r>
                        <a:rPr sz="1400" b="0" i="0">
                          <a:solidFill>
                            <a:srgbClr val="1A1440"/>
                          </a:solidFill>
                          <a:latin typeface="Calibri"/>
                        </a:rPr>
                        <a:t>Clarify</a:t>
                      </a:r>
                    </a:p>
                  </a:txBody>
                  <a:tcPr marL="101600" marR="101600" marT="38100" marB="38100" anchor="ctr">
                    <a:solidFill>
                      <a:srgbClr val="FFFFFF"/>
                    </a:solidFill>
                  </a:tcPr>
                </a:tc>
                <a:tc>
                  <a:txBody>
                    <a:bodyPr/>
                    <a:lstStyle/>
                    <a:p>
                      <a:r>
                        <a:rPr sz="1400" b="0" i="0">
                          <a:solidFill>
                            <a:srgbClr val="1A1440"/>
                          </a:solidFill>
                          <a:latin typeface="Calibri"/>
                        </a:rPr>
                        <a:t>Starts on metrics at once</a:t>
                      </a:r>
                    </a:p>
                  </a:txBody>
                  <a:tcPr marL="101600" marR="101600" marT="38100" marB="38100" anchor="ctr">
                    <a:solidFill>
                      <a:srgbClr val="FFFFFF"/>
                    </a:solidFill>
                  </a:tcPr>
                </a:tc>
                <a:tc>
                  <a:txBody>
                    <a:bodyPr/>
                    <a:lstStyle/>
                    <a:p>
                      <a:r>
                        <a:rPr sz="1400" b="0" i="0">
                          <a:solidFill>
                            <a:srgbClr val="1A1440"/>
                          </a:solidFill>
                          <a:latin typeface="Calibri"/>
                        </a:rPr>
                        <a:t>Asks what the scheme is for, what counts as harm, which decision rides on it and against what</a:t>
                      </a:r>
                    </a:p>
                  </a:txBody>
                  <a:tcPr marL="101600" marR="101600" marT="38100" marB="38100" anchor="ctr">
                    <a:solidFill>
                      <a:srgbClr val="FFFFFF"/>
                    </a:solidFill>
                  </a:tcPr>
                </a:tc>
              </a:tr>
              <a:tr h="611632">
                <a:tc>
                  <a:txBody>
                    <a:bodyPr/>
                    <a:lstStyle/>
                    <a:p>
                      <a:r>
                        <a:rPr sz="1400" b="0" i="0">
                          <a:solidFill>
                            <a:srgbClr val="1A1440"/>
                          </a:solidFill>
                          <a:latin typeface="Calibri"/>
                        </a:rPr>
                        <a:t>Structure</a:t>
                      </a:r>
                    </a:p>
                  </a:txBody>
                  <a:tcPr marL="101600" marR="101600" marT="38100" marB="38100" anchor="ctr">
                    <a:solidFill>
                      <a:srgbClr val="F4F2FA"/>
                    </a:solidFill>
                  </a:tcPr>
                </a:tc>
                <a:tc>
                  <a:txBody>
                    <a:bodyPr/>
                    <a:lstStyle/>
                    <a:p>
                      <a:r>
                        <a:rPr sz="1400" b="0" i="0">
                          <a:solidFill>
                            <a:srgbClr val="1A1440"/>
                          </a:solidFill>
                          <a:latin typeface="Calibri"/>
                        </a:rPr>
                        <a:t>Lists hours, satisfaction, a survey</a:t>
                      </a:r>
                    </a:p>
                  </a:txBody>
                  <a:tcPr marL="101600" marR="101600" marT="38100" marB="38100" anchor="ctr">
                    <a:solidFill>
                      <a:srgbClr val="F4F2FA"/>
                    </a:solidFill>
                  </a:tcPr>
                </a:tc>
                <a:tc>
                  <a:txBody>
                    <a:bodyPr/>
                    <a:lstStyle/>
                    <a:p>
                      <a:r>
                        <a:rPr sz="1400" b="0" i="0">
                          <a:solidFill>
                            <a:srgbClr val="1A1440"/>
                          </a:solidFill>
                          <a:latin typeface="Calibri"/>
                        </a:rPr>
                        <a:t>Goal, one north star with its lines, three guardrails, a leading input, the test by zone</a:t>
                      </a:r>
                    </a:p>
                  </a:txBody>
                  <a:tcPr marL="101600" marR="101600" marT="38100" marB="38100" anchor="ctr">
                    <a:solidFill>
                      <a:srgbClr val="F4F2FA"/>
                    </a:solidFill>
                  </a:tcPr>
                </a:tc>
              </a:tr>
              <a:tr h="611632">
                <a:tc>
                  <a:txBody>
                    <a:bodyPr/>
                    <a:lstStyle/>
                    <a:p>
                      <a:r>
                        <a:rPr sz="1400" b="0" i="0">
                          <a:solidFill>
                            <a:srgbClr val="1A1440"/>
                          </a:solidFill>
                          <a:latin typeface="Calibri"/>
                        </a:rPr>
                        <a:t>The trap</a:t>
                      </a:r>
                    </a:p>
                  </a:txBody>
                  <a:tcPr marL="101600" marR="101600" marT="38100" marB="38100" anchor="ctr">
                    <a:solidFill>
                      <a:srgbClr val="FFFFFF"/>
                    </a:solidFill>
                  </a:tcPr>
                </a:tc>
                <a:tc>
                  <a:txBody>
                    <a:bodyPr/>
                    <a:lstStyle/>
                    <a:p>
                      <a:r>
                        <a:rPr sz="1400" b="0" i="0">
                          <a:solidFill>
                            <a:srgbClr val="1A1440"/>
                          </a:solidFill>
                          <a:latin typeface="Calibri"/>
                        </a:rPr>
                        <a:t>"Hours are up 24 percent, so it works"</a:t>
                      </a:r>
                    </a:p>
                  </a:txBody>
                  <a:tcPr marL="101600" marR="101600" marT="38100" marB="38100" anchor="ctr">
                    <a:solidFill>
                      <a:srgbClr val="FFFFFF"/>
                    </a:solidFill>
                  </a:tcPr>
                </a:tc>
                <a:tc>
                  <a:txBody>
                    <a:bodyPr/>
                    <a:lstStyle/>
                    <a:p>
                      <a:r>
                        <a:rPr sz="1400" b="0" i="0">
                          <a:solidFill>
                            <a:srgbClr val="1A1440"/>
                          </a:solidFill>
                          <a:latin typeface="Calibri"/>
                        </a:rPr>
                        <a:t>Trips per online hour fell from 1.90 to 1.58, stepping down in the launch week, and the north star barely moved</a:t>
                      </a:r>
                    </a:p>
                  </a:txBody>
                  <a:tcPr marL="101600" marR="101600" marT="38100" marB="38100" anchor="ctr">
                    <a:solidFill>
                      <a:srgbClr val="FFFFFF"/>
                    </a:solidFill>
                  </a:tcPr>
                </a:tc>
              </a:tr>
              <a:tr h="853440">
                <a:tc>
                  <a:txBody>
                    <a:bodyPr/>
                    <a:lstStyle/>
                    <a:p>
                      <a:r>
                        <a:rPr sz="1400" b="0" i="0">
                          <a:solidFill>
                            <a:srgbClr val="1A1440"/>
                          </a:solidFill>
                          <a:latin typeface="Calibri"/>
                        </a:rPr>
                        <a:t>Segment and zones</a:t>
                      </a:r>
                    </a:p>
                  </a:txBody>
                  <a:tcPr marL="101600" marR="101600" marT="38100" marB="38100" anchor="ctr">
                    <a:solidFill>
                      <a:srgbClr val="F4F2FA"/>
                    </a:solidFill>
                  </a:tcPr>
                </a:tc>
                <a:tc>
                  <a:txBody>
                    <a:bodyPr/>
                    <a:lstStyle/>
                    <a:p>
                      <a:r>
                        <a:rPr sz="1400" b="0" i="0">
                          <a:solidFill>
                            <a:srgbClr val="1A1440"/>
                          </a:solidFill>
                          <a:latin typeface="Calibri"/>
                        </a:rPr>
                        <a:t>None</a:t>
                      </a:r>
                    </a:p>
                  </a:txBody>
                  <a:tcPr marL="101600" marR="101600" marT="38100" marB="38100" anchor="ctr">
                    <a:solidFill>
                      <a:srgbClr val="F4F2FA"/>
                    </a:solidFill>
                  </a:tcPr>
                </a:tc>
                <a:tc>
                  <a:txBody>
                    <a:bodyPr/>
                    <a:lstStyle/>
                    <a:p>
                      <a:r>
                        <a:rPr sz="1400" b="0" i="0">
                          <a:solidFill>
                            <a:srgbClr val="1A1440"/>
                          </a:solidFill>
                          <a:latin typeface="Calibri"/>
                        </a:rPr>
                        <a:t>180 drivers added hours on fewer trips, mostly in the outer zones, where waits fell 6.6 to 5.95 minutes at about Rs 46,000 per extra trip</a:t>
                      </a:r>
                    </a:p>
                  </a:txBody>
                  <a:tcPr marL="101600" marR="101600" marT="38100" marB="38100" anchor="ctr">
                    <a:solidFill>
                      <a:srgbClr val="F4F2FA"/>
                    </a:solidFill>
                  </a:tcPr>
                </a:tc>
              </a:tr>
              <a:tr h="611632">
                <a:tc>
                  <a:txBody>
                    <a:bodyPr/>
                    <a:lstStyle/>
                    <a:p>
                      <a:r>
                        <a:rPr sz="1400" b="0" i="0">
                          <a:solidFill>
                            <a:srgbClr val="1A1440"/>
                          </a:solidFill>
                          <a:latin typeface="Calibri"/>
                        </a:rPr>
                        <a:t>Decision and cost</a:t>
                      </a:r>
                    </a:p>
                  </a:txBody>
                  <a:tcPr marL="101600" marR="101600" marT="38100" marB="38100" anchor="ctr">
                    <a:solidFill>
                      <a:srgbClr val="FFFFFF"/>
                    </a:solidFill>
                  </a:tcPr>
                </a:tc>
                <a:tc>
                  <a:txBody>
                    <a:bodyPr/>
                    <a:lstStyle/>
                    <a:p>
                      <a:r>
                        <a:rPr sz="1400" b="0" i="0">
                          <a:solidFill>
                            <a:srgbClr val="1A1440"/>
                          </a:solidFill>
                          <a:latin typeface="Calibri"/>
                        </a:rPr>
                        <a:t>"Roll it out to more cities"</a:t>
                      </a:r>
                    </a:p>
                  </a:txBody>
                  <a:tcPr marL="101600" marR="101600" marT="38100" marB="38100" anchor="ctr">
                    <a:solidFill>
                      <a:srgbClr val="FFFFFF"/>
                    </a:solidFill>
                  </a:tcPr>
                </a:tc>
                <a:tc>
                  <a:txBody>
                    <a:bodyPr/>
                    <a:lstStyle/>
                    <a:p>
                      <a:r>
                        <a:rPr sz="1400" b="0" i="0">
                          <a:solidFill>
                            <a:srgbClr val="1A1440"/>
                          </a:solidFill>
                          <a:latin typeface="Calibri"/>
                        </a:rPr>
                        <a:t>Hold it: Rs 2,836 per extra trip; floor only for weeks accepting half their offers; test by zone</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12" name="Oval 11"/>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wins the interview?</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S93  ·  11 / 16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follow-ups and the line that answers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the interviewer push next, and what does a hire-grade answer say in one breath?</a:t>
            </a:r>
          </a:p>
        </p:txBody>
      </p:sp>
      <p:graphicFrame>
        <p:nvGraphicFramePr>
          <p:cNvPr id="9" name="Table 8"/>
          <p:cNvGraphicFramePr>
            <a:graphicFrameLocks noGrp="1"/>
          </p:cNvGraphicFramePr>
          <p:nvPr/>
        </p:nvGraphicFramePr>
        <p:xfrm>
          <a:off x="530352" y="1956816"/>
          <a:ext cx="11130990" cy="2930144"/>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Follow-up</a:t>
                      </a:r>
                    </a:p>
                  </a:txBody>
                  <a:tcPr marL="101600" marR="101600" marT="38100" marB="38100" anchor="ctr">
                    <a:solidFill>
                      <a:srgbClr val="1A0F5C"/>
                    </a:solidFill>
                  </a:tcPr>
                </a:tc>
                <a:tc>
                  <a:txBody>
                    <a:bodyPr/>
                    <a:lstStyle/>
                    <a:p>
                      <a:r>
                        <a:rPr sz="1450" b="1" i="0">
                          <a:solidFill>
                            <a:srgbClr val="FFFFFF"/>
                          </a:solidFill>
                          <a:latin typeface="Calibri"/>
                        </a:rPr>
                        <a:t>The hire-grade line</a:t>
                      </a:r>
                    </a:p>
                  </a:txBody>
                  <a:tcPr marL="101600" marR="101600" marT="38100" marB="38100" anchor="ctr">
                    <a:solidFill>
                      <a:srgbClr val="1A0F5C"/>
                    </a:solidFill>
                  </a:tcPr>
                </a:tc>
              </a:tr>
              <a:tr h="853440">
                <a:tc>
                  <a:txBody>
                    <a:bodyPr/>
                    <a:lstStyle/>
                    <a:p>
                      <a:r>
                        <a:rPr sz="1400" b="0" i="0">
                          <a:solidFill>
                            <a:srgbClr val="1A1440"/>
                          </a:solidFill>
                          <a:latin typeface="Calibri"/>
                        </a:rPr>
                        <a:t>"Online hours rose 24 percent; what do you check before you celebrate?"</a:t>
                      </a:r>
                    </a:p>
                  </a:txBody>
                  <a:tcPr marL="101600" marR="101600" marT="38100" marB="38100" anchor="ctr">
                    <a:solidFill>
                      <a:srgbClr val="FFFFFF"/>
                    </a:solidFill>
                  </a:tcPr>
                </a:tc>
                <a:tc>
                  <a:txBody>
                    <a:bodyPr/>
                    <a:lstStyle/>
                    <a:p>
                      <a:r>
                        <a:rPr sz="1400" b="0" i="0">
                          <a:solidFill>
                            <a:srgbClr val="1A1440"/>
                          </a:solidFill>
                          <a:latin typeface="Calibri"/>
                        </a:rPr>
                        <a:t>Trips per online hour and the rider's wait: hours rose 24 percent and trips 3, so the rate fell from 1.90 to 1.58 and waits barely moved</a:t>
                      </a:r>
                    </a:p>
                  </a:txBody>
                  <a:tcPr marL="101600" marR="101600" marT="38100" marB="38100" anchor="ctr">
                    <a:solidFill>
                      <a:srgbClr val="FFFFFF"/>
                    </a:solidFill>
                  </a:tcPr>
                </a:tc>
              </a:tr>
              <a:tr h="853440">
                <a:tc>
                  <a:txBody>
                    <a:bodyPr/>
                    <a:lstStyle/>
                    <a:p>
                      <a:r>
                        <a:rPr sz="1400" b="0" i="0">
                          <a:solidFill>
                            <a:srgbClr val="1A1440"/>
                          </a:solidFill>
                          <a:latin typeface="Calibri"/>
                        </a:rPr>
                        <a:t>"Which guardrail would driver operations fight, and why are they partly right?"</a:t>
                      </a:r>
                    </a:p>
                  </a:txBody>
                  <a:tcPr marL="101600" marR="101600" marT="38100" marB="38100" anchor="ctr">
                    <a:solidFill>
                      <a:srgbClr val="F4F2FA"/>
                    </a:solidFill>
                  </a:tcPr>
                </a:tc>
                <a:tc>
                  <a:txBody>
                    <a:bodyPr/>
                    <a:lstStyle/>
                    <a:p>
                      <a:r>
                        <a:rPr sz="1400" b="0" i="0">
                          <a:solidFill>
                            <a:srgbClr val="1A1440"/>
                          </a:solidFill>
                          <a:latin typeface="Calibri"/>
                        </a:rPr>
                        <a:t>The acceptance floor: some declines are fair, so set it in the gap the data shows, above 0.46 and below 0.78, and test two levels, since on a real city the groups overlap</a:t>
                      </a:r>
                    </a:p>
                  </a:txBody>
                  <a:tcPr marL="101600" marR="101600" marT="38100" marB="38100" anchor="ctr">
                    <a:solidFill>
                      <a:srgbClr val="F4F2FA"/>
                    </a:solidFill>
                  </a:tcPr>
                </a:tc>
              </a:tr>
              <a:tr h="853440">
                <a:tc>
                  <a:txBody>
                    <a:bodyPr/>
                    <a:lstStyle/>
                    <a:p>
                      <a:r>
                        <a:rPr sz="1400" b="0" i="0">
                          <a:solidFill>
                            <a:srgbClr val="1A1440"/>
                          </a:solidFill>
                          <a:latin typeface="Calibri"/>
                        </a:rPr>
                        <a:t>"The drivers control when they log in; what happens to your number?"</a:t>
                      </a:r>
                    </a:p>
                  </a:txBody>
                  <a:tcPr marL="101600" marR="101600" marT="38100" marB="38100" anchor="ctr">
                    <a:solidFill>
                      <a:srgbClr val="FFFFFF"/>
                    </a:solidFill>
                  </a:tcPr>
                </a:tc>
                <a:tc>
                  <a:txBody>
                    <a:bodyPr/>
                    <a:lstStyle/>
                    <a:p>
                      <a:r>
                        <a:rPr sz="1400" b="0" i="0">
                          <a:solidFill>
                            <a:srgbClr val="1A1440"/>
                          </a:solidFill>
                          <a:latin typeface="Calibri"/>
                        </a:rPr>
                        <a:t>Logging in cannot raise it, since each trip needs a rider's request; logging off can, so print the driver count beside the rate</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12" name="Oval 11"/>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wins the interview?</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S94  ·  12 / 16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AI-company variant: a coding assistant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would you measure an AI coding assistant without rewarding suggestions that were accepted and then deleted?</a:t>
            </a:r>
          </a:p>
        </p:txBody>
      </p:sp>
      <p:graphicFrame>
        <p:nvGraphicFramePr>
          <p:cNvPr id="9" name="Table 8"/>
          <p:cNvGraphicFramePr>
            <a:graphicFrameLocks noGrp="1"/>
          </p:cNvGraphicFramePr>
          <p:nvPr/>
        </p:nvGraphicFramePr>
        <p:xfrm>
          <a:off x="530352" y="1904492"/>
          <a:ext cx="11130990" cy="3114040"/>
        </p:xfrm>
        <a:graphic>
          <a:graphicData uri="http://schemas.openxmlformats.org/drawingml/2006/table">
            <a:tbl>
              <a:tblPr firstRow="0" bandRow="0">
                <a:tableStyleId>{2D5ABB26-0587-4C30-8999-92F81FD0307C}</a:tableStyleId>
              </a:tblPr>
              <a:tblGrid>
                <a:gridCol w="1392496"/>
                <a:gridCol w="4771211"/>
                <a:gridCol w="4967283"/>
              </a:tblGrid>
              <a:tr h="318008">
                <a:tc>
                  <a:txBody>
                    <a:bodyPr/>
                    <a:lstStyle/>
                    <a:p>
                      <a:r>
                        <a:rPr sz="1150" b="1" i="0">
                          <a:solidFill>
                            <a:srgbClr val="FFFFFF"/>
                          </a:solidFill>
                          <a:latin typeface="Calibri"/>
                        </a:rPr>
                        <a:t>Line</a:t>
                      </a:r>
                    </a:p>
                  </a:txBody>
                  <a:tcPr marL="101600" marR="101600" marT="38100" marB="38100" anchor="ctr">
                    <a:solidFill>
                      <a:srgbClr val="1A0F5C"/>
                    </a:solidFill>
                  </a:tcPr>
                </a:tc>
                <a:tc>
                  <a:txBody>
                    <a:bodyPr/>
                    <a:lstStyle/>
                    <a:p>
                      <a:r>
                        <a:rPr sz="1150" b="1" i="0">
                          <a:solidFill>
                            <a:srgbClr val="FFFFFF"/>
                          </a:solidFill>
                          <a:latin typeface="Calibri"/>
                        </a:rPr>
                        <a:t>Uber's guarantee</a:t>
                      </a:r>
                    </a:p>
                  </a:txBody>
                  <a:tcPr marL="101600" marR="101600" marT="38100" marB="38100" anchor="ctr">
                    <a:solidFill>
                      <a:srgbClr val="1A0F5C"/>
                    </a:solidFill>
                  </a:tcPr>
                </a:tc>
                <a:tc>
                  <a:txBody>
                    <a:bodyPr/>
                    <a:lstStyle/>
                    <a:p>
                      <a:r>
                        <a:rPr sz="1150" b="1" i="0">
                          <a:solidFill>
                            <a:srgbClr val="FFFFFF"/>
                          </a:solidFill>
                          <a:latin typeface="Calibri"/>
                        </a:rPr>
                        <a:t>An AI coding assistant</a:t>
                      </a:r>
                    </a:p>
                  </a:txBody>
                  <a:tcPr marL="101600" marR="101600" marT="38100" marB="38100" anchor="ctr">
                    <a:solidFill>
                      <a:srgbClr val="1A0F5C"/>
                    </a:solidFill>
                  </a:tcPr>
                </a:tc>
              </a:tr>
              <a:tr h="318008">
                <a:tc>
                  <a:txBody>
                    <a:bodyPr/>
                    <a:lstStyle/>
                    <a:p>
                      <a:r>
                        <a:rPr sz="1100" b="0" i="0">
                          <a:solidFill>
                            <a:srgbClr val="1A1440"/>
                          </a:solidFill>
                          <a:latin typeface="Calibri"/>
                        </a:rPr>
                        <a:t>The gamed proxy</a:t>
                      </a:r>
                    </a:p>
                  </a:txBody>
                  <a:tcPr marL="101600" marR="101600" marT="38100" marB="38100" anchor="ctr">
                    <a:solidFill>
                      <a:srgbClr val="FFFFFF"/>
                    </a:solidFill>
                  </a:tcPr>
                </a:tc>
                <a:tc>
                  <a:txBody>
                    <a:bodyPr/>
                    <a:lstStyle/>
                    <a:p>
                      <a:r>
                        <a:rPr sz="1100" b="0" i="0">
                          <a:solidFill>
                            <a:srgbClr val="1A1440"/>
                          </a:solidFill>
                          <a:latin typeface="Calibri"/>
                        </a:rPr>
                        <a:t>Peak online hours</a:t>
                      </a:r>
                    </a:p>
                  </a:txBody>
                  <a:tcPr marL="101600" marR="101600" marT="38100" marB="38100" anchor="ctr">
                    <a:solidFill>
                      <a:srgbClr val="FFFFFF"/>
                    </a:solidFill>
                  </a:tcPr>
                </a:tc>
                <a:tc>
                  <a:txBody>
                    <a:bodyPr/>
                    <a:lstStyle/>
                    <a:p>
                      <a:r>
                        <a:rPr sz="1100" b="0" i="0">
                          <a:solidFill>
                            <a:srgbClr val="1A1440"/>
                          </a:solidFill>
                          <a:latin typeface="Calibri"/>
                        </a:rPr>
                        <a:t>Suggestions accepted</a:t>
                      </a:r>
                    </a:p>
                  </a:txBody>
                  <a:tcPr marL="101600" marR="101600" marT="38100" marB="38100" anchor="ctr">
                    <a:solidFill>
                      <a:srgbClr val="FFFFFF"/>
                    </a:solidFill>
                  </a:tcPr>
                </a:tc>
              </a:tr>
              <a:tr h="508000">
                <a:tc>
                  <a:txBody>
                    <a:bodyPr/>
                    <a:lstStyle/>
                    <a:p>
                      <a:r>
                        <a:rPr sz="1100" b="0" i="0">
                          <a:solidFill>
                            <a:srgbClr val="1A1440"/>
                          </a:solidFill>
                          <a:latin typeface="Calibri"/>
                        </a:rPr>
                        <a:t>North star</a:t>
                      </a:r>
                    </a:p>
                  </a:txBody>
                  <a:tcPr marL="101600" marR="101600" marT="38100" marB="38100" anchor="ctr">
                    <a:solidFill>
                      <a:srgbClr val="F4F2FA"/>
                    </a:solidFill>
                  </a:tcPr>
                </a:tc>
                <a:tc>
                  <a:txBody>
                    <a:bodyPr/>
                    <a:lstStyle/>
                    <a:p>
                      <a:r>
                        <a:rPr sz="1100" b="0" i="0">
                          <a:solidFill>
                            <a:srgbClr val="1A1440"/>
                          </a:solidFill>
                          <a:latin typeface="Calibri"/>
                        </a:rPr>
                        <a:t>Completed peak trips per enrolled driver online at peak, per week</a:t>
                      </a:r>
                    </a:p>
                  </a:txBody>
                  <a:tcPr marL="101600" marR="101600" marT="38100" marB="38100" anchor="ctr">
                    <a:solidFill>
                      <a:srgbClr val="F4F2FA"/>
                    </a:solidFill>
                  </a:tcPr>
                </a:tc>
                <a:tc>
                  <a:txBody>
                    <a:bodyPr/>
                    <a:lstStyle/>
                    <a:p>
                      <a:r>
                        <a:rPr sz="1100" b="0" i="0">
                          <a:solidFill>
                            <a:srgbClr val="1A1440"/>
                          </a:solidFill>
                          <a:latin typeface="Calibri"/>
                        </a:rPr>
                        <a:t>Suggested code still present at the next commit, per developer with a seat, per week</a:t>
                      </a:r>
                    </a:p>
                  </a:txBody>
                  <a:tcPr marL="101600" marR="101600" marT="38100" marB="38100" anchor="ctr">
                    <a:solidFill>
                      <a:srgbClr val="F4F2FA"/>
                    </a:solidFill>
                  </a:tcPr>
                </a:tc>
              </a:tr>
              <a:tr h="318008">
                <a:tc>
                  <a:txBody>
                    <a:bodyPr/>
                    <a:lstStyle/>
                    <a:p>
                      <a:r>
                        <a:rPr sz="1100" b="0" i="0">
                          <a:solidFill>
                            <a:srgbClr val="1A1440"/>
                          </a:solidFill>
                          <a:latin typeface="Calibri"/>
                        </a:rPr>
                        <a:t>Read beside it</a:t>
                      </a:r>
                    </a:p>
                  </a:txBody>
                  <a:tcPr marL="101600" marR="101600" marT="38100" marB="38100" anchor="ctr">
                    <a:solidFill>
                      <a:srgbClr val="FFFFFF"/>
                    </a:solidFill>
                  </a:tcPr>
                </a:tc>
                <a:tc>
                  <a:txBody>
                    <a:bodyPr/>
                    <a:lstStyle/>
                    <a:p>
                      <a:r>
                        <a:rPr sz="1100" b="0" i="0">
                          <a:solidFill>
                            <a:srgbClr val="1A1440"/>
                          </a:solidFill>
                          <a:latin typeface="Calibri"/>
                        </a:rPr>
                        <a:t>The rider's wait, zone by zone</a:t>
                      </a:r>
                    </a:p>
                  </a:txBody>
                  <a:tcPr marL="101600" marR="101600" marT="38100" marB="38100" anchor="ctr">
                    <a:solidFill>
                      <a:srgbClr val="FFFFFF"/>
                    </a:solidFill>
                  </a:tcPr>
                </a:tc>
                <a:tc>
                  <a:txBody>
                    <a:bodyPr/>
                    <a:lstStyle/>
                    <a:p>
                      <a:r>
                        <a:rPr sz="1100" b="0" i="0">
                          <a:solidFill>
                            <a:srgbClr val="1A1440"/>
                          </a:solidFill>
                          <a:latin typeface="Calibri"/>
                        </a:rPr>
                        <a:t>Time from first commit to merge</a:t>
                      </a:r>
                    </a:p>
                  </a:txBody>
                  <a:tcPr marL="101600" marR="101600" marT="38100" marB="38100" anchor="ctr">
                    <a:solidFill>
                      <a:srgbClr val="FFFFFF"/>
                    </a:solidFill>
                  </a:tcPr>
                </a:tc>
              </a:tr>
              <a:tr h="508000">
                <a:tc>
                  <a:txBody>
                    <a:bodyPr/>
                    <a:lstStyle/>
                    <a:p>
                      <a:r>
                        <a:rPr sz="1100" b="0" i="0">
                          <a:solidFill>
                            <a:srgbClr val="1A1440"/>
                          </a:solidFill>
                          <a:latin typeface="Calibri"/>
                        </a:rPr>
                        <a:t>Guardrails</a:t>
                      </a:r>
                    </a:p>
                  </a:txBody>
                  <a:tcPr marL="101600" marR="101600" marT="38100" marB="38100" anchor="ctr">
                    <a:solidFill>
                      <a:srgbClr val="F4F2FA"/>
                    </a:solidFill>
                  </a:tcPr>
                </a:tc>
                <a:tc>
                  <a:txBody>
                    <a:bodyPr/>
                    <a:lstStyle/>
                    <a:p>
                      <a:r>
                        <a:rPr sz="1100" b="0" i="0">
                          <a:solidFill>
                            <a:srgbClr val="1A1440"/>
                          </a:solidFill>
                          <a:latin typeface="Calibri"/>
                        </a:rPr>
                        <a:t>Accepted share of offers; rider wait; top-up per trip</a:t>
                      </a:r>
                    </a:p>
                  </a:txBody>
                  <a:tcPr marL="101600" marR="101600" marT="38100" marB="38100" anchor="ctr">
                    <a:solidFill>
                      <a:srgbClr val="F4F2FA"/>
                    </a:solidFill>
                  </a:tcPr>
                </a:tc>
                <a:tc>
                  <a:txBody>
                    <a:bodyPr/>
                    <a:lstStyle/>
                    <a:p>
                      <a:r>
                        <a:rPr sz="1100" b="0" i="0">
                          <a:solidFill>
                            <a:srgbClr val="1A1440"/>
                          </a:solidFill>
                          <a:latin typeface="Calibri"/>
                        </a:rPr>
                        <a:t>Build failures and reverts on suggested code; security findings; rewritten lines</a:t>
                      </a:r>
                    </a:p>
                  </a:txBody>
                  <a:tcPr marL="101600" marR="101600" marT="38100" marB="38100" anchor="ctr">
                    <a:solidFill>
                      <a:srgbClr val="F4F2FA"/>
                    </a:solidFill>
                  </a:tcPr>
                </a:tc>
              </a:tr>
              <a:tr h="318008">
                <a:tc>
                  <a:txBody>
                    <a:bodyPr/>
                    <a:lstStyle/>
                    <a:p>
                      <a:r>
                        <a:rPr sz="1100" b="0" i="0">
                          <a:solidFill>
                            <a:srgbClr val="1A1440"/>
                          </a:solidFill>
                          <a:latin typeface="Calibri"/>
                        </a:rPr>
                        <a:t>Leading input</a:t>
                      </a:r>
                    </a:p>
                  </a:txBody>
                  <a:tcPr marL="101600" marR="101600" marT="38100" marB="38100" anchor="ctr">
                    <a:solidFill>
                      <a:srgbClr val="FFFFFF"/>
                    </a:solidFill>
                  </a:tcPr>
                </a:tc>
                <a:tc>
                  <a:txBody>
                    <a:bodyPr/>
                    <a:lstStyle/>
                    <a:p>
                      <a:r>
                        <a:rPr sz="1100" b="0" i="0">
                          <a:solidFill>
                            <a:srgbClr val="1A1440"/>
                          </a:solidFill>
                          <a:latin typeface="Calibri"/>
                        </a:rPr>
                        <a:t>Rider requests per online hour, by zone</a:t>
                      </a:r>
                    </a:p>
                  </a:txBody>
                  <a:tcPr marL="101600" marR="101600" marT="38100" marB="38100" anchor="ctr">
                    <a:solidFill>
                      <a:srgbClr val="FFFFFF"/>
                    </a:solidFill>
                  </a:tcPr>
                </a:tc>
                <a:tc>
                  <a:txBody>
                    <a:bodyPr/>
                    <a:lstStyle/>
                    <a:p>
                      <a:r>
                        <a:rPr sz="1100" b="0" i="0">
                          <a:solidFill>
                            <a:srgbClr val="1A1440"/>
                          </a:solidFill>
                          <a:latin typeface="Calibri"/>
                        </a:rPr>
                        <a:t>Acceptance, an input nobody is paid on</a:t>
                      </a:r>
                    </a:p>
                  </a:txBody>
                  <a:tcPr marL="101600" marR="101600" marT="38100" marB="38100" anchor="ctr">
                    <a:solidFill>
                      <a:srgbClr val="FFFFFF"/>
                    </a:solidFill>
                  </a:tcPr>
                </a:tc>
              </a:tr>
              <a:tr h="318008">
                <a:tc>
                  <a:txBody>
                    <a:bodyPr/>
                    <a:lstStyle/>
                    <a:p>
                      <a:r>
                        <a:rPr sz="1100" b="0" i="0">
                          <a:solidFill>
                            <a:srgbClr val="1A1440"/>
                          </a:solidFill>
                          <a:latin typeface="Calibri"/>
                        </a:rPr>
                        <a:t>The gaming</a:t>
                      </a:r>
                    </a:p>
                  </a:txBody>
                  <a:tcPr marL="101600" marR="101600" marT="38100" marB="38100" anchor="ctr">
                    <a:solidFill>
                      <a:srgbClr val="F4F2FA"/>
                    </a:solidFill>
                  </a:tcPr>
                </a:tc>
                <a:tc>
                  <a:txBody>
                    <a:bodyPr/>
                    <a:lstStyle/>
                    <a:p>
                      <a:r>
                        <a:rPr sz="1100" b="0" i="0">
                          <a:solidFill>
                            <a:srgbClr val="1A1440"/>
                          </a:solidFill>
                          <a:latin typeface="Calibri"/>
                        </a:rPr>
                        <a:t>Stay online, decline the offers</a:t>
                      </a:r>
                    </a:p>
                  </a:txBody>
                  <a:tcPr marL="101600" marR="101600" marT="38100" marB="38100" anchor="ctr">
                    <a:solidFill>
                      <a:srgbClr val="F4F2FA"/>
                    </a:solidFill>
                  </a:tcPr>
                </a:tc>
                <a:tc>
                  <a:txBody>
                    <a:bodyPr/>
                    <a:lstStyle/>
                    <a:p>
                      <a:r>
                        <a:rPr sz="1100" b="0" i="0">
                          <a:solidFill>
                            <a:srgbClr val="1A1440"/>
                          </a:solidFill>
                          <a:latin typeface="Calibri"/>
                        </a:rPr>
                        <a:t>Fewer, safer suggestions shown; short ones accepted, then deleted</a:t>
                      </a:r>
                    </a:p>
                  </a:txBody>
                  <a:tcPr marL="101600" marR="101600" marT="38100" marB="38100" anchor="ctr">
                    <a:solidFill>
                      <a:srgbClr val="F4F2FA"/>
                    </a:solidFill>
                  </a:tcPr>
                </a:tc>
              </a:tr>
              <a:tr h="508000">
                <a:tc>
                  <a:txBody>
                    <a:bodyPr/>
                    <a:lstStyle/>
                    <a:p>
                      <a:r>
                        <a:rPr sz="1100" b="0" i="0">
                          <a:solidFill>
                            <a:srgbClr val="1A1440"/>
                          </a:solidFill>
                          <a:latin typeface="Calibri"/>
                        </a:rPr>
                        <a:t>How it is settled</a:t>
                      </a:r>
                    </a:p>
                  </a:txBody>
                  <a:tcPr marL="101600" marR="101600" marT="38100" marB="38100" anchor="ctr">
                    <a:solidFill>
                      <a:srgbClr val="FFFFFF"/>
                    </a:solidFill>
                  </a:tcPr>
                </a:tc>
                <a:tc>
                  <a:txBody>
                    <a:bodyPr/>
                    <a:lstStyle/>
                    <a:p>
                      <a:r>
                        <a:rPr sz="1100" b="0" i="0">
                          <a:solidFill>
                            <a:srgbClr val="1A1440"/>
                          </a:solidFill>
                          <a:latin typeface="Calibri"/>
                        </a:rPr>
                        <a:t>A test with zones as the unit</a:t>
                      </a:r>
                    </a:p>
                  </a:txBody>
                  <a:tcPr marL="101600" marR="101600" marT="38100" marB="38100" anchor="ctr">
                    <a:solidFill>
                      <a:srgbClr val="FFFFFF"/>
                    </a:solidFill>
                  </a:tcPr>
                </a:tc>
                <a:tc>
                  <a:txBody>
                    <a:bodyPr/>
                    <a:lstStyle/>
                    <a:p>
                      <a:r>
                        <a:rPr sz="1100" b="0" i="0">
                          <a:solidFill>
                            <a:srgbClr val="1A1440"/>
                          </a:solidFill>
                          <a:latin typeface="Calibri"/>
                        </a:rPr>
                        <a:t>A test with teams as the unit, old rule against new</a:t>
                      </a:r>
                    </a:p>
                  </a:txBody>
                  <a:tcPr marL="101600" marR="101600" marT="38100" marB="38100" anchor="ctr">
                    <a:solidFill>
                      <a:srgbClr val="FFFFFF"/>
                    </a:solidFill>
                  </a:tcPr>
                </a:tc>
              </a:tr>
            </a:tbl>
          </a:graphicData>
        </a:graphic>
      </p:graphicFrame>
      <p:sp>
        <p:nvSpPr>
          <p:cNvPr id="10" name="TextBox 9"/>
          <p:cNvSpPr txBox="1"/>
          <p:nvPr/>
        </p:nvSpPr>
        <p:spPr>
          <a:xfrm>
            <a:off x="530352" y="5274564"/>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Programme-written: the variant names no company and no figure. A commit is a saved change to the code; time to merge is how long a change waits before it joins the main code.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13" name="Oval 12"/>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1171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wins the interview?</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S95  ·  13 / 16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calls, one from Week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the room make today's calls in seconds, and one from Week 2 Friday?</a:t>
            </a:r>
          </a:p>
        </p:txBody>
      </p:sp>
      <p:pic>
        <p:nvPicPr>
          <p:cNvPr id="9" name="mermaid diagram" descr="465b0a6e2d7f9e51.png"/>
          <p:cNvPicPr>
            <a:picLocks noChangeAspect="1"/>
          </p:cNvPicPr>
          <p:nvPr/>
        </p:nvPicPr>
        <p:blipFill>
          <a:blip r:embed="rId5"/>
          <a:stretch>
            <a:fillRect/>
          </a:stretch>
        </p:blipFill>
        <p:spPr>
          <a:xfrm>
            <a:off x="3638397" y="1682496"/>
            <a:ext cx="4914900" cy="3471862"/>
          </a:xfrm>
          <a:prstGeom prst="rect">
            <a:avLst/>
          </a:prstGeom>
        </p:spPr>
      </p:pic>
      <p:sp>
        <p:nvSpPr>
          <p:cNvPr id="10" name="TextBox 9"/>
          <p:cNvSpPr txBox="1"/>
          <p:nvPr/>
        </p:nvSpPr>
        <p:spPr>
          <a:xfrm>
            <a:off x="530352" y="530066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Eight items, scored on correctness and speed together; each names the topic it tests, and the pack is kahoot/C2_W04_D01_quiz_STUDENT.md.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13" name="Oval 12"/>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1171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wins the interview?</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S96  ·  14 / 16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Handoff: designing the test of the redesign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next 120 minutes add to what the room has built?</a:t>
            </a:r>
          </a:p>
        </p:txBody>
      </p:sp>
      <p:sp>
        <p:nvSpPr>
          <p:cNvPr id="9" name="Rounded Rectangle 8"/>
          <p:cNvSpPr/>
          <p:nvPr/>
        </p:nvSpPr>
        <p:spPr>
          <a:xfrm>
            <a:off x="530352" y="1956816"/>
            <a:ext cx="45720" cy="132079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320799"/>
          </a:xfrm>
          <a:prstGeom prst="rect">
            <a:avLst/>
          </a:prstGeom>
          <a:noFill/>
        </p:spPr>
        <p:txBody>
          <a:bodyPr wrap="square" anchor="t" lIns="0" rIns="0" tIns="0" bIns="0">
            <a:spAutoFit/>
          </a:bodyPr>
          <a:lstStyle/>
          <a:p>
            <a:r>
              <a:rPr sz="1600" b="0" i="1">
                <a:solidFill>
                  <a:srgbClr val="1A0F5C"/>
                </a:solidFill>
                <a:latin typeface="Georgia"/>
              </a:rPr>
              <a:t>"You have a number the scheme should pay for and two guardrails that catch the ways of hitting it that hurt riders. You have not tested whether the redesign moves it. The next 120 minutes design that test on this city: the unit you randomise, the metric, the guardrail and how long you run it before you look."</a:t>
            </a:r>
          </a:p>
        </p:txBody>
      </p:sp>
      <p:sp>
        <p:nvSpPr>
          <p:cNvPr id="11" name="TextBox 10"/>
          <p:cNvSpPr txBox="1"/>
          <p:nvPr/>
        </p:nvSpPr>
        <p:spPr>
          <a:xfrm>
            <a:off x="530352" y="3423920"/>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IITGN faculty block W4-1 is tentative</a:t>
            </a:r>
            <a:r>
              <a:rPr sz="1600" b="0" i="0">
                <a:solidFill>
                  <a:srgbClr val="1A1440"/>
                </a:solidFill>
                <a:latin typeface="Calibri"/>
              </a:rPr>
              <a:t> until IIT Gandhinagar confirms it. If it does not run, the metric clinic runs in its place, and the test stays with the block.</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14" name="Oval 13"/>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1171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wins the interview?</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S97  ·  15 / 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the sentence, filled from the data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room hand the city head, and what does Tuesday ask of it?</a:t>
            </a:r>
          </a:p>
        </p:txBody>
      </p:sp>
      <p:sp>
        <p:nvSpPr>
          <p:cNvPr id="9" name="Rounded Rectangle 8"/>
          <p:cNvSpPr/>
          <p:nvPr/>
        </p:nvSpPr>
        <p:spPr>
          <a:xfrm>
            <a:off x="530352" y="1682496"/>
            <a:ext cx="45720" cy="18897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682496"/>
            <a:ext cx="4980279" cy="1889759"/>
          </a:xfrm>
          <a:prstGeom prst="rect">
            <a:avLst/>
          </a:prstGeom>
          <a:noFill/>
        </p:spPr>
        <p:txBody>
          <a:bodyPr wrap="square" anchor="t" lIns="0" rIns="0" tIns="0" bIns="0">
            <a:spAutoFit/>
          </a:bodyPr>
          <a:lstStyle/>
          <a:p>
            <a:r>
              <a:rPr sz="1600" b="0" i="1">
                <a:solidFill>
                  <a:srgbClr val="1A0F5C"/>
                </a:solidFill>
                <a:latin typeface="Georgia"/>
              </a:rPr>
              <a:t>"Judge the scheme by completed peak trips per enrolled driver online at peak, guarded by the share of offers accepted and the rider's wait, because paying for hours cost Rs 1.159 crore in six weeks for driver-weeks that declined most of what they were offered."</a:t>
            </a:r>
          </a:p>
        </p:txBody>
      </p:sp>
      <p:sp>
        <p:nvSpPr>
          <p:cNvPr id="11" name="TextBox 10"/>
          <p:cNvSpPr txBox="1"/>
          <p:nvPr/>
        </p:nvSpPr>
        <p:spPr>
          <a:xfrm>
            <a:off x="530352" y="3718560"/>
            <a:ext cx="5291175"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rule that follows from it: the Rs 300 floor stays only for driver-weeks that accept at least half their offers, an accepted trip later cancelled counting as declined.</a:t>
            </a:r>
          </a:p>
        </p:txBody>
      </p:sp>
      <p:sp>
        <p:nvSpPr>
          <p:cNvPr id="12" name="Rectangle 11"/>
          <p:cNvSpPr/>
          <p:nvPr/>
        </p:nvSpPr>
        <p:spPr>
          <a:xfrm>
            <a:off x="6734898" y="2249424"/>
            <a:ext cx="456171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70167" y="1682496"/>
            <a:ext cx="729462"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6634314" y="215798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370167" y="2569464"/>
            <a:ext cx="729462" cy="1940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534759" y="2715768"/>
            <a:ext cx="400278" cy="465836"/>
          </a:xfrm>
          <a:prstGeom prst="rect">
            <a:avLst/>
          </a:prstGeom>
          <a:noFill/>
        </p:spPr>
        <p:txBody>
          <a:bodyPr wrap="square" anchor="t" lIns="0" rIns="0" tIns="0" bIns="0">
            <a:spAutoFit/>
          </a:bodyPr>
          <a:lstStyle/>
          <a:p>
            <a:pPr algn="l"/>
            <a:r>
              <a:rPr sz="1300" b="1" i="0">
                <a:solidFill>
                  <a:srgbClr val="1A0F5C"/>
                </a:solidFill>
                <a:latin typeface="Calibri"/>
              </a:rPr>
              <a:t>The proxy test</a:t>
            </a:r>
          </a:p>
        </p:txBody>
      </p:sp>
      <p:sp>
        <p:nvSpPr>
          <p:cNvPr id="17" name="TextBox 16"/>
          <p:cNvSpPr txBox="1"/>
          <p:nvPr/>
        </p:nvSpPr>
        <p:spPr>
          <a:xfrm>
            <a:off x="6534759" y="3218180"/>
            <a:ext cx="400278" cy="696976"/>
          </a:xfrm>
          <a:prstGeom prst="rect">
            <a:avLst/>
          </a:prstGeom>
          <a:noFill/>
        </p:spPr>
        <p:txBody>
          <a:bodyPr wrap="square" anchor="t" lIns="0" rIns="0" tIns="0" bIns="0">
            <a:spAutoFit/>
          </a:bodyPr>
          <a:lstStyle/>
          <a:p>
            <a:pPr algn="l"/>
            <a:r>
              <a:rPr sz="1000" b="0" i="0">
                <a:solidFill>
                  <a:srgbClr val="6B6690"/>
                </a:solidFill>
                <a:latin typeface="Calibri"/>
              </a:rPr>
              <a:t>Hours need no rider; trips do.</a:t>
            </a:r>
          </a:p>
        </p:txBody>
      </p:sp>
      <p:sp>
        <p:nvSpPr>
          <p:cNvPr id="18" name="TextBox 17"/>
          <p:cNvSpPr txBox="1"/>
          <p:nvPr/>
        </p:nvSpPr>
        <p:spPr>
          <a:xfrm>
            <a:off x="7282510" y="1682496"/>
            <a:ext cx="729462"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7546657" y="215798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7282510" y="2569464"/>
            <a:ext cx="729462" cy="1940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447102" y="2715768"/>
            <a:ext cx="400278" cy="895096"/>
          </a:xfrm>
          <a:prstGeom prst="rect">
            <a:avLst/>
          </a:prstGeom>
          <a:noFill/>
        </p:spPr>
        <p:txBody>
          <a:bodyPr wrap="square" anchor="t" lIns="0" rIns="0" tIns="0" bIns="0">
            <a:spAutoFit/>
          </a:bodyPr>
          <a:lstStyle/>
          <a:p>
            <a:pPr algn="l"/>
            <a:r>
              <a:rPr sz="1300" b="1" i="0">
                <a:solidFill>
                  <a:srgbClr val="1A0F5C"/>
                </a:solidFill>
                <a:latin typeface="Calibri"/>
              </a:rPr>
              <a:t>North star and guardrails</a:t>
            </a:r>
          </a:p>
        </p:txBody>
      </p:sp>
      <p:sp>
        <p:nvSpPr>
          <p:cNvPr id="22" name="TextBox 21"/>
          <p:cNvSpPr txBox="1"/>
          <p:nvPr/>
        </p:nvSpPr>
        <p:spPr>
          <a:xfrm>
            <a:off x="7447102" y="3647440"/>
            <a:ext cx="400278" cy="1192276"/>
          </a:xfrm>
          <a:prstGeom prst="rect">
            <a:avLst/>
          </a:prstGeom>
          <a:noFill/>
        </p:spPr>
        <p:txBody>
          <a:bodyPr wrap="square" anchor="t" lIns="0" rIns="0" tIns="0" bIns="0">
            <a:spAutoFit/>
          </a:bodyPr>
          <a:lstStyle/>
          <a:p>
            <a:pPr algn="l"/>
            <a:r>
              <a:rPr sz="1000" b="0" i="0">
                <a:solidFill>
                  <a:srgbClr val="6B6690"/>
                </a:solidFill>
                <a:latin typeface="Calibri"/>
              </a:rPr>
              <a:t>Trips per enrolled driver, with acceptance and the wait.</a:t>
            </a:r>
          </a:p>
        </p:txBody>
      </p:sp>
      <p:sp>
        <p:nvSpPr>
          <p:cNvPr id="23" name="TextBox 22"/>
          <p:cNvSpPr txBox="1"/>
          <p:nvPr/>
        </p:nvSpPr>
        <p:spPr>
          <a:xfrm>
            <a:off x="8194852" y="1682496"/>
            <a:ext cx="729462"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8459000" y="215798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8194852" y="2569464"/>
            <a:ext cx="729462" cy="1940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359444" y="2715768"/>
            <a:ext cx="400278" cy="680466"/>
          </a:xfrm>
          <a:prstGeom prst="rect">
            <a:avLst/>
          </a:prstGeom>
          <a:noFill/>
        </p:spPr>
        <p:txBody>
          <a:bodyPr wrap="square" anchor="t" lIns="0" rIns="0" tIns="0" bIns="0">
            <a:spAutoFit/>
          </a:bodyPr>
          <a:lstStyle/>
          <a:p>
            <a:pPr algn="l"/>
            <a:r>
              <a:rPr sz="1300" b="1" i="0">
                <a:solidFill>
                  <a:srgbClr val="1A0F5C"/>
                </a:solidFill>
                <a:latin typeface="Calibri"/>
              </a:rPr>
              <a:t>Leading and lagging</a:t>
            </a:r>
          </a:p>
        </p:txBody>
      </p:sp>
      <p:sp>
        <p:nvSpPr>
          <p:cNvPr id="27" name="TextBox 26"/>
          <p:cNvSpPr txBox="1"/>
          <p:nvPr/>
        </p:nvSpPr>
        <p:spPr>
          <a:xfrm>
            <a:off x="8359444" y="3432810"/>
            <a:ext cx="400278" cy="862076"/>
          </a:xfrm>
          <a:prstGeom prst="rect">
            <a:avLst/>
          </a:prstGeom>
          <a:noFill/>
        </p:spPr>
        <p:txBody>
          <a:bodyPr wrap="square" anchor="t" lIns="0" rIns="0" tIns="0" bIns="0">
            <a:spAutoFit/>
          </a:bodyPr>
          <a:lstStyle/>
          <a:p>
            <a:pPr algn="l"/>
            <a:r>
              <a:rPr sz="1000" b="0" i="0">
                <a:solidFill>
                  <a:srgbClr val="6B6690"/>
                </a:solidFill>
                <a:latin typeface="Calibri"/>
              </a:rPr>
              <a:t>Acceptance moved in the launch week.</a:t>
            </a:r>
          </a:p>
        </p:txBody>
      </p:sp>
      <p:sp>
        <p:nvSpPr>
          <p:cNvPr id="28" name="TextBox 27"/>
          <p:cNvSpPr txBox="1"/>
          <p:nvPr/>
        </p:nvSpPr>
        <p:spPr>
          <a:xfrm>
            <a:off x="9107195" y="1682496"/>
            <a:ext cx="729462"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9371342" y="215798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107195" y="2569464"/>
            <a:ext cx="729462" cy="1940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271787" y="2715768"/>
            <a:ext cx="400278" cy="465836"/>
          </a:xfrm>
          <a:prstGeom prst="rect">
            <a:avLst/>
          </a:prstGeom>
          <a:noFill/>
        </p:spPr>
        <p:txBody>
          <a:bodyPr wrap="square" anchor="t" lIns="0" rIns="0" tIns="0" bIns="0">
            <a:spAutoFit/>
          </a:bodyPr>
          <a:lstStyle/>
          <a:p>
            <a:pPr algn="l"/>
            <a:r>
              <a:rPr sz="1300" b="1" i="0">
                <a:solidFill>
                  <a:srgbClr val="1A0F5C"/>
                </a:solidFill>
                <a:latin typeface="Calibri"/>
              </a:rPr>
              <a:t>The four lines</a:t>
            </a:r>
          </a:p>
        </p:txBody>
      </p:sp>
      <p:sp>
        <p:nvSpPr>
          <p:cNvPr id="32" name="TextBox 31"/>
          <p:cNvSpPr txBox="1"/>
          <p:nvPr/>
        </p:nvSpPr>
        <p:spPr>
          <a:xfrm>
            <a:off x="9271787" y="3218180"/>
            <a:ext cx="400278" cy="862076"/>
          </a:xfrm>
          <a:prstGeom prst="rect">
            <a:avLst/>
          </a:prstGeom>
          <a:noFill/>
        </p:spPr>
        <p:txBody>
          <a:bodyPr wrap="square" anchor="t" lIns="0" rIns="0" tIns="0" bIns="0">
            <a:spAutoFit/>
          </a:bodyPr>
          <a:lstStyle/>
          <a:p>
            <a:pPr algn="l"/>
            <a:r>
              <a:rPr sz="1000" b="0" i="0">
                <a:solidFill>
                  <a:srgbClr val="6B6690"/>
                </a:solidFill>
                <a:latin typeface="Calibri"/>
              </a:rPr>
              <a:t>A ratio of sums, its denominator named.</a:t>
            </a:r>
          </a:p>
        </p:txBody>
      </p:sp>
      <p:sp>
        <p:nvSpPr>
          <p:cNvPr id="33" name="TextBox 32"/>
          <p:cNvSpPr txBox="1"/>
          <p:nvPr/>
        </p:nvSpPr>
        <p:spPr>
          <a:xfrm>
            <a:off x="10019538" y="1682496"/>
            <a:ext cx="729462"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283685" y="215798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10019538" y="2569464"/>
            <a:ext cx="729462" cy="1940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0184130" y="2715768"/>
            <a:ext cx="400278" cy="465836"/>
          </a:xfrm>
          <a:prstGeom prst="rect">
            <a:avLst/>
          </a:prstGeom>
          <a:noFill/>
        </p:spPr>
        <p:txBody>
          <a:bodyPr wrap="square" anchor="t" lIns="0" rIns="0" tIns="0" bIns="0">
            <a:spAutoFit/>
          </a:bodyPr>
          <a:lstStyle/>
          <a:p>
            <a:pPr algn="l"/>
            <a:r>
              <a:rPr sz="1300" b="1" i="0">
                <a:solidFill>
                  <a:srgbClr val="1A0F5C"/>
                </a:solidFill>
                <a:latin typeface="Calibri"/>
              </a:rPr>
              <a:t>Resisting gaming</a:t>
            </a:r>
          </a:p>
        </p:txBody>
      </p:sp>
      <p:sp>
        <p:nvSpPr>
          <p:cNvPr id="37" name="TextBox 36"/>
          <p:cNvSpPr txBox="1"/>
          <p:nvPr/>
        </p:nvSpPr>
        <p:spPr>
          <a:xfrm>
            <a:off x="10184130" y="3218180"/>
            <a:ext cx="400278" cy="696976"/>
          </a:xfrm>
          <a:prstGeom prst="rect">
            <a:avLst/>
          </a:prstGeom>
          <a:noFill/>
        </p:spPr>
        <p:txBody>
          <a:bodyPr wrap="square" anchor="t" lIns="0" rIns="0" tIns="0" bIns="0">
            <a:spAutoFit/>
          </a:bodyPr>
          <a:lstStyle/>
          <a:p>
            <a:pPr algn="l"/>
            <a:r>
              <a:rPr sz="1000" b="0" i="0">
                <a:solidFill>
                  <a:srgbClr val="6B6690"/>
                </a:solidFill>
                <a:latin typeface="Calibri"/>
              </a:rPr>
              <a:t>Pay for trips a rider asked for.</a:t>
            </a:r>
          </a:p>
        </p:txBody>
      </p:sp>
      <p:sp>
        <p:nvSpPr>
          <p:cNvPr id="38" name="TextBox 37"/>
          <p:cNvSpPr txBox="1"/>
          <p:nvPr/>
        </p:nvSpPr>
        <p:spPr>
          <a:xfrm>
            <a:off x="10931880" y="1682496"/>
            <a:ext cx="729462"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1196027" y="215798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10931880" y="2569464"/>
            <a:ext cx="729462" cy="19405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1096472" y="2715768"/>
            <a:ext cx="400278" cy="251205"/>
          </a:xfrm>
          <a:prstGeom prst="rect">
            <a:avLst/>
          </a:prstGeom>
          <a:noFill/>
        </p:spPr>
        <p:txBody>
          <a:bodyPr wrap="square" anchor="t" lIns="0" rIns="0" tIns="0" bIns="0">
            <a:spAutoFit/>
          </a:bodyPr>
          <a:lstStyle/>
          <a:p>
            <a:pPr algn="l"/>
            <a:r>
              <a:rPr sz="1300" b="1" i="0">
                <a:solidFill>
                  <a:srgbClr val="FFFFFF"/>
                </a:solidFill>
                <a:latin typeface="Calibri"/>
              </a:rPr>
              <a:t>The page</a:t>
            </a:r>
          </a:p>
        </p:txBody>
      </p:sp>
      <p:sp>
        <p:nvSpPr>
          <p:cNvPr id="42" name="TextBox 41"/>
          <p:cNvSpPr txBox="1"/>
          <p:nvPr/>
        </p:nvSpPr>
        <p:spPr>
          <a:xfrm>
            <a:off x="11096472" y="3003550"/>
            <a:ext cx="400278" cy="696976"/>
          </a:xfrm>
          <a:prstGeom prst="rect">
            <a:avLst/>
          </a:prstGeom>
          <a:noFill/>
        </p:spPr>
        <p:txBody>
          <a:bodyPr wrap="square" anchor="t" lIns="0" rIns="0" tIns="0" bIns="0">
            <a:spAutoFit/>
          </a:bodyPr>
          <a:lstStyle/>
          <a:p>
            <a:pPr algn="l"/>
            <a:r>
              <a:rPr sz="1000" b="0" i="0">
                <a:solidFill>
                  <a:srgbClr val="CFC9EE"/>
                </a:solidFill>
                <a:latin typeface="Calibri"/>
              </a:rPr>
              <a:t>Seven lines the city can sign.</a:t>
            </a:r>
          </a:p>
        </p:txBody>
      </p:sp>
      <p:sp>
        <p:nvSpPr>
          <p:cNvPr id="43" name="Rounded Rectangle 42"/>
          <p:cNvSpPr/>
          <p:nvPr/>
        </p:nvSpPr>
        <p:spPr>
          <a:xfrm>
            <a:off x="6370167" y="4692904"/>
            <a:ext cx="5291175"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ounded Rectangle 43"/>
          <p:cNvSpPr/>
          <p:nvPr/>
        </p:nvSpPr>
        <p:spPr>
          <a:xfrm>
            <a:off x="6516471" y="482092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717639" y="4811776"/>
            <a:ext cx="4724247" cy="891540"/>
          </a:xfrm>
          <a:prstGeom prst="rect">
            <a:avLst/>
          </a:prstGeom>
          <a:noFill/>
        </p:spPr>
        <p:txBody>
          <a:bodyPr wrap="square" anchor="ctr" lIns="0" rIns="0" tIns="0" bIns="0">
            <a:spAutoFit/>
          </a:bodyPr>
          <a:lstStyle/>
          <a:p>
            <a:r>
              <a:rPr sz="1500" b="1">
                <a:solidFill>
                  <a:srgbClr val="5B3FD6"/>
                </a:solidFill>
                <a:latin typeface="Calibri"/>
              </a:rPr>
              <a:t>Tuesday's question. </a:t>
            </a:r>
            <a:r>
              <a:rPr sz="1500" b="0" i="0">
                <a:solidFill>
                  <a:srgbClr val="1A1440"/>
                </a:solidFill>
                <a:latin typeface="Calibri"/>
              </a:rPr>
              <a:t>Can this answer survive one slide, five minutes, in front of the three people who each lose something under it?</a:t>
            </a:r>
          </a:p>
        </p:txBody>
      </p:sp>
      <p:sp>
        <p:nvSpPr>
          <p:cNvPr id="46" name="Oval 4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48" name="Oval 47"/>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231171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wins the interview?</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S98  ·  16 / 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