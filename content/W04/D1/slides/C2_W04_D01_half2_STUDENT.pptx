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round 3 of the war game: the brief (3), groups write and price (14), the</a:t>
            </a:r>
          </a:p>
          <a:p>
            <a:r>
              <a:t>attacks and the defences (10), the scoring (3). Level 5: decide and cost it. Run sheet:</a:t>
            </a:r>
          </a:p>
          <a:p>
            <a:r>
              <a:t>trainer/C2_W04_D01_war_game_TRAINER.md; role cards: trainer/C2_W04_D01_role_cards_TRAINER.md;</a:t>
            </a:r>
          </a:p>
          <a:p>
            <a:r>
              <a:t>the unguided exercise: exercises/unguided/C2_W04_D01_redesign_STUDENT.md.</a:t>
            </a:r>
          </a:p>
          <a:p>
            <a:r>
              <a:t>Styles: the case method (roles with partly-right objections), Veritasium (predict which line</a:t>
            </a:r>
          </a:p>
          <a:p>
            <a:r>
              <a:t>answers which attack), Striver's ladder (the unguided items climb from a line to a cost).</a:t>
            </a:r>
          </a:p>
          <a:p>
            <a:r>
              <a:t>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 out the definition template (exercises/guided/C2_W04_D01_definition_STUDENT.md</a:t>
            </a:r>
          </a:p>
          <a:p>
            <a:r>
              <a:t>carries it). Nine groups work at once; 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cards in the roles' voices. The numbers on the cards come from the</a:t>
            </a:r>
          </a:p>
          <a:p>
            <a:r>
              <a:t>data: the 880 drivers outside the idle tail who joined before the launch made 1.90 trips an hour in</a:t>
            </a:r>
          </a:p>
          <a:p>
            <a:r>
              <a:t>both windows; the three weeks with the most rider requests already read 1.60. The top-up budget is</a:t>
            </a:r>
          </a:p>
          <a:p>
            <a:r>
              <a:t>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floor is the city's call; the data says a floor anywhere between the two numbers</a:t>
            </a:r>
          </a:p>
          <a:p>
            <a:r>
              <a:t>stops the gaming without touching a driver who declines the odd bad trip. Say that the gap is this</a:t>
            </a:r>
          </a:p>
          <a:p>
            <a:r>
              <a:t>clean because the data is synthetic; on a real city the two groups overlap and the floor is a</a:t>
            </a:r>
          </a:p>
          <a:p>
            <a:r>
              <a:t>trade-off the test measures.</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compare their own saving with the range. A group that wrote "saves Rs 1.16</a:t>
            </a:r>
          </a:p>
          <a:p>
            <a:r>
              <a:t>crore" has assumed nobody changes; ask what the idle tail would do on Monday morning under the new</a:t>
            </a:r>
          </a:p>
          <a:p>
            <a:r>
              <a:t>rule.</a:t>
            </a:r>
          </a:p>
          <a:p>
            <a:r>
              <a:t>Transition: two companies whose north stars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parallel: the redesign pays for what the city wants (trips) and names what it</a:t>
            </a:r>
          </a:p>
          <a:p>
            <a:r>
              <a:t>does not reward (hours), the way Eternal moved its headline from gross to net. Do not say either</a:t>
            </a:r>
          </a:p>
          <a:p>
            <a:r>
              <a:t>company used a metric badly; both letters describe their own choice. Sources:</a:t>
            </a:r>
          </a:p>
          <a:p>
            <a:r>
              <a:t>https://www.swiggy.com/corporate/wp-content/uploads/2025/07/Q1-FY2026-Shareholder-letter.pdf (checked 12 October 2026)</a:t>
            </a:r>
          </a:p>
          <a:p>
            <a:r>
              <a:t>https://drive.google.com/file/d/1VtoiLsA2OpKauFnkKIlhXRmnbvxL-6ha/view (Eternal Q1 FY26 letter, checked 12 October 2026)</a:t>
            </a:r>
          </a:p>
          <a:p>
            <a:r>
              <a:t>https://drive.google.com/file/d/1jb9KWd4Ap4RTKHFHxzEOO7jgQqVZEGcd/view (Eternal Q1 FY27 letter, checked 12 October 2026)</a:t>
            </a:r>
          </a:p>
          <a:p>
            <a:r>
              <a:t>https://www.eternal.com/blog/q1fy27/ (the page that links the Q1 FY27 letter, checked 12 October 2026)</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transcript read in pairs and scored (9), the AI-company variant (4), the</a:t>
            </a:r>
          </a:p>
          <a:p>
            <a:r>
              <a:t>handoff (2). Level 6. The transcript: extras/C2_W04_D01_transcript_STUDENT.md; the scorecard:</a:t>
            </a:r>
          </a:p>
          <a:p>
            <a:r>
              <a:t>trainer/C2_W04_D01_interview_scorecards_TRAINER.md.</a:t>
            </a:r>
          </a:p>
          <a:p>
            <a:r>
              <a:t>Styles: the case method in the interview room, Feynman (the first sentence a newcomer could</a:t>
            </a:r>
          </a:p>
          <a:p>
            <a:r>
              <a:t>repeat), Striver's ladder (the follow-ups climb).</a:t>
            </a:r>
          </a:p>
          <a:p>
            <a:r>
              <a:t>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score both answers on the scorecard's seven criteria, 0 to 2 each, then</a:t>
            </a:r>
          </a:p>
          <a:p>
            <a:r>
              <a:t>compare with the trainer's scores. A hire-grade answer scores 2 on the first three: clarified</a:t>
            </a:r>
          </a:p>
          <a:p>
            <a:r>
              <a:t>scope, named the denominator and window, saw the paradox.</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to run. The trap item uses numbers other than today's; read the most-missed item</a:t>
            </a:r>
          </a:p>
          <a:p>
            <a:r>
              <a:t>again before the room leaves.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it is the blanked sentence from the morning, filled. The</a:t>
            </a:r>
          </a:p>
          <a:p>
            <a:r>
              <a:t>pre-read for Tuesday ships tonight. The TA lab now runs the same method on Kalpa Retail.</a:t>
            </a:r>
          </a:p>
          <a:p>
            <a:r>
              <a:t>Transition: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the room's definition survive three roles who each lose something under it, and what would the redesign save, before the city head signs it on Friday?</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4ce8cc290dfb20dd.png"/>
          <p:cNvPicPr>
            <a:picLocks noChangeAspect="1"/>
          </p:cNvPicPr>
          <p:nvPr/>
        </p:nvPicPr>
        <p:blipFill>
          <a:blip r:embed="rId5"/>
          <a:stretch>
            <a:fillRect/>
          </a:stretch>
        </p:blipFill>
        <p:spPr>
          <a:xfrm>
            <a:off x="530352" y="1956816"/>
            <a:ext cx="11130991" cy="1580240"/>
          </a:xfrm>
          <a:prstGeom prst="rect">
            <a:avLst/>
          </a:prstGeom>
        </p:spPr>
      </p:pic>
      <p:sp>
        <p:nvSpPr>
          <p:cNvPr id="10" name="Rounded Rectangle 9"/>
          <p:cNvSpPr/>
          <p:nvPr/>
        </p:nvSpPr>
        <p:spPr>
          <a:xfrm>
            <a:off x="530352" y="368336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1137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02232"/>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for the 180 who sat idle online; the other 880 drivers held 1.90 trips an hour before and after the launch</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the floor for drivers who accept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yet the three busiest weeks already read 1.60</a:t>
            </a:r>
          </a:p>
        </p:txBody>
      </p:sp>
      <p:sp>
        <p:nvSpPr>
          <p:cNvPr id="27" name="TextBox 26"/>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real supply falls, which line of the definition would show it first?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544526" y="1664208"/>
            <a:ext cx="7102642"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If drivers who serve riders log off, riders wait longer, and the median wait is the line that moves for riders; the shrinking denominator shows it too. The acceptance floor sits in the gap: no idle-tail week accepted more than 0.46 of its offers, and no other week online accepted fewer than 0.78.</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424940"/>
          </a:xfrm>
          <a:prstGeom prst="rect">
            <a:avLst/>
          </a:prstGeom>
          <a:noFill/>
        </p:spPr>
        <p:txBody>
          <a:bodyPr wrap="square" anchor="ctr" lIns="0" rIns="0" tIns="0" bIns="0">
            <a:spAutoFit/>
          </a:bodyPr>
          <a:lstStyle/>
          <a:p>
            <a:r>
              <a:rPr sz="1500" b="1">
                <a:solidFill>
                  <a:srgbClr val="5B3FD6"/>
                </a:solidFill>
                <a:latin typeface="Calibri"/>
              </a:rPr>
              <a:t>The assumption, stated. </a:t>
            </a:r>
            <a:r>
              <a:rPr sz="1500" b="0" i="0">
                <a:solidFill>
                  <a:srgbClr val="1A1440"/>
                </a:solidFill>
                <a:latin typeface="Calibri"/>
              </a:rPr>
              <a:t>Some idle drivers would start accepting enough to qualify under a rule that pays for trips,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the top-up to every other driver-week, is what the six weeks cost if nobody had changed, which is a floor on the cost and never a forecast.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Maxxsaver: a success orders per month would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11130991" cy="254000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In the quarter to 30 June 2025 over 28 percent of Swiggy's monthly transacting users used it, Instamart's average order value rose 16 percent quarter on quarter to Rs 612, and cart consolidation led by Maxxsaver lowered order growth (Swiggy's Q1 FY26 shareholder letter, checked 12 October 2026). Orders per month would have read that success as a fall.</a:t>
            </a:r>
          </a:p>
          <a:p>
            <a:pPr>
              <a:spcAft>
                <a:spcPts val="800"/>
              </a:spcAft>
            </a:pPr>
            <a:r>
              <a:rPr sz="1600" b="1" i="0">
                <a:solidFill>
                  <a:srgbClr val="1A1440"/>
                </a:solidFill>
                <a:latin typeface="Calibri"/>
              </a:rPr>
              <a:t>Eternal</a:t>
            </a:r>
            <a:r>
              <a:rPr sz="1600" b="0" i="0">
                <a:solidFill>
                  <a:srgbClr val="1A1440"/>
                </a:solidFill>
                <a:latin typeface="Calibri"/>
              </a:rPr>
              <a:t> defines net order value as GOV minus discounts (its Q1 FY26 letter), and in its Q1 FY27 letter stopped disclosing GOV "as NOV more accurately reflects underlying performance"; both checked 12 October 2026. The gross figure let discounts buy growth, so the headline moved to the net one.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 screen asks it cold?</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914700"/>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14700"/>
            <a:ext cx="10820095" cy="751840"/>
          </a:xfrm>
          <a:prstGeom prst="rect">
            <a:avLst/>
          </a:prstGeom>
          <a:noFill/>
        </p:spPr>
        <p:txBody>
          <a:bodyPr wrap="square" anchor="t" lIns="0" rIns="0" tIns="0" bIns="0">
            <a:spAutoFit/>
          </a:bodyPr>
          <a:lstStyle/>
          <a:p>
            <a:r>
              <a:rPr sz="16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8128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9408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931716"/>
            <a:ext cx="10564063" cy="624840"/>
          </a:xfrm>
          <a:prstGeom prst="rect">
            <a:avLst/>
          </a:prstGeom>
          <a:noFill/>
        </p:spPr>
        <p:txBody>
          <a:bodyPr wrap="square" anchor="ctr" lIns="0" rIns="0" tIns="0" bIns="0">
            <a:spAutoFit/>
          </a:bodyPr>
          <a:lstStyle/>
          <a:p>
            <a:r>
              <a:rPr sz="1500" b="1">
                <a:solidFill>
                  <a:srgbClr val="5B3FD6"/>
                </a:solidFill>
                <a:latin typeface="Calibri"/>
              </a:rPr>
              <a:t>Clarify before any number. </a:t>
            </a:r>
            <a:r>
              <a:rPr sz="1500" b="0" i="0">
                <a:solidFill>
                  <a:srgbClr val="1A1440"/>
                </a:solidFill>
                <a:latin typeface="Calibri"/>
              </a:rPr>
              <a:t>What was the scheme meant to change: more drivers online, or riders picked up faster? Who is in it, and who pays? What would count as harm? Which window, against which baseline?</a:t>
            </a:r>
          </a:p>
        </p:txBody>
      </p:sp>
      <p:pic>
        <p:nvPicPr>
          <p:cNvPr id="14" name="mermaid diagram" descr="5fd5e726cb062cda.png"/>
          <p:cNvPicPr>
            <a:picLocks noChangeAspect="1"/>
          </p:cNvPicPr>
          <p:nvPr/>
        </p:nvPicPr>
        <p:blipFill>
          <a:blip r:embed="rId5"/>
          <a:stretch>
            <a:fillRect/>
          </a:stretch>
        </p:blipFill>
        <p:spPr>
          <a:xfrm>
            <a:off x="530352" y="3785156"/>
            <a:ext cx="11130991" cy="1228247"/>
          </a:xfrm>
          <a:prstGeom prst="rect">
            <a:avLst/>
          </a:prstGeom>
        </p:spPr>
      </p:pic>
      <p:sp>
        <p:nvSpPr>
          <p:cNvPr id="15" name="Rounded Rectangle 14"/>
          <p:cNvSpPr/>
          <p:nvPr/>
        </p:nvSpPr>
        <p:spPr>
          <a:xfrm>
            <a:off x="530352" y="51597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2877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278579"/>
            <a:ext cx="10564063" cy="624840"/>
          </a:xfrm>
          <a:prstGeom prst="rect">
            <a:avLst/>
          </a:prstGeom>
          <a:noFill/>
        </p:spPr>
        <p:txBody>
          <a:bodyPr wrap="square" anchor="ctr" lIns="0" rIns="0" tIns="0" bIns="0">
            <a:spAutoFit/>
          </a:bodyPr>
          <a:lstStyle/>
          <a:p>
            <a:r>
              <a:rPr sz="1500" b="1">
                <a:solidFill>
                  <a:srgbClr val="5B3FD6"/>
                </a:solidFill>
                <a:latin typeface="Calibri"/>
              </a:rPr>
              <a:t>The trap the interviewer sets. </a:t>
            </a:r>
            <a:r>
              <a:rPr sz="1500" b="0" i="0">
                <a:solidFill>
                  <a:srgbClr val="1A1440"/>
                </a:solidFill>
                <a:latin typeface="Calibri"/>
              </a:rPr>
              <a:t>Peak online hours rose 24 percent; a candidate who names that number and stops has measured the scheme by what it paid for.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427984"/>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(riders picked up faster) and what would count as harm</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numerator, denominator and window, three guardrails, a leading input, the test</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Hours up 24, trips up 3: trips per online hour fell from 1.90 to 1.58 while requests rose</a:t>
                      </a:r>
                    </a:p>
                  </a:txBody>
                  <a:tcPr marL="101600" marR="101600" marT="38100" marB="38100" anchor="ctr">
                    <a:solidFill>
                      <a:srgbClr val="FFFFFF"/>
                    </a:solidFill>
                  </a:tcPr>
                </a:tc>
              </a:tr>
              <a:tr h="611632">
                <a:tc>
                  <a:txBody>
                    <a:bodyPr/>
                    <a:lstStyle/>
                    <a:p>
                      <a:r>
                        <a:rPr sz="1400" b="0" i="0">
                          <a:solidFill>
                            <a:srgbClr val="1A1440"/>
                          </a:solidFill>
                          <a:latin typeface="Calibri"/>
                        </a:rPr>
                        <a:t>Segment</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doubled their hours on fewer trips, mostly in thin outer zones</a:t>
                      </a:r>
                    </a:p>
                  </a:txBody>
                  <a:tcPr marL="101600" marR="101600" marT="38100" marB="38100" anchor="ctr">
                    <a:solidFill>
                      <a:srgbClr val="F4F2FA"/>
                    </a:solidFill>
                  </a:tcPr>
                </a:tc>
              </a:tr>
              <a:tr h="611632">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Don't extend; 61 percent of Rs 1.9 crore paid declining weeks; redesign to pay for trips, and test it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268833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barely moved</a:t>
                      </a:r>
                    </a:p>
                  </a:txBody>
                  <a:tcPr marL="101600" marR="101600" marT="38100" marB="38100" anchor="ctr">
                    <a:solidFill>
                      <a:srgbClr val="FFFFFF"/>
                    </a:solidFill>
                  </a:tcPr>
                </a:tc>
              </a:tr>
              <a:tr h="611632">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the floor in the gap the data shows, below 0.78 and above 0.46</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The numerator needs a rider's request, so logging in cannot raise it; print the driver count beside the rate so logging off cannot flatter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956816"/>
          <a:ext cx="11130990" cy="2968752"/>
        </p:xfrm>
        <a:graphic>
          <a:graphicData uri="http://schemas.openxmlformats.org/drawingml/2006/table">
            <a:tbl>
              <a:tblPr firstRow="0" bandRow="0">
                <a:tableStyleId>{2D5ABB26-0587-4C30-8999-92F81FD0307C}</a:tableStyleId>
              </a:tblPr>
              <a:tblGrid>
                <a:gridCol w="1392496"/>
                <a:gridCol w="4771211"/>
                <a:gridCol w="4967283"/>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Uber's guarantee</a:t>
                      </a:r>
                    </a:p>
                  </a:txBody>
                  <a:tcPr marL="101600" marR="101600" marT="38100" marB="38100" anchor="ctr">
                    <a:solidFill>
                      <a:srgbClr val="1A0F5C"/>
                    </a:solidFill>
                  </a:tcPr>
                </a:tc>
                <a:tc>
                  <a:txBody>
                    <a:bodyPr/>
                    <a:lstStyle/>
                    <a:p>
                      <a:r>
                        <a:rPr sz="1250" b="1" i="0">
                          <a:solidFill>
                            <a:srgbClr val="FFFFFF"/>
                          </a:solidFill>
                          <a:latin typeface="Calibri"/>
                        </a:rPr>
                        <a:t>An AI coding assistant</a:t>
                      </a:r>
                    </a:p>
                  </a:txBody>
                  <a:tcPr marL="101600" marR="101600" marT="38100" marB="38100" anchor="ctr">
                    <a:solidFill>
                      <a:srgbClr val="1A0F5C"/>
                    </a:solidFill>
                  </a:tcPr>
                </a:tc>
              </a:tr>
              <a:tr h="542544">
                <a:tc>
                  <a:txBody>
                    <a:bodyPr/>
                    <a:lstStyle/>
                    <a:p>
                      <a:r>
                        <a:rPr sz="1200" b="0" i="0">
                          <a:solidFill>
                            <a:srgbClr val="1A1440"/>
                          </a:solidFill>
                          <a:latin typeface="Calibri"/>
                        </a:rPr>
                        <a:t>The gamed proxy</a:t>
                      </a:r>
                    </a:p>
                  </a:txBody>
                  <a:tcPr marL="101600" marR="101600" marT="38100" marB="38100" anchor="ctr">
                    <a:solidFill>
                      <a:srgbClr val="FFFFFF"/>
                    </a:solidFill>
                  </a:tcPr>
                </a:tc>
                <a:tc>
                  <a:txBody>
                    <a:bodyPr/>
                    <a:lstStyle/>
                    <a:p>
                      <a:r>
                        <a:rPr sz="1200" b="0" i="0">
                          <a:solidFill>
                            <a:srgbClr val="1A1440"/>
                          </a:solidFill>
                          <a:latin typeface="Calibri"/>
                        </a:rPr>
                        <a:t>Peak online hours</a:t>
                      </a:r>
                    </a:p>
                  </a:txBody>
                  <a:tcPr marL="101600" marR="101600" marT="38100" marB="38100" anchor="ctr">
                    <a:solidFill>
                      <a:srgbClr val="FFFFFF"/>
                    </a:solidFill>
                  </a:tcPr>
                </a:tc>
                <a:tc>
                  <a:txBody>
                    <a:bodyPr/>
                    <a:lstStyle/>
                    <a:p>
                      <a:r>
                        <a:rPr sz="1200" b="0" i="0">
                          <a:solidFill>
                            <a:srgbClr val="1A1440"/>
                          </a:solidFill>
                          <a:latin typeface="Calibri"/>
                        </a:rPr>
                        <a:t>Suggestions accepted</a:t>
                      </a:r>
                    </a:p>
                  </a:txBody>
                  <a:tcPr marL="101600" marR="101600" marT="38100" marB="38100" anchor="ctr">
                    <a:solidFill>
                      <a:srgbClr val="FFFFFF"/>
                    </a:solidFill>
                  </a:tcPr>
                </a:tc>
              </a:tr>
              <a:tr h="542544">
                <a:tc>
                  <a:txBody>
                    <a:bodyPr/>
                    <a:lstStyle/>
                    <a:p>
                      <a:r>
                        <a:rPr sz="1200" b="0" i="0">
                          <a:solidFill>
                            <a:srgbClr val="1A1440"/>
                          </a:solidFill>
                          <a:latin typeface="Calibri"/>
                        </a:rPr>
                        <a:t>North star</a:t>
                      </a:r>
                    </a:p>
                  </a:txBody>
                  <a:tcPr marL="101600" marR="101600" marT="38100" marB="38100" anchor="ctr">
                    <a:solidFill>
                      <a:srgbClr val="F4F2FA"/>
                    </a:solidFill>
                  </a:tcPr>
                </a:tc>
                <a:tc>
                  <a:txBody>
                    <a:bodyPr/>
                    <a:lstStyle/>
                    <a:p>
                      <a:r>
                        <a:rPr sz="12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1200" b="0" i="0">
                          <a:solidFill>
                            <a:srgbClr val="1A1440"/>
                          </a:solidFill>
                          <a:latin typeface="Calibri"/>
                        </a:rPr>
                        <a:t>Suggested code still present at the next commit, per active developer, per week</a:t>
                      </a:r>
                    </a:p>
                  </a:txBody>
                  <a:tcPr marL="101600" marR="101600" marT="38100" marB="38100" anchor="ctr">
                    <a:solidFill>
                      <a:srgbClr val="F4F2FA"/>
                    </a:solidFill>
                  </a:tcPr>
                </a:tc>
              </a:tr>
              <a:tr h="335280">
                <a:tc>
                  <a:txBody>
                    <a:bodyPr/>
                    <a:lstStyle/>
                    <a:p>
                      <a:r>
                        <a:rPr sz="1200" b="0" i="0">
                          <a:solidFill>
                            <a:srgbClr val="1A1440"/>
                          </a:solidFill>
                          <a:latin typeface="Calibri"/>
                        </a:rPr>
                        <a:t>Guardrails</a:t>
                      </a:r>
                    </a:p>
                  </a:txBody>
                  <a:tcPr marL="101600" marR="101600" marT="38100" marB="38100" anchor="ctr">
                    <a:solidFill>
                      <a:srgbClr val="FFFFFF"/>
                    </a:solidFill>
                  </a:tcPr>
                </a:tc>
                <a:tc>
                  <a:txBody>
                    <a:bodyPr/>
                    <a:lstStyle/>
                    <a:p>
                      <a:r>
                        <a:rPr sz="1200" b="0" i="0">
                          <a:solidFill>
                            <a:srgbClr val="1A1440"/>
                          </a:solidFill>
                          <a:latin typeface="Calibri"/>
                        </a:rPr>
                        <a:t>Accepted share of offers; rider wait; top-up per trip</a:t>
                      </a:r>
                    </a:p>
                  </a:txBody>
                  <a:tcPr marL="101600" marR="101600" marT="38100" marB="38100" anchor="ctr">
                    <a:solidFill>
                      <a:srgbClr val="FFFFFF"/>
                    </a:solidFill>
                  </a:tcPr>
                </a:tc>
                <a:tc>
                  <a:txBody>
                    <a:bodyPr/>
                    <a:lstStyle/>
                    <a:p>
                      <a:r>
                        <a:rPr sz="1200" b="0" i="0">
                          <a:solidFill>
                            <a:srgbClr val="1A1440"/>
                          </a:solidFill>
                          <a:latin typeface="Calibri"/>
                        </a:rPr>
                        <a:t>Build failures; revert rate on suggested code; time to merge</a:t>
                      </a:r>
                    </a:p>
                  </a:txBody>
                  <a:tcPr marL="101600" marR="101600" marT="38100" marB="38100" anchor="ctr">
                    <a:solidFill>
                      <a:srgbClr val="FFFFFF"/>
                    </a:solidFill>
                  </a:tcPr>
                </a:tc>
              </a:tr>
              <a:tr h="335280">
                <a:tc>
                  <a:txBody>
                    <a:bodyPr/>
                    <a:lstStyle/>
                    <a:p>
                      <a:r>
                        <a:rPr sz="1200" b="0" i="0">
                          <a:solidFill>
                            <a:srgbClr val="1A1440"/>
                          </a:solidFill>
                          <a:latin typeface="Calibri"/>
                        </a:rPr>
                        <a:t>Leading input</a:t>
                      </a:r>
                    </a:p>
                  </a:txBody>
                  <a:tcPr marL="101600" marR="101600" marT="38100" marB="38100" anchor="ctr">
                    <a:solidFill>
                      <a:srgbClr val="F4F2FA"/>
                    </a:solidFill>
                  </a:tcPr>
                </a:tc>
                <a:tc>
                  <a:txBody>
                    <a:bodyPr/>
                    <a:lstStyle/>
                    <a:p>
                      <a:r>
                        <a:rPr sz="1200" b="0" i="0">
                          <a:solidFill>
                            <a:srgbClr val="1A1440"/>
                          </a:solidFill>
                          <a:latin typeface="Calibri"/>
                        </a:rPr>
                        <a:t>Acceptance in the launch week</a:t>
                      </a:r>
                    </a:p>
                  </a:txBody>
                  <a:tcPr marL="101600" marR="101600" marT="38100" marB="38100" anchor="ctr">
                    <a:solidFill>
                      <a:srgbClr val="F4F2FA"/>
                    </a:solidFill>
                  </a:tcPr>
                </a:tc>
                <a:tc>
                  <a:txBody>
                    <a:bodyPr/>
                    <a:lstStyle/>
                    <a:p>
                      <a:r>
                        <a:rPr sz="1200" b="0" i="0">
                          <a:solidFill>
                            <a:srgbClr val="1A1440"/>
                          </a:solidFill>
                          <a:latin typeface="Calibri"/>
                        </a:rPr>
                        <a:t>Acceptance rate, kept as an input and never the target</a:t>
                      </a:r>
                    </a:p>
                  </a:txBody>
                  <a:tcPr marL="101600" marR="101600" marT="38100" marB="38100" anchor="ctr">
                    <a:solidFill>
                      <a:srgbClr val="F4F2FA"/>
                    </a:solidFill>
                  </a:tcPr>
                </a:tc>
              </a:tr>
              <a:tr h="335280">
                <a:tc>
                  <a:txBody>
                    <a:bodyPr/>
                    <a:lstStyle/>
                    <a:p>
                      <a:r>
                        <a:rPr sz="1200" b="0" i="0">
                          <a:solidFill>
                            <a:srgbClr val="1A1440"/>
                          </a:solidFill>
                          <a:latin typeface="Calibri"/>
                        </a:rPr>
                        <a:t>The gaming</a:t>
                      </a:r>
                    </a:p>
                  </a:txBody>
                  <a:tcPr marL="101600" marR="101600" marT="38100" marB="38100" anchor="ctr">
                    <a:solidFill>
                      <a:srgbClr val="FFFFFF"/>
                    </a:solidFill>
                  </a:tcPr>
                </a:tc>
                <a:tc>
                  <a:txBody>
                    <a:bodyPr/>
                    <a:lstStyle/>
                    <a:p>
                      <a:r>
                        <a:rPr sz="1200" b="0" i="0">
                          <a:solidFill>
                            <a:srgbClr val="1A1440"/>
                          </a:solidFill>
                          <a:latin typeface="Calibri"/>
                        </a:rPr>
                        <a:t>Stay online, decline the offers</a:t>
                      </a:r>
                    </a:p>
                  </a:txBody>
                  <a:tcPr marL="101600" marR="101600" marT="38100" marB="38100" anchor="ctr">
                    <a:solidFill>
                      <a:srgbClr val="FFFFFF"/>
                    </a:solidFill>
                  </a:tcPr>
                </a:tc>
                <a:tc>
                  <a:txBody>
                    <a:bodyPr/>
                    <a:lstStyle/>
                    <a:p>
                      <a:r>
                        <a:rPr sz="1200" b="0" i="0">
                          <a:solidFill>
                            <a:srgbClr val="1A1440"/>
                          </a:solidFill>
                          <a:latin typeface="Calibri"/>
                        </a:rPr>
                        <a:t>Accept short suggestions, then delete them</a:t>
                      </a:r>
                    </a:p>
                  </a:txBody>
                  <a:tcPr marL="101600" marR="101600" marT="38100" marB="38100" anchor="ctr">
                    <a:solidFill>
                      <a:srgbClr val="FFFFFF"/>
                    </a:solidFill>
                  </a:tcPr>
                </a:tc>
              </a:tr>
              <a:tr h="542544">
                <a:tc>
                  <a:txBody>
                    <a:bodyPr/>
                    <a:lstStyle/>
                    <a:p>
                      <a:r>
                        <a:rPr sz="1200" b="0" i="0">
                          <a:solidFill>
                            <a:srgbClr val="1A1440"/>
                          </a:solidFill>
                          <a:latin typeface="Calibri"/>
                        </a:rPr>
                        <a:t>How it is settled</a:t>
                      </a:r>
                    </a:p>
                  </a:txBody>
                  <a:tcPr marL="101600" marR="101600" marT="38100" marB="38100" anchor="ctr">
                    <a:solidFill>
                      <a:srgbClr val="F4F2FA"/>
                    </a:solidFill>
                  </a:tcPr>
                </a:tc>
                <a:tc>
                  <a:txBody>
                    <a:bodyPr/>
                    <a:lstStyle/>
                    <a:p>
                      <a:r>
                        <a:rPr sz="1200" b="0" i="0">
                          <a:solidFill>
                            <a:srgbClr val="1A1440"/>
                          </a:solidFill>
                          <a:latin typeface="Calibri"/>
                        </a:rPr>
                        <a:t>A test of the redesign</a:t>
                      </a:r>
                    </a:p>
                  </a:txBody>
                  <a:tcPr marL="101600" marR="101600" marT="38100" marB="38100" anchor="ctr">
                    <a:solidFill>
                      <a:srgbClr val="F4F2FA"/>
                    </a:solidFill>
                  </a:tcPr>
                </a:tc>
                <a:tc>
                  <a:txBody>
                    <a:bodyPr/>
                    <a:lstStyle/>
                    <a:p>
                      <a:r>
                        <a:rPr sz="1200" b="0" i="0">
                          <a:solidFill>
                            <a:srgbClr val="1A1440"/>
                          </a:solidFill>
                          <a:latin typeface="Calibri"/>
                        </a:rPr>
                        <a:t>A holdout of developers without the assistant</a:t>
                      </a:r>
                    </a:p>
                  </a:txBody>
                  <a:tcPr marL="101600" marR="101600" marT="38100" marB="38100" anchor="ctr">
                    <a:solidFill>
                      <a:srgbClr val="F4F2FA"/>
                    </a:solidFill>
                  </a:tcPr>
                </a:tc>
              </a:tr>
            </a:tbl>
          </a:graphicData>
        </a:graphic>
      </p:graphicFrame>
      <p:sp>
        <p:nvSpPr>
          <p:cNvPr id="10" name="TextBox 9"/>
          <p:cNvSpPr txBox="1"/>
          <p:nvPr/>
        </p:nvSpPr>
        <p:spPr>
          <a:xfrm>
            <a:off x="530352" y="5181600"/>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Programme-written: the variant names no company and no figure.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d84ca4e988475a48.png"/>
          <p:cNvPicPr>
            <a:picLocks noChangeAspect="1"/>
          </p:cNvPicPr>
          <p:nvPr/>
        </p:nvPicPr>
        <p:blipFill>
          <a:blip r:embed="rId5"/>
          <a:stretch>
            <a:fillRect/>
          </a:stretch>
        </p:blipFill>
        <p:spPr>
          <a:xfrm>
            <a:off x="3488378" y="1682496"/>
            <a:ext cx="5214937" cy="3729037"/>
          </a:xfrm>
          <a:prstGeom prst="rect">
            <a:avLst/>
          </a:prstGeom>
        </p:spPr>
      </p:pic>
      <p:sp>
        <p:nvSpPr>
          <p:cNvPr id="10" name="TextBox 9"/>
          <p:cNvSpPr txBox="1"/>
          <p:nvPr/>
        </p:nvSpPr>
        <p:spPr>
          <a:xfrm>
            <a:off x="530352" y="555783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"Pay for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Rounded Rectangle 10"/>
          <p:cNvSpPr/>
          <p:nvPr/>
        </p:nvSpPr>
        <p:spPr>
          <a:xfrm>
            <a:off x="530352" y="31394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2674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258312"/>
            <a:ext cx="10564063" cy="8915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number is safe to pay for only if hitting it requires the thing it stands for. A rate is two sums divided once, with its denominator named. A saving that assumes nobody changes is a floor on the cost, never a forecast.</a:t>
            </a:r>
          </a:p>
        </p:txBody>
      </p:sp>
      <p:sp>
        <p:nvSpPr>
          <p:cNvPr id="14" name="Rounded Rectangle 13"/>
          <p:cNvSpPr/>
          <p:nvPr/>
        </p:nvSpPr>
        <p:spPr>
          <a:xfrm>
            <a:off x="530352" y="43784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5064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97324"/>
            <a:ext cx="10564063" cy="624840"/>
          </a:xfrm>
          <a:prstGeom prst="rect">
            <a:avLst/>
          </a:prstGeom>
          <a:noFill/>
        </p:spPr>
        <p:txBody>
          <a:bodyPr wrap="square" anchor="ctr" lIns="0" rIns="0" tIns="0" bIns="0">
            <a:spAutoFit/>
          </a:bodyPr>
          <a:lstStyle/>
          <a:p>
            <a:r>
              <a:rPr sz="1500" b="1">
                <a:solidFill>
                  <a:srgbClr val="5B3FD6"/>
                </a:solidFill>
                <a:latin typeface="Calibri"/>
              </a:rPr>
              <a:t>Tuesday's question. </a:t>
            </a:r>
            <a:r>
              <a:rPr sz="1500" b="0" i="0">
                <a:solidFill>
                  <a:srgbClr val="1A1440"/>
                </a:solidFill>
                <a:latin typeface="Calibri"/>
              </a:rPr>
              <a:t>Can this answer survive one slide, five minutes, in front of the three people who each lose something under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9" name="Oval 1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