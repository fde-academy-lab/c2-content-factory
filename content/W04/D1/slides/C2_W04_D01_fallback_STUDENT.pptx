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35 minutes: the five facts (8), the match in groups (15), the answers argued (12). This deck runs</a:t>
            </a:r>
          </a:p>
          <a:p>
            <a:r>
              <a:t>only if the tentative IITGN block W4-1 does not; it teaches nothing about testing, which stays with</a:t>
            </a:r>
          </a:p>
          <a:p>
            <a:r>
              <a:t>the block whenever it runs. Fallback note: trainer/C2_W04_D01_fallback_note_TRAINER.md.</a:t>
            </a:r>
          </a:p>
          <a:p>
            <a:r>
              <a:t>Transition: the five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8 minutes. Read each fact; each group takes one fact first and reads it aloud. Do not add facts</a:t>
            </a:r>
          </a:p>
          <a:p>
            <a:r>
              <a:t>that are not on the card: firing counts and the "3.5 million accounts" figure are not verified in</a:t>
            </a:r>
          </a:p>
          <a:p>
            <a:r>
              <a:t>the week's sources. Source:</a:t>
            </a:r>
          </a:p>
          <a:p>
            <a:r>
              <a:t>https://www.sec.gov/files/litigation/admin/2020/34-88257.pdf (checked 12 October 2026)</a:t>
            </a:r>
          </a:p>
          <a:p>
            <a:r>
              <a:t>Transition: the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15 minutes. Groups answer as a string of five letters in fact order. One line is spare, so</a:t>
            </a:r>
          </a:p>
          <a:p>
            <a:r>
              <a:t>elimination alone does not finish it.</a:t>
            </a:r>
          </a:p>
          <a:p>
            <a:r>
              <a:t>Transition: the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12 minutes. Take the most-argued fact first. Then the Uber parallel, one line each: an hour</a:t>
            </a:r>
          </a:p>
          <a:p>
            <a:r>
              <a:t>counted with no trip (fact 1), an online hour that starts when the driver chooses (fact 2's window,</a:t>
            </a:r>
          </a:p>
          <a:p>
            <a:r>
              <a:t>and VA's desired date from the morning), a definition change in Uber's own count (none in the case;</a:t>
            </a:r>
          </a:p>
          <a:p>
            <a:r>
              <a:t>say so), a top-up for idling (fact 4), a check the drivers cannot touch (the rider's wait, fact 5).</a:t>
            </a:r>
          </a:p>
          <a:p>
            <a:r>
              <a:t>Transition: the city's three numbers, written out in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40 minutes: set up (5), groups write (20), owners attack (15). Nine groups in three sets of</a:t>
            </a:r>
          </a:p>
          <a:p>
            <a:r>
              <a:t>three, each set on one number.</a:t>
            </a:r>
          </a:p>
          <a:p>
            <a:r>
              <a:t>Transition: the three numbers and their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 to set. The template is in exercises/guided/C2_W04_D01_definition_STUDENT.md. Twenty</a:t>
            </a:r>
          </a:p>
          <a:p>
            <a:r>
              <a:t>minutes to write.</a:t>
            </a:r>
          </a:p>
          <a:p>
            <a:r>
              <a:t>Transition: the attack each owner will 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15 minutes. Each owner attacks the set that wrote their number; the set answers with a line.</a:t>
            </a:r>
          </a:p>
          <a:p>
            <a:r>
              <a:t>Score as in round 3: answered, conceded, or lost.</a:t>
            </a:r>
          </a:p>
          <a:p>
            <a:r>
              <a:t>Transition: which numbers move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30 minutes: the eight numbers (12), defended (6), the three north stars and their guardrails</a:t>
            </a:r>
          </a:p>
          <a:p>
            <a:r>
              <a:t>(12). Cut this section first if time runs short.</a:t>
            </a:r>
          </a:p>
          <a:p>
            <a:r>
              <a:t>Transition: the eight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8 minutes. Letters first, then each group defends two of its calls aloud.</a:t>
            </a:r>
          </a:p>
          <a:p>
            <a:r>
              <a:t>Transition: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A dashboard of only lagging numbers lets a drift run for weeks before anyone sees</a:t>
            </a:r>
          </a:p>
          <a:p>
            <a:r>
              <a:t>it; a dashboard of only leading numbers never says whether the outcome came.</a:t>
            </a:r>
          </a:p>
          <a:p>
            <a:r>
              <a:t>Transition: three north stars and the guardrail each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12 minutes. Each group writes one more guardrail for a north star of its choice and names the</a:t>
            </a:r>
          </a:p>
          <a:p>
            <a:r>
              <a:t>gaming it catches. A guardrail that is another growth count gets the question: what would it catch?</a:t>
            </a:r>
          </a:p>
          <a:p>
            <a:r>
              <a:t>Transition: the dispute, as an interviewer asks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15 minutes: the second transcript read in pairs (10), scored (5). The transcript is the [D]</a:t>
            </a:r>
          </a:p>
          <a:p>
            <a:r>
              <a:t>section of extras/C2_W04_D01_transcript_STUDENT.md.</a:t>
            </a:r>
          </a:p>
          <a:p>
            <a:r>
              <a:t>Transition: the two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8 minutes. Score both on the scorecard (trainer/C2_W04_D01_interview_scorecards_TRAINER.md).</a:t>
            </a:r>
          </a:p>
          <a:p>
            <a:r>
              <a:t>Transition: the clinic's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test of the redesign stays with the tentative faculty block whenever it runs.</a:t>
            </a:r>
          </a:p>
          <a:p>
            <a:r>
              <a:t>Transition: the TA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0604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Which line would have caught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2044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Which line of a complete definition does each of five facts in the SEC's Wells Fargo order breach, before the room writes its own definitions again?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" y="507492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Which line would have caught it?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each number survive its owner?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numbers lead, and which lag?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7224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 you say to the teams who lose?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4, Day 1. The metric clinic: which line would have caught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1  ·  THE METRIC CLINIC, IF THE TENTATIVE FACULTY BLOCK SLIPS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Five facts from the SEC's Wells Fargo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did the order find about how the cross-sell number was built and hit?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2079894" cy="25344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file-x_7c9ffa7c6e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1677558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FACT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1677558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No usage condition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1677558" cy="763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Accounts and products per household counted whether or not anyone used them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93126" y="1956816"/>
            <a:ext cx="2079894" cy="25344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94294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clock_ca1635f017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4022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94294" y="2724912"/>
            <a:ext cx="1677558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FACT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4294" y="2962656"/>
            <a:ext cx="1677558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Four years unused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4294" y="3303524"/>
            <a:ext cx="1677558" cy="763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A debit card, the largest product, could sit unused in the count for up to four years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55900" y="1956816"/>
            <a:ext cx="2079894" cy="25344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57068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eye-off_659cbed618b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796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57068" y="2724912"/>
            <a:ext cx="1677558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FACT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068" y="2962656"/>
            <a:ext cx="1677558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A silent addition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068" y="3303524"/>
            <a:ext cx="1677558" cy="9446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In 2013 remittance accounts were added without telling investors; 0.04 of that year's 0.11 rise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8674" y="1956816"/>
            <a:ext cx="2079894" cy="25344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19842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Picture 28" descr="banknote_b59e4eff765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9570" y="2267712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19842" y="2724912"/>
            <a:ext cx="1677558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FACT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9842" y="2962656"/>
            <a:ext cx="1677558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Simulated funding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9842" y="3303524"/>
            <a:ext cx="1677558" cy="763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Staff moved customers' money into new accounts to meet the funding rule for sales credit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81448" y="1956816"/>
            <a:ext cx="2079894" cy="25344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782616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5" name="Picture 34" descr="phone-off_d984218f2f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2344" y="2267712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82616" y="2724912"/>
            <a:ext cx="1677558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FACT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616" y="2962656"/>
            <a:ext cx="1677558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Surveys dodged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2616" y="3303524"/>
            <a:ext cx="1677558" cy="763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Staff changed contact details so satisfaction surveys would not reach customers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4674108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Source: the SEC order, Release 34-88257, February 2020, checked 12 October 2026.</a:t>
            </a:r>
          </a:p>
        </p:txBody>
      </p:sp>
      <p:sp>
        <p:nvSpPr>
          <p:cNvPr id="40" name="Oval 3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437376"/>
            <a:ext cx="1746504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line would have caught it?</a:t>
            </a:r>
          </a:p>
        </p:txBody>
      </p:sp>
      <p:sp>
        <p:nvSpPr>
          <p:cNvPr id="42" name="Oval 41"/>
          <p:cNvSpPr/>
          <p:nvPr/>
        </p:nvSpPr>
        <p:spPr>
          <a:xfrm>
            <a:off x="247802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87752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each number survive its owner?</a:t>
            </a:r>
          </a:p>
        </p:txBody>
      </p:sp>
      <p:sp>
        <p:nvSpPr>
          <p:cNvPr id="44" name="Oval 43"/>
          <p:cNvSpPr/>
          <p:nvPr/>
        </p:nvSpPr>
        <p:spPr>
          <a:xfrm>
            <a:off x="45637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73441" y="6437376"/>
            <a:ext cx="183851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numbers lead, and which lag?</a:t>
            </a:r>
          </a:p>
        </p:txBody>
      </p:sp>
      <p:sp>
        <p:nvSpPr>
          <p:cNvPr id="46" name="Oval 45"/>
          <p:cNvSpPr/>
          <p:nvPr/>
        </p:nvSpPr>
        <p:spPr>
          <a:xfrm>
            <a:off x="660339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3124" y="6437376"/>
            <a:ext cx="2022538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 you say to the teams who lose?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  ·  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1  ·  THE METRIC CLINIC, IF THE TENTATIVE FACULTY BLOCK SLIPS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Which line would have caught each fact?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Match each of the five facts to the line of a complete definition that would have stopped it; one line is left over.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853184"/>
          <a:ext cx="11130991" cy="19080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0216591"/>
              </a:tblGrid>
              <a:tr h="31800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Fact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No usage condition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Four years unused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A silent addition in 2013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Simulated funding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Surveys dodged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4017264"/>
            <a:ext cx="11130991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A1440"/>
                </a:solidFill>
                <a:latin typeface="Calibri"/>
              </a:rPr>
              <a:t>a) Numerator: count only accounts the customer used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A1440"/>
                </a:solidFill>
                <a:latin typeface="Calibri"/>
              </a:rPr>
              <a:t>b) Denominator: households, with the count printed beside the ratio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A1440"/>
                </a:solidFill>
                <a:latin typeface="Calibri"/>
              </a:rPr>
              <a:t>c) Window: an account counts only if used inside the period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A1440"/>
                </a:solidFill>
                <a:latin typeface="Calibri"/>
              </a:rPr>
              <a:t>d) Exclusions, dated: every change to what is counted is dated on the definition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A1440"/>
                </a:solidFill>
                <a:latin typeface="Calibri"/>
              </a:rPr>
              <a:t>e) What it does not reward: money moved in and out to meet a rule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A1440"/>
                </a:solidFill>
                <a:latin typeface="Calibri"/>
              </a:rPr>
              <a:t>f) A guardrail read from data the measured staff cannot touch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746504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line would have caught it?</a:t>
            </a:r>
          </a:p>
        </p:txBody>
      </p:sp>
      <p:sp>
        <p:nvSpPr>
          <p:cNvPr id="13" name="Oval 12"/>
          <p:cNvSpPr/>
          <p:nvPr/>
        </p:nvSpPr>
        <p:spPr>
          <a:xfrm>
            <a:off x="247802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each number survive its owner?</a:t>
            </a:r>
          </a:p>
        </p:txBody>
      </p:sp>
      <p:sp>
        <p:nvSpPr>
          <p:cNvPr id="15" name="Oval 14"/>
          <p:cNvSpPr/>
          <p:nvPr/>
        </p:nvSpPr>
        <p:spPr>
          <a:xfrm>
            <a:off x="45637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3441" y="6437376"/>
            <a:ext cx="183851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numbers lead, and which lag?</a:t>
            </a:r>
          </a:p>
        </p:txBody>
      </p:sp>
      <p:sp>
        <p:nvSpPr>
          <p:cNvPr id="17" name="Oval 16"/>
          <p:cNvSpPr/>
          <p:nvPr/>
        </p:nvSpPr>
        <p:spPr>
          <a:xfrm>
            <a:off x="660339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3124" y="6437376"/>
            <a:ext cx="2022538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 you say to the teams who lose?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  ·  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1  ·  THE METRIC CLINIC, IF THE TENTATIVE FACULTY BLOCK SLIPS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a c d e f; the denominator is spare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Why does each fact belong to its line, and why is the denominator left over?</a:t>
            </a:r>
          </a:p>
        </p:txBody>
      </p:sp>
      <p:pic>
        <p:nvPicPr>
          <p:cNvPr id="9" name="mermaid diagram" descr="12301a57cd2aa1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324206"/>
            <a:ext cx="4786326" cy="3233714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1917" y="1956816"/>
          <a:ext cx="5899423" cy="2858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7307"/>
                <a:gridCol w="2261058"/>
                <a:gridCol w="2261058"/>
              </a:tblGrid>
              <a:tr h="31800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Fact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The line that catches it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1 No usage condition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a) Numerator with a usage condition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The count itself must require the thing it stands for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2 Four years unused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c) Window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Use inside the period, or it leaves the count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3 Silent addition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d) Exclusions, dated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A change to what is counted carries a date and a note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4 Simulated funding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e) What it does not reward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Names the behaviour the number refuses to pay for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5 Surveys dodged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f) Independent guardrail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A guardrail the measured can redirect guards nothing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1917" y="5070856"/>
            <a:ext cx="5899425" cy="703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00" b="0" i="0">
                <a:solidFill>
                  <a:srgbClr val="1A1440"/>
                </a:solidFill>
                <a:latin typeface="Calibri"/>
              </a:rPr>
              <a:t>The denominator (b) was households throughout; the gaming sat in what was counted, when, and who could reach the check.</a:t>
            </a:r>
          </a:p>
        </p:txBody>
      </p:sp>
      <p:sp>
        <p:nvSpPr>
          <p:cNvPr id="12" name="Oval 11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1746504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line would have caught it?</a:t>
            </a:r>
          </a:p>
        </p:txBody>
      </p:sp>
      <p:sp>
        <p:nvSpPr>
          <p:cNvPr id="14" name="Oval 13"/>
          <p:cNvSpPr/>
          <p:nvPr/>
        </p:nvSpPr>
        <p:spPr>
          <a:xfrm>
            <a:off x="247802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87752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each number survive its owner?</a:t>
            </a:r>
          </a:p>
        </p:txBody>
      </p:sp>
      <p:sp>
        <p:nvSpPr>
          <p:cNvPr id="16" name="Oval 15"/>
          <p:cNvSpPr/>
          <p:nvPr/>
        </p:nvSpPr>
        <p:spPr>
          <a:xfrm>
            <a:off x="45637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3441" y="6437376"/>
            <a:ext cx="183851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numbers lead, and which lag?</a:t>
            </a:r>
          </a:p>
        </p:txBody>
      </p:sp>
      <p:sp>
        <p:nvSpPr>
          <p:cNvPr id="18" name="Oval 17"/>
          <p:cNvSpPr/>
          <p:nvPr/>
        </p:nvSpPr>
        <p:spPr>
          <a:xfrm>
            <a:off x="660339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3124" y="6437376"/>
            <a:ext cx="2022538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 you say to the teams who lose?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  ·  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0604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Does each number survive its owner?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2044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What happens when each of three proposed numbers is written as a complete definition and its owner attacks it?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would have caught it?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507492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Does each number survive its owner?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numbers lead, and which lag?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7224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 you say to the teams who lose?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4, Day 1. The metric clinic: which line would have caught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1  ·  THE METRIC CLINIC, IF THE TENTATIVE FACULTY BLOCK SLIPS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Three numbers, each with an owner who wants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number does each owner propose, and what would it reward?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car_2853f22980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DRIVER-OPERATIONS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Peak online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Rewards being online, whatever happens in the hour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281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map-pin_d669bc82d6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0281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CITY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281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Completed peak trips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81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Rewards trips, including the short ones a driver cherry-picks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293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410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wallet_3a2d2f5ade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828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410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FINANCE PARTNER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410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Acceptance share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410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Rewards saying yes, including to trips later cancelled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104132"/>
            <a:ext cx="11130991" cy="77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Each set writes its number as a complete definition of seven lines: numerator, denominator, window, exclusions, what it does not reward, guardrails, and the gaming note.</a:t>
            </a:r>
          </a:p>
        </p:txBody>
      </p:sp>
      <p:sp>
        <p:nvSpPr>
          <p:cNvPr id="28" name="Oval 2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437376"/>
            <a:ext cx="1746504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would have caught it?</a:t>
            </a:r>
          </a:p>
        </p:txBody>
      </p:sp>
      <p:sp>
        <p:nvSpPr>
          <p:cNvPr id="30" name="Oval 29"/>
          <p:cNvSpPr/>
          <p:nvPr/>
        </p:nvSpPr>
        <p:spPr>
          <a:xfrm>
            <a:off x="2478024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87752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Does each number survive its owner?</a:t>
            </a:r>
          </a:p>
        </p:txBody>
      </p:sp>
      <p:sp>
        <p:nvSpPr>
          <p:cNvPr id="32" name="Oval 31"/>
          <p:cNvSpPr/>
          <p:nvPr/>
        </p:nvSpPr>
        <p:spPr>
          <a:xfrm>
            <a:off x="45637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3441" y="6437376"/>
            <a:ext cx="183851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numbers lead, and which lag?</a:t>
            </a:r>
          </a:p>
        </p:txBody>
      </p:sp>
      <p:sp>
        <p:nvSpPr>
          <p:cNvPr id="34" name="Oval 33"/>
          <p:cNvSpPr/>
          <p:nvPr/>
        </p:nvSpPr>
        <p:spPr>
          <a:xfrm>
            <a:off x="660339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3124" y="6437376"/>
            <a:ext cx="2022538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 you say to the teams who lose?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  ·  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1  ·  THE METRIC CLINIC, IF THE TENTATIVE FACULTY BLOCK SLIPS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Each owner's attack, and the line that 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each owner say against the definition written for their number, and which line answers it?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9629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50210"/>
                <a:gridCol w="3398922"/>
                <a:gridCol w="2324566"/>
                <a:gridCol w="4157291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 attack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 part that is true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 line that answers it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Driver operations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"Hours are what we control; trips depend on riders"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Supply is driver operations' job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Guardrail: trips per online hour beside the hours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City head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"Trips are the outcome; why guard them?"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Trips are what the city wants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Guardrail: accepted share, which catches cherry-picking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Finance partner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"Acceptance is the cheapest number to check"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It moves first, in the launch week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Gaming note: an accepted trip then cancelled; cancels beside it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4175760"/>
            <a:ext cx="11130991" cy="77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On the case data the three numbers moved 24 percent up (hours), 3 percent up (trips) and 13 points down (acceptance): three owners, three stories about the same six weeks.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746504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would have caught it?</a:t>
            </a:r>
          </a:p>
        </p:txBody>
      </p:sp>
      <p:sp>
        <p:nvSpPr>
          <p:cNvPr id="13" name="Oval 12"/>
          <p:cNvSpPr/>
          <p:nvPr/>
        </p:nvSpPr>
        <p:spPr>
          <a:xfrm>
            <a:off x="2478024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Does each number survive its owner?</a:t>
            </a:r>
          </a:p>
        </p:txBody>
      </p:sp>
      <p:sp>
        <p:nvSpPr>
          <p:cNvPr id="15" name="Oval 14"/>
          <p:cNvSpPr/>
          <p:nvPr/>
        </p:nvSpPr>
        <p:spPr>
          <a:xfrm>
            <a:off x="45637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3441" y="6437376"/>
            <a:ext cx="183851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numbers lead, and which lag?</a:t>
            </a:r>
          </a:p>
        </p:txBody>
      </p:sp>
      <p:sp>
        <p:nvSpPr>
          <p:cNvPr id="17" name="Oval 16"/>
          <p:cNvSpPr/>
          <p:nvPr/>
        </p:nvSpPr>
        <p:spPr>
          <a:xfrm>
            <a:off x="660339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3124" y="6437376"/>
            <a:ext cx="2022538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 you say to the teams who lose?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  ·  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0604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Which numbers lead, and which lag?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2044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Which of eight city numbers move before the north star and which confirm it later, and which guardrail does each north star need?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would have caught it?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each number survive its owner?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507492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Which numbers lead, and which lag?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7224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 you say to the teams who lose?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4, Day 1. The metric clinic: which line would have caught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1  ·  THE METRIC CLINIC, IF THE TENTATIVE FACULTY BLOCK SLIPS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Which of eight numbers lead, and which lag?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For each number, does it move before completed peak trips per driver, or confirm it later?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682496"/>
          <a:ext cx="11130991" cy="27980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0216591"/>
              </a:tblGrid>
              <a:tr h="310896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City number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Enrolled drivers online in the first peak hour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Rider requests per online hour, by zone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Share of offers accepted this week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New driver sign-ups this week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Top-up paid for the month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Rider rating at month end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Drivers who left the platform next quarter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Gross bookings for the quarter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4736592"/>
            <a:ext cx="11130991" cy="130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0" i="0">
                <a:solidFill>
                  <a:srgbClr val="1A1440"/>
                </a:solidFill>
                <a:latin typeface="Calibri"/>
              </a:rPr>
              <a:t>a) 1, 2, 3 and 4 lead; 5, 6, 7 and 8 lag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1A1440"/>
                </a:solidFill>
                <a:latin typeface="Calibri"/>
              </a:rPr>
              <a:t>b) 1, 3, 5 and 7 lead; 2, 4, 6 and 8 lag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1A1440"/>
                </a:solidFill>
                <a:latin typeface="Calibri"/>
              </a:rPr>
              <a:t>c) 1 and 2 lead; the other six lag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1A1440"/>
                </a:solidFill>
                <a:latin typeface="Calibri"/>
              </a:rPr>
              <a:t>d) 3, 5 and 8 lead; the other five lag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746504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would have caught it?</a:t>
            </a:r>
          </a:p>
        </p:txBody>
      </p:sp>
      <p:sp>
        <p:nvSpPr>
          <p:cNvPr id="13" name="Oval 12"/>
          <p:cNvSpPr/>
          <p:nvPr/>
        </p:nvSpPr>
        <p:spPr>
          <a:xfrm>
            <a:off x="247802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each number survive its owner?</a:t>
            </a:r>
          </a:p>
        </p:txBody>
      </p:sp>
      <p:sp>
        <p:nvSpPr>
          <p:cNvPr id="15" name="Oval 14"/>
          <p:cNvSpPr/>
          <p:nvPr/>
        </p:nvSpPr>
        <p:spPr>
          <a:xfrm>
            <a:off x="456371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3441" y="6437376"/>
            <a:ext cx="183851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numbers lead, and which lag?</a:t>
            </a:r>
          </a:p>
        </p:txBody>
      </p:sp>
      <p:sp>
        <p:nvSpPr>
          <p:cNvPr id="17" name="Oval 16"/>
          <p:cNvSpPr/>
          <p:nvPr/>
        </p:nvSpPr>
        <p:spPr>
          <a:xfrm>
            <a:off x="660339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3124" y="6437376"/>
            <a:ext cx="2022538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 you say to the teams who lose?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  ·  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1  ·  THE METRIC CLINIC, IF THE TENTATIVE FACULTY BLOCK SLIPS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a; inputs lead, bills and ratings 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Why does each number sit where it does?</a:t>
            </a:r>
          </a:p>
        </p:txBody>
      </p:sp>
      <p:pic>
        <p:nvPicPr>
          <p:cNvPr id="9" name="mermaid diagram" descr="fe10c663b620d6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860" y="1956816"/>
            <a:ext cx="8943975" cy="187166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3974782"/>
            <a:ext cx="11130991" cy="10744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4102798"/>
            <a:ext cx="45720" cy="8183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093654"/>
            <a:ext cx="10564063" cy="8915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Answer: a.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The four inputs move before trips per driver do, and the city team can act on them this week; the four confirmations arrive after the trips have happened. On the case data acceptance settled in the launch week while bookings per online hour took three weeks.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746504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would have caught it?</a:t>
            </a:r>
          </a:p>
        </p:txBody>
      </p:sp>
      <p:sp>
        <p:nvSpPr>
          <p:cNvPr id="15" name="Oval 14"/>
          <p:cNvSpPr/>
          <p:nvPr/>
        </p:nvSpPr>
        <p:spPr>
          <a:xfrm>
            <a:off x="247802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7752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each number survive its owner?</a:t>
            </a:r>
          </a:p>
        </p:txBody>
      </p:sp>
      <p:sp>
        <p:nvSpPr>
          <p:cNvPr id="17" name="Oval 16"/>
          <p:cNvSpPr/>
          <p:nvPr/>
        </p:nvSpPr>
        <p:spPr>
          <a:xfrm>
            <a:off x="456371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3441" y="6437376"/>
            <a:ext cx="183851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numbers lead, and which lag?</a:t>
            </a:r>
          </a:p>
        </p:txBody>
      </p:sp>
      <p:sp>
        <p:nvSpPr>
          <p:cNvPr id="19" name="Oval 18"/>
          <p:cNvSpPr/>
          <p:nvPr/>
        </p:nvSpPr>
        <p:spPr>
          <a:xfrm>
            <a:off x="660339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3124" y="6437376"/>
            <a:ext cx="2022538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 you say to the teams who lose?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S7  ·  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1  ·  THE METRIC CLINIC, IF THE TENTATIVE FACULTY BLOCK SLIPS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Three north stars, and the guardrail each 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How could each north star be hit while riders were served worse, and which guardrail catches it?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22047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46925"/>
                <a:gridCol w="3408872"/>
                <a:gridCol w="4175193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North star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How it could be hit badly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guardrail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Completed peak trips per enrolled driver per week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Drivers accept short trips and decline the rest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Share of offers accepted, at or above a floor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Peak online hours per enrolled driver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Drivers sit online in zones with no riders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Share of online hours with no completed trip (0.22 to 0.38 on the case)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Enrolled drivers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Drivers sign up and never drive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Count only drivers online at least one peak hour that week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746504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would have caught it?</a:t>
            </a:r>
          </a:p>
        </p:txBody>
      </p:sp>
      <p:sp>
        <p:nvSpPr>
          <p:cNvPr id="12" name="Oval 11"/>
          <p:cNvSpPr/>
          <p:nvPr/>
        </p:nvSpPr>
        <p:spPr>
          <a:xfrm>
            <a:off x="247802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7752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each number survive its owner?</a:t>
            </a:r>
          </a:p>
        </p:txBody>
      </p:sp>
      <p:sp>
        <p:nvSpPr>
          <p:cNvPr id="14" name="Oval 13"/>
          <p:cNvSpPr/>
          <p:nvPr/>
        </p:nvSpPr>
        <p:spPr>
          <a:xfrm>
            <a:off x="456371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3441" y="6437376"/>
            <a:ext cx="183851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numbers lead, and which lag?</a:t>
            </a:r>
          </a:p>
        </p:txBody>
      </p:sp>
      <p:sp>
        <p:nvSpPr>
          <p:cNvPr id="16" name="Oval 15"/>
          <p:cNvSpPr/>
          <p:nvPr/>
        </p:nvSpPr>
        <p:spPr>
          <a:xfrm>
            <a:off x="660339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3124" y="6437376"/>
            <a:ext cx="2022538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 you say to the teams who lose?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S8  ·  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0604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What do you say to the teams who lose?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2044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How does a candidate get three teams who each want their own target to one number, and what do they say to the two who lose?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would have caught it?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each number survive its owner?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numbers lead, and which lag?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7224" y="507492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What do you say to the teams who lose?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4, Day 1. The metric clinic: which line would have caught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1  ·  THE METRIC CLINIC, IF THE TENTATIVE FACULTY BLOCK SLIPS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Three teams, one number: two answers compared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Where does a weak answer to the dispute go wrong, and what does a hire-grade answer do?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28163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61846"/>
                <a:gridCol w="3127599"/>
                <a:gridCol w="5841544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Beat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Weak answer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Hire-grade answer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Clarify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"Which team is right?"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"What is the scheme for, and what does each team need to see to do its job?"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call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Gives each team its own target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One north star tied to the scheme's goal: completed peak trips per enrolled driver online at peak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two who lose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Promises to revisit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Shows where their number now lives: hours as an input beside trips per hour, top-up per trip as a guardrail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What would change it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Nothing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"If waits rose while the north star held, I would revisit the floor"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746504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would have caught it?</a:t>
            </a:r>
          </a:p>
        </p:txBody>
      </p:sp>
      <p:sp>
        <p:nvSpPr>
          <p:cNvPr id="12" name="Oval 11"/>
          <p:cNvSpPr/>
          <p:nvPr/>
        </p:nvSpPr>
        <p:spPr>
          <a:xfrm>
            <a:off x="247802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7752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each number survive its owner?</a:t>
            </a:r>
          </a:p>
        </p:txBody>
      </p:sp>
      <p:sp>
        <p:nvSpPr>
          <p:cNvPr id="14" name="Oval 13"/>
          <p:cNvSpPr/>
          <p:nvPr/>
        </p:nvSpPr>
        <p:spPr>
          <a:xfrm>
            <a:off x="45637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3441" y="6437376"/>
            <a:ext cx="183851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numbers lead, and which lag?</a:t>
            </a:r>
          </a:p>
        </p:txBody>
      </p:sp>
      <p:sp>
        <p:nvSpPr>
          <p:cNvPr id="16" name="Oval 15"/>
          <p:cNvSpPr/>
          <p:nvPr/>
        </p:nvSpPr>
        <p:spPr>
          <a:xfrm>
            <a:off x="660339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3124" y="6437376"/>
            <a:ext cx="2022538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 you say to the teams who lose?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S9  ·  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1  ·  THE METRIC CLINIC, IF THE TENTATIVE FACULTY BLOCK SLIPS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Close: a definition is a set of lines that 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has the clinic added to the morning's definition?</a:t>
            </a:r>
          </a:p>
        </p:txBody>
      </p:sp>
      <p:pic>
        <p:nvPicPr>
          <p:cNvPr id="9" name="mermaid diagram" descr="542c976a2358b1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956816"/>
            <a:ext cx="11130991" cy="101541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3118533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3246549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237405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crux.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Every way of gaming a number gets caught by a line written down before anyone is paid: the count, its window, what it does not reward, and a check the measured cannot touch.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746504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would have caught it?</a:t>
            </a:r>
          </a:p>
        </p:txBody>
      </p:sp>
      <p:sp>
        <p:nvSpPr>
          <p:cNvPr id="15" name="Oval 14"/>
          <p:cNvSpPr/>
          <p:nvPr/>
        </p:nvSpPr>
        <p:spPr>
          <a:xfrm>
            <a:off x="247802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7752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each number survive its owner?</a:t>
            </a:r>
          </a:p>
        </p:txBody>
      </p:sp>
      <p:sp>
        <p:nvSpPr>
          <p:cNvPr id="17" name="Oval 16"/>
          <p:cNvSpPr/>
          <p:nvPr/>
        </p:nvSpPr>
        <p:spPr>
          <a:xfrm>
            <a:off x="45637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3441" y="6437376"/>
            <a:ext cx="183851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numbers lead, and which lag?</a:t>
            </a:r>
          </a:p>
        </p:txBody>
      </p:sp>
      <p:sp>
        <p:nvSpPr>
          <p:cNvPr id="19" name="Oval 18"/>
          <p:cNvSpPr/>
          <p:nvPr/>
        </p:nvSpPr>
        <p:spPr>
          <a:xfrm>
            <a:off x="660339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3124" y="6437376"/>
            <a:ext cx="2022538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 you say to the teams who lose?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S10  ·  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