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minutes: the five facts (8), the match in groups (15), the answers argued (12). This deck runs</a:t>
            </a:r>
          </a:p>
          <a:p>
            <a:r>
              <a:t>only if the tentative IITGN block W4-1 does not; it teaches nothing about testing, which stays with</a:t>
            </a:r>
          </a:p>
          <a:p>
            <a:r>
              <a:t>the block whenever it runs. Fallback note: trainer/C2_W04_D01_fallback_note_TRAINER.md.</a:t>
            </a:r>
          </a:p>
          <a:p>
            <a:r>
              <a:t>Transition: the five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Read each fact; each group takes one fact first and reads it aloud. Do not add facts</a:t>
            </a:r>
          </a:p>
          <a:p>
            <a:r>
              <a:t>that are not on the card: firing counts and the "3.5 million accounts" figure are not verified in</a:t>
            </a:r>
          </a:p>
          <a:p>
            <a:r>
              <a:t>the week's sources. Source:</a:t>
            </a:r>
          </a:p>
          <a:p>
            <a:r>
              <a:t>https://www.sec.gov/files/litigation/admin/2020/34-88257.pdf (checked 12 October 2026)</a:t>
            </a:r>
          </a:p>
          <a:p>
            <a:r>
              <a:t>Transition: the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answer as a string of five letters in fact order. One line is spare, so</a:t>
            </a:r>
          </a:p>
          <a:p>
            <a:r>
              <a:t>elimination alone does not finish it.</a:t>
            </a:r>
          </a:p>
          <a:p>
            <a:r>
              <a:t>Transition: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Take the most-argued fact first. Then the Uber parallel, one line each: an hour</a:t>
            </a:r>
          </a:p>
          <a:p>
            <a:r>
              <a:t>counted with no trip (fact 1), an online hour that starts when the driver chooses (fact 2's window,</a:t>
            </a:r>
          </a:p>
          <a:p>
            <a:r>
              <a:t>and VA's desired date from chapter 5), a definition change in Uber's own count (none in the case;</a:t>
            </a:r>
          </a:p>
          <a:p>
            <a:r>
              <a:t>say so), a top-up for idling (fact 4), a check the drivers cannot touch (the rider's wait, fact 5).</a:t>
            </a:r>
          </a:p>
          <a:p>
            <a:r>
              <a:t>Transition: the city's three numbers, written out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minutes: set up (5), groups write (20), owners attack (15). Nine groups in three sets of</a:t>
            </a:r>
          </a:p>
          <a:p>
            <a:r>
              <a:t>three, each set on one number.</a:t>
            </a:r>
          </a:p>
          <a:p>
            <a:r>
              <a:t>Transition: the three numbers and their owners.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The template is in exercises/guided/C2_W04_D01_definition_STUDENT.md. Twenty</a:t>
            </a:r>
          </a:p>
          <a:p>
            <a:r>
              <a:t>minutes to write. The finance and marketing readers argue different numbers here than on their round 1</a:t>
            </a:r>
          </a:p>
          <a:p>
            <a:r>
              <a:t>cards, on purpose: each defends a number it did not choose, so the room hears each attack from the</a:t>
            </a:r>
          </a:p>
          <a:p>
            <a:r>
              <a:t>other side.</a:t>
            </a:r>
          </a:p>
          <a:p>
            <a:r>
              <a:t>Transition: the attack each owner will 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Each owner attacks the set that wrote their number; the set answers with a line.</a:t>
            </a:r>
          </a:p>
          <a:p>
            <a:r>
              <a:t>Score as in round 3: answered, conceded, or lost.</a:t>
            </a:r>
          </a:p>
          <a:p>
            <a:r>
              <a:t>Transition: which numbers move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eight numbers (12), defended (6), the three north stars and their guardrails</a:t>
            </a:r>
          </a:p>
          <a:p>
            <a:r>
              <a:t>(12). Cut this section first if time runs short.</a:t>
            </a:r>
          </a:p>
          <a:p>
            <a:r>
              <a:t>Transition: the eight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The eight numbers and the options are the handout's Q1, in its order</a:t>
            </a:r>
          </a:p>
          <a:p>
            <a:r>
              <a:t>(exercises/unguided/C2_W04_D01_lead_lag_STUDENT.md); its Q2 is the defence. Letters first, then</a:t>
            </a:r>
          </a:p>
          <a:p>
            <a:r>
              <a:t>each group defends two of its calls aloud.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A dashboard of only lagging numbers lets a drift run for weeks before anyone sees</a:t>
            </a:r>
          </a:p>
          <a:p>
            <a:r>
              <a:t>it; a dashboard of only leading numbers never says whether the outcome came.</a:t>
            </a:r>
          </a:p>
          <a:p>
            <a:r>
              <a:t>Transition: three north stars and the guardrail each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writes one more guardrail for a north star of its choice and names the</a:t>
            </a:r>
          </a:p>
          <a:p>
            <a:r>
              <a:t>gaming it catches. A growth target offered as a guardrail gets the question: what would it catch?</a:t>
            </a:r>
          </a:p>
          <a:p>
            <a:r>
              <a:t>Transition: the dispute, as an interviewer asks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minutes: the second transcript read in pairs (8), scored (5), the close (2). The transcript is the [D]</a:t>
            </a:r>
          </a:p>
          <a:p>
            <a:r>
              <a:t>section of extras/C2_W04_D01_transcript_STUDENT.md.</a:t>
            </a:r>
          </a:p>
          <a:p>
            <a:r>
              <a:t>Transition: the two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minutes: read in pairs (8), then score both on the scorecard (5)</a:t>
            </a:r>
          </a:p>
          <a:p>
            <a:r>
              <a:t>(trainer/C2_W04_D01_interview_scorecards_TRAINER.md).</a:t>
            </a:r>
          </a:p>
          <a:p>
            <a:r>
              <a:t>Transition: the clinic's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test of the redesign stays with the tentative faculty block whenever it runs.</a:t>
            </a:r>
          </a:p>
          <a:p>
            <a:r>
              <a:t>Transition: the TA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would have caught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line of a complete definition does each of five facts in the SEC's Wells Fargo order breach, before the room writes its own definitions again?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facts from the SEC's Wells Fargo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order find about how the cross-sell number was built and hit?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x_7c9ffa7c6e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usage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Accounts and products per household counted whether or not anyone used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lock_ca1635f01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Four years unused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debit card, the largest product category, could stay in the count for up to four years with no 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-off_659cbed618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silent addition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 2013 remittance accounts joined the count without investors being told, giving 0.04 of that year's 0.11 rise in the ratio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nknote_b59e4eff765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Simulated funding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moved customers' money into new accounts so the accounts counted as funded and earned sales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phone-off_d984218f2f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Surveys dodged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changed contact details so satisfaction surveys would not reach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486410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the SEC order, Release 34-88257, February 2020, checked 12 October 2026.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42" name="Oval 4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44" name="Oval 4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46" name="Oval 4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would have caught each fact?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Match each of the five facts to the line of a complete definition that would have stopped it; one line is left over.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3184"/>
          <a:ext cx="11130991" cy="1908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silent addition in 2013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17264"/>
            <a:ext cx="11130991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a) Numerator: count an account only if the customer used it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b) Denominator: households, with the count printed beside the ratio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c) Window: drop an account once it goes unused for the period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d) Exclusions, dated: every change to what is counted is dated on the definition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e) What it does not reward: money moved in and out to meet a rule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f) A guardrail read from data the measured staff cannot touch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c d e f; the denominator is spare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fact belong to its line, and why is the denominator left over?</a:t>
            </a:r>
          </a:p>
        </p:txBody>
      </p:sp>
      <p:pic>
        <p:nvPicPr>
          <p:cNvPr id="9" name="mermaid diagram" descr="12301a57cd2aa1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324206"/>
            <a:ext cx="4786326" cy="323371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3" cy="28580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7307"/>
                <a:gridCol w="2261058"/>
                <a:gridCol w="2261058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 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a) Numerator with a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itself must require the thing it stands for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 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c)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Use inside the period, or it leaves the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 Silent addition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d) Exclusions, dated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to what is counted carries a date and a note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 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e) What it does not reward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Names the behaviour the number refuses to pay for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 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f) Independent guardrail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guardrail the measured can redirect guards 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1917" y="5070856"/>
            <a:ext cx="5899425" cy="703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The denominator (b) was households throughout; the gaming sat in what was counted, when, and who could reach the check.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4" name="Oval 13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6" name="Oval 15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8" name="Oval 17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each number survive its owner?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happens when each of three proposed numbers is written as a complete definition and its owner attacks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numbers, each with an owner who wants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each owner propose, and what would it reward?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ar_2853f2298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DRIVER-OPERATIONS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Peak online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being online, whatever happens in the hour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allet_3a2d2f5ade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Completed peak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trips, including the short ones a driver cherry-picks; finance wants each rupee to buy a trip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gaphone_df6318bcf2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MARKETING LEAD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Share of offers accepted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saying yes, including to trips later cancelled; the number marketing can show riders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set writes its number as a complete definition of seven lines: numerator, denominator, window, exclusions, what it does not reward, guardrails, and the gaming note.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30" name="Oval 29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32" name="Oval 31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34" name="Oval 33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owner's attack, and the line that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owner say against the definition written for their number, and which line answers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962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17140"/>
                <a:gridCol w="3309015"/>
                <a:gridCol w="2263078"/>
                <a:gridCol w="43417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attack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part that is true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Driver operations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"Hours are what we control; trips depend on riders"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Supply is driver operations' job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trips per online hour beside the hours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partner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"Trips are what the money buys; why guard them?"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Trips are what the city wants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accepted share, which catches cherry-picking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lead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"Acceptance is what riders feel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moves first, in the launch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Gaming note: an accepted trip then cancelled; the cancel share beside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17576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case data the three numbers moved 24 percent up (hours), 3 percent up (trips) and 13 points down (acceptance): three owners, three stories about the same six weeks.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numbers lead, and which lag?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of eight city numbers move before the north star and which confirm it later, and which guardrail does each north star need?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of eight numbers lead, and which lag?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For each number, does it move before completed peak trips per driver, or confirm it later?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798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City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rating at month 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Gross bookings for the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online in the first peak hour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Top-up paid for the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New driver sign-ups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Drivers who left the platform the next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requests per online hour,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736592"/>
            <a:ext cx="11130991" cy="130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a) 2, 4, 6 and 8 lead; the other four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b) 1, 2, 4 and 8 lead; the other four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c) 2, 4 and 8 lead; the other five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d) 2, 3, 5 and 6 lead; the other four lag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a; inputs lead, bills and ratings 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number sit where it does?</a:t>
            </a:r>
          </a:p>
        </p:txBody>
      </p:sp>
      <p:pic>
        <p:nvPicPr>
          <p:cNvPr id="9" name="mermaid diagram" descr="caebcc638b2de6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2397" y="1956816"/>
            <a:ext cx="9486900" cy="18716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7478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0279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9365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Answer: a.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four inputs move before trips per driver do, and the city team can act on them this week; the four confirmations arrive after the trips have happened. On the case data acceptance settled in the launch week while bookings per online hour took three weeks.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north stars, and the guardrail each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could each north star be hit while riders were served worse, and which guardrail catches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6925"/>
                <a:gridCol w="3408872"/>
                <a:gridCol w="41751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North star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 it could be hit badly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guardrail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Completed peak trips per enrolled driver per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accept short trips and decline the 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accepted, at or above an acceptance floor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Peak online hours per enrolled driver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sit online in zones with few riders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online hours with no completed trip (0.22 to 0.38 on the case)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sign up and never drive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only drivers online at least one peak hour that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 you say to the teams who lose?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candidate get three teams who each want their own target to one number, and what do they say to the teams who lose?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teams, one number: two answers compared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a weak answer to the dispute go wrong, and what does a hire-grade answer do?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30581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61846"/>
                <a:gridCol w="3127599"/>
                <a:gridCol w="5841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Clarify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"Which team is right?"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scheme for, and what does each team need to see to do its job?"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each team its own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north star tied to the scheme's goal: completed peak trips per enrolled driver online at peak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teams who 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Promises to revisit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Says none of the three numbers is the target, then places each: hours beside trips per online hour; the enrolled count beside the rate; a total cap and cost per extra trip for 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the wait by zone rose under the new rule, I would revisit the acceptance floor"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Close: a definition is a set of lines that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has the clinic added to the morning's definition?</a:t>
            </a:r>
          </a:p>
        </p:txBody>
      </p:sp>
      <p:pic>
        <p:nvPicPr>
          <p:cNvPr id="9" name="mermaid diagram" descr="542c976a2358b1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1541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118533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246549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37405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crux.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way of gaming a number gets caught by a line written down before anyone is paid: the count, its window, what it does not reward, and a check the measured cannot touch.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