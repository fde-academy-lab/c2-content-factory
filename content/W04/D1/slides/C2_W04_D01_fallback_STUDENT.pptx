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fallback runs only if the tentative faculty block is cancelled or shifted.</a:t>
            </a:r>
          </a:p>
          <a:p>
            <a:r>
              <a:t>Four parts of 35, 40, 30 and 15 minutes. Nothing in the fallback teaches A/B testing, since that</a:t>
            </a:r>
          </a:p>
          <a:p>
            <a:r>
              <a:t>belongs to the block whenever it runs.</a:t>
            </a:r>
          </a:p>
          <a:p>
            <a:r>
              <a:t>Transition: part 1, the Wells Fargo dissection.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part 1 of the fallback. Groups read the SEC order's five facts and name which</a:t>
            </a:r>
          </a:p>
          <a:p>
            <a:r>
              <a:t>line of a complete definition each one breaches. Each group gets five minutes per fact and the</a:t>
            </a:r>
          </a:p>
          <a:p>
            <a:r>
              <a:t>trainer rotates. Styles: Veritasium's predict-then-reveal on each fact; the case method's</a:t>
            </a:r>
          </a:p>
          <a:p>
            <a:r>
              <a:t>groups argue; takeUforward's ladder of items.</a:t>
            </a:r>
          </a:p>
          <a:p>
            <a:r>
              <a:t>Transition: the five breaches, in one card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Read the five breaches aloud. Each group picks one line of our seven-line</a:t>
            </a:r>
          </a:p>
          <a:p>
            <a:r>
              <a:t>definition template and names which breach it catches. Each group reports in two minutes, so the</a:t>
            </a:r>
          </a:p>
          <a:p>
            <a:r>
              <a:t>whole room covers five breaches in 25 minutes.</a:t>
            </a:r>
          </a:p>
          <a:p>
            <a:r>
              <a:t>Transition: the first match, which the room does from instinct.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Walk the room through each pairing. The point: the seven-line template is a</a:t>
            </a:r>
          </a:p>
          <a:p>
            <a:r>
              <a:t>checklist against gaming. Nothing stops a scheme using it from being gamed if the lines are not</a:t>
            </a:r>
          </a:p>
          <a:p>
            <a:r>
              <a:t>there.</a:t>
            </a:r>
          </a:p>
          <a:p>
            <a:r>
              <a:t>Transition: the dissection in pairs,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part 2 of the fallback. The three city roles return with their numbers; each</a:t>
            </a:r>
          </a:p>
          <a:p>
            <a:r>
              <a:t>group writes the complete definition for one and the role attacks. The point is that a definition</a:t>
            </a:r>
          </a:p>
          <a:p>
            <a:r>
              <a:t>is not an answer; it is a defence that must survive the attack.</a:t>
            </a:r>
          </a:p>
          <a:p>
            <a:r>
              <a:t>Transition: the three numbers, each with its proposer.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Nine groups split into three sets of three, each set working on one of</a:t>
            </a:r>
          </a:p>
          <a:p>
            <a:r>
              <a:t>the three numbers. Twenty minutes to write; fifteen minutes to defend; the trainer rotates and</a:t>
            </a:r>
          </a:p>
          <a:p>
            <a:r>
              <a:t>voices the role in each set's defence.</a:t>
            </a:r>
          </a:p>
          <a:p>
            <a:r>
              <a:t>Transition: the attack moves, one slide to hold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three attacks and their partly-true answers. The groups then spend</a:t>
            </a:r>
          </a:p>
          <a:p>
            <a:r>
              <a:t>twenty minutes writing the definition for their assigned number and fifteen defending it.</a:t>
            </a:r>
          </a:p>
          <a:p>
            <a:r>
              <a:t>Transition: part 3, the leading-and-lagging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part 3. The eight metrics come on the board; each group classifies three</a:t>
            </a:r>
          </a:p>
          <a:p>
            <a:r>
              <a:t>metrics as leading or lagging; the second half of the slot writes guardrails for three north</a:t>
            </a:r>
          </a:p>
          <a:p>
            <a:r>
              <a:t>stars. Styles: Striver's ladder of items, Krish Naik's narration of each line, ByteByteGo's</a:t>
            </a:r>
          </a:p>
          <a:p>
            <a:r>
              <a:t>single map of the dashboard.</a:t>
            </a:r>
          </a:p>
          <a:p>
            <a:r>
              <a:t>Transition: the eight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room classifies three metrics each. Expect disputes on 5: trips per peak</a:t>
            </a:r>
          </a:p>
          <a:p>
            <a:r>
              <a:t>online hour this week is both the north star and co-moving with it. Resolve: the "trips per</a:t>
            </a:r>
          </a:p>
          <a:p>
            <a:r>
              <a:t>peak online hour" measured by the week it is in is the north star; the leading version is the</a:t>
            </a:r>
          </a:p>
          <a:p>
            <a:r>
              <a:t>first-hour one of metric 3.</a:t>
            </a:r>
          </a:p>
          <a:p>
            <a:r>
              <a:t>Transition: the three north stars, each needing a guardrail.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 to write; 7 minutes to read aloud. Watch for a group that writes a guardrail that</a:t>
            </a:r>
          </a:p>
          <a:p>
            <a:r>
              <a:t>is another growth number ("revenue per driver-week"); send them back with the test: name the</a:t>
            </a:r>
          </a:p>
          <a:p>
            <a:r>
              <a:t>gaming it catches.</a:t>
            </a:r>
          </a:p>
          <a:p>
            <a:r>
              <a:t>Transition: part 4, the second transcript, the dispute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part 4. The transcript is the [D] variant of Monday's L6: a dispute between</a:t>
            </a:r>
          </a:p>
          <a:p>
            <a:r>
              <a:t>three roles. One pair reads aloud, one pair scores. Styles: the case method's role cards from the</a:t>
            </a:r>
          </a:p>
          <a:p>
            <a:r>
              <a:t>morning return, now in the interview room.</a:t>
            </a:r>
          </a:p>
          <a:p>
            <a:r>
              <a:t>Transition: the transcript's weak and hire-grade openings.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One pair reads the weak and hire-grade answers side by side; one pair scores</a:t>
            </a:r>
          </a:p>
          <a:p>
            <a:r>
              <a:t>each on the scorecard. The scorecard goes to the trainer.</a:t>
            </a:r>
          </a:p>
          <a:p>
            <a:r>
              <a:t>Transition: the fallback's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handoff to tomorrow's work: Tuesday's slide, the city head's five minutes</a:t>
            </a:r>
          </a:p>
          <a:p>
            <a:r>
              <a:t>with each loser in the room. If the block runs tomorrow, the room is ready. If not, it still has</a:t>
            </a:r>
          </a:p>
          <a:p>
            <a:r>
              <a:t>a definition that answered three attacks.</a:t>
            </a:r>
          </a:p>
          <a:p>
            <a:r>
              <a:t>Transition: end of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MONDAY  · 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Fallback: the metric clinic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“If IIT Gandhinagar does not run the A/B session, 120 minutes of metric clinic replace it; nothing of what the block owns is taught here.”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trainer, if the block slips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5248656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SEC breach parallels which line of a definition?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are the five breaches the SEC named at Wells Fargo, and which line of a definition would catch each?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breaches in the SEC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breach does each fact describe, and which line of a definition catches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counted toward the ratio without any customer activity; debit cards up to four years unused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Silent 2013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Remittance accounts added to the cross-sell count without the market being told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Deposits moved briefly to meet account-opening thresholds and then withdrawn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Contact dodge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Customer contact details changed so complaint surveys would not reach them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BREACH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Four-year inactive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53466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target measured over a window that did not require the customer to still be using the product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41" name="Oval 40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43" name="Oval 42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45" name="Oval 44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Match: definition line to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line of a seven-line definition catches each breach?</a:t>
            </a:r>
          </a:p>
        </p:txBody>
      </p:sp>
      <p:pic>
        <p:nvPicPr>
          <p:cNvPr id="9" name="mermaid diagram" descr="6d4ab83d28cb1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169654"/>
            <a:ext cx="4786326" cy="354281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5054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55472"/>
                <a:gridCol w="3743952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What it does not reward: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stays named on the definition; a line that pays for being signed up pays for being signed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Silent 2013 change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Exclusions: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every change to the exclusions is dated on the definition page; a quiet change is caught by the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Numerator: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the numerator carries the usage condition the deposit does not satisfy; a brief deposit does not 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Contact dodge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Guardrail: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a complaint-rate guardrail reads independent data (not a company survey)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Four-year inactive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1A1440"/>
                          </a:solidFill>
                          <a:latin typeface="Calibri"/>
                        </a:rPr>
                        <a:t>Window:</a:t>
                      </a:r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 the window is the active window; an "inactive four years" account does not sit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761917" y="4718304"/>
            <a:ext cx="5899425" cy="11633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8221" y="4846320"/>
            <a:ext cx="45720" cy="9072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9389" y="4837176"/>
            <a:ext cx="5332497" cy="980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>
                <a:solidFill>
                  <a:srgbClr val="5B3FD6"/>
                </a:solidFill>
                <a:latin typeface="Calibri"/>
              </a:rPr>
              <a:t>The parallel to Monday's scheme. </a:t>
            </a:r>
            <a:r>
              <a:rPr sz="1000" b="0" i="0">
                <a:solidFill>
                  <a:srgbClr val="1A1440"/>
                </a:solidFill>
                <a:latin typeface="Calibri"/>
              </a:rPr>
              <a:t>"Peak online hours" has no usage condition. "Online" was redefined when the app's background mode changed, silently. A driver who logs in at 23:59 and out at 00:01 counts as online for two peak hours. A rider's complaint about wait never reaches the scheme's number. All five breaches have an Uber version.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6" name="Oval 15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8" name="Oval 17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20" name="Oval 19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complete definition would driver operations fight?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the city's three numbers does each role argue for, and what does each definition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numbers, each role's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role propose, and what does each number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sign-up and staying online, whatever happens in that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Enrolled 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acquisition; the hoarding sells the floor, so the sign-up is the 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Top-up per trip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low top-up per trip; the finance team wants a budget they can predict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42321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42230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Three groups write three definitions.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definition carries the seven lines of the template. The role whose number it is attacks in round 2 of this part. The scorer uses the card from half two.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32" name="Oval 31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34" name="Oval 33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36" name="Oval 35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attacks each role will mount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role attack first, and what does the room concede or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40144"/>
                <a:gridCol w="3710381"/>
                <a:gridCol w="2670084"/>
                <a:gridCol w="37103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Partly true because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"You cannot measure us on a number we do not control"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hour-by-hour, the driver chooses to log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counts hours that completed trips, not just hours logged 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"The hoarding promised a floor; changing it is a bait and switch"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the brand paid for the promise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floor is kept, with an acceptance condition; the promise is amended, not broken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95707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"The top-up cost Rs 1.9 crore in six weeks; your redesign has to prove what it saves"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True: the top-up budget is finance's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Paid only to driver-weeks at or above 0.5 acceptance, the same six weeks would have cost Rs 74 lakh if every driver behaved the same; the A/B test says how many would change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5902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The three definitions each have one line that each role fights, and one line that each role has to concede.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The room writes both.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5" name="Oval 14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city metrics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 leading and lagging mean, and where do eight metrics sit?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eight city metrics,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these eight numbers moves before the city's north star, and which moves after?</a:t>
            </a:r>
          </a:p>
        </p:txBody>
      </p:sp>
      <p:pic>
        <p:nvPicPr>
          <p:cNvPr id="9" name="mermaid diagram" descr="45bff693cab413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585423"/>
            <a:ext cx="4786326" cy="7112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682496"/>
          <a:ext cx="5899424" cy="2960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694932"/>
                <a:gridCol w="2290092"/>
              </a:tblGrid>
              <a:tr h="31089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Leading or lagging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473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the first peak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about three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Requests per online hour,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one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Acceptance share at the first peak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Leading, by one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Median rider wait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Co-moving, same hour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Trips per peak online hour,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Co-moving, same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Driver top-up paid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one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Rider satisfaction score at month 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three weeks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Driver churn in the next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440"/>
                          </a:solidFill>
                          <a:latin typeface="Calibri"/>
                        </a:rPr>
                        <a:t>Lagging, by one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4899152"/>
            <a:ext cx="5899425" cy="1186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1A1440"/>
                </a:solidFill>
                <a:latin typeface="Calibri"/>
              </a:rPr>
              <a:t>Leading moves before the north star, so it predicts; lagging moves after, so it confirms.</a:t>
            </a:r>
            <a:r>
              <a:rPr sz="1400" b="0" i="0">
                <a:solidFill>
                  <a:srgbClr val="1A1440"/>
                </a:solidFill>
                <a:latin typeface="Calibri"/>
              </a:rPr>
              <a:t> A dashboard needs both. A dashboard with only lagging numbers lets a drift run for weeks before anyone notices.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4" name="Oval 13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6" name="Oval 15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three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guardrail would you add to each north star to catch the ways of hitting it that hurt the city?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62809"/>
                <a:gridCol w="3448964"/>
                <a:gridCol w="401921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gaming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trips, cherry-pick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Acceptance share at a floor, by zone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Trips per peak online hour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decline peak requests and still log 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Median rider wait at peak,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active in the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Mass sign-up with no activity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counts "online at least one peak hour"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175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5455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5364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Each group writes one guardrail more.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whole room then reads them aloud and the trainer scores the three strongest, three weakest.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5" name="Oval 14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7" name="Oval 16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teams, three numbers, one scheme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 you say to the city head when driver operations, marketing and finance each want their own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Fallback: the metric clinic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dispute: three teams want their own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a hire-grade answer concede where each team is right and still name one number?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33345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38995"/>
                <a:gridCol w="3100697"/>
                <a:gridCol w="5791298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0162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"Each team is right about something; the question is which number carries the scheme's decision and which lines of its definition carry each team's attack"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Picks one team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Opens on the scheme's goal, picks the north star, names the guardrails that answer each team's attack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trap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Promises everyone their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one number and the guardrails that address each team's partly-true objection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1026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tied to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"We would try both"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"Paid only where acceptance stayed at 0.5 or above, the six weeks would have cost Rs 74 lakh against the Rs 1.9 crore spent, if every driver behaved the same; the test tells us how many would not"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527304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40105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9191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Scorecard (TRAINER).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Clarified scope; named the denominator; conceded where each team is partly right; named the number tied to a decision and its cost; refused to split into three (Aced, verified 12 October 2026).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15" name="Oval 14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17" name="Oval 16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Fallback close: a definition that stands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fallback bought the room, if the block runs tomorrow?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Breach to line.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The seven-line template catches every breach the SEC named at Wells Fargo.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Three attacks.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Each of the city's roles has an attack that is partly right; the definition answers each with a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063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99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Dashboard.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Leading metrics predict, lagging confirm; a dashboard needs both.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05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41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A1440"/>
                </a:solidFill>
                <a:latin typeface="Calibri"/>
              </a:rPr>
              <a:t>Dispute.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 One number, with guardrails that answer each team's partly-right objection.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409346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42961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05884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423976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445922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made a definition stand up to three attacks and five breaches."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SEC breach parallels which line of a definition?</a:t>
            </a:r>
          </a:p>
        </p:txBody>
      </p:sp>
      <p:sp>
        <p:nvSpPr>
          <p:cNvPr id="24" name="Oval 23"/>
          <p:cNvSpPr/>
          <p:nvPr/>
        </p:nvSpPr>
        <p:spPr>
          <a:xfrm>
            <a:off x="29260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5808" y="6437376"/>
            <a:ext cx="2194560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complete definition would driver operations fight?</a:t>
            </a:r>
          </a:p>
        </p:txBody>
      </p:sp>
      <p:sp>
        <p:nvSpPr>
          <p:cNvPr id="26" name="Oval 25"/>
          <p:cNvSpPr/>
          <p:nvPr/>
        </p:nvSpPr>
        <p:spPr>
          <a:xfrm>
            <a:off x="532180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31536" y="6437376"/>
            <a:ext cx="206854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city metrics lead, and which lag?</a:t>
            </a:r>
          </a:p>
        </p:txBody>
      </p:sp>
      <p:sp>
        <p:nvSpPr>
          <p:cNvPr id="28" name="Oval 27"/>
          <p:cNvSpPr/>
          <p:nvPr/>
        </p:nvSpPr>
        <p:spPr>
          <a:xfrm>
            <a:off x="759152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1248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teams, three numbers, one scheme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