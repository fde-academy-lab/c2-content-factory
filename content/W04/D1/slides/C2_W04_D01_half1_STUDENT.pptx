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ticket top to bottom in the order it is written: company and surface,</a:t>
            </a:r>
          </a:p>
          <a:p>
            <a:r>
              <a:t>the table, the data, the ask, the caveats, the label line. Say the label line in full: the company</a:t>
            </a:r>
          </a:p>
          <a:p>
            <a:r>
              <a:t>is real, the situation and the data are synthetic, built for this class. Then ask one question</a:t>
            </a:r>
          </a:p>
          <a:p>
            <a:r>
              <a:t>and leave it open: of the eight numbers in the table, which one would the city team put in the</a:t>
            </a:r>
          </a:p>
          <a:p>
            <a:r>
              <a:t>headline of Monday's update? Most hands go to "peak online hours up 24 percent". Write it on the</a:t>
            </a:r>
          </a:p>
          <a:p>
            <a:r>
              <a:t>board; the day is about whether that number deserves the headline.</a:t>
            </a:r>
          </a:p>
          <a:p>
            <a:r>
              <a:t>Transition: where the day sits in the week.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Point to Monday, lit, and to the four dashed days. Each day is a ticket at a company</a:t>
            </a:r>
          </a:p>
          <a:p>
            <a:r>
              <a:t>the room uses, climbed from a hand count to an interview question, and each day's TA lab moves the</a:t>
            </a:r>
          </a:p>
          <a:p>
            <a:r>
              <a:t>same method to Kalpa Retail. By Saturday every node carries the number the room produced on it.</a:t>
            </a:r>
          </a:p>
          <a:p>
            <a:r>
              <a:t>The week explorer (content/W04/D1/demos/C2_W04_D01_week_explorer_STUDENT.html, which ships with the</a:t>
            </a:r>
          </a:p>
          <a:p>
            <a:r>
              <a:t>week) opens on this map; light Monday there if it is on the projector.</a:t>
            </a:r>
          </a:p>
          <a:p>
            <a:r>
              <a:t>Transition: where today ends.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Read the sentence with its blanks and the seven line names; nothing to write yet.</a:t>
            </a:r>
          </a:p>
          <a:p>
            <a:r>
              <a:t>Say: every blank gets a number from the data before lunch, and every line gets tested by three</a:t>
            </a:r>
          </a:p>
          <a:p>
            <a:r>
              <a:t>people this afternoon.</a:t>
            </a:r>
          </a:p>
          <a:p>
            <a:r>
              <a:t>Transition: the board the day fills, region by region.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Draw the same board on the whiteboard and keep it up all day; each chapter's close</a:t>
            </a:r>
          </a:p>
          <a:p>
            <a:r>
              <a:t>adds its region. The finished board is panel one of the cheat sheet.</a:t>
            </a:r>
          </a:p>
          <a:p>
            <a:r>
              <a:t>Transition: the war game's first round.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12 minutes, the war game's round 1 (run sheet: trainer/C2_W04_D01_war_game_TRAINER.md).</a:t>
            </a:r>
          </a:p>
          <a:p>
            <a:r>
              <a:t>The trainer voices the three role cards, or three learners read them. Each of the nine groups has</a:t>
            </a:r>
          </a:p>
          <a:p>
            <a:r>
              <a:t>four minutes to give one way to game each number, from instinct only, and its scorer holds the</a:t>
            </a:r>
          </a:p>
          <a:p>
            <a:r>
              <a:t>proxy-test card. Write the answers on the board under each role. Expect: hours rise if drivers stay</a:t>
            </a:r>
          </a:p>
          <a:p>
            <a:r>
              <a:t>logged in and idle; enrolled drivers rise if people sign up and never drive; top-up per trip falls</a:t>
            </a:r>
          </a:p>
          <a:p>
            <a:r>
              <a:t>if drivers take only short trips. Park "what would the data show" until chapter 2.</a:t>
            </a:r>
          </a:p>
          <a:p>
            <a:r>
              <a:t>When it stalls: give the canteen token (who controls the count?), then point at the twelve rows,</a:t>
            </a:r>
          </a:p>
          <a:p>
            <a:r>
              <a:t>drivers E and F.</a:t>
            </a:r>
          </a:p>
          <a:p>
            <a:r>
              <a:t>Transition: chapter 1 opens on the question the war game left behind.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40 minutes for the chapter: the opener question (4), the canteen (5), the twelve rows and the</a:t>
            </a:r>
          </a:p>
          <a:p>
            <a:r>
              <a:t>hand count (18), Wells Fargo (8), the close (5). Level 1: understand and count by hand. No laptops.</a:t>
            </a:r>
          </a:p>
          <a:p>
            <a:r>
              <a:t>Styles: Brilliant (the question first), Veritasium (predict, then reveal), StatQuest (tiny numbers</a:t>
            </a:r>
          </a:p>
          <a:p>
            <a:r>
              <a:t>said aloud), the case method (a real company's decision and what it cost).</a:t>
            </a:r>
          </a:p>
          <a:p>
            <a:r>
              <a:t>Notebook: notebooks/C2_W04_D01_01_twelve_rows_STUDENT.ipynb.</a:t>
            </a:r>
          </a:p>
          <a:p>
            <a:r>
              <a:t>Transition: the question that opens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on paper, then a show of letters. The room usually splits between b and c.</a:t>
            </a:r>
          </a:p>
          <a:p>
            <a:r>
              <a:t>Leave it open for ten seconds, then reveal.</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Say: the driver controls the count, and that is the first thing to look for in any</a:t>
            </a:r>
          </a:p>
          <a:p>
            <a:r>
              <a:t>number someone is paid for. Point back to the board's first question, what is it for.</a:t>
            </a:r>
          </a:p>
          <a:p>
            <a:r>
              <a:t>Transition: a canteen that pays for the easy count.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the Veritasium move. Before the picture goes up, ask: if the canteen pays per token,</a:t>
            </a:r>
          </a:p>
          <a:p>
            <a:r>
              <a:t>what can rise with no extra plate served? Take three answers, then show the picture. The canteen is</a:t>
            </a:r>
          </a:p>
          <a:p>
            <a:r>
              <a:t>invented and the numbers are chosen to be easy. Explorer scene M1 shows the same drift on the city:</a:t>
            </a:r>
          </a:p>
          <a:p>
            <a:r>
              <a:t>drivers as dots go from driving to idling as the guarantee rises; open it here if it is on the</a:t>
            </a:r>
          </a:p>
          <a:p>
            <a:r>
              <a:t>projector.</a:t>
            </a:r>
          </a:p>
          <a:p>
            <a:r>
              <a:t>Transition: six real drivers from the case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StatQuest: say each number aloud. Add the hours column for the before week (60)</a:t>
            </a:r>
          </a:p>
          <a:p>
            <a:r>
              <a:t>and the after week (74), then the trips (114 and 88), writing the four sums on the board. Point at</a:t>
            </a:r>
          </a:p>
          <a:p>
            <a:r>
              <a:t>E and F before saying anything about them: hours up, offers down because Shamshabad and</a:t>
            </a:r>
          </a:p>
          <a:p>
            <a:r>
              <a:t>Rajendranagar get few requests, and most of those offers declined.</a:t>
            </a:r>
          </a:p>
          <a:p>
            <a:r>
              <a:t>Transition: the prediction before the ratio.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Everyone writes a letter. Most write b, because the ticket says 1.58.</a:t>
            </a:r>
          </a:p>
          <a:p>
            <a:r>
              <a:t>Transition: the hand count.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Say the step aloud: for every ten hours online the six made 19 trips before and 12</a:t>
            </a:r>
          </a:p>
          <a:p>
            <a:r>
              <a:t>after. Then say why the six are not the city: the rows were picked so the mechanism shows in</a:t>
            </a:r>
          </a:p>
          <a:p>
            <a:r>
              <a:t>miniature. Watch for anyone averaging each driver's own ratio; chapter 2 shows what that average</a:t>
            </a:r>
          </a:p>
          <a:p>
            <a:r>
              <a:t>prints on the full data and why it misleads.</a:t>
            </a:r>
          </a:p>
          <a:p>
            <a:r>
              <a:t>Transition: a company that paid for a number with no usage condition.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Tell it in order: the number (accounts per household), the missing condition</a:t>
            </a:r>
          </a:p>
          <a:p>
            <a:r>
              <a:t>(nobody had to use the account), what staff did to hit it, and what it cost (USD 185 million in</a:t>
            </a:r>
          </a:p>
          <a:p>
            <a:r>
              <a:t>2016, USD 3 billion in 2020, sales goals scrapped). Then draw two columns on the board, Wells Fargo</a:t>
            </a:r>
          </a:p>
          <a:p>
            <a:r>
              <a:t>and Uber Hyderabad: an account counted with no use, an hour counted with no trip. Do not quote a</a:t>
            </a:r>
          </a:p>
          <a:p>
            <a:r>
              <a:t>firing count or Goodhart; neither is verified in the week's sources.</a:t>
            </a:r>
          </a:p>
          <a:p>
            <a:r>
              <a:t>Sources:</a:t>
            </a:r>
          </a:p>
          <a:p>
            <a:r>
              <a:t>https://www.consumerfinance.gov/about-us/newsroom/consumer-financial-protection-bureau-fines-wells-fargo-100-million-widespread-illegal-practice-secretly-opening-unauthorized-accounts/ (checked 12 October 2026)</a:t>
            </a:r>
          </a:p>
          <a:p>
            <a:r>
              <a:t>https://www.sec.gov/newsroom/press-releases/2020-38 (checked 12 October 2026)</a:t>
            </a:r>
          </a:p>
          <a:p>
            <a:r>
              <a:t>https://www.sec.gov/files/litigation/admin/2020/34-88257.pdf (checked 12 October 2026)</a:t>
            </a:r>
          </a:p>
          <a:p>
            <a:r>
              <a:t>Transition: the chapter's close and the board's first region.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Add the region to the board: what is it for, and the first pitfall. Read the crux</a:t>
            </a:r>
          </a:p>
          <a:p>
            <a:r>
              <a:t>line twice; it is the line the cheat sheet repeats. The interview question the day earns, [S] how</a:t>
            </a:r>
          </a:p>
          <a:p>
            <a:r>
              <a:t>would you measure the success of a new feature, stays open until the afternoon.</a:t>
            </a:r>
          </a:p>
          <a:p>
            <a:r>
              <a:t>Transition: chapter 2, the full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50 minutes for the chapter: the demand question (5), the twelve weeks and the groupby (12),</a:t>
            </a:r>
          </a:p>
          <a:p>
            <a:r>
              <a:t>the average that misleads (8), the denominator cases (6), the idle tail (14), the close (5).</a:t>
            </a:r>
          </a:p>
          <a:p>
            <a:r>
              <a:t>Levels 2 and 3. Laptops open on notebooks/C2_W04_D01_02_full_data_trap_STUDENT.ipynb.</a:t>
            </a:r>
          </a:p>
          <a:p>
            <a:r>
              <a:t>Styles: Krish Naik (one line of narration per cell), Veritasium (predict before each reveal),</a:t>
            </a:r>
          </a:p>
          <a:p>
            <a:r>
              <a:t>Brilliant (the question first), ByteByteGo (the board grows at the close).</a:t>
            </a:r>
          </a:p>
          <a:p>
            <a:r>
              <a:t>Transition: the first question of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on paper. The trap the question guards against: "trips per hour fell</a:t>
            </a:r>
          </a:p>
          <a:p>
            <a:r>
              <a:t>because demand fell", said before anyone looked at demand.</a:t>
            </a:r>
          </a:p>
          <a:p>
            <a:r>
              <a:t>Transition: the answer, with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the three demand numbers, then the two stats. Ask what could make offers per</a:t>
            </a:r>
          </a:p>
          <a:p>
            <a:r>
              <a:t>request rise while requests barely moved: drivers declining, so each request is shown again.</a:t>
            </a:r>
          </a:p>
          <a:p>
            <a:r>
              <a:t>Transition: twelve weeks, one week at a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animated version, whiteboards/C2_W04_D01_drift_STUDENT.gif, draws the twelve</a:t>
            </a:r>
          </a:p>
          <a:p>
            <a:r>
              <a:t>weeks one at a time; play it on the projector and stop at the dashed line to ask what the next week</a:t>
            </a:r>
          </a:p>
          <a:p>
            <a:r>
              <a:t>will show. Then show this full picture and read the two ranges.</a:t>
            </a:r>
          </a:p>
          <a:p>
            <a:r>
              <a:t>Transition: the groupby that produced these totals.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Krish Naik: run the notebook's totals cell line by line and say what each line is</a:t>
            </a:r>
          </a:p>
          <a:p>
            <a:r>
              <a:t>for. The table is the cell's output, rounded as the ticket rounds it.</a:t>
            </a:r>
          </a:p>
          <a:p>
            <a:r>
              <a:t>Transition: a shortcut a colleague might take.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on paper. This is the chapter's first trap, the plausible wrong number.</a:t>
            </a:r>
          </a:p>
          <a:p>
            <a:r>
              <a:t>Transition: the answer, and why it is wrong.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Work the invented pair aloud first, then return to 1.71 against 1.58. Week 1 met</a:t>
            </a:r>
          </a:p>
          <a:p>
            <a:r>
              <a:t>the same rule on Kalpa's orders: a rate is two sums divided once.</a:t>
            </a:r>
          </a:p>
          <a:p>
            <a:r>
              <a:t>Transition: companies that write their denominators down.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two rows, naming numerator, denominator and window each time. The point is</a:t>
            </a:r>
          </a:p>
          <a:p>
            <a:r>
              <a:t>the habit: a filing that names its denominator cannot be misread, and the city's ticket names</a:t>
            </a:r>
          </a:p>
          <a:p>
            <a:r>
              <a:t>"per peak online hour" for the same reason. Source:</a:t>
            </a:r>
          </a:p>
          <a:p>
            <a:r>
              <a:t>https://www.bseindia.com/xml-data/corpfiling/AttachHis/2495f39b-e1d1-4018-8f69-6ff250345e98.pdf (checked 12 October 2026)</a:t>
            </a:r>
          </a:p>
          <a:p>
            <a:r>
              <a:t>Transition: one crowd, counted three ways.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parallel is on the board already: offers and requests are two units for the</a:t>
            </a:r>
          </a:p>
          <a:p>
            <a:r>
              <a:t>same riders, and offers rose 29 percent on requests that rose 1.8 percent.</a:t>
            </a:r>
          </a:p>
          <a:p>
            <a:r>
              <a:t>Sources:</a:t>
            </a:r>
          </a:p>
          <a:p>
            <a:r>
              <a:t>https://www.latestly.com/agency-news/dmrc-uses-new-count-metric-on-traffic-flow-doesnt-share-ridership-190870.html/amp (checked 12 October 2026)</a:t>
            </a:r>
          </a:p>
          <a:p>
            <a:r>
              <a:t>https://www.tribuneindia.com/news/delhi/delhi-metro-records-99-95-train-punctuality-in-2026-dmrc/ (checked 12 October 2026)</a:t>
            </a:r>
          </a:p>
          <a:p>
            <a:r>
              <a:t>https://www.republicworld.com/india/delhi-metro-breaks-all-time-record-with-8244-lakh-footfall-as-dtc-strike-sends-rush-soaring-2026-09-18-137241 (checked 12 October 2026)</a:t>
            </a:r>
          </a:p>
          <a:p>
            <a:r>
              <a:t>Transition: who is behind the fall.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the your-turn cell of notebook 02. Everyone writes a letter, then types the four</a:t>
            </a:r>
          </a:p>
          <a:p>
            <a:r>
              <a:t>lines from the notebook's markdown into the empty cell and runs it. Wait until most of the room has</a:t>
            </a:r>
          </a:p>
          <a:p>
            <a:r>
              <a:t>a number before the reveal.</a:t>
            </a:r>
          </a:p>
          <a:p>
            <a:r>
              <a:t>Transition: the answer and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Point at the cluster to the right of 30 hours with 25 to 35 trips: weeks online in</a:t>
            </a:r>
          </a:p>
          <a:p>
            <a:r>
              <a:t>almost every peak window with far fewer trips than the dotted line. Say what the data cannot say:</a:t>
            </a:r>
          </a:p>
          <a:p>
            <a:r>
              <a:t>why they did it. The likely reading is that the floor pays for being online and the outer zones are</a:t>
            </a:r>
          </a:p>
          <a:p>
            <a:r>
              <a:t>quiet, so a driver parked there earns the floor without a trip. A second route in the notebook</a:t>
            </a:r>
          </a:p>
          <a:p>
            <a:r>
              <a:t>finds the same 180 by acceptance alone. Watch for "these drivers are lazy": they are doing what</a:t>
            </a:r>
          </a:p>
          <a:p>
            <a:r>
              <a:t>the number pays for, as Wells Fargo's staff did.</a:t>
            </a:r>
          </a:p>
          <a:p>
            <a:r>
              <a:t>Transition: the chapter's close.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5 minutes. Add the region to the board. Then the break: 10 minutes.</a:t>
            </a:r>
          </a:p>
          <a:p>
            <a:r>
              <a:t>Transition: after the break, chapter 3 asks what the scheme should pay for instead.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65 minutes for the chapter: the opener question (5), the wrong memo and its cost (12), the</a:t>
            </a:r>
          </a:p>
          <a:p>
            <a:r>
              <a:t>tree and the inputs (14), the definition line by line, guided (16), the window and its start (6),</a:t>
            </a:r>
          </a:p>
          <a:p>
            <a:r>
              <a:t>the caveats (10), the close (2). Levels 3 and 4. Notebook:</a:t>
            </a:r>
          </a:p>
          <a:p>
            <a:r>
              <a:t>notebooks/C2_W04_D01_03_definition_and_cost_STUDENT.ipynb.</a:t>
            </a:r>
          </a:p>
          <a:p>
            <a:r>
              <a:t>Styles: Brilliant (question first), 3Blue1Brown (the tree built region by region), the case method</a:t>
            </a:r>
          </a:p>
          <a:p>
            <a:r>
              <a:t>(VA's decision and its cost), ByteByteGo (the finished board).</a:t>
            </a:r>
          </a:p>
          <a:p>
            <a:r>
              <a:t>Transition: the question that opens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on paper. Explorer scene M2 lets the room move the choice and watch the dots</a:t>
            </a:r>
          </a:p>
          <a:p>
            <a:r>
              <a:t>re-behave; use it after the vote if it is on the projector.</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Take each wrong letter in turn and say the gaming it invites; the room should hear</a:t>
            </a:r>
          </a:p>
          <a:p>
            <a:r>
              <a:t>that every wrong answer is a number someone would really propose.</a:t>
            </a:r>
          </a:p>
          <a:p>
            <a:r>
              <a:t>Transition: the memo that the celebrated number would have produced.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Present the memo as the one a hurried analyst writes on Monday morning. Then the</a:t>
            </a:r>
          </a:p>
          <a:p>
            <a:r>
              <a:t>check, then the fix. The next slide prices what the memo would have kept buying.</a:t>
            </a:r>
          </a:p>
          <a:p>
            <a:r>
              <a:t>Transition: where the Rs 1.9 crore went.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on paper; notebook 03's first cell answers it.</a:t>
            </a:r>
          </a:p>
          <a:p>
            <a:r>
              <a:t>Transition: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Say the behaviour line clearly, because the finance partner and every interviewer</a:t>
            </a:r>
          </a:p>
          <a:p>
            <a:r>
              <a:t>will ask it: a saving that assumes nobody changes is a floor on the cost, never a forecast. Round 3</a:t>
            </a:r>
          </a:p>
          <a:p>
            <a:r>
              <a:t>this afternoon prices the saving under a stated range.</a:t>
            </a:r>
          </a:p>
          <a:p>
            <a:r>
              <a:t>Transition: the tree that replaces the single number.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3Blue1Brown: build it on the board one region at a time. First the north star alone,</a:t>
            </a:r>
          </a:p>
          <a:p>
            <a:r>
              <a:t>then each guardrail with the gaming it catches (a driver online and declining; trips so short or so</a:t>
            </a:r>
          </a:p>
          <a:p>
            <a:r>
              <a:t>cherry-picked that waits rise; a top-up that runs away), then the two inputs. Explorer scene M2, the</a:t>
            </a:r>
          </a:p>
          <a:p>
            <a:r>
              <a:t>seesaw, shows the north star against its guardrails. Tuesday's slide, Thursday's funnel and Friday's</a:t>
            </a:r>
          </a:p>
          <a:p>
            <a:r>
              <a:t>forecast all hang off this north star.</a:t>
            </a:r>
          </a:p>
          <a:p>
            <a:r>
              <a:t>Transition: which of these moves first.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Explorer scene M4 asks which line turns first; use it if it is on the projector.</a:t>
            </a:r>
          </a:p>
          <a:p>
            <a:r>
              <a:t>Then classify three of the ticket's numbers aloud: acceptance (leading), trips per hour (moves with</a:t>
            </a:r>
          </a:p>
          <a:p>
            <a:r>
              <a:t>the north star), top-up paid (lagging, the bill arrives after).</a:t>
            </a:r>
          </a:p>
          <a:p>
            <a:r>
              <a:t>Transition: the definition, line by line.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16 minutes, guided: the room writes each line with the trainer (exercises/guided/</a:t>
            </a:r>
          </a:p>
          <a:p>
            <a:r>
              <a:t>C2_W04_D01_definition_STUDENT.md). Pause after every line and ask which gaming it stops: the</a:t>
            </a:r>
          </a:p>
          <a:p>
            <a:r>
              <a:t>denominator's "online at least one peak hour" stops a sign-up who never drives from diluting the</a:t>
            </a:r>
          </a:p>
          <a:p>
            <a:r>
              <a:t>rate; "what it does not reward" names hours. Uber's 10-K counts an UberX Share ride with three</a:t>
            </a:r>
          </a:p>
          <a:p>
            <a:r>
              <a:t>paying riders as three trips and an UberX ride with three passengers as one, which is why the</a:t>
            </a:r>
          </a:p>
          <a:p>
            <a:r>
              <a:t>numerator says "per paying rider". Explorer scene M3 recomputes the metric as each line changes.</a:t>
            </a:r>
          </a:p>
          <a:p>
            <a:r>
              <a:t>Transition: who controls when the clock starts.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The board's third sketch goes up: the window and its start. Ask who starts the</a:t>
            </a:r>
          </a:p>
          <a:p>
            <a:r>
              <a:t>clock in each of the day's numbers: hours (the driver), trips (the rider's request), wait (the</a:t>
            </a:r>
          </a:p>
          <a:p>
            <a:r>
              <a:t>rider's request). Source:</a:t>
            </a:r>
          </a:p>
          <a:p>
            <a:r>
              <a:t>https://www.vaoig.gov/sites/default/files/reports/2014-08/VAOIG-14-02603-267.pdf (checked 12 October 2026)</a:t>
            </a:r>
          </a:p>
          <a:p>
            <a:r>
              <a:t>Transition: what the data cannot show.</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trap here is a caveat used as an excuse: "the new drivers explain it".</a:t>
            </a:r>
          </a:p>
          <a:p>
            <a:r>
              <a:t>Transition: the answer and the other cuts.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8 minutes. Walk the six caveats in order, each with the fact that would settle it: data quality</a:t>
            </a:r>
          </a:p>
          <a:p>
            <a:r>
              <a:t>(online means the app is open; hours with no trip rose from 0.22 to 0.38), mix (new drivers: 1.58</a:t>
            </a:r>
          </a:p>
          <a:p>
            <a:r>
              <a:t>without them), seasonality (the busiest weeks: 1.60; last year's weeks are not in the data, so the</a:t>
            </a:r>
          </a:p>
          <a:p>
            <a:r>
              <a:t>caveat narrows and stays partly open), interference (needs hourly data and the other app), selection</a:t>
            </a:r>
          </a:p>
          <a:p>
            <a:r>
              <a:t>(needs the city's full driver list), cause (the tentative faculty block designs the test).</a:t>
            </a:r>
          </a:p>
          <a:p>
            <a:r>
              <a:t>Transition: the finished board.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board is finished; it is panel one of the cheat sheet. Read the crux line: paying</a:t>
            </a:r>
          </a:p>
          <a:p>
            <a:r>
              <a:t>for hours sent 61 percent of Rs 1.9 crore to driver-weeks that declined most of what they were</a:t>
            </a:r>
          </a:p>
          <a:p>
            <a:r>
              <a:t>offered. The interview line the chapter earns: [F] north star against guardrail, with one example</a:t>
            </a:r>
          </a:p>
          <a:p>
            <a:r>
              <a:t>pair, completed peak trips per enrolled driver, guarded by the share of offers accepted. Then lunch.</a:t>
            </a:r>
          </a:p>
          <a:p>
            <a:r>
              <a:t>Transition: half two opens on round 3 of the war game.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Say the faculty block is tentative until IIT Gandhinagar confirms it.</a:t>
            </a:r>
          </a:p>
          <a:p>
            <a:r>
              <a:t>Transition: lunch.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xml"/><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9.xml"/><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2.xml"/><Relationship Id="rId5"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4.xml"/><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1.xml"/><Relationship Id="rId5"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6.xml"/><Relationship Id="rId5"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0.xml"/><Relationship Id="rId5"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3.xml"/><Relationship Id="rId5"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9.xml"/><Relationship Id="rId5"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Ticket: Uber Hyderabad's peak-hour guarantee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the city team launch, what moved in six weeks, and what does the city head ask?</a:t>
            </a:r>
          </a:p>
        </p:txBody>
      </p:sp>
      <p:sp>
        <p:nvSpPr>
          <p:cNvPr id="9" name="Rounded Rectangle 8"/>
          <p:cNvSpPr/>
          <p:nvPr/>
        </p:nvSpPr>
        <p:spPr>
          <a:xfrm>
            <a:off x="530352" y="1807718"/>
            <a:ext cx="11130991" cy="6299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1935734"/>
            <a:ext cx="45720" cy="3738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1926590"/>
            <a:ext cx="10564063" cy="447040"/>
          </a:xfrm>
          <a:prstGeom prst="rect">
            <a:avLst/>
          </a:prstGeom>
          <a:noFill/>
        </p:spPr>
        <p:txBody>
          <a:bodyPr wrap="square" anchor="ctr" lIns="0" rIns="0" tIns="0" bIns="0">
            <a:spAutoFit/>
          </a:bodyPr>
          <a:lstStyle/>
          <a:p>
            <a:r>
              <a:rPr sz="1000" b="1">
                <a:solidFill>
                  <a:srgbClr val="5B3FD6"/>
                </a:solidFill>
                <a:latin typeface="Calibri"/>
              </a:rPr>
              <a:t>Uber, Hyderabad, the driver app. </a:t>
            </a:r>
            <a:r>
              <a:rPr sz="1000" b="0" i="0">
                <a:solidFill>
                  <a:srgbClr val="1A1440"/>
                </a:solidFill>
                <a:latin typeface="Calibri"/>
              </a:rPr>
              <a:t>From Monday 31 August 2026 an enrolled driver online through a whole peak window (two a day, three hours each) is guaranteed Rs 300 per peak online hour, and Uber tops up the gap. The goal: riders picked up faster.</a:t>
            </a:r>
          </a:p>
        </p:txBody>
      </p:sp>
      <p:graphicFrame>
        <p:nvGraphicFramePr>
          <p:cNvPr id="12" name="Table 11"/>
          <p:cNvGraphicFramePr>
            <a:graphicFrameLocks noGrp="1"/>
          </p:cNvGraphicFramePr>
          <p:nvPr/>
        </p:nvGraphicFramePr>
        <p:xfrm>
          <a:off x="530352" y="2602230"/>
          <a:ext cx="11130990" cy="1865376"/>
        </p:xfrm>
        <a:graphic>
          <a:graphicData uri="http://schemas.openxmlformats.org/drawingml/2006/table">
            <a:tbl>
              <a:tblPr firstRow="0" bandRow="0">
                <a:tableStyleId>{2D5ABB26-0587-4C30-8999-92F81FD0307C}</a:tableStyleId>
              </a:tblPr>
              <a:tblGrid>
                <a:gridCol w="5583081"/>
                <a:gridCol w="2056933"/>
                <a:gridCol w="3490976"/>
              </a:tblGrid>
              <a:tr h="310896">
                <a:tc>
                  <a:txBody>
                    <a:bodyPr/>
                    <a:lstStyle/>
                    <a:p>
                      <a:r>
                        <a:rPr sz="950" b="1" i="0">
                          <a:solidFill>
                            <a:srgbClr val="FFFFFF"/>
                          </a:solidFill>
                          <a:latin typeface="Calibri"/>
                        </a:rPr>
                        <a:t>Six weeks each side</a:t>
                      </a:r>
                    </a:p>
                  </a:txBody>
                  <a:tcPr marL="101600" marR="101600" marT="38100" marB="38100" anchor="ctr">
                    <a:solidFill>
                      <a:srgbClr val="1A0F5C"/>
                    </a:solidFill>
                  </a:tcPr>
                </a:tc>
                <a:tc>
                  <a:txBody>
                    <a:bodyPr/>
                    <a:lstStyle/>
                    <a:p>
                      <a:r>
                        <a:rPr sz="950" b="1" i="0">
                          <a:solidFill>
                            <a:srgbClr val="FFFFFF"/>
                          </a:solidFill>
                          <a:latin typeface="Calibri"/>
                        </a:rPr>
                        <a:t>20 Jul to 30 Aug</a:t>
                      </a:r>
                    </a:p>
                  </a:txBody>
                  <a:tcPr marL="101600" marR="101600" marT="38100" marB="38100" anchor="ctr">
                    <a:solidFill>
                      <a:srgbClr val="1A0F5C"/>
                    </a:solidFill>
                  </a:tcPr>
                </a:tc>
                <a:tc>
                  <a:txBody>
                    <a:bodyPr/>
                    <a:lstStyle/>
                    <a:p>
                      <a:r>
                        <a:rPr sz="950" b="1" i="0">
                          <a:solidFill>
                            <a:srgbClr val="FFFFFF"/>
                          </a:solidFill>
                          <a:latin typeface="Calibri"/>
                        </a:rPr>
                        <a:t>31 Aug to 11 Oct</a:t>
                      </a:r>
                    </a:p>
                  </a:txBody>
                  <a:tcPr marL="101600" marR="101600" marT="38100" marB="38100" anchor="ctr">
                    <a:solidFill>
                      <a:srgbClr val="1A0F5C"/>
                    </a:solidFill>
                  </a:tcPr>
                </a:tc>
              </a:tr>
              <a:tr h="310896">
                <a:tc>
                  <a:txBody>
                    <a:bodyPr/>
                    <a:lstStyle/>
                    <a:p>
                      <a:r>
                        <a:rPr sz="900" b="0" i="0">
                          <a:solidFill>
                            <a:srgbClr val="1A1440"/>
                          </a:solidFill>
                          <a:latin typeface="Calibri"/>
                        </a:rPr>
                        <a:t>Peak online hours; completed peak trips</a:t>
                      </a:r>
                    </a:p>
                  </a:txBody>
                  <a:tcPr marL="101600" marR="101600" marT="38100" marB="38100" anchor="ctr">
                    <a:solidFill>
                      <a:srgbClr val="FFFFFF"/>
                    </a:solidFill>
                  </a:tcPr>
                </a:tc>
                <a:tc>
                  <a:txBody>
                    <a:bodyPr/>
                    <a:lstStyle/>
                    <a:p>
                      <a:r>
                        <a:rPr sz="900" b="0" i="0">
                          <a:solidFill>
                            <a:srgbClr val="1A1440"/>
                          </a:solidFill>
                          <a:latin typeface="Calibri"/>
                        </a:rPr>
                        <a:t>118,000; 224,200</a:t>
                      </a:r>
                    </a:p>
                  </a:txBody>
                  <a:tcPr marL="101600" marR="101600" marT="38100" marB="38100" anchor="ctr">
                    <a:solidFill>
                      <a:srgbClr val="FFFFFF"/>
                    </a:solidFill>
                  </a:tcPr>
                </a:tc>
                <a:tc>
                  <a:txBody>
                    <a:bodyPr/>
                    <a:lstStyle/>
                    <a:p>
                      <a:r>
                        <a:rPr sz="900" b="0" i="0">
                          <a:solidFill>
                            <a:srgbClr val="1A1440"/>
                          </a:solidFill>
                          <a:latin typeface="Calibri"/>
                        </a:rPr>
                        <a:t>146,300 (up 24%); 230,900 (up 3%)</a:t>
                      </a:r>
                    </a:p>
                  </a:txBody>
                  <a:tcPr marL="101600" marR="101600" marT="38100" marB="38100" anchor="ctr">
                    <a:solidFill>
                      <a:srgbClr val="FFFFFF"/>
                    </a:solidFill>
                  </a:tcPr>
                </a:tc>
              </a:tr>
              <a:tr h="310896">
                <a:tc>
                  <a:txBody>
                    <a:bodyPr/>
                    <a:lstStyle/>
                    <a:p>
                      <a:r>
                        <a:rPr sz="900" b="0" i="0">
                          <a:solidFill>
                            <a:srgbClr val="1A1440"/>
                          </a:solidFill>
                          <a:latin typeface="Calibri"/>
                        </a:rPr>
                        <a:t>Trips per peak online hour</a:t>
                      </a:r>
                    </a:p>
                  </a:txBody>
                  <a:tcPr marL="101600" marR="101600" marT="38100" marB="38100" anchor="ctr">
                    <a:solidFill>
                      <a:srgbClr val="F4F2FA"/>
                    </a:solidFill>
                  </a:tcPr>
                </a:tc>
                <a:tc>
                  <a:txBody>
                    <a:bodyPr/>
                    <a:lstStyle/>
                    <a:p>
                      <a:r>
                        <a:rPr sz="900" b="0" i="0">
                          <a:solidFill>
                            <a:srgbClr val="1A1440"/>
                          </a:solidFill>
                          <a:latin typeface="Calibri"/>
                        </a:rPr>
                        <a:t>1.90</a:t>
                      </a:r>
                    </a:p>
                  </a:txBody>
                  <a:tcPr marL="101600" marR="101600" marT="38100" marB="38100" anchor="ctr">
                    <a:solidFill>
                      <a:srgbClr val="F4F2FA"/>
                    </a:solidFill>
                  </a:tcPr>
                </a:tc>
                <a:tc>
                  <a:txBody>
                    <a:bodyPr/>
                    <a:lstStyle/>
                    <a:p>
                      <a:r>
                        <a:rPr sz="900" b="0" i="0">
                          <a:solidFill>
                            <a:srgbClr val="1A1440"/>
                          </a:solidFill>
                          <a:latin typeface="Calibri"/>
                        </a:rPr>
                        <a:t>1.58</a:t>
                      </a:r>
                    </a:p>
                  </a:txBody>
                  <a:tcPr marL="101600" marR="101600" marT="38100" marB="38100" anchor="ctr">
                    <a:solidFill>
                      <a:srgbClr val="F4F2FA"/>
                    </a:solidFill>
                  </a:tcPr>
                </a:tc>
              </a:tr>
              <a:tr h="310896">
                <a:tc>
                  <a:txBody>
                    <a:bodyPr/>
                    <a:lstStyle/>
                    <a:p>
                      <a:r>
                        <a:rPr sz="900" b="0" i="0">
                          <a:solidFill>
                            <a:srgbClr val="1A1440"/>
                          </a:solidFill>
                          <a:latin typeface="Calibri"/>
                        </a:rPr>
                        <a:t>Offers accepted; accepted, then cancelled by the driver</a:t>
                      </a:r>
                    </a:p>
                  </a:txBody>
                  <a:tcPr marL="101600" marR="101600" marT="38100" marB="38100" anchor="ctr">
                    <a:solidFill>
                      <a:srgbClr val="FFFFFF"/>
                    </a:solidFill>
                  </a:tcPr>
                </a:tc>
                <a:tc>
                  <a:txBody>
                    <a:bodyPr/>
                    <a:lstStyle/>
                    <a:p>
                      <a:r>
                        <a:rPr sz="900" b="0" i="0">
                          <a:solidFill>
                            <a:srgbClr val="1A1440"/>
                          </a:solidFill>
                          <a:latin typeface="Calibri"/>
                        </a:rPr>
                        <a:t>0.86; 0.04</a:t>
                      </a:r>
                    </a:p>
                  </a:txBody>
                  <a:tcPr marL="101600" marR="101600" marT="38100" marB="38100" anchor="ctr">
                    <a:solidFill>
                      <a:srgbClr val="FFFFFF"/>
                    </a:solidFill>
                  </a:tcPr>
                </a:tc>
                <a:tc>
                  <a:txBody>
                    <a:bodyPr/>
                    <a:lstStyle/>
                    <a:p>
                      <a:r>
                        <a:rPr sz="900" b="0" i="0">
                          <a:solidFill>
                            <a:srgbClr val="1A1440"/>
                          </a:solidFill>
                          <a:latin typeface="Calibri"/>
                        </a:rPr>
                        <a:t>0.73; 0.09</a:t>
                      </a:r>
                    </a:p>
                  </a:txBody>
                  <a:tcPr marL="101600" marR="101600" marT="38100" marB="38100" anchor="ctr">
                    <a:solidFill>
                      <a:srgbClr val="FFFFFF"/>
                    </a:solidFill>
                  </a:tcPr>
                </a:tc>
              </a:tr>
              <a:tr h="310896">
                <a:tc>
                  <a:txBody>
                    <a:bodyPr/>
                    <a:lstStyle/>
                    <a:p>
                      <a:r>
                        <a:rPr sz="900" b="0" i="0">
                          <a:solidFill>
                            <a:srgbClr val="1A1440"/>
                          </a:solidFill>
                          <a:latin typeface="Calibri"/>
                        </a:rPr>
                        <a:t>Online hours with no trip; median rider wait</a:t>
                      </a:r>
                    </a:p>
                  </a:txBody>
                  <a:tcPr marL="101600" marR="101600" marT="38100" marB="38100" anchor="ctr">
                    <a:solidFill>
                      <a:srgbClr val="F4F2FA"/>
                    </a:solidFill>
                  </a:tcPr>
                </a:tc>
                <a:tc>
                  <a:txBody>
                    <a:bodyPr/>
                    <a:lstStyle/>
                    <a:p>
                      <a:r>
                        <a:rPr sz="900" b="0" i="0">
                          <a:solidFill>
                            <a:srgbClr val="1A1440"/>
                          </a:solidFill>
                          <a:latin typeface="Calibri"/>
                        </a:rPr>
                        <a:t>0.22; 4.8 min</a:t>
                      </a:r>
                    </a:p>
                  </a:txBody>
                  <a:tcPr marL="101600" marR="101600" marT="38100" marB="38100" anchor="ctr">
                    <a:solidFill>
                      <a:srgbClr val="F4F2FA"/>
                    </a:solidFill>
                  </a:tcPr>
                </a:tc>
                <a:tc>
                  <a:txBody>
                    <a:bodyPr/>
                    <a:lstStyle/>
                    <a:p>
                      <a:r>
                        <a:rPr sz="900" b="0" i="0">
                          <a:solidFill>
                            <a:srgbClr val="1A1440"/>
                          </a:solidFill>
                          <a:latin typeface="Calibri"/>
                        </a:rPr>
                        <a:t>0.38; 4.6 min</a:t>
                      </a:r>
                    </a:p>
                  </a:txBody>
                  <a:tcPr marL="101600" marR="101600" marT="38100" marB="38100" anchor="ctr">
                    <a:solidFill>
                      <a:srgbClr val="F4F2FA"/>
                    </a:solidFill>
                  </a:tcPr>
                </a:tc>
              </a:tr>
              <a:tr h="310896">
                <a:tc>
                  <a:txBody>
                    <a:bodyPr/>
                    <a:lstStyle/>
                    <a:p>
                      <a:r>
                        <a:rPr sz="900" b="0" i="0">
                          <a:solidFill>
                            <a:srgbClr val="1A1440"/>
                          </a:solidFill>
                          <a:latin typeface="Calibri"/>
                        </a:rPr>
                        <a:t>Rider requests unfulfilled; top-up paid</a:t>
                      </a:r>
                    </a:p>
                  </a:txBody>
                  <a:tcPr marL="101600" marR="101600" marT="38100" marB="38100" anchor="ctr">
                    <a:solidFill>
                      <a:srgbClr val="FFFFFF"/>
                    </a:solidFill>
                  </a:tcPr>
                </a:tc>
                <a:tc>
                  <a:txBody>
                    <a:bodyPr/>
                    <a:lstStyle/>
                    <a:p>
                      <a:r>
                        <a:rPr sz="900" b="0" i="0">
                          <a:solidFill>
                            <a:srgbClr val="1A1440"/>
                          </a:solidFill>
                          <a:latin typeface="Calibri"/>
                        </a:rPr>
                        <a:t>0.11; Rs 0</a:t>
                      </a:r>
                    </a:p>
                  </a:txBody>
                  <a:tcPr marL="101600" marR="101600" marT="38100" marB="38100" anchor="ctr">
                    <a:solidFill>
                      <a:srgbClr val="FFFFFF"/>
                    </a:solidFill>
                  </a:tcPr>
                </a:tc>
                <a:tc>
                  <a:txBody>
                    <a:bodyPr/>
                    <a:lstStyle/>
                    <a:p>
                      <a:r>
                        <a:rPr sz="900" b="0" i="0">
                          <a:solidFill>
                            <a:srgbClr val="1A1440"/>
                          </a:solidFill>
                          <a:latin typeface="Calibri"/>
                        </a:rPr>
                        <a:t>0.10; Rs 1.9 crore</a:t>
                      </a:r>
                    </a:p>
                  </a:txBody>
                  <a:tcPr marL="101600" marR="101600" marT="38100" marB="38100" anchor="ctr">
                    <a:solidFill>
                      <a:srgbClr val="FFFFFF"/>
                    </a:solidFill>
                  </a:tcPr>
                </a:tc>
              </a:tr>
            </a:tbl>
          </a:graphicData>
        </a:graphic>
      </p:graphicFrame>
      <p:sp>
        <p:nvSpPr>
          <p:cNvPr id="13" name="Rounded Rectangle 12"/>
          <p:cNvSpPr/>
          <p:nvPr/>
        </p:nvSpPr>
        <p:spPr>
          <a:xfrm>
            <a:off x="530352" y="472363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485165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4842510"/>
            <a:ext cx="10564063" cy="624840"/>
          </a:xfrm>
          <a:prstGeom prst="rect">
            <a:avLst/>
          </a:prstGeom>
          <a:noFill/>
        </p:spPr>
        <p:txBody>
          <a:bodyPr wrap="square" anchor="ctr" lIns="0" rIns="0" tIns="0" bIns="0">
            <a:spAutoFit/>
          </a:bodyPr>
          <a:lstStyle/>
          <a:p>
            <a:r>
              <a:rPr sz="1000" b="1">
                <a:solidFill>
                  <a:srgbClr val="5B3FD6"/>
                </a:solidFill>
                <a:latin typeface="Calibri"/>
              </a:rPr>
              <a:t>Data: </a:t>
            </a:r>
            <a:r>
              <a:rPr sz="1000" b="0" i="0">
                <a:solidFill>
                  <a:srgbClr val="1A1440"/>
                </a:solidFill>
                <a:latin typeface="Calibri"/>
              </a:rPr>
              <a:t>drivers (1,200, 140 new), driver_weeks (hours, offers, accepted, cancels, trips, hours with no trip, bookings, top-up; a declined request is offered again, so it counts offers), zone_weeks (rider requests, fulfilled, median wait). </a:t>
            </a:r>
            <a:r>
              <a:rPr sz="1000" b="1" i="0">
                <a:solidFill>
                  <a:srgbClr val="1A1440"/>
                </a:solidFill>
                <a:latin typeface="Calibri"/>
              </a:rPr>
              <a:t>Ask, due Friday:</a:t>
            </a:r>
            <a:r>
              <a:rPr sz="1000" b="0" i="0">
                <a:solidFill>
                  <a:srgbClr val="1A1440"/>
                </a:solidFill>
                <a:latin typeface="Calibri"/>
              </a:rPr>
              <a:t> is it working, what should it pay for, is anyone gaming it? </a:t>
            </a:r>
            <a:r>
              <a:rPr sz="1000" b="1" i="0">
                <a:solidFill>
                  <a:srgbClr val="1A1440"/>
                </a:solidFill>
                <a:latin typeface="Calibri"/>
              </a:rPr>
              <a:t>Caveats:</a:t>
            </a:r>
            <a:r>
              <a:rPr sz="1000" b="0" i="0">
                <a:solidFill>
                  <a:srgbClr val="1A1440"/>
                </a:solidFill>
                <a:latin typeface="Calibri"/>
              </a:rPr>
              <a:t> the monsoon ended mid-window; 140 drivers are new; online means the app is open; three outer zones are thin; drivers can be on two apps.</a:t>
            </a:r>
          </a:p>
        </p:txBody>
      </p:sp>
      <p:sp>
        <p:nvSpPr>
          <p:cNvPr id="16" name="Rounded Rectangle 15"/>
          <p:cNvSpPr/>
          <p:nvPr/>
        </p:nvSpPr>
        <p:spPr>
          <a:xfrm>
            <a:off x="530352" y="5695950"/>
            <a:ext cx="45720" cy="3784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86384" y="5695950"/>
            <a:ext cx="10820095" cy="378460"/>
          </a:xfrm>
          <a:prstGeom prst="rect">
            <a:avLst/>
          </a:prstGeom>
          <a:noFill/>
        </p:spPr>
        <p:txBody>
          <a:bodyPr wrap="square" anchor="t" lIns="0" rIns="0" tIns="0" bIns="0">
            <a:spAutoFit/>
          </a:bodyPr>
          <a:lstStyle/>
          <a:p>
            <a:r>
              <a:rPr sz="1100" b="0" i="1">
                <a:solidFill>
                  <a:srgbClr val="1A0F5C"/>
                </a:solidFill>
                <a:latin typeface="Georgia"/>
              </a:rPr>
              <a:t>*Illustrative case: the company is real, the situation and the data are synthetic, built for this class.*</a:t>
            </a:r>
          </a:p>
        </p:txBody>
      </p:sp>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0" name="Oval 1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2" name="Oval 2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1 /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week: five tickets, one method a day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today's ticket sit among the week's five?</a:t>
            </a:r>
          </a:p>
        </p:txBody>
      </p:sp>
      <p:pic>
        <p:nvPicPr>
          <p:cNvPr id="9" name="mermaid diagram" descr="8470a97220d90526.png"/>
          <p:cNvPicPr>
            <a:picLocks noChangeAspect="1"/>
          </p:cNvPicPr>
          <p:nvPr/>
        </p:nvPicPr>
        <p:blipFill>
          <a:blip r:embed="rId5"/>
          <a:stretch>
            <a:fillRect/>
          </a:stretch>
        </p:blipFill>
        <p:spPr>
          <a:xfrm>
            <a:off x="1104184" y="1682496"/>
            <a:ext cx="9983326" cy="4517136"/>
          </a:xfrm>
          <a:prstGeom prst="rect">
            <a:avLst/>
          </a:prstGeom>
        </p:spPr>
      </p:pic>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2 /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today ends: one sentence and seven lines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will the room hand the city head when the morning is done?</a:t>
            </a:r>
          </a:p>
        </p:txBody>
      </p:sp>
      <p:sp>
        <p:nvSpPr>
          <p:cNvPr id="9" name="TextBox 8"/>
          <p:cNvSpPr txBox="1"/>
          <p:nvPr/>
        </p:nvSpPr>
        <p:spPr>
          <a:xfrm>
            <a:off x="530352" y="1887220"/>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By the close of the afternoon's first hour the room writes one sentence with its blanks filled from the data, and a definition of seven lines that three people who lose under it cannot break.</a:t>
            </a:r>
          </a:p>
        </p:txBody>
      </p:sp>
      <p:sp>
        <p:nvSpPr>
          <p:cNvPr id="10" name="Rounded Rectangle 9"/>
          <p:cNvSpPr/>
          <p:nvPr/>
        </p:nvSpPr>
        <p:spPr>
          <a:xfrm>
            <a:off x="530352" y="2787396"/>
            <a:ext cx="45720" cy="75184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6384" y="2787396"/>
            <a:ext cx="10820095" cy="751840"/>
          </a:xfrm>
          <a:prstGeom prst="rect">
            <a:avLst/>
          </a:prstGeom>
          <a:noFill/>
        </p:spPr>
        <p:txBody>
          <a:bodyPr wrap="square" anchor="t" lIns="0" rIns="0" tIns="0" bIns="0">
            <a:spAutoFit/>
          </a:bodyPr>
          <a:lstStyle/>
          <a:p>
            <a:r>
              <a:rPr sz="1600" b="0" i="1">
                <a:solidFill>
                  <a:srgbClr val="1A0F5C"/>
                </a:solidFill>
                <a:latin typeface="Georgia"/>
              </a:rPr>
              <a:t>"Pay for ________, guarded by ________ and ________, because paying for hours cost Rs ____ in six weeks for ________."</a:t>
            </a:r>
          </a:p>
        </p:txBody>
      </p:sp>
      <p:sp>
        <p:nvSpPr>
          <p:cNvPr id="12" name="Rectangle 11"/>
          <p:cNvSpPr/>
          <p:nvPr/>
        </p:nvSpPr>
        <p:spPr>
          <a:xfrm>
            <a:off x="1247045" y="4252467"/>
            <a:ext cx="9697603"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685540"/>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1</a:t>
            </a:r>
          </a:p>
        </p:txBody>
      </p:sp>
      <p:sp>
        <p:nvSpPr>
          <p:cNvPr id="14" name="Oval 13"/>
          <p:cNvSpPr/>
          <p:nvPr/>
        </p:nvSpPr>
        <p:spPr>
          <a:xfrm>
            <a:off x="1146461" y="4161027"/>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572508"/>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718812"/>
            <a:ext cx="1104203" cy="251205"/>
          </a:xfrm>
          <a:prstGeom prst="rect">
            <a:avLst/>
          </a:prstGeom>
          <a:noFill/>
        </p:spPr>
        <p:txBody>
          <a:bodyPr wrap="square" anchor="t" lIns="0" rIns="0" tIns="0" bIns="0">
            <a:spAutoFit/>
          </a:bodyPr>
          <a:lstStyle/>
          <a:p>
            <a:pPr algn="l"/>
            <a:r>
              <a:rPr sz="1300" b="1" i="0">
                <a:solidFill>
                  <a:srgbClr val="1A0F5C"/>
                </a:solidFill>
                <a:latin typeface="Calibri"/>
              </a:rPr>
              <a:t>Numerator</a:t>
            </a:r>
          </a:p>
        </p:txBody>
      </p:sp>
      <p:sp>
        <p:nvSpPr>
          <p:cNvPr id="17" name="TextBox 16"/>
          <p:cNvSpPr txBox="1"/>
          <p:nvPr/>
        </p:nvSpPr>
        <p:spPr>
          <a:xfrm>
            <a:off x="694944" y="5006594"/>
            <a:ext cx="1104203" cy="531876"/>
          </a:xfrm>
          <a:prstGeom prst="rect">
            <a:avLst/>
          </a:prstGeom>
          <a:noFill/>
        </p:spPr>
        <p:txBody>
          <a:bodyPr wrap="square" anchor="t" lIns="0" rIns="0" tIns="0" bIns="0">
            <a:spAutoFit/>
          </a:bodyPr>
          <a:lstStyle/>
          <a:p>
            <a:pPr algn="l"/>
            <a:r>
              <a:rPr sz="1000" b="0" i="0">
                <a:solidFill>
                  <a:srgbClr val="6B6690"/>
                </a:solidFill>
                <a:latin typeface="Calibri"/>
              </a:rPr>
              <a:t>What is counted, and when it counts</a:t>
            </a:r>
          </a:p>
        </p:txBody>
      </p:sp>
      <p:sp>
        <p:nvSpPr>
          <p:cNvPr id="18" name="TextBox 17"/>
          <p:cNvSpPr txBox="1"/>
          <p:nvPr/>
        </p:nvSpPr>
        <p:spPr>
          <a:xfrm>
            <a:off x="2146619" y="3685540"/>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2</a:t>
            </a:r>
          </a:p>
        </p:txBody>
      </p:sp>
      <p:sp>
        <p:nvSpPr>
          <p:cNvPr id="19" name="Oval 18"/>
          <p:cNvSpPr/>
          <p:nvPr/>
        </p:nvSpPr>
        <p:spPr>
          <a:xfrm>
            <a:off x="2762728" y="4161027"/>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146619" y="4572508"/>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311211" y="4718812"/>
            <a:ext cx="1104203" cy="251205"/>
          </a:xfrm>
          <a:prstGeom prst="rect">
            <a:avLst/>
          </a:prstGeom>
          <a:noFill/>
        </p:spPr>
        <p:txBody>
          <a:bodyPr wrap="square" anchor="t" lIns="0" rIns="0" tIns="0" bIns="0">
            <a:spAutoFit/>
          </a:bodyPr>
          <a:lstStyle/>
          <a:p>
            <a:pPr algn="l"/>
            <a:r>
              <a:rPr sz="1300" b="1" i="0">
                <a:solidFill>
                  <a:srgbClr val="1A0F5C"/>
                </a:solidFill>
                <a:latin typeface="Calibri"/>
              </a:rPr>
              <a:t>Denominator</a:t>
            </a:r>
          </a:p>
        </p:txBody>
      </p:sp>
      <p:sp>
        <p:nvSpPr>
          <p:cNvPr id="22" name="TextBox 21"/>
          <p:cNvSpPr txBox="1"/>
          <p:nvPr/>
        </p:nvSpPr>
        <p:spPr>
          <a:xfrm>
            <a:off x="2311211" y="5006594"/>
            <a:ext cx="1104203" cy="531876"/>
          </a:xfrm>
          <a:prstGeom prst="rect">
            <a:avLst/>
          </a:prstGeom>
          <a:noFill/>
        </p:spPr>
        <p:txBody>
          <a:bodyPr wrap="square" anchor="t" lIns="0" rIns="0" tIns="0" bIns="0">
            <a:spAutoFit/>
          </a:bodyPr>
          <a:lstStyle/>
          <a:p>
            <a:pPr algn="l"/>
            <a:r>
              <a:rPr sz="1000" b="0" i="0">
                <a:solidFill>
                  <a:srgbClr val="6B6690"/>
                </a:solidFill>
                <a:latin typeface="Calibri"/>
              </a:rPr>
              <a:t>Per whom, with the count printed beside the rate</a:t>
            </a:r>
          </a:p>
        </p:txBody>
      </p:sp>
      <p:sp>
        <p:nvSpPr>
          <p:cNvPr id="23" name="TextBox 22"/>
          <p:cNvSpPr txBox="1"/>
          <p:nvPr/>
        </p:nvSpPr>
        <p:spPr>
          <a:xfrm>
            <a:off x="3762886" y="3685540"/>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3</a:t>
            </a:r>
          </a:p>
        </p:txBody>
      </p:sp>
      <p:sp>
        <p:nvSpPr>
          <p:cNvPr id="24" name="Oval 23"/>
          <p:cNvSpPr/>
          <p:nvPr/>
        </p:nvSpPr>
        <p:spPr>
          <a:xfrm>
            <a:off x="4378996" y="4161027"/>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3762886" y="4572508"/>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927478" y="4718812"/>
            <a:ext cx="1104203" cy="251205"/>
          </a:xfrm>
          <a:prstGeom prst="rect">
            <a:avLst/>
          </a:prstGeom>
          <a:noFill/>
        </p:spPr>
        <p:txBody>
          <a:bodyPr wrap="square" anchor="t" lIns="0" rIns="0" tIns="0" bIns="0">
            <a:spAutoFit/>
          </a:bodyPr>
          <a:lstStyle/>
          <a:p>
            <a:pPr algn="l"/>
            <a:r>
              <a:rPr sz="1300" b="1" i="0">
                <a:solidFill>
                  <a:srgbClr val="1A0F5C"/>
                </a:solidFill>
                <a:latin typeface="Calibri"/>
              </a:rPr>
              <a:t>Window</a:t>
            </a:r>
          </a:p>
        </p:txBody>
      </p:sp>
      <p:sp>
        <p:nvSpPr>
          <p:cNvPr id="27" name="TextBox 26"/>
          <p:cNvSpPr txBox="1"/>
          <p:nvPr/>
        </p:nvSpPr>
        <p:spPr>
          <a:xfrm>
            <a:off x="3927478" y="5006594"/>
            <a:ext cx="1104203" cy="366776"/>
          </a:xfrm>
          <a:prstGeom prst="rect">
            <a:avLst/>
          </a:prstGeom>
          <a:noFill/>
        </p:spPr>
        <p:txBody>
          <a:bodyPr wrap="square" anchor="t" lIns="0" rIns="0" tIns="0" bIns="0">
            <a:spAutoFit/>
          </a:bodyPr>
          <a:lstStyle/>
          <a:p>
            <a:pPr algn="l"/>
            <a:r>
              <a:rPr sz="1000" b="0" i="0">
                <a:solidFill>
                  <a:srgbClr val="6B6690"/>
                </a:solidFill>
                <a:latin typeface="Calibri"/>
              </a:rPr>
              <a:t>Over which period</a:t>
            </a:r>
          </a:p>
        </p:txBody>
      </p:sp>
      <p:sp>
        <p:nvSpPr>
          <p:cNvPr id="28" name="TextBox 27"/>
          <p:cNvSpPr txBox="1"/>
          <p:nvPr/>
        </p:nvSpPr>
        <p:spPr>
          <a:xfrm>
            <a:off x="5379153" y="3685540"/>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4</a:t>
            </a:r>
          </a:p>
        </p:txBody>
      </p:sp>
      <p:sp>
        <p:nvSpPr>
          <p:cNvPr id="29" name="Oval 28"/>
          <p:cNvSpPr/>
          <p:nvPr/>
        </p:nvSpPr>
        <p:spPr>
          <a:xfrm>
            <a:off x="5995263" y="4161027"/>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5379153" y="4572508"/>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543745" y="4718812"/>
            <a:ext cx="1104203" cy="251205"/>
          </a:xfrm>
          <a:prstGeom prst="rect">
            <a:avLst/>
          </a:prstGeom>
          <a:noFill/>
        </p:spPr>
        <p:txBody>
          <a:bodyPr wrap="square" anchor="t" lIns="0" rIns="0" tIns="0" bIns="0">
            <a:spAutoFit/>
          </a:bodyPr>
          <a:lstStyle/>
          <a:p>
            <a:pPr algn="l"/>
            <a:r>
              <a:rPr sz="1300" b="1" i="0">
                <a:solidFill>
                  <a:srgbClr val="1A0F5C"/>
                </a:solidFill>
                <a:latin typeface="Calibri"/>
              </a:rPr>
              <a:t>Exclusions</a:t>
            </a:r>
          </a:p>
        </p:txBody>
      </p:sp>
      <p:sp>
        <p:nvSpPr>
          <p:cNvPr id="32" name="TextBox 31"/>
          <p:cNvSpPr txBox="1"/>
          <p:nvPr/>
        </p:nvSpPr>
        <p:spPr>
          <a:xfrm>
            <a:off x="5543745" y="5006594"/>
            <a:ext cx="1104203" cy="366776"/>
          </a:xfrm>
          <a:prstGeom prst="rect">
            <a:avLst/>
          </a:prstGeom>
          <a:noFill/>
        </p:spPr>
        <p:txBody>
          <a:bodyPr wrap="square" anchor="t" lIns="0" rIns="0" tIns="0" bIns="0">
            <a:spAutoFit/>
          </a:bodyPr>
          <a:lstStyle/>
          <a:p>
            <a:pPr algn="l"/>
            <a:r>
              <a:rPr sz="1000" b="0" i="0">
                <a:solidFill>
                  <a:srgbClr val="6B6690"/>
                </a:solidFill>
                <a:latin typeface="Calibri"/>
              </a:rPr>
              <a:t>What is left out on purpose</a:t>
            </a:r>
          </a:p>
        </p:txBody>
      </p:sp>
      <p:sp>
        <p:nvSpPr>
          <p:cNvPr id="33" name="TextBox 32"/>
          <p:cNvSpPr txBox="1"/>
          <p:nvPr/>
        </p:nvSpPr>
        <p:spPr>
          <a:xfrm>
            <a:off x="6995421" y="3685540"/>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5</a:t>
            </a:r>
          </a:p>
        </p:txBody>
      </p:sp>
      <p:sp>
        <p:nvSpPr>
          <p:cNvPr id="34" name="Oval 33"/>
          <p:cNvSpPr/>
          <p:nvPr/>
        </p:nvSpPr>
        <p:spPr>
          <a:xfrm>
            <a:off x="7611530" y="4161027"/>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6995421" y="4572508"/>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160013" y="4718812"/>
            <a:ext cx="1104203" cy="465836"/>
          </a:xfrm>
          <a:prstGeom prst="rect">
            <a:avLst/>
          </a:prstGeom>
          <a:noFill/>
        </p:spPr>
        <p:txBody>
          <a:bodyPr wrap="square" anchor="t" lIns="0" rIns="0" tIns="0" bIns="0">
            <a:spAutoFit/>
          </a:bodyPr>
          <a:lstStyle/>
          <a:p>
            <a:pPr algn="l"/>
            <a:r>
              <a:rPr sz="1300" b="1" i="0">
                <a:solidFill>
                  <a:srgbClr val="1A0F5C"/>
                </a:solidFill>
                <a:latin typeface="Calibri"/>
              </a:rPr>
              <a:t>What it does not reward</a:t>
            </a:r>
          </a:p>
        </p:txBody>
      </p:sp>
      <p:sp>
        <p:nvSpPr>
          <p:cNvPr id="37" name="TextBox 36"/>
          <p:cNvSpPr txBox="1"/>
          <p:nvPr/>
        </p:nvSpPr>
        <p:spPr>
          <a:xfrm>
            <a:off x="7160013" y="5221224"/>
            <a:ext cx="1104203" cy="531876"/>
          </a:xfrm>
          <a:prstGeom prst="rect">
            <a:avLst/>
          </a:prstGeom>
          <a:noFill/>
        </p:spPr>
        <p:txBody>
          <a:bodyPr wrap="square" anchor="t" lIns="0" rIns="0" tIns="0" bIns="0">
            <a:spAutoFit/>
          </a:bodyPr>
          <a:lstStyle/>
          <a:p>
            <a:pPr algn="l"/>
            <a:r>
              <a:rPr sz="1000" b="0" i="0">
                <a:solidFill>
                  <a:srgbClr val="6B6690"/>
                </a:solidFill>
                <a:latin typeface="Calibri"/>
              </a:rPr>
              <a:t>The behaviour it refuses to pay for</a:t>
            </a:r>
          </a:p>
        </p:txBody>
      </p:sp>
      <p:sp>
        <p:nvSpPr>
          <p:cNvPr id="38" name="TextBox 37"/>
          <p:cNvSpPr txBox="1"/>
          <p:nvPr/>
        </p:nvSpPr>
        <p:spPr>
          <a:xfrm>
            <a:off x="8611688" y="3685540"/>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6</a:t>
            </a:r>
          </a:p>
        </p:txBody>
      </p:sp>
      <p:sp>
        <p:nvSpPr>
          <p:cNvPr id="39" name="Oval 38"/>
          <p:cNvSpPr/>
          <p:nvPr/>
        </p:nvSpPr>
        <p:spPr>
          <a:xfrm>
            <a:off x="9227798" y="4161027"/>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8611688" y="4572508"/>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776280" y="4718812"/>
            <a:ext cx="1104203" cy="251205"/>
          </a:xfrm>
          <a:prstGeom prst="rect">
            <a:avLst/>
          </a:prstGeom>
          <a:noFill/>
        </p:spPr>
        <p:txBody>
          <a:bodyPr wrap="square" anchor="t" lIns="0" rIns="0" tIns="0" bIns="0">
            <a:spAutoFit/>
          </a:bodyPr>
          <a:lstStyle/>
          <a:p>
            <a:pPr algn="l"/>
            <a:r>
              <a:rPr sz="1300" b="1" i="0">
                <a:solidFill>
                  <a:srgbClr val="1A0F5C"/>
                </a:solidFill>
                <a:latin typeface="Calibri"/>
              </a:rPr>
              <a:t>Guardrails</a:t>
            </a:r>
          </a:p>
        </p:txBody>
      </p:sp>
      <p:sp>
        <p:nvSpPr>
          <p:cNvPr id="42" name="TextBox 41"/>
          <p:cNvSpPr txBox="1"/>
          <p:nvPr/>
        </p:nvSpPr>
        <p:spPr>
          <a:xfrm>
            <a:off x="8776280" y="5006594"/>
            <a:ext cx="1104203" cy="531876"/>
          </a:xfrm>
          <a:prstGeom prst="rect">
            <a:avLst/>
          </a:prstGeom>
          <a:noFill/>
        </p:spPr>
        <p:txBody>
          <a:bodyPr wrap="square" anchor="t" lIns="0" rIns="0" tIns="0" bIns="0">
            <a:spAutoFit/>
          </a:bodyPr>
          <a:lstStyle/>
          <a:p>
            <a:pPr algn="l"/>
            <a:r>
              <a:rPr sz="1000" b="0" i="0">
                <a:solidFill>
                  <a:srgbClr val="6B6690"/>
                </a:solidFill>
                <a:latin typeface="Calibri"/>
              </a:rPr>
              <a:t>The numbers that must not get worse</a:t>
            </a:r>
          </a:p>
        </p:txBody>
      </p:sp>
      <p:sp>
        <p:nvSpPr>
          <p:cNvPr id="43" name="TextBox 42"/>
          <p:cNvSpPr txBox="1"/>
          <p:nvPr/>
        </p:nvSpPr>
        <p:spPr>
          <a:xfrm>
            <a:off x="10227955" y="3685540"/>
            <a:ext cx="1433387" cy="168656"/>
          </a:xfrm>
          <a:prstGeom prst="rect">
            <a:avLst/>
          </a:prstGeom>
          <a:noFill/>
        </p:spPr>
        <p:txBody>
          <a:bodyPr wrap="square" anchor="t" lIns="0" rIns="0" tIns="0" bIns="0">
            <a:spAutoFit/>
          </a:bodyPr>
          <a:lstStyle/>
          <a:p>
            <a:pPr algn="ctr"/>
            <a:r>
              <a:rPr sz="800" b="1" i="0" spc="250">
                <a:solidFill>
                  <a:srgbClr val="5B3FD6"/>
                </a:solidFill>
                <a:latin typeface="Calibri"/>
              </a:rPr>
              <a:t>LINE 7</a:t>
            </a:r>
          </a:p>
        </p:txBody>
      </p:sp>
      <p:sp>
        <p:nvSpPr>
          <p:cNvPr id="44" name="Oval 43"/>
          <p:cNvSpPr/>
          <p:nvPr/>
        </p:nvSpPr>
        <p:spPr>
          <a:xfrm>
            <a:off x="10844065" y="4161027"/>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ounded Rectangle 44"/>
          <p:cNvSpPr/>
          <p:nvPr/>
        </p:nvSpPr>
        <p:spPr>
          <a:xfrm>
            <a:off x="10227955" y="4572508"/>
            <a:ext cx="1433387"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10392547" y="4718812"/>
            <a:ext cx="1104203" cy="251205"/>
          </a:xfrm>
          <a:prstGeom prst="rect">
            <a:avLst/>
          </a:prstGeom>
          <a:noFill/>
        </p:spPr>
        <p:txBody>
          <a:bodyPr wrap="square" anchor="t" lIns="0" rIns="0" tIns="0" bIns="0">
            <a:spAutoFit/>
          </a:bodyPr>
          <a:lstStyle/>
          <a:p>
            <a:pPr algn="l"/>
            <a:r>
              <a:rPr sz="1300" b="1" i="0">
                <a:solidFill>
                  <a:srgbClr val="1A0F5C"/>
                </a:solidFill>
                <a:latin typeface="Calibri"/>
              </a:rPr>
              <a:t>Gaming note</a:t>
            </a:r>
          </a:p>
        </p:txBody>
      </p:sp>
      <p:sp>
        <p:nvSpPr>
          <p:cNvPr id="47" name="TextBox 46"/>
          <p:cNvSpPr txBox="1"/>
          <p:nvPr/>
        </p:nvSpPr>
        <p:spPr>
          <a:xfrm>
            <a:off x="10392547" y="5006594"/>
            <a:ext cx="1104203" cy="696976"/>
          </a:xfrm>
          <a:prstGeom prst="rect">
            <a:avLst/>
          </a:prstGeom>
          <a:noFill/>
        </p:spPr>
        <p:txBody>
          <a:bodyPr wrap="square" anchor="t" lIns="0" rIns="0" tIns="0" bIns="0">
            <a:spAutoFit/>
          </a:bodyPr>
          <a:lstStyle/>
          <a:p>
            <a:pPr algn="l"/>
            <a:r>
              <a:rPr sz="1000" b="0" i="0">
                <a:solidFill>
                  <a:srgbClr val="6B6690"/>
                </a:solidFill>
                <a:latin typeface="Calibri"/>
              </a:rPr>
              <a:t>How each guardrail catches a way of hitting the number</a:t>
            </a:r>
          </a:p>
        </p:txBody>
      </p:sp>
      <p:sp>
        <p:nvSpPr>
          <p:cNvPr id="48" name="Oval 4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50" name="Oval 4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52" name="Oval 5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54" name="TextBox 5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3 /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day's board: four questions before paying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questions must a number answer before anyone is paid for it?</a:t>
            </a:r>
          </a:p>
        </p:txBody>
      </p:sp>
      <p:pic>
        <p:nvPicPr>
          <p:cNvPr id="9" name="mermaid diagram" descr="8b082f530e261213.png"/>
          <p:cNvPicPr>
            <a:picLocks noChangeAspect="1"/>
          </p:cNvPicPr>
          <p:nvPr/>
        </p:nvPicPr>
        <p:blipFill>
          <a:blip r:embed="rId5"/>
          <a:stretch>
            <a:fillRect/>
          </a:stretch>
        </p:blipFill>
        <p:spPr>
          <a:xfrm>
            <a:off x="3239109" y="1664208"/>
            <a:ext cx="5713476" cy="3808984"/>
          </a:xfrm>
          <a:prstGeom prst="rect">
            <a:avLst/>
          </a:prstGeom>
        </p:spPr>
      </p:pic>
      <p:sp>
        <p:nvSpPr>
          <p:cNvPr id="10" name="TextBox 9"/>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Each chapter fills one region of this board: chapter 1 answers what the number is for, chapter 2 how it rose while riders were served no better, chapter 3 what stops it.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4 / 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War game, round 1: three roles, three numbers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number does each of the city team's three roles want celebrated, and how could each rise while riders waited longer?</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car_2853f22980e2.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DRIVER-OPERATIONS LEAD</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Peak online hours</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Wants supply at peak, the city's oldest problem; hours rose 24 percent</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egaphone_df6318bcf2f9.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MARKETING LEAD</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Enrolled drivers</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The guarantee is the acquisition story; every sign-up counts</a:t>
            </a:r>
          </a:p>
        </p:txBody>
      </p:sp>
      <p:sp>
        <p:nvSpPr>
          <p:cNvPr id="21" name="Rounded Rectangle 20"/>
          <p:cNvSpPr/>
          <p:nvPr/>
        </p:nvSpPr>
        <p:spPr>
          <a:xfrm>
            <a:off x="807293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wallet_3a2d2f5ade12.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FINANCE PARTNER</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Top-up per trip</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Holds the budget; wants each rupee of top-up to buy a trip</a:t>
            </a:r>
          </a:p>
        </p:txBody>
      </p:sp>
      <p:sp>
        <p:nvSpPr>
          <p:cNvPr id="27" name="TextBox 26"/>
          <p:cNvSpPr txBox="1"/>
          <p:nvPr/>
        </p:nvSpPr>
        <p:spPr>
          <a:xfrm>
            <a:off x="530352" y="4104132"/>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The proxy test, three questions per number.</a:t>
            </a:r>
            <a:r>
              <a:rPr sz="1600" b="0" i="0">
                <a:solidFill>
                  <a:srgbClr val="1A1440"/>
                </a:solidFill>
                <a:latin typeface="Calibri"/>
              </a:rPr>
              <a:t> Could a team hit this number while riders waited longer? Who controls the count? What does the number deliberately not reward?</a:t>
            </a:r>
          </a:p>
        </p:txBody>
      </p:sp>
      <p:sp>
        <p:nvSpPr>
          <p:cNvPr id="28" name="Oval 2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30" name="Oval 2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32" name="Oval 31"/>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34" name="TextBox 3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5 / 40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does an hour count?</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What does "peak online hours up 24 percent" stand for, and what happened to six drivers counted by hand, before the city head celebrates it?</a:t>
            </a:r>
          </a:p>
        </p:txBody>
      </p:sp>
      <p:sp>
        <p:nvSpPr>
          <p:cNvPr id="10" name="Rounded Rectangle 9"/>
          <p:cNvSpPr/>
          <p:nvPr/>
        </p:nvSpPr>
        <p:spPr>
          <a:xfrm>
            <a:off x="731519"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does an hour count?</a:t>
            </a:r>
          </a:p>
        </p:txBody>
      </p:sp>
      <p:sp>
        <p:nvSpPr>
          <p:cNvPr id="11" name="Rounded Rectangle 10"/>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fall sit?</a:t>
            </a:r>
          </a:p>
        </p:txBody>
      </p:sp>
      <p:sp>
        <p:nvSpPr>
          <p:cNvPr id="12" name="Rounded Rectangle 11"/>
          <p:cNvSpPr/>
          <p:nvPr/>
        </p:nvSpPr>
        <p:spPr>
          <a:xfrm>
            <a:off x="4465646"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should it pay for?</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Is the number we pay for measuring what we want?</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6 / 40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number can a driver raise without driving?</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any data, which of four city numbers needs no rider at all to rise?</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Completed peak trips</a:t>
            </a:r>
          </a:p>
          <a:p>
            <a:pPr>
              <a:spcAft>
                <a:spcPts val="800"/>
              </a:spcAft>
            </a:pPr>
            <a:r>
              <a:rPr sz="1600" b="0" i="0">
                <a:solidFill>
                  <a:srgbClr val="1A1440"/>
                </a:solidFill>
                <a:latin typeface="Calibri"/>
              </a:rPr>
              <a:t>b) Peak online hours</a:t>
            </a:r>
          </a:p>
          <a:p>
            <a:pPr>
              <a:spcAft>
                <a:spcPts val="800"/>
              </a:spcAft>
            </a:pPr>
            <a:r>
              <a:rPr sz="1600" b="0" i="0">
                <a:solidFill>
                  <a:srgbClr val="1A1440"/>
                </a:solidFill>
                <a:latin typeface="Calibri"/>
              </a:rPr>
              <a:t>c) Offers accepted over offers shown</a:t>
            </a:r>
          </a:p>
          <a:p>
            <a:pPr>
              <a:spcAft>
                <a:spcPts val="800"/>
              </a:spcAft>
            </a:pPr>
            <a:r>
              <a:rPr sz="1600" b="0" i="0">
                <a:solidFill>
                  <a:srgbClr val="1A1440"/>
                </a:solidFill>
                <a:latin typeface="Calibri"/>
              </a:rPr>
              <a:t>d) Median rider wait at peak</a:t>
            </a:r>
          </a:p>
        </p:txBody>
      </p:sp>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7 /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hours, since the app counts it open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can peak online hours rise with no rider served?</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Answer: b. </a:t>
            </a:r>
            <a:r>
              <a:rPr sz="1500" b="0" i="0">
                <a:solidFill>
                  <a:srgbClr val="1A1440"/>
                </a:solidFill>
                <a:latin typeface="Calibri"/>
              </a:rPr>
              <a:t>The app logs a driver as online whenever the driver app is open and the driver is marked available, wherever the phone is: in traffic, at home, or parked in a zone with no riders. Trips need a rider who asked, accepted offers need an offer, and the wait is measured on riders. Hours need only an open app.</a:t>
            </a:r>
          </a:p>
        </p:txBody>
      </p:sp>
      <p:sp>
        <p:nvSpPr>
          <p:cNvPr id="12" name="TextBox 11"/>
          <p:cNvSpPr txBox="1"/>
          <p:nvPr/>
        </p:nvSpPr>
        <p:spPr>
          <a:xfrm>
            <a:off x="530352" y="3195828"/>
            <a:ext cx="11130991" cy="772160"/>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A proxy is a number that stands in for the thing somebody wants.</a:t>
            </a:r>
            <a:r>
              <a:rPr sz="1600" b="0" i="0">
                <a:solidFill>
                  <a:srgbClr val="1A1440"/>
                </a:solidFill>
                <a:latin typeface="Calibri"/>
              </a:rPr>
              <a:t> The city wants riders picked up faster; it counted hours because hours are easy to count.</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8 /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canteen paid per token: tokens double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a proxy drift once people are paid for it?</a:t>
            </a:r>
          </a:p>
        </p:txBody>
      </p:sp>
      <p:pic>
        <p:nvPicPr>
          <p:cNvPr id="9" name="mermaid diagram" descr="ef9354611f3c4382.png"/>
          <p:cNvPicPr>
            <a:picLocks noChangeAspect="1"/>
          </p:cNvPicPr>
          <p:nvPr/>
        </p:nvPicPr>
        <p:blipFill>
          <a:blip r:embed="rId5"/>
          <a:stretch>
            <a:fillRect/>
          </a:stretch>
        </p:blipFill>
        <p:spPr>
          <a:xfrm>
            <a:off x="530352" y="1956816"/>
            <a:ext cx="11130991" cy="1855165"/>
          </a:xfrm>
          <a:prstGeom prst="rect">
            <a:avLst/>
          </a:prstGeom>
        </p:spPr>
      </p:pic>
      <p:sp>
        <p:nvSpPr>
          <p:cNvPr id="10" name="Rounded Rectangle 9"/>
          <p:cNvSpPr/>
          <p:nvPr/>
        </p:nvSpPr>
        <p:spPr>
          <a:xfrm>
            <a:off x="530352" y="3958285"/>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86301"/>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77157"/>
            <a:ext cx="10564063" cy="891540"/>
          </a:xfrm>
          <a:prstGeom prst="rect">
            <a:avLst/>
          </a:prstGeom>
          <a:noFill/>
        </p:spPr>
        <p:txBody>
          <a:bodyPr wrap="square" anchor="ctr" lIns="0" rIns="0" tIns="0" bIns="0">
            <a:spAutoFit/>
          </a:bodyPr>
          <a:lstStyle/>
          <a:p>
            <a:r>
              <a:rPr sz="1500" b="1">
                <a:solidFill>
                  <a:srgbClr val="5B3FD6"/>
                </a:solidFill>
                <a:latin typeface="Calibri"/>
              </a:rPr>
              <a:t>The proxy test. </a:t>
            </a:r>
            <a:r>
              <a:rPr sz="1500" b="0" i="0">
                <a:solidFill>
                  <a:srgbClr val="1A1440"/>
                </a:solidFill>
                <a:latin typeface="Calibri"/>
              </a:rPr>
              <a:t>Could a team hit this number while the thing it stands for got worse, or stayed the same? The canteen's tokens fail it: tokens per plate went from 1.0 to 2.0 and no extra diner ate. The numbers are invented.</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9 /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Six drivers, two weeks, counted by hand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did six drivers' hours, offers and trips do between one week before and one week after?</a:t>
            </a:r>
          </a:p>
        </p:txBody>
      </p:sp>
      <p:graphicFrame>
        <p:nvGraphicFramePr>
          <p:cNvPr id="9" name="Table 8"/>
          <p:cNvGraphicFramePr>
            <a:graphicFrameLocks noGrp="1"/>
          </p:cNvGraphicFramePr>
          <p:nvPr/>
        </p:nvGraphicFramePr>
        <p:xfrm>
          <a:off x="530352" y="1956816"/>
          <a:ext cx="11130990" cy="2346960"/>
        </p:xfrm>
        <a:graphic>
          <a:graphicData uri="http://schemas.openxmlformats.org/drawingml/2006/table">
            <a:tbl>
              <a:tblPr firstRow="0" bandRow="0">
                <a:tableStyleId>{2D5ABB26-0587-4C30-8999-92F81FD0307C}</a:tableStyleId>
              </a:tblPr>
              <a:tblGrid>
                <a:gridCol w="914400"/>
                <a:gridCol w="1682953"/>
                <a:gridCol w="2804736"/>
                <a:gridCol w="2804736"/>
                <a:gridCol w="2924165"/>
              </a:tblGrid>
              <a:tr h="335280">
                <a:tc>
                  <a:txBody>
                    <a:bodyPr/>
                    <a:lstStyle/>
                    <a:p>
                      <a:r>
                        <a:rPr sz="1250" b="1" i="0">
                          <a:solidFill>
                            <a:srgbClr val="FFFFFF"/>
                          </a:solidFill>
                          <a:latin typeface="Calibri"/>
                        </a:rPr>
                        <a:t>Driver</a:t>
                      </a:r>
                    </a:p>
                  </a:txBody>
                  <a:tcPr marL="101600" marR="101600" marT="38100" marB="38100" anchor="ctr">
                    <a:solidFill>
                      <a:srgbClr val="1A0F5C"/>
                    </a:solidFill>
                  </a:tcPr>
                </a:tc>
                <a:tc>
                  <a:txBody>
                    <a:bodyPr/>
                    <a:lstStyle/>
                    <a:p>
                      <a:r>
                        <a:rPr sz="1250" b="1" i="0">
                          <a:solidFill>
                            <a:srgbClr val="FFFFFF"/>
                          </a:solidFill>
                          <a:latin typeface="Calibri"/>
                        </a:rPr>
                        <a:t>Zone</a:t>
                      </a:r>
                    </a:p>
                  </a:txBody>
                  <a:tcPr marL="101600" marR="101600" marT="38100" marB="38100" anchor="ctr">
                    <a:solidFill>
                      <a:srgbClr val="1A0F5C"/>
                    </a:solidFill>
                  </a:tcPr>
                </a:tc>
                <a:tc>
                  <a:txBody>
                    <a:bodyPr/>
                    <a:lstStyle/>
                    <a:p>
                      <a:r>
                        <a:rPr sz="1250" b="1" i="0">
                          <a:solidFill>
                            <a:srgbClr val="FFFFFF"/>
                          </a:solidFill>
                          <a:latin typeface="Calibri"/>
                        </a:rPr>
                        <a:t>Hours, before → after</a:t>
                      </a:r>
                    </a:p>
                  </a:txBody>
                  <a:tcPr marL="101600" marR="101600" marT="38100" marB="38100" anchor="ctr">
                    <a:solidFill>
                      <a:srgbClr val="1A0F5C"/>
                    </a:solidFill>
                  </a:tcPr>
                </a:tc>
                <a:tc>
                  <a:txBody>
                    <a:bodyPr/>
                    <a:lstStyle/>
                    <a:p>
                      <a:r>
                        <a:rPr sz="1250" b="1" i="0">
                          <a:solidFill>
                            <a:srgbClr val="FFFFFF"/>
                          </a:solidFill>
                          <a:latin typeface="Calibri"/>
                        </a:rPr>
                        <a:t>Trips, before → after</a:t>
                      </a:r>
                    </a:p>
                  </a:txBody>
                  <a:tcPr marL="101600" marR="101600" marT="38100" marB="38100" anchor="ctr">
                    <a:solidFill>
                      <a:srgbClr val="1A0F5C"/>
                    </a:solidFill>
                  </a:tcPr>
                </a:tc>
                <a:tc>
                  <a:txBody>
                    <a:bodyPr/>
                    <a:lstStyle/>
                    <a:p>
                      <a:r>
                        <a:rPr sz="1250" b="1" i="0">
                          <a:solidFill>
                            <a:srgbClr val="FFFFFF"/>
                          </a:solidFill>
                          <a:latin typeface="Calibri"/>
                        </a:rPr>
                        <a:t>Offers accepted, after</a:t>
                      </a:r>
                    </a:p>
                  </a:txBody>
                  <a:tcPr marL="101600" marR="101600" marT="38100" marB="38100" anchor="ctr">
                    <a:solidFill>
                      <a:srgbClr val="1A0F5C"/>
                    </a:solidFill>
                  </a:tcPr>
                </a:tc>
              </a:tr>
              <a:tr h="335280">
                <a:tc>
                  <a:txBody>
                    <a:bodyPr/>
                    <a:lstStyle/>
                    <a:p>
                      <a:r>
                        <a:rPr sz="1200" b="0" i="0">
                          <a:solidFill>
                            <a:srgbClr val="1A1440"/>
                          </a:solidFill>
                          <a:latin typeface="Calibri"/>
                        </a:rPr>
                        <a:t>A</a:t>
                      </a:r>
                    </a:p>
                  </a:txBody>
                  <a:tcPr marL="101600" marR="101600" marT="38100" marB="38100" anchor="ctr">
                    <a:solidFill>
                      <a:srgbClr val="FFFFFF"/>
                    </a:solidFill>
                  </a:tcPr>
                </a:tc>
                <a:tc>
                  <a:txBody>
                    <a:bodyPr/>
                    <a:lstStyle/>
                    <a:p>
                      <a:r>
                        <a:rPr sz="1200" b="0" i="0">
                          <a:solidFill>
                            <a:srgbClr val="1A1440"/>
                          </a:solidFill>
                          <a:latin typeface="Calibri"/>
                        </a:rPr>
                        <a:t>Jubilee Hills</a:t>
                      </a:r>
                    </a:p>
                  </a:txBody>
                  <a:tcPr marL="101600" marR="101600" marT="38100" marB="38100" anchor="ctr">
                    <a:solidFill>
                      <a:srgbClr val="FFFFFF"/>
                    </a:solidFill>
                  </a:tcPr>
                </a:tc>
                <a:tc>
                  <a:txBody>
                    <a:bodyPr/>
                    <a:lstStyle/>
                    <a:p>
                      <a:r>
                        <a:rPr sz="1200" b="0" i="0">
                          <a:solidFill>
                            <a:srgbClr val="1A1440"/>
                          </a:solidFill>
                          <a:latin typeface="Calibri"/>
                        </a:rPr>
                        <a:t>10 → 11</a:t>
                      </a:r>
                    </a:p>
                  </a:txBody>
                  <a:tcPr marL="101600" marR="101600" marT="38100" marB="38100" anchor="ctr">
                    <a:solidFill>
                      <a:srgbClr val="FFFFFF"/>
                    </a:solidFill>
                  </a:tcPr>
                </a:tc>
                <a:tc>
                  <a:txBody>
                    <a:bodyPr/>
                    <a:lstStyle/>
                    <a:p>
                      <a:r>
                        <a:rPr sz="1200" b="0" i="0">
                          <a:solidFill>
                            <a:srgbClr val="1A1440"/>
                          </a:solidFill>
                          <a:latin typeface="Calibri"/>
                        </a:rPr>
                        <a:t>21 → 22</a:t>
                      </a:r>
                    </a:p>
                  </a:txBody>
                  <a:tcPr marL="101600" marR="101600" marT="38100" marB="38100" anchor="ctr">
                    <a:solidFill>
                      <a:srgbClr val="FFFFFF"/>
                    </a:solidFill>
                  </a:tcPr>
                </a:tc>
                <a:tc>
                  <a:txBody>
                    <a:bodyPr/>
                    <a:lstStyle/>
                    <a:p>
                      <a:r>
                        <a:rPr sz="1200" b="0" i="0">
                          <a:solidFill>
                            <a:srgbClr val="1A1440"/>
                          </a:solidFill>
                          <a:latin typeface="Calibri"/>
                        </a:rPr>
                        <a:t>22 of 25</a:t>
                      </a:r>
                    </a:p>
                  </a:txBody>
                  <a:tcPr marL="101600" marR="101600" marT="38100" marB="38100" anchor="ctr">
                    <a:solidFill>
                      <a:srgbClr val="FFFFFF"/>
                    </a:solidFill>
                  </a:tcPr>
                </a:tc>
              </a:tr>
              <a:tr h="335280">
                <a:tc>
                  <a:txBody>
                    <a:bodyPr/>
                    <a:lstStyle/>
                    <a:p>
                      <a:r>
                        <a:rPr sz="1200" b="0" i="0">
                          <a:solidFill>
                            <a:srgbClr val="1A1440"/>
                          </a:solidFill>
                          <a:latin typeface="Calibri"/>
                        </a:rPr>
                        <a:t>B</a:t>
                      </a:r>
                    </a:p>
                  </a:txBody>
                  <a:tcPr marL="101600" marR="101600" marT="38100" marB="38100" anchor="ctr">
                    <a:solidFill>
                      <a:srgbClr val="F4F2FA"/>
                    </a:solidFill>
                  </a:tcPr>
                </a:tc>
                <a:tc>
                  <a:txBody>
                    <a:bodyPr/>
                    <a:lstStyle/>
                    <a:p>
                      <a:r>
                        <a:rPr sz="1200" b="0" i="0">
                          <a:solidFill>
                            <a:srgbClr val="1A1440"/>
                          </a:solidFill>
                          <a:latin typeface="Calibri"/>
                        </a:rPr>
                        <a:t>Banjara Hills</a:t>
                      </a:r>
                    </a:p>
                  </a:txBody>
                  <a:tcPr marL="101600" marR="101600" marT="38100" marB="38100" anchor="ctr">
                    <a:solidFill>
                      <a:srgbClr val="F4F2FA"/>
                    </a:solidFill>
                  </a:tcPr>
                </a:tc>
                <a:tc>
                  <a:txBody>
                    <a:bodyPr/>
                    <a:lstStyle/>
                    <a:p>
                      <a:r>
                        <a:rPr sz="1200" b="0" i="0">
                          <a:solidFill>
                            <a:srgbClr val="1A1440"/>
                          </a:solidFill>
                          <a:latin typeface="Calibri"/>
                        </a:rPr>
                        <a:t>9 → 10</a:t>
                      </a:r>
                    </a:p>
                  </a:txBody>
                  <a:tcPr marL="101600" marR="101600" marT="38100" marB="38100" anchor="ctr">
                    <a:solidFill>
                      <a:srgbClr val="F4F2FA"/>
                    </a:solidFill>
                  </a:tcPr>
                </a:tc>
                <a:tc>
                  <a:txBody>
                    <a:bodyPr/>
                    <a:lstStyle/>
                    <a:p>
                      <a:r>
                        <a:rPr sz="1200" b="0" i="0">
                          <a:solidFill>
                            <a:srgbClr val="1A1440"/>
                          </a:solidFill>
                          <a:latin typeface="Calibri"/>
                        </a:rPr>
                        <a:t>17 → 18</a:t>
                      </a:r>
                    </a:p>
                  </a:txBody>
                  <a:tcPr marL="101600" marR="101600" marT="38100" marB="38100" anchor="ctr">
                    <a:solidFill>
                      <a:srgbClr val="F4F2FA"/>
                    </a:solidFill>
                  </a:tcPr>
                </a:tc>
                <a:tc>
                  <a:txBody>
                    <a:bodyPr/>
                    <a:lstStyle/>
                    <a:p>
                      <a:r>
                        <a:rPr sz="1200" b="0" i="0">
                          <a:solidFill>
                            <a:srgbClr val="1A1440"/>
                          </a:solidFill>
                          <a:latin typeface="Calibri"/>
                        </a:rPr>
                        <a:t>18 of 21</a:t>
                      </a:r>
                    </a:p>
                  </a:txBody>
                  <a:tcPr marL="101600" marR="101600" marT="38100" marB="38100" anchor="ctr">
                    <a:solidFill>
                      <a:srgbClr val="F4F2FA"/>
                    </a:solidFill>
                  </a:tcPr>
                </a:tc>
              </a:tr>
              <a:tr h="335280">
                <a:tc>
                  <a:txBody>
                    <a:bodyPr/>
                    <a:lstStyle/>
                    <a:p>
                      <a:r>
                        <a:rPr sz="1200" b="0" i="0">
                          <a:solidFill>
                            <a:srgbClr val="1A1440"/>
                          </a:solidFill>
                          <a:latin typeface="Calibri"/>
                        </a:rPr>
                        <a:t>C</a:t>
                      </a:r>
                    </a:p>
                  </a:txBody>
                  <a:tcPr marL="101600" marR="101600" marT="38100" marB="38100" anchor="ctr">
                    <a:solidFill>
                      <a:srgbClr val="FFFFFF"/>
                    </a:solidFill>
                  </a:tcPr>
                </a:tc>
                <a:tc>
                  <a:txBody>
                    <a:bodyPr/>
                    <a:lstStyle/>
                    <a:p>
                      <a:r>
                        <a:rPr sz="1200" b="0" i="0">
                          <a:solidFill>
                            <a:srgbClr val="1A1440"/>
                          </a:solidFill>
                          <a:latin typeface="Calibri"/>
                        </a:rPr>
                        <a:t>Gachibowli</a:t>
                      </a:r>
                    </a:p>
                  </a:txBody>
                  <a:tcPr marL="101600" marR="101600" marT="38100" marB="38100" anchor="ctr">
                    <a:solidFill>
                      <a:srgbClr val="FFFFFF"/>
                    </a:solidFill>
                  </a:tcPr>
                </a:tc>
                <a:tc>
                  <a:txBody>
                    <a:bodyPr/>
                    <a:lstStyle/>
                    <a:p>
                      <a:r>
                        <a:rPr sz="1200" b="0" i="0">
                          <a:solidFill>
                            <a:srgbClr val="1A1440"/>
                          </a:solidFill>
                          <a:latin typeface="Calibri"/>
                        </a:rPr>
                        <a:t>11 → 12</a:t>
                      </a:r>
                    </a:p>
                  </a:txBody>
                  <a:tcPr marL="101600" marR="101600" marT="38100" marB="38100" anchor="ctr">
                    <a:solidFill>
                      <a:srgbClr val="FFFFFF"/>
                    </a:solidFill>
                  </a:tcPr>
                </a:tc>
                <a:tc>
                  <a:txBody>
                    <a:bodyPr/>
                    <a:lstStyle/>
                    <a:p>
                      <a:r>
                        <a:rPr sz="1200" b="0" i="0">
                          <a:solidFill>
                            <a:srgbClr val="1A1440"/>
                          </a:solidFill>
                          <a:latin typeface="Calibri"/>
                        </a:rPr>
                        <a:t>22 → 23</a:t>
                      </a:r>
                    </a:p>
                  </a:txBody>
                  <a:tcPr marL="101600" marR="101600" marT="38100" marB="38100" anchor="ctr">
                    <a:solidFill>
                      <a:srgbClr val="FFFFFF"/>
                    </a:solidFill>
                  </a:tcPr>
                </a:tc>
                <a:tc>
                  <a:txBody>
                    <a:bodyPr/>
                    <a:lstStyle/>
                    <a:p>
                      <a:r>
                        <a:rPr sz="1200" b="0" i="0">
                          <a:solidFill>
                            <a:srgbClr val="1A1440"/>
                          </a:solidFill>
                          <a:latin typeface="Calibri"/>
                        </a:rPr>
                        <a:t>23 of 26</a:t>
                      </a:r>
                    </a:p>
                  </a:txBody>
                  <a:tcPr marL="101600" marR="101600" marT="38100" marB="38100" anchor="ctr">
                    <a:solidFill>
                      <a:srgbClr val="FFFFFF"/>
                    </a:solidFill>
                  </a:tcPr>
                </a:tc>
              </a:tr>
              <a:tr h="335280">
                <a:tc>
                  <a:txBody>
                    <a:bodyPr/>
                    <a:lstStyle/>
                    <a:p>
                      <a:r>
                        <a:rPr sz="1200" b="0" i="0">
                          <a:solidFill>
                            <a:srgbClr val="1A1440"/>
                          </a:solidFill>
                          <a:latin typeface="Calibri"/>
                        </a:rPr>
                        <a:t>D</a:t>
                      </a:r>
                    </a:p>
                  </a:txBody>
                  <a:tcPr marL="101600" marR="101600" marT="38100" marB="38100" anchor="ctr">
                    <a:solidFill>
                      <a:srgbClr val="F4F2FA"/>
                    </a:solidFill>
                  </a:tcPr>
                </a:tc>
                <a:tc>
                  <a:txBody>
                    <a:bodyPr/>
                    <a:lstStyle/>
                    <a:p>
                      <a:r>
                        <a:rPr sz="1200" b="0" i="0">
                          <a:solidFill>
                            <a:srgbClr val="1A1440"/>
                          </a:solidFill>
                          <a:latin typeface="Calibri"/>
                        </a:rPr>
                        <a:t>Madhapur</a:t>
                      </a:r>
                    </a:p>
                  </a:txBody>
                  <a:tcPr marL="101600" marR="101600" marT="38100" marB="38100" anchor="ctr">
                    <a:solidFill>
                      <a:srgbClr val="F4F2FA"/>
                    </a:solidFill>
                  </a:tcPr>
                </a:tc>
                <a:tc>
                  <a:txBody>
                    <a:bodyPr/>
                    <a:lstStyle/>
                    <a:p>
                      <a:r>
                        <a:rPr sz="1200" b="0" i="0">
                          <a:solidFill>
                            <a:srgbClr val="1A1440"/>
                          </a:solidFill>
                          <a:latin typeface="Calibri"/>
                        </a:rPr>
                        <a:t>10 → 11</a:t>
                      </a:r>
                    </a:p>
                  </a:txBody>
                  <a:tcPr marL="101600" marR="101600" marT="38100" marB="38100" anchor="ctr">
                    <a:solidFill>
                      <a:srgbClr val="F4F2FA"/>
                    </a:solidFill>
                  </a:tcPr>
                </a:tc>
                <a:tc>
                  <a:txBody>
                    <a:bodyPr/>
                    <a:lstStyle/>
                    <a:p>
                      <a:r>
                        <a:rPr sz="1200" b="0" i="0">
                          <a:solidFill>
                            <a:srgbClr val="1A1440"/>
                          </a:solidFill>
                          <a:latin typeface="Calibri"/>
                        </a:rPr>
                        <a:t>19 → 20</a:t>
                      </a:r>
                    </a:p>
                  </a:txBody>
                  <a:tcPr marL="101600" marR="101600" marT="38100" marB="38100" anchor="ctr">
                    <a:solidFill>
                      <a:srgbClr val="F4F2FA"/>
                    </a:solidFill>
                  </a:tcPr>
                </a:tc>
                <a:tc>
                  <a:txBody>
                    <a:bodyPr/>
                    <a:lstStyle/>
                    <a:p>
                      <a:r>
                        <a:rPr sz="1200" b="0" i="0">
                          <a:solidFill>
                            <a:srgbClr val="1A1440"/>
                          </a:solidFill>
                          <a:latin typeface="Calibri"/>
                        </a:rPr>
                        <a:t>20 of 23</a:t>
                      </a:r>
                    </a:p>
                  </a:txBody>
                  <a:tcPr marL="101600" marR="101600" marT="38100" marB="38100" anchor="ctr">
                    <a:solidFill>
                      <a:srgbClr val="F4F2FA"/>
                    </a:solidFill>
                  </a:tcPr>
                </a:tc>
              </a:tr>
              <a:tr h="335280">
                <a:tc>
                  <a:txBody>
                    <a:bodyPr/>
                    <a:lstStyle/>
                    <a:p>
                      <a:r>
                        <a:rPr sz="1200" b="0" i="0">
                          <a:solidFill>
                            <a:srgbClr val="1A1440"/>
                          </a:solidFill>
                          <a:latin typeface="Calibri"/>
                        </a:rPr>
                        <a:t>E</a:t>
                      </a:r>
                    </a:p>
                  </a:txBody>
                  <a:tcPr marL="101600" marR="101600" marT="38100" marB="38100" anchor="ctr">
                    <a:solidFill>
                      <a:srgbClr val="FFFFFF"/>
                    </a:solidFill>
                  </a:tcPr>
                </a:tc>
                <a:tc>
                  <a:txBody>
                    <a:bodyPr/>
                    <a:lstStyle/>
                    <a:p>
                      <a:r>
                        <a:rPr sz="1200" b="0" i="0">
                          <a:solidFill>
                            <a:srgbClr val="1A1440"/>
                          </a:solidFill>
                          <a:latin typeface="Calibri"/>
                        </a:rPr>
                        <a:t>Shamshabad</a:t>
                      </a:r>
                    </a:p>
                  </a:txBody>
                  <a:tcPr marL="101600" marR="101600" marT="38100" marB="38100" anchor="ctr">
                    <a:solidFill>
                      <a:srgbClr val="FFFFFF"/>
                    </a:solidFill>
                  </a:tcPr>
                </a:tc>
                <a:tc>
                  <a:txBody>
                    <a:bodyPr/>
                    <a:lstStyle/>
                    <a:p>
                      <a:r>
                        <a:rPr sz="1200" b="0" i="0">
                          <a:solidFill>
                            <a:srgbClr val="1A1440"/>
                          </a:solidFill>
                          <a:latin typeface="Calibri"/>
                        </a:rPr>
                        <a:t>10 → 16</a:t>
                      </a:r>
                    </a:p>
                  </a:txBody>
                  <a:tcPr marL="101600" marR="101600" marT="38100" marB="38100" anchor="ctr">
                    <a:solidFill>
                      <a:srgbClr val="FFFFFF"/>
                    </a:solidFill>
                  </a:tcPr>
                </a:tc>
                <a:tc>
                  <a:txBody>
                    <a:bodyPr/>
                    <a:lstStyle/>
                    <a:p>
                      <a:r>
                        <a:rPr sz="1200" b="0" i="0">
                          <a:solidFill>
                            <a:srgbClr val="1A1440"/>
                          </a:solidFill>
                          <a:latin typeface="Calibri"/>
                        </a:rPr>
                        <a:t>18 → 3</a:t>
                      </a:r>
                    </a:p>
                  </a:txBody>
                  <a:tcPr marL="101600" marR="101600" marT="38100" marB="38100" anchor="ctr">
                    <a:solidFill>
                      <a:srgbClr val="FFFFFF"/>
                    </a:solidFill>
                  </a:tcPr>
                </a:tc>
                <a:tc>
                  <a:txBody>
                    <a:bodyPr/>
                    <a:lstStyle/>
                    <a:p>
                      <a:r>
                        <a:rPr sz="1200" b="0" i="0">
                          <a:solidFill>
                            <a:srgbClr val="1A1440"/>
                          </a:solidFill>
                          <a:latin typeface="Calibri"/>
                        </a:rPr>
                        <a:t>4 of 14</a:t>
                      </a:r>
                    </a:p>
                  </a:txBody>
                  <a:tcPr marL="101600" marR="101600" marT="38100" marB="38100" anchor="ctr">
                    <a:solidFill>
                      <a:srgbClr val="FFFFFF"/>
                    </a:solidFill>
                  </a:tcPr>
                </a:tc>
              </a:tr>
              <a:tr h="335280">
                <a:tc>
                  <a:txBody>
                    <a:bodyPr/>
                    <a:lstStyle/>
                    <a:p>
                      <a:r>
                        <a:rPr sz="1200" b="0" i="0">
                          <a:solidFill>
                            <a:srgbClr val="1A1440"/>
                          </a:solidFill>
                          <a:latin typeface="Calibri"/>
                        </a:rPr>
                        <a:t>F</a:t>
                      </a:r>
                    </a:p>
                  </a:txBody>
                  <a:tcPr marL="101600" marR="101600" marT="38100" marB="38100" anchor="ctr">
                    <a:solidFill>
                      <a:srgbClr val="F4F2FA"/>
                    </a:solidFill>
                  </a:tcPr>
                </a:tc>
                <a:tc>
                  <a:txBody>
                    <a:bodyPr/>
                    <a:lstStyle/>
                    <a:p>
                      <a:r>
                        <a:rPr sz="1200" b="0" i="0">
                          <a:solidFill>
                            <a:srgbClr val="1A1440"/>
                          </a:solidFill>
                          <a:latin typeface="Calibri"/>
                        </a:rPr>
                        <a:t>Rajendranagar</a:t>
                      </a:r>
                    </a:p>
                  </a:txBody>
                  <a:tcPr marL="101600" marR="101600" marT="38100" marB="38100" anchor="ctr">
                    <a:solidFill>
                      <a:srgbClr val="F4F2FA"/>
                    </a:solidFill>
                  </a:tcPr>
                </a:tc>
                <a:tc>
                  <a:txBody>
                    <a:bodyPr/>
                    <a:lstStyle/>
                    <a:p>
                      <a:r>
                        <a:rPr sz="1200" b="0" i="0">
                          <a:solidFill>
                            <a:srgbClr val="1A1440"/>
                          </a:solidFill>
                          <a:latin typeface="Calibri"/>
                        </a:rPr>
                        <a:t>10 → 14</a:t>
                      </a:r>
                    </a:p>
                  </a:txBody>
                  <a:tcPr marL="101600" marR="101600" marT="38100" marB="38100" anchor="ctr">
                    <a:solidFill>
                      <a:srgbClr val="F4F2FA"/>
                    </a:solidFill>
                  </a:tcPr>
                </a:tc>
                <a:tc>
                  <a:txBody>
                    <a:bodyPr/>
                    <a:lstStyle/>
                    <a:p>
                      <a:r>
                        <a:rPr sz="1200" b="0" i="0">
                          <a:solidFill>
                            <a:srgbClr val="1A1440"/>
                          </a:solidFill>
                          <a:latin typeface="Calibri"/>
                        </a:rPr>
                        <a:t>17 → 2</a:t>
                      </a:r>
                    </a:p>
                  </a:txBody>
                  <a:tcPr marL="101600" marR="101600" marT="38100" marB="38100" anchor="ctr">
                    <a:solidFill>
                      <a:srgbClr val="F4F2FA"/>
                    </a:solidFill>
                  </a:tcPr>
                </a:tc>
                <a:tc>
                  <a:txBody>
                    <a:bodyPr/>
                    <a:lstStyle/>
                    <a:p>
                      <a:r>
                        <a:rPr sz="1200" b="0" i="0">
                          <a:solidFill>
                            <a:srgbClr val="1A1440"/>
                          </a:solidFill>
                          <a:latin typeface="Calibri"/>
                        </a:rPr>
                        <a:t>3 of 12</a:t>
                      </a:r>
                    </a:p>
                  </a:txBody>
                  <a:tcPr marL="101600" marR="101600" marT="38100" marB="38100" anchor="ctr">
                    <a:solidFill>
                      <a:srgbClr val="F4F2FA"/>
                    </a:solidFill>
                  </a:tcPr>
                </a:tc>
              </a:tr>
            </a:tbl>
          </a:graphicData>
        </a:graphic>
      </p:graphicFrame>
      <p:sp>
        <p:nvSpPr>
          <p:cNvPr id="10" name="TextBox 9"/>
          <p:cNvSpPr txBox="1"/>
          <p:nvPr/>
        </p:nvSpPr>
        <p:spPr>
          <a:xfrm>
            <a:off x="530352" y="455980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before week begins 10 August 2026 and the after week 21 September 2026. These are twelve real rows of driver_weeks.</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10 / 40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trips per hour do on the six?</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Before dividing, what will trips per peak online hour do on the six drivers?</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Holds near 1.9</a:t>
            </a:r>
          </a:p>
          <a:p>
            <a:pPr>
              <a:spcAft>
                <a:spcPts val="800"/>
              </a:spcAft>
            </a:pPr>
            <a:r>
              <a:rPr sz="1600" b="0" i="0">
                <a:solidFill>
                  <a:srgbClr val="1A1440"/>
                </a:solidFill>
                <a:latin typeface="Calibri"/>
              </a:rPr>
              <a:t>b) Falls to about 1.6, as the city's did</a:t>
            </a:r>
          </a:p>
          <a:p>
            <a:pPr>
              <a:spcAft>
                <a:spcPts val="800"/>
              </a:spcAft>
            </a:pPr>
            <a:r>
              <a:rPr sz="1600" b="0" i="0">
                <a:solidFill>
                  <a:srgbClr val="1A1440"/>
                </a:solidFill>
                <a:latin typeface="Calibri"/>
              </a:rPr>
              <a:t>c) Falls to about 1.2</a:t>
            </a:r>
          </a:p>
          <a:p>
            <a:pPr>
              <a:spcAft>
                <a:spcPts val="800"/>
              </a:spcAft>
            </a:pPr>
            <a:r>
              <a:rPr sz="1600" b="0" i="0">
                <a:solidFill>
                  <a:srgbClr val="1A1440"/>
                </a:solidFill>
                <a:latin typeface="Calibri"/>
              </a:rPr>
              <a:t>d) Rises above 2.0</a:t>
            </a:r>
          </a:p>
        </p:txBody>
      </p:sp>
      <p:sp>
        <p:nvSpPr>
          <p:cNvPr id="10" name="Oval 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11 / 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1.90 before, 1.19 after, by hand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is the ratio counted, and why do the six fall further than the city's 1.58?</a:t>
            </a:r>
          </a:p>
        </p:txBody>
      </p:sp>
      <p:pic>
        <p:nvPicPr>
          <p:cNvPr id="9" name="mermaid diagram" descr="9dc97cb1fa8c8e3a.png"/>
          <p:cNvPicPr>
            <a:picLocks noChangeAspect="1"/>
          </p:cNvPicPr>
          <p:nvPr/>
        </p:nvPicPr>
        <p:blipFill>
          <a:blip r:embed="rId5"/>
          <a:stretch>
            <a:fillRect/>
          </a:stretch>
        </p:blipFill>
        <p:spPr>
          <a:xfrm>
            <a:off x="3102616" y="1956816"/>
            <a:ext cx="5986462" cy="1800225"/>
          </a:xfrm>
          <a:prstGeom prst="rect">
            <a:avLst/>
          </a:prstGeom>
        </p:spPr>
      </p:pic>
      <p:sp>
        <p:nvSpPr>
          <p:cNvPr id="10" name="Rounded Rectangle 9"/>
          <p:cNvSpPr/>
          <p:nvPr/>
        </p:nvSpPr>
        <p:spPr>
          <a:xfrm>
            <a:off x="530352" y="3903345"/>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031360"/>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022217"/>
            <a:ext cx="10564063" cy="1158240"/>
          </a:xfrm>
          <a:prstGeom prst="rect">
            <a:avLst/>
          </a:prstGeom>
          <a:noFill/>
        </p:spPr>
        <p:txBody>
          <a:bodyPr wrap="square" anchor="ctr" lIns="0" rIns="0" tIns="0" bIns="0">
            <a:spAutoFit/>
          </a:bodyPr>
          <a:lstStyle/>
          <a:p>
            <a:r>
              <a:rPr sz="1500" b="1">
                <a:solidFill>
                  <a:srgbClr val="5B3FD6"/>
                </a:solidFill>
                <a:latin typeface="Calibri"/>
              </a:rPr>
              <a:t>Answer: c. </a:t>
            </a:r>
            <a:r>
              <a:rPr sz="1500" b="0" i="0">
                <a:solidFill>
                  <a:srgbClr val="1A1440"/>
                </a:solidFill>
                <a:latin typeface="Calibri"/>
              </a:rPr>
              <a:t>Hours rose 23 percent and trips fell 23 percent, so trips per peak online hour fell from 1.90 to 1.19: add the trips, add the hours, divide once. The city fell to 1.58; the six fall further because they were chosen to show the mechanism, and two of them, E and F, logged hours with almost no trips, a third of this sample. How common such drivers are in the city is chapter 2's question.</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7" name="Oval 1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12 /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Wells Fargo paid for accounts nobody used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when a company pays its people for a number that does not require the thing it stands for?</a:t>
            </a:r>
          </a:p>
        </p:txBody>
      </p:sp>
      <p:sp>
        <p:nvSpPr>
          <p:cNvPr id="9" name="TextBox 8"/>
          <p:cNvSpPr txBox="1"/>
          <p:nvPr/>
        </p:nvSpPr>
        <p:spPr>
          <a:xfrm>
            <a:off x="530352" y="1956816"/>
            <a:ext cx="11130991" cy="1601216"/>
          </a:xfrm>
          <a:prstGeom prst="rect">
            <a:avLst/>
          </a:prstGeom>
          <a:noFill/>
        </p:spPr>
        <p:txBody>
          <a:bodyPr wrap="square" anchor="t" lIns="0" rIns="0" tIns="0" bIns="0">
            <a:spAutoFit/>
          </a:bodyPr>
          <a:lstStyle/>
          <a:p>
            <a:pPr>
              <a:spcAft>
                <a:spcPts val="800"/>
              </a:spcAft>
            </a:pPr>
            <a:r>
              <a:rPr sz="1600" b="1" i="0">
                <a:solidFill>
                  <a:srgbClr val="1A1440"/>
                </a:solidFill>
                <a:latin typeface="Calibri"/>
              </a:rPr>
              <a:t>Wells Fargo's cross-sell metric</a:t>
            </a:r>
            <a:r>
              <a:rPr sz="1600" b="0" i="0">
                <a:solidFill>
                  <a:srgbClr val="1A1440"/>
                </a:solidFill>
                <a:latin typeface="Calibri"/>
              </a:rPr>
              <a:t> was the number of accounts and products per retail bank household. It had no usage condition: an unused debit card, the largest product in it, could stay in the count for up to four years. Staff opened accounts customers had not asked for, moved customers' money into new accounts to meet funding rules ("simulated funding"), and changed contact details so customers would miss satisfaction surveys.</a:t>
            </a:r>
          </a:p>
        </p:txBody>
      </p:sp>
      <p:sp>
        <p:nvSpPr>
          <p:cNvPr id="10" name="TextBox 9"/>
          <p:cNvSpPr txBox="1"/>
          <p:nvPr/>
        </p:nvSpPr>
        <p:spPr>
          <a:xfrm>
            <a:off x="530352" y="3686048"/>
            <a:ext cx="3527450" cy="698500"/>
          </a:xfrm>
          <a:prstGeom prst="rect">
            <a:avLst/>
          </a:prstGeom>
          <a:noFill/>
        </p:spPr>
        <p:txBody>
          <a:bodyPr wrap="square" anchor="t" lIns="0" rIns="0" tIns="0" bIns="0">
            <a:spAutoFit/>
          </a:bodyPr>
          <a:lstStyle/>
          <a:p>
            <a:pPr algn="l"/>
            <a:r>
              <a:rPr sz="4400" b="0" i="0">
                <a:solidFill>
                  <a:srgbClr val="5B3FD6"/>
                </a:solidFill>
                <a:latin typeface="Georgia"/>
              </a:rPr>
              <a:t>185</a:t>
            </a:r>
          </a:p>
        </p:txBody>
      </p:sp>
      <p:sp>
        <p:nvSpPr>
          <p:cNvPr id="11" name="TextBox 10"/>
          <p:cNvSpPr txBox="1"/>
          <p:nvPr/>
        </p:nvSpPr>
        <p:spPr>
          <a:xfrm>
            <a:off x="530352" y="442112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USD MILLION, 2016</a:t>
            </a:r>
          </a:p>
        </p:txBody>
      </p:sp>
      <p:sp>
        <p:nvSpPr>
          <p:cNvPr id="12" name="TextBox 11"/>
          <p:cNvSpPr txBox="1"/>
          <p:nvPr/>
        </p:nvSpPr>
        <p:spPr>
          <a:xfrm>
            <a:off x="530352" y="4622292"/>
            <a:ext cx="3527450" cy="350266"/>
          </a:xfrm>
          <a:prstGeom prst="rect">
            <a:avLst/>
          </a:prstGeom>
          <a:noFill/>
        </p:spPr>
        <p:txBody>
          <a:bodyPr wrap="square" anchor="t" lIns="0" rIns="0" tIns="0" bIns="0">
            <a:spAutoFit/>
          </a:bodyPr>
          <a:lstStyle/>
          <a:p>
            <a:pPr algn="l"/>
            <a:r>
              <a:rPr sz="950" b="0" i="0">
                <a:solidFill>
                  <a:srgbClr val="6B6690"/>
                </a:solidFill>
                <a:latin typeface="Calibri"/>
              </a:rPr>
              <a:t>penalties, after about 1.5 million deposit and 565,000 card accounts may not have been authorised</a:t>
            </a:r>
          </a:p>
        </p:txBody>
      </p:sp>
      <p:sp>
        <p:nvSpPr>
          <p:cNvPr id="13" name="Rectangle 12"/>
          <p:cNvSpPr/>
          <p:nvPr/>
        </p:nvSpPr>
        <p:spPr>
          <a:xfrm>
            <a:off x="530352" y="487476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32122" y="3686048"/>
            <a:ext cx="3527450" cy="698500"/>
          </a:xfrm>
          <a:prstGeom prst="rect">
            <a:avLst/>
          </a:prstGeom>
          <a:noFill/>
        </p:spPr>
        <p:txBody>
          <a:bodyPr wrap="square" anchor="t" lIns="0" rIns="0" tIns="0" bIns="0">
            <a:spAutoFit/>
          </a:bodyPr>
          <a:lstStyle/>
          <a:p>
            <a:pPr algn="l"/>
            <a:r>
              <a:rPr sz="4400" b="0" i="0">
                <a:solidFill>
                  <a:srgbClr val="5B3FD6"/>
                </a:solidFill>
                <a:latin typeface="Georgia"/>
              </a:rPr>
              <a:t>3</a:t>
            </a:r>
          </a:p>
        </p:txBody>
      </p:sp>
      <p:sp>
        <p:nvSpPr>
          <p:cNvPr id="15" name="TextBox 14"/>
          <p:cNvSpPr txBox="1"/>
          <p:nvPr/>
        </p:nvSpPr>
        <p:spPr>
          <a:xfrm>
            <a:off x="4332122" y="442112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USD BILLION, 2020</a:t>
            </a:r>
          </a:p>
        </p:txBody>
      </p:sp>
      <p:sp>
        <p:nvSpPr>
          <p:cNvPr id="16" name="TextBox 15"/>
          <p:cNvSpPr txBox="1"/>
          <p:nvPr/>
        </p:nvSpPr>
        <p:spPr>
          <a:xfrm>
            <a:off x="4332122" y="4622292"/>
            <a:ext cx="3527450" cy="193421"/>
          </a:xfrm>
          <a:prstGeom prst="rect">
            <a:avLst/>
          </a:prstGeom>
          <a:noFill/>
        </p:spPr>
        <p:txBody>
          <a:bodyPr wrap="square" anchor="t" lIns="0" rIns="0" tIns="0" bIns="0">
            <a:spAutoFit/>
          </a:bodyPr>
          <a:lstStyle/>
          <a:p>
            <a:pPr algn="l"/>
            <a:r>
              <a:rPr sz="950" b="0" i="0">
                <a:solidFill>
                  <a:srgbClr val="6B6690"/>
                </a:solidFill>
                <a:latin typeface="Calibri"/>
              </a:rPr>
              <a:t>settlement with the SEC and the Department of Justice</a:t>
            </a:r>
          </a:p>
        </p:txBody>
      </p:sp>
      <p:sp>
        <p:nvSpPr>
          <p:cNvPr id="17" name="Rectangle 16"/>
          <p:cNvSpPr/>
          <p:nvPr/>
        </p:nvSpPr>
        <p:spPr>
          <a:xfrm>
            <a:off x="4332122" y="487476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133892" y="3686048"/>
            <a:ext cx="3527450" cy="698500"/>
          </a:xfrm>
          <a:prstGeom prst="rect">
            <a:avLst/>
          </a:prstGeom>
          <a:noFill/>
        </p:spPr>
        <p:txBody>
          <a:bodyPr wrap="square" anchor="t" lIns="0" rIns="0" tIns="0" bIns="0">
            <a:spAutoFit/>
          </a:bodyPr>
          <a:lstStyle/>
          <a:p>
            <a:pPr algn="l"/>
            <a:r>
              <a:rPr sz="4400" b="0" i="0">
                <a:solidFill>
                  <a:srgbClr val="5B3FD6"/>
                </a:solidFill>
                <a:latin typeface="Georgia"/>
              </a:rPr>
              <a:t>2016</a:t>
            </a:r>
          </a:p>
        </p:txBody>
      </p:sp>
      <p:sp>
        <p:nvSpPr>
          <p:cNvPr id="19" name="TextBox 18"/>
          <p:cNvSpPr txBox="1"/>
          <p:nvPr/>
        </p:nvSpPr>
        <p:spPr>
          <a:xfrm>
            <a:off x="8133892" y="4421124"/>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SALES GOALS ENDED</a:t>
            </a:r>
          </a:p>
        </p:txBody>
      </p:sp>
      <p:sp>
        <p:nvSpPr>
          <p:cNvPr id="20" name="TextBox 19"/>
          <p:cNvSpPr txBox="1"/>
          <p:nvPr/>
        </p:nvSpPr>
        <p:spPr>
          <a:xfrm>
            <a:off x="8133892" y="4622292"/>
            <a:ext cx="3527450" cy="193421"/>
          </a:xfrm>
          <a:prstGeom prst="rect">
            <a:avLst/>
          </a:prstGeom>
          <a:noFill/>
        </p:spPr>
        <p:txBody>
          <a:bodyPr wrap="square" anchor="t" lIns="0" rIns="0" tIns="0" bIns="0">
            <a:spAutoFit/>
          </a:bodyPr>
          <a:lstStyle/>
          <a:p>
            <a:pPr algn="l"/>
            <a:r>
              <a:rPr sz="950" b="0" i="0">
                <a:solidFill>
                  <a:srgbClr val="6B6690"/>
                </a:solidFill>
                <a:latin typeface="Calibri"/>
              </a:rPr>
              <a:t>the bank dropped product sales goals for its employees</a:t>
            </a:r>
          </a:p>
        </p:txBody>
      </p:sp>
      <p:sp>
        <p:nvSpPr>
          <p:cNvPr id="21" name="Rectangle 20"/>
          <p:cNvSpPr/>
          <p:nvPr/>
        </p:nvSpPr>
        <p:spPr>
          <a:xfrm>
            <a:off x="8133892" y="4874768"/>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0352" y="514908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Sources: the CFPB release of 8 September 2016, the SEC release of 21 February 2020 and the SEC order, Release 34-88257, each checked 12 October 2026.</a:t>
            </a:r>
          </a:p>
        </p:txBody>
      </p:sp>
      <p:sp>
        <p:nvSpPr>
          <p:cNvPr id="23" name="Oval 2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25" name="Oval 2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7" name="Oval 26"/>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13 / 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Close: a paid proxy drifts from its goal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has chapter 1 answered, and what does the board now hold?</a:t>
            </a:r>
          </a:p>
        </p:txBody>
      </p:sp>
      <p:pic>
        <p:nvPicPr>
          <p:cNvPr id="9" name="mermaid diagram" descr="dd9d2bb20f33968f.png"/>
          <p:cNvPicPr>
            <a:picLocks noChangeAspect="1"/>
          </p:cNvPicPr>
          <p:nvPr/>
        </p:nvPicPr>
        <p:blipFill>
          <a:blip r:embed="rId5"/>
          <a:stretch>
            <a:fillRect/>
          </a:stretch>
        </p:blipFill>
        <p:spPr>
          <a:xfrm>
            <a:off x="530352" y="2782110"/>
            <a:ext cx="4786326" cy="2317906"/>
          </a:xfrm>
          <a:prstGeom prst="rect">
            <a:avLst/>
          </a:prstGeom>
        </p:spPr>
      </p:pic>
      <p:sp>
        <p:nvSpPr>
          <p:cNvPr id="10" name="Rounded Rectangle 9"/>
          <p:cNvSpPr/>
          <p:nvPr/>
        </p:nvSpPr>
        <p:spPr>
          <a:xfrm>
            <a:off x="5761917" y="1956816"/>
            <a:ext cx="5899425"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908221"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109389" y="2075688"/>
            <a:ext cx="5332497" cy="891540"/>
          </a:xfrm>
          <a:prstGeom prst="rect">
            <a:avLst/>
          </a:prstGeom>
          <a:noFill/>
        </p:spPr>
        <p:txBody>
          <a:bodyPr wrap="square" anchor="ctr" lIns="0" rIns="0" tIns="0" bIns="0">
            <a:spAutoFit/>
          </a:bodyPr>
          <a:lstStyle/>
          <a:p>
            <a:r>
              <a:rPr sz="1500" b="1">
                <a:solidFill>
                  <a:srgbClr val="5B3FD6"/>
                </a:solidFill>
                <a:latin typeface="Calibri"/>
              </a:rPr>
              <a:t>The crux. </a:t>
            </a:r>
            <a:r>
              <a:rPr sz="1500" b="0" i="0">
                <a:solidFill>
                  <a:srgbClr val="1A1440"/>
                </a:solidFill>
                <a:latin typeface="Calibri"/>
              </a:rPr>
              <a:t>A number is safe to pay for only if hitting it requires the thing it stands for; hours online do not require a rider.</a:t>
            </a:r>
          </a:p>
        </p:txBody>
      </p:sp>
      <p:sp>
        <p:nvSpPr>
          <p:cNvPr id="13" name="Rounded Rectangle 12"/>
          <p:cNvSpPr/>
          <p:nvPr/>
        </p:nvSpPr>
        <p:spPr>
          <a:xfrm>
            <a:off x="5761917" y="3195828"/>
            <a:ext cx="5899425" cy="16078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908221" y="3323844"/>
            <a:ext cx="45720" cy="13517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109389" y="3314700"/>
            <a:ext cx="5332497" cy="1424940"/>
          </a:xfrm>
          <a:prstGeom prst="rect">
            <a:avLst/>
          </a:prstGeom>
          <a:noFill/>
        </p:spPr>
        <p:txBody>
          <a:bodyPr wrap="square" anchor="ctr" lIns="0" rIns="0" tIns="0" bIns="0">
            <a:spAutoFit/>
          </a:bodyPr>
          <a:lstStyle/>
          <a:p>
            <a:r>
              <a:rPr sz="1500" b="1">
                <a:solidFill>
                  <a:srgbClr val="5B3FD6"/>
                </a:solidFill>
                <a:latin typeface="Calibri"/>
              </a:rPr>
              <a:t>The senior analyst's check. </a:t>
            </a:r>
            <a:r>
              <a:rPr sz="1500" b="0" i="0">
                <a:solidFill>
                  <a:srgbClr val="1A1440"/>
                </a:solidFill>
                <a:latin typeface="Calibri"/>
              </a:rPr>
              <a:t>Before trusting a rate, read its baseline (1.90 before), its denominator (hours the app was open, which the driver controls) and the evidence that the goal moved (city trips rose only 3 percent).</a:t>
            </a:r>
          </a:p>
        </p:txBody>
      </p:sp>
      <p:sp>
        <p:nvSpPr>
          <p:cNvPr id="16" name="Oval 1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What does an hour count?</a:t>
            </a:r>
          </a:p>
        </p:txBody>
      </p:sp>
      <p:sp>
        <p:nvSpPr>
          <p:cNvPr id="18" name="Oval 1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14 / 40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02</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Where did the fall sit?</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What do the city totals say over twelve weeks, and which drivers and zones drive the fall, before a proposal goes out to extend the scheme?</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an hour count?</a:t>
            </a:r>
          </a:p>
        </p:txBody>
      </p:sp>
      <p:sp>
        <p:nvSpPr>
          <p:cNvPr id="11" name="Rounded Rectangle 10"/>
          <p:cNvSpPr/>
          <p:nvPr/>
        </p:nvSpPr>
        <p:spPr>
          <a:xfrm>
            <a:off x="2628191" y="5074920"/>
            <a:ext cx="172772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Where did the fall sit?</a:t>
            </a:r>
          </a:p>
        </p:txBody>
      </p:sp>
      <p:sp>
        <p:nvSpPr>
          <p:cNvPr id="12" name="Rounded Rectangle 11"/>
          <p:cNvSpPr/>
          <p:nvPr/>
        </p:nvSpPr>
        <p:spPr>
          <a:xfrm>
            <a:off x="4465646"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should it pay for?</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Is the number we pay for measuring what we want?</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15 / 40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column would show the fall is demand?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If riders simply asked for fewer trips, where would the data show it?</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peak_online_hours in driver_weeks</a:t>
            </a:r>
          </a:p>
          <a:p>
            <a:pPr>
              <a:spcAft>
                <a:spcPts val="800"/>
              </a:spcAft>
            </a:pPr>
            <a:r>
              <a:rPr sz="1600" b="0" i="0">
                <a:solidFill>
                  <a:srgbClr val="1A1440"/>
                </a:solidFill>
                <a:latin typeface="Calibri"/>
              </a:rPr>
              <a:t>b) peak_requests in zone_weeks</a:t>
            </a:r>
          </a:p>
          <a:p>
            <a:pPr>
              <a:spcAft>
                <a:spcPts val="800"/>
              </a:spcAft>
            </a:pPr>
            <a:r>
              <a:rPr sz="1600" b="0" i="0">
                <a:solidFill>
                  <a:srgbClr val="1A1440"/>
                </a:solidFill>
                <a:latin typeface="Calibri"/>
              </a:rPr>
              <a:t>c) topup_rs in driver_weeks</a:t>
            </a:r>
          </a:p>
          <a:p>
            <a:pPr>
              <a:spcAft>
                <a:spcPts val="800"/>
              </a:spcAft>
            </a:pPr>
            <a:r>
              <a:rPr sz="1600" b="0" i="0">
                <a:solidFill>
                  <a:srgbClr val="1A1440"/>
                </a:solidFill>
                <a:latin typeface="Calibri"/>
              </a:rPr>
              <a:t>d) peak_bookings_rs divided by trips</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2" name="Oval 11"/>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16 / 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rider requests rose 1.8 percent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Did demand fall, and why do the two tables count different things?</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Answer: b. </a:t>
            </a:r>
            <a:r>
              <a:rPr sz="1500" b="0" i="0">
                <a:solidFill>
                  <a:srgbClr val="1A1440"/>
                </a:solidFill>
                <a:latin typeface="Calibri"/>
              </a:rPr>
              <a:t>Demand lives in zone_weeks. Rider requests rose from 251,910 to 256,556 (up 1.8 percent), the unfulfilled share went from 0.11 to 0.10 and the median wait from 4.8 to 4.6 minutes. The fall in trips per hour is not demand.</a:t>
            </a:r>
          </a:p>
        </p:txBody>
      </p:sp>
      <p:sp>
        <p:nvSpPr>
          <p:cNvPr id="12" name="TextBox 11"/>
          <p:cNvSpPr txBox="1"/>
          <p:nvPr/>
        </p:nvSpPr>
        <p:spPr>
          <a:xfrm>
            <a:off x="530352" y="3195828"/>
            <a:ext cx="5428335" cy="698500"/>
          </a:xfrm>
          <a:prstGeom prst="rect">
            <a:avLst/>
          </a:prstGeom>
          <a:noFill/>
        </p:spPr>
        <p:txBody>
          <a:bodyPr wrap="square" anchor="t" lIns="0" rIns="0" tIns="0" bIns="0">
            <a:spAutoFit/>
          </a:bodyPr>
          <a:lstStyle/>
          <a:p>
            <a:pPr algn="l"/>
            <a:r>
              <a:rPr sz="4400" b="0" i="0">
                <a:solidFill>
                  <a:srgbClr val="5B3FD6"/>
                </a:solidFill>
                <a:latin typeface="Georgia"/>
              </a:rPr>
              <a:t>1.07</a:t>
            </a:r>
          </a:p>
        </p:txBody>
      </p:sp>
      <p:sp>
        <p:nvSpPr>
          <p:cNvPr id="13" name="TextBox 12"/>
          <p:cNvSpPr txBox="1"/>
          <p:nvPr/>
        </p:nvSpPr>
        <p:spPr>
          <a:xfrm>
            <a:off x="530352" y="3930904"/>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OFFERS PER REQUEST, BEFORE</a:t>
            </a:r>
          </a:p>
        </p:txBody>
      </p:sp>
      <p:sp>
        <p:nvSpPr>
          <p:cNvPr id="14" name="TextBox 13"/>
          <p:cNvSpPr txBox="1"/>
          <p:nvPr/>
        </p:nvSpPr>
        <p:spPr>
          <a:xfrm>
            <a:off x="530352" y="4132072"/>
            <a:ext cx="5428335" cy="193421"/>
          </a:xfrm>
          <a:prstGeom prst="rect">
            <a:avLst/>
          </a:prstGeom>
          <a:noFill/>
        </p:spPr>
        <p:txBody>
          <a:bodyPr wrap="square" anchor="t" lIns="0" rIns="0" tIns="0" bIns="0">
            <a:spAutoFit/>
          </a:bodyPr>
          <a:lstStyle/>
          <a:p>
            <a:pPr algn="l"/>
            <a:r>
              <a:rPr sz="950" b="0" i="0">
                <a:solidFill>
                  <a:srgbClr val="6B6690"/>
                </a:solidFill>
                <a:latin typeface="Calibri"/>
              </a:rPr>
              <a:t>269,773 offers shown to drivers for 251,910 rider requests</a:t>
            </a:r>
          </a:p>
        </p:txBody>
      </p:sp>
      <p:sp>
        <p:nvSpPr>
          <p:cNvPr id="15" name="Rectangle 14"/>
          <p:cNvSpPr/>
          <p:nvPr/>
        </p:nvSpPr>
        <p:spPr>
          <a:xfrm>
            <a:off x="530352" y="4384548"/>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33007" y="3195828"/>
            <a:ext cx="5428335" cy="698500"/>
          </a:xfrm>
          <a:prstGeom prst="rect">
            <a:avLst/>
          </a:prstGeom>
          <a:noFill/>
        </p:spPr>
        <p:txBody>
          <a:bodyPr wrap="square" anchor="t" lIns="0" rIns="0" tIns="0" bIns="0">
            <a:spAutoFit/>
          </a:bodyPr>
          <a:lstStyle/>
          <a:p>
            <a:pPr algn="l"/>
            <a:r>
              <a:rPr sz="4400" b="0" i="0">
                <a:solidFill>
                  <a:srgbClr val="5B3FD6"/>
                </a:solidFill>
                <a:latin typeface="Georgia"/>
              </a:rPr>
              <a:t>1.35</a:t>
            </a:r>
          </a:p>
        </p:txBody>
      </p:sp>
      <p:sp>
        <p:nvSpPr>
          <p:cNvPr id="17" name="TextBox 16"/>
          <p:cNvSpPr txBox="1"/>
          <p:nvPr/>
        </p:nvSpPr>
        <p:spPr>
          <a:xfrm>
            <a:off x="6233007" y="3930904"/>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OFFERS PER REQUEST, AFTER</a:t>
            </a:r>
          </a:p>
        </p:txBody>
      </p:sp>
      <p:sp>
        <p:nvSpPr>
          <p:cNvPr id="18" name="TextBox 17"/>
          <p:cNvSpPr txBox="1"/>
          <p:nvPr/>
        </p:nvSpPr>
        <p:spPr>
          <a:xfrm>
            <a:off x="6233007" y="4132072"/>
            <a:ext cx="5428335" cy="193421"/>
          </a:xfrm>
          <a:prstGeom prst="rect">
            <a:avLst/>
          </a:prstGeom>
          <a:noFill/>
        </p:spPr>
        <p:txBody>
          <a:bodyPr wrap="square" anchor="t" lIns="0" rIns="0" tIns="0" bIns="0">
            <a:spAutoFit/>
          </a:bodyPr>
          <a:lstStyle/>
          <a:p>
            <a:pPr algn="l"/>
            <a:r>
              <a:rPr sz="950" b="0" i="0">
                <a:solidFill>
                  <a:srgbClr val="6B6690"/>
                </a:solidFill>
                <a:latin typeface="Calibri"/>
              </a:rPr>
              <a:t>347,583 offers for 256,556 requests: more declines, more re-offers</a:t>
            </a:r>
          </a:p>
        </p:txBody>
      </p:sp>
      <p:sp>
        <p:nvSpPr>
          <p:cNvPr id="19" name="Rectangle 18"/>
          <p:cNvSpPr/>
          <p:nvPr/>
        </p:nvSpPr>
        <p:spPr>
          <a:xfrm>
            <a:off x="6233007" y="4384548"/>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0352" y="4658868"/>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request one driver declines is offered to the next driver, so driver_weeks counts offers and zone_weeks counts requests: two tables, two units, and the gap between them grew with the declining.</a:t>
            </a:r>
          </a:p>
        </p:txBody>
      </p:sp>
      <p:sp>
        <p:nvSpPr>
          <p:cNvPr id="21" name="Oval 2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3" name="Oval 2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5" name="Oval 2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17 / 40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Twelve weeks: hours jumped, trips per hour fell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Was the fall two odd weeks, or a level that held for six?</a:t>
            </a:r>
          </a:p>
        </p:txBody>
      </p:sp>
      <p:pic>
        <p:nvPicPr>
          <p:cNvPr id="9" name="mermaid diagram" descr="C2_W04_D01_drift_STUDENT.png"/>
          <p:cNvPicPr>
            <a:picLocks noChangeAspect="1"/>
          </p:cNvPicPr>
          <p:nvPr/>
        </p:nvPicPr>
        <p:blipFill>
          <a:blip r:embed="rId4"/>
          <a:stretch>
            <a:fillRect/>
          </a:stretch>
        </p:blipFill>
        <p:spPr>
          <a:xfrm>
            <a:off x="2603855" y="1664208"/>
            <a:ext cx="6983984" cy="3491992"/>
          </a:xfrm>
          <a:prstGeom prst="rect">
            <a:avLst/>
          </a:prstGeom>
        </p:spPr>
      </p:pic>
      <p:sp>
        <p:nvSpPr>
          <p:cNvPr id="10" name="picture caption"/>
          <p:cNvSpPr txBox="1"/>
          <p:nvPr/>
        </p:nvSpPr>
        <p:spPr>
          <a:xfrm>
            <a:off x="530352" y="5192776"/>
            <a:ext cx="11130991" cy="316992"/>
          </a:xfrm>
          <a:prstGeom prst="rect">
            <a:avLst/>
          </a:prstGeom>
          <a:noFill/>
        </p:spPr>
        <p:txBody>
          <a:bodyPr wrap="square" anchor="t" lIns="0" rIns="0" tIns="0" bIns="0">
            <a:spAutoFit/>
          </a:bodyPr>
          <a:lstStyle/>
          <a:p>
            <a:pPr algn="ctr"/>
            <a:r>
              <a:rPr sz="1200" b="0" i="0">
                <a:solidFill>
                  <a:srgbClr val="6B6690"/>
                </a:solidFill>
                <a:latin typeface="Calibri"/>
              </a:rPr>
              <a:t>Hours rose at the launch while trips per hour fell and stayed down, twelve weeks</a:t>
            </a:r>
          </a:p>
        </p:txBody>
      </p:sp>
      <p:sp>
        <p:nvSpPr>
          <p:cNvPr id="11" name="TextBox 10"/>
          <p:cNvSpPr txBox="1"/>
          <p:nvPr/>
        </p:nvSpPr>
        <p:spPr>
          <a:xfrm>
            <a:off x="530352" y="5518912"/>
            <a:ext cx="11130991" cy="680720"/>
          </a:xfrm>
          <a:prstGeom prst="rect">
            <a:avLst/>
          </a:prstGeom>
          <a:noFill/>
        </p:spPr>
        <p:txBody>
          <a:bodyPr wrap="square" anchor="t" lIns="0" rIns="0" tIns="0" bIns="0">
            <a:spAutoFit/>
          </a:bodyPr>
          <a:lstStyle/>
          <a:p>
            <a:r>
              <a:rPr sz="1600" b="0" i="0">
                <a:solidFill>
                  <a:srgbClr val="1A1440"/>
                </a:solidFill>
                <a:latin typeface="Calibri"/>
              </a:rPr>
              <a:t>Before the launch, trips per hour wandered between 1.88 and 1.93. In the launch week it read 1.64, then held between 1.55 and 1.59 for five weeks, while hours rose from about 20,000 a week to about 24,000.</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4" name="Oval 1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16" name="Oval 1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18 / 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One groupby gives the city's totals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the smallest code that turns 12,860 driver-weeks into the ticket's numbers?</a:t>
            </a:r>
          </a:p>
        </p:txBody>
      </p:sp>
      <p:sp>
        <p:nvSpPr>
          <p:cNvPr id="9" name="Rounded Rectangle 8"/>
          <p:cNvSpPr/>
          <p:nvPr/>
        </p:nvSpPr>
        <p:spPr>
          <a:xfrm>
            <a:off x="530352" y="1956816"/>
            <a:ext cx="11130991" cy="1214627"/>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812291"/>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dw["window"] = dw["week_start"].lt("2026-08-31").map({True: "before", False: "after"})</a:t>
            </a:r>
          </a:p>
          <a:p>
            <a:pPr>
              <a:spcAft>
                <a:spcPts val="200"/>
              </a:spcAft>
            </a:pPr>
            <a:r>
              <a:rPr sz="1400" b="0" i="0">
                <a:solidFill>
                  <a:srgbClr val="E4E1F1"/>
                </a:solidFill>
                <a:latin typeface="Consolas"/>
              </a:rPr>
              <a:t>city = dw.groupby("window")[["peak_online_hours", "peak_trips"]].sum()</a:t>
            </a:r>
          </a:p>
          <a:p>
            <a:pPr>
              <a:spcAft>
                <a:spcPts val="200"/>
              </a:spcAft>
            </a:pPr>
            <a:r>
              <a:rPr sz="1400" b="0" i="0">
                <a:solidFill>
                  <a:srgbClr val="E4E1F1"/>
                </a:solidFill>
                <a:latin typeface="Consolas"/>
              </a:rPr>
              <a:t>city["trips_per_hour"] = city["peak_trips"] / city["peak_online_hours"]</a:t>
            </a:r>
          </a:p>
        </p:txBody>
      </p:sp>
      <p:graphicFrame>
        <p:nvGraphicFramePr>
          <p:cNvPr id="14" name="Table 13"/>
          <p:cNvGraphicFramePr>
            <a:graphicFrameLocks noGrp="1"/>
          </p:cNvGraphicFramePr>
          <p:nvPr/>
        </p:nvGraphicFramePr>
        <p:xfrm>
          <a:off x="530352" y="3336036"/>
          <a:ext cx="11130989" cy="1005840"/>
        </p:xfrm>
        <a:graphic>
          <a:graphicData uri="http://schemas.openxmlformats.org/drawingml/2006/table">
            <a:tbl>
              <a:tblPr firstRow="0" bandRow="0">
                <a:tableStyleId>{2D5ABB26-0587-4C30-8999-92F81FD0307C}</a:tableStyleId>
              </a:tblPr>
              <a:tblGrid>
                <a:gridCol w="914400"/>
                <a:gridCol w="914400"/>
                <a:gridCol w="914400"/>
                <a:gridCol w="2853633"/>
                <a:gridCol w="2853633"/>
                <a:gridCol w="2680523"/>
              </a:tblGrid>
              <a:tr h="335280">
                <a:tc>
                  <a:txBody>
                    <a:bodyPr/>
                    <a:lstStyle/>
                    <a:p>
                      <a:r>
                        <a:rPr sz="1250" b="1" i="0">
                          <a:solidFill>
                            <a:srgbClr val="FFFFFF"/>
                          </a:solidFill>
                          <a:latin typeface="Calibri"/>
                        </a:rPr>
                        <a:t>Window</a:t>
                      </a:r>
                    </a:p>
                  </a:txBody>
                  <a:tcPr marL="101600" marR="101600" marT="38100" marB="38100" anchor="ctr">
                    <a:solidFill>
                      <a:srgbClr val="1A0F5C"/>
                    </a:solidFill>
                  </a:tcPr>
                </a:tc>
                <a:tc>
                  <a:txBody>
                    <a:bodyPr/>
                    <a:lstStyle/>
                    <a:p>
                      <a:r>
                        <a:rPr sz="1250" b="1" i="0">
                          <a:solidFill>
                            <a:srgbClr val="FFFFFF"/>
                          </a:solidFill>
                          <a:latin typeface="Calibri"/>
                        </a:rPr>
                        <a:t>Hours</a:t>
                      </a:r>
                    </a:p>
                  </a:txBody>
                  <a:tcPr marL="101600" marR="101600" marT="38100" marB="38100" anchor="ctr">
                    <a:solidFill>
                      <a:srgbClr val="1A0F5C"/>
                    </a:solidFill>
                  </a:tcPr>
                </a:tc>
                <a:tc>
                  <a:txBody>
                    <a:bodyPr/>
                    <a:lstStyle/>
                    <a:p>
                      <a:r>
                        <a:rPr sz="1250" b="1" i="0">
                          <a:solidFill>
                            <a:srgbClr val="FFFFFF"/>
                          </a:solidFill>
                          <a:latin typeface="Calibri"/>
                        </a:rPr>
                        <a:t>Trips</a:t>
                      </a:r>
                    </a:p>
                  </a:txBody>
                  <a:tcPr marL="101600" marR="101600" marT="38100" marB="38100" anchor="ctr">
                    <a:solidFill>
                      <a:srgbClr val="1A0F5C"/>
                    </a:solidFill>
                  </a:tcPr>
                </a:tc>
                <a:tc>
                  <a:txBody>
                    <a:bodyPr/>
                    <a:lstStyle/>
                    <a:p>
                      <a:r>
                        <a:rPr sz="1250" b="1" i="0">
                          <a:solidFill>
                            <a:srgbClr val="FFFFFF"/>
                          </a:solidFill>
                          <a:latin typeface="Calibri"/>
                        </a:rPr>
                        <a:t>Trips per hour</a:t>
                      </a:r>
                    </a:p>
                  </a:txBody>
                  <a:tcPr marL="101600" marR="101600" marT="38100" marB="38100" anchor="ctr">
                    <a:solidFill>
                      <a:srgbClr val="1A0F5C"/>
                    </a:solidFill>
                  </a:tcPr>
                </a:tc>
                <a:tc>
                  <a:txBody>
                    <a:bodyPr/>
                    <a:lstStyle/>
                    <a:p>
                      <a:r>
                        <a:rPr sz="1250" b="1" i="0">
                          <a:solidFill>
                            <a:srgbClr val="FFFFFF"/>
                          </a:solidFill>
                          <a:latin typeface="Calibri"/>
                        </a:rPr>
                        <a:t>Accepted share</a:t>
                      </a:r>
                    </a:p>
                  </a:txBody>
                  <a:tcPr marL="101600" marR="101600" marT="38100" marB="38100" anchor="ctr">
                    <a:solidFill>
                      <a:srgbClr val="1A0F5C"/>
                    </a:solidFill>
                  </a:tcPr>
                </a:tc>
                <a:tc>
                  <a:txBody>
                    <a:bodyPr/>
                    <a:lstStyle/>
                    <a:p>
                      <a:r>
                        <a:rPr sz="1250" b="1" i="0">
                          <a:solidFill>
                            <a:srgbClr val="FFFFFF"/>
                          </a:solidFill>
                          <a:latin typeface="Calibri"/>
                        </a:rPr>
                        <a:t>No-trip share</a:t>
                      </a:r>
                    </a:p>
                  </a:txBody>
                  <a:tcPr marL="101600" marR="101600" marT="38100" marB="38100" anchor="ctr">
                    <a:solidFill>
                      <a:srgbClr val="1A0F5C"/>
                    </a:solidFill>
                  </a:tcPr>
                </a:tc>
              </a:tr>
              <a:tr h="335280">
                <a:tc>
                  <a:txBody>
                    <a:bodyPr/>
                    <a:lstStyle/>
                    <a:p>
                      <a:r>
                        <a:rPr sz="1200" b="0" i="0">
                          <a:solidFill>
                            <a:srgbClr val="1A1440"/>
                          </a:solidFill>
                          <a:latin typeface="Calibri"/>
                        </a:rPr>
                        <a:t>Before</a:t>
                      </a:r>
                    </a:p>
                  </a:txBody>
                  <a:tcPr marL="101600" marR="101600" marT="38100" marB="38100" anchor="ctr">
                    <a:solidFill>
                      <a:srgbClr val="FFFFFF"/>
                    </a:solidFill>
                  </a:tcPr>
                </a:tc>
                <a:tc>
                  <a:txBody>
                    <a:bodyPr/>
                    <a:lstStyle/>
                    <a:p>
                      <a:r>
                        <a:rPr sz="1200" b="0" i="0">
                          <a:solidFill>
                            <a:srgbClr val="1A1440"/>
                          </a:solidFill>
                          <a:latin typeface="Calibri"/>
                        </a:rPr>
                        <a:t>118,000</a:t>
                      </a:r>
                    </a:p>
                  </a:txBody>
                  <a:tcPr marL="101600" marR="101600" marT="38100" marB="38100" anchor="ctr">
                    <a:solidFill>
                      <a:srgbClr val="FFFFFF"/>
                    </a:solidFill>
                  </a:tcPr>
                </a:tc>
                <a:tc>
                  <a:txBody>
                    <a:bodyPr/>
                    <a:lstStyle/>
                    <a:p>
                      <a:r>
                        <a:rPr sz="1200" b="0" i="0">
                          <a:solidFill>
                            <a:srgbClr val="1A1440"/>
                          </a:solidFill>
                          <a:latin typeface="Calibri"/>
                        </a:rPr>
                        <a:t>224,200</a:t>
                      </a:r>
                    </a:p>
                  </a:txBody>
                  <a:tcPr marL="101600" marR="101600" marT="38100" marB="38100" anchor="ctr">
                    <a:solidFill>
                      <a:srgbClr val="FFFFFF"/>
                    </a:solidFill>
                  </a:tcPr>
                </a:tc>
                <a:tc>
                  <a:txBody>
                    <a:bodyPr/>
                    <a:lstStyle/>
                    <a:p>
                      <a:r>
                        <a:rPr sz="1200" b="0" i="0">
                          <a:solidFill>
                            <a:srgbClr val="1A1440"/>
                          </a:solidFill>
                          <a:latin typeface="Calibri"/>
                        </a:rPr>
                        <a:t>1.90</a:t>
                      </a:r>
                    </a:p>
                  </a:txBody>
                  <a:tcPr marL="101600" marR="101600" marT="38100" marB="38100" anchor="ctr">
                    <a:solidFill>
                      <a:srgbClr val="FFFFFF"/>
                    </a:solidFill>
                  </a:tcPr>
                </a:tc>
                <a:tc>
                  <a:txBody>
                    <a:bodyPr/>
                    <a:lstStyle/>
                    <a:p>
                      <a:r>
                        <a:rPr sz="1200" b="0" i="0">
                          <a:solidFill>
                            <a:srgbClr val="1A1440"/>
                          </a:solidFill>
                          <a:latin typeface="Calibri"/>
                        </a:rPr>
                        <a:t>0.863</a:t>
                      </a:r>
                    </a:p>
                  </a:txBody>
                  <a:tcPr marL="101600" marR="101600" marT="38100" marB="38100" anchor="ctr">
                    <a:solidFill>
                      <a:srgbClr val="FFFFFF"/>
                    </a:solidFill>
                  </a:tcPr>
                </a:tc>
                <a:tc>
                  <a:txBody>
                    <a:bodyPr/>
                    <a:lstStyle/>
                    <a:p>
                      <a:r>
                        <a:rPr sz="1200" b="0" i="0">
                          <a:solidFill>
                            <a:srgbClr val="1A1440"/>
                          </a:solidFill>
                          <a:latin typeface="Calibri"/>
                        </a:rPr>
                        <a:t>0.22</a:t>
                      </a:r>
                    </a:p>
                  </a:txBody>
                  <a:tcPr marL="101600" marR="101600" marT="38100" marB="38100" anchor="ctr">
                    <a:solidFill>
                      <a:srgbClr val="FFFFFF"/>
                    </a:solidFill>
                  </a:tcPr>
                </a:tc>
              </a:tr>
              <a:tr h="335280">
                <a:tc>
                  <a:txBody>
                    <a:bodyPr/>
                    <a:lstStyle/>
                    <a:p>
                      <a:r>
                        <a:rPr sz="1200" b="0" i="0">
                          <a:solidFill>
                            <a:srgbClr val="1A1440"/>
                          </a:solidFill>
                          <a:latin typeface="Calibri"/>
                        </a:rPr>
                        <a:t>After</a:t>
                      </a:r>
                    </a:p>
                  </a:txBody>
                  <a:tcPr marL="101600" marR="101600" marT="38100" marB="38100" anchor="ctr">
                    <a:solidFill>
                      <a:srgbClr val="F4F2FA"/>
                    </a:solidFill>
                  </a:tcPr>
                </a:tc>
                <a:tc>
                  <a:txBody>
                    <a:bodyPr/>
                    <a:lstStyle/>
                    <a:p>
                      <a:r>
                        <a:rPr sz="1200" b="0" i="0">
                          <a:solidFill>
                            <a:srgbClr val="1A1440"/>
                          </a:solidFill>
                          <a:latin typeface="Calibri"/>
                        </a:rPr>
                        <a:t>146,300</a:t>
                      </a:r>
                    </a:p>
                  </a:txBody>
                  <a:tcPr marL="101600" marR="101600" marT="38100" marB="38100" anchor="ctr">
                    <a:solidFill>
                      <a:srgbClr val="F4F2FA"/>
                    </a:solidFill>
                  </a:tcPr>
                </a:tc>
                <a:tc>
                  <a:txBody>
                    <a:bodyPr/>
                    <a:lstStyle/>
                    <a:p>
                      <a:r>
                        <a:rPr sz="1200" b="0" i="0">
                          <a:solidFill>
                            <a:srgbClr val="1A1440"/>
                          </a:solidFill>
                          <a:latin typeface="Calibri"/>
                        </a:rPr>
                        <a:t>230,900</a:t>
                      </a:r>
                    </a:p>
                  </a:txBody>
                  <a:tcPr marL="101600" marR="101600" marT="38100" marB="38100" anchor="ctr">
                    <a:solidFill>
                      <a:srgbClr val="F4F2FA"/>
                    </a:solidFill>
                  </a:tcPr>
                </a:tc>
                <a:tc>
                  <a:txBody>
                    <a:bodyPr/>
                    <a:lstStyle/>
                    <a:p>
                      <a:r>
                        <a:rPr sz="1200" b="0" i="0">
                          <a:solidFill>
                            <a:srgbClr val="1A1440"/>
                          </a:solidFill>
                          <a:latin typeface="Calibri"/>
                        </a:rPr>
                        <a:t>1.58</a:t>
                      </a:r>
                    </a:p>
                  </a:txBody>
                  <a:tcPr marL="101600" marR="101600" marT="38100" marB="38100" anchor="ctr">
                    <a:solidFill>
                      <a:srgbClr val="F4F2FA"/>
                    </a:solidFill>
                  </a:tcPr>
                </a:tc>
                <a:tc>
                  <a:txBody>
                    <a:bodyPr/>
                    <a:lstStyle/>
                    <a:p>
                      <a:r>
                        <a:rPr sz="1200" b="0" i="0">
                          <a:solidFill>
                            <a:srgbClr val="1A1440"/>
                          </a:solidFill>
                          <a:latin typeface="Calibri"/>
                        </a:rPr>
                        <a:t>0.730</a:t>
                      </a:r>
                    </a:p>
                  </a:txBody>
                  <a:tcPr marL="101600" marR="101600" marT="38100" marB="38100" anchor="ctr">
                    <a:solidFill>
                      <a:srgbClr val="F4F2FA"/>
                    </a:solidFill>
                  </a:tcPr>
                </a:tc>
                <a:tc>
                  <a:txBody>
                    <a:bodyPr/>
                    <a:lstStyle/>
                    <a:p>
                      <a:r>
                        <a:rPr sz="1200" b="0" i="0">
                          <a:solidFill>
                            <a:srgbClr val="1A1440"/>
                          </a:solidFill>
                          <a:latin typeface="Calibri"/>
                        </a:rPr>
                        <a:t>0.38</a:t>
                      </a:r>
                    </a:p>
                  </a:txBody>
                  <a:tcPr marL="101600" marR="101600" marT="38100" marB="38100" anchor="ctr">
                    <a:solidFill>
                      <a:srgbClr val="F4F2FA"/>
                    </a:solidFill>
                  </a:tcPr>
                </a:tc>
              </a:tr>
            </a:tbl>
          </a:graphicData>
        </a:graphic>
      </p:graphicFrame>
      <p:sp>
        <p:nvSpPr>
          <p:cNvPr id="15" name="TextBox 14"/>
          <p:cNvSpPr txBox="1"/>
          <p:nvPr/>
        </p:nvSpPr>
        <p:spPr>
          <a:xfrm>
            <a:off x="530352" y="4597908"/>
            <a:ext cx="11130991" cy="495807"/>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rate is a ratio of two sums: every trip over every hour.</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8" name="Oval 17"/>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S17  ·  19 / 40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an average of weekly rates print?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colleague averages every driver-week's own trips per hour; what does that print for the after window?</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1.58</a:t>
            </a:r>
          </a:p>
          <a:p>
            <a:pPr>
              <a:spcAft>
                <a:spcPts val="800"/>
              </a:spcAft>
            </a:pPr>
            <a:r>
              <a:rPr sz="1600" b="0" i="0">
                <a:solidFill>
                  <a:srgbClr val="1A1440"/>
                </a:solidFill>
                <a:latin typeface="Calibri"/>
              </a:rPr>
              <a:t>b) 1.71</a:t>
            </a:r>
          </a:p>
          <a:p>
            <a:pPr>
              <a:spcAft>
                <a:spcPts val="800"/>
              </a:spcAft>
            </a:pPr>
            <a:r>
              <a:rPr sz="1600" b="0" i="0">
                <a:solidFill>
                  <a:srgbClr val="1A1440"/>
                </a:solidFill>
                <a:latin typeface="Calibri"/>
              </a:rPr>
              <a:t>c) 1.19</a:t>
            </a:r>
          </a:p>
          <a:p>
            <a:pPr>
              <a:spcAft>
                <a:spcPts val="800"/>
              </a:spcAft>
            </a:pPr>
            <a:r>
              <a:rPr sz="1600" b="0" i="0">
                <a:solidFill>
                  <a:srgbClr val="1A1440"/>
                </a:solidFill>
                <a:latin typeface="Calibri"/>
              </a:rPr>
              <a:t>d) 1.90</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2" name="Oval 11"/>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20 / 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1.71, which hides two-fifths of the fall</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averaging each week's rate understate the fall, and what is the fix?</a:t>
            </a:r>
          </a:p>
        </p:txBody>
      </p:sp>
      <p:pic>
        <p:nvPicPr>
          <p:cNvPr id="9" name="mermaid diagram" descr="c1c41b08b7afe0af.png"/>
          <p:cNvPicPr>
            <a:picLocks noChangeAspect="1"/>
          </p:cNvPicPr>
          <p:nvPr/>
        </p:nvPicPr>
        <p:blipFill>
          <a:blip r:embed="rId5"/>
          <a:stretch>
            <a:fillRect/>
          </a:stretch>
        </p:blipFill>
        <p:spPr>
          <a:xfrm>
            <a:off x="3432973" y="1664208"/>
            <a:ext cx="5325748" cy="2295144"/>
          </a:xfrm>
          <a:prstGeom prst="rect">
            <a:avLst/>
          </a:prstGeom>
        </p:spPr>
      </p:pic>
      <p:sp>
        <p:nvSpPr>
          <p:cNvPr id="10" name="Rounded Rectangle 9"/>
          <p:cNvSpPr/>
          <p:nvPr/>
        </p:nvSpPr>
        <p:spPr>
          <a:xfrm>
            <a:off x="530352" y="4005072"/>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133088"/>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123944"/>
            <a:ext cx="10564063" cy="891540"/>
          </a:xfrm>
          <a:prstGeom prst="rect">
            <a:avLst/>
          </a:prstGeom>
          <a:noFill/>
        </p:spPr>
        <p:txBody>
          <a:bodyPr wrap="square" anchor="ctr" lIns="0" rIns="0" tIns="0" bIns="0">
            <a:spAutoFit/>
          </a:bodyPr>
          <a:lstStyle/>
          <a:p>
            <a:r>
              <a:rPr sz="1500" b="1">
                <a:solidFill>
                  <a:srgbClr val="5B3FD6"/>
                </a:solidFill>
                <a:latin typeface="Calibri"/>
              </a:rPr>
              <a:t>Answer: b. </a:t>
            </a:r>
            <a:r>
              <a:rPr sz="1500" b="0" i="0">
                <a:solidFill>
                  <a:srgbClr val="1A1440"/>
                </a:solidFill>
                <a:latin typeface="Calibri"/>
              </a:rPr>
              <a:t>The average of rates prints 1.71 after the launch, against 1.58 from the sums, so it hides two-fifths of the fall (0.19 of 0.32). It gives a 10-hour driver-week the same weight as a 42-hour one, and the drivers who sat online longest are the ones whose rate fell most.</a:t>
            </a:r>
          </a:p>
        </p:txBody>
      </p:sp>
      <p:sp>
        <p:nvSpPr>
          <p:cNvPr id="13" name="TextBox 12"/>
          <p:cNvSpPr txBox="1"/>
          <p:nvPr/>
        </p:nvSpPr>
        <p:spPr>
          <a:xfrm>
            <a:off x="530352" y="5244084"/>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two drivers are invented. </a:t>
            </a:r>
            <a:r>
              <a:rPr sz="1600" b="1" i="0">
                <a:solidFill>
                  <a:srgbClr val="1A1440"/>
                </a:solidFill>
                <a:latin typeface="Calibri"/>
              </a:rPr>
              <a:t>The decision it would mislead:</a:t>
            </a:r>
            <a:r>
              <a:rPr sz="1600" b="0" i="0">
                <a:solidFill>
                  <a:srgbClr val="1A1440"/>
                </a:solidFill>
                <a:latin typeface="Calibri"/>
              </a:rPr>
              <a:t> a fall that looks a third smaller reads as noise, and the scheme is extended. </a:t>
            </a:r>
            <a:r>
              <a:rPr sz="1600" b="1" i="0">
                <a:solidFill>
                  <a:srgbClr val="1A1440"/>
                </a:solidFill>
                <a:latin typeface="Calibri"/>
              </a:rPr>
              <a:t>The check:</a:t>
            </a:r>
            <a:r>
              <a:rPr sz="1600" b="0" i="0">
                <a:solidFill>
                  <a:srgbClr val="1A1440"/>
                </a:solidFill>
                <a:latin typeface="Calibri"/>
              </a:rPr>
              <a:t> recompute from the sums. </a:t>
            </a:r>
            <a:r>
              <a:rPr sz="1600" b="1" i="0">
                <a:solidFill>
                  <a:srgbClr val="1A1440"/>
                </a:solidFill>
                <a:latin typeface="Calibri"/>
              </a:rPr>
              <a:t>The fix:</a:t>
            </a:r>
            <a:r>
              <a:rPr sz="1600" b="0" i="0">
                <a:solidFill>
                  <a:srgbClr val="1A1440"/>
                </a:solidFill>
                <a:latin typeface="Calibri"/>
              </a:rPr>
              <a:t> trips per peak online hour as a ratio of sums, the denominator named.</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6" name="Oval 15"/>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21 / 40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Swiggy writes each denominator down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complete definition look like in a public filing?</a:t>
            </a:r>
          </a:p>
        </p:txBody>
      </p:sp>
      <p:graphicFrame>
        <p:nvGraphicFramePr>
          <p:cNvPr id="9" name="Table 8"/>
          <p:cNvGraphicFramePr>
            <a:graphicFrameLocks noGrp="1"/>
          </p:cNvGraphicFramePr>
          <p:nvPr/>
        </p:nvGraphicFramePr>
        <p:xfrm>
          <a:off x="530352" y="1956816"/>
          <a:ext cx="11130989" cy="1627632"/>
        </p:xfrm>
        <a:graphic>
          <a:graphicData uri="http://schemas.openxmlformats.org/drawingml/2006/table">
            <a:tbl>
              <a:tblPr firstRow="0" bandRow="0">
                <a:tableStyleId>{2D5ABB26-0587-4C30-8999-92F81FD0307C}</a:tableStyleId>
              </a:tblPr>
              <a:tblGrid>
                <a:gridCol w="2669877"/>
                <a:gridCol w="4509250"/>
                <a:gridCol w="1537582"/>
                <a:gridCol w="2414280"/>
              </a:tblGrid>
              <a:tr h="542544">
                <a:tc>
                  <a:txBody>
                    <a:bodyPr/>
                    <a:lstStyle/>
                    <a:p>
                      <a:r>
                        <a:rPr sz="1250" b="1" i="0">
                          <a:solidFill>
                            <a:srgbClr val="FFFFFF"/>
                          </a:solidFill>
                          <a:latin typeface="Calibri"/>
                        </a:rPr>
                        <a:t>Swiggy term, as filed</a:t>
                      </a:r>
                    </a:p>
                  </a:txBody>
                  <a:tcPr marL="101600" marR="101600" marT="38100" marB="38100" anchor="ctr">
                    <a:solidFill>
                      <a:srgbClr val="1A0F5C"/>
                    </a:solidFill>
                  </a:tcPr>
                </a:tc>
                <a:tc>
                  <a:txBody>
                    <a:bodyPr/>
                    <a:lstStyle/>
                    <a:p>
                      <a:r>
                        <a:rPr sz="1250" b="1" i="0">
                          <a:solidFill>
                            <a:srgbClr val="FFFFFF"/>
                          </a:solidFill>
                          <a:latin typeface="Calibri"/>
                        </a:rPr>
                        <a:t>Numerator</a:t>
                      </a:r>
                    </a:p>
                  </a:txBody>
                  <a:tcPr marL="101600" marR="101600" marT="38100" marB="38100" anchor="ctr">
                    <a:solidFill>
                      <a:srgbClr val="1A0F5C"/>
                    </a:solidFill>
                  </a:tcPr>
                </a:tc>
                <a:tc>
                  <a:txBody>
                    <a:bodyPr/>
                    <a:lstStyle/>
                    <a:p>
                      <a:r>
                        <a:rPr sz="1250" b="1" i="0">
                          <a:solidFill>
                            <a:srgbClr val="FFFFFF"/>
                          </a:solidFill>
                          <a:latin typeface="Calibri"/>
                        </a:rPr>
                        <a:t>Denominator or unit</a:t>
                      </a:r>
                    </a:p>
                  </a:txBody>
                  <a:tcPr marL="101600" marR="101600" marT="38100" marB="38100" anchor="ctr">
                    <a:solidFill>
                      <a:srgbClr val="1A0F5C"/>
                    </a:solidFill>
                  </a:tcPr>
                </a:tc>
                <a:tc>
                  <a:txBody>
                    <a:bodyPr/>
                    <a:lstStyle/>
                    <a:p>
                      <a:r>
                        <a:rPr sz="1250" b="1" i="0">
                          <a:solidFill>
                            <a:srgbClr val="FFFFFF"/>
                          </a:solidFill>
                          <a:latin typeface="Calibri"/>
                        </a:rPr>
                        <a:t>Window</a:t>
                      </a:r>
                    </a:p>
                  </a:txBody>
                  <a:tcPr marL="101600" marR="101600" marT="38100" marB="38100" anchor="ctr">
                    <a:solidFill>
                      <a:srgbClr val="1A0F5C"/>
                    </a:solidFill>
                  </a:tcPr>
                </a:tc>
              </a:tr>
              <a:tr h="542544">
                <a:tc>
                  <a:txBody>
                    <a:bodyPr/>
                    <a:lstStyle/>
                    <a:p>
                      <a:r>
                        <a:rPr sz="1200" b="0" i="0">
                          <a:solidFill>
                            <a:srgbClr val="1A1440"/>
                          </a:solidFill>
                          <a:latin typeface="Calibri"/>
                        </a:rPr>
                        <a:t>Average Monthly Transacting Users (MTU)</a:t>
                      </a:r>
                    </a:p>
                  </a:txBody>
                  <a:tcPr marL="101600" marR="101600" marT="38100" marB="38100" anchor="ctr">
                    <a:solidFill>
                      <a:srgbClr val="FFFFFF"/>
                    </a:solidFill>
                  </a:tcPr>
                </a:tc>
                <a:tc>
                  <a:txBody>
                    <a:bodyPr/>
                    <a:lstStyle/>
                    <a:p>
                      <a:r>
                        <a:rPr sz="1200" b="0" i="0">
                          <a:solidFill>
                            <a:srgbClr val="1A1440"/>
                          </a:solidFill>
                          <a:latin typeface="Calibri"/>
                        </a:rPr>
                        <a:t>Unique users with at least one completed order on the app or website</a:t>
                      </a:r>
                    </a:p>
                  </a:txBody>
                  <a:tcPr marL="101600" marR="101600" marT="38100" marB="38100" anchor="ctr">
                    <a:solidFill>
                      <a:srgbClr val="FFFFFF"/>
                    </a:solidFill>
                  </a:tcPr>
                </a:tc>
                <a:tc>
                  <a:txBody>
                    <a:bodyPr/>
                    <a:lstStyle/>
                    <a:p>
                      <a:r>
                        <a:rPr sz="1200" b="0" i="0">
                          <a:solidFill>
                            <a:srgbClr val="1A1440"/>
                          </a:solidFill>
                          <a:latin typeface="Calibri"/>
                        </a:rPr>
                        <a:t>per month</a:t>
                      </a:r>
                    </a:p>
                  </a:txBody>
                  <a:tcPr marL="101600" marR="101600" marT="38100" marB="38100" anchor="ctr">
                    <a:solidFill>
                      <a:srgbClr val="FFFFFF"/>
                    </a:solidFill>
                  </a:tcPr>
                </a:tc>
                <a:tc>
                  <a:txBody>
                    <a:bodyPr/>
                    <a:lstStyle/>
                    <a:p>
                      <a:r>
                        <a:rPr sz="1200" b="0" i="0">
                          <a:solidFill>
                            <a:srgbClr val="1A1440"/>
                          </a:solidFill>
                          <a:latin typeface="Calibri"/>
                        </a:rPr>
                        <a:t>the month, averaged over the period</a:t>
                      </a:r>
                    </a:p>
                  </a:txBody>
                  <a:tcPr marL="101600" marR="101600" marT="38100" marB="38100" anchor="ctr">
                    <a:solidFill>
                      <a:srgbClr val="FFFFFF"/>
                    </a:solidFill>
                  </a:tcPr>
                </a:tc>
              </a:tr>
              <a:tr h="542544">
                <a:tc>
                  <a:txBody>
                    <a:bodyPr/>
                    <a:lstStyle/>
                    <a:p>
                      <a:r>
                        <a:rPr sz="1200" b="0" i="0">
                          <a:solidFill>
                            <a:srgbClr val="1A1440"/>
                          </a:solidFill>
                          <a:latin typeface="Calibri"/>
                        </a:rPr>
                        <a:t>Platform frequency</a:t>
                      </a:r>
                    </a:p>
                  </a:txBody>
                  <a:tcPr marL="101600" marR="101600" marT="38100" marB="38100" anchor="ctr">
                    <a:solidFill>
                      <a:srgbClr val="F4F2FA"/>
                    </a:solidFill>
                  </a:tcPr>
                </a:tc>
                <a:tc>
                  <a:txBody>
                    <a:bodyPr/>
                    <a:lstStyle/>
                    <a:p>
                      <a:r>
                        <a:rPr sz="1200" b="0" i="0">
                          <a:solidFill>
                            <a:srgbClr val="1A1440"/>
                          </a:solidFill>
                          <a:latin typeface="Calibri"/>
                        </a:rPr>
                        <a:t>Completed orders</a:t>
                      </a:r>
                    </a:p>
                  </a:txBody>
                  <a:tcPr marL="101600" marR="101600" marT="38100" marB="38100" anchor="ctr">
                    <a:solidFill>
                      <a:srgbClr val="F4F2FA"/>
                    </a:solidFill>
                  </a:tcPr>
                </a:tc>
                <a:tc>
                  <a:txBody>
                    <a:bodyPr/>
                    <a:lstStyle/>
                    <a:p>
                      <a:r>
                        <a:rPr sz="1200" b="0" i="0">
                          <a:solidFill>
                            <a:srgbClr val="1A1440"/>
                          </a:solidFill>
                          <a:latin typeface="Calibri"/>
                        </a:rPr>
                        <a:t>per transacting user</a:t>
                      </a:r>
                    </a:p>
                  </a:txBody>
                  <a:tcPr marL="101600" marR="101600" marT="38100" marB="38100" anchor="ctr">
                    <a:solidFill>
                      <a:srgbClr val="F4F2FA"/>
                    </a:solidFill>
                  </a:tcPr>
                </a:tc>
                <a:tc>
                  <a:txBody>
                    <a:bodyPr/>
                    <a:lstStyle/>
                    <a:p>
                      <a:r>
                        <a:rPr sz="1200" b="0" i="0">
                          <a:solidFill>
                            <a:srgbClr val="1A1440"/>
                          </a:solidFill>
                          <a:latin typeface="Calibri"/>
                        </a:rPr>
                        <a:t>the month, averaged over the period</a:t>
                      </a:r>
                    </a:p>
                  </a:txBody>
                  <a:tcPr marL="101600" marR="101600" marT="38100" marB="38100" anchor="ctr">
                    <a:solidFill>
                      <a:srgbClr val="F4F2FA"/>
                    </a:solidFill>
                  </a:tcPr>
                </a:tc>
              </a:tr>
            </a:tbl>
          </a:graphicData>
        </a:graphic>
      </p:graphicFrame>
      <p:sp>
        <p:nvSpPr>
          <p:cNvPr id="10" name="TextBox 9"/>
          <p:cNvSpPr txBox="1"/>
          <p:nvPr/>
        </p:nvSpPr>
        <p:spPr>
          <a:xfrm>
            <a:off x="530352" y="3840480"/>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In the quarter to 30 September 2024 Swiggy reported platform frequency of 4.53 orders per user a month and an MTU of 17.1 million (its shareholder letter filed with the exchange, checked 12 October 2026). Because "completed order" and "per month, averaged" are written down, a reader cannot mistake MTU for registered users.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3" name="Oval 12"/>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15" name="Oval 14"/>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22 / 40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Delhi Metro counted one crowd three ways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can one crowd give three numbers, none of them wrong?</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27 lakh</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RIDERS A DAY, FEBRUARY 2018</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gate count: one entry and one exit, one rider</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45,35,932</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LINE UTILISATION, 29 MAY 2018</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every line ridden counts: three lines, three</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82,44,903</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BOARDINGS, 17 SEPTEMBER 2026</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a record day, in a third unit</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In 2018 DMRC began counting "line utilisation": a rider from Noida City Centre to HUDA City Centre on three lines counts three, where the gate count counts one (PTI). In 2026 the figures arrive as 64.06 lakh average daily "journeys" (The Tribune) and the record "boardings" above (Republic World); all checked 12 October 2026. A definition can move a number without moving the crowd.</a:t>
            </a:r>
          </a:p>
        </p:txBody>
      </p:sp>
      <p:sp>
        <p:nvSpPr>
          <p:cNvPr id="22" name="Oval 2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24" name="Oval 23"/>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6" name="Oval 25"/>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23 / 40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many drivers sit under one trip an hour?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Of the 1,200 drivers, how many made fewer than one trip per peak online hour after the launch?</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About 30</a:t>
            </a:r>
          </a:p>
          <a:p>
            <a:pPr>
              <a:spcAft>
                <a:spcPts val="800"/>
              </a:spcAft>
            </a:pPr>
            <a:r>
              <a:rPr sz="1600" b="0" i="0">
                <a:solidFill>
                  <a:srgbClr val="1A1440"/>
                </a:solidFill>
                <a:latin typeface="Calibri"/>
              </a:rPr>
              <a:t>b) About 100</a:t>
            </a:r>
          </a:p>
          <a:p>
            <a:pPr>
              <a:spcAft>
                <a:spcPts val="800"/>
              </a:spcAft>
            </a:pPr>
            <a:r>
              <a:rPr sz="1600" b="0" i="0">
                <a:solidFill>
                  <a:srgbClr val="1A1440"/>
                </a:solidFill>
                <a:latin typeface="Calibri"/>
              </a:rPr>
              <a:t>c) About 180</a:t>
            </a:r>
          </a:p>
          <a:p>
            <a:pPr>
              <a:spcAft>
                <a:spcPts val="800"/>
              </a:spcAft>
            </a:pPr>
            <a:r>
              <a:rPr sz="1600" b="0" i="0">
                <a:solidFill>
                  <a:srgbClr val="1A1440"/>
                </a:solidFill>
                <a:latin typeface="Calibri"/>
              </a:rPr>
              <a:t>d) About 400</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2" name="Oval 11"/>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14" name="Oval 13"/>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24 / 40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180 drivers, 15 percent, sat idle online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are they, what did their hours and trips do, and where were they online?</a:t>
            </a:r>
          </a:p>
        </p:txBody>
      </p:sp>
      <p:pic>
        <p:nvPicPr>
          <p:cNvPr id="9" name="mermaid diagram" descr="C2_W04_D01_idle_tail_STUDENT.png"/>
          <p:cNvPicPr>
            <a:picLocks noChangeAspect="1"/>
          </p:cNvPicPr>
          <p:nvPr/>
        </p:nvPicPr>
        <p:blipFill>
          <a:blip r:embed="rId4"/>
          <a:stretch>
            <a:fillRect/>
          </a:stretch>
        </p:blipFill>
        <p:spPr>
          <a:xfrm>
            <a:off x="2882747" y="1664208"/>
            <a:ext cx="6426200" cy="2933700"/>
          </a:xfrm>
          <a:prstGeom prst="rect">
            <a:avLst/>
          </a:prstGeom>
        </p:spPr>
      </p:pic>
      <p:sp>
        <p:nvSpPr>
          <p:cNvPr id="10" name="picture caption"/>
          <p:cNvSpPr txBox="1"/>
          <p:nvPr/>
        </p:nvSpPr>
        <p:spPr>
          <a:xfrm>
            <a:off x="530352" y="4634484"/>
            <a:ext cx="11130991" cy="316992"/>
          </a:xfrm>
          <a:prstGeom prst="rect">
            <a:avLst/>
          </a:prstGeom>
          <a:noFill/>
        </p:spPr>
        <p:txBody>
          <a:bodyPr wrap="square" anchor="t" lIns="0" rIns="0" tIns="0" bIns="0">
            <a:spAutoFit/>
          </a:bodyPr>
          <a:lstStyle/>
          <a:p>
            <a:pPr algn="ctr"/>
            <a:r>
              <a:rPr sz="1200" b="0" i="0">
                <a:solidFill>
                  <a:srgbClr val="6B6690"/>
                </a:solidFill>
                <a:latin typeface="Calibri"/>
              </a:rPr>
              <a:t>After the launch, every driver-week by hours and trips; the idle tail sits far right and low</a:t>
            </a:r>
          </a:p>
        </p:txBody>
      </p:sp>
      <p:sp>
        <p:nvSpPr>
          <p:cNvPr id="11" name="Rounded Rectangle 10"/>
          <p:cNvSpPr/>
          <p:nvPr/>
        </p:nvSpPr>
        <p:spPr>
          <a:xfrm>
            <a:off x="530352" y="4960620"/>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088636"/>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079492"/>
            <a:ext cx="10564063" cy="891540"/>
          </a:xfrm>
          <a:prstGeom prst="rect">
            <a:avLst/>
          </a:prstGeom>
          <a:noFill/>
        </p:spPr>
        <p:txBody>
          <a:bodyPr wrap="square" anchor="ctr" lIns="0" rIns="0" tIns="0" bIns="0">
            <a:spAutoFit/>
          </a:bodyPr>
          <a:lstStyle/>
          <a:p>
            <a:r>
              <a:rPr sz="1500" b="1">
                <a:solidFill>
                  <a:srgbClr val="5B3FD6"/>
                </a:solidFill>
                <a:latin typeface="Calibri"/>
              </a:rPr>
              <a:t>Answer: c. </a:t>
            </a:r>
            <a:r>
              <a:rPr sz="1500" b="0" i="0">
                <a:solidFill>
                  <a:srgbClr val="1A1440"/>
                </a:solidFill>
                <a:latin typeface="Calibri"/>
              </a:rPr>
              <a:t>180 drivers, 15 percent: the </a:t>
            </a:r>
            <a:r>
              <a:rPr sz="1500" b="1" i="0">
                <a:solidFill>
                  <a:srgbClr val="1A1440"/>
                </a:solidFill>
                <a:latin typeface="Calibri"/>
              </a:rPr>
              <a:t>idle tail</a:t>
            </a:r>
            <a:r>
              <a:rPr sz="1500" b="0" i="0">
                <a:solidFill>
                  <a:srgbClr val="1A1440"/>
                </a:solidFill>
                <a:latin typeface="Calibri"/>
              </a:rPr>
              <a:t>. Hours 2.1 times, trips down 12 percent, 72 percent of the new hours in the outer zones. The six held two of them, a third of the sample against 15 percent city-wide.</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6" name="Oval 15"/>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18" name="Oval 17"/>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25 / 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Close: hours rose where riders were few</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has chapter 2 answered, and what does the board now hold?</a:t>
            </a:r>
          </a:p>
        </p:txBody>
      </p:sp>
      <p:pic>
        <p:nvPicPr>
          <p:cNvPr id="9" name="mermaid diagram" descr="65b801dab7c3dbec.png"/>
          <p:cNvPicPr>
            <a:picLocks noChangeAspect="1"/>
          </p:cNvPicPr>
          <p:nvPr/>
        </p:nvPicPr>
        <p:blipFill>
          <a:blip r:embed="rId5"/>
          <a:stretch>
            <a:fillRect/>
          </a:stretch>
        </p:blipFill>
        <p:spPr>
          <a:xfrm>
            <a:off x="2803402" y="1664208"/>
            <a:ext cx="6584889" cy="2545080"/>
          </a:xfrm>
          <a:prstGeom prst="rect">
            <a:avLst/>
          </a:prstGeom>
        </p:spPr>
      </p:pic>
      <p:sp>
        <p:nvSpPr>
          <p:cNvPr id="10" name="Rounded Rectangle 9"/>
          <p:cNvSpPr/>
          <p:nvPr/>
        </p:nvSpPr>
        <p:spPr>
          <a:xfrm>
            <a:off x="530352" y="425500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38302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373880"/>
            <a:ext cx="10564063" cy="624840"/>
          </a:xfrm>
          <a:prstGeom prst="rect">
            <a:avLst/>
          </a:prstGeom>
          <a:noFill/>
        </p:spPr>
        <p:txBody>
          <a:bodyPr wrap="square" anchor="ctr" lIns="0" rIns="0" tIns="0" bIns="0">
            <a:spAutoFit/>
          </a:bodyPr>
          <a:lstStyle/>
          <a:p>
            <a:r>
              <a:rPr sz="1500" b="1">
                <a:solidFill>
                  <a:srgbClr val="5B3FD6"/>
                </a:solidFill>
                <a:latin typeface="Calibri"/>
              </a:rPr>
              <a:t>The crux. </a:t>
            </a:r>
            <a:r>
              <a:rPr sz="1500" b="0" i="0">
                <a:solidFill>
                  <a:srgbClr val="1A1440"/>
                </a:solidFill>
                <a:latin typeface="Calibri"/>
              </a:rPr>
              <a:t>A rate is two sums divided once, with its denominator named; the city's 1.90 to 1.58 is real, demand rose, and 180 drivers sitting online in thin zones carry the fall.</a:t>
            </a:r>
          </a:p>
        </p:txBody>
      </p:sp>
      <p:sp>
        <p:nvSpPr>
          <p:cNvPr id="13" name="Rounded Rectangle 12"/>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The senior analyst's check. </a:t>
            </a:r>
            <a:r>
              <a:rPr sz="1500" b="0" i="0">
                <a:solidFill>
                  <a:srgbClr val="1A1440"/>
                </a:solidFill>
                <a:latin typeface="Calibri"/>
              </a:rPr>
              <a:t>Baseline (1.90), denominator (online hours), evidence from a second table (requests rose 1.8 percent), and the segment reached a second way (acceptance finds the same 180).</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8" name="Oval 17"/>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Where did the fall sit?</a:t>
            </a:r>
          </a:p>
        </p:txBody>
      </p:sp>
      <p:sp>
        <p:nvSpPr>
          <p:cNvPr id="20" name="Oval 19"/>
          <p:cNvSpPr/>
          <p:nvPr/>
        </p:nvSpPr>
        <p:spPr>
          <a:xfrm>
            <a:off x="364359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5332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What should it pay for?</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26 / 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03</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should it pay for?</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number should the scheme pay for, which guardrails stop the gaming, and what can the data not show, before the city head decides on Friday?</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does an hour count?</a:t>
            </a:r>
          </a:p>
        </p:txBody>
      </p:sp>
      <p:sp>
        <p:nvSpPr>
          <p:cNvPr id="11" name="Rounded Rectangle 10"/>
          <p:cNvSpPr/>
          <p:nvPr/>
        </p:nvSpPr>
        <p:spPr>
          <a:xfrm>
            <a:off x="2628191" y="5074920"/>
            <a:ext cx="1727727"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did the fall sit?</a:t>
            </a:r>
          </a:p>
        </p:txBody>
      </p:sp>
      <p:sp>
        <p:nvSpPr>
          <p:cNvPr id="12" name="Rounded Rectangle 11"/>
          <p:cNvSpPr/>
          <p:nvPr/>
        </p:nvSpPr>
        <p:spPr>
          <a:xfrm>
            <a:off x="4465646" y="5074920"/>
            <a:ext cx="1727727"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should it pay for?</a:t>
            </a:r>
          </a:p>
        </p:txBody>
      </p:sp>
      <p:sp>
        <p:nvSpPr>
          <p:cNvPr id="13" name="TextBox 1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4, Day 1. Is the number we pay for measuring what we want?</a:t>
            </a:r>
          </a:p>
        </p:txBody>
      </p:sp>
      <p:sp>
        <p:nvSpPr>
          <p:cNvPr id="14" name="TextBox 1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27 / 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number would you pay drivers for?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If the scheme paid for one number, which would make the most drivers drive?</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Peak online hours, as now</a:t>
            </a:r>
          </a:p>
          <a:p>
            <a:pPr>
              <a:spcAft>
                <a:spcPts val="800"/>
              </a:spcAft>
            </a:pPr>
            <a:r>
              <a:rPr sz="1600" b="0" i="0">
                <a:solidFill>
                  <a:srgbClr val="1A1440"/>
                </a:solidFill>
                <a:latin typeface="Calibri"/>
              </a:rPr>
              <a:t>b) Completed peak trips, nothing beside it</a:t>
            </a:r>
          </a:p>
          <a:p>
            <a:pPr>
              <a:spcAft>
                <a:spcPts val="800"/>
              </a:spcAft>
            </a:pPr>
            <a:r>
              <a:rPr sz="1600" b="0" i="0">
                <a:solidFill>
                  <a:srgbClr val="1A1440"/>
                </a:solidFill>
                <a:latin typeface="Calibri"/>
              </a:rPr>
              <a:t>c) Completed peak trips, with an acceptance floor beside it</a:t>
            </a:r>
          </a:p>
          <a:p>
            <a:pPr>
              <a:spcAft>
                <a:spcPts val="800"/>
              </a:spcAft>
            </a:pPr>
            <a:r>
              <a:rPr sz="1600" b="0" i="0">
                <a:solidFill>
                  <a:srgbClr val="1A1440"/>
                </a:solidFill>
                <a:latin typeface="Calibri"/>
              </a:rPr>
              <a:t>d) Enrolled drivers</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4" name="Oval 13"/>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28 / 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trips, with a floor on acceptance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Why does each of the other three fail?</a:t>
            </a:r>
          </a:p>
        </p:txBody>
      </p:sp>
      <p:sp>
        <p:nvSpPr>
          <p:cNvPr id="9" name="Rounded Rectangle 8"/>
          <p:cNvSpPr/>
          <p:nvPr/>
        </p:nvSpPr>
        <p:spPr>
          <a:xfrm>
            <a:off x="530352" y="1956816"/>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1158240"/>
          </a:xfrm>
          <a:prstGeom prst="rect">
            <a:avLst/>
          </a:prstGeom>
          <a:noFill/>
        </p:spPr>
        <p:txBody>
          <a:bodyPr wrap="square" anchor="ctr" lIns="0" rIns="0" tIns="0" bIns="0">
            <a:spAutoFit/>
          </a:bodyPr>
          <a:lstStyle/>
          <a:p>
            <a:r>
              <a:rPr sz="1500" b="1">
                <a:solidFill>
                  <a:srgbClr val="5B3FD6"/>
                </a:solidFill>
                <a:latin typeface="Calibri"/>
              </a:rPr>
              <a:t>Answer: c. </a:t>
            </a:r>
            <a:r>
              <a:rPr sz="1500" b="0" i="0">
                <a:solidFill>
                  <a:srgbClr val="1A1440"/>
                </a:solidFill>
                <a:latin typeface="Calibri"/>
              </a:rPr>
              <a:t>Hours pay for an open app, which the idle tail showed. Trips alone let a driver accept only short or nearby trips and decline the rest, which the share of offers accepted catches. Enrolled drivers rise with every sign-up whether or not anyone drives. Trips with an acceptance floor pay for the service and catch the cherry-picking.</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29 / 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wrong memo: "supply met, extend it"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decision does "peak online hours up 24 percent" send to the city head, and what catches it?</a:t>
            </a:r>
          </a:p>
        </p:txBody>
      </p:sp>
      <p:pic>
        <p:nvPicPr>
          <p:cNvPr id="9" name="mermaid diagram" descr="4ec08a1ec876b01c.png"/>
          <p:cNvPicPr>
            <a:picLocks noChangeAspect="1"/>
          </p:cNvPicPr>
          <p:nvPr/>
        </p:nvPicPr>
        <p:blipFill>
          <a:blip r:embed="rId5"/>
          <a:stretch>
            <a:fillRect/>
          </a:stretch>
        </p:blipFill>
        <p:spPr>
          <a:xfrm>
            <a:off x="1688153" y="1925764"/>
            <a:ext cx="8815387" cy="2543175"/>
          </a:xfrm>
          <a:prstGeom prst="rect">
            <a:avLst/>
          </a:prstGeom>
        </p:spPr>
      </p:pic>
      <p:sp>
        <p:nvSpPr>
          <p:cNvPr id="10" name="Rounded Rectangle 9"/>
          <p:cNvSpPr/>
          <p:nvPr/>
        </p:nvSpPr>
        <p:spPr>
          <a:xfrm>
            <a:off x="530352" y="4615243"/>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743259"/>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734115"/>
            <a:ext cx="10564063" cy="1158240"/>
          </a:xfrm>
          <a:prstGeom prst="rect">
            <a:avLst/>
          </a:prstGeom>
          <a:noFill/>
        </p:spPr>
        <p:txBody>
          <a:bodyPr wrap="square" anchor="ctr" lIns="0" rIns="0" tIns="0" bIns="0">
            <a:spAutoFit/>
          </a:bodyPr>
          <a:lstStyle/>
          <a:p>
            <a:r>
              <a:rPr sz="1500" b="1">
                <a:solidFill>
                  <a:srgbClr val="5B3FD6"/>
                </a:solidFill>
                <a:latin typeface="Calibri"/>
              </a:rPr>
              <a:t>The plausible wrong answer: </a:t>
            </a:r>
            <a:r>
              <a:rPr sz="1500" b="0" i="0">
                <a:solidFill>
                  <a:srgbClr val="1A1440"/>
                </a:solidFill>
                <a:latin typeface="Calibri"/>
              </a:rPr>
              <a:t>"Peak online hours up 24 percent over six weeks. Supply target met. Recommendation: extend the scheme to two more cities." </a:t>
            </a:r>
            <a:r>
              <a:rPr sz="1500" b="1" i="0">
                <a:solidFill>
                  <a:srgbClr val="1A1440"/>
                </a:solidFill>
                <a:latin typeface="Calibri"/>
              </a:rPr>
              <a:t>The check that catches it:</a:t>
            </a:r>
            <a:r>
              <a:rPr sz="1500" b="0" i="0">
                <a:solidFill>
                  <a:srgbClr val="1A1440"/>
                </a:solidFill>
                <a:latin typeface="Calibri"/>
              </a:rPr>
              <a:t> trips per peak online hour fell from 1.90 to 1.58 and the median wait barely moved, so riders were served no better. </a:t>
            </a:r>
            <a:r>
              <a:rPr sz="1500" b="1" i="0">
                <a:solidFill>
                  <a:srgbClr val="1A1440"/>
                </a:solidFill>
                <a:latin typeface="Calibri"/>
              </a:rPr>
              <a:t>The fix:</a:t>
            </a:r>
            <a:r>
              <a:rPr sz="1500" b="0" i="0">
                <a:solidFill>
                  <a:srgbClr val="1A1440"/>
                </a:solidFill>
                <a:latin typeface="Calibri"/>
              </a:rPr>
              <a:t> pay for completed peak trips, with an acceptance guardrail.</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7" name="Oval 16"/>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30 / 40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How much top-up went to declining weeks?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share of the Rs 1.9 crore went to driver-weeks that accepted fewer than half their offers?</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15 percent</a:t>
            </a:r>
          </a:p>
          <a:p>
            <a:pPr>
              <a:spcAft>
                <a:spcPts val="800"/>
              </a:spcAft>
            </a:pPr>
            <a:r>
              <a:rPr sz="1600" b="0" i="0">
                <a:solidFill>
                  <a:srgbClr val="1A1440"/>
                </a:solidFill>
                <a:latin typeface="Calibri"/>
              </a:rPr>
              <a:t>b) 39 percent</a:t>
            </a:r>
          </a:p>
          <a:p>
            <a:pPr>
              <a:spcAft>
                <a:spcPts val="800"/>
              </a:spcAft>
            </a:pPr>
            <a:r>
              <a:rPr sz="1600" b="0" i="0">
                <a:solidFill>
                  <a:srgbClr val="1A1440"/>
                </a:solidFill>
                <a:latin typeface="Calibri"/>
              </a:rPr>
              <a:t>c) 61 percent</a:t>
            </a:r>
          </a:p>
          <a:p>
            <a:pPr>
              <a:spcAft>
                <a:spcPts val="800"/>
              </a:spcAft>
            </a:pPr>
            <a:r>
              <a:rPr sz="1600" b="0" i="0">
                <a:solidFill>
                  <a:srgbClr val="1A1440"/>
                </a:solidFill>
                <a:latin typeface="Calibri"/>
              </a:rPr>
              <a:t>d) 88 percent</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4" name="Oval 13"/>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31 / 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61 percent, Rs 1.16 crore of 1.9</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did the money go, and what is the honest way to state a saving?</a:t>
            </a:r>
          </a:p>
        </p:txBody>
      </p:sp>
      <p:pic>
        <p:nvPicPr>
          <p:cNvPr id="9" name="mermaid diagram" descr="C2_W04_D01_topup_split_STUDENT.png"/>
          <p:cNvPicPr>
            <a:picLocks noChangeAspect="1"/>
          </p:cNvPicPr>
          <p:nvPr/>
        </p:nvPicPr>
        <p:blipFill>
          <a:blip r:embed="rId4"/>
          <a:stretch>
            <a:fillRect/>
          </a:stretch>
        </p:blipFill>
        <p:spPr>
          <a:xfrm>
            <a:off x="2262035" y="1664208"/>
            <a:ext cx="7667625" cy="2667000"/>
          </a:xfrm>
          <a:prstGeom prst="rect">
            <a:avLst/>
          </a:prstGeom>
        </p:spPr>
      </p:pic>
      <p:sp>
        <p:nvSpPr>
          <p:cNvPr id="10" name="picture caption"/>
          <p:cNvSpPr txBox="1"/>
          <p:nvPr/>
        </p:nvSpPr>
        <p:spPr>
          <a:xfrm>
            <a:off x="530352" y="4367784"/>
            <a:ext cx="11130991" cy="316992"/>
          </a:xfrm>
          <a:prstGeom prst="rect">
            <a:avLst/>
          </a:prstGeom>
          <a:noFill/>
        </p:spPr>
        <p:txBody>
          <a:bodyPr wrap="square" anchor="t" lIns="0" rIns="0" tIns="0" bIns="0">
            <a:spAutoFit/>
          </a:bodyPr>
          <a:lstStyle/>
          <a:p>
            <a:pPr algn="ctr"/>
            <a:r>
              <a:rPr sz="1200" b="0" i="0">
                <a:solidFill>
                  <a:srgbClr val="6B6690"/>
                </a:solidFill>
                <a:latin typeface="Calibri"/>
              </a:rPr>
              <a:t>Where the Rs 1.9 crore top-up went, split at an accepted share of 0.5</a:t>
            </a:r>
          </a:p>
        </p:txBody>
      </p:sp>
      <p:sp>
        <p:nvSpPr>
          <p:cNvPr id="11" name="Rounded Rectangle 10"/>
          <p:cNvSpPr/>
          <p:nvPr/>
        </p:nvSpPr>
        <p:spPr>
          <a:xfrm>
            <a:off x="530352" y="4693920"/>
            <a:ext cx="11130991" cy="13411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821936"/>
            <a:ext cx="45720" cy="10850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812792"/>
            <a:ext cx="10564063" cy="1158240"/>
          </a:xfrm>
          <a:prstGeom prst="rect">
            <a:avLst/>
          </a:prstGeom>
          <a:noFill/>
        </p:spPr>
        <p:txBody>
          <a:bodyPr wrap="square" anchor="ctr" lIns="0" rIns="0" tIns="0" bIns="0">
            <a:spAutoFit/>
          </a:bodyPr>
          <a:lstStyle/>
          <a:p>
            <a:r>
              <a:rPr sz="1500" b="1">
                <a:solidFill>
                  <a:srgbClr val="5B3FD6"/>
                </a:solidFill>
                <a:latin typeface="Calibri"/>
              </a:rPr>
              <a:t>Answer: c. </a:t>
            </a:r>
            <a:r>
              <a:rPr sz="1500" b="0" i="0">
                <a:solidFill>
                  <a:srgbClr val="1A1440"/>
                </a:solidFill>
                <a:latin typeface="Calibri"/>
              </a:rPr>
              <a:t>Rs 1.159 crore, 61 percent, went to driver-weeks that accepted fewer than half the offers they were shown; Rs 74 lakh went to the rest. Rs 74 lakh is what the six weeks would have cost had only the second group been paid and every driver behaved the same, which a new rule would not guarantee: some idle drivers would start accepting enough to qualify.</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8" name="Oval 17"/>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32 / 40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tree: a north star, guardrails, inputs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does the number the scheme pays for connect to the numbers that must not get worse and the ones the city team can act on this week?</a:t>
            </a:r>
          </a:p>
        </p:txBody>
      </p:sp>
      <p:pic>
        <p:nvPicPr>
          <p:cNvPr id="9" name="mermaid diagram" descr="81d4f9e0d7d09345.png"/>
          <p:cNvPicPr>
            <a:picLocks noChangeAspect="1"/>
          </p:cNvPicPr>
          <p:nvPr/>
        </p:nvPicPr>
        <p:blipFill>
          <a:blip r:embed="rId5"/>
          <a:stretch>
            <a:fillRect/>
          </a:stretch>
        </p:blipFill>
        <p:spPr>
          <a:xfrm>
            <a:off x="2711323" y="1664208"/>
            <a:ext cx="6769047" cy="3256280"/>
          </a:xfrm>
          <a:prstGeom prst="rect">
            <a:avLst/>
          </a:prstGeom>
        </p:spPr>
      </p:pic>
      <p:sp>
        <p:nvSpPr>
          <p:cNvPr id="10" name="TextBox 9"/>
          <p:cNvSpPr txBox="1"/>
          <p:nvPr/>
        </p:nvSpPr>
        <p:spPr>
          <a:xfrm>
            <a:off x="530352" y="4966208"/>
            <a:ext cx="11130991" cy="1233424"/>
          </a:xfrm>
          <a:prstGeom prst="rect">
            <a:avLst/>
          </a:prstGeom>
          <a:noFill/>
        </p:spPr>
        <p:txBody>
          <a:bodyPr wrap="square" anchor="t" lIns="0" rIns="0" tIns="0" bIns="0">
            <a:spAutoFit/>
          </a:bodyPr>
          <a:lstStyle/>
          <a:p>
            <a:r>
              <a:rPr sz="1600" b="1" i="0">
                <a:solidFill>
                  <a:srgbClr val="1A1440"/>
                </a:solidFill>
                <a:latin typeface="Calibri"/>
              </a:rPr>
              <a:t>The north star</a:t>
            </a:r>
            <a:r>
              <a:rPr sz="1600" b="0" i="0">
                <a:solidFill>
                  <a:srgbClr val="1A1440"/>
                </a:solidFill>
                <a:latin typeface="Calibri"/>
              </a:rPr>
              <a:t> names the outcome the scheme exists for. </a:t>
            </a:r>
            <a:r>
              <a:rPr sz="1600" b="1" i="0">
                <a:solidFill>
                  <a:srgbClr val="1A1440"/>
                </a:solidFill>
                <a:latin typeface="Calibri"/>
              </a:rPr>
              <a:t>Guardrails</a:t>
            </a:r>
            <a:r>
              <a:rPr sz="1600" b="0" i="0">
                <a:solidFill>
                  <a:srgbClr val="1A1440"/>
                </a:solidFill>
                <a:latin typeface="Calibri"/>
              </a:rPr>
              <a:t> name the ways of hitting it that hurt riders or the budget. </a:t>
            </a:r>
            <a:r>
              <a:rPr sz="1600" b="1" i="0">
                <a:solidFill>
                  <a:srgbClr val="1A1440"/>
                </a:solidFill>
                <a:latin typeface="Calibri"/>
              </a:rPr>
              <a:t>Inputs</a:t>
            </a:r>
            <a:r>
              <a:rPr sz="1600" b="0" i="0">
                <a:solidFill>
                  <a:srgbClr val="1A1440"/>
                </a:solidFill>
                <a:latin typeface="Calibri"/>
              </a:rPr>
              <a:t> are what the city team can move this week before the north star catches up. Read the north star and its guardrails as a </a:t>
            </a:r>
            <a:r>
              <a:rPr sz="1600" b="1" i="0">
                <a:solidFill>
                  <a:srgbClr val="1A1440"/>
                </a:solidFill>
                <a:latin typeface="Calibri"/>
              </a:rPr>
              <a:t>seesaw</a:t>
            </a:r>
            <a:r>
              <a:rPr sz="1600" b="0" i="0">
                <a:solidFill>
                  <a:srgbClr val="1A1440"/>
                </a:solidFill>
                <a:latin typeface="Calibri"/>
              </a:rPr>
              <a:t>: when the north star rises and a guardrail drops, the rise was bought.</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5" name="Oval 14"/>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33 / 40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Acceptance moved first, bookings followed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number would have warned the city team in the first week?</a:t>
            </a:r>
          </a:p>
        </p:txBody>
      </p:sp>
      <p:pic>
        <p:nvPicPr>
          <p:cNvPr id="9" name="mermaid diagram" descr="C2_W04_D01_lead_STUDENT.png"/>
          <p:cNvPicPr>
            <a:picLocks noChangeAspect="1"/>
          </p:cNvPicPr>
          <p:nvPr/>
        </p:nvPicPr>
        <p:blipFill>
          <a:blip r:embed="rId4"/>
          <a:stretch>
            <a:fillRect/>
          </a:stretch>
        </p:blipFill>
        <p:spPr>
          <a:xfrm>
            <a:off x="2340090" y="1664208"/>
            <a:ext cx="7511513" cy="2939288"/>
          </a:xfrm>
          <a:prstGeom prst="rect">
            <a:avLst/>
          </a:prstGeom>
        </p:spPr>
      </p:pic>
      <p:sp>
        <p:nvSpPr>
          <p:cNvPr id="10" name="picture caption"/>
          <p:cNvSpPr txBox="1"/>
          <p:nvPr/>
        </p:nvSpPr>
        <p:spPr>
          <a:xfrm>
            <a:off x="530352" y="4640072"/>
            <a:ext cx="11130991" cy="316992"/>
          </a:xfrm>
          <a:prstGeom prst="rect">
            <a:avLst/>
          </a:prstGeom>
          <a:noFill/>
        </p:spPr>
        <p:txBody>
          <a:bodyPr wrap="square" anchor="t" lIns="0" rIns="0" tIns="0" bIns="0">
            <a:spAutoFit/>
          </a:bodyPr>
          <a:lstStyle/>
          <a:p>
            <a:pPr algn="ctr"/>
            <a:r>
              <a:rPr sz="1200" b="0" i="0">
                <a:solidFill>
                  <a:srgbClr val="6B6690"/>
                </a:solidFill>
                <a:latin typeface="Calibri"/>
              </a:rPr>
              <a:t>Weekly share of offers accepted beside bookings per online hour, twelve weeks</a:t>
            </a:r>
          </a:p>
        </p:txBody>
      </p:sp>
      <p:sp>
        <p:nvSpPr>
          <p:cNvPr id="11" name="TextBox 10"/>
          <p:cNvSpPr txBox="1"/>
          <p:nvPr/>
        </p:nvSpPr>
        <p:spPr>
          <a:xfrm>
            <a:off x="530352" y="4966208"/>
            <a:ext cx="11130991" cy="1233424"/>
          </a:xfrm>
          <a:prstGeom prst="rect">
            <a:avLst/>
          </a:prstGeom>
          <a:noFill/>
        </p:spPr>
        <p:txBody>
          <a:bodyPr wrap="square" anchor="t" lIns="0" rIns="0" tIns="0" bIns="0">
            <a:spAutoFit/>
          </a:bodyPr>
          <a:lstStyle/>
          <a:p>
            <a:r>
              <a:rPr sz="1600" b="0" i="0">
                <a:solidFill>
                  <a:srgbClr val="1A1440"/>
                </a:solidFill>
                <a:latin typeface="Calibri"/>
              </a:rPr>
              <a:t>A </a:t>
            </a:r>
            <a:r>
              <a:rPr sz="1600" b="1" i="0">
                <a:solidFill>
                  <a:srgbClr val="1A1440"/>
                </a:solidFill>
                <a:latin typeface="Calibri"/>
              </a:rPr>
              <a:t>leading</a:t>
            </a:r>
            <a:r>
              <a:rPr sz="1600" b="0" i="0">
                <a:solidFill>
                  <a:srgbClr val="1A1440"/>
                </a:solidFill>
                <a:latin typeface="Calibri"/>
              </a:rPr>
              <a:t> input moves before the number the plan is judged on; a </a:t>
            </a:r>
            <a:r>
              <a:rPr sz="1600" b="1" i="0">
                <a:solidFill>
                  <a:srgbClr val="1A1440"/>
                </a:solidFill>
                <a:latin typeface="Calibri"/>
              </a:rPr>
              <a:t>lagging</a:t>
            </a:r>
            <a:r>
              <a:rPr sz="1600" b="0" i="0">
                <a:solidFill>
                  <a:srgbClr val="1A1440"/>
                </a:solidFill>
                <a:latin typeface="Calibri"/>
              </a:rPr>
              <a:t> one confirms it later. Acceptance fell to its new level in the launch week (0.729); bookings per online hour fell to Rs 271 that week and kept falling to Rs 259 by the third. A city team watching acceptance would have seen the gaming in week one.</a:t>
            </a:r>
          </a:p>
        </p:txBody>
      </p:sp>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6" name="Oval 15"/>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34 / 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Seven lines make the number hard to game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line of the redesign's definition say, and which gaming does it stop?</a:t>
            </a:r>
          </a:p>
        </p:txBody>
      </p:sp>
      <p:graphicFrame>
        <p:nvGraphicFramePr>
          <p:cNvPr id="9" name="Table 8"/>
          <p:cNvGraphicFramePr>
            <a:graphicFrameLocks noGrp="1"/>
          </p:cNvGraphicFramePr>
          <p:nvPr/>
        </p:nvGraphicFramePr>
        <p:xfrm>
          <a:off x="530352" y="1956816"/>
          <a:ext cx="11130990" cy="2682240"/>
        </p:xfrm>
        <a:graphic>
          <a:graphicData uri="http://schemas.openxmlformats.org/drawingml/2006/table">
            <a:tbl>
              <a:tblPr firstRow="0" bandRow="0">
                <a:tableStyleId>{2D5ABB26-0587-4C30-8999-92F81FD0307C}</a:tableStyleId>
              </a:tblPr>
              <a:tblGrid>
                <a:gridCol w="2978555"/>
                <a:gridCol w="8152435"/>
              </a:tblGrid>
              <a:tr h="335280">
                <a:tc>
                  <a:txBody>
                    <a:bodyPr/>
                    <a:lstStyle/>
                    <a:p>
                      <a:r>
                        <a:rPr sz="1250" b="1" i="0">
                          <a:solidFill>
                            <a:srgbClr val="FFFFFF"/>
                          </a:solidFill>
                          <a:latin typeface="Calibri"/>
                        </a:rPr>
                        <a:t>Line</a:t>
                      </a:r>
                    </a:p>
                  </a:txBody>
                  <a:tcPr marL="101600" marR="101600" marT="38100" marB="38100" anchor="ctr">
                    <a:solidFill>
                      <a:srgbClr val="1A0F5C"/>
                    </a:solidFill>
                  </a:tcPr>
                </a:tc>
                <a:tc>
                  <a:txBody>
                    <a:bodyPr/>
                    <a:lstStyle/>
                    <a:p>
                      <a:r>
                        <a:rPr sz="1250" b="1" i="0">
                          <a:solidFill>
                            <a:srgbClr val="FFFFFF"/>
                          </a:solidFill>
                          <a:latin typeface="Calibri"/>
                        </a:rPr>
                        <a:t>The redesign's definition</a:t>
                      </a:r>
                    </a:p>
                  </a:txBody>
                  <a:tcPr marL="101600" marR="101600" marT="38100" marB="38100" anchor="ctr">
                    <a:solidFill>
                      <a:srgbClr val="1A0F5C"/>
                    </a:solidFill>
                  </a:tcPr>
                </a:tc>
              </a:tr>
              <a:tr h="335280">
                <a:tc>
                  <a:txBody>
                    <a:bodyPr/>
                    <a:lstStyle/>
                    <a:p>
                      <a:r>
                        <a:rPr sz="1200" b="0" i="0">
                          <a:solidFill>
                            <a:srgbClr val="1A1440"/>
                          </a:solidFill>
                          <a:latin typeface="Calibri"/>
                        </a:rPr>
                        <a:t>Numerator</a:t>
                      </a:r>
                    </a:p>
                  </a:txBody>
                  <a:tcPr marL="101600" marR="101600" marT="38100" marB="38100" anchor="ctr">
                    <a:solidFill>
                      <a:srgbClr val="FFFFFF"/>
                    </a:solidFill>
                  </a:tcPr>
                </a:tc>
                <a:tc>
                  <a:txBody>
                    <a:bodyPr/>
                    <a:lstStyle/>
                    <a:p>
                      <a:r>
                        <a:rPr sz="1200" b="0" i="0">
                          <a:solidFill>
                            <a:srgbClr val="1A1440"/>
                          </a:solidFill>
                          <a:latin typeface="Calibri"/>
                        </a:rPr>
                        <a:t>Trips completed inside the peak windows, counted per paying rider, as Uber's own filing counts trips</a:t>
                      </a:r>
                    </a:p>
                  </a:txBody>
                  <a:tcPr marL="101600" marR="101600" marT="38100" marB="38100" anchor="ctr">
                    <a:solidFill>
                      <a:srgbClr val="FFFFFF"/>
                    </a:solidFill>
                  </a:tcPr>
                </a:tc>
              </a:tr>
              <a:tr h="335280">
                <a:tc>
                  <a:txBody>
                    <a:bodyPr/>
                    <a:lstStyle/>
                    <a:p>
                      <a:r>
                        <a:rPr sz="1200" b="0" i="0">
                          <a:solidFill>
                            <a:srgbClr val="1A1440"/>
                          </a:solidFill>
                          <a:latin typeface="Calibri"/>
                        </a:rPr>
                        <a:t>Denominator</a:t>
                      </a:r>
                    </a:p>
                  </a:txBody>
                  <a:tcPr marL="101600" marR="101600" marT="38100" marB="38100" anchor="ctr">
                    <a:solidFill>
                      <a:srgbClr val="F4F2FA"/>
                    </a:solidFill>
                  </a:tcPr>
                </a:tc>
                <a:tc>
                  <a:txBody>
                    <a:bodyPr/>
                    <a:lstStyle/>
                    <a:p>
                      <a:r>
                        <a:rPr sz="1200" b="0" i="0">
                          <a:solidFill>
                            <a:srgbClr val="1A1440"/>
                          </a:solidFill>
                          <a:latin typeface="Calibri"/>
                        </a:rPr>
                        <a:t>Enrolled drivers online at least one peak hour that week, the count printed beside the rate</a:t>
                      </a:r>
                    </a:p>
                  </a:txBody>
                  <a:tcPr marL="101600" marR="101600" marT="38100" marB="38100" anchor="ctr">
                    <a:solidFill>
                      <a:srgbClr val="F4F2FA"/>
                    </a:solidFill>
                  </a:tcPr>
                </a:tc>
              </a:tr>
              <a:tr h="335280">
                <a:tc>
                  <a:txBody>
                    <a:bodyPr/>
                    <a:lstStyle/>
                    <a:p>
                      <a:r>
                        <a:rPr sz="1200" b="0" i="0">
                          <a:solidFill>
                            <a:srgbClr val="1A1440"/>
                          </a:solidFill>
                          <a:latin typeface="Calibri"/>
                        </a:rPr>
                        <a:t>Window</a:t>
                      </a:r>
                    </a:p>
                  </a:txBody>
                  <a:tcPr marL="101600" marR="101600" marT="38100" marB="38100" anchor="ctr">
                    <a:solidFill>
                      <a:srgbClr val="FFFFFF"/>
                    </a:solidFill>
                  </a:tcPr>
                </a:tc>
                <a:tc>
                  <a:txBody>
                    <a:bodyPr/>
                    <a:lstStyle/>
                    <a:p>
                      <a:r>
                        <a:rPr sz="1200" b="0" i="0">
                          <a:solidFill>
                            <a:srgbClr val="1A1440"/>
                          </a:solidFill>
                          <a:latin typeface="Calibri"/>
                        </a:rPr>
                        <a:t>The calendar week</a:t>
                      </a:r>
                    </a:p>
                  </a:txBody>
                  <a:tcPr marL="101600" marR="101600" marT="38100" marB="38100" anchor="ctr">
                    <a:solidFill>
                      <a:srgbClr val="FFFFFF"/>
                    </a:solidFill>
                  </a:tcPr>
                </a:tc>
              </a:tr>
              <a:tr h="335280">
                <a:tc>
                  <a:txBody>
                    <a:bodyPr/>
                    <a:lstStyle/>
                    <a:p>
                      <a:r>
                        <a:rPr sz="1200" b="0" i="0">
                          <a:solidFill>
                            <a:srgbClr val="1A1440"/>
                          </a:solidFill>
                          <a:latin typeface="Calibri"/>
                        </a:rPr>
                        <a:t>Exclusions</a:t>
                      </a:r>
                    </a:p>
                  </a:txBody>
                  <a:tcPr marL="101600" marR="101600" marT="38100" marB="38100" anchor="ctr">
                    <a:solidFill>
                      <a:srgbClr val="F4F2FA"/>
                    </a:solidFill>
                  </a:tcPr>
                </a:tc>
                <a:tc>
                  <a:txBody>
                    <a:bodyPr/>
                    <a:lstStyle/>
                    <a:p>
                      <a:r>
                        <a:rPr sz="1200" b="0" i="0">
                          <a:solidFill>
                            <a:srgbClr val="1A1440"/>
                          </a:solidFill>
                          <a:latin typeface="Calibri"/>
                        </a:rPr>
                        <a:t>Trips cancelled by either side, test accounts, trips outside the windows</a:t>
                      </a:r>
                    </a:p>
                  </a:txBody>
                  <a:tcPr marL="101600" marR="101600" marT="38100" marB="38100" anchor="ctr">
                    <a:solidFill>
                      <a:srgbClr val="F4F2FA"/>
                    </a:solidFill>
                  </a:tcPr>
                </a:tc>
              </a:tr>
              <a:tr h="335280">
                <a:tc>
                  <a:txBody>
                    <a:bodyPr/>
                    <a:lstStyle/>
                    <a:p>
                      <a:r>
                        <a:rPr sz="1200" b="0" i="0">
                          <a:solidFill>
                            <a:srgbClr val="1A1440"/>
                          </a:solidFill>
                          <a:latin typeface="Calibri"/>
                        </a:rPr>
                        <a:t>What it does not reward</a:t>
                      </a:r>
                    </a:p>
                  </a:txBody>
                  <a:tcPr marL="101600" marR="101600" marT="38100" marB="38100" anchor="ctr">
                    <a:solidFill>
                      <a:srgbClr val="FFFFFF"/>
                    </a:solidFill>
                  </a:tcPr>
                </a:tc>
                <a:tc>
                  <a:txBody>
                    <a:bodyPr/>
                    <a:lstStyle/>
                    <a:p>
                      <a:r>
                        <a:rPr sz="1200" b="0" i="0">
                          <a:solidFill>
                            <a:srgbClr val="1A1440"/>
                          </a:solidFill>
                          <a:latin typeface="Calibri"/>
                        </a:rPr>
                        <a:t>Hours online, offers declined, a shrinking enrolled base</a:t>
                      </a:r>
                    </a:p>
                  </a:txBody>
                  <a:tcPr marL="101600" marR="101600" marT="38100" marB="38100" anchor="ctr">
                    <a:solidFill>
                      <a:srgbClr val="FFFFFF"/>
                    </a:solidFill>
                  </a:tcPr>
                </a:tc>
              </a:tr>
              <a:tr h="335280">
                <a:tc>
                  <a:txBody>
                    <a:bodyPr/>
                    <a:lstStyle/>
                    <a:p>
                      <a:r>
                        <a:rPr sz="1200" b="0" i="0">
                          <a:solidFill>
                            <a:srgbClr val="1A1440"/>
                          </a:solidFill>
                          <a:latin typeface="Calibri"/>
                        </a:rPr>
                        <a:t>Guardrails</a:t>
                      </a:r>
                    </a:p>
                  </a:txBody>
                  <a:tcPr marL="101600" marR="101600" marT="38100" marB="38100" anchor="ctr">
                    <a:solidFill>
                      <a:srgbClr val="F4F2FA"/>
                    </a:solidFill>
                  </a:tcPr>
                </a:tc>
                <a:tc>
                  <a:txBody>
                    <a:bodyPr/>
                    <a:lstStyle/>
                    <a:p>
                      <a:r>
                        <a:rPr sz="1200" b="0" i="0">
                          <a:solidFill>
                            <a:srgbClr val="1A1440"/>
                          </a:solidFill>
                          <a:latin typeface="Calibri"/>
                        </a:rPr>
                        <a:t>Accepted share at or above a floor the city sets; median rider wait; top-up per completed trip</a:t>
                      </a:r>
                    </a:p>
                  </a:txBody>
                  <a:tcPr marL="101600" marR="101600" marT="38100" marB="38100" anchor="ctr">
                    <a:solidFill>
                      <a:srgbClr val="F4F2FA"/>
                    </a:solidFill>
                  </a:tcPr>
                </a:tc>
              </a:tr>
              <a:tr h="335280">
                <a:tc>
                  <a:txBody>
                    <a:bodyPr/>
                    <a:lstStyle/>
                    <a:p>
                      <a:r>
                        <a:rPr sz="1200" b="0" i="0">
                          <a:solidFill>
                            <a:srgbClr val="1A1440"/>
                          </a:solidFill>
                          <a:latin typeface="Calibri"/>
                        </a:rPr>
                        <a:t>Gaming note</a:t>
                      </a:r>
                    </a:p>
                  </a:txBody>
                  <a:tcPr marL="101600" marR="101600" marT="38100" marB="38100" anchor="ctr">
                    <a:solidFill>
                      <a:srgbClr val="FFFFFF"/>
                    </a:solidFill>
                  </a:tcPr>
                </a:tc>
                <a:tc>
                  <a:txBody>
                    <a:bodyPr/>
                    <a:lstStyle/>
                    <a:p>
                      <a:r>
                        <a:rPr sz="1200" b="0" i="0">
                          <a:solidFill>
                            <a:srgbClr val="1A1440"/>
                          </a:solidFill>
                          <a:latin typeface="Calibri"/>
                        </a:rPr>
                        <a:t>Each guardrail names the way of hitting the north star it catches</a:t>
                      </a:r>
                    </a:p>
                  </a:txBody>
                  <a:tcPr marL="101600" marR="101600" marT="38100" marB="38100" anchor="ctr">
                    <a:solidFill>
                      <a:srgbClr val="FFFFFF"/>
                    </a:solidFill>
                  </a:tcPr>
                </a:tc>
              </a:tr>
            </a:tbl>
          </a:graphicData>
        </a:graphic>
      </p:graphicFrame>
      <p:sp>
        <p:nvSpPr>
          <p:cNvPr id="10" name="TextBox 9"/>
          <p:cNvSpPr txBox="1"/>
          <p:nvPr/>
        </p:nvSpPr>
        <p:spPr>
          <a:xfrm>
            <a:off x="530352" y="4895088"/>
            <a:ext cx="11130991" cy="703072"/>
          </a:xfrm>
          <a:prstGeom prst="rect">
            <a:avLst/>
          </a:prstGeom>
          <a:noFill/>
        </p:spPr>
        <p:txBody>
          <a:bodyPr wrap="square" anchor="t" lIns="0" rIns="0" tIns="0" bIns="0">
            <a:spAutoFit/>
          </a:bodyPr>
          <a:lstStyle/>
          <a:p>
            <a:pPr>
              <a:spcAft>
                <a:spcPts val="700"/>
              </a:spcAft>
            </a:pPr>
            <a:r>
              <a:rPr sz="1400" b="0" i="0">
                <a:solidFill>
                  <a:srgbClr val="1A1440"/>
                </a:solidFill>
                <a:latin typeface="Calibri"/>
              </a:rPr>
              <a:t>On the data, the north star read 35.76 trips per online driver-week before and 35.89 after: hours rose 24 percent and the number the scheme exists for barely moved.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5" name="Oval 14"/>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S32  ·  35 / 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VA let the measured set the clock's start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when the people being measured control where a window begins?</a:t>
            </a:r>
          </a:p>
        </p:txBody>
      </p:sp>
      <p:sp>
        <p:nvSpPr>
          <p:cNvPr id="9" name="TextBox 8"/>
          <p:cNvSpPr txBox="1"/>
          <p:nvPr/>
        </p:nvSpPr>
        <p:spPr>
          <a:xfrm>
            <a:off x="530352" y="1956816"/>
            <a:ext cx="11130991" cy="1601216"/>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US Department of Veterans Affairs measured patient wait from a "desired date" that schedulers entered. At its Phoenix facility, of 79 staff interviewed, 30 said they had used the wrong desired date, producing false zero-day waits, and 11 said they "fixed" waits over 14 days by rebooking with a later desired date. After the Inspector General's interim report, the 14-day goal was removed from employee performance contracts (VA OIG report 14-02603-267, August 2014, checked 12 October 2026).</a:t>
            </a:r>
          </a:p>
        </p:txBody>
      </p:sp>
      <p:sp>
        <p:nvSpPr>
          <p:cNvPr id="10" name="Rounded Rectangle 9"/>
          <p:cNvSpPr/>
          <p:nvPr/>
        </p:nvSpPr>
        <p:spPr>
          <a:xfrm>
            <a:off x="530352" y="3686048"/>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3814064"/>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3804920"/>
            <a:ext cx="10564063" cy="624840"/>
          </a:xfrm>
          <a:prstGeom prst="rect">
            <a:avLst/>
          </a:prstGeom>
          <a:noFill/>
        </p:spPr>
        <p:txBody>
          <a:bodyPr wrap="square" anchor="ctr" lIns="0" rIns="0" tIns="0" bIns="0">
            <a:spAutoFit/>
          </a:bodyPr>
          <a:lstStyle/>
          <a:p>
            <a:r>
              <a:rPr sz="1500" b="1">
                <a:solidFill>
                  <a:srgbClr val="5B3FD6"/>
                </a:solidFill>
                <a:latin typeface="Calibri"/>
              </a:rPr>
              <a:t>The parallel. </a:t>
            </a:r>
            <a:r>
              <a:rPr sz="1500" b="0" i="0">
                <a:solidFill>
                  <a:srgbClr val="1A1440"/>
                </a:solidFill>
                <a:latin typeface="Calibri"/>
              </a:rPr>
              <a:t>A driver decides when the app is open, so the driver sets the start of every online hour. A definition that pays per online hour hands the clock to the person it pays.</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7" name="Oval 16"/>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S33  ·  36 / 40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Without the 140 new drivers, what remains?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Take out every driver who joined after the launch: what does trips per hour read for the six weeks after?</a:t>
            </a:r>
          </a:p>
        </p:txBody>
      </p:sp>
      <p:sp>
        <p:nvSpPr>
          <p:cNvPr id="9" name="TextBox 8"/>
          <p:cNvSpPr txBox="1"/>
          <p:nvPr/>
        </p:nvSpPr>
        <p:spPr>
          <a:xfrm>
            <a:off x="530352" y="1956816"/>
            <a:ext cx="11130991" cy="1654048"/>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1.90</a:t>
            </a:r>
          </a:p>
          <a:p>
            <a:pPr>
              <a:spcAft>
                <a:spcPts val="800"/>
              </a:spcAft>
            </a:pPr>
            <a:r>
              <a:rPr sz="1600" b="0" i="0">
                <a:solidFill>
                  <a:srgbClr val="1A1440"/>
                </a:solidFill>
                <a:latin typeface="Calibri"/>
              </a:rPr>
              <a:t>b) 1.79</a:t>
            </a:r>
          </a:p>
          <a:p>
            <a:pPr>
              <a:spcAft>
                <a:spcPts val="800"/>
              </a:spcAft>
            </a:pPr>
            <a:r>
              <a:rPr sz="1600" b="0" i="0">
                <a:solidFill>
                  <a:srgbClr val="1A1440"/>
                </a:solidFill>
                <a:latin typeface="Calibri"/>
              </a:rPr>
              <a:t>c) 1.58</a:t>
            </a:r>
          </a:p>
          <a:p>
            <a:pPr>
              <a:spcAft>
                <a:spcPts val="800"/>
              </a:spcAft>
            </a:pPr>
            <a:r>
              <a:rPr sz="1600" b="0" i="0">
                <a:solidFill>
                  <a:srgbClr val="1A1440"/>
                </a:solidFill>
                <a:latin typeface="Calibri"/>
              </a:rPr>
              <a:t>d) 1.19</a:t>
            </a:r>
          </a:p>
        </p:txBody>
      </p:sp>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4" name="Oval 13"/>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16" name="TextBox 1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S34  ·  37 / 40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1.58; the fall survives each cut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doubts does the fall survive, and which stay open until someone gathers more?</a:t>
            </a:r>
          </a:p>
        </p:txBody>
      </p:sp>
      <p:pic>
        <p:nvPicPr>
          <p:cNvPr id="9" name="mermaid diagram" descr="C2_W04_D01_fall_cuts_STUDENT.png"/>
          <p:cNvPicPr>
            <a:picLocks noChangeAspect="1"/>
          </p:cNvPicPr>
          <p:nvPr/>
        </p:nvPicPr>
        <p:blipFill>
          <a:blip r:embed="rId4"/>
          <a:stretch>
            <a:fillRect/>
          </a:stretch>
        </p:blipFill>
        <p:spPr>
          <a:xfrm>
            <a:off x="2523003" y="1664208"/>
            <a:ext cx="7145688" cy="2951480"/>
          </a:xfrm>
          <a:prstGeom prst="rect">
            <a:avLst/>
          </a:prstGeom>
        </p:spPr>
      </p:pic>
      <p:sp>
        <p:nvSpPr>
          <p:cNvPr id="10" name="picture caption"/>
          <p:cNvSpPr txBox="1"/>
          <p:nvPr/>
        </p:nvSpPr>
        <p:spPr>
          <a:xfrm>
            <a:off x="530352" y="4652264"/>
            <a:ext cx="11130991" cy="316992"/>
          </a:xfrm>
          <a:prstGeom prst="rect">
            <a:avLst/>
          </a:prstGeom>
          <a:noFill/>
        </p:spPr>
        <p:txBody>
          <a:bodyPr wrap="square" anchor="t" lIns="0" rIns="0" tIns="0" bIns="0">
            <a:spAutoFit/>
          </a:bodyPr>
          <a:lstStyle/>
          <a:p>
            <a:pPr algn="ctr"/>
            <a:r>
              <a:rPr sz="1200" b="0" i="0">
                <a:solidFill>
                  <a:srgbClr val="6B6690"/>
                </a:solidFill>
                <a:latin typeface="Calibri"/>
              </a:rPr>
              <a:t>Trips per peak online hour after the launch under each cut the data can make</a:t>
            </a:r>
          </a:p>
        </p:txBody>
      </p:sp>
      <p:sp>
        <p:nvSpPr>
          <p:cNvPr id="11" name="Rounded Rectangle 10"/>
          <p:cNvSpPr/>
          <p:nvPr/>
        </p:nvSpPr>
        <p:spPr>
          <a:xfrm>
            <a:off x="530352" y="4978400"/>
            <a:ext cx="11130991" cy="105664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5106416"/>
            <a:ext cx="45720" cy="80060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5097272"/>
            <a:ext cx="10564063" cy="873760"/>
          </a:xfrm>
          <a:prstGeom prst="rect">
            <a:avLst/>
          </a:prstGeom>
          <a:noFill/>
        </p:spPr>
        <p:txBody>
          <a:bodyPr wrap="square" anchor="ctr" lIns="0" rIns="0" tIns="0" bIns="0">
            <a:spAutoFit/>
          </a:bodyPr>
          <a:lstStyle/>
          <a:p>
            <a:r>
              <a:rPr sz="1100" b="1">
                <a:solidFill>
                  <a:srgbClr val="5B3FD6"/>
                </a:solidFill>
                <a:latin typeface="Calibri"/>
              </a:rPr>
              <a:t>Answer: c. </a:t>
            </a:r>
            <a:r>
              <a:rPr sz="1100" b="0" i="0">
                <a:solidFill>
                  <a:srgbClr val="1A1440"/>
                </a:solidFill>
                <a:latin typeface="Calibri"/>
              </a:rPr>
              <a:t>Without the new drivers the rate is still 1.58. In the three busiest weeks of the twelve, the first three after the launch, it was already 1.60, which bounds the monsoon argument. In the core zones it fell from 1.90 to 1.79, so the fall sits mostly in the thin outer zones. Three doubts stay open: drivers on two apps (Uber cannot see the other app, and the data holds weeks, not hours), who chose to enrol (every driver in these tables enrolled), and cause (only a test of the redesign settles it).</a:t>
            </a:r>
          </a:p>
        </p:txBody>
      </p:sp>
      <p:sp>
        <p:nvSpPr>
          <p:cNvPr id="14" name="Oval 13"/>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8" name="Oval 17"/>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20" name="TextBox 1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S35  ·  38 / 40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Close: pay for trips, guarded three ways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finished board say?</a:t>
            </a:r>
          </a:p>
        </p:txBody>
      </p:sp>
      <p:pic>
        <p:nvPicPr>
          <p:cNvPr id="9" name="mermaid diagram" descr="6d1f63feeb8caadd.png"/>
          <p:cNvPicPr>
            <a:picLocks noChangeAspect="1"/>
          </p:cNvPicPr>
          <p:nvPr/>
        </p:nvPicPr>
        <p:blipFill>
          <a:blip r:embed="rId5"/>
          <a:stretch>
            <a:fillRect/>
          </a:stretch>
        </p:blipFill>
        <p:spPr>
          <a:xfrm>
            <a:off x="1157522" y="1664208"/>
            <a:ext cx="9876650" cy="3517392"/>
          </a:xfrm>
          <a:prstGeom prst="rect">
            <a:avLst/>
          </a:prstGeom>
        </p:spPr>
      </p:pic>
      <p:sp>
        <p:nvSpPr>
          <p:cNvPr id="10" name="Rounded Rectangle 9"/>
          <p:cNvSpPr/>
          <p:nvPr/>
        </p:nvSpPr>
        <p:spPr>
          <a:xfrm>
            <a:off x="530352" y="5227320"/>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55336"/>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46192"/>
            <a:ext cx="10564063" cy="624840"/>
          </a:xfrm>
          <a:prstGeom prst="rect">
            <a:avLst/>
          </a:prstGeom>
          <a:noFill/>
        </p:spPr>
        <p:txBody>
          <a:bodyPr wrap="square" anchor="ctr" lIns="0" rIns="0" tIns="0" bIns="0">
            <a:spAutoFit/>
          </a:bodyPr>
          <a:lstStyle/>
          <a:p>
            <a:r>
              <a:rPr sz="1500" b="1">
                <a:solidFill>
                  <a:srgbClr val="5B3FD6"/>
                </a:solidFill>
                <a:latin typeface="Calibri"/>
              </a:rPr>
              <a:t>The crux. </a:t>
            </a:r>
            <a:r>
              <a:rPr sz="1500" b="0" i="0">
                <a:solidFill>
                  <a:srgbClr val="1A1440"/>
                </a:solidFill>
                <a:latin typeface="Calibri"/>
              </a:rPr>
              <a:t>Pay for completed peak trips per enrolled driver online at peak, guarded by acceptance, the rider's wait and the top-up per trip.</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17" name="Oval 16"/>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19" name="TextBox 1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S36  ·  39 / 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4  ·  DAY 1  ·  UBER, HYDERABAD, AN ILLUSTRATIVE CASE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This afternoon: three rounds become one answer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runs after lunch, and in what order?</a:t>
            </a:r>
          </a:p>
        </p:txBody>
      </p:sp>
      <p:sp>
        <p:nvSpPr>
          <p:cNvPr id="9" name="Rectangle 8"/>
          <p:cNvSpPr/>
          <p:nvPr/>
        </p:nvSpPr>
        <p:spPr>
          <a:xfrm>
            <a:off x="1570299" y="2523744"/>
            <a:ext cx="905109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30 MINUTES</a:t>
            </a:r>
          </a:p>
        </p:txBody>
      </p:sp>
      <p:sp>
        <p:nvSpPr>
          <p:cNvPr id="11" name="Oval 10"/>
          <p:cNvSpPr/>
          <p:nvPr/>
        </p:nvSpPr>
        <p:spPr>
          <a:xfrm>
            <a:off x="1469715"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War game, round 3</a:t>
            </a:r>
          </a:p>
        </p:txBody>
      </p:sp>
      <p:sp>
        <p:nvSpPr>
          <p:cNvPr id="14" name="TextBox 13"/>
          <p:cNvSpPr txBox="1"/>
          <p:nvPr/>
        </p:nvSpPr>
        <p:spPr>
          <a:xfrm>
            <a:off x="694944" y="3277870"/>
            <a:ext cx="1750710" cy="696976"/>
          </a:xfrm>
          <a:prstGeom prst="rect">
            <a:avLst/>
          </a:prstGeom>
          <a:noFill/>
        </p:spPr>
        <p:txBody>
          <a:bodyPr wrap="square" anchor="t" lIns="0" rIns="0" tIns="0" bIns="0">
            <a:spAutoFit/>
          </a:bodyPr>
          <a:lstStyle/>
          <a:p>
            <a:pPr algn="l"/>
            <a:r>
              <a:rPr sz="1000" b="0" i="0">
                <a:solidFill>
                  <a:srgbClr val="6B6690"/>
                </a:solidFill>
                <a:latin typeface="Calibri"/>
              </a:rPr>
              <a:t>Each group writes the redesign's definition and prices the saving; the three roles attack it</a:t>
            </a:r>
          </a:p>
        </p:txBody>
      </p:sp>
      <p:sp>
        <p:nvSpPr>
          <p:cNvPr id="15" name="TextBox 14"/>
          <p:cNvSpPr txBox="1"/>
          <p:nvPr/>
        </p:nvSpPr>
        <p:spPr>
          <a:xfrm>
            <a:off x="2793126"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15 MINUTES</a:t>
            </a:r>
          </a:p>
        </p:txBody>
      </p:sp>
      <p:sp>
        <p:nvSpPr>
          <p:cNvPr id="16" name="Oval 15"/>
          <p:cNvSpPr/>
          <p:nvPr/>
        </p:nvSpPr>
        <p:spPr>
          <a:xfrm>
            <a:off x="3732489"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2793126" y="2843784"/>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57718"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The interview room</a:t>
            </a:r>
          </a:p>
        </p:txBody>
      </p:sp>
      <p:sp>
        <p:nvSpPr>
          <p:cNvPr id="19" name="TextBox 18"/>
          <p:cNvSpPr txBox="1"/>
          <p:nvPr/>
        </p:nvSpPr>
        <p:spPr>
          <a:xfrm>
            <a:off x="2957718"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The transcript read in pairs and scored, then the AI-company variant</a:t>
            </a:r>
          </a:p>
        </p:txBody>
      </p:sp>
      <p:sp>
        <p:nvSpPr>
          <p:cNvPr id="20" name="TextBox 19"/>
          <p:cNvSpPr txBox="1"/>
          <p:nvPr/>
        </p:nvSpPr>
        <p:spPr>
          <a:xfrm>
            <a:off x="5055900"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15 MINUTES</a:t>
            </a:r>
          </a:p>
        </p:txBody>
      </p:sp>
      <p:sp>
        <p:nvSpPr>
          <p:cNvPr id="21" name="Oval 20"/>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055900" y="2843784"/>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220492"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Kahoot and close</a:t>
            </a:r>
          </a:p>
        </p:txBody>
      </p:sp>
      <p:sp>
        <p:nvSpPr>
          <p:cNvPr id="24" name="TextBox 23"/>
          <p:cNvSpPr txBox="1"/>
          <p:nvPr/>
        </p:nvSpPr>
        <p:spPr>
          <a:xfrm>
            <a:off x="5220492" y="3277870"/>
            <a:ext cx="1750710" cy="366776"/>
          </a:xfrm>
          <a:prstGeom prst="rect">
            <a:avLst/>
          </a:prstGeom>
          <a:noFill/>
        </p:spPr>
        <p:txBody>
          <a:bodyPr wrap="square" anchor="t" lIns="0" rIns="0" tIns="0" bIns="0">
            <a:spAutoFit/>
          </a:bodyPr>
          <a:lstStyle/>
          <a:p>
            <a:pPr algn="l"/>
            <a:r>
              <a:rPr sz="1000" b="0" i="0">
                <a:solidFill>
                  <a:srgbClr val="6B6690"/>
                </a:solidFill>
                <a:latin typeface="Calibri"/>
              </a:rPr>
              <a:t>Eight items, one returning from Week 2 Friday</a:t>
            </a:r>
          </a:p>
        </p:txBody>
      </p:sp>
      <p:sp>
        <p:nvSpPr>
          <p:cNvPr id="25" name="TextBox 24"/>
          <p:cNvSpPr txBox="1"/>
          <p:nvPr/>
        </p:nvSpPr>
        <p:spPr>
          <a:xfrm>
            <a:off x="7318674"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120 MINUTES</a:t>
            </a:r>
          </a:p>
        </p:txBody>
      </p:sp>
      <p:sp>
        <p:nvSpPr>
          <p:cNvPr id="26" name="Oval 25"/>
          <p:cNvSpPr/>
          <p:nvPr/>
        </p:nvSpPr>
        <p:spPr>
          <a:xfrm>
            <a:off x="8258037"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318674" y="2843784"/>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483266" y="2990088"/>
            <a:ext cx="1750710" cy="465836"/>
          </a:xfrm>
          <a:prstGeom prst="rect">
            <a:avLst/>
          </a:prstGeom>
          <a:noFill/>
        </p:spPr>
        <p:txBody>
          <a:bodyPr wrap="square" anchor="t" lIns="0" rIns="0" tIns="0" bIns="0">
            <a:spAutoFit/>
          </a:bodyPr>
          <a:lstStyle/>
          <a:p>
            <a:pPr algn="l"/>
            <a:r>
              <a:rPr sz="1300" b="1" i="0">
                <a:solidFill>
                  <a:srgbClr val="1A0F5C"/>
                </a:solidFill>
                <a:latin typeface="Calibri"/>
              </a:rPr>
              <a:t>IITGN faculty block (tentative)</a:t>
            </a:r>
          </a:p>
        </p:txBody>
      </p:sp>
      <p:sp>
        <p:nvSpPr>
          <p:cNvPr id="29" name="TextBox 28"/>
          <p:cNvSpPr txBox="1"/>
          <p:nvPr/>
        </p:nvSpPr>
        <p:spPr>
          <a:xfrm>
            <a:off x="7483266" y="3492500"/>
            <a:ext cx="1750710" cy="366776"/>
          </a:xfrm>
          <a:prstGeom prst="rect">
            <a:avLst/>
          </a:prstGeom>
          <a:noFill/>
        </p:spPr>
        <p:txBody>
          <a:bodyPr wrap="square" anchor="t" lIns="0" rIns="0" tIns="0" bIns="0">
            <a:spAutoFit/>
          </a:bodyPr>
          <a:lstStyle/>
          <a:p>
            <a:pPr algn="l"/>
            <a:r>
              <a:rPr sz="1000" b="0" i="0">
                <a:solidFill>
                  <a:srgbClr val="6B6690"/>
                </a:solidFill>
                <a:latin typeface="Calibri"/>
              </a:rPr>
              <a:t>Designing the test of the redesigned scheme</a:t>
            </a:r>
          </a:p>
        </p:txBody>
      </p:sp>
      <p:sp>
        <p:nvSpPr>
          <p:cNvPr id="30" name="TextBox 29"/>
          <p:cNvSpPr txBox="1"/>
          <p:nvPr/>
        </p:nvSpPr>
        <p:spPr>
          <a:xfrm>
            <a:off x="9581448" y="1956816"/>
            <a:ext cx="2079894" cy="168656"/>
          </a:xfrm>
          <a:prstGeom prst="rect">
            <a:avLst/>
          </a:prstGeom>
          <a:noFill/>
        </p:spPr>
        <p:txBody>
          <a:bodyPr wrap="square" anchor="t" lIns="0" rIns="0" tIns="0" bIns="0">
            <a:spAutoFit/>
          </a:bodyPr>
          <a:lstStyle/>
          <a:p>
            <a:pPr algn="ctr"/>
            <a:r>
              <a:rPr sz="800" b="1" i="0" spc="250">
                <a:solidFill>
                  <a:srgbClr val="5B3FD6"/>
                </a:solidFill>
                <a:latin typeface="Calibri"/>
              </a:rPr>
              <a:t>THE LAB</a:t>
            </a:r>
          </a:p>
        </p:txBody>
      </p:sp>
      <p:sp>
        <p:nvSpPr>
          <p:cNvPr id="31" name="Oval 30"/>
          <p:cNvSpPr/>
          <p:nvPr/>
        </p:nvSpPr>
        <p:spPr>
          <a:xfrm>
            <a:off x="10520812"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9581448" y="2843784"/>
            <a:ext cx="2079894" cy="142240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746040" y="2990088"/>
            <a:ext cx="1750710" cy="251205"/>
          </a:xfrm>
          <a:prstGeom prst="rect">
            <a:avLst/>
          </a:prstGeom>
          <a:noFill/>
        </p:spPr>
        <p:txBody>
          <a:bodyPr wrap="square" anchor="t" lIns="0" rIns="0" tIns="0" bIns="0">
            <a:spAutoFit/>
          </a:bodyPr>
          <a:lstStyle/>
          <a:p>
            <a:pPr algn="l"/>
            <a:r>
              <a:rPr sz="1300" b="1" i="0">
                <a:solidFill>
                  <a:srgbClr val="1A0F5C"/>
                </a:solidFill>
                <a:latin typeface="Calibri"/>
              </a:rPr>
              <a:t>Kalpa Retail, TA-led</a:t>
            </a:r>
          </a:p>
        </p:txBody>
      </p:sp>
      <p:sp>
        <p:nvSpPr>
          <p:cNvPr id="34" name="TextBox 33"/>
          <p:cNvSpPr txBox="1"/>
          <p:nvPr/>
        </p:nvSpPr>
        <p:spPr>
          <a:xfrm>
            <a:off x="9746040" y="3277870"/>
            <a:ext cx="1750710" cy="531876"/>
          </a:xfrm>
          <a:prstGeom prst="rect">
            <a:avLst/>
          </a:prstGeom>
          <a:noFill/>
        </p:spPr>
        <p:txBody>
          <a:bodyPr wrap="square" anchor="t" lIns="0" rIns="0" tIns="0" bIns="0">
            <a:spAutoFit/>
          </a:bodyPr>
          <a:lstStyle/>
          <a:p>
            <a:pPr algn="l"/>
            <a:r>
              <a:rPr sz="1000" b="0" i="0">
                <a:solidFill>
                  <a:srgbClr val="6B6690"/>
                </a:solidFill>
                <a:latin typeface="Calibri"/>
              </a:rPr>
              <a:t>The same method on the head of Retail-Plus's growth number</a:t>
            </a:r>
          </a:p>
        </p:txBody>
      </p:sp>
      <p:sp>
        <p:nvSpPr>
          <p:cNvPr id="35" name="Oval 3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What does an hour count?</a:t>
            </a:r>
          </a:p>
        </p:txBody>
      </p:sp>
      <p:sp>
        <p:nvSpPr>
          <p:cNvPr id="37" name="Oval 3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2219706" y="6437376"/>
            <a:ext cx="1332452" cy="152146"/>
          </a:xfrm>
          <a:prstGeom prst="rect">
            <a:avLst/>
          </a:prstGeom>
          <a:noFill/>
        </p:spPr>
        <p:txBody>
          <a:bodyPr wrap="square" anchor="t" lIns="0" rIns="0" tIns="0" bIns="0">
            <a:spAutoFit/>
          </a:bodyPr>
          <a:lstStyle/>
          <a:p>
            <a:pPr algn="l"/>
            <a:r>
              <a:rPr sz="700" b="0" i="0">
                <a:solidFill>
                  <a:srgbClr val="6B6690"/>
                </a:solidFill>
                <a:latin typeface="Calibri"/>
              </a:rPr>
              <a:t>Where did the fall sit?</a:t>
            </a:r>
          </a:p>
        </p:txBody>
      </p:sp>
      <p:sp>
        <p:nvSpPr>
          <p:cNvPr id="39" name="Oval 38"/>
          <p:cNvSpPr/>
          <p:nvPr/>
        </p:nvSpPr>
        <p:spPr>
          <a:xfrm>
            <a:off x="364359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753326" y="6437376"/>
            <a:ext cx="1332452" cy="152146"/>
          </a:xfrm>
          <a:prstGeom prst="rect">
            <a:avLst/>
          </a:prstGeom>
          <a:noFill/>
        </p:spPr>
        <p:txBody>
          <a:bodyPr wrap="square" anchor="t" lIns="0" rIns="0" tIns="0" bIns="0">
            <a:spAutoFit/>
          </a:bodyPr>
          <a:lstStyle/>
          <a:p>
            <a:pPr algn="l"/>
            <a:r>
              <a:rPr sz="700" b="1" i="0">
                <a:solidFill>
                  <a:srgbClr val="5B3FD6"/>
                </a:solidFill>
                <a:latin typeface="Calibri"/>
              </a:rPr>
              <a:t>What should it pay for?</a:t>
            </a:r>
          </a:p>
        </p:txBody>
      </p:sp>
      <p:sp>
        <p:nvSpPr>
          <p:cNvPr id="41" name="TextBox 4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S37  ·  40 /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