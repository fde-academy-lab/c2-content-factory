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ask one question</a:t>
            </a:r>
          </a:p>
          <a:p>
            <a:r>
              <a:t>and leave it open: of the eight numbers in the table, which one would the city team put in the</a:t>
            </a:r>
          </a:p>
          <a:p>
            <a:r>
              <a:t>headline of Monday's update? Most hands go to "peak online hours up 24 percent". Write it on the</a:t>
            </a:r>
          </a:p>
          <a:p>
            <a:r>
              <a:t>board; the day is about whether that number deserves the headline.</a:t>
            </a:r>
          </a:p>
          <a:p>
            <a:r>
              <a:t>Transition: where the 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to Monday, lit, and to the four dashed days. Each day is a ticket at a company</a:t>
            </a:r>
          </a:p>
          <a:p>
            <a:r>
              <a:t>the room uses, climbed from a hand count to an interview question, and each day's TA lab moves the</a:t>
            </a:r>
          </a:p>
          <a:p>
            <a:r>
              <a:t>same method to Kalpa Retail. By Saturday every node carries the number the room produced on it.</a:t>
            </a:r>
          </a:p>
          <a:p>
            <a:r>
              <a:t>The week explorer (content/W04/D1/demos/C2_W04_D01_week_explorer_STUDENT.html, which ships with the</a:t>
            </a:r>
          </a:p>
          <a:p>
            <a:r>
              <a:t>week) opens on this map; light Monday there if it is on the projector.</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nothing to write yet.</a:t>
            </a:r>
          </a:p>
          <a:p>
            <a:r>
              <a:t>Say: every blank gets a number from the data before lunch, and every line gets tested by three</a:t>
            </a:r>
          </a:p>
          <a:p>
            <a:r>
              <a:t>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the same board on the whiteboard and keep it up all day; each chapter's close</a:t>
            </a:r>
          </a:p>
          <a:p>
            <a:r>
              <a:t>adds its region. The finished board is panel one of the cheat sheet.</a:t>
            </a:r>
          </a:p>
          <a:p>
            <a:r>
              <a:t>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war game's round 1 (run sheet: trainer/C2_W04_D01_war_game_TRAINER.md).</a:t>
            </a:r>
          </a:p>
          <a:p>
            <a:r>
              <a:t>The trainer voices the three role cards, or three learners read them. Each of the nine groups has</a:t>
            </a:r>
          </a:p>
          <a:p>
            <a:r>
              <a:t>three minutes to give one way to game each number, from instinct only, and its scorer holds the</a:t>
            </a:r>
          </a:p>
          <a:p>
            <a:r>
              <a:t>proxy-test card. Write the answers on the board under each role. Expect: hours rise if drivers stay</a:t>
            </a:r>
          </a:p>
          <a:p>
            <a:r>
              <a:t>logged in and idle; enrolled drivers rise if people sign up and never drive; top-up per trip falls</a:t>
            </a:r>
          </a:p>
          <a:p>
            <a:r>
              <a:t>if drivers take only short trips. Park "what would the data show" until chapter 2.</a:t>
            </a:r>
          </a:p>
          <a:p>
            <a:r>
              <a:t>When it stalls: give the canteen token (who controls the count?), then point at the twelve rows,</a:t>
            </a:r>
          </a:p>
          <a:p>
            <a:r>
              <a:t>drivers E and F.</a:t>
            </a:r>
          </a:p>
          <a:p>
            <a:r>
              <a:t>Transition: chapter 1 opens on the question the war game left behind.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for the chapter: the opener question (4), the canteen (5), the twelve rows and the</a:t>
            </a:r>
          </a:p>
          <a:p>
            <a:r>
              <a:t>hand count (18), Wells Fargo (8), the close (5). Level 1: understand and count by hand. No laptops.</a:t>
            </a:r>
          </a:p>
          <a:p>
            <a:r>
              <a:t>Styles: Brilliant (the question first), Veritasium (predict, then reveal), StatQuest (tiny numbers</a:t>
            </a:r>
          </a:p>
          <a:p>
            <a:r>
              <a:t>said aloud), the case method (a real company's decision and what it cost).</a:t>
            </a:r>
          </a:p>
          <a:p>
            <a:r>
              <a:t>Notebook: notebooks/C2_W04_D01_01_twelve_rows_STUDENT.ipynb.</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The room usually splits between b and c.</a:t>
            </a:r>
          </a:p>
          <a:p>
            <a:r>
              <a:t>Leave it open for ten seconds, then reveal.</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driver controls the count, and that is the first thing to look for in any</a:t>
            </a:r>
          </a:p>
          <a:p>
            <a:r>
              <a:t>number someone is paid for. Point back to the board's first question, what is it for.</a:t>
            </a:r>
          </a:p>
          <a:p>
            <a:r>
              <a:t>Transition: a canteen that pays for the easy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Veritasium move. Before the picture goes up, ask: if the canteen pays per token,</a:t>
            </a:r>
          </a:p>
          <a:p>
            <a:r>
              <a:t>what can rise with no extra plate served? Take three answers, then show the picture. The canteen is</a:t>
            </a:r>
          </a:p>
          <a:p>
            <a:r>
              <a:t>invented and the numbers are chosen to be easy. Explorer scene M1 shows the same drift on the city:</a:t>
            </a:r>
          </a:p>
          <a:p>
            <a:r>
              <a:t>drivers as dots go from driving to idling as the guarantee rises; open it here if it is on the</a:t>
            </a:r>
          </a:p>
          <a:p>
            <a:r>
              <a:t>projector.</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 say each number aloud. Add the hours column for the before week (60)</a:t>
            </a:r>
          </a:p>
          <a:p>
            <a:r>
              <a:t>and the after week (74), then the trips (114 and 88), writing the four sums on the board. Point at</a:t>
            </a:r>
          </a:p>
          <a:p>
            <a:r>
              <a:t>E and F before saying anything about them: hours up, offers down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2 shows what that average</a:t>
            </a:r>
          </a:p>
          <a:p>
            <a:r>
              <a:t>prints on the full data and why it misleads.</a:t>
            </a:r>
          </a:p>
          <a:p>
            <a:r>
              <a:t>Transition: a company that paid for a number with no usage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Tell it in order: the number (accounts per household), the missing condition</a:t>
            </a:r>
          </a:p>
          <a:p>
            <a:r>
              <a:t>(nobody had to use the account), what staff did to hit it, and what it cost (USD 185 million in</a:t>
            </a:r>
          </a:p>
          <a:p>
            <a:r>
              <a:t>2016, USD 3 billion in 2020, sales goals scrapped). Then draw two columns on the board, Wells Fargo</a:t>
            </a:r>
          </a:p>
          <a:p>
            <a:r>
              <a:t>and Uber Hyderabad: an account counted with no use, an hour counted with no trip. Do not quote a</a:t>
            </a:r>
          </a:p>
          <a:p>
            <a:r>
              <a:t>firing count or Goodhart; neither is verified in the week's sources.</a:t>
            </a:r>
          </a:p>
          <a:p>
            <a:r>
              <a:t>Sources:</a:t>
            </a:r>
          </a:p>
          <a:p>
            <a:r>
              <a:t>https://www.consumerfinance.gov/about-us/newsroom/consumer-financial-protection-bureau-fines-wells-fargo-100-million-widespread-illegal-practice-secretly-opening-unauthorized-accounts/ (checked 12 October 2026)</a:t>
            </a:r>
          </a:p>
          <a:p>
            <a:r>
              <a:t>https://www.sec.gov/newsroom/press-releases/2020-38 (checked 12 October 2026)</a:t>
            </a:r>
          </a:p>
          <a:p>
            <a:r>
              <a:t>https://www.sec.gov/files/litigation/admin/2020/34-88257.pdf (checked 12 October 2026)</a:t>
            </a:r>
          </a:p>
          <a:p>
            <a:r>
              <a:t>Transition: the chapter's close and the board's first region.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what is it for, and the first pitfall. Read the crux</a:t>
            </a:r>
          </a:p>
          <a:p>
            <a:r>
              <a:t>line twice; it is the line the cheat sheet repeats. The interview question the day earns, [S] how</a:t>
            </a:r>
          </a:p>
          <a:p>
            <a:r>
              <a:t>would you measure the success of a new feature, stays open until the afternoon.</a:t>
            </a:r>
          </a:p>
          <a:p>
            <a:r>
              <a:t>Transition: chapter 2,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for the chapter: the demand question (5), the twelve weeks and the groupby (12),</a:t>
            </a:r>
          </a:p>
          <a:p>
            <a:r>
              <a:t>the average that misleads (8), the denominator cases (6), the idle tail (14), the close (5).</a:t>
            </a:r>
          </a:p>
          <a:p>
            <a:r>
              <a:t>Levels 2 and 3. Laptops open on notebooks/C2_W04_D01_02_full_data_trap_STUDENT.ipynb.</a:t>
            </a:r>
          </a:p>
          <a:p>
            <a:r>
              <a:t>Styles: Krish Naik (one line of narration per cell), Veritasium (predict before each reveal),</a:t>
            </a:r>
          </a:p>
          <a:p>
            <a:r>
              <a:t>Brilliant (the question first), ByteByteGo (the board grows at the close).</a:t>
            </a:r>
          </a:p>
          <a:p>
            <a:r>
              <a:t>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Krish Naik: run the notebook's totals cell line by line and say what each line is</a:t>
            </a:r>
          </a:p>
          <a:p>
            <a:r>
              <a:t>for.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invented pair aloud first, then return to 1.71 against 1.58. Week 1 met</a:t>
            </a:r>
          </a:p>
          <a:p>
            <a:r>
              <a:t>the same rule on Kalpa's orders: a rate is two sums divided once.</a:t>
            </a:r>
          </a:p>
          <a:p>
            <a:r>
              <a:t>Transition: companies that write their denominators down.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rows, naming numerator, denominator and window each time. The point is</a:t>
            </a:r>
          </a:p>
          <a:p>
            <a:r>
              <a:t>the habit: a filing that names its denominator cannot be misread, and the city's ticket names</a:t>
            </a:r>
          </a:p>
          <a:p>
            <a:r>
              <a:t>"per peak online hour" for the same reason. Source:</a:t>
            </a:r>
          </a:p>
          <a:p>
            <a:r>
              <a:t>https://www.bseindia.com/xml-data/corpfiling/AttachHis/2495f39b-e1d1-4018-8f69-6ff250345e98.pdf (checked 12 October 2026)</a:t>
            </a:r>
          </a:p>
          <a:p>
            <a:r>
              <a:t>Transition: one network, counted in two units on two kinds of day.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parallel is on the board already: offers and requests are two units for the</a:t>
            </a:r>
          </a:p>
          <a:p>
            <a:r>
              <a:t>same riders, and offers rose 29 percent on requests that rose 1.8 percent. Read the 2018 pair as the</a:t>
            </a:r>
          </a:p>
          <a:p>
            <a:r>
              <a:t>unit lesson and the 2026 pair as the day lesson. If asked whether journeys and boardings are one</a:t>
            </a:r>
          </a:p>
          <a:p>
            <a:r>
              <a:t>count, say it is our reading of the two records and that DMRC's own definition says a journey counts</a:t>
            </a:r>
          </a:p>
          <a:p>
            <a:r>
              <a:t>each line used.</a:t>
            </a:r>
          </a:p>
          <a:p>
            <a:r>
              <a:t>Sources:</a:t>
            </a:r>
          </a:p>
          <a:p>
            <a:r>
              <a:t>https://www.latestly.com/agency-news/dmrc-uses-new-count-metric-on-traffic-flow-doesnt-share-ridership-190870.html/amp (checked 12 October 2026)</a:t>
            </a:r>
          </a:p>
          <a:p>
            <a:r>
              <a:t>https://www.tribuneindia.com/news/delhi/delhi-metro-records-99-95-train-punctuality-in-2026-dmrc/ (checked 12 October 2026)</a:t>
            </a:r>
          </a:p>
          <a:p>
            <a:r>
              <a:t>https://www.republicworld.com/india/delhi-metro-breaks-all-time-record-with-8244-lakh-footfall-as-dtc-strike-sends-rush-soaring-2026-09-18-137241 (checked 12 October 2026)</a:t>
            </a:r>
          </a:p>
          <a:p>
            <a:r>
              <a:t>https://www.deccanherald.com/india/delhi/delhi-metro-records-highest-ever-footfall-on-aug-29-2666561 (checked 12 October 2026)</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your-turn cell of notebook 02.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A second route in the notebook</a:t>
            </a:r>
          </a:p>
          <a:p>
            <a:r>
              <a:t>finds the same 180 by acceptance alone. Watch for "these drivers are lazy": they are doing what</a:t>
            </a:r>
          </a:p>
          <a:p>
            <a:r>
              <a:t>the number pays for, as Wells Fargo's staff did.</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Then the break: 10 minutes.</a:t>
            </a:r>
          </a:p>
          <a:p>
            <a:r>
              <a:t>Transition: after the break, chapter 3 asks what the scheme should pay for instead.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for the chapter: the opener question (5), the wrong memo and its cost (12), the</a:t>
            </a:r>
          </a:p>
          <a:p>
            <a:r>
              <a:t>tree and the inputs (14), the definition line by line, guided (16), the window and its start (6),</a:t>
            </a:r>
          </a:p>
          <a:p>
            <a:r>
              <a:t>the caveats (10), the close (2). Levels 3 and 4. Notebook:</a:t>
            </a:r>
          </a:p>
          <a:p>
            <a:r>
              <a:t>notebooks/C2_W04_D01_03_definition_and_cost_STUDENT.ipynb.</a:t>
            </a:r>
          </a:p>
          <a:p>
            <a:r>
              <a:t>Styles: Brilliant (question first), 3Blue1Brown (the tree built region by region), the case method</a:t>
            </a:r>
          </a:p>
          <a:p>
            <a:r>
              <a:t>(VA's decision and its cost), ByteByteGo (the finished board).</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03's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behaviour line clearly, because the finance partner and every interviewer</a:t>
            </a:r>
          </a:p>
          <a:p>
            <a:r>
              <a:t>will ask it: a saving that assumes nobody changes is the most the redesign could save, and an honest</a:t>
            </a:r>
          </a:p>
          <a:p>
            <a:r>
              <a:t>saving says how drivers respond. Round 3</a:t>
            </a:r>
          </a:p>
          <a:p>
            <a:r>
              <a:t>this afternoon prices the saving under a stated range.</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3Blue1Brown: build it on the board one region at a time. First the north star alone,</a:t>
            </a:r>
          </a:p>
          <a:p>
            <a:r>
              <a:t>then each guardrail with the gaming it catches (a driver online and declining; trips so short or so</a:t>
            </a:r>
          </a:p>
          <a:p>
            <a:r>
              <a:t>cherry-picked that waits rise; a top-up that runs away), then the two inputs. Explorer scene M2, the</a:t>
            </a:r>
          </a:p>
          <a:p>
            <a:r>
              <a:t>seesaw, shows the north star against its guardrails. Tuesday's slide, Thursday's funnel and Friday's</a:t>
            </a:r>
          </a:p>
          <a:p>
            <a:r>
              <a:t>forecast all hang off this north star.</a:t>
            </a:r>
          </a:p>
          <a:p>
            <a:r>
              <a:t>Transition: which of these moves first.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M4 asks which line turns first; use it if it is on the projector.</a:t>
            </a:r>
          </a:p>
          <a:p>
            <a:r>
              <a:t>Then classify three of the ticket's numbers aloud: acceptance (leading), trips per hour (moves with</a:t>
            </a:r>
          </a:p>
          <a:p>
            <a:r>
              <a:t>the north star), top-up paid (lagging, the bill arrives after).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guided: the room writes each line with the trainer (exercises/guided/</a:t>
            </a:r>
          </a:p>
          <a:p>
            <a:r>
              <a:t>C2_W04_D01_definition_STUDENT.md). Pause after every line and ask which gaming it stops: the</a:t>
            </a:r>
          </a:p>
          <a:p>
            <a:r>
              <a:t>denominator's "online at least one peak hour" stops a sign-up who never drives from diluting the</a:t>
            </a:r>
          </a:p>
          <a:p>
            <a:r>
              <a:t>rate; "what it does not reward" names hours. Uber's 10-K counts an UberX Share ride with three</a:t>
            </a:r>
          </a:p>
          <a:p>
            <a:r>
              <a:t>paying riders as three trips and an UberX ride with three passengers as one, which is why the</a:t>
            </a:r>
          </a:p>
          <a:p>
            <a:r>
              <a:t>numerator says "per paying rider". Explorer scene M3 recomputes the metric as each line changes.</a:t>
            </a:r>
          </a:p>
          <a:p>
            <a:r>
              <a:t>Transition: who controls when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board's third sketch goes up: the window and its start. Ask who starts the</a:t>
            </a:r>
          </a:p>
          <a:p>
            <a:r>
              <a:t>clock in each of the day's numbers: hours (the driver), trips (the rider's request), wait (the</a:t>
            </a:r>
          </a:p>
          <a:p>
            <a:r>
              <a:t>rider's request). Source:</a:t>
            </a:r>
          </a:p>
          <a:p>
            <a:r>
              <a:t>https://www.vaoig.gov/sites/default/files/reports/2014-08/VAOIG-14-02603-267.pdf (checked 12 October 2026)</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panel one of the cheat sheet. Read the crux line: paying</a:t>
            </a:r>
          </a:p>
          <a:p>
            <a:r>
              <a:t>for hours sent 61 percent of Rs 1.9 crore to driver-weeks that declined most of what they were</a:t>
            </a:r>
          </a:p>
          <a:p>
            <a:r>
              <a:t>offered. The interview line the chapter earns: [F] north star against guardrail, with one example</a:t>
            </a:r>
          </a:p>
          <a:p>
            <a:r>
              <a:t>pair, completed peak trips per enrolled driver, guarded by the share of offers accepted. Then lunch.</a:t>
            </a:r>
          </a:p>
          <a:p>
            <a:r>
              <a:t>Transition: half two opens on round 3 of the war game.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faculty block is tentative until IIT Gandhinagar confirms it.</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052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796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18694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declined request is offered again, so it counts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are not in the data.</a:t>
            </a:r>
          </a:p>
        </p:txBody>
      </p:sp>
      <p:sp>
        <p:nvSpPr>
          <p:cNvPr id="16" name="Rounded Rectangle 15"/>
          <p:cNvSpPr/>
          <p:nvPr/>
        </p:nvSpPr>
        <p:spPr>
          <a:xfrm>
            <a:off x="6370167" y="3899407"/>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3899407"/>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1aa18360ba5e5c02.png"/>
          <p:cNvPicPr>
            <a:picLocks noChangeAspect="1"/>
          </p:cNvPicPr>
          <p:nvPr/>
        </p:nvPicPr>
        <p:blipFill>
          <a:blip r:embed="rId5"/>
          <a:stretch>
            <a:fillRect/>
          </a:stretch>
        </p:blipFill>
        <p:spPr>
          <a:xfrm>
            <a:off x="2432035" y="1682496"/>
            <a:ext cx="7327624"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By the close of the afternoon's first hour the room writes one sentence with its blanks filled from the data, and a definition of seven lines that the three city-team roles, who each lose something under it, cannot break.</a:t>
            </a:r>
          </a:p>
        </p:txBody>
      </p:sp>
      <p:sp>
        <p:nvSpPr>
          <p:cNvPr id="10" name="Rounded Rectangle 9"/>
          <p:cNvSpPr/>
          <p:nvPr/>
        </p:nvSpPr>
        <p:spPr>
          <a:xfrm>
            <a:off x="530352" y="2859024"/>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859024"/>
            <a:ext cx="10820095" cy="751840"/>
          </a:xfrm>
          <a:prstGeom prst="rect">
            <a:avLst/>
          </a:prstGeom>
          <a:noFill/>
        </p:spPr>
        <p:txBody>
          <a:bodyPr wrap="square" anchor="t" lIns="0" rIns="0" tIns="0" bIns="0">
            <a:spAutoFit/>
          </a:bodyPr>
          <a:lstStyle/>
          <a:p>
            <a:r>
              <a:rPr sz="1600" b="0" i="1">
                <a:solidFill>
                  <a:srgbClr val="1A0F5C"/>
                </a:solidFill>
                <a:latin typeface="Georgia"/>
              </a:rPr>
              <a:t>"Judge the scheme by ________, guarded by ________ and ________, because paying for hours cost Rs ____ in six weeks for ________."</a:t>
            </a:r>
          </a:p>
        </p:txBody>
      </p:sp>
      <p:sp>
        <p:nvSpPr>
          <p:cNvPr id="12" name="Rectangle 11"/>
          <p:cNvSpPr/>
          <p:nvPr/>
        </p:nvSpPr>
        <p:spPr>
          <a:xfrm>
            <a:off x="1247045" y="432409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4" name="Oval 13"/>
          <p:cNvSpPr/>
          <p:nvPr/>
        </p:nvSpPr>
        <p:spPr>
          <a:xfrm>
            <a:off x="1146461"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7" name="TextBox 16"/>
          <p:cNvSpPr txBox="1"/>
          <p:nvPr/>
        </p:nvSpPr>
        <p:spPr>
          <a:xfrm>
            <a:off x="694944"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and when it counts</a:t>
            </a:r>
          </a:p>
        </p:txBody>
      </p:sp>
      <p:sp>
        <p:nvSpPr>
          <p:cNvPr id="18" name="TextBox 17"/>
          <p:cNvSpPr txBox="1"/>
          <p:nvPr/>
        </p:nvSpPr>
        <p:spPr>
          <a:xfrm>
            <a:off x="2146619"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9" name="Oval 18"/>
          <p:cNvSpPr/>
          <p:nvPr/>
        </p:nvSpPr>
        <p:spPr>
          <a:xfrm>
            <a:off x="276272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146619"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211"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22" name="TextBox 21"/>
          <p:cNvSpPr txBox="1"/>
          <p:nvPr/>
        </p:nvSpPr>
        <p:spPr>
          <a:xfrm>
            <a:off x="2311211"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Per whom, with the count printed beside the rate</a:t>
            </a:r>
          </a:p>
        </p:txBody>
      </p:sp>
      <p:sp>
        <p:nvSpPr>
          <p:cNvPr id="23" name="TextBox 22"/>
          <p:cNvSpPr txBox="1"/>
          <p:nvPr/>
        </p:nvSpPr>
        <p:spPr>
          <a:xfrm>
            <a:off x="3762886"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4" name="Oval 23"/>
          <p:cNvSpPr/>
          <p:nvPr/>
        </p:nvSpPr>
        <p:spPr>
          <a:xfrm>
            <a:off x="4378996"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3762886"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27478"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7" name="TextBox 26"/>
          <p:cNvSpPr txBox="1"/>
          <p:nvPr/>
        </p:nvSpPr>
        <p:spPr>
          <a:xfrm>
            <a:off x="3927478" y="5078222"/>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8" name="TextBox 27"/>
          <p:cNvSpPr txBox="1"/>
          <p:nvPr/>
        </p:nvSpPr>
        <p:spPr>
          <a:xfrm>
            <a:off x="5379153"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9" name="Oval 28"/>
          <p:cNvSpPr/>
          <p:nvPr/>
        </p:nvSpPr>
        <p:spPr>
          <a:xfrm>
            <a:off x="5995263"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5379153"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43745"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32" name="TextBox 31"/>
          <p:cNvSpPr txBox="1"/>
          <p:nvPr/>
        </p:nvSpPr>
        <p:spPr>
          <a:xfrm>
            <a:off x="5543745"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left out on purpose, each change dated</a:t>
            </a:r>
          </a:p>
        </p:txBody>
      </p:sp>
      <p:sp>
        <p:nvSpPr>
          <p:cNvPr id="33" name="TextBox 32"/>
          <p:cNvSpPr txBox="1"/>
          <p:nvPr/>
        </p:nvSpPr>
        <p:spPr>
          <a:xfrm>
            <a:off x="6995421"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4" name="Oval 33"/>
          <p:cNvSpPr/>
          <p:nvPr/>
        </p:nvSpPr>
        <p:spPr>
          <a:xfrm>
            <a:off x="7611530"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995421"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60013" y="4790440"/>
            <a:ext cx="1104203" cy="465836"/>
          </a:xfrm>
          <a:prstGeom prst="rect">
            <a:avLst/>
          </a:prstGeom>
          <a:noFill/>
        </p:spPr>
        <p:txBody>
          <a:bodyPr wrap="square" anchor="t" lIns="0" rIns="0" tIns="0" bIns="0">
            <a:spAutoFit/>
          </a:bodyPr>
          <a:lstStyle/>
          <a:p>
            <a:pPr algn="l"/>
            <a:r>
              <a:rPr sz="1300" b="1" i="0">
                <a:solidFill>
                  <a:srgbClr val="1A0F5C"/>
                </a:solidFill>
                <a:latin typeface="Calibri"/>
              </a:rPr>
              <a:t>What it does not reward</a:t>
            </a:r>
          </a:p>
        </p:txBody>
      </p:sp>
      <p:sp>
        <p:nvSpPr>
          <p:cNvPr id="37" name="TextBox 36"/>
          <p:cNvSpPr txBox="1"/>
          <p:nvPr/>
        </p:nvSpPr>
        <p:spPr>
          <a:xfrm>
            <a:off x="7160013" y="5292852"/>
            <a:ext cx="1104203" cy="531876"/>
          </a:xfrm>
          <a:prstGeom prst="rect">
            <a:avLst/>
          </a:prstGeom>
          <a:noFill/>
        </p:spPr>
        <p:txBody>
          <a:bodyPr wrap="square" anchor="t" lIns="0" rIns="0" tIns="0" bIns="0">
            <a:spAutoFit/>
          </a:bodyPr>
          <a:lstStyle/>
          <a:p>
            <a:pPr algn="l"/>
            <a:r>
              <a:rPr sz="1000" b="0" i="0">
                <a:solidFill>
                  <a:srgbClr val="6B6690"/>
                </a:solidFill>
                <a:latin typeface="Calibri"/>
              </a:rPr>
              <a:t>The behaviour it refuses to pay for</a:t>
            </a:r>
          </a:p>
        </p:txBody>
      </p:sp>
      <p:sp>
        <p:nvSpPr>
          <p:cNvPr id="38" name="TextBox 37"/>
          <p:cNvSpPr txBox="1"/>
          <p:nvPr/>
        </p:nvSpPr>
        <p:spPr>
          <a:xfrm>
            <a:off x="8611688"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9" name="Oval 38"/>
          <p:cNvSpPr/>
          <p:nvPr/>
        </p:nvSpPr>
        <p:spPr>
          <a:xfrm>
            <a:off x="922779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611688"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776280"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42" name="TextBox 41"/>
          <p:cNvSpPr txBox="1"/>
          <p:nvPr/>
        </p:nvSpPr>
        <p:spPr>
          <a:xfrm>
            <a:off x="8776280"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Must not get worse: two for riders, one for the budget</a:t>
            </a:r>
          </a:p>
        </p:txBody>
      </p:sp>
      <p:sp>
        <p:nvSpPr>
          <p:cNvPr id="43" name="TextBox 42"/>
          <p:cNvSpPr txBox="1"/>
          <p:nvPr/>
        </p:nvSpPr>
        <p:spPr>
          <a:xfrm>
            <a:off x="10227955"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4" name="Oval 43"/>
          <p:cNvSpPr/>
          <p:nvPr/>
        </p:nvSpPr>
        <p:spPr>
          <a:xfrm>
            <a:off x="10844065"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10227955"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392547"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Gaming note</a:t>
            </a:r>
          </a:p>
        </p:txBody>
      </p:sp>
      <p:sp>
        <p:nvSpPr>
          <p:cNvPr id="47" name="TextBox 46"/>
          <p:cNvSpPr txBox="1"/>
          <p:nvPr/>
        </p:nvSpPr>
        <p:spPr>
          <a:xfrm>
            <a:off x="10392547"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How each guardrail catches a way of hitting the number</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6f2eac92cb62179f.png"/>
          <p:cNvPicPr>
            <a:picLocks noChangeAspect="1"/>
          </p:cNvPicPr>
          <p:nvPr/>
        </p:nvPicPr>
        <p:blipFill>
          <a:blip r:embed="rId5"/>
          <a:stretch>
            <a:fillRect/>
          </a:stretch>
        </p:blipFill>
        <p:spPr>
          <a:xfrm>
            <a:off x="1325273" y="1682496"/>
            <a:ext cx="3196483" cy="451713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chapter fills one region of this board: chapter 1 answers what the number is for, chapter 2 how it rose while riders were served no better, chapter 3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Which number does each of the city team's three roles want the scheme judged on, and how could each look good while riders were served no better?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TextBox 26"/>
          <p:cNvSpPr txBox="1"/>
          <p:nvPr/>
        </p:nvSpPr>
        <p:spPr>
          <a:xfrm>
            <a:off x="530352" y="410413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proxy test, three questions per number.</a:t>
            </a:r>
            <a:r>
              <a:rPr sz="1600" b="0" i="0">
                <a:solidFill>
                  <a:srgbClr val="1A1440"/>
                </a:solidFill>
                <a:latin typeface="Calibri"/>
              </a:rPr>
              <a:t> A proxy is a number that stands in for the thing wanted. Could a team hit this number while riders were served no better? Who controls the count? What does the number deliberately not reward?</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"peak online hours up 24 percent" stand for, and what happened to six drivers counted by hand, before the city head celebrates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can rise with no rider at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data, which of four city numbers can a driver raise without a single rider asking for a trip?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Completed peak trips</a:t>
            </a:r>
          </a:p>
          <a:p>
            <a:pPr>
              <a:spcAft>
                <a:spcPts val="800"/>
              </a:spcAft>
            </a:pPr>
            <a:r>
              <a:rPr sz="1600" b="0" i="0">
                <a:solidFill>
                  <a:srgbClr val="1A1440"/>
                </a:solidFill>
                <a:latin typeface="Calibri"/>
              </a:rPr>
              <a:t>b) Peak online hours</a:t>
            </a:r>
          </a:p>
          <a:p>
            <a:pPr>
              <a:spcAft>
                <a:spcPts val="800"/>
              </a:spcAft>
            </a:pPr>
            <a:r>
              <a:rPr sz="1600" b="0" i="0">
                <a:solidFill>
                  <a:srgbClr val="1A1440"/>
                </a:solidFill>
                <a:latin typeface="Calibri"/>
              </a:rPr>
              <a:t>c) Offers accepted over offers shown</a:t>
            </a:r>
          </a:p>
          <a:p>
            <a:pPr>
              <a:spcAft>
                <a:spcPts val="800"/>
              </a:spcAft>
            </a:pPr>
            <a:r>
              <a:rPr sz="1600" b="0" i="0">
                <a:solidFill>
                  <a:srgbClr val="1A1440"/>
                </a:solidFill>
                <a:latin typeface="Calibri"/>
              </a:rPr>
              <a:t>d) Median rider wait at peak</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hours, since the app counts it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peak online hours rise with no rider served?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app logs a driver as online whenever the driver app is open and the driver is marked available, wherever the phone is: in traffic, at home, or parked in a zone with no riders. Trips need a rider who asked, accepted offers need an offer, and the wait is measured on riders. Hours need only an open app.</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proxy is a number that stands in for the thing somebody wants.</a:t>
            </a:r>
            <a:r>
              <a:rPr sz="1600" b="0" i="0">
                <a:solidFill>
                  <a:srgbClr val="1A1440"/>
                </a:solidFill>
                <a:latin typeface="Calibri"/>
              </a:rPr>
              <a:t> The city wants riders picked up faster; it counted hours because hours are easy to 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canteen pays per token: tokens double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proxy drift once people are paid for it?</a:t>
            </a:r>
          </a:p>
        </p:txBody>
      </p:sp>
      <p:pic>
        <p:nvPicPr>
          <p:cNvPr id="9" name="mermaid diagram" descr="94da0418c15641df.png"/>
          <p:cNvPicPr>
            <a:picLocks noChangeAspect="1"/>
          </p:cNvPicPr>
          <p:nvPr/>
        </p:nvPicPr>
        <p:blipFill>
          <a:blip r:embed="rId5"/>
          <a:stretch>
            <a:fillRect/>
          </a:stretch>
        </p:blipFill>
        <p:spPr>
          <a:xfrm>
            <a:off x="1219809" y="1664208"/>
            <a:ext cx="9752076"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proxy test. </a:t>
            </a:r>
            <a:r>
              <a:rPr sz="1500" b="0" i="0">
                <a:solidFill>
                  <a:srgbClr val="1A1440"/>
                </a:solidFill>
                <a:latin typeface="Calibri"/>
              </a:rPr>
              <a:t>Could a team hit this number while the thing it stands for got worse, or stayed the same? The canteen's tokens fail it: tokens per plate went from 1.0 to 2.0 and no extra diner ate. The numbers are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04c3c64bb20212be.png"/>
          <p:cNvPicPr>
            <a:picLocks noChangeAspect="1"/>
          </p:cNvPicPr>
          <p:nvPr/>
        </p:nvPicPr>
        <p:blipFill>
          <a:blip r:embed="rId5"/>
          <a:stretch>
            <a:fillRect/>
          </a:stretch>
        </p:blipFill>
        <p:spPr>
          <a:xfrm>
            <a:off x="3262258" y="1664208"/>
            <a:ext cx="5667178"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The city fell to 1.58; the six fall further because they were chosen to show the mechanism, and two of them, E and F, logged hours with almost no trips, a third of this sample. How common such drivers are in the city is chapter 2's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Wells Fargo paid for accounts nobody used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company pays its people for a number that does not require the thing it stands for?</a:t>
            </a:r>
          </a:p>
        </p:txBody>
      </p:sp>
      <p:sp>
        <p:nvSpPr>
          <p:cNvPr id="9" name="TextBox 8"/>
          <p:cNvSpPr txBox="1"/>
          <p:nvPr/>
        </p:nvSpPr>
        <p:spPr>
          <a:xfrm>
            <a:off x="530352" y="182067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Wells Fargo's cross-sell metric</a:t>
            </a:r>
            <a:r>
              <a:rPr sz="1600" b="0" i="0">
                <a:solidFill>
                  <a:srgbClr val="1A1440"/>
                </a:solidFill>
                <a:latin typeface="Calibri"/>
              </a:rPr>
              <a:t> was the number of accounts and products per retail bank household. It had no usage condition: an unused debit card, the largest product in it, could stay in the count for up to four years. Staff opened accounts customers had not asked for, moved customers' money into new accounts so the accounts would count as funded ("simulated funding"), and changed contact details so customers would not receive satisfaction surveys.</a:t>
            </a:r>
          </a:p>
        </p:txBody>
      </p:sp>
      <p:sp>
        <p:nvSpPr>
          <p:cNvPr id="10" name="TextBox 9"/>
          <p:cNvSpPr txBox="1"/>
          <p:nvPr/>
        </p:nvSpPr>
        <p:spPr>
          <a:xfrm>
            <a:off x="53035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185</a:t>
            </a:r>
          </a:p>
        </p:txBody>
      </p:sp>
      <p:sp>
        <p:nvSpPr>
          <p:cNvPr id="11" name="TextBox 10"/>
          <p:cNvSpPr txBox="1"/>
          <p:nvPr/>
        </p:nvSpPr>
        <p:spPr>
          <a:xfrm>
            <a:off x="53035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MILLION, 2016</a:t>
            </a:r>
          </a:p>
        </p:txBody>
      </p:sp>
      <p:sp>
        <p:nvSpPr>
          <p:cNvPr id="12" name="TextBox 11"/>
          <p:cNvSpPr txBox="1"/>
          <p:nvPr/>
        </p:nvSpPr>
        <p:spPr>
          <a:xfrm>
            <a:off x="530352" y="4486148"/>
            <a:ext cx="3527450" cy="350266"/>
          </a:xfrm>
          <a:prstGeom prst="rect">
            <a:avLst/>
          </a:prstGeom>
          <a:noFill/>
        </p:spPr>
        <p:txBody>
          <a:bodyPr wrap="square" anchor="t" lIns="0" rIns="0" tIns="0" bIns="0">
            <a:spAutoFit/>
          </a:bodyPr>
          <a:lstStyle/>
          <a:p>
            <a:pPr algn="l"/>
            <a:r>
              <a:rPr sz="950" b="0" i="0">
                <a:solidFill>
                  <a:srgbClr val="6B6690"/>
                </a:solidFill>
                <a:latin typeface="Calibri"/>
              </a:rPr>
              <a:t>penalties, after about 1.5 million deposit and 565,000 card accounts may not have been authorised</a:t>
            </a:r>
          </a:p>
        </p:txBody>
      </p:sp>
      <p:sp>
        <p:nvSpPr>
          <p:cNvPr id="13" name="Rectangle 12"/>
          <p:cNvSpPr/>
          <p:nvPr/>
        </p:nvSpPr>
        <p:spPr>
          <a:xfrm>
            <a:off x="53035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433212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BILLION, 2020</a:t>
            </a:r>
          </a:p>
        </p:txBody>
      </p:sp>
      <p:sp>
        <p:nvSpPr>
          <p:cNvPr id="16" name="TextBox 15"/>
          <p:cNvSpPr txBox="1"/>
          <p:nvPr/>
        </p:nvSpPr>
        <p:spPr>
          <a:xfrm>
            <a:off x="4332122" y="4486148"/>
            <a:ext cx="3527450" cy="193421"/>
          </a:xfrm>
          <a:prstGeom prst="rect">
            <a:avLst/>
          </a:prstGeom>
          <a:noFill/>
        </p:spPr>
        <p:txBody>
          <a:bodyPr wrap="square" anchor="t" lIns="0" rIns="0" tIns="0" bIns="0">
            <a:spAutoFit/>
          </a:bodyPr>
          <a:lstStyle/>
          <a:p>
            <a:pPr algn="l"/>
            <a:r>
              <a:rPr sz="950" b="0" i="0">
                <a:solidFill>
                  <a:srgbClr val="6B6690"/>
                </a:solidFill>
                <a:latin typeface="Calibri"/>
              </a:rPr>
              <a:t>settlement with the SEC and the Department of Justice</a:t>
            </a:r>
          </a:p>
        </p:txBody>
      </p:sp>
      <p:sp>
        <p:nvSpPr>
          <p:cNvPr id="17" name="Rectangle 16"/>
          <p:cNvSpPr/>
          <p:nvPr/>
        </p:nvSpPr>
        <p:spPr>
          <a:xfrm>
            <a:off x="433212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2016</a:t>
            </a:r>
          </a:p>
        </p:txBody>
      </p:sp>
      <p:sp>
        <p:nvSpPr>
          <p:cNvPr id="19" name="TextBox 18"/>
          <p:cNvSpPr txBox="1"/>
          <p:nvPr/>
        </p:nvSpPr>
        <p:spPr>
          <a:xfrm>
            <a:off x="813389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SALES GOALS ENDED</a:t>
            </a:r>
          </a:p>
        </p:txBody>
      </p:sp>
      <p:sp>
        <p:nvSpPr>
          <p:cNvPr id="20" name="TextBox 19"/>
          <p:cNvSpPr txBox="1"/>
          <p:nvPr/>
        </p:nvSpPr>
        <p:spPr>
          <a:xfrm>
            <a:off x="8133892" y="4486148"/>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bank dropped product sales goals for its employees</a:t>
            </a:r>
          </a:p>
        </p:txBody>
      </p:sp>
      <p:sp>
        <p:nvSpPr>
          <p:cNvPr id="21" name="Rectangle 20"/>
          <p:cNvSpPr/>
          <p:nvPr/>
        </p:nvSpPr>
        <p:spPr>
          <a:xfrm>
            <a:off x="813389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50129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the release of the US Consumer Financial Protection Bureau (CFPB) of 8 September 2016, the release of the US Securities and Exchange Commission (SEC) of 21 February 2020 and the SEC order, Release 34-88257, each checked 12 October 2026.</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1 answered, and what does the board now hold?</a:t>
            </a:r>
          </a:p>
        </p:txBody>
      </p:sp>
      <p:pic>
        <p:nvPicPr>
          <p:cNvPr id="9" name="mermaid diagram" descr="da66fa08805d999e.png"/>
          <p:cNvPicPr>
            <a:picLocks noChangeAspect="1"/>
          </p:cNvPicPr>
          <p:nvPr/>
        </p:nvPicPr>
        <p:blipFill>
          <a:blip r:embed="rId5"/>
          <a:stretch>
            <a:fillRect/>
          </a:stretch>
        </p:blipFill>
        <p:spPr>
          <a:xfrm>
            <a:off x="664947" y="1682496"/>
            <a:ext cx="4517136" cy="4517136"/>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 the city totals say over twelve weeks, and which drivers and zones drive the fall, before a proposal goes out to extend the scheme?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tables, two units,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every trip over every hour.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9f70c21823e02228.png"/>
          <p:cNvPicPr>
            <a:picLocks noChangeAspect="1"/>
          </p:cNvPicPr>
          <p:nvPr/>
        </p:nvPicPr>
        <p:blipFill>
          <a:blip r:embed="rId5"/>
          <a:stretch>
            <a:fillRect/>
          </a:stretch>
        </p:blipFill>
        <p:spPr>
          <a:xfrm>
            <a:off x="4554938" y="1664208"/>
            <a:ext cx="3081818"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The true fall is 0.32, from 1.90 to 1.58; the average shows 0.19 of it and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writes each denominator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definition look like in a public filing?</a:t>
            </a:r>
          </a:p>
        </p:txBody>
      </p:sp>
      <p:graphicFrame>
        <p:nvGraphicFramePr>
          <p:cNvPr id="9" name="Table 8"/>
          <p:cNvGraphicFramePr>
            <a:graphicFrameLocks noGrp="1"/>
          </p:cNvGraphicFramePr>
          <p:nvPr/>
        </p:nvGraphicFramePr>
        <p:xfrm>
          <a:off x="530352" y="1956816"/>
          <a:ext cx="11130990" cy="1420368"/>
        </p:xfrm>
        <a:graphic>
          <a:graphicData uri="http://schemas.openxmlformats.org/drawingml/2006/table">
            <a:tbl>
              <a:tblPr firstRow="0" bandRow="0">
                <a:tableStyleId>{2D5ABB26-0587-4C30-8999-92F81FD0307C}</a:tableStyleId>
              </a:tblPr>
              <a:tblGrid>
                <a:gridCol w="2689641"/>
                <a:gridCol w="4542629"/>
                <a:gridCol w="1466568"/>
                <a:gridCol w="2432152"/>
              </a:tblGrid>
              <a:tr h="335280">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What is counted</a:t>
                      </a:r>
                    </a:p>
                  </a:txBody>
                  <a:tcPr marL="101600" marR="101600" marT="38100" marB="38100" anchor="ctr">
                    <a:solidFill>
                      <a:srgbClr val="1A0F5C"/>
                    </a:solidFill>
                  </a:tcPr>
                </a:tc>
                <a:tc>
                  <a:txBody>
                    <a:bodyPr/>
                    <a:lstStyle/>
                    <a:p>
                      <a:r>
                        <a:rPr sz="1250" b="1" i="0">
                          <a:solidFill>
                            <a:srgbClr val="FFFFFF"/>
                          </a:solidFill>
                          <a:latin typeface="Calibri"/>
                        </a:rPr>
                        <a:t>Per what</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per month</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per transacting user</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r>
            </a:tbl>
          </a:graphicData>
        </a:graphic>
      </p:graphicFrame>
      <p:sp>
        <p:nvSpPr>
          <p:cNvPr id="10" name="TextBox 9"/>
          <p:cNvSpPr txBox="1"/>
          <p:nvPr/>
        </p:nvSpPr>
        <p:spPr>
          <a:xfrm>
            <a:off x="530352" y="36332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(its shareholder letter filed with the exchange, checked 12 October 2026).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Delhi Metro's numbers differ by unit and by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four numbers for one network, from 27 lakh to over 82 lakh, all be right?</a:t>
            </a:r>
          </a:p>
        </p:txBody>
      </p:sp>
      <p:sp>
        <p:nvSpPr>
          <p:cNvPr id="9" name="TextBox 8"/>
          <p:cNvSpPr txBox="1"/>
          <p:nvPr/>
        </p:nvSpPr>
        <p:spPr>
          <a:xfrm>
            <a:off x="530352" y="1956816"/>
            <a:ext cx="2577007" cy="476250"/>
          </a:xfrm>
          <a:prstGeom prst="rect">
            <a:avLst/>
          </a:prstGeom>
          <a:noFill/>
        </p:spPr>
        <p:txBody>
          <a:bodyPr wrap="square" anchor="t" lIns="0" rIns="0" tIns="0" bIns="0">
            <a:spAutoFit/>
          </a:bodyPr>
          <a:lstStyle/>
          <a:p>
            <a:pPr algn="l"/>
            <a:r>
              <a:rPr sz="3000" b="0" i="0">
                <a:solidFill>
                  <a:srgbClr val="5B3FD6"/>
                </a:solidFill>
                <a:latin typeface="Georgia"/>
              </a:rPr>
              <a:t>27 lakh</a:t>
            </a:r>
          </a:p>
        </p:txBody>
      </p:sp>
      <p:sp>
        <p:nvSpPr>
          <p:cNvPr id="10" name="TextBox 9"/>
          <p:cNvSpPr txBox="1"/>
          <p:nvPr/>
        </p:nvSpPr>
        <p:spPr>
          <a:xfrm>
            <a:off x="530352" y="2469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RIDERS A DAY</a:t>
            </a:r>
          </a:p>
        </p:txBody>
      </p:sp>
      <p:sp>
        <p:nvSpPr>
          <p:cNvPr id="11" name="TextBox 10"/>
          <p:cNvSpPr txBox="1"/>
          <p:nvPr/>
        </p:nvSpPr>
        <p:spPr>
          <a:xfrm>
            <a:off x="530352" y="2670810"/>
            <a:ext cx="2577007" cy="350266"/>
          </a:xfrm>
          <a:prstGeom prst="rect">
            <a:avLst/>
          </a:prstGeom>
          <a:noFill/>
        </p:spPr>
        <p:txBody>
          <a:bodyPr wrap="square" anchor="t" lIns="0" rIns="0" tIns="0" bIns="0">
            <a:spAutoFit/>
          </a:bodyPr>
          <a:lstStyle/>
          <a:p>
            <a:pPr algn="l"/>
            <a:r>
              <a:rPr sz="950" b="0" i="0">
                <a:solidFill>
                  <a:srgbClr val="6B6690"/>
                </a:solidFill>
                <a:latin typeface="Calibri"/>
              </a:rPr>
              <a:t>February 2018: the old count took each rider once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76250"/>
          </a:xfrm>
          <a:prstGeom prst="rect">
            <a:avLst/>
          </a:prstGeom>
          <a:noFill/>
        </p:spPr>
        <p:txBody>
          <a:bodyPr wrap="square" anchor="t" lIns="0" rIns="0" tIns="0" bIns="0">
            <a:spAutoFit/>
          </a:bodyPr>
          <a:lstStyle/>
          <a:p>
            <a:pPr algn="l"/>
            <a:r>
              <a:rPr sz="3000" b="0" i="0">
                <a:solidFill>
                  <a:srgbClr val="5B3FD6"/>
                </a:solidFill>
                <a:latin typeface="Georgia"/>
              </a:rPr>
              <a:t>45,35,932</a:t>
            </a:r>
          </a:p>
        </p:txBody>
      </p:sp>
      <p:sp>
        <p:nvSpPr>
          <p:cNvPr id="14" name="TextBox 13"/>
          <p:cNvSpPr txBox="1"/>
          <p:nvPr/>
        </p:nvSpPr>
        <p:spPr>
          <a:xfrm>
            <a:off x="3381679" y="2469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LINE USES</a:t>
            </a:r>
          </a:p>
        </p:txBody>
      </p:sp>
      <p:sp>
        <p:nvSpPr>
          <p:cNvPr id="15" name="TextBox 14"/>
          <p:cNvSpPr txBox="1"/>
          <p:nvPr/>
        </p:nvSpPr>
        <p:spPr>
          <a:xfrm>
            <a:off x="3381679" y="2670810"/>
            <a:ext cx="2577007" cy="350266"/>
          </a:xfrm>
          <a:prstGeom prst="rect">
            <a:avLst/>
          </a:prstGeom>
          <a:noFill/>
        </p:spPr>
        <p:txBody>
          <a:bodyPr wrap="square" anchor="t" lIns="0" rIns="0" tIns="0" bIns="0">
            <a:spAutoFit/>
          </a:bodyPr>
          <a:lstStyle/>
          <a:p>
            <a:pPr algn="l"/>
            <a:r>
              <a:rPr sz="950" b="0" i="0">
                <a:solidFill>
                  <a:srgbClr val="6B6690"/>
                </a:solidFill>
                <a:latin typeface="Calibri"/>
              </a:rPr>
              <a:t>29 May 2018: a rider on three lines counts three times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76250"/>
          </a:xfrm>
          <a:prstGeom prst="rect">
            <a:avLst/>
          </a:prstGeom>
          <a:noFill/>
        </p:spPr>
        <p:txBody>
          <a:bodyPr wrap="square" anchor="t" lIns="0" rIns="0" tIns="0" bIns="0">
            <a:spAutoFit/>
          </a:bodyPr>
          <a:lstStyle/>
          <a:p>
            <a:pPr algn="l"/>
            <a:r>
              <a:rPr sz="3000" b="0" i="0">
                <a:solidFill>
                  <a:srgbClr val="5B3FD6"/>
                </a:solidFill>
                <a:latin typeface="Georgia"/>
              </a:rPr>
              <a:t>64.06 lakh</a:t>
            </a:r>
          </a:p>
        </p:txBody>
      </p:sp>
      <p:sp>
        <p:nvSpPr>
          <p:cNvPr id="18" name="TextBox 17"/>
          <p:cNvSpPr txBox="1"/>
          <p:nvPr/>
        </p:nvSpPr>
        <p:spPr>
          <a:xfrm>
            <a:off x="6233007" y="2469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LINE USES, AVERAGE DAY</a:t>
            </a:r>
          </a:p>
        </p:txBody>
      </p:sp>
      <p:sp>
        <p:nvSpPr>
          <p:cNvPr id="19" name="TextBox 18"/>
          <p:cNvSpPr txBox="1"/>
          <p:nvPr/>
        </p:nvSpPr>
        <p:spPr>
          <a:xfrm>
            <a:off x="6233007" y="2670810"/>
            <a:ext cx="2577007" cy="193421"/>
          </a:xfrm>
          <a:prstGeom prst="rect">
            <a:avLst/>
          </a:prstGeom>
          <a:noFill/>
        </p:spPr>
        <p:txBody>
          <a:bodyPr wrap="square" anchor="t" lIns="0" rIns="0" tIns="0" bIns="0">
            <a:spAutoFit/>
          </a:bodyPr>
          <a:lstStyle/>
          <a:p>
            <a:pPr algn="l"/>
            <a:r>
              <a:rPr sz="950" b="0" i="0">
                <a:solidFill>
                  <a:srgbClr val="6B6690"/>
                </a:solidFill>
                <a:latin typeface="Calibri"/>
              </a:rPr>
              <a:t>2026, reported as "journeys"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76250"/>
          </a:xfrm>
          <a:prstGeom prst="rect">
            <a:avLst/>
          </a:prstGeom>
          <a:noFill/>
        </p:spPr>
        <p:txBody>
          <a:bodyPr wrap="square" anchor="t" lIns="0" rIns="0" tIns="0" bIns="0">
            <a:spAutoFit/>
          </a:bodyPr>
          <a:lstStyle/>
          <a:p>
            <a:pPr algn="l"/>
            <a:r>
              <a:rPr sz="3000" b="0" i="0">
                <a:solidFill>
                  <a:srgbClr val="5B3FD6"/>
                </a:solidFill>
                <a:latin typeface="Georgia"/>
              </a:rPr>
              <a:t>82,44,903</a:t>
            </a:r>
          </a:p>
        </p:txBody>
      </p:sp>
      <p:sp>
        <p:nvSpPr>
          <p:cNvPr id="22" name="TextBox 21"/>
          <p:cNvSpPr txBox="1"/>
          <p:nvPr/>
        </p:nvSpPr>
        <p:spPr>
          <a:xfrm>
            <a:off x="9084335" y="2469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LINE USES, RECORD DAY</a:t>
            </a:r>
          </a:p>
        </p:txBody>
      </p:sp>
      <p:sp>
        <p:nvSpPr>
          <p:cNvPr id="23" name="TextBox 22"/>
          <p:cNvSpPr txBox="1"/>
          <p:nvPr/>
        </p:nvSpPr>
        <p:spPr>
          <a:xfrm>
            <a:off x="9084335" y="2670810"/>
            <a:ext cx="2577007" cy="350266"/>
          </a:xfrm>
          <a:prstGeom prst="rect">
            <a:avLst/>
          </a:prstGeom>
          <a:noFill/>
        </p:spPr>
        <p:txBody>
          <a:bodyPr wrap="square" anchor="t" lIns="0" rIns="0" tIns="0" bIns="0">
            <a:spAutoFit/>
          </a:bodyPr>
          <a:lstStyle/>
          <a:p>
            <a:pPr algn="l"/>
            <a:r>
              <a:rPr sz="950" b="0" i="0">
                <a:solidFill>
                  <a:srgbClr val="6B6690"/>
                </a:solidFill>
                <a:latin typeface="Calibri"/>
              </a:rPr>
              <a:t>17 September 2026, reported as "boardings"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243027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2018 the Delhi Metro Rail Corporation (DMRC) began counting "line utilisation": a rider who changes across three lines from Noida City Centre to HUDA City Centre counts three times (PTI, the Press Trust of India). So the 2018 pair is one crowd in two units. The 2026 pair is one unit on two kinds of day: an average day (The Tribune) and the record day, when a bus strike sent riders to the Metro (DMRC's post, as Republic World carries it). That "journeys" and "boardings" name the same count is our reading, since the boardings record beat the earlier record of more than 81 lakh "passenger journeys" on 8 August 2025 (The Tribune). All checked 12 October 2026. A definition can move a number without moving the crowd, and so can the choice of 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E's and F's weeks are the small group at the bottom left, the most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2 answered, and what does the board now hold?</a:t>
            </a:r>
          </a:p>
        </p:txBody>
      </p:sp>
      <p:pic>
        <p:nvPicPr>
          <p:cNvPr id="9" name="mermaid diagram" descr="0c46bcd733c4c8c8.png"/>
          <p:cNvPicPr>
            <a:picLocks noChangeAspect="1"/>
          </p:cNvPicPr>
          <p:nvPr/>
        </p:nvPicPr>
        <p:blipFill>
          <a:blip r:embed="rId5"/>
          <a:stretch>
            <a:fillRect/>
          </a:stretch>
        </p:blipFill>
        <p:spPr>
          <a:xfrm>
            <a:off x="530352" y="2046476"/>
            <a:ext cx="4786326" cy="3789174"/>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rate is two sums divided once, with its denominator named; the city's 1.90 to 1.58 is real, demand rose, and 180 drivers sitting online in thin zones carry the fall.</a:t>
            </a:r>
          </a:p>
        </p:txBody>
      </p:sp>
      <p:sp>
        <p:nvSpPr>
          <p:cNvPr id="13" name="Rounded Rectangle 12"/>
          <p:cNvSpPr/>
          <p:nvPr/>
        </p:nvSpPr>
        <p:spPr>
          <a:xfrm>
            <a:off x="5761917" y="346252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590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581400"/>
            <a:ext cx="5332497" cy="11582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number should the scheme pay for, which guardrails stop the gaming, and what can the data not show, before the city head decides on Friday?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would you pay drivers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would make drivers drive and serve riders, without paying for idling or for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 floor on acceptance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minimum share of offers accepted, pay for the service and catch the cherry-picking.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77feda7222d51a91.png"/>
          <p:cNvPicPr>
            <a:picLocks noChangeAspect="1"/>
          </p:cNvPicPr>
          <p:nvPr/>
        </p:nvPicPr>
        <p:blipFill>
          <a:blip r:embed="rId5"/>
          <a:stretch>
            <a:fillRect/>
          </a:stretch>
        </p:blipFill>
        <p:spPr>
          <a:xfrm>
            <a:off x="2999675" y="1664208"/>
            <a:ext cx="6192344"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barely moved, so riders were served no better. </a:t>
            </a:r>
            <a:r>
              <a:rPr sz="1500" b="1" i="0">
                <a:solidFill>
                  <a:srgbClr val="1A1440"/>
                </a:solidFill>
                <a:latin typeface="Calibri"/>
              </a:rPr>
              <a:t>The fix:</a:t>
            </a:r>
            <a:r>
              <a:rPr sz="1500" b="0" i="0">
                <a:solidFill>
                  <a:srgbClr val="1A1440"/>
                </a:solidFill>
                <a:latin typeface="Calibri"/>
              </a:rPr>
              <a:t> pay for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917e0a52d2801801.png"/>
          <p:cNvPicPr>
            <a:picLocks noChangeAspect="1"/>
          </p:cNvPicPr>
          <p:nvPr/>
        </p:nvPicPr>
        <p:blipFill>
          <a:blip r:embed="rId5"/>
          <a:stretch>
            <a:fillRect/>
          </a:stretch>
        </p:blipFill>
        <p:spPr>
          <a:xfrm>
            <a:off x="530352" y="1821033"/>
            <a:ext cx="4786326" cy="4240060"/>
          </a:xfrm>
          <a:prstGeom prst="rect">
            <a:avLst/>
          </a:prstGeom>
        </p:spPr>
      </p:pic>
      <p:sp>
        <p:nvSpPr>
          <p:cNvPr id="10" name="TextBox 9"/>
          <p:cNvSpPr txBox="1"/>
          <p:nvPr/>
        </p:nvSpPr>
        <p:spPr>
          <a:xfrm>
            <a:off x="5761917" y="1956816"/>
            <a:ext cx="5899425" cy="298297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north star</a:t>
            </a:r>
            <a:r>
              <a:rPr sz="1600" b="0" i="0">
                <a:solidFill>
                  <a:srgbClr val="1A1440"/>
                </a:solidFill>
                <a:latin typeface="Calibri"/>
              </a:rPr>
              <a:t> names the outcome the scheme exists for. </a:t>
            </a:r>
            <a:r>
              <a:rPr sz="1600" b="1" i="0">
                <a:solidFill>
                  <a:srgbClr val="1A1440"/>
                </a:solidFill>
                <a:latin typeface="Calibri"/>
              </a:rPr>
              <a:t>Guardrails</a:t>
            </a:r>
            <a:r>
              <a:rPr sz="1600" b="0" i="0">
                <a:solidFill>
                  <a:srgbClr val="1A1440"/>
                </a:solidFill>
                <a:latin typeface="Calibri"/>
              </a:rPr>
              <a:t> name the ways of hitting it that hurt riders (guardrails 1 and 2) or the budget (guardrail 3). </a:t>
            </a:r>
            <a:r>
              <a:rPr sz="1600" b="1" i="0">
                <a:solidFill>
                  <a:srgbClr val="1A1440"/>
                </a:solidFill>
                <a:latin typeface="Calibri"/>
              </a:rPr>
              <a:t>Inputs</a:t>
            </a:r>
            <a:r>
              <a:rPr sz="1600" b="0" i="0">
                <a:solidFill>
                  <a:srgbClr val="1A1440"/>
                </a:solidFill>
                <a:latin typeface="Calibri"/>
              </a:rPr>
              <a:t> are what the city team can move this week, such as drivers online in the first hour of each peak window, before the north star catches up. Read the north star and its guardrails as a </a:t>
            </a:r>
            <a:r>
              <a:rPr sz="1600" b="1" i="0">
                <a:solidFill>
                  <a:srgbClr val="1A1440"/>
                </a:solidFill>
                <a:latin typeface="Calibri"/>
              </a:rPr>
              <a:t>seesaw</a:t>
            </a:r>
            <a:r>
              <a:rPr sz="1600" b="0" i="0">
                <a:solidFill>
                  <a:srgbClr val="1A1440"/>
                </a:solidFill>
                <a:latin typeface="Calibri"/>
              </a:rPr>
              <a:t>: if the north star rises while a guardrail moves the wrong way (fewer offers accepted, a longer wait, more top-up per trip), riders or the budget paid for the rise.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moved first, bookings followed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have warned the city team in the first week?</a:t>
            </a:r>
          </a:p>
        </p:txBody>
      </p:sp>
      <p:pic>
        <p:nvPicPr>
          <p:cNvPr id="9" name="mermaid diagram" descr="C2_W04_D01_lead_STUDENT.png"/>
          <p:cNvPicPr>
            <a:picLocks noChangeAspect="1"/>
          </p:cNvPicPr>
          <p:nvPr/>
        </p:nvPicPr>
        <p:blipFill>
          <a:blip r:embed="rId4"/>
          <a:stretch>
            <a:fillRect/>
          </a:stretch>
        </p:blipFill>
        <p:spPr>
          <a:xfrm>
            <a:off x="2693207" y="1664208"/>
            <a:ext cx="6805280"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1" i="0">
                <a:solidFill>
                  <a:srgbClr val="1A1440"/>
                </a:solidFill>
                <a:latin typeface="Calibri"/>
              </a:rPr>
              <a:t>Leading</a:t>
            </a:r>
            <a:r>
              <a:rPr sz="1600" b="0" i="0">
                <a:solidFill>
                  <a:srgbClr val="1A1440"/>
                </a:solidFill>
                <a:latin typeface="Calibri"/>
              </a:rPr>
              <a:t> and </a:t>
            </a:r>
            <a:r>
              <a:rPr sz="1600" b="1" i="0">
                <a:solidFill>
                  <a:srgbClr val="1A1440"/>
                </a:solidFill>
                <a:latin typeface="Calibri"/>
              </a:rPr>
              <a:t>lagging</a:t>
            </a:r>
            <a:r>
              <a:rPr sz="1600" b="0" i="0">
                <a:solidFill>
                  <a:srgbClr val="1A1440"/>
                </a:solidFill>
                <a:latin typeface="Calibri"/>
              </a:rPr>
              <a:t> say when a number moves: a leading number moves before the north star, a lagging one confirms it later. That is a separate question from the job a number does, so acceptance is guardrail 1 and also a leading number. It fell to its new level in the launch week (0.729), while bookings per online hour, the fares riders paid per hour, fell to Rs 271 that week and kept falling to Rs 259.1 by the third. A city team watching acceptance would have seen the gaming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844040"/>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 floor the city sets,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404104"/>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On the data, the north star read 35.76 trips per online driver-week before and 35.89 after: hours rose 24 percent and the number the scheme exists for barely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 let the measured set the clock's start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people being measured control where a window begins?</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US Department of Veterans Affairs measured patient wait from a "desired date" that schedulers entered. At its Phoenix facility, of 79 staff interviewed, 30 said they had used the wrong desired date, producing false zero-day waits, and 11 said they "fixed" waits longer than the 14-day goal by rebooking with a later desired date. After the interim report of the VA's Office of Inspector General (OIG), the 14-day goal was removed from employee performance contracts (VA OIG report 14-02603-267, August 2014, checked 12 October 2026).</a:t>
            </a:r>
          </a:p>
        </p:txBody>
      </p:sp>
      <p:sp>
        <p:nvSpPr>
          <p:cNvPr id="10" name="Rounded Rectangle 9"/>
          <p:cNvSpPr/>
          <p:nvPr/>
        </p:nvSpPr>
        <p:spPr>
          <a:xfrm>
            <a:off x="530352" y="39624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904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81272"/>
            <a:ext cx="10564063" cy="624840"/>
          </a:xfrm>
          <a:prstGeom prst="rect">
            <a:avLst/>
          </a:prstGeom>
          <a:noFill/>
        </p:spPr>
        <p:txBody>
          <a:bodyPr wrap="square" anchor="ctr" lIns="0" rIns="0" tIns="0" bIns="0">
            <a:spAutoFit/>
          </a:bodyPr>
          <a:lstStyle/>
          <a:p>
            <a:r>
              <a:rPr sz="1500" b="1">
                <a:solidFill>
                  <a:srgbClr val="5B3FD6"/>
                </a:solidFill>
                <a:latin typeface="Calibri"/>
              </a:rPr>
              <a:t>The parallel. </a:t>
            </a:r>
            <a:r>
              <a:rPr sz="1500" b="0" i="0">
                <a:solidFill>
                  <a:srgbClr val="1A1440"/>
                </a:solidFill>
                <a:latin typeface="Calibri"/>
              </a:rPr>
              <a:t>A driver decides when the app is open, so the driver sets the start of every online hour. A definition that pays per online hour hands the clock to the person it pays.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759758" y="1664208"/>
            <a:ext cx="6672178" cy="2755900"/>
          </a:xfrm>
          <a:prstGeom prst="rect">
            <a:avLst/>
          </a:prstGeom>
        </p:spPr>
      </p:pic>
      <p:sp>
        <p:nvSpPr>
          <p:cNvPr id="10" name="picture caption"/>
          <p:cNvSpPr txBox="1"/>
          <p:nvPr/>
        </p:nvSpPr>
        <p:spPr>
          <a:xfrm>
            <a:off x="530352" y="44566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782820"/>
            <a:ext cx="11130991" cy="1252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10836"/>
            <a:ext cx="45720" cy="9961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01692"/>
            <a:ext cx="10564063" cy="106934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Without the new drivers the rate is still 1.58. In the three weeks with the most rider requests, the first three after the launch and still in the rains, it already read 1.60, so the monsoon's end cannot explain the fall.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cd9f1854ab09a120.png"/>
          <p:cNvPicPr>
            <a:picLocks noChangeAspect="1"/>
          </p:cNvPicPr>
          <p:nvPr/>
        </p:nvPicPr>
        <p:blipFill>
          <a:blip r:embed="rId5"/>
          <a:stretch>
            <a:fillRect/>
          </a:stretch>
        </p:blipFill>
        <p:spPr>
          <a:xfrm>
            <a:off x="2694733" y="1664208"/>
            <a:ext cx="680222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Pay for completed peak trips per enrolled driver online at peak, guarded for riders by acceptance and the wait, and for the budget by the top-up per trip.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afternoon: three rounds become one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after lunch,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30 MINUTES</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War game, round 3</a:t>
            </a:r>
          </a:p>
        </p:txBody>
      </p:sp>
      <p:sp>
        <p:nvSpPr>
          <p:cNvPr id="14" name="TextBox 13"/>
          <p:cNvSpPr txBox="1"/>
          <p:nvPr/>
        </p:nvSpPr>
        <p:spPr>
          <a:xfrm>
            <a:off x="694944"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Round 2 was the morning's chapters; now each group writes and prices the redesign, and the roles attack it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interview room</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transcript read in pairs and scored, then the AI-company variant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Kahoot and close</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items, one returning from Week 2 Friday</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120 MINUTES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IITGN faculty block (tentative)</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Designing the test of the redesigned scheme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Kalpa Retail, TA-led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same method on the head of Retail-Plus's growth number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9" name="Oval 3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