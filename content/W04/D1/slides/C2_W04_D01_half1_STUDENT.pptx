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before the first chapter runs. Read the ticket aloud and say once: this is an</a:t>
            </a:r>
          </a:p>
          <a:p>
            <a:r>
              <a:t>illustrative case, the company is real and the data is synthetic, built for this class. The</a:t>
            </a:r>
          </a:p>
          <a:p>
            <a:r>
              <a:t>morning climbs from a hand count on twelve rows to the metric a scheme should pay for; the</a:t>
            </a:r>
          </a:p>
          <a:p>
            <a:r>
              <a:t>afternoon's first 60 minutes play the city team as three roles arguing with the room's</a:t>
            </a:r>
          </a:p>
          <a:p>
            <a:r>
              <a:t>definition.</a:t>
            </a:r>
          </a:p>
          <a:p>
            <a:r>
              <a:t>Transition: the ticket, in full.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ticket in order; name no number twice. Pause after "top-up Rs 1.9 crore".</a:t>
            </a:r>
          </a:p>
          <a:p>
            <a:r>
              <a:t>Ask: of these eight numbers, which one would the driver-operations lead celebrate on Monday</a:t>
            </a:r>
          </a:p>
          <a:p>
            <a:r>
              <a:t>morning? The hands tend to go to peak online hours; leave the answer open.</a:t>
            </a:r>
          </a:p>
          <a:p>
            <a:r>
              <a:t>Transition: the week's map, with Monday lit.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read the one line. Each later day will light its own</a:t>
            </a:r>
          </a:p>
          <a:p>
            <a:r>
              <a:t>node on its own slide two; by Saturday every node reads with a number earned on its day.</a:t>
            </a:r>
          </a:p>
          <a:p>
            <a:r>
              <a:t>Transition: where today ends, so the room can see the path they are climbing.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then say: everything else today is how the room gets to</a:t>
            </a:r>
          </a:p>
          <a:p>
            <a:r>
              <a:t>earn it. Nothing to write down.</a:t>
            </a:r>
          </a:p>
          <a:p>
            <a:r>
              <a:t>Transition: chapter 1, the twelve rows,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55 minutes in two parts: the war game's round 1 (15), chapter 1 proper (40). No laptops yet.</a:t>
            </a:r>
          </a:p>
          <a:p>
            <a:r>
              <a:t>The war game's three roles name their favourite number from a card and the room says, from</a:t>
            </a:r>
          </a:p>
          <a:p>
            <a:r>
              <a:t>instinct only, how each could rise while riders waited longer. The twelve rows then come up on the</a:t>
            </a:r>
          </a:p>
          <a:p>
            <a:r>
              <a:t>sheet. Chapter 1 is L1 of the ladder: understand and count by hand.</a:t>
            </a:r>
          </a:p>
          <a:p>
            <a:r>
              <a:t>Styles on this chapter: Veritasium (predict before the reveal), StatQuest (tiny numbers, say the</a:t>
            </a:r>
          </a:p>
          <a:p>
            <a:r>
              <a:t>step aloud), Brilliant (open with a question).</a:t>
            </a:r>
          </a:p>
          <a:p>
            <a:r>
              <a:t>Transition: the war game's three role cards, read.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trainer voices the three cards, or three learners read them aloud. The nine</a:t>
            </a:r>
          </a:p>
          <a:p>
            <a:r>
              <a:t>groups each spend five minutes on one way to game each number, from instinct, before any method is</a:t>
            </a:r>
          </a:p>
          <a:p>
            <a:r>
              <a:t>taught. Expect: online hours can rise if drivers stay logged in doing nothing; enrolled drivers</a:t>
            </a:r>
          </a:p>
          <a:p>
            <a:r>
              <a:t>can rise if everyone signs up and barely drives; top-up per trip can rise if drivers accept short</a:t>
            </a:r>
          </a:p>
          <a:p>
            <a:r>
              <a:t>trips and decline anything else. Write them on the board, named by role, and park "what the data</a:t>
            </a:r>
          </a:p>
          <a:p>
            <a:r>
              <a:t>would show" until chapter 2.</a:t>
            </a:r>
          </a:p>
          <a:p>
            <a:r>
              <a:t>Transition: the canteen token toy, then the twelve rows.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Veritasium move. Ask the room before the diagram goes up: if the canteen</a:t>
            </a:r>
          </a:p>
          <a:p>
            <a:r>
              <a:t>rewards tokens, which can rise without any extra plate being served? Take hands for "nothing",</a:t>
            </a:r>
          </a:p>
          <a:p>
            <a:r>
              <a:t>"maybe one or two", "many". Reveal the two-token answer. The toy is invented (R1) and the</a:t>
            </a:r>
          </a:p>
          <a:p>
            <a:r>
              <a:t>numbers are chosen to be easy.</a:t>
            </a:r>
          </a:p>
          <a:p>
            <a:r>
              <a:t>Transition: on which Uber number could the same thing be happening.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the four totals aloud: 60, 74, 114, 88. Then divide: 114 over 60 and 88</a:t>
            </a:r>
          </a:p>
          <a:p>
            <a:r>
              <a:t>over 74. The twelve rows show the same paradox as the city, sharper: hours up 23 percent, trips</a:t>
            </a:r>
          </a:p>
          <a:p>
            <a:r>
              <a:t>down 23 percent, so trips per hour nearly halves. Point at drivers E and F before saying their</a:t>
            </a:r>
          </a:p>
          <a:p>
            <a:r>
              <a:t>story: hours up, requests down (an outer zone), most declined.</a:t>
            </a:r>
          </a:p>
          <a:p>
            <a:r>
              <a:t>Ask: on the twelve rows, name the drivers whose hours rose without trips following. Take two</a:t>
            </a:r>
          </a:p>
          <a:p>
            <a:r>
              <a:t>answers, write E and F on the board.</a:t>
            </a:r>
          </a:p>
          <a:p>
            <a:r>
              <a:t>Transition: a worked micro-example,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trips per peak hour before is 1.90, after is 1.19. Say what the drop</a:t>
            </a:r>
          </a:p>
          <a:p>
            <a:r>
              <a:t>stands for: for every ten hours a driver spent online, the city gained 19 trips before the</a:t>
            </a:r>
          </a:p>
          <a:p>
            <a:r>
              <a:t>scheme and 12 trips after. The hours rose; the trips did not follow.</a:t>
            </a:r>
          </a:p>
          <a:p>
            <a:r>
              <a:t>Watch for anyone computing a mean of each driver's ratio: it reaches a different number, which</a:t>
            </a:r>
          </a:p>
          <a:p>
            <a:r>
              <a:t>chapter 2 catches as the trap it is.</a:t>
            </a:r>
          </a:p>
          <a:p>
            <a:r>
              <a:t>Transition: Wells Fargo, the public case that is Monday's cold anchor.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Set the scene: for about four years an accounts-per-customer target with no</a:t>
            </a:r>
          </a:p>
          <a:p>
            <a:r>
              <a:t>usage check sent sales staff to open unauthorised accounts because the pay was tied to the proxy.</a:t>
            </a:r>
          </a:p>
          <a:p>
            <a:r>
              <a:t>The pay-outs eventually cost more than the scheme ever bought. Then ask: on Uber Hyderabad, which</a:t>
            </a:r>
          </a:p>
          <a:p>
            <a:r>
              <a:t>of the eight ticket numbers has no usage condition on it? "Peak online hours up 24 percent" is</a:t>
            </a:r>
          </a:p>
          <a:p>
            <a:r>
              <a:t>the parallel.</a:t>
            </a:r>
          </a:p>
          <a:p>
            <a:r>
              <a:t>Draw the parallel on the board, two columns, Wells Fargo and Uber.</a:t>
            </a:r>
          </a:p>
          <a:p>
            <a:r>
              <a:t>Transition: chapter 1's close, said in the question ladder.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in order. The interview question stays open; the day's L6</a:t>
            </a:r>
          </a:p>
          <a:p>
            <a:r>
              <a:t>answers it.</a:t>
            </a:r>
          </a:p>
          <a:p>
            <a:r>
              <a:t>Transition: chapter 2, the full data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in two parts: chapter 2 proper (40) and the break (10). Laptops open now.</a:t>
            </a:r>
          </a:p>
          <a:p>
            <a:r>
              <a:t>Notebook 02 opens on the twelve rows and runs the groupby on 12,860 driver-weeks. Styles on this</a:t>
            </a:r>
          </a:p>
          <a:p>
            <a:r>
              <a:t>chapter: Krish Naik (line by line, pandas), Veritasium (predict, then run), StatQuest (the ratio</a:t>
            </a:r>
          </a:p>
          <a:p>
            <a:r>
              <a:t>on tiny numbers restated), takeUforward (the second route in SQL).</a:t>
            </a:r>
          </a:p>
          <a:p>
            <a:r>
              <a:t>Transition: the drift chart, read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launch week line; read the before trajectory (hours between about</a:t>
            </a:r>
          </a:p>
          <a:p>
            <a:r>
              <a:t>19,400 and 20,200 a week, trips per hour wandering between 1.88 and 1.93) and the after trajectory</a:t>
            </a:r>
          </a:p>
          <a:p>
            <a:r>
              <a:t>(hours between about 23,800 and 24,900 a week, trips per hour 1.64 in the launch week and then</a:t>
            </a:r>
          </a:p>
          <a:p>
            <a:r>
              <a:t>between 1.56 and 1.59). Then say: twelve weeks of data say the</a:t>
            </a:r>
          </a:p>
          <a:p>
            <a:r>
              <a:t>same thing as six drivers' twelve rows said in two.</a:t>
            </a:r>
          </a:p>
          <a:p>
            <a:r>
              <a:t>Transition: the predict step before the groupby.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two columns on the board, direction and amount. Most say a and</a:t>
            </a:r>
          </a:p>
          <a:p>
            <a:r>
              <a:t>c; some say d. Leave open; the groupby cell runs next and reveals.</a:t>
            </a:r>
          </a:p>
          <a:p>
            <a:r>
              <a:t>Transition: the groupby,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five rows aloud and name what moved: acceptance down 13 points, cancels</a:t>
            </a:r>
          </a:p>
          <a:p>
            <a:r>
              <a:t>more than doubled. Point out the twelve-row paradox (hours up 23 percent and ratio down to 1.19)</a:t>
            </a:r>
          </a:p>
          <a:p>
            <a:r>
              <a:t>is less sharp on the city (ratio down to 1.58), because the six were chosen to show the</a:t>
            </a:r>
          </a:p>
          <a:p>
            <a:r>
              <a:t>mechanism and two of them are drivers like E and F. Chapter 3 finds how many the city has.</a:t>
            </a:r>
          </a:p>
          <a:p>
            <a:r>
              <a:t>Say about denominators: each ratio names the two sums it is a quotient of; the mean of</a:t>
            </a:r>
          </a:p>
          <a:p>
            <a:r>
              <a:t>per-driver ratios reaches a different number and is wrong.</a:t>
            </a:r>
          </a:p>
          <a:p>
            <a:r>
              <a:t>Transition: the first check, that the fall is not demand.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check: if demand fell, zone-level requests would show it. They rose</a:t>
            </a:r>
          </a:p>
          <a:p>
            <a:r>
              <a:t>slightly. If drivers were struggling to serve the demand, waits would have grown. They did not.</a:t>
            </a:r>
          </a:p>
          <a:p>
            <a:r>
              <a:t>So the fall is on the supply side, in how hours were spent, not in how many riders asked for a</a:t>
            </a:r>
          </a:p>
          <a:p>
            <a:r>
              <a:t>ride.</a:t>
            </a:r>
          </a:p>
          <a:p>
            <a:r>
              <a:t>Transition: the three ways to read the same rupees.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each pair of bars. Per hour the gap is clear: Rs 54 less from the same</a:t>
            </a:r>
          </a:p>
          <a:p>
            <a:r>
              <a:t>hour. Per trip the fare did not move. Per driver-week the two bars are nearly equal; the direction</a:t>
            </a:r>
          </a:p>
          <a:p>
            <a:r>
              <a:t>there depends on the base, which is why the slide must say which number sits in the denominator.</a:t>
            </a:r>
          </a:p>
          <a:p>
            <a:r>
              <a:t>This picture answers finance's objection in advance: the top-up money is real; the question is</a:t>
            </a:r>
          </a:p>
          <a:p>
            <a:r>
              <a:t>what it bought.</a:t>
            </a:r>
          </a:p>
          <a:p>
            <a:r>
              <a:t>Watch for anyone taking the per-trip bar as "the scheme is working": that bar says the fare per</a:t>
            </a:r>
          </a:p>
          <a:p>
            <a:r>
              <a:t>completed trip did not move, not that the scheme produced more completed trips.</a:t>
            </a:r>
          </a:p>
          <a:p>
            <a:r>
              <a:t>Transition: Delhi Metro's three-numbers lesson.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Uber's trips per hour, trips per driver-week and trips per enrolled</a:t>
            </a:r>
          </a:p>
          <a:p>
            <a:r>
              <a:t>driver each tell a different story, and a slide that names one without naming the denominator sends</a:t>
            </a:r>
          </a:p>
          <a:p>
            <a:r>
              <a:t>a reader to the wrong number. Metro counts riders, journeys and boardings; the three disagree by a</a:t>
            </a:r>
          </a:p>
          <a:p>
            <a:r>
              <a:t>factor of two or three. Name the sources on the slide and the date they were checked.</a:t>
            </a:r>
          </a:p>
          <a:p>
            <a:r>
              <a:t>Transition: chapter 3, where in the data the fall sits.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70 minutes in three parts: the trap in the data (25), the metric tree built line by line</a:t>
            </a:r>
          </a:p>
          <a:p>
            <a:r>
              <a:t>(35), the caveats and L4 (10). Styles on this chapter: Veritasium's predict-then-reveal before</a:t>
            </a:r>
          </a:p>
          <a:p>
            <a:r>
              <a:t>the your-turn cell, 3Blue1Brown's concept board region by region, ByteByteGo's metric tree, the</a:t>
            </a:r>
          </a:p>
          <a:p>
            <a:r>
              <a:t>case method's roles anchored in real objections.</a:t>
            </a:r>
          </a:p>
          <a:p>
            <a:r>
              <a:t>Transition: the your-turn cell that the notebook holds open.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The honest majority of the room says b or c. The notebook's</a:t>
            </a:r>
          </a:p>
          <a:p>
            <a:r>
              <a:t>your-turn cell is empty: the room has to run a groupby on driver and ask what is different about</a:t>
            </a:r>
          </a:p>
          <a:p>
            <a:r>
              <a:t>the drivers whose trips per hour is below 1.0 after the launch.</a:t>
            </a:r>
          </a:p>
          <a:p>
            <a:r>
              <a:t>Transition: the answer, after the cell runs.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dots along the x-axis: hours far to the right, trips far below the</a:t>
            </a:r>
          </a:p>
          <a:p>
            <a:r>
              <a:t>dotted 1.9 line. These are driver-weeks where the driver stayed online for 30 or 40 hours and</a:t>
            </a:r>
          </a:p>
          <a:p>
            <a:r>
              <a:t>completed 20 or 25 trips. Then say: nothing in the data says why; the hypothesis is the floor</a:t>
            </a:r>
          </a:p>
          <a:p>
            <a:r>
              <a:t>pays for being online, and the outer zones have few requests, so the driver who logs there earns</a:t>
            </a:r>
          </a:p>
          <a:p>
            <a:r>
              <a:t>the floor without a trip.</a:t>
            </a:r>
          </a:p>
          <a:p>
            <a:r>
              <a:t>Watch for anyone saying "the drivers are lazy": they are responding to the number the city pays</a:t>
            </a:r>
          </a:p>
          <a:p>
            <a:r>
              <a:t>them, which is Wells Fargo once removed.</a:t>
            </a:r>
          </a:p>
          <a:p>
            <a:r>
              <a:t>Transition: how much the gaming cost.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number: 61 percent. The scheme paid 1.16 crore to driver-weeks that</a:t>
            </a:r>
          </a:p>
          <a:p>
            <a:r>
              <a:t>declined most of what was asked of them. The remaining Rs 74 lakh went to driver-weeks where the</a:t>
            </a:r>
          </a:p>
          <a:p>
            <a:r>
              <a:t>driver kept pace: a scheme that paid only there would have cost Rs 74 lakh for the same six</a:t>
            </a:r>
          </a:p>
          <a:p>
            <a:r>
              <a:t>weeks if every driver had behaved the same, which the redesign cannot promise.</a:t>
            </a:r>
          </a:p>
          <a:p>
            <a:r>
              <a:t>Transition: the trap, named exactly.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colleague's draft as what Monday morning's briefing would carry if</a:t>
            </a:r>
          </a:p>
          <a:p>
            <a:r>
              <a:t>nobody checked trips per hour. Then say what each line costs: the extension signs a Rs 2 crore</a:t>
            </a:r>
          </a:p>
          <a:p>
            <a:r>
              <a:t>cheque for the same gaming in each of two new cities. Draw the fix on the board, with the two</a:t>
            </a:r>
          </a:p>
          <a:p>
            <a:r>
              <a:t>guardrails.</a:t>
            </a:r>
          </a:p>
          <a:p>
            <a:r>
              <a:t>Transition: the metric tree, built on the board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building the tree region by region, 3Blue1Brown style. First the north star</a:t>
            </a:r>
          </a:p>
          <a:p>
            <a:r>
              <a:t>alone: completed peak trips per enrolled driver per week. Then one guardrail at a time, each</a:t>
            </a:r>
          </a:p>
          <a:p>
            <a:r>
              <a:t>with the gaming it catches: acceptance below a floor catches "stay online and decline</a:t>
            </a:r>
          </a:p>
          <a:p>
            <a:r>
              <a:t>everything"; wait above a floor catches "trips too short to serve riders"; top-up per completed</a:t>
            </a:r>
          </a:p>
          <a:p>
            <a:r>
              <a:t>trip catches a budget run-away. Leading inputs: enrolled drivers online in the first peak hour</a:t>
            </a:r>
          </a:p>
          <a:p>
            <a:r>
              <a:t>predicts same-day supply; requests per online hour by zone predicts whether the hours are in the</a:t>
            </a:r>
          </a:p>
          <a:p>
            <a:r>
              <a:t>right place.</a:t>
            </a:r>
          </a:p>
          <a:p>
            <a:r>
              <a:t>Transition: the definition, as one page, written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writing each line on the board. Pause after every line and ask: what gaming does</a:t>
            </a:r>
          </a:p>
          <a:p>
            <a:r>
              <a:t>this line catch? If the room is quiet, give one example: the denominator says "online at least one</a:t>
            </a:r>
          </a:p>
          <a:p>
            <a:r>
              <a:t>peak hour that week", which stops a driver who signs up and never logs in from diluting the rate</a:t>
            </a:r>
          </a:p>
          <a:p>
            <a:r>
              <a:t>to zero. Pause on "what it does not reward": the room will say "hours online", which is Monday's</a:t>
            </a:r>
          </a:p>
          <a:p>
            <a:r>
              <a:t>whole lesson.</a:t>
            </a:r>
          </a:p>
          <a:p>
            <a:r>
              <a:t>Transition: Swiggy's glossary, as a company that writes its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Swiggy's three definitions in order; name the window on each. The point is</a:t>
            </a:r>
          </a:p>
          <a:p>
            <a:r>
              <a:t>not the company; the point is that a reader of a Swiggy letter cannot miscount MTUs, because the</a:t>
            </a:r>
          </a:p>
          <a:p>
            <a:r>
              <a:t>denominator is on the page. A scheme that pays for a number should write the same seven lines.</a:t>
            </a:r>
          </a:p>
          <a:p>
            <a:r>
              <a:t>Transition: the caveats an engineer must say aloud, L4.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caveat and name what settles it. The data-quality check is the share</a:t>
            </a:r>
          </a:p>
          <a:p>
            <a:r>
              <a:t>of hours with no trip, from 0.22 to 0.38; the mix check is the bar on the right of the picture;</a:t>
            </a:r>
          </a:p>
          <a:p>
            <a:r>
              <a:t>the seasonality check is open and the room says so; the interference check needs cross-platform</a:t>
            </a:r>
          </a:p>
          <a:p>
            <a:r>
              <a:t>data Uber does not have; the selection check compares enrolled against not enrolled; the</a:t>
            </a:r>
          </a:p>
          <a:p>
            <a:r>
              <a:t>causality check is the next 120 minutes.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lines in order. Say what the afternoon does: round 3 of the war</a:t>
            </a:r>
          </a:p>
          <a:p>
            <a:r>
              <a:t>game, where the three roles attack the room's definition. If round 3 goes clean, the room has</a:t>
            </a:r>
          </a:p>
          <a:p>
            <a:r>
              <a:t>earned Monday's sentence.</a:t>
            </a:r>
          </a:p>
          <a:p>
            <a:r>
              <a:t>Transition: lunch; half two carries round 3, the interview and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afternoon has three parts and the lab. Say that the tentative faculty</a:t>
            </a:r>
          </a:p>
          <a:p>
            <a:r>
              <a:t>block waits on IIT Gandhinagar's confirmation. Lunch.</a:t>
            </a:r>
          </a:p>
          <a:p>
            <a:r>
              <a:t>Transition: break; half two picks up with the war game's third round.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424069"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MONDAY  ·  MORNING AND FIRST 60</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Is the number we pay for measuring what we want?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“Peak online hours up 24 percent, completed trips up 3 percent, trips per peak online hour 1.9 to 1.6. Is the scheme working? Which metric should it pay for? Is anyone gaming it?”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driver-operations team</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Can online hours rise while riders wait as long?</a:t>
            </a:r>
          </a:p>
        </p:txBody>
      </p:sp>
      <p:sp>
        <p:nvSpPr>
          <p:cNvPr id="13" name="TextBox 12"/>
          <p:cNvSpPr txBox="1"/>
          <p:nvPr/>
        </p:nvSpPr>
        <p:spPr>
          <a:xfrm>
            <a:off x="318211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are the city totals, and where did the fall sit?</a:t>
            </a:r>
          </a:p>
        </p:txBody>
      </p:sp>
      <p:sp>
        <p:nvSpPr>
          <p:cNvPr id="15" name="TextBox 14"/>
          <p:cNvSpPr txBox="1"/>
          <p:nvPr/>
        </p:nvSpPr>
        <p:spPr>
          <a:xfrm>
            <a:off x="57424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Which drivers drove the fall, and what did it cost?</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Uber Hyderabad,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Hyderabad city team ask, and what has moved after six weeks?</a:t>
            </a:r>
          </a:p>
        </p:txBody>
      </p:sp>
      <p:sp>
        <p:nvSpPr>
          <p:cNvPr id="9" name="Rounded Rectangle 8"/>
          <p:cNvSpPr/>
          <p:nvPr/>
        </p:nvSpPr>
        <p:spPr>
          <a:xfrm>
            <a:off x="530352" y="1682496"/>
            <a:ext cx="5291175"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802640"/>
          </a:xfrm>
          <a:prstGeom prst="rect">
            <a:avLst/>
          </a:prstGeom>
          <a:noFill/>
        </p:spPr>
        <p:txBody>
          <a:bodyPr wrap="square" anchor="ctr" lIns="0" rIns="0" tIns="0" bIns="0">
            <a:spAutoFit/>
          </a:bodyPr>
          <a:lstStyle/>
          <a:p>
            <a:r>
              <a:rPr sz="1000" b="1">
                <a:solidFill>
                  <a:srgbClr val="5B3FD6"/>
                </a:solidFill>
                <a:latin typeface="Calibri"/>
              </a:rPr>
              <a:t>The scheme. </a:t>
            </a:r>
            <a:r>
              <a:rPr sz="1000" b="0" i="0">
                <a:solidFill>
                  <a:srgbClr val="1A1440"/>
                </a:solidFill>
                <a:latin typeface="Calibri"/>
              </a:rPr>
              <a:t>On Monday 31 August 2026 the Hyderabad city team launched a peak-hour earnings guarantee. A driver who stays online through a weekday peak window is guaranteed Rs 300 per peak online hour, and Uber pays the gap between the driver's trip earnings and the floor as a top-up.</a:t>
            </a:r>
          </a:p>
        </p:txBody>
      </p:sp>
      <p:graphicFrame>
        <p:nvGraphicFramePr>
          <p:cNvPr id="12" name="Table 11"/>
          <p:cNvGraphicFramePr>
            <a:graphicFrameLocks noGrp="1"/>
          </p:cNvGraphicFramePr>
          <p:nvPr/>
        </p:nvGraphicFramePr>
        <p:xfrm>
          <a:off x="530352" y="2832608"/>
          <a:ext cx="5291173" cy="2871216"/>
        </p:xfrm>
        <a:graphic>
          <a:graphicData uri="http://schemas.openxmlformats.org/drawingml/2006/table">
            <a:tbl>
              <a:tblPr firstRow="0" bandRow="0">
                <a:tableStyleId>{2D5ABB26-0587-4C30-8999-92F81FD0307C}</a:tableStyleId>
              </a:tblPr>
              <a:tblGrid>
                <a:gridCol w="1645067"/>
                <a:gridCol w="1871912"/>
                <a:gridCol w="1774194"/>
              </a:tblGrid>
              <a:tr h="438912">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Six weeks before (20 Jul to 24 Aug)</a:t>
                      </a:r>
                    </a:p>
                  </a:txBody>
                  <a:tcPr marL="101600" marR="101600" marT="38100" marB="38100" anchor="ctr">
                    <a:solidFill>
                      <a:srgbClr val="1A0F5C"/>
                    </a:solidFill>
                  </a:tcPr>
                </a:tc>
                <a:tc>
                  <a:txBody>
                    <a:bodyPr/>
                    <a:lstStyle/>
                    <a:p>
                      <a:r>
                        <a:rPr sz="950" b="1" i="0">
                          <a:solidFill>
                            <a:srgbClr val="FFFFFF"/>
                          </a:solidFill>
                          <a:latin typeface="Calibri"/>
                        </a:rPr>
                        <a:t>Six weeks after (31 Aug to 5 Oct)</a:t>
                      </a:r>
                    </a:p>
                  </a:txBody>
                  <a:tcPr marL="101600" marR="101600" marT="38100" marB="38100" anchor="ctr">
                    <a:solidFill>
                      <a:srgbClr val="1A0F5C"/>
                    </a:solidFill>
                  </a:tcPr>
                </a:tc>
              </a:tr>
              <a:tr h="310896">
                <a:tc>
                  <a:txBody>
                    <a:bodyPr/>
                    <a:lstStyle/>
                    <a:p>
                      <a:r>
                        <a:rPr sz="900" b="0" i="0">
                          <a:solidFill>
                            <a:srgbClr val="1A1440"/>
                          </a:solidFill>
                          <a:latin typeface="Calibri"/>
                        </a:rPr>
                        <a:t>Peak online hours</a:t>
                      </a:r>
                    </a:p>
                  </a:txBody>
                  <a:tcPr marL="101600" marR="101600" marT="38100" marB="38100" anchor="ctr">
                    <a:solidFill>
                      <a:srgbClr val="FFFFFF"/>
                    </a:solidFill>
                  </a:tcPr>
                </a:tc>
                <a:tc>
                  <a:txBody>
                    <a:bodyPr/>
                    <a:lstStyle/>
                    <a:p>
                      <a:r>
                        <a:rPr sz="900" b="0" i="0">
                          <a:solidFill>
                            <a:srgbClr val="1A1440"/>
                          </a:solidFill>
                          <a:latin typeface="Calibri"/>
                        </a:rPr>
                        <a:t>118,000</a:t>
                      </a:r>
                    </a:p>
                  </a:txBody>
                  <a:tcPr marL="101600" marR="101600" marT="38100" marB="38100" anchor="ctr">
                    <a:solidFill>
                      <a:srgbClr val="FFFFFF"/>
                    </a:solidFill>
                  </a:tcPr>
                </a:tc>
                <a:tc>
                  <a:txBody>
                    <a:bodyPr/>
                    <a:lstStyle/>
                    <a:p>
                      <a:r>
                        <a:rPr sz="900" b="0" i="0">
                          <a:solidFill>
                            <a:srgbClr val="1A1440"/>
                          </a:solidFill>
                          <a:latin typeface="Calibri"/>
                        </a:rPr>
                        <a:t>146,300</a:t>
                      </a:r>
                    </a:p>
                  </a:txBody>
                  <a:tcPr marL="101600" marR="101600" marT="38100" marB="38100" anchor="ctr">
                    <a:solidFill>
                      <a:srgbClr val="FFFFFF"/>
                    </a:solidFill>
                  </a:tcPr>
                </a:tc>
              </a:tr>
              <a:tr h="310896">
                <a:tc>
                  <a:txBody>
                    <a:bodyPr/>
                    <a:lstStyle/>
                    <a:p>
                      <a:r>
                        <a:rPr sz="900" b="0" i="0">
                          <a:solidFill>
                            <a:srgbClr val="1A1440"/>
                          </a:solidFill>
                          <a:latin typeface="Calibri"/>
                        </a:rPr>
                        <a:t>Completed peak trips</a:t>
                      </a:r>
                    </a:p>
                  </a:txBody>
                  <a:tcPr marL="101600" marR="101600" marT="38100" marB="38100" anchor="ctr">
                    <a:solidFill>
                      <a:srgbClr val="F4F2FA"/>
                    </a:solidFill>
                  </a:tcPr>
                </a:tc>
                <a:tc>
                  <a:txBody>
                    <a:bodyPr/>
                    <a:lstStyle/>
                    <a:p>
                      <a:r>
                        <a:rPr sz="900" b="0" i="0">
                          <a:solidFill>
                            <a:srgbClr val="1A1440"/>
                          </a:solidFill>
                          <a:latin typeface="Calibri"/>
                        </a:rPr>
                        <a:t>224,200</a:t>
                      </a:r>
                    </a:p>
                  </a:txBody>
                  <a:tcPr marL="101600" marR="101600" marT="38100" marB="38100" anchor="ctr">
                    <a:solidFill>
                      <a:srgbClr val="F4F2FA"/>
                    </a:solidFill>
                  </a:tcPr>
                </a:tc>
                <a:tc>
                  <a:txBody>
                    <a:bodyPr/>
                    <a:lstStyle/>
                    <a:p>
                      <a:r>
                        <a:rPr sz="900" b="0" i="0">
                          <a:solidFill>
                            <a:srgbClr val="1A1440"/>
                          </a:solidFill>
                          <a:latin typeface="Calibri"/>
                        </a:rPr>
                        <a:t>230,900</a:t>
                      </a:r>
                    </a:p>
                  </a:txBody>
                  <a:tcPr marL="101600" marR="101600" marT="38100" marB="38100" anchor="ctr">
                    <a:solidFill>
                      <a:srgbClr val="F4F2FA"/>
                    </a:solidFill>
                  </a:tcPr>
                </a:tc>
              </a:tr>
              <a:tr h="438912">
                <a:tc>
                  <a:txBody>
                    <a:bodyPr/>
                    <a:lstStyle/>
                    <a:p>
                      <a:r>
                        <a:rPr sz="900" b="0" i="0">
                          <a:solidFill>
                            <a:srgbClr val="1A1440"/>
                          </a:solidFill>
                          <a:latin typeface="Calibri"/>
                        </a:rPr>
                        <a:t>Trips per peak online hour</a:t>
                      </a:r>
                    </a:p>
                  </a:txBody>
                  <a:tcPr marL="101600" marR="101600" marT="38100" marB="38100" anchor="ctr">
                    <a:solidFill>
                      <a:srgbClr val="FFFFFF"/>
                    </a:solidFill>
                  </a:tcPr>
                </a:tc>
                <a:tc>
                  <a:txBody>
                    <a:bodyPr/>
                    <a:lstStyle/>
                    <a:p>
                      <a:r>
                        <a:rPr sz="900" b="0" i="0">
                          <a:solidFill>
                            <a:srgbClr val="1A1440"/>
                          </a:solidFill>
                          <a:latin typeface="Calibri"/>
                        </a:rPr>
                        <a:t>1.90</a:t>
                      </a:r>
                    </a:p>
                  </a:txBody>
                  <a:tcPr marL="101600" marR="101600" marT="38100" marB="38100" anchor="ctr">
                    <a:solidFill>
                      <a:srgbClr val="FFFFFF"/>
                    </a:solidFill>
                  </a:tcPr>
                </a:tc>
                <a:tc>
                  <a:txBody>
                    <a:bodyPr/>
                    <a:lstStyle/>
                    <a:p>
                      <a:r>
                        <a:rPr sz="900" b="0" i="0">
                          <a:solidFill>
                            <a:srgbClr val="1A1440"/>
                          </a:solidFill>
                          <a:latin typeface="Calibri"/>
                        </a:rPr>
                        <a:t>1.58</a:t>
                      </a:r>
                    </a:p>
                  </a:txBody>
                  <a:tcPr marL="101600" marR="101600" marT="38100" marB="38100" anchor="ctr">
                    <a:solidFill>
                      <a:srgbClr val="FFFFFF"/>
                    </a:solidFill>
                  </a:tcPr>
                </a:tc>
              </a:tr>
              <a:tr h="310896">
                <a:tc>
                  <a:txBody>
                    <a:bodyPr/>
                    <a:lstStyle/>
                    <a:p>
                      <a:r>
                        <a:rPr sz="900" b="0" i="0">
                          <a:solidFill>
                            <a:srgbClr val="1A1440"/>
                          </a:solidFill>
                          <a:latin typeface="Calibri"/>
                        </a:rPr>
                        <a:t>Acceptance share</a:t>
                      </a:r>
                    </a:p>
                  </a:txBody>
                  <a:tcPr marL="101600" marR="101600" marT="38100" marB="38100" anchor="ctr">
                    <a:solidFill>
                      <a:srgbClr val="F4F2FA"/>
                    </a:solidFill>
                  </a:tcPr>
                </a:tc>
                <a:tc>
                  <a:txBody>
                    <a:bodyPr/>
                    <a:lstStyle/>
                    <a:p>
                      <a:r>
                        <a:rPr sz="900" b="0" i="0">
                          <a:solidFill>
                            <a:srgbClr val="1A1440"/>
                          </a:solidFill>
                          <a:latin typeface="Calibri"/>
                        </a:rPr>
                        <a:t>0.86</a:t>
                      </a:r>
                    </a:p>
                  </a:txBody>
                  <a:tcPr marL="101600" marR="101600" marT="38100" marB="38100" anchor="ctr">
                    <a:solidFill>
                      <a:srgbClr val="F4F2FA"/>
                    </a:solidFill>
                  </a:tcPr>
                </a:tc>
                <a:tc>
                  <a:txBody>
                    <a:bodyPr/>
                    <a:lstStyle/>
                    <a:p>
                      <a:r>
                        <a:rPr sz="900" b="0" i="0">
                          <a:solidFill>
                            <a:srgbClr val="1A1440"/>
                          </a:solidFill>
                          <a:latin typeface="Calibri"/>
                        </a:rPr>
                        <a:t>0.73</a:t>
                      </a:r>
                    </a:p>
                  </a:txBody>
                  <a:tcPr marL="101600" marR="101600" marT="38100" marB="38100" anchor="ctr">
                    <a:solidFill>
                      <a:srgbClr val="F4F2FA"/>
                    </a:solidFill>
                  </a:tcPr>
                </a:tc>
              </a:tr>
              <a:tr h="438912">
                <a:tc>
                  <a:txBody>
                    <a:bodyPr/>
                    <a:lstStyle/>
                    <a:p>
                      <a:r>
                        <a:rPr sz="900" b="0" i="0">
                          <a:solidFill>
                            <a:srgbClr val="1A1440"/>
                          </a:solidFill>
                          <a:latin typeface="Calibri"/>
                        </a:rPr>
                        <a:t>Share of online hours with no trip</a:t>
                      </a:r>
                    </a:p>
                  </a:txBody>
                  <a:tcPr marL="101600" marR="101600" marT="38100" marB="38100" anchor="ctr">
                    <a:solidFill>
                      <a:srgbClr val="FFFFFF"/>
                    </a:solidFill>
                  </a:tcPr>
                </a:tc>
                <a:tc>
                  <a:txBody>
                    <a:bodyPr/>
                    <a:lstStyle/>
                    <a:p>
                      <a:r>
                        <a:rPr sz="900" b="0" i="0">
                          <a:solidFill>
                            <a:srgbClr val="1A1440"/>
                          </a:solidFill>
                          <a:latin typeface="Calibri"/>
                        </a:rPr>
                        <a:t>0.22</a:t>
                      </a:r>
                    </a:p>
                  </a:txBody>
                  <a:tcPr marL="101600" marR="101600" marT="38100" marB="38100" anchor="ctr">
                    <a:solidFill>
                      <a:srgbClr val="FFFFFF"/>
                    </a:solidFill>
                  </a:tcPr>
                </a:tc>
                <a:tc>
                  <a:txBody>
                    <a:bodyPr/>
                    <a:lstStyle/>
                    <a:p>
                      <a:r>
                        <a:rPr sz="900" b="0" i="0">
                          <a:solidFill>
                            <a:srgbClr val="1A1440"/>
                          </a:solidFill>
                          <a:latin typeface="Calibri"/>
                        </a:rPr>
                        <a:t>0.38</a:t>
                      </a:r>
                    </a:p>
                  </a:txBody>
                  <a:tcPr marL="101600" marR="101600" marT="38100" marB="38100" anchor="ctr">
                    <a:solidFill>
                      <a:srgbClr val="FFFFFF"/>
                    </a:solidFill>
                  </a:tcPr>
                </a:tc>
              </a:tr>
              <a:tr h="310896">
                <a:tc>
                  <a:txBody>
                    <a:bodyPr/>
                    <a:lstStyle/>
                    <a:p>
                      <a:r>
                        <a:rPr sz="900" b="0" i="0">
                          <a:solidFill>
                            <a:srgbClr val="1A1440"/>
                          </a:solidFill>
                          <a:latin typeface="Calibri"/>
                        </a:rPr>
                        <a:t>Median rider wait, peak</a:t>
                      </a:r>
                    </a:p>
                  </a:txBody>
                  <a:tcPr marL="101600" marR="101600" marT="38100" marB="38100" anchor="ctr">
                    <a:solidFill>
                      <a:srgbClr val="F4F2FA"/>
                    </a:solidFill>
                  </a:tcPr>
                </a:tc>
                <a:tc>
                  <a:txBody>
                    <a:bodyPr/>
                    <a:lstStyle/>
                    <a:p>
                      <a:r>
                        <a:rPr sz="900" b="0" i="0">
                          <a:solidFill>
                            <a:srgbClr val="1A1440"/>
                          </a:solidFill>
                          <a:latin typeface="Calibri"/>
                        </a:rPr>
                        <a:t>4.8 minutes</a:t>
                      </a:r>
                    </a:p>
                  </a:txBody>
                  <a:tcPr marL="101600" marR="101600" marT="38100" marB="38100" anchor="ctr">
                    <a:solidFill>
                      <a:srgbClr val="F4F2FA"/>
                    </a:solidFill>
                  </a:tcPr>
                </a:tc>
                <a:tc>
                  <a:txBody>
                    <a:bodyPr/>
                    <a:lstStyle/>
                    <a:p>
                      <a:r>
                        <a:rPr sz="900" b="0" i="0">
                          <a:solidFill>
                            <a:srgbClr val="1A1440"/>
                          </a:solidFill>
                          <a:latin typeface="Calibri"/>
                        </a:rPr>
                        <a:t>4.6 minutes</a:t>
                      </a:r>
                    </a:p>
                  </a:txBody>
                  <a:tcPr marL="101600" marR="101600" marT="38100" marB="38100" anchor="ctr">
                    <a:solidFill>
                      <a:srgbClr val="F4F2FA"/>
                    </a:solidFill>
                  </a:tcPr>
                </a:tc>
              </a:tr>
              <a:tr h="310896">
                <a:tc>
                  <a:txBody>
                    <a:bodyPr/>
                    <a:lstStyle/>
                    <a:p>
                      <a:r>
                        <a:rPr sz="900" b="0" i="0">
                          <a:solidFill>
                            <a:srgbClr val="1A1440"/>
                          </a:solidFill>
                          <a:latin typeface="Calibri"/>
                        </a:rPr>
                        <a:t>Top-up paid</a:t>
                      </a:r>
                    </a:p>
                  </a:txBody>
                  <a:tcPr marL="101600" marR="101600" marT="38100" marB="38100" anchor="ctr">
                    <a:solidFill>
                      <a:srgbClr val="FFFFFF"/>
                    </a:solidFill>
                  </a:tcPr>
                </a:tc>
                <a:tc>
                  <a:txBody>
                    <a:bodyPr/>
                    <a:lstStyle/>
                    <a:p>
                      <a:r>
                        <a:rPr sz="900" b="0" i="0">
                          <a:solidFill>
                            <a:srgbClr val="1A1440"/>
                          </a:solidFill>
                          <a:latin typeface="Calibri"/>
                        </a:rPr>
                        <a:t>Rs 0</a:t>
                      </a:r>
                    </a:p>
                  </a:txBody>
                  <a:tcPr marL="101600" marR="101600" marT="38100" marB="38100" anchor="ctr">
                    <a:solidFill>
                      <a:srgbClr val="FFFFFF"/>
                    </a:solidFill>
                  </a:tcPr>
                </a:tc>
                <a:tc>
                  <a:txBody>
                    <a:bodyPr/>
                    <a:lstStyle/>
                    <a:p>
                      <a:r>
                        <a:rPr sz="900" b="0" i="0">
                          <a:solidFill>
                            <a:srgbClr val="1A1440"/>
                          </a:solidFill>
                          <a:latin typeface="Calibri"/>
                        </a:rPr>
                        <a:t>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230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974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2047239"/>
          </a:xfrm>
          <a:prstGeom prst="rect">
            <a:avLst/>
          </a:prstGeom>
          <a:noFill/>
        </p:spPr>
        <p:txBody>
          <a:bodyPr wrap="square" anchor="ctr" lIns="0" rIns="0" tIns="0" bIns="0">
            <a:spAutoFit/>
          </a:bodyPr>
          <a:lstStyle/>
          <a:p>
            <a:r>
              <a:rPr sz="1000" b="1">
                <a:solidFill>
                  <a:srgbClr val="5B3FD6"/>
                </a:solidFill>
                <a:latin typeface="Calibri"/>
              </a:rPr>
              <a:t>Data the analyst has. </a:t>
            </a:r>
            <a:r>
              <a:rPr sz="1000" b="0" i="0">
                <a:solidFill>
                  <a:srgbClr val="1A1440"/>
                </a:solidFill>
                <a:latin typeface="Calibri"/>
              </a:rPr>
              <a:t>drivers (1,200 rows, 140 joined after the launch), driver_weeks (one row per driver per week on the app, with peak hours, offers, accepted, driver cancels, trips, hours with no trip, bookings, top-up), zone_weeks (12 zones, 12 weeks, with rider requests, fulfilled and median wait). A request one driver declines is offered to the next, so driver_weeks counts offers and zone_weeks counts rider requests. </a:t>
            </a:r>
            <a:r>
              <a:rPr sz="1000" b="1" i="0">
                <a:solidFill>
                  <a:srgbClr val="1A1440"/>
                </a:solidFill>
                <a:latin typeface="Calibri"/>
              </a:rPr>
              <a:t>The ask, by Friday.</a:t>
            </a:r>
            <a:r>
              <a:rPr sz="1000" b="0" i="0">
                <a:solidFill>
                  <a:srgbClr val="1A1440"/>
                </a:solidFill>
                <a:latin typeface="Calibri"/>
              </a:rPr>
              <a:t> Is the scheme working, which metric should it pay for, and is anyone gaming it. </a:t>
            </a:r>
            <a:r>
              <a:rPr sz="1000" b="1" i="0">
                <a:solidFill>
                  <a:srgbClr val="1A1440"/>
                </a:solidFill>
                <a:latin typeface="Calibri"/>
              </a:rPr>
              <a:t>Known caveats.</a:t>
            </a:r>
            <a:r>
              <a:rPr sz="1000" b="0" i="0">
                <a:solidFill>
                  <a:srgbClr val="1A1440"/>
                </a:solidFill>
                <a:latin typeface="Calibri"/>
              </a:rPr>
              <a:t> The monsoon ended inside the after window; 140 drivers joined after the launch; the app logs a driver as online whenever the driver app is open; the three outer zones get few requests at any hour.</a:t>
            </a:r>
          </a:p>
        </p:txBody>
      </p:sp>
      <p:sp>
        <p:nvSpPr>
          <p:cNvPr id="16" name="Rounded Rectangle 15"/>
          <p:cNvSpPr/>
          <p:nvPr/>
        </p:nvSpPr>
        <p:spPr>
          <a:xfrm>
            <a:off x="6370167" y="4077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4077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20" name="Oval 19"/>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22" name="Oval 21"/>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with Monday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in the week?</a:t>
            </a:r>
          </a:p>
        </p:txBody>
      </p:sp>
      <p:pic>
        <p:nvPicPr>
          <p:cNvPr id="9" name="mermaid diagram" descr="47b218c7f9d464a2.png"/>
          <p:cNvPicPr>
            <a:picLocks noChangeAspect="1"/>
          </p:cNvPicPr>
          <p:nvPr/>
        </p:nvPicPr>
        <p:blipFill>
          <a:blip r:embed="rId5"/>
          <a:stretch>
            <a:fillRect/>
          </a:stretch>
        </p:blipFill>
        <p:spPr>
          <a:xfrm>
            <a:off x="1723872" y="1956816"/>
            <a:ext cx="8743950" cy="8715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pay for trips, with a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closes the day?</a:t>
            </a:r>
          </a:p>
        </p:txBody>
      </p:sp>
      <p:sp>
        <p:nvSpPr>
          <p:cNvPr id="9" name="TextBox 8"/>
          <p:cNvSpPr txBox="1"/>
          <p:nvPr/>
        </p:nvSpPr>
        <p:spPr>
          <a:xfrm>
            <a:off x="530352" y="1956816"/>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day</a:t>
            </a:r>
            <a:r>
              <a:rPr sz="1600" b="0" i="0">
                <a:solidFill>
                  <a:srgbClr val="1A1440"/>
                </a:solidFill>
                <a:latin typeface="Calibri"/>
              </a:rPr>
              <a:t>, the room writes the sentence the Hyderabad city team should take to the review:</a:t>
            </a:r>
          </a:p>
        </p:txBody>
      </p:sp>
      <p:sp>
        <p:nvSpPr>
          <p:cNvPr id="10" name="Rounded Rectangle 9"/>
          <p:cNvSpPr/>
          <p:nvPr/>
        </p:nvSpPr>
        <p:spPr>
          <a:xfrm>
            <a:off x="530352" y="2580640"/>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80640"/>
            <a:ext cx="10820095" cy="1605279"/>
          </a:xfrm>
          <a:prstGeom prst="rect">
            <a:avLst/>
          </a:prstGeom>
          <a:noFill/>
        </p:spPr>
        <p:txBody>
          <a:bodyPr wrap="square" anchor="t" lIns="0" rIns="0" tIns="0" bIns="0">
            <a:spAutoFit/>
          </a:bodyPr>
          <a:lstStyle/>
          <a:p>
            <a:r>
              <a:rPr sz="1600" b="0" i="1">
                <a:solidFill>
                  <a:srgbClr val="1A0F5C"/>
                </a:solidFill>
                <a:latin typeface="Georgia"/>
              </a:rPr>
              <a:t>*"The scheme should pay for completed peak trips, per enrolled driver per week, with an acceptance guardrail at or above a floor the city sets. Pay dropped to Rs 0 for any hour a driver stays online outside an acceptance pattern that completes trips. Expected saving under the redesign: about Rs 1.16 crore over six weeks, from the 61 percent of top-up that went to idle online hours in outer zones."*</a:t>
            </a:r>
          </a:p>
        </p:txBody>
      </p:sp>
      <p:sp>
        <p:nvSpPr>
          <p:cNvPr id="12" name="TextBox 11"/>
          <p:cNvSpPr txBox="1"/>
          <p:nvPr/>
        </p:nvSpPr>
        <p:spPr>
          <a:xfrm>
            <a:off x="530352" y="43322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room has not earned that sentence yet. It climbs there one level at a time: hand count on twelve rows, the full data, the trap, the caveats, the decision, the interview.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7" name="Oval 16"/>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online hours rise while riders wait as long?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happened on the six driver-weeks a hand count can carry, and how is that different from supply going up?</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role want the city head to celebrate, and how could each be gamed?</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 OPERATIONS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Up 24 percent; supply at peak is the city's biggest headache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on every hoarding, and the sign-up count is the acquisition story</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We hold the budget, and the top-up has to feel like money that bought trips</a:t>
            </a:r>
          </a:p>
        </p:txBody>
      </p:sp>
      <p:sp>
        <p:nvSpPr>
          <p:cNvPr id="27" name="Rounded Rectangle 26"/>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The proxy-test card the scorers hold. </a:t>
            </a:r>
            <a:r>
              <a:rPr sz="1500" b="0" i="0">
                <a:solidFill>
                  <a:srgbClr val="1A1440"/>
                </a:solidFill>
                <a:latin typeface="Calibri"/>
              </a:rPr>
              <a:t>For every number the roles name, three questions: could a team hit this while riders waited longer, who controls the count, and what does the number deliberately not reward.</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32" name="Oval 3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4" name="Oval 3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 that pays its servers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a number that stands in for the thing wanted, start to drift from what matters?</a:t>
            </a:r>
          </a:p>
        </p:txBody>
      </p:sp>
      <p:pic>
        <p:nvPicPr>
          <p:cNvPr id="9" name="mermaid diagram" descr="3ca3b5befe279d3a.png"/>
          <p:cNvPicPr>
            <a:picLocks noChangeAspect="1"/>
          </p:cNvPicPr>
          <p:nvPr/>
        </p:nvPicPr>
        <p:blipFill>
          <a:blip r:embed="rId5"/>
          <a:stretch>
            <a:fillRect/>
          </a:stretch>
        </p:blipFill>
        <p:spPr>
          <a:xfrm>
            <a:off x="530352" y="1956816"/>
            <a:ext cx="11130991" cy="1051747"/>
          </a:xfrm>
          <a:prstGeom prst="rect">
            <a:avLst/>
          </a:prstGeom>
        </p:spPr>
      </p:pic>
      <p:sp>
        <p:nvSpPr>
          <p:cNvPr id="10" name="TextBox 9"/>
          <p:cNvSpPr txBox="1"/>
          <p:nvPr/>
        </p:nvSpPr>
        <p:spPr>
          <a:xfrm>
            <a:off x="530352" y="3154867"/>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A canteen pays its servers per token printed and wants plates served to hungry diners. Tokens go from 200 to 400 a day while plates stay at 200, because each plate now gets two tokens.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driver-weeks, read before any code opens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to six Uber drivers in Hyderabad in two particular weeks?</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914400"/>
                <a:gridCol w="2055823"/>
                <a:gridCol w="2113136"/>
                <a:gridCol w="2113136"/>
                <a:gridCol w="1967247"/>
                <a:gridCol w="1967247"/>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is the one beginning 10 August 2026; the after week is the one beginning 21 September 2026. Trips per peak online hour across the six: 1.90 before, 1.19 after.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ratio, counted aloud: 1.90 before, 1.19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hand count read, and what did it just say about the city?</a:t>
            </a:r>
          </a:p>
        </p:txBody>
      </p:sp>
      <p:pic>
        <p:nvPicPr>
          <p:cNvPr id="9" name="mermaid diagram" descr="799e76a4b64cd682.png"/>
          <p:cNvPicPr>
            <a:picLocks noChangeAspect="1"/>
          </p:cNvPicPr>
          <p:nvPr/>
        </p:nvPicPr>
        <p:blipFill>
          <a:blip r:embed="rId5"/>
          <a:stretch>
            <a:fillRect/>
          </a:stretch>
        </p:blipFill>
        <p:spPr>
          <a:xfrm>
            <a:off x="2266797" y="1956816"/>
            <a:ext cx="7658100" cy="2300287"/>
          </a:xfrm>
          <a:prstGeom prst="rect">
            <a:avLst/>
          </a:prstGeom>
        </p:spPr>
      </p:pic>
      <p:sp>
        <p:nvSpPr>
          <p:cNvPr id="10" name="TextBox 9"/>
          <p:cNvSpPr txBox="1"/>
          <p:nvPr/>
        </p:nvSpPr>
        <p:spPr>
          <a:xfrm>
            <a:off x="530352" y="440340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rate as a ratio of two sums, never the mean of ratios. The denominator says what the number is per.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when the ratio has no usage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Rounded Rectangle 8"/>
          <p:cNvSpPr/>
          <p:nvPr/>
        </p:nvSpPr>
        <p:spPr>
          <a:xfrm>
            <a:off x="530352" y="1956816"/>
            <a:ext cx="11130991"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2758440"/>
          </a:xfrm>
          <a:prstGeom prst="rect">
            <a:avLst/>
          </a:prstGeom>
          <a:noFill/>
        </p:spPr>
        <p:txBody>
          <a:bodyPr wrap="square" anchor="ctr" lIns="0" rIns="0" tIns="0" bIns="0">
            <a:spAutoFit/>
          </a:bodyPr>
          <a:lstStyle/>
          <a:p>
            <a:r>
              <a:rPr sz="1500" b="1">
                <a:solidFill>
                  <a:srgbClr val="5B3FD6"/>
                </a:solidFill>
                <a:latin typeface="Calibri"/>
              </a:rPr>
              <a:t>Public case, dated 12 October 2026. </a:t>
            </a:r>
            <a:r>
              <a:rPr sz="1500" b="0" i="0">
                <a:solidFill>
                  <a:srgbClr val="1A1440"/>
                </a:solidFill>
                <a:latin typeface="Calibri"/>
              </a:rPr>
              <a:t>Wells Fargo's cross-sell ratio measured accounts per customer: a target of "eight accounts per customer" with no condition that the customer used them. Over about four years, employees opened unauthorised deposit and credit card accounts to meet quotas: debit cards up to four years unused counted toward the ratio; a 2013 change added remittance accounts to the count silently; some accounts were funded by simulated deposits; contact details were changed to dodge customer surveys. The Consumer Financial Protection Bureau fined the bank USD 185 million in 2016, the SEC settled at USD 3 billion in 2020 ([CFPB press release, 2016](https://www.consumerfinance.gov/about-us/newsroom/consumer-financial-protection-bureau-fines-wells-fargo-100-million-widespread-illegal-practice-secretly-opening-unauthorized-accounts/) and [SEC order, 2020](https://www.sec.gov/files/litigation/admin/2020/34-88257.pdf), both verified 12 October 2026).</a:t>
            </a:r>
          </a:p>
        </p:txBody>
      </p:sp>
      <p:sp>
        <p:nvSpPr>
          <p:cNvPr id="12" name="Rounded Rectangle 11"/>
          <p:cNvSpPr/>
          <p:nvPr/>
        </p:nvSpPr>
        <p:spPr>
          <a:xfrm>
            <a:off x="530352" y="50627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519074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5181600"/>
            <a:ext cx="10564063" cy="624840"/>
          </a:xfrm>
          <a:prstGeom prst="rect">
            <a:avLst/>
          </a:prstGeom>
          <a:noFill/>
        </p:spPr>
        <p:txBody>
          <a:bodyPr wrap="square" anchor="ctr" lIns="0" rIns="0" tIns="0" bIns="0">
            <a:spAutoFit/>
          </a:bodyPr>
          <a:lstStyle/>
          <a:p>
            <a:r>
              <a:rPr sz="1500" b="1">
                <a:solidFill>
                  <a:srgbClr val="5B3FD6"/>
                </a:solidFill>
                <a:latin typeface="Calibri"/>
              </a:rPr>
              <a:t>The parallel to Monday. </a:t>
            </a:r>
            <a:r>
              <a:rPr sz="1500" b="0" i="0">
                <a:solidFill>
                  <a:srgbClr val="1A1440"/>
                </a:solidFill>
                <a:latin typeface="Calibri"/>
              </a:rPr>
              <a:t>Peak online hours up 24 percent with no condition that the driver completed a peak trip.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hours up,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room learned, in one line, before any code opens?</a:t>
            </a:r>
          </a:p>
        </p:txBody>
      </p:sp>
      <p:sp>
        <p:nvSpPr>
          <p:cNvPr id="9" name="TextBox 8"/>
          <p:cNvSpPr txBox="1"/>
          <p:nvPr/>
        </p:nvSpPr>
        <p:spPr>
          <a:xfrm>
            <a:off x="530352" y="192024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956816"/>
            <a:ext cx="10564063" cy="299720"/>
          </a:xfrm>
          <a:prstGeom prst="rect">
            <a:avLst/>
          </a:prstGeom>
          <a:noFill/>
        </p:spPr>
        <p:txBody>
          <a:bodyPr wrap="square" anchor="t" lIns="0" rIns="0" tIns="0" bIns="0">
            <a:spAutoFit/>
          </a:bodyPr>
          <a:lstStyle/>
          <a:p>
            <a:r>
              <a:rPr sz="1100" b="1" i="0">
                <a:solidFill>
                  <a:srgbClr val="1A1440"/>
                </a:solidFill>
                <a:latin typeface="Calibri"/>
              </a:rPr>
              <a:t>What does "peak online hours up 24 percent" stand for?</a:t>
            </a:r>
            <a:r>
              <a:rPr sz="1100" b="0" i="0">
                <a:solidFill>
                  <a:srgbClr val="1A1440"/>
                </a:solidFill>
                <a:latin typeface="Calibri"/>
              </a:rPr>
              <a:t> The time the driver app was open in the window, not the service delivered.</a:t>
            </a:r>
          </a:p>
        </p:txBody>
      </p:sp>
      <p:sp>
        <p:nvSpPr>
          <p:cNvPr id="11" name="TextBox 10"/>
          <p:cNvSpPr txBox="1"/>
          <p:nvPr/>
        </p:nvSpPr>
        <p:spPr>
          <a:xfrm>
            <a:off x="530352" y="229311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329688"/>
            <a:ext cx="10564063" cy="489712"/>
          </a:xfrm>
          <a:prstGeom prst="rect">
            <a:avLst/>
          </a:prstGeom>
          <a:noFill/>
        </p:spPr>
        <p:txBody>
          <a:bodyPr wrap="square" anchor="t" lIns="0" rIns="0" tIns="0" bIns="0">
            <a:spAutoFit/>
          </a:bodyPr>
          <a:lstStyle/>
          <a:p>
            <a:r>
              <a:rPr sz="1100" b="1" i="0">
                <a:solidFill>
                  <a:srgbClr val="1A1440"/>
                </a:solidFill>
                <a:latin typeface="Calibri"/>
              </a:rPr>
              <a:t>What did the six drivers' twelve rows do?</a:t>
            </a:r>
            <a:r>
              <a:rPr sz="1100" b="0" i="0">
                <a:solidFill>
                  <a:srgbClr val="1A1440"/>
                </a:solidFill>
                <a:latin typeface="Calibri"/>
              </a:rPr>
              <a:t> Hours went from 60 to 74 (up 23 percent), trips from 114 to 88 (down 23 percent), trips per hour from 1.90 to 1.19.</a:t>
            </a:r>
          </a:p>
        </p:txBody>
      </p:sp>
      <p:sp>
        <p:nvSpPr>
          <p:cNvPr id="13" name="TextBox 12"/>
          <p:cNvSpPr txBox="1"/>
          <p:nvPr/>
        </p:nvSpPr>
        <p:spPr>
          <a:xfrm>
            <a:off x="530352" y="285597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892552"/>
            <a:ext cx="10564063" cy="299720"/>
          </a:xfrm>
          <a:prstGeom prst="rect">
            <a:avLst/>
          </a:prstGeom>
          <a:noFill/>
        </p:spPr>
        <p:txBody>
          <a:bodyPr wrap="square" anchor="t" lIns="0" rIns="0" tIns="0" bIns="0">
            <a:spAutoFit/>
          </a:bodyPr>
          <a:lstStyle/>
          <a:p>
            <a:r>
              <a:rPr sz="1100" b="1" i="0">
                <a:solidFill>
                  <a:srgbClr val="1A1440"/>
                </a:solidFill>
                <a:latin typeface="Calibri"/>
              </a:rPr>
              <a:t>Which drivers moved the number?</a:t>
            </a:r>
            <a:r>
              <a:rPr sz="1100" b="0" i="0">
                <a:solidFill>
                  <a:srgbClr val="1A1440"/>
                </a:solidFill>
                <a:latin typeface="Calibri"/>
              </a:rPr>
              <a:t> E and F, in outer zones, hours up while trips fell to almost nothing.</a:t>
            </a:r>
          </a:p>
        </p:txBody>
      </p:sp>
      <p:sp>
        <p:nvSpPr>
          <p:cNvPr id="15" name="TextBox 14"/>
          <p:cNvSpPr txBox="1"/>
          <p:nvPr/>
        </p:nvSpPr>
        <p:spPr>
          <a:xfrm>
            <a:off x="530352" y="322884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3265424"/>
            <a:ext cx="10564063" cy="489712"/>
          </a:xfrm>
          <a:prstGeom prst="rect">
            <a:avLst/>
          </a:prstGeom>
          <a:noFill/>
        </p:spPr>
        <p:txBody>
          <a:bodyPr wrap="square" anchor="t" lIns="0" rIns="0" tIns="0" bIns="0">
            <a:spAutoFit/>
          </a:bodyPr>
          <a:lstStyle/>
          <a:p>
            <a:r>
              <a:rPr sz="1100" b="1" i="0">
                <a:solidFill>
                  <a:srgbClr val="1A1440"/>
                </a:solidFill>
                <a:latin typeface="Calibri"/>
              </a:rPr>
              <a:t>Where has this happened before?</a:t>
            </a:r>
            <a:r>
              <a:rPr sz="1100" b="0" i="0">
                <a:solidFill>
                  <a:srgbClr val="1A1440"/>
                </a:solidFill>
                <a:latin typeface="Calibri"/>
              </a:rPr>
              <a:t> Wells Fargo paid for accounts per customer with no usage condition and spent more on penalties than the proxy ever earned.</a:t>
            </a:r>
          </a:p>
        </p:txBody>
      </p:sp>
      <p:sp>
        <p:nvSpPr>
          <p:cNvPr id="17" name="Rounded Rectangle 16"/>
          <p:cNvSpPr/>
          <p:nvPr/>
        </p:nvSpPr>
        <p:spPr>
          <a:xfrm>
            <a:off x="530352" y="393801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20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search-check_6571e64a041f.png"/>
          <p:cNvPicPr>
            <a:picLocks noChangeAspect="1"/>
          </p:cNvPicPr>
          <p:nvPr/>
        </p:nvPicPr>
        <p:blipFill>
          <a:blip r:embed="rId4"/>
          <a:stretch>
            <a:fillRect/>
          </a:stretch>
        </p:blipFill>
        <p:spPr>
          <a:xfrm>
            <a:off x="868680" y="4230624"/>
            <a:ext cx="237744" cy="237744"/>
          </a:xfrm>
          <a:prstGeom prst="rect">
            <a:avLst/>
          </a:prstGeom>
        </p:spPr>
      </p:pic>
      <p:sp>
        <p:nvSpPr>
          <p:cNvPr id="20" name="TextBox 19"/>
          <p:cNvSpPr txBox="1"/>
          <p:nvPr/>
        </p:nvSpPr>
        <p:spPr>
          <a:xfrm>
            <a:off x="1399031" y="40843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1" name="TextBox 20"/>
          <p:cNvSpPr txBox="1"/>
          <p:nvPr/>
        </p:nvSpPr>
        <p:spPr>
          <a:xfrm>
            <a:off x="1399031" y="4303776"/>
            <a:ext cx="9987991" cy="384048"/>
          </a:xfrm>
          <a:prstGeom prst="rect">
            <a:avLst/>
          </a:prstGeom>
          <a:noFill/>
        </p:spPr>
        <p:txBody>
          <a:bodyPr wrap="square" anchor="t" lIns="0" rIns="0" tIns="0" bIns="0">
            <a:spAutoFit/>
          </a:bodyPr>
          <a:lstStyle/>
          <a:p>
            <a:r>
              <a:rPr sz="1100" b="0" i="0">
                <a:solidFill>
                  <a:srgbClr val="1A1440"/>
                </a:solidFill>
                <a:latin typeface="Calibri"/>
              </a:rPr>
              <a:t>"Before I read any rate, I read what it is divided by, over which window, and whether the thing it stands for has a usage condition."</a:t>
            </a:r>
          </a:p>
        </p:txBody>
      </p:sp>
      <p:sp>
        <p:nvSpPr>
          <p:cNvPr id="22" name="Rounded Rectangle 21"/>
          <p:cNvSpPr/>
          <p:nvPr/>
        </p:nvSpPr>
        <p:spPr>
          <a:xfrm>
            <a:off x="530352" y="4925568"/>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51887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5"/>
          <a:stretch>
            <a:fillRect/>
          </a:stretch>
        </p:blipFill>
        <p:spPr>
          <a:xfrm>
            <a:off x="868680" y="5298440"/>
            <a:ext cx="237744" cy="237744"/>
          </a:xfrm>
          <a:prstGeom prst="rect">
            <a:avLst/>
          </a:prstGeom>
        </p:spPr>
      </p:pic>
      <p:sp>
        <p:nvSpPr>
          <p:cNvPr id="25" name="TextBox 24"/>
          <p:cNvSpPr txBox="1"/>
          <p:nvPr/>
        </p:nvSpPr>
        <p:spPr>
          <a:xfrm>
            <a:off x="1399031" y="5071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5291328"/>
            <a:ext cx="9987991" cy="544576"/>
          </a:xfrm>
          <a:prstGeom prst="rect">
            <a:avLst/>
          </a:prstGeom>
          <a:noFill/>
        </p:spPr>
        <p:txBody>
          <a:bodyPr wrap="square" anchor="t" lIns="0" rIns="0" tIns="0" bIns="0">
            <a:spAutoFit/>
          </a:bodyPr>
          <a:lstStyle/>
          <a:p>
            <a:r>
              <a:rPr sz="1100" b="0" i="0">
                <a:solidFill>
                  <a:srgbClr val="1A1440"/>
                </a:solidFill>
                <a:latin typeface="Calibri"/>
              </a:rPr>
              <a:t>[M] How would you measure the success of a new feature? A hire-grade answer opens on the goal, names the user, one primary metric with its numerator, denominator and window, two guardrails and one leading input, and the test. Monday earns that answer.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Can online hours rise while riders wait as long?</a:t>
            </a:r>
          </a:p>
        </p:txBody>
      </p:sp>
      <p:sp>
        <p:nvSpPr>
          <p:cNvPr id="29" name="Oval 28"/>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1" name="Oval 30"/>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are the city totals, and 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twelve rows read on 12,860 driver-weeks, and which number should the city team not have celebrated?</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Hours rising, trips per hour falling, twelve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city read on twelve weeks rather than two?</a:t>
            </a:r>
          </a:p>
        </p:txBody>
      </p:sp>
      <p:pic>
        <p:nvPicPr>
          <p:cNvPr id="9" name="mermaid diagram" descr="C2_W04_D01_drift_STUDENT.png"/>
          <p:cNvPicPr>
            <a:picLocks noChangeAspect="1"/>
          </p:cNvPicPr>
          <p:nvPr/>
        </p:nvPicPr>
        <p:blipFill>
          <a:blip r:embed="rId4"/>
          <a:stretch>
            <a:fillRect/>
          </a:stretch>
        </p:blipFill>
        <p:spPr>
          <a:xfrm>
            <a:off x="2831594" y="1664208"/>
            <a:ext cx="652850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up a quarter, trips per hour fall from 1.9 to 1.6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dashed line shows the launch week. Peak online hours rose; trips per peak online hour fell. The same picture extends the twelve-row story: it was not two unusual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4" name="Oval 13"/>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6" name="Oval 15"/>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of these four numbers, which moved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these moved most, in direction and amount, from the before window to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a:t>
            </a:r>
          </a:p>
          <a:p>
            <a:pPr>
              <a:spcAft>
                <a:spcPts val="800"/>
              </a:spcAft>
            </a:pPr>
            <a:r>
              <a:rPr sz="1600" b="0" i="0">
                <a:solidFill>
                  <a:srgbClr val="1A1440"/>
                </a:solidFill>
                <a:latin typeface="Calibri"/>
              </a:rPr>
              <a:t>b) Completed peak trips</a:t>
            </a:r>
          </a:p>
          <a:p>
            <a:pPr>
              <a:spcAft>
                <a:spcPts val="800"/>
              </a:spcAft>
            </a:pPr>
            <a:r>
              <a:rPr sz="1600" b="0" i="0">
                <a:solidFill>
                  <a:srgbClr val="1A1440"/>
                </a:solidFill>
                <a:latin typeface="Calibri"/>
              </a:rPr>
              <a:t>c) Trips per peak online hour</a:t>
            </a:r>
          </a:p>
          <a:p>
            <a:pPr>
              <a:spcAft>
                <a:spcPts val="800"/>
              </a:spcAft>
            </a:pPr>
            <a:r>
              <a:rPr sz="1600" b="0" i="0">
                <a:solidFill>
                  <a:srgbClr val="1A1440"/>
                </a:solidFill>
                <a:latin typeface="Calibri"/>
              </a:rPr>
              <a:t>d) Driver cancellation share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up, trips flat, ratio down, cancels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city-wide groupby print?</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Measure</a:t>
                      </a:r>
                    </a:p>
                  </a:txBody>
                  <a:tcPr marL="101600" marR="101600" marT="38100" marB="38100" anchor="ctr">
                    <a:solidFill>
                      <a:srgbClr val="1A0F5C"/>
                    </a:solidFill>
                  </a:tcPr>
                </a:tc>
                <a:tc>
                  <a:txBody>
                    <a:bodyPr/>
                    <a:lstStyle/>
                    <a:p>
                      <a:r>
                        <a:rPr sz="1450" b="1" i="0">
                          <a:solidFill>
                            <a:srgbClr val="FFFFFF"/>
                          </a:solidFill>
                          <a:latin typeface="Calibri"/>
                        </a:rPr>
                        <a:t>Before</a:t>
                      </a:r>
                    </a:p>
                  </a:txBody>
                  <a:tcPr marL="101600" marR="101600" marT="38100" marB="38100" anchor="ctr">
                    <a:solidFill>
                      <a:srgbClr val="1A0F5C"/>
                    </a:solidFill>
                  </a:tcPr>
                </a:tc>
                <a:tc>
                  <a:txBody>
                    <a:bodyPr/>
                    <a:lstStyle/>
                    <a:p>
                      <a:r>
                        <a:rPr sz="1450" b="1" i="0">
                          <a:solidFill>
                            <a:srgbClr val="FFFFFF"/>
                          </a:solidFill>
                          <a:latin typeface="Calibri"/>
                        </a:rPr>
                        <a:t>After</a:t>
                      </a:r>
                    </a:p>
                  </a:txBody>
                  <a:tcPr marL="101600" marR="101600" marT="38100" marB="38100" anchor="ctr">
                    <a:solidFill>
                      <a:srgbClr val="1A0F5C"/>
                    </a:solidFill>
                  </a:tcPr>
                </a:tc>
              </a:tr>
              <a:tr h="369824">
                <a:tc>
                  <a:txBody>
                    <a:bodyPr/>
                    <a:lstStyle/>
                    <a:p>
                      <a:r>
                        <a:rPr sz="1400" b="0" i="0">
                          <a:solidFill>
                            <a:srgbClr val="1A1440"/>
                          </a:solidFill>
                          <a:latin typeface="Calibri"/>
                        </a:rPr>
                        <a:t>peak online hours</a:t>
                      </a:r>
                    </a:p>
                  </a:txBody>
                  <a:tcPr marL="101600" marR="101600" marT="38100" marB="38100" anchor="ctr">
                    <a:solidFill>
                      <a:srgbClr val="FFFFFF"/>
                    </a:solidFill>
                  </a:tcPr>
                </a:tc>
                <a:tc>
                  <a:txBody>
                    <a:bodyPr/>
                    <a:lstStyle/>
                    <a:p>
                      <a:r>
                        <a:rPr sz="1400" b="0" i="0">
                          <a:solidFill>
                            <a:srgbClr val="1A1440"/>
                          </a:solidFill>
                          <a:latin typeface="Calibri"/>
                        </a:rPr>
                        <a:t>118,000</a:t>
                      </a:r>
                    </a:p>
                  </a:txBody>
                  <a:tcPr marL="101600" marR="101600" marT="38100" marB="38100" anchor="ctr">
                    <a:solidFill>
                      <a:srgbClr val="FFFFFF"/>
                    </a:solidFill>
                  </a:tcPr>
                </a:tc>
                <a:tc>
                  <a:txBody>
                    <a:bodyPr/>
                    <a:lstStyle/>
                    <a:p>
                      <a:r>
                        <a:rPr sz="1400" b="0" i="0">
                          <a:solidFill>
                            <a:srgbClr val="1A1440"/>
                          </a:solidFill>
                          <a:latin typeface="Calibri"/>
                        </a:rPr>
                        <a:t>146,300</a:t>
                      </a:r>
                    </a:p>
                  </a:txBody>
                  <a:tcPr marL="101600" marR="101600" marT="38100" marB="38100" anchor="ctr">
                    <a:solidFill>
                      <a:srgbClr val="FFFFFF"/>
                    </a:solidFill>
                  </a:tcPr>
                </a:tc>
              </a:tr>
              <a:tr h="369824">
                <a:tc>
                  <a:txBody>
                    <a:bodyPr/>
                    <a:lstStyle/>
                    <a:p>
                      <a:r>
                        <a:rPr sz="1400" b="0" i="0">
                          <a:solidFill>
                            <a:srgbClr val="1A1440"/>
                          </a:solidFill>
                          <a:latin typeface="Calibri"/>
                        </a:rPr>
                        <a:t>completed peak trips</a:t>
                      </a:r>
                    </a:p>
                  </a:txBody>
                  <a:tcPr marL="101600" marR="101600" marT="38100" marB="38100" anchor="ctr">
                    <a:solidFill>
                      <a:srgbClr val="F4F2FA"/>
                    </a:solidFill>
                  </a:tcPr>
                </a:tc>
                <a:tc>
                  <a:txBody>
                    <a:bodyPr/>
                    <a:lstStyle/>
                    <a:p>
                      <a:r>
                        <a:rPr sz="1400" b="0" i="0">
                          <a:solidFill>
                            <a:srgbClr val="1A1440"/>
                          </a:solidFill>
                          <a:latin typeface="Calibri"/>
                        </a:rPr>
                        <a:t>224,200</a:t>
                      </a:r>
                    </a:p>
                  </a:txBody>
                  <a:tcPr marL="101600" marR="101600" marT="38100" marB="38100" anchor="ctr">
                    <a:solidFill>
                      <a:srgbClr val="F4F2FA"/>
                    </a:solidFill>
                  </a:tcPr>
                </a:tc>
                <a:tc>
                  <a:txBody>
                    <a:bodyPr/>
                    <a:lstStyle/>
                    <a:p>
                      <a:r>
                        <a:rPr sz="1400" b="0" i="0">
                          <a:solidFill>
                            <a:srgbClr val="1A1440"/>
                          </a:solidFill>
                          <a:latin typeface="Calibri"/>
                        </a:rPr>
                        <a:t>230,900</a:t>
                      </a:r>
                    </a:p>
                  </a:txBody>
                  <a:tcPr marL="101600" marR="101600" marT="38100" marB="38100" anchor="ctr">
                    <a:solidFill>
                      <a:srgbClr val="F4F2FA"/>
                    </a:solidFill>
                  </a:tcPr>
                </a:tc>
              </a:tr>
              <a:tr h="369824">
                <a:tc>
                  <a:txBody>
                    <a:bodyPr/>
                    <a:lstStyle/>
                    <a:p>
                      <a:r>
                        <a:rPr sz="1400" b="0" i="0">
                          <a:solidFill>
                            <a:srgbClr val="1A1440"/>
                          </a:solidFill>
                          <a:latin typeface="Calibri"/>
                        </a:rPr>
                        <a:t>trips per online hour</a:t>
                      </a:r>
                    </a:p>
                  </a:txBody>
                  <a:tcPr marL="101600" marR="101600" marT="38100" marB="38100" anchor="ctr">
                    <a:solidFill>
                      <a:srgbClr val="FFFFFF"/>
                    </a:solidFill>
                  </a:tcPr>
                </a:tc>
                <a:tc>
                  <a:txBody>
                    <a:bodyPr/>
                    <a:lstStyle/>
                    <a:p>
                      <a:r>
                        <a:rPr sz="1400" b="0" i="0">
                          <a:solidFill>
                            <a:srgbClr val="1A1440"/>
                          </a:solidFill>
                          <a:latin typeface="Calibri"/>
                        </a:rPr>
                        <a:t>1.90</a:t>
                      </a:r>
                    </a:p>
                  </a:txBody>
                  <a:tcPr marL="101600" marR="101600" marT="38100" marB="38100" anchor="ctr">
                    <a:solidFill>
                      <a:srgbClr val="FFFFFF"/>
                    </a:solidFill>
                  </a:tcPr>
                </a:tc>
                <a:tc>
                  <a:txBody>
                    <a:bodyPr/>
                    <a:lstStyle/>
                    <a:p>
                      <a:r>
                        <a:rPr sz="1400" b="0" i="0">
                          <a:solidFill>
                            <a:srgbClr val="1A1440"/>
                          </a:solidFill>
                          <a:latin typeface="Calibri"/>
                        </a:rPr>
                        <a:t>1.58</a:t>
                      </a:r>
                    </a:p>
                  </a:txBody>
                  <a:tcPr marL="101600" marR="101600" marT="38100" marB="38100" anchor="ctr">
                    <a:solidFill>
                      <a:srgbClr val="FFFFFF"/>
                    </a:solidFill>
                  </a:tcPr>
                </a:tc>
              </a:tr>
              <a:tr h="369824">
                <a:tc>
                  <a:txBody>
                    <a:bodyPr/>
                    <a:lstStyle/>
                    <a:p>
                      <a:r>
                        <a:rPr sz="1400" b="0" i="0">
                          <a:solidFill>
                            <a:srgbClr val="1A1440"/>
                          </a:solidFill>
                          <a:latin typeface="Calibri"/>
                        </a:rPr>
                        <a:t>acceptance share</a:t>
                      </a:r>
                    </a:p>
                  </a:txBody>
                  <a:tcPr marL="101600" marR="101600" marT="38100" marB="38100" anchor="ctr">
                    <a:solidFill>
                      <a:srgbClr val="F4F2FA"/>
                    </a:solidFill>
                  </a:tcPr>
                </a:tc>
                <a:tc>
                  <a:txBody>
                    <a:bodyPr/>
                    <a:lstStyle/>
                    <a:p>
                      <a:r>
                        <a:rPr sz="1400" b="0" i="0">
                          <a:solidFill>
                            <a:srgbClr val="1A1440"/>
                          </a:solidFill>
                          <a:latin typeface="Calibri"/>
                        </a:rPr>
                        <a:t>0.86</a:t>
                      </a:r>
                    </a:p>
                  </a:txBody>
                  <a:tcPr marL="101600" marR="101600" marT="38100" marB="38100" anchor="ctr">
                    <a:solidFill>
                      <a:srgbClr val="F4F2FA"/>
                    </a:solidFill>
                  </a:tcPr>
                </a:tc>
                <a:tc>
                  <a:txBody>
                    <a:bodyPr/>
                    <a:lstStyle/>
                    <a:p>
                      <a:r>
                        <a:rPr sz="1400" b="0" i="0">
                          <a:solidFill>
                            <a:srgbClr val="1A1440"/>
                          </a:solidFill>
                          <a:latin typeface="Calibri"/>
                        </a:rPr>
                        <a:t>0.73</a:t>
                      </a:r>
                    </a:p>
                  </a:txBody>
                  <a:tcPr marL="101600" marR="101600" marT="38100" marB="38100" anchor="ctr">
                    <a:solidFill>
                      <a:srgbClr val="F4F2FA"/>
                    </a:solidFill>
                  </a:tcPr>
                </a:tc>
              </a:tr>
              <a:tr h="369824">
                <a:tc>
                  <a:txBody>
                    <a:bodyPr/>
                    <a:lstStyle/>
                    <a:p>
                      <a:r>
                        <a:rPr sz="1400" b="0" i="0">
                          <a:solidFill>
                            <a:srgbClr val="1A1440"/>
                          </a:solidFill>
                          <a:latin typeface="Calibri"/>
                        </a:rPr>
                        <a:t>driver cancels / accepted</a:t>
                      </a:r>
                    </a:p>
                  </a:txBody>
                  <a:tcPr marL="101600" marR="101600" marT="38100" marB="38100" anchor="ctr">
                    <a:solidFill>
                      <a:srgbClr val="FFFFFF"/>
                    </a:solidFill>
                  </a:tcPr>
                </a:tc>
                <a:tc>
                  <a:txBody>
                    <a:bodyPr/>
                    <a:lstStyle/>
                    <a:p>
                      <a:r>
                        <a:rPr sz="1400" b="0" i="0">
                          <a:solidFill>
                            <a:srgbClr val="1A1440"/>
                          </a:solidFill>
                          <a:latin typeface="Calibri"/>
                        </a:rPr>
                        <a:t>0.04</a:t>
                      </a:r>
                    </a:p>
                  </a:txBody>
                  <a:tcPr marL="101600" marR="101600" marT="38100" marB="38100" anchor="ctr">
                    <a:solidFill>
                      <a:srgbClr val="FFFFFF"/>
                    </a:solidFill>
                  </a:tcPr>
                </a:tc>
                <a:tc>
                  <a:txBody>
                    <a:bodyPr/>
                    <a:lstStyle/>
                    <a:p>
                      <a:r>
                        <a:rPr sz="1400" b="0" i="0">
                          <a:solidFill>
                            <a:srgbClr val="1A1440"/>
                          </a:solidFill>
                          <a:latin typeface="Calibri"/>
                        </a:rPr>
                        <a:t>0.09</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groupby runs on driver_weeks with the before/after mask on week_start; the ratio is taken as sum(trips) / sum(hours), never a mean of per-driver ratios. The six drivers of the hand count fell further, to 1.19, because they were chosen to show the mechanism: two of the six, E and F, logged hours with almost no trips, a third of the sample. Chapter 3 counts how many such drivers the city has.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zone requests up, waits held steady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fell, which column would show it, and did it?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zone = pd.read_csv("C2_W04_D01_zone_weeks_STUDENT.csv")</a:t>
            </a:r>
          </a:p>
          <a:p>
            <a:pPr>
              <a:spcAft>
                <a:spcPts val="200"/>
              </a:spcAft>
            </a:pPr>
            <a:r>
              <a:rPr sz="1400" b="0" i="0">
                <a:solidFill>
                  <a:srgbClr val="E4E1F1"/>
                </a:solidFill>
                <a:latin typeface="Consolas"/>
              </a:rPr>
              <a:t>zb = zone[zone["week_start"] &lt; "2026-08-31"]</a:t>
            </a:r>
          </a:p>
          <a:p>
            <a:pPr>
              <a:spcAft>
                <a:spcPts val="200"/>
              </a:spcAft>
            </a:pPr>
            <a:r>
              <a:rPr sz="1400" b="0" i="0">
                <a:solidFill>
                  <a:srgbClr val="E4E1F1"/>
                </a:solidFill>
                <a:latin typeface="Consolas"/>
              </a:rPr>
              <a:t>za = zone[zone["week_start"] &gt;= "2026-08-31"]</a:t>
            </a:r>
          </a:p>
          <a:p>
            <a:pPr>
              <a:spcAft>
                <a:spcPts val="200"/>
              </a:spcAft>
            </a:pPr>
            <a:r>
              <a:rPr sz="1400" b="0" i="0">
                <a:solidFill>
                  <a:srgbClr val="E4E1F1"/>
                </a:solidFill>
                <a:latin typeface="Consolas"/>
              </a:rPr>
              <a:t>print(zb["peak_requests"].sum(), za["peak_requests"].sum())</a:t>
            </a:r>
          </a:p>
          <a:p>
            <a:pPr>
              <a:spcAft>
                <a:spcPts val="200"/>
              </a:spcAft>
            </a:pPr>
            <a:r>
              <a:rPr sz="1400" b="0" i="0">
                <a:solidFill>
                  <a:srgbClr val="E4E1F1"/>
                </a:solidFill>
                <a:latin typeface="Consolas"/>
              </a:rPr>
              <a:t>print(round(zb["median_wait_min"].median(), 1), round(za["median_wait_min"].median(), 1))</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Zone requests rose about 2 percent across the window. Median rider wait held near 4.8 minutes before and 4.6 after, so riders did not wait longer. </a:t>
            </a:r>
            <a:r>
              <a:rPr sz="1600" b="1" i="0">
                <a:solidFill>
                  <a:srgbClr val="1A1440"/>
                </a:solidFill>
                <a:latin typeface="Calibri"/>
              </a:rPr>
              <a:t>The fall in trips per peak online hour is not demand.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rupees read three ways: three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slide use, and what do the other two say?</a:t>
            </a:r>
          </a:p>
        </p:txBody>
      </p:sp>
      <p:pic>
        <p:nvPicPr>
          <p:cNvPr id="9" name="mermaid diagram" descr="C2_W04_D01_three_denominators_STUDENT.png"/>
          <p:cNvPicPr>
            <a:picLocks noChangeAspect="1"/>
          </p:cNvPicPr>
          <p:nvPr/>
        </p:nvPicPr>
        <p:blipFill>
          <a:blip r:embed="rId4"/>
          <a:stretch>
            <a:fillRect/>
          </a:stretch>
        </p:blipFill>
        <p:spPr>
          <a:xfrm>
            <a:off x="2679768" y="1664208"/>
            <a:ext cx="6832158"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Rupees per unit under three denominators, before and after</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Rupees per peak online hour fell from Rs 314 to Rs 260. Rupees per completed trip held at Rs 165. Rupees per enrolled driver-week moved by a little. </a:t>
            </a:r>
            <a:r>
              <a:rPr sz="1600" b="1" i="0">
                <a:solidFill>
                  <a:srgbClr val="1A1440"/>
                </a:solidFill>
                <a:latin typeface="Calibri"/>
              </a:rPr>
              <a:t>The denominator is a choice. A slide names the one it uses.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4" name="Oval 13"/>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6" name="Oval 15"/>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 a crowd counted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one measurement is read without naming its denominator?</a:t>
            </a:r>
          </a:p>
        </p:txBody>
      </p:sp>
      <p:sp>
        <p:nvSpPr>
          <p:cNvPr id="9" name="TextBox 8"/>
          <p:cNvSpPr txBox="1"/>
          <p:nvPr/>
        </p:nvSpPr>
        <p:spPr>
          <a:xfrm>
            <a:off x="530352" y="1956816"/>
            <a:ext cx="11130991" cy="270662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reported 27 lakh daily ridership while a separate note gave 45 lakh daily line utilisation ([DMRC press piece, verified 12 October 2026](https://www.latestly.com/agency-news/dmrc-uses-new-count-metric-on-traffic-flow-doesnt-share-ridership-190870.html/amp)). The 2026 record for 17 September is 64.06 lakh average daily passenger journeys and 82,44,903 boardings ([Tribune, verified 12 October 2026](https://www.tribuneindia.com/news/delhi/delhi-metro-records-99-95-train-punctuality-in-2026-dmrc/) and [Republic World, verified 12 October 2026](https://www.republicworld.com/india/delhi-metro-breaks-all-time-record-with-8244-lakh-footfall-as-dtc-strike-sends-rush-soaring-2026-09-18-137241)). A ridership counts riders; a journey counts the trips one rider makes; a boarding counts every entry. Three different numbers from the same crowd.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drivers drove the fall, and what did it cost?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makes a number safe to pay for, and where did Rs 1.9 crore of top-up go?</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online hours rise while riders wait as long?</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are the city totals, and where did the fall sit?</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drivers drove the fall, and what did it cost?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 sits inside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group of drivers would you check first for an answer?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Drivers in core zones (Jubilee Hills, Gachibowli, Hitech City)</a:t>
            </a:r>
          </a:p>
          <a:p>
            <a:pPr>
              <a:spcAft>
                <a:spcPts val="800"/>
              </a:spcAft>
            </a:pPr>
            <a:r>
              <a:rPr sz="1600" b="0" i="0">
                <a:solidFill>
                  <a:srgbClr val="1A1440"/>
                </a:solidFill>
                <a:latin typeface="Calibri"/>
              </a:rPr>
              <a:t>b) Drivers whose hours rose but trips did not</a:t>
            </a:r>
          </a:p>
          <a:p>
            <a:pPr>
              <a:spcAft>
                <a:spcPts val="800"/>
              </a:spcAft>
            </a:pPr>
            <a:r>
              <a:rPr sz="1600" b="0" i="0">
                <a:solidFill>
                  <a:srgbClr val="1A1440"/>
                </a:solidFill>
                <a:latin typeface="Calibri"/>
              </a:rPr>
              <a:t>c) The 140 drivers who joined after the launch</a:t>
            </a:r>
          </a:p>
          <a:p>
            <a:pPr>
              <a:spcAft>
                <a:spcPts val="800"/>
              </a:spcAft>
            </a:pPr>
            <a:r>
              <a:rPr sz="1600" b="0" i="0">
                <a:solidFill>
                  <a:srgbClr val="1A1440"/>
                </a:solidFill>
                <a:latin typeface="Calibri"/>
              </a:rPr>
              <a:t>d) Drivers with high acceptance before and after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2" name="Oval 11"/>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4" name="Oval 13"/>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hours doubled, trips fell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empty your-turn cell print when the room ran it?</a:t>
            </a:r>
          </a:p>
        </p:txBody>
      </p:sp>
      <p:pic>
        <p:nvPicPr>
          <p:cNvPr id="9" name="mermaid diagram" descr="C2_W04_D01_idle_tail_STUDENT.png"/>
          <p:cNvPicPr>
            <a:picLocks noChangeAspect="1"/>
          </p:cNvPicPr>
          <p:nvPr/>
        </p:nvPicPr>
        <p:blipFill>
          <a:blip r:embed="rId4"/>
          <a:stretch>
            <a:fillRect/>
          </a:stretch>
        </p:blipFill>
        <p:spPr>
          <a:xfrm>
            <a:off x="3596389" y="1664208"/>
            <a:ext cx="4998915"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Scatter: idle tail, hours against trips after the launch</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lower-right cluster is the idle tail. </a:t>
            </a:r>
            <a:r>
              <a:rPr sz="1000" b="0" i="0">
                <a:solidFill>
                  <a:srgbClr val="1A1440"/>
                </a:solidFill>
                <a:latin typeface="Calibri"/>
              </a:rPr>
              <a:t>180 drivers of the 1,200 enrolled, 15 percent of the base. Their peak online hours after the launch are about 2.1 times their hours before. Their peak trips are about 88 percent of their trips before, down 12 percent. 72 percent of their new hours are logged in the three outer zones (Shamshabad, Rajendranagar, Patancheru). This is the idle tail the scheme pays for, found in the data. The hand count's six held two such drivers, a third of the sample against 15 percent of drivers city-wide, which is why the six fell to 1.19 while the city fell to 1.58.</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6" name="Oval 15"/>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8" name="Oval 17"/>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61 percent of the top-up went to acceptance below 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Rs 1.9 crore was paid to driver-weeks with low acceptance?</a:t>
            </a:r>
          </a:p>
        </p:txBody>
      </p:sp>
      <p:pic>
        <p:nvPicPr>
          <p:cNvPr id="9" name="mermaid diagram" descr="C2_W04_D01_topup_split_STUDENT.png"/>
          <p:cNvPicPr>
            <a:picLocks noChangeAspect="1"/>
          </p:cNvPicPr>
          <p:nvPr/>
        </p:nvPicPr>
        <p:blipFill>
          <a:blip r:embed="rId4"/>
          <a:stretch>
            <a:fillRect/>
          </a:stretch>
        </p:blipFill>
        <p:spPr>
          <a:xfrm>
            <a:off x="530352" y="1682496"/>
            <a:ext cx="5291175" cy="2431080"/>
          </a:xfrm>
          <a:prstGeom prst="rect">
            <a:avLst/>
          </a:prstGeom>
        </p:spPr>
      </p:pic>
      <p:sp>
        <p:nvSpPr>
          <p:cNvPr id="10" name="picture caption"/>
          <p:cNvSpPr txBox="1"/>
          <p:nvPr/>
        </p:nvSpPr>
        <p:spPr>
          <a:xfrm>
            <a:off x="530352" y="4150152"/>
            <a:ext cx="5291175" cy="524256"/>
          </a:xfrm>
          <a:prstGeom prst="rect">
            <a:avLst/>
          </a:prstGeom>
          <a:noFill/>
        </p:spPr>
        <p:txBody>
          <a:bodyPr wrap="square" anchor="t" lIns="0" rIns="0" tIns="0" bIns="0">
            <a:spAutoFit/>
          </a:bodyPr>
          <a:lstStyle/>
          <a:p>
            <a:pPr algn="ctr"/>
            <a:r>
              <a:rPr sz="1200" b="0" i="0">
                <a:solidFill>
                  <a:srgbClr val="6B6690"/>
                </a:solidFill>
                <a:latin typeface="Calibri"/>
              </a:rPr>
              <a:t>Top-up split: Rs 1.16 crore to acceptance below 0.5, Rs 74 lakh above</a:t>
            </a:r>
          </a:p>
        </p:txBody>
      </p:sp>
      <p:sp>
        <p:nvSpPr>
          <p:cNvPr id="11" name="Rounded Rectangle 10"/>
          <p:cNvSpPr/>
          <p:nvPr/>
        </p:nvSpPr>
        <p:spPr>
          <a:xfrm>
            <a:off x="6370167" y="1682496"/>
            <a:ext cx="5291175" cy="153924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53047"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708495"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863943"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44487" y="2011680"/>
            <a:ext cx="4833975" cy="1136904"/>
          </a:xfrm>
          <a:prstGeom prst="rect">
            <a:avLst/>
          </a:prstGeom>
          <a:noFill/>
        </p:spPr>
        <p:txBody>
          <a:bodyPr wrap="square" anchor="t" lIns="0" rIns="0" tIns="0" bIns="0">
            <a:spAutoFit/>
          </a:bodyPr>
          <a:lstStyle/>
          <a:p>
            <a:pPr>
              <a:spcAft>
                <a:spcPts val="200"/>
              </a:spcAft>
            </a:pPr>
            <a:r>
              <a:rPr sz="1000" b="0" i="0">
                <a:solidFill>
                  <a:srgbClr val="E4E1F1"/>
                </a:solidFill>
                <a:latin typeface="Consolas"/>
              </a:rPr>
              <a:t>after = driver_weeks[driver_weeks["week_start"] &gt;= "2026-08-31"].copy()</a:t>
            </a:r>
          </a:p>
          <a:p>
            <a:pPr>
              <a:spcAft>
                <a:spcPts val="200"/>
              </a:spcAft>
            </a:pPr>
            <a:r>
              <a:rPr sz="1000" b="0" i="0">
                <a:solidFill>
                  <a:srgbClr val="E4E1F1"/>
                </a:solidFill>
                <a:latin typeface="Consolas"/>
              </a:rPr>
              <a:t>after["acceptance"] = after["peak_accepted"] / after["peak_offers"]</a:t>
            </a:r>
          </a:p>
          <a:p>
            <a:pPr>
              <a:spcAft>
                <a:spcPts val="200"/>
              </a:spcAft>
            </a:pPr>
            <a:r>
              <a:rPr sz="1000" b="0" i="0">
                <a:solidFill>
                  <a:srgbClr val="E4E1F1"/>
                </a:solidFill>
                <a:latin typeface="Consolas"/>
              </a:rPr>
              <a:t>low = after.loc[after["acceptance"] &lt; 0.5, "topup_rs"].sum()</a:t>
            </a:r>
          </a:p>
          <a:p>
            <a:pPr>
              <a:spcAft>
                <a:spcPts val="200"/>
              </a:spcAft>
            </a:pPr>
            <a:r>
              <a:rPr sz="1000" b="0" i="0">
                <a:solidFill>
                  <a:srgbClr val="E4E1F1"/>
                </a:solidFill>
                <a:latin typeface="Consolas"/>
              </a:rPr>
              <a:t>share = round(low / after["topup_rs"].sum() * 100)</a:t>
            </a:r>
          </a:p>
        </p:txBody>
      </p:sp>
      <p:sp>
        <p:nvSpPr>
          <p:cNvPr id="16" name="TextBox 15"/>
          <p:cNvSpPr txBox="1"/>
          <p:nvPr/>
        </p:nvSpPr>
        <p:spPr>
          <a:xfrm>
            <a:off x="6370167" y="3386328"/>
            <a:ext cx="5291175"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share prints 61. Of the Rs 1.9 crore paid, Rs 1.16 crore went to driver-weeks where fewer than half of the offers the driver saw were accepted.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9" name="Oval 18"/>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21" name="Oval 20"/>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number: supply target met, extend scheme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on Monday morning?</a:t>
            </a:r>
          </a:p>
        </p:txBody>
      </p:sp>
      <p:pic>
        <p:nvPicPr>
          <p:cNvPr id="9" name="mermaid diagram" descr="45507095962718bb.png"/>
          <p:cNvPicPr>
            <a:picLocks noChangeAspect="1"/>
          </p:cNvPicPr>
          <p:nvPr/>
        </p:nvPicPr>
        <p:blipFill>
          <a:blip r:embed="rId5"/>
          <a:stretch>
            <a:fillRect/>
          </a:stretch>
        </p:blipFill>
        <p:spPr>
          <a:xfrm>
            <a:off x="2802578" y="1956816"/>
            <a:ext cx="6586537"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Trips per peak online hour, and median rider wait by zone. </a:t>
            </a:r>
            <a:r>
              <a:rPr sz="1500" b="1" i="0">
                <a:solidFill>
                  <a:srgbClr val="1A1440"/>
                </a:solidFill>
                <a:latin typeface="Calibri"/>
              </a:rPr>
              <a:t>The fix.</a:t>
            </a:r>
            <a:r>
              <a:rPr sz="1500" b="0" i="0">
                <a:solidFill>
                  <a:srgbClr val="1A1440"/>
                </a:solidFill>
                <a:latin typeface="Calibri"/>
              </a:rPr>
              <a:t> Pay for completed peak trips with an acceptance guardrail. Rs 1.9 crore spent would have been Rs 74 lakh under the fix if every driver had behaved the same, which a new rule changes.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5" name="Oval 14"/>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7" name="Oval 16"/>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metric tree, built from the north star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scheme's north star related to the leading inputs the city team can act on?</a:t>
            </a:r>
          </a:p>
        </p:txBody>
      </p:sp>
      <p:pic>
        <p:nvPicPr>
          <p:cNvPr id="9" name="mermaid diagram" descr="295f9183e696e5cd.png"/>
          <p:cNvPicPr>
            <a:picLocks noChangeAspect="1"/>
          </p:cNvPicPr>
          <p:nvPr/>
        </p:nvPicPr>
        <p:blipFill>
          <a:blip r:embed="rId5"/>
          <a:stretch>
            <a:fillRect/>
          </a:stretch>
        </p:blipFill>
        <p:spPr>
          <a:xfrm>
            <a:off x="1976459" y="1664208"/>
            <a:ext cx="82387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north star names what the scheme pays for.</a:t>
            </a:r>
            <a:r>
              <a:rPr sz="1600" b="0" i="0">
                <a:solidFill>
                  <a:srgbClr val="1A1440"/>
                </a:solidFill>
                <a:latin typeface="Calibri"/>
              </a:rPr>
              <a:t> The guardrails name the ways of hitting the north star that would hurt the city or the business. The leading inputs are what the city team can act on this week without waiting for the north star to catch up.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definition in seven lines, each a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 complete definition writes down?</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Trips completed inside the peak windows, counted per paying rider as Uber counts them</a:t>
                      </a:r>
                    </a:p>
                  </a:txBody>
                  <a:tcPr marL="101600" marR="101600" marT="38100" marB="38100" anchor="ctr">
                    <a:solidFill>
                      <a:srgbClr val="FFFFFF"/>
                    </a:solidFill>
                  </a:tcPr>
                </a:tc>
              </a:tr>
              <a:tr h="542544">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Drivers enrolled in the scheme who were online at least one peak hour that week, with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Trips cancelled by either side, test accounts, trips outside the window</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Hours online, requests declined, a shrinking enrolled base</a:t>
                      </a:r>
                    </a:p>
                  </a:txBody>
                  <a:tcPr marL="101600" marR="101600" marT="38100" marB="38100" anchor="ctr">
                    <a:solidFill>
                      <a:srgbClr val="FFFFFF"/>
                    </a:solidFill>
                  </a:tcPr>
                </a:tc>
              </a:tr>
              <a:tr h="335280">
                <a:tc>
                  <a:txBody>
                    <a:bodyPr/>
                    <a:lstStyle/>
                    <a:p>
                      <a:r>
                        <a:rPr sz="1200" b="0" i="0">
                          <a:solidFill>
                            <a:srgbClr val="1A1440"/>
                          </a:solidFill>
                          <a:latin typeface="Calibri"/>
                        </a:rPr>
                        <a:t>Guardrails (three)</a:t>
                      </a:r>
                    </a:p>
                  </a:txBody>
                  <a:tcPr marL="101600" marR="101600" marT="38100" marB="38100" anchor="ctr">
                    <a:solidFill>
                      <a:srgbClr val="F4F2FA"/>
                    </a:solidFill>
                  </a:tcPr>
                </a:tc>
                <a:tc>
                  <a:txBody>
                    <a:bodyPr/>
                    <a:lstStyle/>
                    <a:p>
                      <a:r>
                        <a:rPr sz="1200" b="0" i="0">
                          <a:solidFill>
                            <a:srgbClr val="1A1440"/>
                          </a:solidFill>
                          <a:latin typeface="Calibri"/>
                        </a:rPr>
                        <a:t>Acceptance share at a floor; median rider wait at peak; top-up per completed trip</a:t>
                      </a:r>
                    </a:p>
                  </a:txBody>
                  <a:tcPr marL="101600" marR="101600" marT="38100" marB="38100" anchor="ctr">
                    <a:solidFill>
                      <a:srgbClr val="F4F2FA"/>
                    </a:solidFill>
                  </a:tcPr>
                </a:tc>
              </a:tr>
              <a:tr h="335280">
                <a:tc>
                  <a:txBody>
                    <a:bodyPr/>
                    <a:lstStyle/>
                    <a:p>
                      <a:r>
                        <a:rPr sz="1200" b="0" i="0">
                          <a:solidFill>
                            <a:srgbClr val="1A1440"/>
                          </a:solidFill>
                          <a:latin typeface="Calibri"/>
                        </a:rPr>
                        <a:t>Leading inputs (two)</a:t>
                      </a:r>
                    </a:p>
                  </a:txBody>
                  <a:tcPr marL="101600" marR="101600" marT="38100" marB="38100" anchor="ctr">
                    <a:solidFill>
                      <a:srgbClr val="FFFFFF"/>
                    </a:solidFill>
                  </a:tcPr>
                </a:tc>
                <a:tc>
                  <a:txBody>
                    <a:bodyPr/>
                    <a:lstStyle/>
                    <a:p>
                      <a:r>
                        <a:rPr sz="1200" b="0" i="0">
                          <a:solidFill>
                            <a:srgbClr val="1A1440"/>
                          </a:solidFill>
                          <a:latin typeface="Calibri"/>
                        </a:rPr>
                        <a:t>Enrolled drivers online in the first peak hour; requests per online hour by zone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 note (on every line of the definition).</a:t>
            </a:r>
            <a:r>
              <a:rPr sz="1400" b="0" i="0">
                <a:solidFill>
                  <a:srgbClr val="1A1440"/>
                </a:solidFill>
                <a:latin typeface="Calibri"/>
              </a:rPr>
              <a:t> Each guardrail names the way of hitting the north star that it catches. A definition without the "what it does not reward" line is a definition that will be gamed.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3" name="Oval 12"/>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5" name="Oval 14"/>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glossary: denominators written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public company name the numerator, the denominator and the window?</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Public case, dated 12 October 2026. </a:t>
            </a:r>
            <a:r>
              <a:rPr sz="1500" b="0" i="0">
                <a:solidFill>
                  <a:srgbClr val="1A1440"/>
                </a:solidFill>
                <a:latin typeface="Calibri"/>
              </a:rPr>
              <a:t>Swiggy's own glossary in the quarter to 30 September 2024 defines Monthly Transacting Users (MTU) as the count of distinct users who placed one or more orders in a given month on the platform, averaged over the three months. Platform frequency is orders divided by MTUs. GOV is gross order value, with its denominators spelt out ([Swiggy quarter letter, verified 12 October 2026](https://www.bseindia.com/xml-data/corpfiling/AttachHis/2495f39b-e1d1-4018-8f69-6ff250345e98.pdf)).</a:t>
            </a:r>
          </a:p>
        </p:txBody>
      </p:sp>
      <p:sp>
        <p:nvSpPr>
          <p:cNvPr id="12" name="Rounded Rectangle 11"/>
          <p:cNvSpPr/>
          <p:nvPr/>
        </p:nvSpPr>
        <p:spPr>
          <a:xfrm>
            <a:off x="530352" y="37292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8572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848100"/>
            <a:ext cx="10564063" cy="624840"/>
          </a:xfrm>
          <a:prstGeom prst="rect">
            <a:avLst/>
          </a:prstGeom>
          <a:noFill/>
        </p:spPr>
        <p:txBody>
          <a:bodyPr wrap="square" anchor="ctr" lIns="0" rIns="0" tIns="0" bIns="0">
            <a:spAutoFit/>
          </a:bodyPr>
          <a:lstStyle/>
          <a:p>
            <a:r>
              <a:rPr sz="1500" b="1">
                <a:solidFill>
                  <a:srgbClr val="5B3FD6"/>
                </a:solidFill>
                <a:latin typeface="Calibri"/>
              </a:rPr>
              <a:t>The parallel to Monday. </a:t>
            </a:r>
            <a:r>
              <a:rPr sz="1500" b="0" i="0">
                <a:solidFill>
                  <a:srgbClr val="1A1440"/>
                </a:solidFill>
                <a:latin typeface="Calibri"/>
              </a:rPr>
              <a:t>Our definition writes every line Swiggy writes: the numerator, the denominator, the window, the exclusions, and what it does not reward.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data cannot show, in six caveats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must the engineer name before anyone acts on the number?</a:t>
            </a:r>
          </a:p>
        </p:txBody>
      </p:sp>
      <p:graphicFrame>
        <p:nvGraphicFramePr>
          <p:cNvPr id="9" name="Table 8"/>
          <p:cNvGraphicFramePr>
            <a:graphicFrameLocks noGrp="1"/>
          </p:cNvGraphicFramePr>
          <p:nvPr/>
        </p:nvGraphicFramePr>
        <p:xfrm>
          <a:off x="530352" y="1682496"/>
          <a:ext cx="5291174" cy="3255264"/>
        </p:xfrm>
        <a:graphic>
          <a:graphicData uri="http://schemas.openxmlformats.org/drawingml/2006/table">
            <a:tbl>
              <a:tblPr firstRow="0" bandRow="0">
                <a:tableStyleId>{2D5ABB26-0587-4C30-8999-92F81FD0307C}</a:tableStyleId>
              </a:tblPr>
              <a:tblGrid>
                <a:gridCol w="2645587"/>
                <a:gridCol w="2645587"/>
              </a:tblGrid>
              <a:tr h="310896">
                <a:tc>
                  <a:txBody>
                    <a:bodyPr/>
                    <a:lstStyle/>
                    <a:p>
                      <a:r>
                        <a:rPr sz="950" b="1" i="0">
                          <a:solidFill>
                            <a:srgbClr val="FFFFFF"/>
                          </a:solidFill>
                          <a:latin typeface="Calibri"/>
                        </a:rPr>
                        <a:t>Caveat</a:t>
                      </a:r>
                    </a:p>
                  </a:txBody>
                  <a:tcPr marL="101600" marR="101600" marT="38100" marB="38100" anchor="ctr">
                    <a:solidFill>
                      <a:srgbClr val="1A0F5C"/>
                    </a:solidFill>
                  </a:tcPr>
                </a:tc>
                <a:tc>
                  <a:txBody>
                    <a:bodyPr/>
                    <a:lstStyle/>
                    <a:p>
                      <a:r>
                        <a:rPr sz="950" b="1" i="0">
                          <a:solidFill>
                            <a:srgbClr val="FFFFFF"/>
                          </a:solidFill>
                          <a:latin typeface="Calibri"/>
                        </a:rPr>
                        <a:t>The data check, in one line</a:t>
                      </a:r>
                    </a:p>
                  </a:txBody>
                  <a:tcPr marL="101600" marR="101600" marT="38100" marB="38100" anchor="ctr">
                    <a:solidFill>
                      <a:srgbClr val="1A0F5C"/>
                    </a:solidFill>
                  </a:tcPr>
                </a:tc>
              </a:tr>
              <a:tr h="594360">
                <a:tc>
                  <a:txBody>
                    <a:bodyPr/>
                    <a:lstStyle/>
                    <a:p>
                      <a:r>
                        <a:rPr sz="900" b="0" i="0">
                          <a:solidFill>
                            <a:srgbClr val="1A1440"/>
                          </a:solidFill>
                          <a:latin typeface="Calibri"/>
                        </a:rPr>
                        <a:t>Data quality: "online" is the app being open</a:t>
                      </a:r>
                    </a:p>
                  </a:txBody>
                  <a:tcPr marL="101600" marR="101600" marT="38100" marB="38100" anchor="ctr">
                    <a:solidFill>
                      <a:srgbClr val="FFFFFF"/>
                    </a:solidFill>
                  </a:tcPr>
                </a:tc>
                <a:tc>
                  <a:txBody>
                    <a:bodyPr/>
                    <a:lstStyle/>
                    <a:p>
                      <a:r>
                        <a:rPr sz="900" b="0" i="0">
                          <a:solidFill>
                            <a:srgbClr val="1A1440"/>
                          </a:solidFill>
                          <a:latin typeface="Calibri"/>
                        </a:rPr>
                        <a:t>The share of online hours with zero trips in zones with requests (rose from 0.22 to 0.38)</a:t>
                      </a:r>
                    </a:p>
                  </a:txBody>
                  <a:tcPr marL="101600" marR="101600" marT="38100" marB="38100" anchor="ctr">
                    <a:solidFill>
                      <a:srgbClr val="FFFFFF"/>
                    </a:solidFill>
                  </a:tcPr>
                </a:tc>
              </a:tr>
              <a:tr h="438912">
                <a:tc>
                  <a:txBody>
                    <a:bodyPr/>
                    <a:lstStyle/>
                    <a:p>
                      <a:r>
                        <a:rPr sz="900" b="0" i="0">
                          <a:solidFill>
                            <a:srgbClr val="1A1440"/>
                          </a:solidFill>
                          <a:latin typeface="Calibri"/>
                        </a:rPr>
                        <a:t>Mix: 140 drivers joined after the launch</a:t>
                      </a:r>
                    </a:p>
                  </a:txBody>
                  <a:tcPr marL="101600" marR="101600" marT="38100" marB="38100" anchor="ctr">
                    <a:solidFill>
                      <a:srgbClr val="F4F2FA"/>
                    </a:solidFill>
                  </a:tcPr>
                </a:tc>
                <a:tc>
                  <a:txBody>
                    <a:bodyPr/>
                    <a:lstStyle/>
                    <a:p>
                      <a:r>
                        <a:rPr sz="900" b="0" i="0">
                          <a:solidFill>
                            <a:srgbClr val="1A1440"/>
                          </a:solidFill>
                          <a:latin typeface="Calibri"/>
                        </a:rPr>
                        <a:t>Trips per hour recomputed for drivers present in both windows</a:t>
                      </a:r>
                    </a:p>
                  </a:txBody>
                  <a:tcPr marL="101600" marR="101600" marT="38100" marB="38100" anchor="ctr">
                    <a:solidFill>
                      <a:srgbClr val="F4F2FA"/>
                    </a:solidFill>
                  </a:tcPr>
                </a:tc>
              </a:tr>
              <a:tr h="594360">
                <a:tc>
                  <a:txBody>
                    <a:bodyPr/>
                    <a:lstStyle/>
                    <a:p>
                      <a:r>
                        <a:rPr sz="900" b="0" i="0">
                          <a:solidFill>
                            <a:srgbClr val="1A1440"/>
                          </a:solidFill>
                          <a:latin typeface="Calibri"/>
                        </a:rPr>
                        <a:t>Seasonality: the monsoon ended inside the after window</a:t>
                      </a:r>
                    </a:p>
                  </a:txBody>
                  <a:tcPr marL="101600" marR="101600" marT="38100" marB="38100" anchor="ctr">
                    <a:solidFill>
                      <a:srgbClr val="FFFFFF"/>
                    </a:solidFill>
                  </a:tcPr>
                </a:tc>
                <a:tc>
                  <a:txBody>
                    <a:bodyPr/>
                    <a:lstStyle/>
                    <a:p>
                      <a:r>
                        <a:rPr sz="900" b="0" i="0">
                          <a:solidFill>
                            <a:srgbClr val="1A1440"/>
                          </a:solidFill>
                          <a:latin typeface="Calibri"/>
                        </a:rPr>
                        <a:t>The same comparison for last year's weeks (the data holds twelve, so the caveat stays open)</a:t>
                      </a:r>
                    </a:p>
                  </a:txBody>
                  <a:tcPr marL="101600" marR="101600" marT="38100" marB="38100" anchor="ctr">
                    <a:solidFill>
                      <a:srgbClr val="FFFFFF"/>
                    </a:solidFill>
                  </a:tcPr>
                </a:tc>
              </a:tr>
              <a:tr h="438912">
                <a:tc>
                  <a:txBody>
                    <a:bodyPr/>
                    <a:lstStyle/>
                    <a:p>
                      <a:r>
                        <a:rPr sz="900" b="0" i="0">
                          <a:solidFill>
                            <a:srgbClr val="1A1440"/>
                          </a:solidFill>
                          <a:latin typeface="Calibri"/>
                        </a:rPr>
                        <a:t>Interference: drivers on two platforms</a:t>
                      </a:r>
                    </a:p>
                  </a:txBody>
                  <a:tcPr marL="101600" marR="101600" marT="38100" marB="38100" anchor="ctr">
                    <a:solidFill>
                      <a:srgbClr val="F4F2FA"/>
                    </a:solidFill>
                  </a:tcPr>
                </a:tc>
                <a:tc>
                  <a:txBody>
                    <a:bodyPr/>
                    <a:lstStyle/>
                    <a:p>
                      <a:r>
                        <a:rPr sz="900" b="0" i="0">
                          <a:solidFill>
                            <a:srgbClr val="1A1440"/>
                          </a:solidFill>
                          <a:latin typeface="Calibri"/>
                        </a:rPr>
                        <a:t>Acceptance by hour of day; Uber cannot see the other platform directly</a:t>
                      </a:r>
                    </a:p>
                  </a:txBody>
                  <a:tcPr marL="101600" marR="101600" marT="38100" marB="38100" anchor="ctr">
                    <a:solidFill>
                      <a:srgbClr val="F4F2FA"/>
                    </a:solidFill>
                  </a:tcPr>
                </a:tc>
              </a:tr>
              <a:tr h="438912">
                <a:tc>
                  <a:txBody>
                    <a:bodyPr/>
                    <a:lstStyle/>
                    <a:p>
                      <a:r>
                        <a:rPr sz="900" b="0" i="0">
                          <a:solidFill>
                            <a:srgbClr val="1A1440"/>
                          </a:solidFill>
                          <a:latin typeface="Calibri"/>
                        </a:rPr>
                        <a:t>Selection: who enrolled</a:t>
                      </a:r>
                    </a:p>
                  </a:txBody>
                  <a:tcPr marL="101600" marR="101600" marT="38100" marB="38100" anchor="ctr">
                    <a:solidFill>
                      <a:srgbClr val="FFFFFF"/>
                    </a:solidFill>
                  </a:tcPr>
                </a:tc>
                <a:tc>
                  <a:txBody>
                    <a:bodyPr/>
                    <a:lstStyle/>
                    <a:p>
                      <a:r>
                        <a:rPr sz="900" b="0" i="0">
                          <a:solidFill>
                            <a:srgbClr val="1A1440"/>
                          </a:solidFill>
                          <a:latin typeface="Calibri"/>
                        </a:rPr>
                        <a:t>Enrolled against not enrolled in the before window</a:t>
                      </a:r>
                    </a:p>
                  </a:txBody>
                  <a:tcPr marL="101600" marR="101600" marT="38100" marB="38100" anchor="ctr">
                    <a:solidFill>
                      <a:srgbClr val="FFFFFF"/>
                    </a:solidFill>
                  </a:tcPr>
                </a:tc>
              </a:tr>
              <a:tr h="438912">
                <a:tc>
                  <a:txBody>
                    <a:bodyPr/>
                    <a:lstStyle/>
                    <a:p>
                      <a:r>
                        <a:rPr sz="900" b="0" i="0">
                          <a:solidFill>
                            <a:srgbClr val="1A1440"/>
                          </a:solidFill>
                          <a:latin typeface="Calibri"/>
                        </a:rPr>
                        <a:t>Causality: the scheme or the season</a:t>
                      </a:r>
                    </a:p>
                  </a:txBody>
                  <a:tcPr marL="101600" marR="101600" marT="38100" marB="38100" anchor="ctr">
                    <a:solidFill>
                      <a:srgbClr val="F4F2FA"/>
                    </a:solidFill>
                  </a:tcPr>
                </a:tc>
                <a:tc>
                  <a:txBody>
                    <a:bodyPr/>
                    <a:lstStyle/>
                    <a:p>
                      <a:r>
                        <a:rPr sz="900" b="0" i="0">
                          <a:solidFill>
                            <a:srgbClr val="1A1440"/>
                          </a:solidFill>
                          <a:latin typeface="Calibri"/>
                        </a:rPr>
                        <a:t>Only the A/B test of the redesign (the faculty block, tentative) can settle it</a:t>
                      </a:r>
                    </a:p>
                  </a:txBody>
                  <a:tcPr marL="101600" marR="101600" marT="38100" marB="38100" anchor="ctr">
                    <a:solidFill>
                      <a:srgbClr val="F4F2FA"/>
                    </a:solidFill>
                  </a:tcPr>
                </a:tc>
              </a:tr>
            </a:tbl>
          </a:graphicData>
        </a:graphic>
      </p:graphicFrame>
      <p:sp>
        <p:nvSpPr>
          <p:cNvPr id="10" name="Rounded Rectangle 9"/>
          <p:cNvSpPr/>
          <p:nvPr/>
        </p:nvSpPr>
        <p:spPr>
          <a:xfrm>
            <a:off x="6370167" y="1682496"/>
            <a:ext cx="5291175"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516471" y="18105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717639" y="1801368"/>
            <a:ext cx="4724247" cy="1016000"/>
          </a:xfrm>
          <a:prstGeom prst="rect">
            <a:avLst/>
          </a:prstGeom>
          <a:noFill/>
        </p:spPr>
        <p:txBody>
          <a:bodyPr wrap="square" anchor="ctr" lIns="0" rIns="0" tIns="0" bIns="0">
            <a:spAutoFit/>
          </a:bodyPr>
          <a:lstStyle/>
          <a:p>
            <a:r>
              <a:rPr sz="1300" b="1">
                <a:solidFill>
                  <a:srgbClr val="5B3FD6"/>
                </a:solidFill>
                <a:latin typeface="Calibri"/>
              </a:rPr>
              <a:t>The fall survives the pre-launch cohort. </a:t>
            </a:r>
            <a:r>
              <a:rPr sz="1300" b="0" i="0">
                <a:solidFill>
                  <a:srgbClr val="1A1440"/>
                </a:solidFill>
                <a:latin typeface="Calibri"/>
              </a:rPr>
              <a:t>Trips per peak online hour on drivers present in both windows: 1.90 before, 1.58 after. The 140 new drivers do not explain the fall.</a:t>
            </a:r>
          </a:p>
        </p:txBody>
      </p:sp>
      <p:pic>
        <p:nvPicPr>
          <p:cNvPr id="13" name="mermaid diagram" descr="C2_W04_D01_fall_survives_STUDENT.png"/>
          <p:cNvPicPr>
            <a:picLocks noChangeAspect="1"/>
          </p:cNvPicPr>
          <p:nvPr/>
        </p:nvPicPr>
        <p:blipFill>
          <a:blip r:embed="rId4"/>
          <a:stretch>
            <a:fillRect/>
          </a:stretch>
        </p:blipFill>
        <p:spPr>
          <a:xfrm>
            <a:off x="6370167" y="3045968"/>
            <a:ext cx="5291175" cy="2777867"/>
          </a:xfrm>
          <a:prstGeom prst="rect">
            <a:avLst/>
          </a:prstGeom>
        </p:spPr>
      </p:pic>
      <p:sp>
        <p:nvSpPr>
          <p:cNvPr id="14" name="picture caption"/>
          <p:cNvSpPr txBox="1"/>
          <p:nvPr/>
        </p:nvSpPr>
        <p:spPr>
          <a:xfrm>
            <a:off x="6370167" y="5860411"/>
            <a:ext cx="5291175" cy="316992"/>
          </a:xfrm>
          <a:prstGeom prst="rect">
            <a:avLst/>
          </a:prstGeom>
          <a:noFill/>
        </p:spPr>
        <p:txBody>
          <a:bodyPr wrap="square" anchor="t" lIns="0" rIns="0" tIns="0" bIns="0">
            <a:spAutoFit/>
          </a:bodyPr>
          <a:lstStyle/>
          <a:p>
            <a:pPr algn="ctr"/>
            <a:r>
              <a:rPr sz="1200" b="0" i="0">
                <a:solidFill>
                  <a:srgbClr val="6B6690"/>
                </a:solidFill>
                <a:latin typeface="Calibri"/>
              </a:rPr>
              <a:t>The fall survives removal of the 140 new drivers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17" name="Oval 1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19" name="Oval 1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north star, guardrails, Rs 1.16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into the afternoon?</a:t>
            </a:r>
          </a:p>
        </p:txBody>
      </p:sp>
      <p:sp>
        <p:nvSpPr>
          <p:cNvPr id="9" name="TextBox 8"/>
          <p:cNvSpPr txBox="1"/>
          <p:nvPr/>
        </p:nvSpPr>
        <p:spPr>
          <a:xfrm>
            <a:off x="530352" y="192024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956816"/>
            <a:ext cx="10564063" cy="299720"/>
          </a:xfrm>
          <a:prstGeom prst="rect">
            <a:avLst/>
          </a:prstGeom>
          <a:noFill/>
        </p:spPr>
        <p:txBody>
          <a:bodyPr wrap="square" anchor="t" lIns="0" rIns="0" tIns="0" bIns="0">
            <a:spAutoFit/>
          </a:bodyPr>
          <a:lstStyle/>
          <a:p>
            <a:r>
              <a:rPr sz="1100" b="1" i="0">
                <a:solidFill>
                  <a:srgbClr val="1A1440"/>
                </a:solidFill>
                <a:latin typeface="Calibri"/>
              </a:rPr>
              <a:t>Which number did the city team not celebrate?</a:t>
            </a:r>
            <a:r>
              <a:rPr sz="1100" b="0" i="0">
                <a:solidFill>
                  <a:srgbClr val="1A1440"/>
                </a:solidFill>
                <a:latin typeface="Calibri"/>
              </a:rPr>
              <a:t> Peak online hours up 24 percent, because the scheme paid for being online, not for serving a rider.</a:t>
            </a:r>
          </a:p>
        </p:txBody>
      </p:sp>
      <p:sp>
        <p:nvSpPr>
          <p:cNvPr id="11" name="TextBox 10"/>
          <p:cNvSpPr txBox="1"/>
          <p:nvPr/>
        </p:nvSpPr>
        <p:spPr>
          <a:xfrm>
            <a:off x="530352" y="229311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329688"/>
            <a:ext cx="10564063" cy="299720"/>
          </a:xfrm>
          <a:prstGeom prst="rect">
            <a:avLst/>
          </a:prstGeom>
          <a:noFill/>
        </p:spPr>
        <p:txBody>
          <a:bodyPr wrap="square" anchor="t" lIns="0" rIns="0" tIns="0" bIns="0">
            <a:spAutoFit/>
          </a:bodyPr>
          <a:lstStyle/>
          <a:p>
            <a:r>
              <a:rPr sz="1100" b="1" i="0">
                <a:solidFill>
                  <a:srgbClr val="1A1440"/>
                </a:solidFill>
                <a:latin typeface="Calibri"/>
              </a:rPr>
              <a:t>Where did the fall sit?</a:t>
            </a:r>
            <a:r>
              <a:rPr sz="1100" b="0" i="0">
                <a:solidFill>
                  <a:srgbClr val="1A1440"/>
                </a:solidFill>
                <a:latin typeface="Calibri"/>
              </a:rPr>
              <a:t> 180 drivers of 1,200 whose hours doubled while their trips fell 12 percent, 72 percent of their new hours in outer zones.</a:t>
            </a:r>
          </a:p>
        </p:txBody>
      </p:sp>
      <p:sp>
        <p:nvSpPr>
          <p:cNvPr id="13" name="TextBox 12"/>
          <p:cNvSpPr txBox="1"/>
          <p:nvPr/>
        </p:nvSpPr>
        <p:spPr>
          <a:xfrm>
            <a:off x="530352" y="266598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702560"/>
            <a:ext cx="10564063" cy="299720"/>
          </a:xfrm>
          <a:prstGeom prst="rect">
            <a:avLst/>
          </a:prstGeom>
          <a:noFill/>
        </p:spPr>
        <p:txBody>
          <a:bodyPr wrap="square" anchor="t" lIns="0" rIns="0" tIns="0" bIns="0">
            <a:spAutoFit/>
          </a:bodyPr>
          <a:lstStyle/>
          <a:p>
            <a:r>
              <a:rPr sz="1100" b="1" i="0">
                <a:solidFill>
                  <a:srgbClr val="1A1440"/>
                </a:solidFill>
                <a:latin typeface="Calibri"/>
              </a:rPr>
              <a:t>What did the gaming cost?</a:t>
            </a:r>
            <a:r>
              <a:rPr sz="1100" b="0" i="0">
                <a:solidFill>
                  <a:srgbClr val="1A1440"/>
                </a:solidFill>
                <a:latin typeface="Calibri"/>
              </a:rPr>
              <a:t> Rs 1.16 crore of the Rs 1.9 crore top-up (61 percent) went to driver-weeks where acceptance stayed below 0.5.</a:t>
            </a:r>
          </a:p>
        </p:txBody>
      </p:sp>
      <p:sp>
        <p:nvSpPr>
          <p:cNvPr id="15" name="TextBox 14"/>
          <p:cNvSpPr txBox="1"/>
          <p:nvPr/>
        </p:nvSpPr>
        <p:spPr>
          <a:xfrm>
            <a:off x="530352" y="303885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3075432"/>
            <a:ext cx="10564063" cy="299720"/>
          </a:xfrm>
          <a:prstGeom prst="rect">
            <a:avLst/>
          </a:prstGeom>
          <a:noFill/>
        </p:spPr>
        <p:txBody>
          <a:bodyPr wrap="square" anchor="t" lIns="0" rIns="0" tIns="0" bIns="0">
            <a:spAutoFit/>
          </a:bodyPr>
          <a:lstStyle/>
          <a:p>
            <a:r>
              <a:rPr sz="1100" b="1" i="0">
                <a:solidFill>
                  <a:srgbClr val="1A1440"/>
                </a:solidFill>
                <a:latin typeface="Calibri"/>
              </a:rPr>
              <a:t>What is the north star?</a:t>
            </a:r>
            <a:r>
              <a:rPr sz="1100" b="0" i="0">
                <a:solidFill>
                  <a:srgbClr val="1A1440"/>
                </a:solidFill>
                <a:latin typeface="Calibri"/>
              </a:rPr>
              <a:t> Completed peak trips per enrolled driver per week.</a:t>
            </a:r>
          </a:p>
        </p:txBody>
      </p:sp>
      <p:sp>
        <p:nvSpPr>
          <p:cNvPr id="17" name="TextBox 16"/>
          <p:cNvSpPr txBox="1"/>
          <p:nvPr/>
        </p:nvSpPr>
        <p:spPr>
          <a:xfrm>
            <a:off x="530352" y="341172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448304"/>
            <a:ext cx="10564063" cy="299720"/>
          </a:xfrm>
          <a:prstGeom prst="rect">
            <a:avLst/>
          </a:prstGeom>
          <a:noFill/>
        </p:spPr>
        <p:txBody>
          <a:bodyPr wrap="square" anchor="t" lIns="0" rIns="0" tIns="0" bIns="0">
            <a:spAutoFit/>
          </a:bodyPr>
          <a:lstStyle/>
          <a:p>
            <a:r>
              <a:rPr sz="1100" b="1" i="0">
                <a:solidFill>
                  <a:srgbClr val="1A1440"/>
                </a:solidFill>
                <a:latin typeface="Calibri"/>
              </a:rPr>
              <a:t>Which two guardrails stop the gaming?</a:t>
            </a:r>
            <a:r>
              <a:rPr sz="1100" b="0" i="0">
                <a:solidFill>
                  <a:srgbClr val="1A1440"/>
                </a:solidFill>
                <a:latin typeface="Calibri"/>
              </a:rPr>
              <a:t> Acceptance share at a floor, and median rider wait at peak.</a:t>
            </a:r>
          </a:p>
        </p:txBody>
      </p:sp>
      <p:sp>
        <p:nvSpPr>
          <p:cNvPr id="19" name="Rounded Rectangle 18"/>
          <p:cNvSpPr/>
          <p:nvPr/>
        </p:nvSpPr>
        <p:spPr>
          <a:xfrm>
            <a:off x="530352" y="393090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194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search-check_6571e64a041f.png"/>
          <p:cNvPicPr>
            <a:picLocks noChangeAspect="1"/>
          </p:cNvPicPr>
          <p:nvPr/>
        </p:nvPicPr>
        <p:blipFill>
          <a:blip r:embed="rId4"/>
          <a:stretch>
            <a:fillRect/>
          </a:stretch>
        </p:blipFill>
        <p:spPr>
          <a:xfrm>
            <a:off x="868680" y="4303776"/>
            <a:ext cx="237744" cy="237744"/>
          </a:xfrm>
          <a:prstGeom prst="rect">
            <a:avLst/>
          </a:prstGeom>
        </p:spPr>
      </p:pic>
      <p:sp>
        <p:nvSpPr>
          <p:cNvPr id="22" name="TextBox 21"/>
          <p:cNvSpPr txBox="1"/>
          <p:nvPr/>
        </p:nvSpPr>
        <p:spPr>
          <a:xfrm>
            <a:off x="1399031" y="40772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3" name="TextBox 22"/>
          <p:cNvSpPr txBox="1"/>
          <p:nvPr/>
        </p:nvSpPr>
        <p:spPr>
          <a:xfrm>
            <a:off x="1399031" y="4296664"/>
            <a:ext cx="9987991" cy="544576"/>
          </a:xfrm>
          <a:prstGeom prst="rect">
            <a:avLst/>
          </a:prstGeom>
          <a:noFill/>
        </p:spPr>
        <p:txBody>
          <a:bodyPr wrap="square" anchor="t" lIns="0" rIns="0" tIns="0" bIns="0">
            <a:spAutoFit/>
          </a:bodyPr>
          <a:lstStyle/>
          <a:p>
            <a:r>
              <a:rPr sz="1100" b="0" i="0">
                <a:solidFill>
                  <a:srgbClr val="1A1440"/>
                </a:solidFill>
                <a:latin typeface="Calibri"/>
              </a:rPr>
              <a:t>"You found the plant in the data by refusing to celebrate the first number. The city head's job now is to say what the floor on acceptance is, and that is the only decision left."</a:t>
            </a:r>
          </a:p>
        </p:txBody>
      </p:sp>
      <p:sp>
        <p:nvSpPr>
          <p:cNvPr id="24" name="Rounded Rectangle 23"/>
          <p:cNvSpPr/>
          <p:nvPr/>
        </p:nvSpPr>
        <p:spPr>
          <a:xfrm>
            <a:off x="530352" y="507898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52618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ic_caee7398c80d.png"/>
          <p:cNvPicPr>
            <a:picLocks noChangeAspect="1"/>
          </p:cNvPicPr>
          <p:nvPr/>
        </p:nvPicPr>
        <p:blipFill>
          <a:blip r:embed="rId5"/>
          <a:stretch>
            <a:fillRect/>
          </a:stretch>
        </p:blipFill>
        <p:spPr>
          <a:xfrm>
            <a:off x="868680" y="5371592"/>
            <a:ext cx="237744" cy="237744"/>
          </a:xfrm>
          <a:prstGeom prst="rect">
            <a:avLst/>
          </a:prstGeom>
        </p:spPr>
      </p:pic>
      <p:sp>
        <p:nvSpPr>
          <p:cNvPr id="27" name="TextBox 26"/>
          <p:cNvSpPr txBox="1"/>
          <p:nvPr/>
        </p:nvSpPr>
        <p:spPr>
          <a:xfrm>
            <a:off x="1399031" y="5225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8" name="TextBox 27"/>
          <p:cNvSpPr txBox="1"/>
          <p:nvPr/>
        </p:nvSpPr>
        <p:spPr>
          <a:xfrm>
            <a:off x="1399031" y="5444744"/>
            <a:ext cx="9987991" cy="384048"/>
          </a:xfrm>
          <a:prstGeom prst="rect">
            <a:avLst/>
          </a:prstGeom>
          <a:noFill/>
        </p:spPr>
        <p:txBody>
          <a:bodyPr wrap="square" anchor="t" lIns="0" rIns="0" tIns="0" bIns="0">
            <a:spAutoFit/>
          </a:bodyPr>
          <a:lstStyle/>
          <a:p>
            <a:r>
              <a:rPr sz="1100" b="0" i="0">
                <a:solidFill>
                  <a:srgbClr val="1A1440"/>
                </a:solidFill>
                <a:latin typeface="Calibri"/>
              </a:rPr>
              <a:t>[M] A number rose and the business celebrated. What do you check before you believe it, and in what order?</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31" name="Oval 30"/>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3" name="Oval 32"/>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Half two: roles, transcript, Kahoot,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this afternoon, in four parts and the lab?</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30 MIN</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The three roles attack the room's definition; each group writes it, defends it and prices the Rs 1.16 crore</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15 MIN</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Transcript</a:t>
            </a:r>
          </a:p>
        </p:txBody>
      </p:sp>
      <p:sp>
        <p:nvSpPr>
          <p:cNvPr id="19" name="TextBox 18"/>
          <p:cNvSpPr txBox="1"/>
          <p:nvPr/>
        </p:nvSpPr>
        <p:spPr>
          <a:xfrm>
            <a:off x="2957718"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[M] How would you measure the success of a new feature? And the AI-company variant on acceptance rate.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15 MIN</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Eight items, with the return question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AFTERNOON, 120 MIN</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Faculty block (tentative)</a:t>
            </a:r>
          </a:p>
        </p:txBody>
      </p:sp>
      <p:sp>
        <p:nvSpPr>
          <p:cNvPr id="29" name="TextBox 28"/>
          <p:cNvSpPr txBox="1"/>
          <p:nvPr/>
        </p:nvSpPr>
        <p:spPr>
          <a:xfrm>
            <a:off x="7483266"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W4-1, designing the A/B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LAB (TA-LED)</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Kalpa Retail transfer</a:t>
            </a:r>
          </a:p>
        </p:txBody>
      </p:sp>
      <p:sp>
        <p:nvSpPr>
          <p:cNvPr id="34" name="TextBox 33"/>
          <p:cNvSpPr txBox="1"/>
          <p:nvPr/>
        </p:nvSpPr>
        <p:spPr>
          <a:xfrm>
            <a:off x="9746040"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Re-run L1 to L3 on reorders per Retail-Plus member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Can online hours rise while riders wait as long?</a:t>
            </a:r>
          </a:p>
        </p:txBody>
      </p:sp>
      <p:sp>
        <p:nvSpPr>
          <p:cNvPr id="37" name="Oval 36"/>
          <p:cNvSpPr/>
          <p:nvPr/>
        </p:nvSpPr>
        <p:spPr>
          <a:xfrm>
            <a:off x="29260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035808" y="6437376"/>
            <a:ext cx="2194560" cy="267716"/>
          </a:xfrm>
          <a:prstGeom prst="rect">
            <a:avLst/>
          </a:prstGeom>
          <a:noFill/>
        </p:spPr>
        <p:txBody>
          <a:bodyPr wrap="square" anchor="t" lIns="0" rIns="0" tIns="0" bIns="0">
            <a:spAutoFit/>
          </a:bodyPr>
          <a:lstStyle/>
          <a:p>
            <a:pPr algn="l"/>
            <a:r>
              <a:rPr sz="700" b="0" i="0">
                <a:solidFill>
                  <a:srgbClr val="6B6690"/>
                </a:solidFill>
                <a:latin typeface="Calibri"/>
              </a:rPr>
              <a:t>What are the city totals, and where did the fall sit?</a:t>
            </a:r>
          </a:p>
        </p:txBody>
      </p:sp>
      <p:sp>
        <p:nvSpPr>
          <p:cNvPr id="39" name="Oval 38"/>
          <p:cNvSpPr/>
          <p:nvPr/>
        </p:nvSpPr>
        <p:spPr>
          <a:xfrm>
            <a:off x="532180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31536" y="6437376"/>
            <a:ext cx="2194560" cy="267716"/>
          </a:xfrm>
          <a:prstGeom prst="rect">
            <a:avLst/>
          </a:prstGeom>
          <a:noFill/>
        </p:spPr>
        <p:txBody>
          <a:bodyPr wrap="square" anchor="t" lIns="0" rIns="0" tIns="0" bIns="0">
            <a:spAutoFit/>
          </a:bodyPr>
          <a:lstStyle/>
          <a:p>
            <a:pPr algn="l"/>
            <a:r>
              <a:rPr sz="700" b="1" i="0">
                <a:solidFill>
                  <a:srgbClr val="5B3FD6"/>
                </a:solidFill>
                <a:latin typeface="Calibri"/>
              </a:rPr>
              <a:t>Which drivers drove the fall, and what did it cost?</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