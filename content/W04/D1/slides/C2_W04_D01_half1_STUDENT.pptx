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ask one question</a:t>
            </a:r>
          </a:p>
          <a:p>
            <a:r>
              <a:t>and leave it open: of the eight numbers in the table, which one would the city team put in the</a:t>
            </a:r>
          </a:p>
          <a:p>
            <a:r>
              <a:t>headline of Monday's update? Most hands go to "peak online hours up 24 percent". Write it on the</a:t>
            </a:r>
          </a:p>
          <a:p>
            <a:r>
              <a:t>board; the day is about whether that number deserves the headline.</a:t>
            </a:r>
          </a:p>
          <a:p>
            <a:r>
              <a:t>Transition: where the 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to the four dashed days. Each day is a ticket at a company</a:t>
            </a:r>
          </a:p>
          <a:p>
            <a:r>
              <a:t>the room uses, climbed from a hand count to an interview question, and each day's TA lab moves the</a:t>
            </a:r>
          </a:p>
          <a:p>
            <a:r>
              <a:t>same method to Kalpa Retail. By Saturday every node carries the number the room produced on it.</a:t>
            </a:r>
          </a:p>
          <a:p>
            <a:r>
              <a:t>The week explorer (content/W04/D1/demos/C2_W04_D01_week_explorer_STUDENT.html, which ships with the</a:t>
            </a:r>
          </a:p>
          <a:p>
            <a:r>
              <a:t>week) opens on this map; light Monday there if it is on the projector.</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nothing to write yet.</a:t>
            </a:r>
          </a:p>
          <a:p>
            <a:r>
              <a:t>Say: every blank gets a number from the data before lunch, and every line gets tested by three</a:t>
            </a:r>
          </a:p>
          <a:p>
            <a:r>
              <a:t>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the same board on the whiteboard and keep it up all day; each chapter's close</a:t>
            </a:r>
          </a:p>
          <a:p>
            <a:r>
              <a:t>adds its region. The finished board is panel one of the cheat sheet.</a:t>
            </a:r>
          </a:p>
          <a:p>
            <a:r>
              <a:t>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war game's round 1 (run sheet: trainer/C2_W04_D01_war_game_TRAINER.md).</a:t>
            </a:r>
          </a:p>
          <a:p>
            <a:r>
              <a:t>The trainer voices the three role cards, or three learners read them. Each of the nine groups has</a:t>
            </a:r>
          </a:p>
          <a:p>
            <a:r>
              <a:t>three minutes to give one way to game each number, from instinct only, and its scorer holds the</a:t>
            </a:r>
          </a:p>
          <a:p>
            <a:r>
              <a:t>proxy-test card. Write the answers on the board under each role. Expect: hours rise if drivers stay</a:t>
            </a:r>
          </a:p>
          <a:p>
            <a:r>
              <a:t>logged in and idle; enrolled drivers rise if people sign up and never drive; top-up per trip falls</a:t>
            </a:r>
          </a:p>
          <a:p>
            <a:r>
              <a:t>if drivers take only short trips. Park "what would the data show" until chapter 2.</a:t>
            </a:r>
          </a:p>
          <a:p>
            <a:r>
              <a:t>When it stalls: give the canteen token (who controls the count?), then point at the twelve rows,</a:t>
            </a:r>
          </a:p>
          <a:p>
            <a:r>
              <a:t>drivers E and F.</a:t>
            </a:r>
          </a:p>
          <a:p>
            <a:r>
              <a:t>Transition: chapter 1 opens on the question the war game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chapter: the opener question (4), the canteen (5), the twelve rows and the</a:t>
            </a:r>
          </a:p>
          <a:p>
            <a:r>
              <a:t>hand count (18), Wells Fargo (8), the close (5). Level 1: understand and count by hand. No laptops.</a:t>
            </a:r>
          </a:p>
          <a:p>
            <a:r>
              <a:t>Styles: Brilliant (the question first), Veritasium (predict, then reveal), StatQuest (tiny numbers</a:t>
            </a:r>
          </a:p>
          <a:p>
            <a:r>
              <a:t>said aloud), the case method (a real company's decision and what it cost).</a:t>
            </a:r>
          </a:p>
          <a:p>
            <a:r>
              <a:t>Notebook: notebooks/C2_W04_D01_01_twelve_rows_STUDENT.ipynb.</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The room usually splits between b and c.</a:t>
            </a:r>
          </a:p>
          <a:p>
            <a:r>
              <a:t>Leave it open for ten seconds, then reveal.</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driver controls the count, and that is the first thing to look for in any</a:t>
            </a:r>
          </a:p>
          <a:p>
            <a:r>
              <a:t>number someone is paid for. Point back to the board's first question, what is it for.</a:t>
            </a:r>
          </a:p>
          <a:p>
            <a:r>
              <a:t>Transition: a canteen that pays for the easy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Veritasium move. Before the picture goes up, ask: if the canteen pays per token,</a:t>
            </a:r>
          </a:p>
          <a:p>
            <a:r>
              <a:t>what can rise with no extra plate served? Take three answers, then show the picture. The canteen is</a:t>
            </a:r>
          </a:p>
          <a:p>
            <a:r>
              <a:t>invented and the numbers are chosen to be easy. Explorer scene M1 shows the same drift on the city:</a:t>
            </a:r>
          </a:p>
          <a:p>
            <a:r>
              <a:t>drivers as dots go from driving to idling as the guarantee rises; open it here if it is on the</a:t>
            </a:r>
          </a:p>
          <a:p>
            <a:r>
              <a:t>projector.</a:t>
            </a:r>
          </a:p>
          <a:p>
            <a:r>
              <a:t>Transition: six real drivers from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2 shows what that average</a:t>
            </a:r>
          </a:p>
          <a:p>
            <a:r>
              <a:t>prints on the full data and why it misleads.</a:t>
            </a:r>
          </a:p>
          <a:p>
            <a:r>
              <a:t>Transition: a company that paid for a number with no usage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Tell it in order: the number (accounts per household), the missing condition</a:t>
            </a:r>
          </a:p>
          <a:p>
            <a:r>
              <a:t>(nobody had to use the account), what staff did to hit it, and what it cost (USD 185 million in</a:t>
            </a:r>
          </a:p>
          <a:p>
            <a:r>
              <a:t>2016, USD 3 billion in 2020, sales goals scrapped). Then draw two columns on the board, Wells Fargo</a:t>
            </a:r>
          </a:p>
          <a:p>
            <a:r>
              <a:t>and Uber Hyderabad: an account counted with no use, an hour counted with no trip. Do not quote a</a:t>
            </a:r>
          </a:p>
          <a:p>
            <a:r>
              <a:t>firing count or Goodhart; neither is verified in the week's sources.</a:t>
            </a:r>
          </a:p>
          <a:p>
            <a:r>
              <a:t>Sources:</a:t>
            </a:r>
          </a:p>
          <a:p>
            <a:r>
              <a:t>https://www.consumerfinance.gov/about-us/newsroom/consumer-financial-protection-bureau-fines-wells-fargo-100-million-widespread-illegal-practice-secretly-opening-unauthorized-accounts/ (checked 12 October 2026)</a:t>
            </a:r>
          </a:p>
          <a:p>
            <a:r>
              <a:t>https://www.sec.gov/newsroom/press-releases/2020-38 (checked 12 October 2026)</a:t>
            </a:r>
          </a:p>
          <a:p>
            <a:r>
              <a:t>https://www.sec.gov/files/litigation/admin/2020/34-88257.pdf (checked 12 October 2026)</a:t>
            </a:r>
          </a:p>
          <a:p>
            <a:r>
              <a:t>Transition: the chapter's close and the board's first region.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what is it for, and the first pitfall. Read the crux</a:t>
            </a:r>
          </a:p>
          <a:p>
            <a:r>
              <a:t>line twice; it is the line the cheat sheet repeats. The interview question the day earns, [S] how</a:t>
            </a:r>
          </a:p>
          <a:p>
            <a:r>
              <a:t>would you measure the success of a new feature, stays open until the afternoon.</a:t>
            </a:r>
          </a:p>
          <a:p>
            <a:r>
              <a:t>Transition: chapter 2,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for the chapter: the demand question (5), the twelve weeks and the groupby (12),</a:t>
            </a:r>
          </a:p>
          <a:p>
            <a:r>
              <a:t>the average that misleads (8), the denominator cases (6), the idle tail (14), the close (5).</a:t>
            </a:r>
          </a:p>
          <a:p>
            <a:r>
              <a:t>Levels 2 and 3. Laptops open on notebooks/C2_W04_D01_02_full_data_trap_STUDENT.ipynb.</a:t>
            </a:r>
          </a:p>
          <a:p>
            <a:r>
              <a:t>Styles: Krish Naik (one line of narration per cell), Veritasium (predict before each reveal),</a:t>
            </a:r>
          </a:p>
          <a:p>
            <a:r>
              <a:t>Brilliant (the question first), ByteByteGo (the board grows at the close).</a:t>
            </a:r>
          </a:p>
          <a:p>
            <a:r>
              <a:t>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invented pair aloud first, then return to 1.71 against 1.58. Week 1 met</a:t>
            </a:r>
          </a:p>
          <a:p>
            <a:r>
              <a:t>the same rule on Kalpa's orders: a rate is two sums divided once.</a:t>
            </a:r>
          </a:p>
          <a:p>
            <a:r>
              <a:t>Transition: companies that write their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rows, naming numerator, denominator and window each time. The point is</a:t>
            </a:r>
          </a:p>
          <a:p>
            <a:r>
              <a:t>the habit: a filing that names its denominator cannot be misread, and the city's ticket names</a:t>
            </a:r>
          </a:p>
          <a:p>
            <a:r>
              <a:t>"per peak online hour" for the same reason. Source:</a:t>
            </a:r>
          </a:p>
          <a:p>
            <a:r>
              <a:t>https://www.bseindia.com/xml-data/corpfiling/AttachHis/2495f39b-e1d1-4018-8f69-6ff250345e98.pdf (checked 12 October 2026)</a:t>
            </a:r>
          </a:p>
          <a:p>
            <a:r>
              <a:t>Transition: one crowd, counted three ways.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is on the board already: offers and requests are two units for the</a:t>
            </a:r>
          </a:p>
          <a:p>
            <a:r>
              <a:t>same riders, and offers rose 29 percent on requests that rose 1.8 percent.</a:t>
            </a:r>
          </a:p>
          <a:p>
            <a:r>
              <a:t>Sources:</a:t>
            </a:r>
          </a:p>
          <a:p>
            <a:r>
              <a:t>https://www.latestly.com/agency-news/dmrc-uses-new-count-metric-on-traffic-flow-doesnt-share-ridership-190870.html/amp (checked 12 October 2026)</a:t>
            </a:r>
          </a:p>
          <a:p>
            <a:r>
              <a:t>https://www.tribuneindia.com/news/delhi/delhi-metro-records-99-95-train-punctuality-in-2026-dmrc/ (checked 12 October 2026)</a:t>
            </a:r>
          </a:p>
          <a:p>
            <a:r>
              <a:t>https://www.republicworld.com/india/delhi-metro-breaks-all-time-record-with-8244-lakh-footfall-as-dtc-strike-sends-rush-soaring-2026-09-18-137241 (checked 12 October 2026)</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your-turn cell of notebook 02.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A second route in the notebook</a:t>
            </a:r>
          </a:p>
          <a:p>
            <a:r>
              <a:t>finds the same 180 by acceptance alone. Watch for "these drivers are lazy": they are doing what</a:t>
            </a:r>
          </a:p>
          <a:p>
            <a:r>
              <a:t>the number pays for, as Wells Fargo's staff did.</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Then the break: 10 minutes.</a:t>
            </a:r>
          </a:p>
          <a:p>
            <a:r>
              <a:t>Transition: after the break, chapter 3 asks what the scheme should pay for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for the chapter: the opener question (5), the wrong memo and its cost (12), the</a:t>
            </a:r>
          </a:p>
          <a:p>
            <a:r>
              <a:t>tree and the inputs (14), the definition line by line, guided (16), the window and its start (6),</a:t>
            </a:r>
          </a:p>
          <a:p>
            <a:r>
              <a:t>the caveats (10), the close (2). Levels 3 and 4. Notebook:</a:t>
            </a:r>
          </a:p>
          <a:p>
            <a:r>
              <a:t>notebooks/C2_W04_D01_03_definition_and_cost_STUDENT.ipynb.</a:t>
            </a:r>
          </a:p>
          <a:p>
            <a:r>
              <a:t>Styles: Brilliant (question first), 3Blue1Brown (the tree built region by region), the case method</a:t>
            </a:r>
          </a:p>
          <a:p>
            <a:r>
              <a:t>(VA's decision and its cost), ByteByteGo (the finished board).</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03's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behaviour line clearly, because the finance partner and every interviewer</a:t>
            </a:r>
          </a:p>
          <a:p>
            <a:r>
              <a:t>will ask it: a saving that assumes nobody changes is a floor on the cost, never a forecast. Round 3</a:t>
            </a:r>
          </a:p>
          <a:p>
            <a:r>
              <a:t>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3Blue1Brown: build it on the board one region at a time. First the north star alone,</a:t>
            </a:r>
          </a:p>
          <a:p>
            <a:r>
              <a:t>then each guardrail with the gaming it catches (a driver online and declining; trips so short or so</a:t>
            </a:r>
          </a:p>
          <a:p>
            <a:r>
              <a:t>cherry-picked that waits rise; a top-up that runs away), then the two inputs. Explorer scene M2, the</a:t>
            </a:r>
          </a:p>
          <a:p>
            <a:r>
              <a:t>seesaw, shows the north star against its guardrails. Tuesday's slide, Thursday's funnel and Friday's</a:t>
            </a:r>
          </a:p>
          <a:p>
            <a:r>
              <a:t>forecast all hang off this north star.</a:t>
            </a:r>
          </a:p>
          <a:p>
            <a:r>
              <a:t>Transition: which of these moves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M4 asks which line turns first; use it if it is on the projector.</a:t>
            </a:r>
          </a:p>
          <a:p>
            <a:r>
              <a:t>Then classify three of the ticket's numbers aloud: acceptance (leading), trips per hour (moves with</a:t>
            </a:r>
          </a:p>
          <a:p>
            <a:r>
              <a:t>the north star), top-up paid (lagging, the bill arrives after).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guided: the room writes each line with the trainer (exercises/guided/</a:t>
            </a:r>
          </a:p>
          <a:p>
            <a:r>
              <a:t>C2_W04_D01_definition_STUDENT.md). Pause after every line and ask which gaming it stops: the</a:t>
            </a:r>
          </a:p>
          <a:p>
            <a:r>
              <a:t>denominator's "online at least one peak hour" stops a sign-up who never drives from diluting the</a:t>
            </a:r>
          </a:p>
          <a:p>
            <a:r>
              <a:t>rate; "what it does not reward" names hours. Uber's 10-K counts an UberX Share ride with three</a:t>
            </a:r>
          </a:p>
          <a:p>
            <a:r>
              <a:t>paying riders as three trips and an UberX ride with three passengers as one, which is why the</a:t>
            </a:r>
          </a:p>
          <a:p>
            <a:r>
              <a:t>numerator says "per paying rider". Explorer scene M3 recomputes the metric as each line changes.</a:t>
            </a:r>
          </a:p>
          <a:p>
            <a:r>
              <a:t>Transition: who controls when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board's third sketch goes up: the window and its start. Ask who starts the</a:t>
            </a:r>
          </a:p>
          <a:p>
            <a:r>
              <a:t>clock in each of the day's numbers: hours (the driver), trips (the rider's request), wait (the</a:t>
            </a:r>
          </a:p>
          <a:p>
            <a:r>
              <a:t>rider's request). Source:</a:t>
            </a:r>
          </a:p>
          <a:p>
            <a:r>
              <a:t>https://www.vaoig.gov/sites/default/files/reports/2014-08/VAOIG-14-02603-267.pdf (checked 12 October 2026)</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six caveats in order, each with the fact that would settle it: data quality</a:t>
            </a:r>
          </a:p>
          <a:p>
            <a:r>
              <a:t>(online means the app is open; hours with no trip rose from 0.22 to 0.38), mix (new drivers: 1.58</a:t>
            </a:r>
          </a:p>
          <a:p>
            <a:r>
              <a:t>without them), seasonality (the busiest weeks: 1.60; last year's weeks are not in the data, so the</a:t>
            </a:r>
          </a:p>
          <a:p>
            <a:r>
              <a:t>caveat narrows and stays partly open), interference (needs hourly data and the other app), selection</a:t>
            </a:r>
          </a:p>
          <a:p>
            <a:r>
              <a:t>(needs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panel one of the cheat sheet. Read the crux line: paying</a:t>
            </a:r>
          </a:p>
          <a:p>
            <a:r>
              <a:t>for hours sent 61 percent of Rs 1.9 crore to driver-weeks that declined most of what they were</a:t>
            </a:r>
          </a:p>
          <a:p>
            <a:r>
              <a:t>offered. The interview line the chapter earns: [F] north star against guardrail, with one example</a:t>
            </a:r>
          </a:p>
          <a:p>
            <a:r>
              <a:t>pair, completed peak trips per enrolled driver, guarded by the share of offers accepted. Then lunch.</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faculty block is tentative until IIT Gandhinagar confirms it.</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807718"/>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35734"/>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26590"/>
            <a:ext cx="10564063" cy="4470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online through a whole peak window (two a day, three hours each) is guaranteed Rs 300 per peak online hour, and Uber tops up the gap. The goal: riders picked up faster.</a:t>
            </a:r>
          </a:p>
        </p:txBody>
      </p:sp>
      <p:graphicFrame>
        <p:nvGraphicFramePr>
          <p:cNvPr id="12" name="Table 11"/>
          <p:cNvGraphicFramePr>
            <a:graphicFrameLocks noGrp="1"/>
          </p:cNvGraphicFramePr>
          <p:nvPr/>
        </p:nvGraphicFramePr>
        <p:xfrm>
          <a:off x="530352" y="2602230"/>
          <a:ext cx="11130990" cy="1865376"/>
        </p:xfrm>
        <a:graphic>
          <a:graphicData uri="http://schemas.openxmlformats.org/drawingml/2006/table">
            <a:tbl>
              <a:tblPr firstRow="0" bandRow="0">
                <a:tableStyleId>{2D5ABB26-0587-4C30-8999-92F81FD0307C}</a:tableStyleId>
              </a:tblPr>
              <a:tblGrid>
                <a:gridCol w="5583081"/>
                <a:gridCol w="2056933"/>
                <a:gridCol w="3490976"/>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310896">
                <a:tc>
                  <a:txBody>
                    <a:bodyPr/>
                    <a:lstStyle/>
                    <a:p>
                      <a:r>
                        <a:rPr sz="900" b="0" i="0">
                          <a:solidFill>
                            <a:srgbClr val="1A1440"/>
                          </a:solidFill>
                          <a:latin typeface="Calibri"/>
                        </a:rPr>
                        <a:t>Offers accepted; accepted, then cancelled by the driver</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310896">
                <a:tc>
                  <a:txBody>
                    <a:bodyPr/>
                    <a:lstStyle/>
                    <a:p>
                      <a:r>
                        <a:rPr sz="900" b="0" i="0">
                          <a:solidFill>
                            <a:srgbClr val="1A1440"/>
                          </a:solidFill>
                          <a:latin typeface="Calibri"/>
                        </a:rPr>
                        <a:t>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310896">
                <a:tc>
                  <a:txBody>
                    <a:bodyPr/>
                    <a:lstStyle/>
                    <a:p>
                      <a:r>
                        <a:rPr sz="900" b="0" i="0">
                          <a:solidFill>
                            <a:srgbClr val="1A1440"/>
                          </a:solidFill>
                          <a:latin typeface="Calibri"/>
                        </a:rPr>
                        <a:t>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530352" y="47236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8516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842510"/>
            <a:ext cx="10564063" cy="6248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new), driver_weeks (hours, offers, accepted, cancels, trips, hours with no trip, bookings,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are thin; drivers can be on two apps.</a:t>
            </a:r>
          </a:p>
        </p:txBody>
      </p:sp>
      <p:sp>
        <p:nvSpPr>
          <p:cNvPr id="16" name="Rounded Rectangle 15"/>
          <p:cNvSpPr/>
          <p:nvPr/>
        </p:nvSpPr>
        <p:spPr>
          <a:xfrm>
            <a:off x="530352" y="5695950"/>
            <a:ext cx="45720" cy="3784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5695950"/>
            <a:ext cx="10820095" cy="37846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8470a97220d90526.png"/>
          <p:cNvPicPr>
            <a:picLocks noChangeAspect="1"/>
          </p:cNvPicPr>
          <p:nvPr/>
        </p:nvPicPr>
        <p:blipFill>
          <a:blip r:embed="rId5"/>
          <a:stretch>
            <a:fillRect/>
          </a:stretch>
        </p:blipFill>
        <p:spPr>
          <a:xfrm>
            <a:off x="1104184" y="1682496"/>
            <a:ext cx="99833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8872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a definition of seven lines that three people who lose under it cannot break.</a:t>
            </a:r>
          </a:p>
        </p:txBody>
      </p:sp>
      <p:sp>
        <p:nvSpPr>
          <p:cNvPr id="10" name="Rounded Rectangle 9"/>
          <p:cNvSpPr/>
          <p:nvPr/>
        </p:nvSpPr>
        <p:spPr>
          <a:xfrm>
            <a:off x="530352" y="27873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787396"/>
            <a:ext cx="10820095" cy="751840"/>
          </a:xfrm>
          <a:prstGeom prst="rect">
            <a:avLst/>
          </a:prstGeom>
          <a:noFill/>
        </p:spPr>
        <p:txBody>
          <a:bodyPr wrap="square" anchor="t" lIns="0" rIns="0" tIns="0" bIns="0">
            <a:spAutoFit/>
          </a:bodyPr>
          <a:lstStyle/>
          <a:p>
            <a:r>
              <a:rPr sz="1600" b="0" i="1">
                <a:solidFill>
                  <a:srgbClr val="1A0F5C"/>
                </a:solidFill>
                <a:latin typeface="Georgia"/>
              </a:rPr>
              <a:t>"Pay for ________, guarded by ________ and ________, because paying for hours cost Rs ____ in six weeks for ________."</a:t>
            </a:r>
          </a:p>
        </p:txBody>
      </p:sp>
      <p:sp>
        <p:nvSpPr>
          <p:cNvPr id="12" name="Rectangle 11"/>
          <p:cNvSpPr/>
          <p:nvPr/>
        </p:nvSpPr>
        <p:spPr>
          <a:xfrm>
            <a:off x="1247045" y="4252467"/>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06594"/>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06594"/>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06594"/>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06594"/>
            <a:ext cx="1104203" cy="3667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a:t>
            </a:r>
          </a:p>
        </p:txBody>
      </p:sp>
      <p:sp>
        <p:nvSpPr>
          <p:cNvPr id="33" name="TextBox 32"/>
          <p:cNvSpPr txBox="1"/>
          <p:nvPr/>
        </p:nvSpPr>
        <p:spPr>
          <a:xfrm>
            <a:off x="6995421"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18812"/>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21224"/>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06594"/>
            <a:ext cx="1104203" cy="531876"/>
          </a:xfrm>
          <a:prstGeom prst="rect">
            <a:avLst/>
          </a:prstGeom>
          <a:noFill/>
        </p:spPr>
        <p:txBody>
          <a:bodyPr wrap="square" anchor="t" lIns="0" rIns="0" tIns="0" bIns="0">
            <a:spAutoFit/>
          </a:bodyPr>
          <a:lstStyle/>
          <a:p>
            <a:pPr algn="l"/>
            <a:r>
              <a:rPr sz="1000" b="0" i="0">
                <a:solidFill>
                  <a:srgbClr val="6B6690"/>
                </a:solidFill>
                <a:latin typeface="Calibri"/>
              </a:rPr>
              <a:t>The numbers that must not get worse</a:t>
            </a:r>
          </a:p>
        </p:txBody>
      </p:sp>
      <p:sp>
        <p:nvSpPr>
          <p:cNvPr id="43" name="TextBox 42"/>
          <p:cNvSpPr txBox="1"/>
          <p:nvPr/>
        </p:nvSpPr>
        <p:spPr>
          <a:xfrm>
            <a:off x="10227955" y="3685540"/>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161027"/>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572508"/>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18812"/>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06594"/>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8b082f530e261213.png"/>
          <p:cNvPicPr>
            <a:picLocks noChangeAspect="1"/>
          </p:cNvPicPr>
          <p:nvPr/>
        </p:nvPicPr>
        <p:blipFill>
          <a:blip r:embed="rId5"/>
          <a:stretch>
            <a:fillRect/>
          </a:stretch>
        </p:blipFill>
        <p:spPr>
          <a:xfrm>
            <a:off x="3239109" y="1664208"/>
            <a:ext cx="5713476"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chapter fills one region of this board: chapter 1 answers what the number is for, chapter 2 how it rose while riders were served no better, chapter 3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of the city team's three roles want celebrated, and how could each rise while riders waited longer?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acquisition story;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three questions per number.</a:t>
            </a:r>
            <a:r>
              <a:rPr sz="1600" b="0" i="0">
                <a:solidFill>
                  <a:srgbClr val="1A1440"/>
                </a:solidFill>
                <a:latin typeface="Calibri"/>
              </a:rPr>
              <a:t> Could a team hit this number while riders waited longer?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"peak online hours up 24 percent" stand for, and what happened to six drivers counted by hand, before the city head celebrates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can a driver raise without driving?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data, which of four city numbers needs no rider at all to rise?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Completed peak trips</a:t>
            </a:r>
          </a:p>
          <a:p>
            <a:pPr>
              <a:spcAft>
                <a:spcPts val="800"/>
              </a:spcAft>
            </a:pPr>
            <a:r>
              <a:rPr sz="1600" b="0" i="0">
                <a:solidFill>
                  <a:srgbClr val="1A1440"/>
                </a:solidFill>
                <a:latin typeface="Calibri"/>
              </a:rPr>
              <a:t>b) Peak online hours</a:t>
            </a:r>
          </a:p>
          <a:p>
            <a:pPr>
              <a:spcAft>
                <a:spcPts val="800"/>
              </a:spcAft>
            </a:pPr>
            <a:r>
              <a:rPr sz="1600" b="0" i="0">
                <a:solidFill>
                  <a:srgbClr val="1A1440"/>
                </a:solidFill>
                <a:latin typeface="Calibri"/>
              </a:rPr>
              <a:t>c) Offers accepted over offers shown</a:t>
            </a:r>
          </a:p>
          <a:p>
            <a:pPr>
              <a:spcAft>
                <a:spcPts val="800"/>
              </a:spcAft>
            </a:pPr>
            <a:r>
              <a:rPr sz="1600" b="0" i="0">
                <a:solidFill>
                  <a:srgbClr val="1A1440"/>
                </a:solidFill>
                <a:latin typeface="Calibri"/>
              </a:rPr>
              <a:t>d) Median rider wait at peak</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since the app counts it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peak online hours rise with no rider served?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app logs a driver as online whenever the driver app is open and the driver is marked available, wherever the phone is: in traffic, at home, or parked in a zone with no riders. Trips need a rider who asked, accepted offers need an offer, and the wait is measured on riders. Hours need only an open app.</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The city wants riders picked up faster; it counted hours because hours are easy to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canteen paid per token: tokens double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drift once people are paid for it?</a:t>
            </a:r>
          </a:p>
        </p:txBody>
      </p:sp>
      <p:pic>
        <p:nvPicPr>
          <p:cNvPr id="9" name="mermaid diagram" descr="ef9354611f3c4382.png"/>
          <p:cNvPicPr>
            <a:picLocks noChangeAspect="1"/>
          </p:cNvPicPr>
          <p:nvPr/>
        </p:nvPicPr>
        <p:blipFill>
          <a:blip r:embed="rId5"/>
          <a:stretch>
            <a:fillRect/>
          </a:stretch>
        </p:blipFill>
        <p:spPr>
          <a:xfrm>
            <a:off x="530352" y="1956816"/>
            <a:ext cx="11130991" cy="1855165"/>
          </a:xfrm>
          <a:prstGeom prst="rect">
            <a:avLst/>
          </a:prstGeom>
        </p:spPr>
      </p:pic>
      <p:sp>
        <p:nvSpPr>
          <p:cNvPr id="10" name="Rounded Rectangle 9"/>
          <p:cNvSpPr/>
          <p:nvPr/>
        </p:nvSpPr>
        <p:spPr>
          <a:xfrm>
            <a:off x="530352" y="395828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630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7157"/>
            <a:ext cx="10564063" cy="891540"/>
          </a:xfrm>
          <a:prstGeom prst="rect">
            <a:avLst/>
          </a:prstGeom>
          <a:noFill/>
        </p:spPr>
        <p:txBody>
          <a:bodyPr wrap="square" anchor="ctr" lIns="0" rIns="0" tIns="0" bIns="0">
            <a:spAutoFit/>
          </a:bodyPr>
          <a:lstStyle/>
          <a:p>
            <a:r>
              <a:rPr sz="1500" b="1">
                <a:solidFill>
                  <a:srgbClr val="5B3FD6"/>
                </a:solidFill>
                <a:latin typeface="Calibri"/>
              </a:rPr>
              <a:t>The proxy test. </a:t>
            </a:r>
            <a:r>
              <a:rPr sz="1500" b="0" i="0">
                <a:solidFill>
                  <a:srgbClr val="1A1440"/>
                </a:solidFill>
                <a:latin typeface="Calibri"/>
              </a:rPr>
              <a:t>Could a team hit this number while the thing it stands for got worse, or stayed the same? The canteen's tokens fail it: tokens per plate went from 1.0 to 2.0 and no extra diner ate. The numbers are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real rows of driver_weeks.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The city fell to 1.58; the six fall further because they were chosen to show the mechanism, and two of them, E and F, logged hours with almost no trips, a third of this sample. How common such drivers are in the city is chapter 2's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paid for accounts nobody used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Wells Fargo's cross-sell metric</a:t>
            </a:r>
            <a:r>
              <a:rPr sz="1600" b="0" i="0">
                <a:solidFill>
                  <a:srgbClr val="1A1440"/>
                </a:solidFill>
                <a:latin typeface="Calibri"/>
              </a:rPr>
              <a:t> was the number of accounts and products per retail bank household. It had no usage condition: an unused debit card, the largest product in it, could stay in the count for up to four years. Staff opened accounts customers had not asked for, moved customers' money into new accounts to meet funding rules ("simulated funding"), and changed contact details so customers would miss satisfaction surveys.</a:t>
            </a:r>
          </a:p>
        </p:txBody>
      </p:sp>
      <p:sp>
        <p:nvSpPr>
          <p:cNvPr id="10" name="TextBox 9"/>
          <p:cNvSpPr txBox="1"/>
          <p:nvPr/>
        </p:nvSpPr>
        <p:spPr>
          <a:xfrm>
            <a:off x="530352" y="3686048"/>
            <a:ext cx="3527450" cy="698500"/>
          </a:xfrm>
          <a:prstGeom prst="rect">
            <a:avLst/>
          </a:prstGeom>
          <a:noFill/>
        </p:spPr>
        <p:txBody>
          <a:bodyPr wrap="square" anchor="t" lIns="0" rIns="0" tIns="0" bIns="0">
            <a:spAutoFit/>
          </a:bodyPr>
          <a:lstStyle/>
          <a:p>
            <a:pPr algn="l"/>
            <a:r>
              <a:rPr sz="4400" b="0" i="0">
                <a:solidFill>
                  <a:srgbClr val="5B3FD6"/>
                </a:solidFill>
                <a:latin typeface="Georgia"/>
              </a:rPr>
              <a:t>185</a:t>
            </a:r>
          </a:p>
        </p:txBody>
      </p:sp>
      <p:sp>
        <p:nvSpPr>
          <p:cNvPr id="11" name="TextBox 10"/>
          <p:cNvSpPr txBox="1"/>
          <p:nvPr/>
        </p:nvSpPr>
        <p:spPr>
          <a:xfrm>
            <a:off x="530352" y="44211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MILLION, 2016</a:t>
            </a:r>
          </a:p>
        </p:txBody>
      </p:sp>
      <p:sp>
        <p:nvSpPr>
          <p:cNvPr id="12" name="TextBox 11"/>
          <p:cNvSpPr txBox="1"/>
          <p:nvPr/>
        </p:nvSpPr>
        <p:spPr>
          <a:xfrm>
            <a:off x="530352" y="4622292"/>
            <a:ext cx="3527450" cy="350266"/>
          </a:xfrm>
          <a:prstGeom prst="rect">
            <a:avLst/>
          </a:prstGeom>
          <a:noFill/>
        </p:spPr>
        <p:txBody>
          <a:bodyPr wrap="square" anchor="t" lIns="0" rIns="0" tIns="0" bIns="0">
            <a:spAutoFit/>
          </a:bodyPr>
          <a:lstStyle/>
          <a:p>
            <a:pPr algn="l"/>
            <a:r>
              <a:rPr sz="950" b="0" i="0">
                <a:solidFill>
                  <a:srgbClr val="6B6690"/>
                </a:solidFill>
                <a:latin typeface="Calibri"/>
              </a:rPr>
              <a:t>penalties, after about 1.5 million deposit and 565,000 card accounts may not have been authorised</a:t>
            </a:r>
          </a:p>
        </p:txBody>
      </p:sp>
      <p:sp>
        <p:nvSpPr>
          <p:cNvPr id="13" name="Rectangle 12"/>
          <p:cNvSpPr/>
          <p:nvPr/>
        </p:nvSpPr>
        <p:spPr>
          <a:xfrm>
            <a:off x="530352" y="48747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686048"/>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4332122" y="44211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BILLION, 2020</a:t>
            </a:r>
          </a:p>
        </p:txBody>
      </p:sp>
      <p:sp>
        <p:nvSpPr>
          <p:cNvPr id="16" name="TextBox 15"/>
          <p:cNvSpPr txBox="1"/>
          <p:nvPr/>
        </p:nvSpPr>
        <p:spPr>
          <a:xfrm>
            <a:off x="4332122" y="4622292"/>
            <a:ext cx="3527450" cy="193421"/>
          </a:xfrm>
          <a:prstGeom prst="rect">
            <a:avLst/>
          </a:prstGeom>
          <a:noFill/>
        </p:spPr>
        <p:txBody>
          <a:bodyPr wrap="square" anchor="t" lIns="0" rIns="0" tIns="0" bIns="0">
            <a:spAutoFit/>
          </a:bodyPr>
          <a:lstStyle/>
          <a:p>
            <a:pPr algn="l"/>
            <a:r>
              <a:rPr sz="950" b="0" i="0">
                <a:solidFill>
                  <a:srgbClr val="6B6690"/>
                </a:solidFill>
                <a:latin typeface="Calibri"/>
              </a:rPr>
              <a:t>settlement with the SEC and the Department of Justice</a:t>
            </a:r>
          </a:p>
        </p:txBody>
      </p:sp>
      <p:sp>
        <p:nvSpPr>
          <p:cNvPr id="17" name="Rectangle 16"/>
          <p:cNvSpPr/>
          <p:nvPr/>
        </p:nvSpPr>
        <p:spPr>
          <a:xfrm>
            <a:off x="4332122" y="48747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686048"/>
            <a:ext cx="3527450" cy="698500"/>
          </a:xfrm>
          <a:prstGeom prst="rect">
            <a:avLst/>
          </a:prstGeom>
          <a:noFill/>
        </p:spPr>
        <p:txBody>
          <a:bodyPr wrap="square" anchor="t" lIns="0" rIns="0" tIns="0" bIns="0">
            <a:spAutoFit/>
          </a:bodyPr>
          <a:lstStyle/>
          <a:p>
            <a:pPr algn="l"/>
            <a:r>
              <a:rPr sz="4400" b="0" i="0">
                <a:solidFill>
                  <a:srgbClr val="5B3FD6"/>
                </a:solidFill>
                <a:latin typeface="Georgia"/>
              </a:rPr>
              <a:t>2016</a:t>
            </a:r>
          </a:p>
        </p:txBody>
      </p:sp>
      <p:sp>
        <p:nvSpPr>
          <p:cNvPr id="19" name="TextBox 18"/>
          <p:cNvSpPr txBox="1"/>
          <p:nvPr/>
        </p:nvSpPr>
        <p:spPr>
          <a:xfrm>
            <a:off x="8133892" y="44211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SALES GOALS ENDED</a:t>
            </a:r>
          </a:p>
        </p:txBody>
      </p:sp>
      <p:sp>
        <p:nvSpPr>
          <p:cNvPr id="20" name="TextBox 19"/>
          <p:cNvSpPr txBox="1"/>
          <p:nvPr/>
        </p:nvSpPr>
        <p:spPr>
          <a:xfrm>
            <a:off x="8133892" y="4622292"/>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bank dropped product sales goals for its employees</a:t>
            </a:r>
          </a:p>
        </p:txBody>
      </p:sp>
      <p:sp>
        <p:nvSpPr>
          <p:cNvPr id="21" name="Rectangle 20"/>
          <p:cNvSpPr/>
          <p:nvPr/>
        </p:nvSpPr>
        <p:spPr>
          <a:xfrm>
            <a:off x="8133892" y="48747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5149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the CFPB release of 8 September 2016, the SEC release of 21 February 2020 and the SEC order, Release 34-88257, each checked 12 October 2026.</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1 answered, and what does the board now hold?</a:t>
            </a:r>
          </a:p>
        </p:txBody>
      </p:sp>
      <p:pic>
        <p:nvPicPr>
          <p:cNvPr id="9" name="mermaid diagram" descr="dd9d2bb20f33968f.png"/>
          <p:cNvPicPr>
            <a:picLocks noChangeAspect="1"/>
          </p:cNvPicPr>
          <p:nvPr/>
        </p:nvPicPr>
        <p:blipFill>
          <a:blip r:embed="rId5"/>
          <a:stretch>
            <a:fillRect/>
          </a:stretch>
        </p:blipFill>
        <p:spPr>
          <a:xfrm>
            <a:off x="530352" y="2782110"/>
            <a:ext cx="4786326" cy="2317906"/>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the city totals say over twelve weeks, and which drivers and zones drive the fall, before a proposal goes out to extend the scheme?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the fall is demand?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tables, two units,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603855" y="1664208"/>
            <a:ext cx="698398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every trip over every hour.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c1c41b08b7afe0af.png"/>
          <p:cNvPicPr>
            <a:picLocks noChangeAspect="1"/>
          </p:cNvPicPr>
          <p:nvPr/>
        </p:nvPicPr>
        <p:blipFill>
          <a:blip r:embed="rId5"/>
          <a:stretch>
            <a:fillRect/>
          </a:stretch>
        </p:blipFill>
        <p:spPr>
          <a:xfrm>
            <a:off x="3432973" y="1664208"/>
            <a:ext cx="5325748" cy="2295144"/>
          </a:xfrm>
          <a:prstGeom prst="rect">
            <a:avLst/>
          </a:prstGeom>
        </p:spPr>
      </p:pic>
      <p:sp>
        <p:nvSpPr>
          <p:cNvPr id="10" name="Rounded Rectangle 9"/>
          <p:cNvSpPr/>
          <p:nvPr/>
        </p:nvSpPr>
        <p:spPr>
          <a:xfrm>
            <a:off x="530352" y="40050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so it hides two-fifths of the fall (0.19 of 0.32). It gives a 10-hour driver-week the same weight as a 42-hour one, and the drivers who sat online longest are the ones whose rate fell most.</a:t>
            </a:r>
          </a:p>
        </p:txBody>
      </p:sp>
      <p:sp>
        <p:nvSpPr>
          <p:cNvPr id="13" name="TextBox 12"/>
          <p:cNvSpPr txBox="1"/>
          <p:nvPr/>
        </p:nvSpPr>
        <p:spPr>
          <a:xfrm>
            <a:off x="530352" y="52440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drivers are invented. </a:t>
            </a:r>
            <a:r>
              <a:rPr sz="1600" b="1" i="0">
                <a:solidFill>
                  <a:srgbClr val="1A1440"/>
                </a:solidFill>
                <a:latin typeface="Calibri"/>
              </a:rPr>
              <a:t>The decision it would mislead:</a:t>
            </a:r>
            <a:r>
              <a:rPr sz="1600" b="0" i="0">
                <a:solidFill>
                  <a:srgbClr val="1A1440"/>
                </a:solidFill>
                <a:latin typeface="Calibri"/>
              </a:rPr>
              <a:t> a fall that looks a third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trips per peak online hour as a ratio of sums, the denominator named.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writes each denominator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89" cy="1627632"/>
        </p:xfrm>
        <a:graphic>
          <a:graphicData uri="http://schemas.openxmlformats.org/drawingml/2006/table">
            <a:tbl>
              <a:tblPr firstRow="0" bandRow="0">
                <a:tableStyleId>{2D5ABB26-0587-4C30-8999-92F81FD0307C}</a:tableStyleId>
              </a:tblPr>
              <a:tblGrid>
                <a:gridCol w="2669877"/>
                <a:gridCol w="4509250"/>
                <a:gridCol w="1537582"/>
                <a:gridCol w="2414280"/>
              </a:tblGrid>
              <a:tr h="542544">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 or unit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transacting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84048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(its shareholder letter filed with the exchange, checked 12 October 2026).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 counted one crowd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one crowd give three numbers, none of them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27 lakh</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RIDERS A DAY, FEBRUARY 2018</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gate count: one entry and one exit, one rider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45,35,932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UTILISATION, 29 MAY 2018</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line ridden counts: three lines, three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82,44,903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BOARDINGS, 17 SEPTEMBER 2026</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record day, in a third unit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DMRC began counting "line utilisation": a rider from Noida City Centre to HUDA City Centre on three lines counts three, where the gate count counts one (PTI). In 2026 the figures arrive as 64.06 lakh average daily "journeys" (The Tribune) and the record "boardings" above (Republic World); all checked 12 October 2026. A definition can move a number without moving the crowd.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15 percent, sat idle online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82747" y="1664208"/>
            <a:ext cx="6426200"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180 drivers, 15 percent: the </a:t>
            </a:r>
            <a:r>
              <a:rPr sz="1500" b="1" i="0">
                <a:solidFill>
                  <a:srgbClr val="1A1440"/>
                </a:solidFill>
                <a:latin typeface="Calibri"/>
              </a:rPr>
              <a:t>idle tail</a:t>
            </a:r>
            <a:r>
              <a:rPr sz="1500" b="0" i="0">
                <a:solidFill>
                  <a:srgbClr val="1A1440"/>
                </a:solidFill>
                <a:latin typeface="Calibri"/>
              </a:rPr>
              <a:t>. Hours 2.1 times, trips down 12 percent, 72 percent of the new hours in the outer zones. The six held two of them, a third of the sample against 15 percent city-wide.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answered, and what does the board now hold?</a:t>
            </a:r>
          </a:p>
        </p:txBody>
      </p:sp>
      <p:pic>
        <p:nvPicPr>
          <p:cNvPr id="9" name="mermaid diagram" descr="65b801dab7c3dbec.png"/>
          <p:cNvPicPr>
            <a:picLocks noChangeAspect="1"/>
          </p:cNvPicPr>
          <p:nvPr/>
        </p:nvPicPr>
        <p:blipFill>
          <a:blip r:embed="rId5"/>
          <a:stretch>
            <a:fillRect/>
          </a:stretch>
        </p:blipFill>
        <p:spPr>
          <a:xfrm>
            <a:off x="2803402" y="1664208"/>
            <a:ext cx="6584889"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number should the scheme pay for, which guardrails stop the gaming, and what can the data not show, before the city head decides on Friday?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scheme paid for one number, which would make the most drivers drive?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an acceptance floor beside it</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pay for the service and catch the cherry-picking.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925764"/>
            <a:ext cx="8815387" cy="2543175"/>
          </a:xfrm>
          <a:prstGeom prst="rect">
            <a:avLst/>
          </a:prstGeom>
        </p:spPr>
      </p:pic>
      <p:sp>
        <p:nvSpPr>
          <p:cNvPr id="10" name="Rounded Rectangle 9"/>
          <p:cNvSpPr/>
          <p:nvPr/>
        </p:nvSpPr>
        <p:spPr>
          <a:xfrm>
            <a:off x="530352" y="461524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4325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34115"/>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81d4f9e0d7d09345.png"/>
          <p:cNvPicPr>
            <a:picLocks noChangeAspect="1"/>
          </p:cNvPicPr>
          <p:nvPr/>
        </p:nvPicPr>
        <p:blipFill>
          <a:blip r:embed="rId5"/>
          <a:stretch>
            <a:fillRect/>
          </a:stretch>
        </p:blipFill>
        <p:spPr>
          <a:xfrm>
            <a:off x="2711323" y="1664208"/>
            <a:ext cx="676904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The north star</a:t>
            </a:r>
            <a:r>
              <a:rPr sz="1600" b="0" i="0">
                <a:solidFill>
                  <a:srgbClr val="1A1440"/>
                </a:solidFill>
                <a:latin typeface="Calibri"/>
              </a:rPr>
              <a:t> names the outcome the scheme exists for. </a:t>
            </a:r>
            <a:r>
              <a:rPr sz="1600" b="1" i="0">
                <a:solidFill>
                  <a:srgbClr val="1A1440"/>
                </a:solidFill>
                <a:latin typeface="Calibri"/>
              </a:rPr>
              <a:t>Guardrails</a:t>
            </a:r>
            <a:r>
              <a:rPr sz="1600" b="0" i="0">
                <a:solidFill>
                  <a:srgbClr val="1A1440"/>
                </a:solidFill>
                <a:latin typeface="Calibri"/>
              </a:rPr>
              <a:t> name the ways of hitting it that hurt riders or the budget. </a:t>
            </a:r>
            <a:r>
              <a:rPr sz="1600" b="1" i="0">
                <a:solidFill>
                  <a:srgbClr val="1A1440"/>
                </a:solidFill>
                <a:latin typeface="Calibri"/>
              </a:rPr>
              <a:t>Inputs</a:t>
            </a:r>
            <a:r>
              <a:rPr sz="1600" b="0" i="0">
                <a:solidFill>
                  <a:srgbClr val="1A1440"/>
                </a:solidFill>
                <a:latin typeface="Calibri"/>
              </a:rPr>
              <a:t> are what the city team can move this week before the north star catches up. Read the north star and its guardrails as a </a:t>
            </a:r>
            <a:r>
              <a:rPr sz="1600" b="1" i="0">
                <a:solidFill>
                  <a:srgbClr val="1A1440"/>
                </a:solidFill>
                <a:latin typeface="Calibri"/>
              </a:rPr>
              <a:t>seesaw</a:t>
            </a:r>
            <a:r>
              <a:rPr sz="1600" b="0" i="0">
                <a:solidFill>
                  <a:srgbClr val="1A1440"/>
                </a:solidFill>
                <a:latin typeface="Calibri"/>
              </a:rPr>
              <a:t>: when the north star rises and a guardrail drops, the rise was bought.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have warned the city team in the first week?</a:t>
            </a:r>
          </a:p>
        </p:txBody>
      </p:sp>
      <p:pic>
        <p:nvPicPr>
          <p:cNvPr id="9" name="mermaid diagram" descr="C2_W04_D01_lead_STUDENT.png"/>
          <p:cNvPicPr>
            <a:picLocks noChangeAspect="1"/>
          </p:cNvPicPr>
          <p:nvPr/>
        </p:nvPicPr>
        <p:blipFill>
          <a:blip r:embed="rId4"/>
          <a:stretch>
            <a:fillRect/>
          </a:stretch>
        </p:blipFill>
        <p:spPr>
          <a:xfrm>
            <a:off x="2340090" y="1664208"/>
            <a:ext cx="751151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leading</a:t>
            </a:r>
            <a:r>
              <a:rPr sz="1600" b="0" i="0">
                <a:solidFill>
                  <a:srgbClr val="1A1440"/>
                </a:solidFill>
                <a:latin typeface="Calibri"/>
              </a:rPr>
              <a:t> input moves before the number the plan is judged on; a </a:t>
            </a:r>
            <a:r>
              <a:rPr sz="1600" b="1" i="0">
                <a:solidFill>
                  <a:srgbClr val="1A1440"/>
                </a:solidFill>
                <a:latin typeface="Calibri"/>
              </a:rPr>
              <a:t>lagging</a:t>
            </a:r>
            <a:r>
              <a:rPr sz="1600" b="0" i="0">
                <a:solidFill>
                  <a:srgbClr val="1A1440"/>
                </a:solidFill>
                <a:latin typeface="Calibri"/>
              </a:rPr>
              <a:t> one confirms it later. Acceptance fell to its new level in the launch week (0.729); bookings per online hour fell to Rs 271 that week and kept falling to Rs 259 by the third. A city team watching acceptance would have seen the gaming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The redesign's definition</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Trips completed inside the peak windows, counted per paying rider, as Uber's own filing counts trips</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Hours online, offers declined, a shrinking enrolled base</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Accepted share at or above a floor the city sets; median rider wait; top-up per completed trip</a:t>
                      </a:r>
                    </a:p>
                  </a:txBody>
                  <a:tcPr marL="101600" marR="101600" marT="38100" marB="38100" anchor="ctr">
                    <a:solidFill>
                      <a:srgbClr val="F4F2FA"/>
                    </a:solidFill>
                  </a:tcPr>
                </a:tc>
              </a:tr>
              <a:tr h="335280">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Each guardrail names the way of hitting the north star it catches</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 let the measured set the clock's start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people being measured control where a window begins?</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US Department of Veterans Affairs measured patient wait from a "desired date" that schedulers entered. At its Phoenix facility, of 79 staff interviewed, 30 said they had used the wrong desired date, producing false zero-day waits, and 11 said they "fixed" waits over 14 days by rebooking with a later desired date. After the Inspector General's interim report, the 14-day goal was removed from employee performance contracts (VA OIG report 14-02603-267, August 2014, checked 12 October 2026).</a:t>
            </a:r>
          </a:p>
        </p:txBody>
      </p:sp>
      <p:sp>
        <p:nvSpPr>
          <p:cNvPr id="10" name="Rounded Rectangle 9"/>
          <p:cNvSpPr/>
          <p:nvPr/>
        </p:nvSpPr>
        <p:spPr>
          <a:xfrm>
            <a:off x="530352" y="36860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140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04920"/>
            <a:ext cx="10564063" cy="624840"/>
          </a:xfrm>
          <a:prstGeom prst="rect">
            <a:avLst/>
          </a:prstGeom>
          <a:noFill/>
        </p:spPr>
        <p:txBody>
          <a:bodyPr wrap="square" anchor="ctr" lIns="0" rIns="0" tIns="0" bIns="0">
            <a:spAutoFit/>
          </a:bodyPr>
          <a:lstStyle/>
          <a:p>
            <a:r>
              <a:rPr sz="1500" b="1">
                <a:solidFill>
                  <a:srgbClr val="5B3FD6"/>
                </a:solidFill>
                <a:latin typeface="Calibri"/>
              </a:rPr>
              <a:t>The parallel. </a:t>
            </a:r>
            <a:r>
              <a:rPr sz="1500" b="0" i="0">
                <a:solidFill>
                  <a:srgbClr val="1A1440"/>
                </a:solidFill>
                <a:latin typeface="Calibri"/>
              </a:rPr>
              <a:t>A driver decides when the app is open, so the driver sets the start of every online hour. A definition that pays per online hour hands the clock to the person it pays.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523003" y="1664208"/>
            <a:ext cx="7145688"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busiest weeks of the twelve, the first three after the launch, it was already 1.60, which bounds the monsoon argument. In the core zones it fell from 1.90 to 1.79, so the fall sits mostly in the thin outer zones. Three doubts stay open: drivers on two apps (Uber cannot see the other app, and the data holds weeks, not hours), who chose to enrol (every driver in these tables enrolled),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6d1f63feeb8caadd.png"/>
          <p:cNvPicPr>
            <a:picLocks noChangeAspect="1"/>
          </p:cNvPicPr>
          <p:nvPr/>
        </p:nvPicPr>
        <p:blipFill>
          <a:blip r:embed="rId5"/>
          <a:stretch>
            <a:fillRect/>
          </a:stretch>
        </p:blipFill>
        <p:spPr>
          <a:xfrm>
            <a:off x="1157522" y="1664208"/>
            <a:ext cx="987665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by acceptance, the rider's wait and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afternoon: three rounds become one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after lunch,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30 MINUTES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Each group writes the redesign's definition and prices the saving; the three roles attack it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interview room</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transcript read in pairs and scored, then the AI-company variant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items, one returning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120 MINUTES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IITGN faculty block (tentative)</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Designing the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Kalpa Retail, TA-led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same method on the head of Retail-Plus's growth number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