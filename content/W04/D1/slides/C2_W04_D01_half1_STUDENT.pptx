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Meera's growth plan after Kalpa Health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Then read the running order the table and the line under it</a:t>
            </a:r>
          </a:p>
          <a:p>
            <a:r>
              <a:t>give: the opening, the six chapters, the break, chapters 7 to 9 to lunch, chapters 10 and 11 and the</a:t>
            </a:r>
          </a:p>
          <a:p>
            <a:r>
              <a:t>20-minute close, then the IITGN faculty session (tentative), or the metric clinic in its place. The</a:t>
            </a:r>
          </a:p>
          <a:p>
            <a:r>
              <a:t>row's own Kalpa scenario, Meera's growth plan and the three numbers its teams propose, runs in the</a:t>
            </a:r>
          </a:p>
          <a:p>
            <a:r>
              <a:t>practice lab on the same method.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its guardrails from chapter 2. The Uber box says which case</a:t>
            </a:r>
          </a:p>
          <a:p>
            <a:r>
              <a:t>chapter applies which topic. On the slide all six are lit as today's topics; on the board, draw them</a:t>
            </a:r>
          </a:p>
          <a:p>
            <a:r>
              <a:t>unlit and light each as its chapter closes.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is the row's subtopic, word for word. Every number in this</a:t>
            </a:r>
          </a:p>
          <a:p>
            <a:r>
              <a:t>chapter except the bank's on its last slide is 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no better.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kitchen did; the</a:t>
            </a:r>
          </a:p>
          <a:p>
            <a:r>
              <a:t>last 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Ask the proxy-test set's</a:t>
            </a:r>
          </a:p>
          <a:p>
            <a:r>
              <a:t>first item aloud (exercises/unguided/C2_W04_D01_proxy_test_set_STUDENT.md, Q1), take letters, then</a:t>
            </a:r>
          </a:p>
          <a:p>
            <a:r>
              <a:t>say the key and one reason from its solution file; Q2 and Q3 wait for the practice lab. Transition:</a:t>
            </a:r>
          </a:p>
          <a:p>
            <a:r>
              <a:t>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numbers (products sold, on</a:t>
            </a:r>
          </a:p>
          <a:p>
            <a:r>
              <a:t>which the CFPB says staff chased "sales targets" and "bonuses", and the cross-sell number, products</a:t>
            </a:r>
          </a:p>
          <a:p>
            <a:r>
              <a:t>per household, which investors read), the missing condition (nobody had to use the account), what it cost (USD 185 million in</a:t>
            </a:r>
          </a:p>
          <a:p>
            <a:r>
              <a:t>2016: the CFPB's USD 100 million, the OCC's USD 35 million and Los Angeles's USD 50 million, all named</a:t>
            </a:r>
          </a:p>
          <a:p>
            <a:r>
              <a:t>in the CFPB's release;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north-star set's first item aloud (exercises/unguided/</a:t>
            </a:r>
          </a:p>
          <a:p>
            <a:r>
              <a:t>C2_W04_D01_north_star_guardrails_set_STUDENT.md, Q1), take letters, then say the key and one reason.</a:t>
            </a:r>
          </a:p>
          <a:p>
            <a:r>
              <a:t>Transition: two companies whose headline 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company chose a headline number that matched what it was trying to do;</a:t>
            </a:r>
          </a:p>
          <a:p>
            <a:r>
              <a:t>neither letter says a number was used badly, so do not say it either. Swiggy's and Eternal's</a:t>
            </a:r>
          </a:p>
          <a:p>
            <a:r>
              <a:t>financial years start in April, so Q1 FY26 is the quarter to 30 June 2025 and Q1 FY27 the quarter to</a:t>
            </a:r>
          </a:p>
          <a:p>
            <a:r>
              <a:t>30 June 2026.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fill the table row by row aloud. The runs in overs 11 to 20</a:t>
            </a:r>
          </a:p>
          <a:p>
            <a:r>
              <a:t>are 7, 8, 9, 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leading-lagging set's first item aloud: the eight Kalpa numbers,</a:t>
            </a:r>
          </a:p>
          <a:p>
            <a:r>
              <a:t>called leading or lagging by letter, then say the key and one reason; two learners defend one call</a:t>
            </a:r>
          </a:p>
          <a:p>
            <a:r>
              <a:t>each in a sentence,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divide each row aloud, one clerk a row. Every reading is</a:t>
            </a:r>
          </a:p>
          <a:p>
            <a:r>
              <a:t>honest; each answers a different question, and only a written definition says which one the</a:t>
            </a:r>
          </a:p>
          <a:p>
            <a:r>
              <a:t>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definition-lines set's first item aloud</a:t>
            </a:r>
          </a:p>
          <a:p>
            <a:r>
              <a:t>(exercises/unguided/C2_W04_D01_four_definition_lines_set_STUDENT.md, Q1), take letters, then say the</a:t>
            </a:r>
          </a:p>
          <a:p>
            <a:r>
              <a:t>key and one reason. Transition: a company that 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the</a:t>
            </a:r>
          </a:p>
          <a:p>
            <a:r>
              <a:t>exclusions column is read from the filed words, since "completed" leaves out every order that was</a:t>
            </a:r>
          </a:p>
          <a:p>
            <a:r>
              <a:t>not.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PTI's copy gives February's "nearly 27 lakh commuters ...</a:t>
            </a:r>
          </a:p>
          <a:p>
            <a:r>
              <a:t>daily", the 29 May line utilisation, and that DMRC "did not share the daily average ridership</a:t>
            </a:r>
          </a:p>
          <a:p>
            <a:r>
              <a:t>figures" after the new section opened, ridership having "taken a hit after two fare hikes in 2017":</a:t>
            </a:r>
          </a:p>
          <a:p>
            <a:r>
              <a:t>a new count printed without the old one beside it, which is why chapter 5 dates every change.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its two kinds, false reporting and steered work; the people</a:t>
            </a:r>
          </a:p>
          <a:p>
            <a:r>
              <a:t>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across each row. Wells Fargo: in the SEC's order, global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gaming set's first item aloud</a:t>
            </a:r>
          </a:p>
          <a:p>
            <a:r>
              <a:t>(exercises/unguided/C2_W04_D01_gaming_set_STUDENT.md, Q1), take letters, then say the key and one</a:t>
            </a:r>
          </a:p>
          <a:p>
            <a:r>
              <a:t>reason.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Once the numerator needs an OTP, a press at the gate pays nothing, so complaints</a:t>
            </a:r>
          </a:p>
          <a:p>
            <a:r>
              <a:t>watch for the move that is left: the OTP taken over the phone.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lines in public: a US quality measure's specification lists its</a:t>
            </a:r>
          </a:p>
          <a:p>
            <a:r>
              <a:t>numerator, denominator, exclusions and time interval among its building blocks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whose gaming</a:t>
            </a:r>
          </a:p>
          <a:p>
            <a:r>
              <a:t>note names nothing it catches.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artifact set's first item aloud</a:t>
            </a:r>
          </a:p>
          <a:p>
            <a:r>
              <a:t>(exercises/unguided/C2_W04_D01_artifact_set_STUDENT.md, Q1), take letters, then say the key and one</a:t>
            </a:r>
          </a:p>
          <a:p>
            <a:r>
              <a:t>reason.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war game's round 1 (run sheet: trainer/C2_W04_D01_war_game_TRAINER.md).</a:t>
            </a:r>
          </a:p>
          <a:p>
            <a:r>
              <a:t>The trainer voices the three role cards, or three learners read them. Each of the nine groups has</a:t>
            </a:r>
          </a:p>
          <a:p>
            <a:r>
              <a:t>two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ask who</a:t>
            </a:r>
          </a:p>
          <a:p>
            <a:r>
              <a:t>decides when the app is open; drivers E and F wait for S60.</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 Name round</a:t>
            </a:r>
          </a:p>
          <a:p>
            <a:r>
              <a:t>2 once: chapters 7 to 9 answer each of round 1's attacks with the data, one board region at a time.</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StatQuest: say each number aloud. Add the hours column for the before week (60)</a:t>
            </a:r>
          </a:p>
          <a:p>
            <a:r>
              <a:t>and the after week (74), then the trips (114 and 88), writing the four sums on the board. Point at</a:t>
            </a:r>
          </a:p>
          <a:p>
            <a:r>
              <a:t>E and F before saying anything about them: hours up, few offers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scroll back to the notebook's totals cell, the first after its setup,</a:t>
            </a:r>
          </a:p>
          <a:p>
            <a:r>
              <a:t>and run it line by line, saying what each line is for; its numbers are the ticket's, so running it</a:t>
            </a:r>
          </a:p>
          <a:p>
            <a:r>
              <a:t>before S65 spoils nothing.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a rate is two sums divided once.</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Chapter 10, round 3 of the war game after lunch, prices the saving</a:t>
            </a:r>
          </a:p>
          <a:p>
            <a:r>
              <a:t>under a stated range, in notebook 10.</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wait's clock starts at the rider's request, never at a time a driver sets,</a:t>
            </a:r>
          </a:p>
          <a:p>
            <a:r>
              <a:t>chapter 5's 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chapter 10,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number the head of Retail-Plus, Kalpa's paid membership tier, wants.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Oval 3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2" name="Oval 4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07032"/>
          <a:ext cx="11130990" cy="3108960"/>
        </p:xfrm>
        <a:graphic>
          <a:graphicData uri="http://schemas.openxmlformats.org/drawingml/2006/table">
            <a:tbl>
              <a:tblPr firstRow="0" bandRow="0">
                <a:tableStyleId>{2D5ABB26-0587-4C30-8999-92F81FD0307C}</a:tableStyleId>
              </a:tblPr>
              <a:tblGrid>
                <a:gridCol w="914400"/>
                <a:gridCol w="7381827"/>
                <a:gridCol w="1920363"/>
                <a:gridCol w="914400"/>
              </a:tblGrid>
              <a:tr h="310896">
                <a:tc>
                  <a:txBody>
                    <a:bodyPr/>
                    <a:lstStyle/>
                    <a:p>
                      <a:r>
                        <a:rPr sz="1050" b="1" i="0">
                          <a:solidFill>
                            <a:srgbClr val="FFFFFF"/>
                          </a:solidFill>
                          <a:latin typeface="Calibri"/>
                        </a:rPr>
                        <a:t>Chapter</a:t>
                      </a:r>
                    </a:p>
                  </a:txBody>
                  <a:tcPr marL="101600" marR="101600" marT="38100" marB="38100" anchor="ctr">
                    <a:solidFill>
                      <a:srgbClr val="1A0F5C"/>
                    </a:solidFill>
                  </a:tcPr>
                </a:tc>
                <a:tc>
                  <a:txBody>
                    <a:bodyPr/>
                    <a:lstStyle/>
                    <a:p>
                      <a:r>
                        <a:rPr sz="10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050" b="1" i="0">
                          <a:solidFill>
                            <a:srgbClr val="FFFFFF"/>
                          </a:solidFill>
                          <a:latin typeface="Calibri"/>
                        </a:rPr>
                        <a:t>Minutes</a:t>
                      </a:r>
                    </a:p>
                  </a:txBody>
                  <a:tcPr marL="101600" marR="101600" marT="38100" marB="38100" anchor="ctr">
                    <a:solidFill>
                      <a:srgbClr val="1A0F5C"/>
                    </a:solidFill>
                  </a:tcPr>
                </a:tc>
                <a:tc>
                  <a:txBody>
                    <a:bodyPr/>
                    <a:lstStyle/>
                    <a:p>
                      <a:r>
                        <a:rPr sz="1050" b="1" i="0">
                          <a:solidFill>
                            <a:srgbClr val="FFFFFF"/>
                          </a:solidFill>
                          <a:latin typeface="Calibri"/>
                        </a:rPr>
                        <a:t>Notebook</a:t>
                      </a:r>
                    </a:p>
                  </a:txBody>
                  <a:tcPr marL="101600" marR="101600" marT="38100" marB="38100" anchor="ctr">
                    <a:solidFill>
                      <a:srgbClr val="1A0F5C"/>
                    </a:solidFill>
                  </a:tcPr>
                </a:tc>
              </a:tr>
              <a:tr h="310896">
                <a:tc>
                  <a:txBody>
                    <a:bodyPr/>
                    <a:lstStyle/>
                    <a:p>
                      <a:r>
                        <a:rPr sz="1000" b="0" i="0">
                          <a:solidFill>
                            <a:srgbClr val="1A1440"/>
                          </a:solidFill>
                          <a:latin typeface="Calibri"/>
                        </a:rPr>
                        <a:t>1</a:t>
                      </a:r>
                    </a:p>
                  </a:txBody>
                  <a:tcPr marL="101600" marR="101600" marT="38100" marB="38100" anchor="ctr">
                    <a:solidFill>
                      <a:srgbClr val="FFFFFF"/>
                    </a:solidFill>
                  </a:tcPr>
                </a:tc>
                <a:tc>
                  <a:txBody>
                    <a:bodyPr/>
                    <a:lstStyle/>
                    <a:p>
                      <a:r>
                        <a:rPr sz="10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000" b="0" i="0">
                          <a:solidFill>
                            <a:srgbClr val="1A1440"/>
                          </a:solidFill>
                          <a:latin typeface="Calibri"/>
                        </a:rPr>
                        <a:t>13 minutes</a:t>
                      </a:r>
                    </a:p>
                  </a:txBody>
                  <a:tcPr marL="101600" marR="101600" marT="38100" marB="38100" anchor="ctr">
                    <a:solidFill>
                      <a:srgbClr val="FFFFFF"/>
                    </a:solidFill>
                  </a:tcPr>
                </a:tc>
                <a:tc>
                  <a:txBody>
                    <a:bodyPr/>
                    <a:lstStyle/>
                    <a:p>
                      <a:r>
                        <a:rPr sz="1000" b="0" i="0">
                          <a:solidFill>
                            <a:srgbClr val="1A1440"/>
                          </a:solidFill>
                          <a:latin typeface="Calibri"/>
                        </a:rPr>
                        <a:t>01</a:t>
                      </a:r>
                    </a:p>
                  </a:txBody>
                  <a:tcPr marL="101600" marR="101600" marT="38100" marB="38100" anchor="ctr">
                    <a:solidFill>
                      <a:srgbClr val="FFFFFF"/>
                    </a:solidFill>
                  </a:tcPr>
                </a:tc>
              </a:tr>
              <a:tr h="310896">
                <a:tc>
                  <a:txBody>
                    <a:bodyPr/>
                    <a:lstStyle/>
                    <a:p>
                      <a:r>
                        <a:rPr sz="1000" b="0" i="0">
                          <a:solidFill>
                            <a:srgbClr val="1A1440"/>
                          </a:solidFill>
                          <a:latin typeface="Calibri"/>
                        </a:rPr>
                        <a:t>2</a:t>
                      </a:r>
                    </a:p>
                  </a:txBody>
                  <a:tcPr marL="101600" marR="101600" marT="38100" marB="38100" anchor="ctr">
                    <a:solidFill>
                      <a:srgbClr val="F4F2FA"/>
                    </a:solidFill>
                  </a:tcPr>
                </a:tc>
                <a:tc>
                  <a:txBody>
                    <a:bodyPr/>
                    <a:lstStyle/>
                    <a:p>
                      <a:r>
                        <a:rPr sz="10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02</a:t>
                      </a:r>
                    </a:p>
                  </a:txBody>
                  <a:tcPr marL="101600" marR="101600" marT="38100" marB="38100" anchor="ctr">
                    <a:solidFill>
                      <a:srgbClr val="F4F2FA"/>
                    </a:solidFill>
                  </a:tcPr>
                </a:tc>
              </a:tr>
              <a:tr h="310896">
                <a:tc>
                  <a:txBody>
                    <a:bodyPr/>
                    <a:lstStyle/>
                    <a:p>
                      <a:r>
                        <a:rPr sz="1000" b="0" i="0">
                          <a:solidFill>
                            <a:srgbClr val="1A1440"/>
                          </a:solidFill>
                          <a:latin typeface="Calibri"/>
                        </a:rPr>
                        <a:t>3</a:t>
                      </a:r>
                    </a:p>
                  </a:txBody>
                  <a:tcPr marL="101600" marR="101600" marT="38100" marB="38100" anchor="ctr">
                    <a:solidFill>
                      <a:srgbClr val="FFFFFF"/>
                    </a:solidFill>
                  </a:tcPr>
                </a:tc>
                <a:tc>
                  <a:txBody>
                    <a:bodyPr/>
                    <a:lstStyle/>
                    <a:p>
                      <a:r>
                        <a:rPr sz="10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03</a:t>
                      </a:r>
                    </a:p>
                  </a:txBody>
                  <a:tcPr marL="101600" marR="101600" marT="38100" marB="38100" anchor="ctr">
                    <a:solidFill>
                      <a:srgbClr val="FFFFFF"/>
                    </a:solidFill>
                  </a:tcPr>
                </a:tc>
              </a:tr>
              <a:tr h="310896">
                <a:tc>
                  <a:txBody>
                    <a:bodyPr/>
                    <a:lstStyle/>
                    <a:p>
                      <a:r>
                        <a:rPr sz="1000" b="0" i="0">
                          <a:solidFill>
                            <a:srgbClr val="1A1440"/>
                          </a:solidFill>
                          <a:latin typeface="Calibri"/>
                        </a:rPr>
                        <a:t>4</a:t>
                      </a:r>
                    </a:p>
                  </a:txBody>
                  <a:tcPr marL="101600" marR="101600" marT="38100" marB="38100" anchor="ctr">
                    <a:solidFill>
                      <a:srgbClr val="F4F2FA"/>
                    </a:solidFill>
                  </a:tcPr>
                </a:tc>
                <a:tc>
                  <a:txBody>
                    <a:bodyPr/>
                    <a:lstStyle/>
                    <a:p>
                      <a:r>
                        <a:rPr sz="10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04</a:t>
                      </a:r>
                    </a:p>
                  </a:txBody>
                  <a:tcPr marL="101600" marR="101600" marT="38100" marB="38100" anchor="ctr">
                    <a:solidFill>
                      <a:srgbClr val="F4F2FA"/>
                    </a:solidFill>
                  </a:tcPr>
                </a:tc>
              </a:tr>
              <a:tr h="310896">
                <a:tc>
                  <a:txBody>
                    <a:bodyPr/>
                    <a:lstStyle/>
                    <a:p>
                      <a:r>
                        <a:rPr sz="1000" b="0" i="0">
                          <a:solidFill>
                            <a:srgbClr val="1A1440"/>
                          </a:solidFill>
                          <a:latin typeface="Calibri"/>
                        </a:rPr>
                        <a:t>5</a:t>
                      </a:r>
                    </a:p>
                  </a:txBody>
                  <a:tcPr marL="101600" marR="101600" marT="38100" marB="38100" anchor="ctr">
                    <a:solidFill>
                      <a:srgbClr val="FFFFFF"/>
                    </a:solidFill>
                  </a:tcPr>
                </a:tc>
                <a:tc>
                  <a:txBody>
                    <a:bodyPr/>
                    <a:lstStyle/>
                    <a:p>
                      <a:r>
                        <a:rPr sz="10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05</a:t>
                      </a:r>
                    </a:p>
                  </a:txBody>
                  <a:tcPr marL="101600" marR="101600" marT="38100" marB="38100" anchor="ctr">
                    <a:solidFill>
                      <a:srgbClr val="FFFFFF"/>
                    </a:solidFill>
                  </a:tcPr>
                </a:tc>
              </a:tr>
              <a:tr h="310896">
                <a:tc>
                  <a:txBody>
                    <a:bodyPr/>
                    <a:lstStyle/>
                    <a:p>
                      <a:r>
                        <a:rPr sz="1000" b="0" i="0">
                          <a:solidFill>
                            <a:srgbClr val="1A1440"/>
                          </a:solidFill>
                          <a:latin typeface="Calibri"/>
                        </a:rPr>
                        <a:t>6</a:t>
                      </a:r>
                    </a:p>
                  </a:txBody>
                  <a:tcPr marL="101600" marR="101600" marT="38100" marB="38100" anchor="ctr">
                    <a:solidFill>
                      <a:srgbClr val="F4F2FA"/>
                    </a:solidFill>
                  </a:tcPr>
                </a:tc>
                <a:tc>
                  <a:txBody>
                    <a:bodyPr/>
                    <a:lstStyle/>
                    <a:p>
                      <a:r>
                        <a:rPr sz="10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06</a:t>
                      </a:r>
                    </a:p>
                  </a:txBody>
                  <a:tcPr marL="101600" marR="101600" marT="38100" marB="38100" anchor="ctr">
                    <a:solidFill>
                      <a:srgbClr val="F4F2FA"/>
                    </a:solidFill>
                  </a:tcPr>
                </a:tc>
              </a:tr>
              <a:tr h="310896">
                <a:tc>
                  <a:txBody>
                    <a:bodyPr/>
                    <a:lstStyle/>
                    <a:p>
                      <a:r>
                        <a:rPr sz="1000" b="0" i="0">
                          <a:solidFill>
                            <a:srgbClr val="1A1440"/>
                          </a:solidFill>
                          <a:latin typeface="Calibri"/>
                        </a:rPr>
                        <a:t>7 to 9</a:t>
                      </a:r>
                    </a:p>
                  </a:txBody>
                  <a:tcPr marL="101600" marR="101600" marT="38100" marB="38100" anchor="ctr">
                    <a:solidFill>
                      <a:srgbClr val="FFFFFF"/>
                    </a:solidFill>
                  </a:tcPr>
                </a:tc>
                <a:tc>
                  <a:txBody>
                    <a:bodyPr/>
                    <a:lstStyle/>
                    <a:p>
                      <a:r>
                        <a:rPr sz="1000" b="0" i="0">
                          <a:solidFill>
                            <a:srgbClr val="1A1440"/>
                          </a:solidFill>
                          <a:latin typeface="Calibri"/>
                        </a:rPr>
                        <a:t>The case: Uber's Hyderabad peak-hour guarantee, after a 10-minute break</a:t>
                      </a:r>
                    </a:p>
                  </a:txBody>
                  <a:tcPr marL="101600" marR="101600" marT="38100" marB="38100" anchor="ctr">
                    <a:solidFill>
                      <a:srgbClr val="FFFFFF"/>
                    </a:solidFill>
                  </a:tcPr>
                </a:tc>
                <a:tc>
                  <a:txBody>
                    <a:bodyPr/>
                    <a:lstStyle/>
                    <a:p>
                      <a:r>
                        <a:rPr sz="1000" b="0" i="0">
                          <a:solidFill>
                            <a:srgbClr val="1A1440"/>
                          </a:solidFill>
                          <a:latin typeface="Calibri"/>
                        </a:rPr>
                        <a:t>100 minutes</a:t>
                      </a:r>
                    </a:p>
                  </a:txBody>
                  <a:tcPr marL="101600" marR="101600" marT="38100" marB="38100" anchor="ctr">
                    <a:solidFill>
                      <a:srgbClr val="FFFFFF"/>
                    </a:solidFill>
                  </a:tcPr>
                </a:tc>
                <a:tc>
                  <a:txBody>
                    <a:bodyPr/>
                    <a:lstStyle/>
                    <a:p>
                      <a:r>
                        <a:rPr sz="1000" b="0" i="0">
                          <a:solidFill>
                            <a:srgbClr val="1A1440"/>
                          </a:solidFill>
                          <a:latin typeface="Calibri"/>
                        </a:rPr>
                        <a:t>07 to 09</a:t>
                      </a:r>
                    </a:p>
                  </a:txBody>
                  <a:tcPr marL="101600" marR="101600" marT="38100" marB="38100" anchor="ctr">
                    <a:solidFill>
                      <a:srgbClr val="FFFFFF"/>
                    </a:solidFill>
                  </a:tcPr>
                </a:tc>
              </a:tr>
              <a:tr h="310896">
                <a:tc>
                  <a:txBody>
                    <a:bodyPr/>
                    <a:lstStyle/>
                    <a:p>
                      <a:r>
                        <a:rPr sz="1000" b="0" i="0">
                          <a:solidFill>
                            <a:srgbClr val="1A1440"/>
                          </a:solidFill>
                          <a:latin typeface="Calibri"/>
                        </a:rPr>
                        <a:t>10 and 11</a:t>
                      </a:r>
                    </a:p>
                  </a:txBody>
                  <a:tcPr marL="101600" marR="101600" marT="38100" marB="38100" anchor="ctr">
                    <a:solidFill>
                      <a:srgbClr val="F4F2FA"/>
                    </a:solidFill>
                  </a:tcPr>
                </a:tc>
                <a:tc>
                  <a:txBody>
                    <a:bodyPr/>
                    <a:lstStyle/>
                    <a:p>
                      <a:r>
                        <a:rPr sz="1000" b="0" i="0">
                          <a:solidFill>
                            <a:srgbClr val="1A1440"/>
                          </a:solidFill>
                          <a:latin typeface="Calibri"/>
                        </a:rPr>
                        <a:t>The case's last round and the interview room, after lunch</a:t>
                      </a:r>
                    </a:p>
                  </a:txBody>
                  <a:tcPr marL="101600" marR="101600" marT="38100" marB="38100" anchor="ctr">
                    <a:solidFill>
                      <a:srgbClr val="F4F2FA"/>
                    </a:solidFill>
                  </a:tcPr>
                </a:tc>
                <a:tc>
                  <a:txBody>
                    <a:bodyPr/>
                    <a:lstStyle/>
                    <a:p>
                      <a:r>
                        <a:rPr sz="1000" b="0" i="0">
                          <a:solidFill>
                            <a:srgbClr val="1A1440"/>
                          </a:solidFill>
                          <a:latin typeface="Calibri"/>
                        </a:rPr>
                        <a:t>40 minutes</a:t>
                      </a:r>
                    </a:p>
                  </a:txBody>
                  <a:tcPr marL="101600" marR="101600" marT="38100" marB="38100" anchor="ctr">
                    <a:solidFill>
                      <a:srgbClr val="F4F2FA"/>
                    </a:solidFill>
                  </a:tcPr>
                </a:tc>
                <a:tc>
                  <a:txBody>
                    <a:bodyPr/>
                    <a:lstStyle/>
                    <a:p>
                      <a:r>
                        <a:rPr sz="1000" b="0" i="0">
                          <a:solidFill>
                            <a:srgbClr val="1A1440"/>
                          </a:solidFill>
                          <a:latin typeface="Calibri"/>
                        </a:rPr>
                        <a:t>10 and 11</a:t>
                      </a:r>
                    </a:p>
                  </a:txBody>
                  <a:tcPr marL="101600" marR="101600" marT="38100" marB="38100" anchor="ctr">
                    <a:solidFill>
                      <a:srgbClr val="F4F2FA"/>
                    </a:solidFill>
                  </a:tcPr>
                </a:tc>
              </a:tr>
              <a:tr h="310896">
                <a:tc>
                  <a:txBody>
                    <a:bodyPr/>
                    <a:lstStyle/>
                    <a:p>
                      <a:r>
                        <a:rPr sz="1000" b="0" i="0">
                          <a:solidFill>
                            <a:srgbClr val="1A1440"/>
                          </a:solidFill>
                          <a:latin typeface="Calibri"/>
                        </a:rPr>
                        <a:t>Lab</a:t>
                      </a:r>
                    </a:p>
                  </a:txBody>
                  <a:tcPr marL="101600" marR="101600" marT="38100" marB="38100" anchor="ctr">
                    <a:solidFill>
                      <a:srgbClr val="FFFFFF"/>
                    </a:solidFill>
                  </a:tcPr>
                </a:tc>
                <a:tc>
                  <a:txBody>
                    <a:bodyPr/>
                    <a:lstStyle/>
                    <a:p>
                      <a:r>
                        <a:rPr sz="1000" b="0" i="0">
                          <a:solidFill>
                            <a:srgbClr val="1A1440"/>
                          </a:solidFill>
                          <a:latin typeface="Calibri"/>
                        </a:rPr>
                        <a:t>Kalpa Retail's growth plan, the same method, in the practice lab</a:t>
                      </a:r>
                    </a:p>
                  </a:txBody>
                  <a:tcPr marL="101600" marR="101600" marT="38100" marB="38100" anchor="ctr">
                    <a:solidFill>
                      <a:srgbClr val="FFFFFF"/>
                    </a:solidFill>
                  </a:tcPr>
                </a:tc>
                <a:tc>
                  <a:txBody>
                    <a:bodyPr/>
                    <a:lstStyle/>
                    <a:p>
                      <a:r>
                        <a:rPr sz="1000" b="0" i="0">
                          <a:solidFill>
                            <a:srgbClr val="1A1440"/>
                          </a:solidFill>
                          <a:latin typeface="Calibri"/>
                        </a:rPr>
                        <a:t>the lab's length</a:t>
                      </a:r>
                    </a:p>
                  </a:txBody>
                  <a:tcPr marL="101600" marR="101600" marT="38100" marB="38100" anchor="ctr">
                    <a:solidFill>
                      <a:srgbClr val="FFFFFF"/>
                    </a:solidFill>
                  </a:tcPr>
                </a:tc>
                <a:tc>
                  <a:txBody>
                    <a:bodyPr/>
                    <a:lstStyle/>
                    <a:p>
                      <a:r>
                        <a:rPr sz="1000" b="0" i="0">
                          <a:solidFill>
                            <a:srgbClr val="1A1440"/>
                          </a:solidFill>
                          <a:latin typeface="Calibri"/>
                        </a:rPr>
                        <a:t>12</a:t>
                      </a:r>
                    </a:p>
                  </a:txBody>
                  <a:tcPr marL="101600" marR="101600" marT="38100" marB="38100" anchor="ctr">
                    <a:solidFill>
                      <a:srgbClr val="FFFFFF"/>
                    </a:solidFill>
                  </a:tcPr>
                </a:tc>
              </a:tr>
            </a:tbl>
          </a:graphicData>
        </a:graphic>
      </p:graphicFrame>
      <p:sp>
        <p:nvSpPr>
          <p:cNvPr id="10" name="TextBox 9"/>
          <p:cNvSpPr txBox="1"/>
          <p:nvPr/>
        </p:nvSpPr>
        <p:spPr>
          <a:xfrm>
            <a:off x="530352" y="527202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7-minute opening comes first; after chapter 11, 20 minutes hold the Kahoot, the handoff and the close, then the IITGN faculty session (tentative). Each notebook in notebooks/ carries its chapter's number and topic.</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b364d95f211d551.png"/>
          <p:cNvPicPr>
            <a:picLocks noChangeAspect="1"/>
          </p:cNvPicPr>
          <p:nvPr/>
        </p:nvPicPr>
        <p:blipFill>
          <a:blip r:embed="rId5"/>
          <a:stretch>
            <a:fillRect/>
          </a:stretch>
        </p:blipFill>
        <p:spPr>
          <a:xfrm>
            <a:off x="4211777" y="1682496"/>
            <a:ext cx="376814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65884"/>
          <a:ext cx="11130990" cy="3462528"/>
        </p:xfrm>
        <a:graphic>
          <a:graphicData uri="http://schemas.openxmlformats.org/drawingml/2006/table">
            <a:tbl>
              <a:tblPr firstRow="0" bandRow="0">
                <a:tableStyleId>{2D5ABB26-0587-4C30-8999-92F81FD0307C}</a:tableStyleId>
              </a:tblPr>
              <a:tblGrid>
                <a:gridCol w="4012840"/>
                <a:gridCol w="7118150"/>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957072">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(one signed up for the scheme) online through a whole peak window (two a day, three hours each) is guaranteed Rs 300 per peak online hour, and Uber tops up the gap between the driver's trip earnings and that floor</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584444"/>
            <a:ext cx="45720" cy="4318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584444"/>
            <a:ext cx="10820095" cy="43180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no better.</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28590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870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77896"/>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whose kitchen cooks rice to the count of tokens the counter hands out and who pays the servers by the same count: a count that drifts from the plates wastes rice and money every day.</a:t>
            </a:r>
          </a:p>
        </p:txBody>
      </p:sp>
      <p:sp>
        <p:nvSpPr>
          <p:cNvPr id="13" name="Rectangle 12"/>
          <p:cNvSpPr/>
          <p:nvPr/>
        </p:nvSpPr>
        <p:spPr>
          <a:xfrm>
            <a:off x="1853145" y="466496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41909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7352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8500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1308"/>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419090"/>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no better?</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11582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kitchen cooks 150 g of rice for every token the counter hands out, batch by batch through lunch. From the plates: 200 x 0.15 = 30 kg. From the tokens on day 6: 400 x 0.15 = 60 kg, so 30 kg is thrown away that day,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kitchen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no better.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TextBox 21"/>
          <p:cNvSpPr txBox="1"/>
          <p:nvPr/>
        </p:nvSpPr>
        <p:spPr>
          <a:xfrm>
            <a:off x="530352" y="48615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interview line carries a tag: [S] is asked everywhere, [F] often in product screens and in global capability centres (GCCs, the offices global companies run in India), and [D] sets a strong candidate apart.*</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5" name="Oval 2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9" name="Oval 2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1" name="Oval 3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3" name="Oval 3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5" name="Oval 3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2939323" y="1664208"/>
            <a:ext cx="6313047" cy="2450592"/>
          </a:xfrm>
          <a:prstGeom prst="rect">
            <a:avLst/>
          </a:prstGeom>
        </p:spPr>
      </p:pic>
      <p:sp>
        <p:nvSpPr>
          <p:cNvPr id="10" name="Rounded Rectangle 9"/>
          <p:cNvSpPr/>
          <p:nvPr/>
        </p:nvSpPr>
        <p:spPr>
          <a:xfrm>
            <a:off x="530352" y="4160520"/>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88536"/>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79392"/>
            <a:ext cx="10564063" cy="1691639"/>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Cross-selling is selling an existing customer one more product, such as a credit card to someone with a savings account. Wells Fargo judged branch staff on products sold, through sales targets and bonuses, and showed investors a cross-sell number, products per household; staff opened accounts customers never asked for or used, and both counts rose. It paid USD 185 million in penalties in 2016 (100 to the US consumer-finance regulator, 35 to a US bank regulator, 50 to Los Angeles) and USD 3 billion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00959" y="1664208"/>
            <a:ext cx="658977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hoarding's rate rose because the share who took the test fell: a </a:t>
            </a:r>
            <a:r>
              <a:rPr sz="1200" b="1" i="0">
                <a:solidFill>
                  <a:srgbClr val="1A1440"/>
                </a:solidFill>
                <a:latin typeface="Calibri"/>
              </a:rPr>
              <a:t>seesaw</a:t>
            </a:r>
            <a:r>
              <a:rPr sz="1200" b="0" i="0">
                <a:solidFill>
                  <a:srgbClr val="1A1440"/>
                </a:solidFill>
                <a:latin typeface="Calibri"/>
              </a:rPr>
              <a:t>, one side up because the other went down. Named last: a </a:t>
            </a:r>
            <a:r>
              <a:rPr sz="1200" b="1" i="0">
                <a:solidFill>
                  <a:srgbClr val="1A1440"/>
                </a:solidFill>
                <a:latin typeface="Calibri"/>
              </a:rPr>
              <a:t>north star</a:t>
            </a:r>
            <a:r>
              <a:rPr sz="1200" b="0" i="0">
                <a:solidFill>
                  <a:srgbClr val="1A1440"/>
                </a:solidFill>
                <a:latin typeface="Calibri"/>
              </a:rPr>
              <a:t> is the one number that best captures the value the people served get; here it is licences per enrolled learner, 0.60 then 0.36, which no instructor can raise by holding learners back. The hoarding chased the pass rate instead. A </a:t>
            </a:r>
            <a:r>
              <a:rPr sz="1200" b="1" i="0">
                <a:solidFill>
                  <a:srgbClr val="1A1440"/>
                </a:solidFill>
                <a:latin typeface="Calibri"/>
              </a:rPr>
              <a:t>guardrail</a:t>
            </a:r>
            <a:r>
              <a:rPr sz="1200" b="0" i="0">
                <a:solidFill>
                  <a:srgbClr val="1A1440"/>
                </a:solidFill>
                <a:latin typeface="Calibri"/>
              </a:rPr>
              <a:t> is a number watched beside the number being chased, so that hitting it does no hidden harm: beside the pass rate,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the number a plan chases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Choose a guardrail by the harm or gaming it catches: a second growth target, such as "orders up 20 percent", is one more number to chase and catches none.</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over 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MTUS, IN SWIGGY'S WORDS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monthly transacting users on Maxxsaver, April to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up 16 percent on the quarter: selection and Maxxsaver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net order value: gross order value minus discounts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Swiggy puts the slower order growth down to that and to letting go of some low-value orders and unprofitable users: orders per user alone would read the quarter as a fall, and the letter adds that the ramp-up kept contribution flat.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from its letter for the quarter to 30 June 2026, saying in its food delivery line that "NOV more accurately reflects underlying performance": a discount is value handed back to the customer, which gross order value still counts.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980014" y="1664208"/>
            <a:ext cx="6231666"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 offer is one rider's request shown to one driver, who may accept or decline it)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at six an over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556764" y="1664208"/>
            <a:ext cx="707816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runs an over needed climbed past 10 at over 10, while the captain could still promote a hitter; the margin arrived at over 20. Named last: a </a:t>
            </a:r>
            <a:r>
              <a:rPr sz="1400" b="1" i="0">
                <a:solidFill>
                  <a:srgbClr val="1A1440"/>
                </a:solidFill>
                <a:latin typeface="Calibri"/>
              </a:rPr>
              <a:t>leading indicator</a:t>
            </a:r>
            <a:r>
              <a:rPr sz="1400" b="0" i="0">
                <a:solidFill>
                  <a:srgbClr val="1A1440"/>
                </a:solidFill>
                <a:latin typeface="Calibri"/>
              </a:rPr>
              <a:t> moves before the north star while the team can act, and a </a:t>
            </a:r>
            <a:r>
              <a:rPr sz="1400" b="1" i="0">
                <a:solidFill>
                  <a:srgbClr val="1A1440"/>
                </a:solidFill>
                <a:latin typeface="Calibri"/>
              </a:rPr>
              <a:t>lagging indicator</a:t>
            </a:r>
            <a:r>
              <a:rPr sz="1400" b="0" i="0">
                <a:solidFill>
                  <a:srgbClr val="1A1440"/>
                </a:solidFill>
                <a:latin typeface="Calibri"/>
              </a:rPr>
              <a:t> confirms it later. Wickets in hand, 7 at over 10, are the guardrail read beside it: a side that chases the rate by swinging at every ball loses wickets, and the wickets show that harm before the score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 and history shows it predicts the north star.</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76428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80085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3525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settled in week one; bookings kept falling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went from 0.862 in the week before the launch to 0.729 in the launch week and stayed there, while bookings per online hour, the fares riders paid per hour online, went from Rs 310.3 to Rs 271.0 that week and kept falling to Rs 259.1 by the third. Both fell at the launch; acceptance reached its new level at once, so a city team watching it had the whole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five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Numerator: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738614" y="1664208"/>
            <a:ext cx="6714466"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same register printed every figure from 66.7 to 84.0 percent as one line at a time changed. Named last: four lines make a number </a:t>
            </a:r>
            <a:r>
              <a:rPr sz="1400" b="1" i="0">
                <a:solidFill>
                  <a:srgbClr val="1A1440"/>
                </a:solidFill>
                <a:latin typeface="Calibri"/>
              </a:rPr>
              <a:t>computable</a:t>
            </a:r>
            <a:r>
              <a:rPr sz="1400" b="0" i="0">
                <a:solidFill>
                  <a:srgbClr val="1A1440"/>
                </a:solidFill>
                <a:latin typeface="Calibri"/>
              </a:rPr>
              <a:t>, its numerator, its denominator, its window and its exclusions, and with them written down two people compute the same number. The course outline adds that a definition is complete only when it also says what it deliberately does not reward, a line chapter 6's page carries.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lines look like in a public filing?</a:t>
            </a:r>
          </a:p>
        </p:txBody>
      </p:sp>
      <p:graphicFrame>
        <p:nvGraphicFramePr>
          <p:cNvPr id="9" name="Table 8"/>
          <p:cNvGraphicFramePr>
            <a:graphicFrameLocks noGrp="1"/>
          </p:cNvGraphicFramePr>
          <p:nvPr/>
        </p:nvGraphicFramePr>
        <p:xfrm>
          <a:off x="530352" y="1956816"/>
          <a:ext cx="11130988" cy="1627632"/>
        </p:xfrm>
        <a:graphic>
          <a:graphicData uri="http://schemas.openxmlformats.org/drawingml/2006/table">
            <a:tbl>
              <a:tblPr firstRow="0" bandRow="0">
                <a:tableStyleId>{2D5ABB26-0587-4C30-8999-92F81FD0307C}</a:tableStyleId>
              </a:tblPr>
              <a:tblGrid>
                <a:gridCol w="2242238"/>
                <a:gridCol w="3786995"/>
                <a:gridCol w="1061621"/>
                <a:gridCol w="2027580"/>
                <a:gridCol w="2012554"/>
              </a:tblGrid>
              <a:tr h="542544">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Exclusions, read from the words</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none: a count</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c>
                  <a:txBody>
                    <a:bodyPr/>
                    <a:lstStyle/>
                    <a:p>
                      <a:r>
                        <a:rPr sz="1200" b="0" i="0">
                          <a:solidFill>
                            <a:srgbClr val="1A1440"/>
                          </a:solidFill>
                          <a:latin typeface="Calibri"/>
                        </a:rPr>
                        <a:t>users with no completed order</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transacting users</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c>
                  <a:txBody>
                    <a:bodyPr/>
                    <a:lstStyle/>
                    <a:p>
                      <a:r>
                        <a:rPr sz="1200" b="0" i="0">
                          <a:solidFill>
                            <a:srgbClr val="1A1440"/>
                          </a:solidFill>
                          <a:latin typeface="Calibri"/>
                        </a:rPr>
                        <a:t>orders not completed</a:t>
                      </a:r>
                    </a:p>
                  </a:txBody>
                  <a:tcPr marL="101600" marR="101600" marT="38100" marB="38100" anchor="ctr">
                    <a:solidFill>
                      <a:srgbClr val="F4F2FA"/>
                    </a:solidFill>
                  </a:tcPr>
                </a:tc>
              </a:tr>
            </a:tbl>
          </a:graphicData>
        </a:graphic>
      </p:graphicFrame>
      <p:sp>
        <p:nvSpPr>
          <p:cNvPr id="10" name="TextBox 9"/>
          <p:cNvSpPr txBox="1"/>
          <p:nvPr/>
        </p:nvSpPr>
        <p:spPr>
          <a:xfrm>
            <a:off x="530352" y="38404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MTU is a count, so it has no denominator.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522252" y="1664208"/>
            <a:ext cx="9147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February 2018 Delhi Metro carried nearly 27 lakh riders a day; its new "line utilisation" count read 45,35,932 on 29 May 2018, since a rider who changes across three lines counts three times: one crowd, two units, and two windows too. After the change it did not share the daily ridership figure.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1482"/>
            <a:ext cx="11130991" cy="944880"/>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a:t>
            </a:r>
            <a:r>
              <a:rPr sz="1400" b="0" i="0">
                <a:solidFill>
                  <a:srgbClr val="1A1440"/>
                </a:solidFill>
                <a:latin typeface="Calibri"/>
              </a:rPr>
              <a:t> is raising a number without doing what it stands for. Some of it is false reporting, a done press with nothing delivered, which a receipt and an audit stop; some is honest work steered to the count, such as booking only the surest learners, which pay design and a guardrail catch. Either way a paid number pulls behaviour toward it.</a:t>
            </a:r>
          </a:p>
        </p:txBody>
      </p:sp>
      <p:sp>
        <p:nvSpPr>
          <p:cNvPr id="10" name="Rounded Rectangle 9"/>
          <p:cNvSpPr/>
          <p:nvPr/>
        </p:nvSpPr>
        <p:spPr>
          <a:xfrm>
            <a:off x="530352" y="302437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5239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43250"/>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723637"/>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controls it?</a:t>
            </a:r>
          </a:p>
        </p:txBody>
      </p:sp>
      <p:sp>
        <p:nvSpPr>
          <p:cNvPr id="18" name="TextBox 17"/>
          <p:cNvSpPr txBox="1"/>
          <p:nvPr/>
        </p:nvSpPr>
        <p:spPr>
          <a:xfrm>
            <a:off x="694944"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paid, or the person served.</a:t>
            </a:r>
          </a:p>
        </p:txBody>
      </p:sp>
      <p:sp>
        <p:nvSpPr>
          <p:cNvPr id="19" name="TextBox 18"/>
          <p:cNvSpPr txBox="1"/>
          <p:nvPr/>
        </p:nvSpPr>
        <p:spPr>
          <a:xfrm>
            <a:off x="3358819"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Does it need a receipt?</a:t>
            </a:r>
          </a:p>
        </p:txBody>
      </p:sp>
      <p:sp>
        <p:nvSpPr>
          <p:cNvPr id="23" name="TextBox 22"/>
          <p:cNvSpPr txBox="1"/>
          <p:nvPr/>
        </p:nvSpPr>
        <p:spPr>
          <a:xfrm>
            <a:off x="3523411"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A press, or a customer's OTP.</a:t>
            </a:r>
          </a:p>
        </p:txBody>
      </p:sp>
      <p:sp>
        <p:nvSpPr>
          <p:cNvPr id="24" name="TextBox 23"/>
          <p:cNvSpPr txBox="1"/>
          <p:nvPr/>
        </p:nvSpPr>
        <p:spPr>
          <a:xfrm>
            <a:off x="6187287"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starts it?</a:t>
            </a:r>
          </a:p>
        </p:txBody>
      </p:sp>
      <p:sp>
        <p:nvSpPr>
          <p:cNvPr id="28" name="TextBox 27"/>
          <p:cNvSpPr txBox="1"/>
          <p:nvPr/>
        </p:nvSpPr>
        <p:spPr>
          <a:xfrm>
            <a:off x="6351879"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timed, or the system.</a:t>
            </a:r>
          </a:p>
        </p:txBody>
      </p:sp>
      <p:sp>
        <p:nvSpPr>
          <p:cNvPr id="29" name="TextBox 28"/>
          <p:cNvSpPr txBox="1"/>
          <p:nvPr/>
        </p:nvSpPr>
        <p:spPr>
          <a:xfrm>
            <a:off x="9015755"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63219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043678"/>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89982"/>
            <a:ext cx="2316403" cy="218186"/>
          </a:xfrm>
          <a:prstGeom prst="rect">
            <a:avLst/>
          </a:prstGeom>
          <a:noFill/>
        </p:spPr>
        <p:txBody>
          <a:bodyPr wrap="square" anchor="t" lIns="0" rIns="0" tIns="0" bIns="0">
            <a:spAutoFit/>
          </a:bodyPr>
          <a:lstStyle/>
          <a:p>
            <a:pPr algn="l"/>
            <a:r>
              <a:rPr sz="1100" b="1" i="0">
                <a:solidFill>
                  <a:srgbClr val="FFFFFF"/>
                </a:solidFill>
                <a:latin typeface="Calibri"/>
              </a:rPr>
              <a:t>Did they change unannounced?</a:t>
            </a:r>
          </a:p>
        </p:txBody>
      </p:sp>
      <p:sp>
        <p:nvSpPr>
          <p:cNvPr id="33" name="TextBox 32"/>
          <p:cNvSpPr txBox="1"/>
          <p:nvPr/>
        </p:nvSpPr>
        <p:spPr>
          <a:xfrm>
            <a:off x="9180347" y="5444744"/>
            <a:ext cx="2316403" cy="185166"/>
          </a:xfrm>
          <a:prstGeom prst="rect">
            <a:avLst/>
          </a:prstGeom>
          <a:noFill/>
        </p:spPr>
        <p:txBody>
          <a:bodyPr wrap="square" anchor="t" lIns="0" rIns="0" tIns="0" bIns="0">
            <a:spAutoFit/>
          </a:bodyPr>
          <a:lstStyle/>
          <a:p>
            <a:pPr algn="l"/>
            <a:r>
              <a:rPr sz="900" b="0" i="0">
                <a:solidFill>
                  <a:srgbClr val="CFC9EE"/>
                </a:solidFill>
                <a:latin typeface="Calibri"/>
              </a:rPr>
              <a:t>A new kind of count, undated.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 Both clocks stop at the boy's done press, so they time all 50 marked orders; chapter 6's page times only the 40 the customer confirmed.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game a count, the line that stops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32432"/>
          <a:ext cx="11130989" cy="2712720"/>
        </p:xfrm>
        <a:graphic>
          <a:graphicData uri="http://schemas.openxmlformats.org/drawingml/2006/table">
            <a:tbl>
              <a:tblPr firstRow="0" bandRow="0">
                <a:tableStyleId>{2D5ABB26-0587-4C30-8999-92F81FD0307C}</a:tableStyleId>
              </a:tblPr>
              <a:tblGrid>
                <a:gridCol w="2436055"/>
                <a:gridCol w="2086237"/>
                <a:gridCol w="4114339"/>
                <a:gridCol w="249435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 or in the case</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The illustrative Uber case: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the wait ran from a "desired date" the scheduler typed</a:t>
                      </a:r>
                    </a:p>
                  </a:txBody>
                  <a:tcPr marL="101600" marR="101600" marT="38100" marB="38100" anchor="ctr">
                    <a:solidFill>
                      <a:srgbClr val="FFFFFF"/>
                    </a:solidFill>
                  </a:tcPr>
                </a:tc>
                <a:tc>
                  <a:txBody>
                    <a:bodyPr/>
                    <a:lstStyle/>
                    <a:p>
                      <a:r>
                        <a:rPr sz="1200" b="0" i="0">
                          <a:solidFill>
                            <a:srgbClr val="1A1440"/>
                          </a:solidFill>
                          <a:latin typeface="Calibri"/>
                        </a:rPr>
                        <a:t>A clock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accounts for sending money abroad added to the count, unannounced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011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the 40 primary-care schedulers and supervisors the inspectors asked said they set the desired date from the next open appointment or the provider's availability, so a long wait read as zero days.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never at one the person timed types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88c395d66531705.png"/>
          <p:cNvPicPr>
            <a:picLocks noChangeAspect="1"/>
          </p:cNvPicPr>
          <p:nvPr/>
        </p:nvPicPr>
        <p:blipFill>
          <a:blip r:embed="rId5"/>
          <a:stretch>
            <a:fillRect/>
          </a:stretch>
        </p:blipFill>
        <p:spPr>
          <a:xfrm>
            <a:off x="2195360" y="1780317"/>
            <a:ext cx="7800975" cy="33004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 the driver controls the count of online hours; chapter 9's redesign judges the scheme by completed trips, which need a rider's request, and chapter 10 pays the Rs 300 floor only to driver-weeks that clear an acceptance floor, a least share of offers accepted.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6969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 past a margin.</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44906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48" name="Oval 4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0" name="Oval 4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8" name="Oval 5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60" name="Oval 5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orders billed; the share of confirmed deliveries within 30 minutes of the bill</a:t>
                      </a:r>
                    </a:p>
                  </a:txBody>
                  <a:tcPr marL="101600" marR="101600" marT="38100" marB="38100" anchor="ctr">
                    <a:solidFill>
                      <a:srgbClr val="F4F2FA"/>
                    </a:solidFill>
                  </a:tcPr>
                </a:tc>
              </a:tr>
              <a:tr h="542544">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an OTP asked for by phone before the goods arrive;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orders billed; 30 of the 40 within 30 minutes of the bill, 0.75.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count with a receipt and a window, written down; as a count, it has no denominator.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much faster" while the wait moved only from 4.8 to 4.6 minutes,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logged hours with almost no trips.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230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974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20472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request one driver declines is shown to the next, so one request can appear as several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the driver's share of the fares, are not in the data.</a:t>
            </a:r>
          </a:p>
        </p:txBody>
      </p:sp>
      <p:sp>
        <p:nvSpPr>
          <p:cNvPr id="16" name="Rounded Rectangle 15"/>
          <p:cNvSpPr/>
          <p:nvPr/>
        </p:nvSpPr>
        <p:spPr>
          <a:xfrm>
            <a:off x="6370167" y="4077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4077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2" name="Oval 3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4" name="Oval 3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513584"/>
            <a:ext cx="45720" cy="6807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13584"/>
            <a:ext cx="10820095" cy="680720"/>
          </a:xfrm>
          <a:prstGeom prst="rect">
            <a:avLst/>
          </a:prstGeom>
          <a:noFill/>
        </p:spPr>
        <p:txBody>
          <a:bodyPr wrap="square" anchor="t" lIns="0" rIns="0" tIns="0" bIns="0">
            <a:spAutoFit/>
          </a:bodyPr>
          <a:lstStyle/>
          <a:p>
            <a:r>
              <a:rPr sz="1400" b="0" i="1">
                <a:solidFill>
                  <a:srgbClr val="1A0F5C"/>
                </a:solidFill>
                <a:latin typeface="Georgia"/>
              </a:rPr>
              <a:t>"Judge the scheme by ________, guarded by ________ and ________, because paying for hours cost Rs ____ in six weeks for ________."</a:t>
            </a:r>
          </a:p>
        </p:txBody>
      </p:sp>
      <p:sp>
        <p:nvSpPr>
          <p:cNvPr id="12" name="TextBox 11"/>
          <p:cNvSpPr txBox="1"/>
          <p:nvPr/>
        </p:nvSpPr>
        <p:spPr>
          <a:xfrm>
            <a:off x="530352" y="3340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sentence names the two guardrails for riders; the budget's guardrail, top-up per trip, sits on the page.</a:t>
            </a:r>
          </a:p>
        </p:txBody>
      </p:sp>
      <p:sp>
        <p:nvSpPr>
          <p:cNvPr id="13" name="Rectangle 12"/>
          <p:cNvSpPr/>
          <p:nvPr/>
        </p:nvSpPr>
        <p:spPr>
          <a:xfrm>
            <a:off x="1247045" y="449681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146461"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Numerator</a:t>
            </a:r>
          </a:p>
        </p:txBody>
      </p:sp>
      <p:sp>
        <p:nvSpPr>
          <p:cNvPr id="18" name="TextBox 17"/>
          <p:cNvSpPr txBox="1"/>
          <p:nvPr/>
        </p:nvSpPr>
        <p:spPr>
          <a:xfrm>
            <a:off x="694944" y="5217922"/>
            <a:ext cx="1104203" cy="333756"/>
          </a:xfrm>
          <a:prstGeom prst="rect">
            <a:avLst/>
          </a:prstGeom>
          <a:noFill/>
        </p:spPr>
        <p:txBody>
          <a:bodyPr wrap="square" anchor="t" lIns="0" rIns="0" tIns="0" bIns="0">
            <a:spAutoFit/>
          </a:bodyPr>
          <a:lstStyle/>
          <a:p>
            <a:pPr algn="l"/>
            <a:r>
              <a:rPr sz="900" b="0" i="0">
                <a:solidFill>
                  <a:srgbClr val="6B6690"/>
                </a:solidFill>
                <a:latin typeface="Calibri"/>
              </a:rPr>
              <a:t>What is counted, and when it counts</a:t>
            </a:r>
          </a:p>
        </p:txBody>
      </p:sp>
      <p:sp>
        <p:nvSpPr>
          <p:cNvPr id="19" name="TextBox 18"/>
          <p:cNvSpPr txBox="1"/>
          <p:nvPr/>
        </p:nvSpPr>
        <p:spPr>
          <a:xfrm>
            <a:off x="2146619"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276272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146619"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211"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Denominator</a:t>
            </a:r>
          </a:p>
        </p:txBody>
      </p:sp>
      <p:sp>
        <p:nvSpPr>
          <p:cNvPr id="23" name="TextBox 22"/>
          <p:cNvSpPr txBox="1"/>
          <p:nvPr/>
        </p:nvSpPr>
        <p:spPr>
          <a:xfrm>
            <a:off x="2311211"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Per whom, with the count printed beside the rate</a:t>
            </a:r>
          </a:p>
        </p:txBody>
      </p:sp>
      <p:sp>
        <p:nvSpPr>
          <p:cNvPr id="24" name="TextBox 23"/>
          <p:cNvSpPr txBox="1"/>
          <p:nvPr/>
        </p:nvSpPr>
        <p:spPr>
          <a:xfrm>
            <a:off x="3762886"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4378996"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762886"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27478"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Window</a:t>
            </a:r>
          </a:p>
        </p:txBody>
      </p:sp>
      <p:sp>
        <p:nvSpPr>
          <p:cNvPr id="28" name="TextBox 27"/>
          <p:cNvSpPr txBox="1"/>
          <p:nvPr/>
        </p:nvSpPr>
        <p:spPr>
          <a:xfrm>
            <a:off x="3927478" y="5217922"/>
            <a:ext cx="1104203" cy="185166"/>
          </a:xfrm>
          <a:prstGeom prst="rect">
            <a:avLst/>
          </a:prstGeom>
          <a:noFill/>
        </p:spPr>
        <p:txBody>
          <a:bodyPr wrap="square" anchor="t" lIns="0" rIns="0" tIns="0" bIns="0">
            <a:spAutoFit/>
          </a:bodyPr>
          <a:lstStyle/>
          <a:p>
            <a:pPr algn="l"/>
            <a:r>
              <a:rPr sz="900" b="0" i="0">
                <a:solidFill>
                  <a:srgbClr val="6B6690"/>
                </a:solidFill>
                <a:latin typeface="Calibri"/>
              </a:rPr>
              <a:t>Over which period</a:t>
            </a:r>
          </a:p>
        </p:txBody>
      </p:sp>
      <p:sp>
        <p:nvSpPr>
          <p:cNvPr id="29" name="TextBox 28"/>
          <p:cNvSpPr txBox="1"/>
          <p:nvPr/>
        </p:nvSpPr>
        <p:spPr>
          <a:xfrm>
            <a:off x="5379153"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5995263"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5379153"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43745"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Exclusions</a:t>
            </a:r>
          </a:p>
        </p:txBody>
      </p:sp>
      <p:sp>
        <p:nvSpPr>
          <p:cNvPr id="33" name="TextBox 32"/>
          <p:cNvSpPr txBox="1"/>
          <p:nvPr/>
        </p:nvSpPr>
        <p:spPr>
          <a:xfrm>
            <a:off x="5543745"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What is left out on purpose, each change dated</a:t>
            </a:r>
          </a:p>
        </p:txBody>
      </p:sp>
      <p:sp>
        <p:nvSpPr>
          <p:cNvPr id="34" name="TextBox 33"/>
          <p:cNvSpPr txBox="1"/>
          <p:nvPr/>
        </p:nvSpPr>
        <p:spPr>
          <a:xfrm>
            <a:off x="6995421"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5" name="Oval 34"/>
          <p:cNvSpPr/>
          <p:nvPr/>
        </p:nvSpPr>
        <p:spPr>
          <a:xfrm>
            <a:off x="7611530"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995421"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0013" y="4963160"/>
            <a:ext cx="1104203" cy="399796"/>
          </a:xfrm>
          <a:prstGeom prst="rect">
            <a:avLst/>
          </a:prstGeom>
          <a:noFill/>
        </p:spPr>
        <p:txBody>
          <a:bodyPr wrap="square" anchor="t" lIns="0" rIns="0" tIns="0" bIns="0">
            <a:spAutoFit/>
          </a:bodyPr>
          <a:lstStyle/>
          <a:p>
            <a:pPr algn="l"/>
            <a:r>
              <a:rPr sz="1100" b="1" i="0">
                <a:solidFill>
                  <a:srgbClr val="1A0F5C"/>
                </a:solidFill>
                <a:latin typeface="Calibri"/>
              </a:rPr>
              <a:t>What it does not reward</a:t>
            </a:r>
          </a:p>
        </p:txBody>
      </p:sp>
      <p:sp>
        <p:nvSpPr>
          <p:cNvPr id="38" name="TextBox 37"/>
          <p:cNvSpPr txBox="1"/>
          <p:nvPr/>
        </p:nvSpPr>
        <p:spPr>
          <a:xfrm>
            <a:off x="7160013" y="5399532"/>
            <a:ext cx="1104203" cy="333756"/>
          </a:xfrm>
          <a:prstGeom prst="rect">
            <a:avLst/>
          </a:prstGeom>
          <a:noFill/>
        </p:spPr>
        <p:txBody>
          <a:bodyPr wrap="square" anchor="t" lIns="0" rIns="0" tIns="0" bIns="0">
            <a:spAutoFit/>
          </a:bodyPr>
          <a:lstStyle/>
          <a:p>
            <a:pPr algn="l"/>
            <a:r>
              <a:rPr sz="900" b="0" i="0">
                <a:solidFill>
                  <a:srgbClr val="6B6690"/>
                </a:solidFill>
                <a:latin typeface="Calibri"/>
              </a:rPr>
              <a:t>The behaviour it refuses to pay for</a:t>
            </a:r>
          </a:p>
        </p:txBody>
      </p:sp>
      <p:sp>
        <p:nvSpPr>
          <p:cNvPr id="39" name="TextBox 38"/>
          <p:cNvSpPr txBox="1"/>
          <p:nvPr/>
        </p:nvSpPr>
        <p:spPr>
          <a:xfrm>
            <a:off x="8611688"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40" name="Oval 39"/>
          <p:cNvSpPr/>
          <p:nvPr/>
        </p:nvSpPr>
        <p:spPr>
          <a:xfrm>
            <a:off x="922779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8611688"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6280"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Guardrails</a:t>
            </a:r>
          </a:p>
        </p:txBody>
      </p:sp>
      <p:sp>
        <p:nvSpPr>
          <p:cNvPr id="43" name="TextBox 42"/>
          <p:cNvSpPr txBox="1"/>
          <p:nvPr/>
        </p:nvSpPr>
        <p:spPr>
          <a:xfrm>
            <a:off x="8776280"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Must not get worse: two for riders, one for the budget</a:t>
            </a:r>
          </a:p>
        </p:txBody>
      </p:sp>
      <p:sp>
        <p:nvSpPr>
          <p:cNvPr id="44" name="TextBox 43"/>
          <p:cNvSpPr txBox="1"/>
          <p:nvPr/>
        </p:nvSpPr>
        <p:spPr>
          <a:xfrm>
            <a:off x="10227955"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5" name="Oval 44"/>
          <p:cNvSpPr/>
          <p:nvPr/>
        </p:nvSpPr>
        <p:spPr>
          <a:xfrm>
            <a:off x="10844065"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10227955"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92547"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Gaming note</a:t>
            </a:r>
          </a:p>
        </p:txBody>
      </p:sp>
      <p:sp>
        <p:nvSpPr>
          <p:cNvPr id="48" name="TextBox 47"/>
          <p:cNvSpPr txBox="1"/>
          <p:nvPr/>
        </p:nvSpPr>
        <p:spPr>
          <a:xfrm>
            <a:off x="10392547"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How each guardrail catches a way of hitting the number</a:t>
            </a:r>
          </a:p>
        </p:txBody>
      </p:sp>
      <p:sp>
        <p:nvSpPr>
          <p:cNvPr id="49" name="Oval 4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51" name="Oval 5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3" name="Oval 5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5" name="Oval 5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7" name="Oval 5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9" name="Oval 58"/>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61" name="Oval 60"/>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3" name="Oval 62"/>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5" name="Oval 64"/>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7" name="TextBox 6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464d4b0f2cf21ae5.png"/>
          <p:cNvPicPr>
            <a:picLocks noChangeAspect="1"/>
          </p:cNvPicPr>
          <p:nvPr/>
        </p:nvPicPr>
        <p:blipFill>
          <a:blip r:embed="rId5"/>
          <a:stretch>
            <a:fillRect/>
          </a:stretch>
        </p:blipFill>
        <p:spPr>
          <a:xfrm>
            <a:off x="3461712" y="1664208"/>
            <a:ext cx="526827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gained little, chapter 9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of the city team's three roles want the scheme judged on, and how could each look good while riders gained little?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Rounded Rectangle 26"/>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Three questions per number. </a:t>
            </a:r>
            <a:r>
              <a:rPr sz="1500" b="0" i="0">
                <a:solidFill>
                  <a:srgbClr val="1A1440"/>
                </a:solidFill>
                <a:latin typeface="Calibri"/>
              </a:rPr>
              <a:t>Could a team hit it while riders gained little (the proxy test, chapter 1)? Who controls the count (chapter 5)? What does it deliberately not reward (chapter 6)? Round 2 is the data in chapters 7 to 9; round 3, after lunch, attacks the redesign.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2" name="Oval 3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4" name="Oval 3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0" name="Oval 3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2" name="Oval 4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4" name="Oval 4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6" name="Oval 4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Their 16 and 14 hours are short beside the drivers who idle like them, who average about 39 peak online hours a week after the launch, as chapter 8's full data shows.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b553731a5ef07449.png"/>
          <p:cNvPicPr>
            <a:picLocks noChangeAspect="1"/>
          </p:cNvPicPr>
          <p:nvPr/>
        </p:nvPicPr>
        <p:blipFill>
          <a:blip r:embed="rId5"/>
          <a:stretch>
            <a:fillRect/>
          </a:stretch>
        </p:blipFill>
        <p:spPr>
          <a:xfrm>
            <a:off x="530352" y="2769213"/>
            <a:ext cx="4786326" cy="2343701"/>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0" name="Oval 2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9" name="Oval 2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1" name="Oval 3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3" name="Oval 3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5" name="Oval 34"/>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7" name="Oval 3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Before the launch the same average read 1.90, so set beside itself it shows a fall of 0.19; the true fall is 0.32, from 1.90 to 1.58, so the average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Most of the tail sits far right and low, at about 39 hours a week; E's and F's weeks sit apart at the bottom left, short weeks with almost no trips, the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8a6216b8701bc2de.png"/>
          <p:cNvPicPr>
            <a:picLocks noChangeAspect="1"/>
          </p:cNvPicPr>
          <p:nvPr/>
        </p:nvPicPr>
        <p:blipFill>
          <a:blip r:embed="rId5"/>
          <a:stretch>
            <a:fillRect/>
          </a:stretch>
        </p:blipFill>
        <p:spPr>
          <a:xfrm>
            <a:off x="2823601" y="1664208"/>
            <a:ext cx="6544491"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The city's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The redesign's north star, guardrails, leading inputs, resistant lines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few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should the scheme reward?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if the scheme rewarded it, would make drivers drive and serve riders, without rewarding idling 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an acceptance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least share of offers accepted, reward the service and catch the cherry-picking: chapter 2's north star with its guardrail. Two floors now run through the case: the Rs 300 floor is what a driver-week is guaranteed, and the acceptance floor is what a driver-week must clear to earn it, the pay rule chapter 10 prices.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792414"/>
            <a:ext cx="8815387" cy="2543175"/>
          </a:xfrm>
          <a:prstGeom prst="rect">
            <a:avLst/>
          </a:prstGeom>
        </p:spPr>
      </p:pic>
      <p:sp>
        <p:nvSpPr>
          <p:cNvPr id="10" name="Rounded Rectangle 9"/>
          <p:cNvSpPr/>
          <p:nvPr/>
        </p:nvSpPr>
        <p:spPr>
          <a:xfrm>
            <a:off x="530352" y="4481893"/>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990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00765"/>
            <a:ext cx="10564063" cy="14249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moved only from 4.8 to 4.6 minutes, so riders were served barely better, at about Rs 2,836 of top-up for each extra trip. </a:t>
            </a:r>
            <a:r>
              <a:rPr sz="1500" b="1" i="0">
                <a:solidFill>
                  <a:srgbClr val="1A1440"/>
                </a:solidFill>
                <a:latin typeface="Calibri"/>
              </a:rPr>
              <a:t>The fix:</a:t>
            </a:r>
            <a:r>
              <a:rPr sz="1500" b="0" i="0">
                <a:solidFill>
                  <a:srgbClr val="1A1440"/>
                </a:solidFill>
                <a:latin typeface="Calibri"/>
              </a:rPr>
              <a:t> judge the scheme by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656bfc69833912e5.png"/>
          <p:cNvPicPr>
            <a:picLocks noChangeAspect="1"/>
          </p:cNvPicPr>
          <p:nvPr/>
        </p:nvPicPr>
        <p:blipFill>
          <a:blip r:embed="rId5"/>
          <a:stretch>
            <a:fillRect/>
          </a:stretch>
        </p:blipFill>
        <p:spPr>
          <a:xfrm>
            <a:off x="3440393" y="1664208"/>
            <a:ext cx="5310908"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A completed trip is a rider served, counted with a receipt; the wait covers only riders who were picked up, so it can improve while more requests go unserved, which is why it guards from beside the north star. Read it as chapter 2's seesaw: if the north star rises while a guardrail moves the wrong way, riders or the budget paid for the rise. Acceptance, guardrail 1, also settled first in the launch week (chapter 3's S28). The first input needs a record the tables do not hold, drivers online by peak hour, so the city starts logging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682496"/>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an acceptance floor the city sets, read with the share of accepted trips the driver cancels,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and the cancel share beside it accepting then cancelling;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242560"/>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 Every driver in the table enrolled, so the weeks before the launch count the same drivers.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652142" y="1664208"/>
            <a:ext cx="6887410" cy="2844800"/>
          </a:xfrm>
          <a:prstGeom prst="rect">
            <a:avLst/>
          </a:prstGeom>
        </p:spPr>
      </p:pic>
      <p:sp>
        <p:nvSpPr>
          <p:cNvPr id="10" name="picture caption"/>
          <p:cNvSpPr txBox="1"/>
          <p:nvPr/>
        </p:nvSpPr>
        <p:spPr>
          <a:xfrm>
            <a:off x="530352" y="45455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87172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9973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0592"/>
            <a:ext cx="10564063" cy="980440"/>
          </a:xfrm>
          <a:prstGeom prst="rect">
            <a:avLst/>
          </a:prstGeom>
          <a:noFill/>
        </p:spPr>
        <p:txBody>
          <a:bodyPr wrap="square" anchor="ctr" lIns="0" rIns="0" tIns="0" bIns="0">
            <a:spAutoFit/>
          </a:bodyPr>
          <a:lstStyle/>
          <a:p>
            <a:r>
              <a:rPr sz="1000" b="1">
                <a:solidFill>
                  <a:srgbClr val="5B3FD6"/>
                </a:solidFill>
                <a:latin typeface="Calibri"/>
              </a:rPr>
              <a:t>Answer: c. </a:t>
            </a:r>
            <a:r>
              <a:rPr sz="1000" b="0" i="0">
                <a:solidFill>
                  <a:srgbClr val="1A1440"/>
                </a:solidFill>
                <a:latin typeface="Calibri"/>
              </a:rPr>
              <a:t>Without the new drivers the rate is still 1.58. In the three weeks with the most rider requests, the first three after the launch and still in the rains, it already read 1.60, so the monsoon's end does not explain the step at the launch; whether the season moved the later weeks stays partly open, since last year's weeks are not in the data.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bbee0ebef2a25b03.png"/>
          <p:cNvPicPr>
            <a:picLocks noChangeAspect="1"/>
          </p:cNvPicPr>
          <p:nvPr/>
        </p:nvPicPr>
        <p:blipFill>
          <a:blip r:embed="rId5"/>
          <a:stretch>
            <a:fillRect/>
          </a:stretch>
        </p:blipFill>
        <p:spPr>
          <a:xfrm>
            <a:off x="530352" y="1854868"/>
            <a:ext cx="11130991" cy="2951668"/>
          </a:xfrm>
          <a:prstGeom prst="rect">
            <a:avLst/>
          </a:prstGeom>
        </p:spPr>
      </p:pic>
      <p:sp>
        <p:nvSpPr>
          <p:cNvPr id="10" name="Rounded Rectangle 9"/>
          <p:cNvSpPr/>
          <p:nvPr/>
        </p:nvSpPr>
        <p:spPr>
          <a:xfrm>
            <a:off x="530352" y="49528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08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1712"/>
            <a:ext cx="10564063"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Judge the scheme by completed peak trips per enrolled driver online at peak, guarded for riders by acceptance and the wait, and for the budget by the top-up per trip; chapter 10 prices the pay rule that follows.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