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 Then return to the Kahoot if it has not run.</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 users who cost Swiggy money, let go over the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Instamart's one-month retention of the users who ordered,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IN THE SIXTH QUARTER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cohort that joined in Q4 FY24, against what it spent in the quarter it joined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offers aimed at chosen groups of users (minimum order values, free deliveries, new-user coupons) and "weaned away certain users ... with low potential Lifetime values", the value a user is expected to bring over all the time she stays, by withdrawing the offers that kept them. India's financial year runs April to March, so Q1 FY27 is April to June 2026 and Q4 FY24 is January to March 2024.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c88584e5f6a98df8.png"/>
          <p:cNvPicPr>
            <a:picLocks noChangeAspect="1"/>
          </p:cNvPicPr>
          <p:nvPr/>
        </p:nvPicPr>
        <p:blipFill>
          <a:blip r:embed="rId5"/>
          <a:stretch>
            <a:fillRect/>
          </a:stretch>
        </p:blipFill>
        <p:spPr>
          <a:xfrm>
            <a:off x="1773878" y="1956816"/>
            <a:ext cx="8643937" cy="2271712"/>
          </a:xfrm>
          <a:prstGeom prst="rect">
            <a:avLst/>
          </a:prstGeom>
        </p:spPr>
      </p:pic>
      <p:sp>
        <p:nvSpPr>
          <p:cNvPr id="10" name="TextBox 9"/>
          <p:cNvSpPr txBox="1"/>
          <p:nvPr/>
        </p:nvSpPr>
        <p:spPr>
          <a:xfrm>
            <a:off x="530352" y="437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chart without its denominator is a shape. Swiggy's table indexes every cohort's spend to what the Q4 FY24 cohort spent in the quarter it joined and calls the groups "retained user cohorts", and it states no denominator: the first thing to ask is who stays in the count. Removing users in one quarter lifts that quarter's cells and every later one, with nobody's behaviour changing.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A9A3D2"/>
                </a:solidFill>
                <a:latin typeface="Consolas"/>
              </a:rPr>
              <a:t># W-SUN: weeks end on Sunday, so each week starts on a Monday</a:t>
            </a:r>
          </a:p>
          <a:p>
            <a:pPr>
              <a:spcAft>
                <a:spcPts val="200"/>
              </a:spcAft>
            </a:pPr>
            <a:r>
              <a:rPr sz="1400" b="0" i="0">
                <a:solidFill>
                  <a:srgbClr val="E4E1F1"/>
                </a:solidFill>
                <a:latin typeface="Consolas"/>
              </a:rPr>
              <a:t>monday = placed["event_ts"].dt.to_period("W-SUN").dt.start_time</a:t>
            </a:r>
          </a:p>
          <a:p>
            <a:pPr>
              <a:spcAft>
                <a:spcPts val="200"/>
              </a:spcAft>
            </a:pPr>
            <a:r>
              <a:rPr sz="1400" b="0" i="0">
                <a:solidFill>
                  <a:srgbClr val="A9A3D2"/>
                </a:solidFill>
                <a:latin typeface="Consolas"/>
              </a:rPr>
              <a:t># user_id in events is the member's member_id in members</a:t>
            </a:r>
          </a:p>
          <a:p>
            <a:pPr>
              <a:spcAft>
                <a:spcPts val="200"/>
              </a:spcAft>
            </a:pPr>
            <a:r>
              <a:rPr sz="1400" b="0" i="0">
                <a:solidFill>
                  <a:srgbClr val="E4E1F1"/>
                </a:solidFill>
                <a:latin typeface="Consolas"/>
              </a:rPr>
              <a:t>orders_week = set(zip(placed["user_id"], monday))</a:t>
            </a:r>
          </a:p>
          <a:p>
            <a:pPr>
              <a:spcAft>
                <a:spcPts val="200"/>
              </a:spcAft>
            </a:pPr>
            <a:r>
              <a:rPr sz="1400" b="0" i="0">
                <a:solidFill>
                  <a:srgbClr val="A9A3D2"/>
                </a:solidFill>
                <a:latin typeface="Consolas"/>
              </a:rPr>
              <a:t># her signup week starts on the Monday on or before her signup date;</a:t>
            </a:r>
          </a:p>
          <a:p>
            <a:pPr>
              <a:spcAft>
                <a:spcPts val="200"/>
              </a:spcAft>
            </a:pPr>
            <a:r>
              <a:rPr sz="1400" b="0" i="0">
                <a:solidFill>
                  <a:srgbClr val="A9A3D2"/>
                </a:solidFill>
                <a:latin typeface="Consolas"/>
              </a:rPr>
              <a:t># week k is the week whose Monday is k x 7 days after that one</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week of 17 August, the sale week, brought 9,108 members, the 8,027 who joined on the sale's discount among them. They ordered at 53 percent in their first full week, the most of any cohort, and then fell off a cliff to 12,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5003138"/>
                <a:gridCol w="6127853"/>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611632">
                <a:tc>
                  <a:txBody>
                    <a:bodyPr/>
                    <a:lstStyle/>
                    <a:p>
                      <a:r>
                        <a:rPr sz="1400" b="0" i="0">
                          <a:solidFill>
                            <a:srgbClr val="1A1440"/>
                          </a:solidFill>
                          <a:latin typeface="Calibri"/>
                        </a:rPr>
                        <a:t>The sale-week members are the weakest</a:t>
                      </a:r>
                    </a:p>
                  </a:txBody>
                  <a:tcPr marL="101600" marR="101600" marT="38100" marB="38100" anchor="ctr">
                    <a:solidFill>
                      <a:srgbClr val="F4F2FA"/>
                    </a:solidFill>
                  </a:tcPr>
                </a:tc>
                <a:tc>
                  <a:txBody>
                    <a:bodyPr/>
                    <a:lstStyle/>
                    <a:p>
                      <a:r>
                        <a:rPr sz="1400" b="0" i="0">
                          <a:solidFill>
                            <a:srgbClr val="1A1440"/>
                          </a:solidFill>
                          <a:latin typeface="Calibri"/>
                        </a:rPr>
                        <a:t>Holds for the sale week's cohort after its first week; in that first week it looks strongest</a:t>
                      </a:r>
                    </a:p>
                  </a:txBody>
                  <a:tcPr marL="101600" marR="101600" marT="38100" marB="38100" anchor="ctr">
                    <a:solidFill>
                      <a:srgbClr val="F4F2FA"/>
                    </a:solidFill>
                  </a:tcPr>
                </a:tc>
              </a:tr>
              <a:tr h="611632">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September, the last month, is whole and counted</a:t>
                      </a:r>
                    </a:p>
                  </a:txBody>
                  <a:tcPr marL="101600" marR="101600" marT="38100" marB="38100" anchor="ctr">
                    <a:solidFill>
                      <a:srgbClr val="F4F2FA"/>
                    </a:solidFill>
                  </a:tcPr>
                </a:tc>
                <a:tc>
                  <a:txBody>
                    <a:bodyPr/>
                    <a:lstStyle/>
                    <a:p>
                      <a:r>
                        <a:rPr sz="1400" b="0" i="0">
                          <a:solidFill>
                            <a:srgbClr val="1A1440"/>
                          </a:solidFill>
                          <a:latin typeface="Calibri"/>
                        </a:rPr>
                        <a:t>The week of 28 September has three days and is left out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29d30e77a001c4e4.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(January to March 2023), its members' orders were about 30 percent of food delivery GOV, gross order value, the value of all orders placed,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542873"/>
                <a:gridCol w="3495480"/>
                <a:gridCol w="3092637"/>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3299968"/>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 one that gets the job</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per session, 72.5 to 55, members on Android only, from the release week</a:t>
                      </a:r>
                    </a:p>
                  </a:txBody>
                  <a:tcPr marL="101600" marR="101600" marT="38100" marB="38100" anchor="ctr">
                    <a:solidFill>
                      <a:srgbClr val="F4F2FA"/>
                    </a:solidFill>
                  </a:tcPr>
                </a:tc>
              </a:tr>
              <a:tr h="853440">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On the same step, iOS members 71 to 70 and non-members on Android 65 to 64; members who joined before August, iOS 68.6 to 69.3</a:t>
                      </a:r>
                    </a:p>
                  </a:txBody>
                  <a:tcPr marL="101600" marR="101600" marT="38100" marB="38100" anchor="ctr">
                    <a:solidFill>
                      <a:srgbClr val="FFFFFF"/>
                    </a:solidFill>
                  </a:tcPr>
                </a:tc>
              </a:tr>
              <a:tr h="853440">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order records showed orders holding while the event log fell, or if members who failed came back and ordered later, I'd withdraw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