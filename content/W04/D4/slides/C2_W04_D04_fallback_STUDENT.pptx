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block runs only if the IITGN faculty session W4-3 (tentative) slips. It teaches no survival</a:t>
            </a:r>
          </a:p>
          <a:p>
            <a:r>
              <a:t>curves, censoring or tests between curves, which stay with the block whenever it runs. Four</a:t>
            </a:r>
          </a:p>
          <a:p>
            <a:r>
              <a:t>parts: 35, 40, 25 and 20 minutes, 120 in all.</a:t>
            </a:r>
          </a:p>
          <a:p>
            <a:r>
              <a:t>LIVE, 35 minutes. Styles: StatQuest (ten members on the board), the case method (Swiggy's own</a:t>
            </a:r>
          </a:p>
          <a:p>
            <a:r>
              <a:t>decision). The denominator question closes the part.</a:t>
            </a:r>
          </a:p>
          <a:p>
            <a:r>
              <a:t>Transition: Swiggy's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https://nsearchives.nseindia.com/corporate/SWIGGY_30072026154100_Covering_Letter_Letter_to_Shareholders_-_signed.pdf (checked 12 October 2026)</a:t>
            </a:r>
          </a:p>
          <a:p>
            <a:r>
              <a:t>https://www.swiggy.com/corporate/wp-content/uploads/2025/10/Q2-FY2026-Shareholder-letter.pdf (checked 12 October 2026)</a:t>
            </a:r>
          </a:p>
          <a:p>
            <a:r>
              <a:t>LIVE, 8 minutes. Read the three numbers and the decision. Ask: which of these could rise with no</a:t>
            </a:r>
          </a:p>
          <a:p>
            <a:r>
              <a:t>user ordering a single extra time? Expect "the retention rate"; the next slide shows how.</a:t>
            </a:r>
          </a:p>
          <a:p>
            <a:r>
              <a:t>Transition: ten members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Build the table on the board with the room, column by column (invented</a:t>
            </a:r>
          </a:p>
          <a:p>
            <a:r>
              <a:t>numbers). Then ask: from the blended number alone, could you tell a weaning from a better product?</a:t>
            </a:r>
          </a:p>
          <a:p>
            <a:r>
              <a:t>No; the cohort table with its denominator can.</a:t>
            </a:r>
          </a:p>
          <a:p>
            <a:r>
              <a:t>Transition: the denominator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write what each denominator would show after a weaning. Per retained</a:t>
            </a:r>
          </a:p>
          <a:p>
            <a:r>
              <a:t>user rises most; per acquired user shows the removals as a fall; the total moves least.</a:t>
            </a:r>
          </a:p>
          <a:p>
            <a:r>
              <a:t>Transition: the rerun, by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The row's after-class task done in class, in pairs, on the event log. Styles:</a:t>
            </a:r>
          </a:p>
          <a:p>
            <a:r>
              <a:t>Krish Naik (a table built line by line), Veritasium (predict the sale week's row first).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in pairs. Ask each pair to predict the sale week's row before computing it.</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Point at the sale week's two cells. The monthly table hid this inside the</a:t>
            </a:r>
          </a:p>
          <a:p>
            <a:r>
              <a:t>signup month, which is month zero and never counted.</a:t>
            </a:r>
          </a:p>
          <a:p>
            <a:r>
              <a:t>Transition: which story survives.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lesson: a cohort table's grain changes the numbers and keeps the method.</a:t>
            </a:r>
          </a:p>
          <a:p>
            <a:r>
              <a:t>Name the grain on every chart, as the unit is named on every funnel.</a:t>
            </a:r>
          </a:p>
          <a:p>
            <a:r>
              <a:t>Transition: Zomato's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Kept descriptive: no causal method is taught. Styles: Veritasium (the</a:t>
            </a:r>
          </a:p>
          <a:p>
            <a:r>
              <a:t>misconception first), the case method.</a:t>
            </a:r>
          </a:p>
          <a:p>
            <a:r>
              <a:t>Transition: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10 minutes. Members choose to join when they expect to order more, so before and after</a:t>
            </a:r>
          </a:p>
          <a:p>
            <a:r>
              <a:t>mixes the choice with the effect. Ask what a fair comparison would be.</a:t>
            </a:r>
          </a:p>
          <a:p>
            <a:r>
              <a:t>Transition: the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rank the three for what Zomato could run. Keep it at this depth: how to</a:t>
            </a:r>
          </a:p>
          <a:p>
            <a:r>
              <a:t>estimate the effect belongs to later weeks.</a:t>
            </a:r>
          </a:p>
          <a:p>
            <a:r>
              <a:t>Transition: the second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row's [D] anchor: the app team says the funnel stage you blamed is fine;</a:t>
            </a:r>
          </a:p>
          <a:p>
            <a:r>
              <a:t>what evidence do you bring to the meeting? Pairs read and score it.</a:t>
            </a:r>
          </a:p>
          <a:p>
            <a:r>
              <a:t>Transition: the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score the hire-grade side on the scorecard. The move is Tuesday's: restate,</a:t>
            </a:r>
          </a:p>
          <a:p>
            <a:r>
              <a:t>answer from the evidence, concede what is true, say what would change your mind.</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Nothing here touched survival curves, censoring or tests between curves; the</a:t>
            </a:r>
          </a:p>
          <a:p>
            <a:r>
              <a:t>faculty block (tentative) takes them whenever it runs. Then return to the Kahoot if it has not run.</a:t>
            </a:r>
          </a:p>
          <a:p>
            <a:r>
              <a:t>Transition: end of the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weaning lift retention?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Gold, Chennai, continued, beside Swiggy's own published cohorts: Swiggy removed users with low expected value, so how much of a retention rise can that alone produce?</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weaned 4 million users; retention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Swiggy decide, and what did its numbers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USERS WEANED AWAY</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Instamart users who cost Swiggy money, let go over the three quarters to Q1 FY27</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 to 61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PERCENT</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Instamart's one-month retention of the users who ordered, Q1 FY26 to Q1 FY27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4.14x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 IN THE SIXTH QUARTER</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the cohort that joined in Q4 FY24, against what it spent in the quarter it joined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Swiggy says it used offers aimed at chosen groups of users (minimum order values, free deliveries, new-user coupons) and "weaned away certain users ... with low potential Lifetime values", the value a user is expected to bring over all the time she stays, by withdrawing the offers that kept them. India's financial year runs April to March, so Q1 FY27 is April to June 2026 and Q4 FY24 is January to March 2024. Sources: Swiggy's Q1 FY27 and Q2 FY26 shareholder letters,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26" name="Oval 2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8" name="Oval 2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Drop five weak members, and every column rises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members, five strong and five weak: what happens to each month's rate when the weak five leave (invented)?</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078592"/>
                <a:gridCol w="2351787"/>
                <a:gridCol w="5700610"/>
              </a:tblGrid>
              <a:tr h="369824">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All ten</a:t>
                      </a:r>
                    </a:p>
                  </a:txBody>
                  <a:tcPr marL="101600" marR="101600" marT="38100" marB="38100" anchor="ctr">
                    <a:solidFill>
                      <a:srgbClr val="1A0F5C"/>
                    </a:solidFill>
                  </a:tcPr>
                </a:tc>
                <a:tc>
                  <a:txBody>
                    <a:bodyPr/>
                    <a:lstStyle/>
                    <a:p>
                      <a:r>
                        <a:rPr sz="1450" b="1" i="0">
                          <a:solidFill>
                            <a:srgbClr val="FFFFFF"/>
                          </a:solidFill>
                          <a:latin typeface="Calibri"/>
                        </a:rPr>
                        <a:t>The strong five only</a:t>
                      </a:r>
                    </a:p>
                  </a:txBody>
                  <a:tcPr marL="101600" marR="101600" marT="38100" marB="38100" anchor="ctr">
                    <a:solidFill>
                      <a:srgbClr val="1A0F5C"/>
                    </a:solidFill>
                  </a:tcPr>
                </a:tc>
              </a:tr>
              <a:tr h="369824">
                <a:tc>
                  <a:txBody>
                    <a:bodyPr/>
                    <a:lstStyle/>
                    <a:p>
                      <a:r>
                        <a:rPr sz="1400" b="0" i="0">
                          <a:solidFill>
                            <a:srgbClr val="1A1440"/>
                          </a:solidFill>
                          <a:latin typeface="Calibri"/>
                        </a:rPr>
                        <a:t>Month one</a:t>
                      </a:r>
                    </a:p>
                  </a:txBody>
                  <a:tcPr marL="101600" marR="101600" marT="38100" marB="38100" anchor="ctr">
                    <a:solidFill>
                      <a:srgbClr val="FFFFFF"/>
                    </a:solidFill>
                  </a:tcPr>
                </a:tc>
                <a:tc>
                  <a:txBody>
                    <a:bodyPr/>
                    <a:lstStyle/>
                    <a:p>
                      <a:r>
                        <a:rPr sz="1400" b="0" i="0">
                          <a:solidFill>
                            <a:srgbClr val="1A1440"/>
                          </a:solidFill>
                          <a:latin typeface="Calibri"/>
                        </a:rPr>
                        <a:t>7 of 10</a:t>
                      </a:r>
                    </a:p>
                  </a:txBody>
                  <a:tcPr marL="101600" marR="101600" marT="38100" marB="38100" anchor="ctr">
                    <a:solidFill>
                      <a:srgbClr val="FFFFFF"/>
                    </a:solidFill>
                  </a:tcPr>
                </a:tc>
                <a:tc>
                  <a:txBody>
                    <a:bodyPr/>
                    <a:lstStyle/>
                    <a:p>
                      <a:r>
                        <a:rPr sz="1400" b="0" i="0">
                          <a:solidFill>
                            <a:srgbClr val="1A1440"/>
                          </a:solidFill>
                          <a:latin typeface="Calibri"/>
                        </a:rPr>
                        <a:t>5 of 5</a:t>
                      </a:r>
                    </a:p>
                  </a:txBody>
                  <a:tcPr marL="101600" marR="101600" marT="38100" marB="38100" anchor="ctr">
                    <a:solidFill>
                      <a:srgbClr val="FFFFFF"/>
                    </a:solidFill>
                  </a:tcPr>
                </a:tc>
              </a:tr>
              <a:tr h="369824">
                <a:tc>
                  <a:txBody>
                    <a:bodyPr/>
                    <a:lstStyle/>
                    <a:p>
                      <a:r>
                        <a:rPr sz="1400" b="0" i="0">
                          <a:solidFill>
                            <a:srgbClr val="1A1440"/>
                          </a:solidFill>
                          <a:latin typeface="Calibri"/>
                        </a:rPr>
                        <a:t>Month two</a:t>
                      </a:r>
                    </a:p>
                  </a:txBody>
                  <a:tcPr marL="101600" marR="101600" marT="38100" marB="38100" anchor="ctr">
                    <a:solidFill>
                      <a:srgbClr val="F4F2FA"/>
                    </a:solidFill>
                  </a:tcPr>
                </a:tc>
                <a:tc>
                  <a:txBody>
                    <a:bodyPr/>
                    <a:lstStyle/>
                    <a:p>
                      <a:r>
                        <a:rPr sz="1400" b="0" i="0">
                          <a:solidFill>
                            <a:srgbClr val="1A1440"/>
                          </a:solidFill>
                          <a:latin typeface="Calibri"/>
                        </a:rPr>
                        <a:t>5 of 10</a:t>
                      </a:r>
                    </a:p>
                  </a:txBody>
                  <a:tcPr marL="101600" marR="101600" marT="38100" marB="38100" anchor="ctr">
                    <a:solidFill>
                      <a:srgbClr val="F4F2FA"/>
                    </a:solidFill>
                  </a:tcPr>
                </a:tc>
                <a:tc>
                  <a:txBody>
                    <a:bodyPr/>
                    <a:lstStyle/>
                    <a:p>
                      <a:r>
                        <a:rPr sz="1400" b="0" i="0">
                          <a:solidFill>
                            <a:srgbClr val="1A1440"/>
                          </a:solidFill>
                          <a:latin typeface="Calibri"/>
                        </a:rPr>
                        <a:t>5 of 5</a:t>
                      </a:r>
                    </a:p>
                  </a:txBody>
                  <a:tcPr marL="101600" marR="101600" marT="38100" marB="38100" anchor="ctr">
                    <a:solidFill>
                      <a:srgbClr val="F4F2FA"/>
                    </a:solidFill>
                  </a:tcPr>
                </a:tc>
              </a:tr>
              <a:tr h="369824">
                <a:tc>
                  <a:txBody>
                    <a:bodyPr/>
                    <a:lstStyle/>
                    <a:p>
                      <a:r>
                        <a:rPr sz="1400" b="0" i="0">
                          <a:solidFill>
                            <a:srgbClr val="1A1440"/>
                          </a:solidFill>
                          <a:latin typeface="Calibri"/>
                        </a:rPr>
                        <a:t>Month three</a:t>
                      </a:r>
                    </a:p>
                  </a:txBody>
                  <a:tcPr marL="101600" marR="101600" marT="38100" marB="38100" anchor="ctr">
                    <a:solidFill>
                      <a:srgbClr val="FFFFFF"/>
                    </a:solidFill>
                  </a:tcPr>
                </a:tc>
                <a:tc>
                  <a:txBody>
                    <a:bodyPr/>
                    <a:lstStyle/>
                    <a:p>
                      <a:r>
                        <a:rPr sz="1400" b="0" i="0">
                          <a:solidFill>
                            <a:srgbClr val="1A1440"/>
                          </a:solidFill>
                          <a:latin typeface="Calibri"/>
                        </a:rPr>
                        <a:t>4 of 10</a:t>
                      </a:r>
                    </a:p>
                  </a:txBody>
                  <a:tcPr marL="101600" marR="101600" marT="38100" marB="38100" anchor="ctr">
                    <a:solidFill>
                      <a:srgbClr val="FFFFFF"/>
                    </a:solidFill>
                  </a:tcPr>
                </a:tc>
                <a:tc>
                  <a:txBody>
                    <a:bodyPr/>
                    <a:lstStyle/>
                    <a:p>
                      <a:r>
                        <a:rPr sz="1400" b="0" i="0">
                          <a:solidFill>
                            <a:srgbClr val="1A1440"/>
                          </a:solidFill>
                          <a:latin typeface="Calibri"/>
                        </a:rPr>
                        <a:t>4 of 5</a:t>
                      </a:r>
                    </a:p>
                  </a:txBody>
                  <a:tcPr marL="101600" marR="101600" marT="38100" marB="38100" anchor="ctr">
                    <a:solidFill>
                      <a:srgbClr val="FFFFFF"/>
                    </a:solidFill>
                  </a:tcPr>
                </a:tc>
              </a:tr>
              <a:tr h="369824">
                <a:tc>
                  <a:txBody>
                    <a:bodyPr/>
                    <a:lstStyle/>
                    <a:p>
                      <a:r>
                        <a:rPr sz="1400" b="0" i="0">
                          <a:solidFill>
                            <a:srgbClr val="1A1440"/>
                          </a:solidFill>
                          <a:latin typeface="Calibri"/>
                        </a:rPr>
                        <a:t>Month four</a:t>
                      </a:r>
                    </a:p>
                  </a:txBody>
                  <a:tcPr marL="101600" marR="101600" marT="38100" marB="38100" anchor="ctr">
                    <a:solidFill>
                      <a:srgbClr val="F4F2FA"/>
                    </a:solidFill>
                  </a:tcPr>
                </a:tc>
                <a:tc>
                  <a:txBody>
                    <a:bodyPr/>
                    <a:lstStyle/>
                    <a:p>
                      <a:r>
                        <a:rPr sz="1400" b="0" i="0">
                          <a:solidFill>
                            <a:srgbClr val="1A1440"/>
                          </a:solidFill>
                          <a:latin typeface="Calibri"/>
                        </a:rPr>
                        <a:t>3 of 10</a:t>
                      </a:r>
                    </a:p>
                  </a:txBody>
                  <a:tcPr marL="101600" marR="101600" marT="38100" marB="38100" anchor="ctr">
                    <a:solidFill>
                      <a:srgbClr val="F4F2FA"/>
                    </a:solidFill>
                  </a:tcPr>
                </a:tc>
                <a:tc>
                  <a:txBody>
                    <a:bodyPr/>
                    <a:lstStyle/>
                    <a:p>
                      <a:r>
                        <a:rPr sz="1400" b="0" i="0">
                          <a:solidFill>
                            <a:srgbClr val="1A1440"/>
                          </a:solidFill>
                          <a:latin typeface="Calibri"/>
                        </a:rPr>
                        <a:t>3 of 5</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 member changed what she did, and every month's rate rose: 70 to 100, 50 to 100, 40 to 80, 30 to 60 percent. A retention rise after a weaning is partly the mix of who remains.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give three different charts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denominator does a published cohort chart use, and what would the others say?</a:t>
            </a:r>
          </a:p>
        </p:txBody>
      </p:sp>
      <p:pic>
        <p:nvPicPr>
          <p:cNvPr id="9" name="mermaid diagram" descr="c88584e5f6a98df8.png"/>
          <p:cNvPicPr>
            <a:picLocks noChangeAspect="1"/>
          </p:cNvPicPr>
          <p:nvPr/>
        </p:nvPicPr>
        <p:blipFill>
          <a:blip r:embed="rId5"/>
          <a:stretch>
            <a:fillRect/>
          </a:stretch>
        </p:blipFill>
        <p:spPr>
          <a:xfrm>
            <a:off x="1773878" y="1956816"/>
            <a:ext cx="8643937" cy="2271712"/>
          </a:xfrm>
          <a:prstGeom prst="rect">
            <a:avLst/>
          </a:prstGeom>
        </p:spPr>
      </p:pic>
      <p:sp>
        <p:nvSpPr>
          <p:cNvPr id="10" name="TextBox 9"/>
          <p:cNvSpPr txBox="1"/>
          <p:nvPr/>
        </p:nvSpPr>
        <p:spPr>
          <a:xfrm>
            <a:off x="530352" y="4374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cohort chart without its denominator is a shape. Swiggy's table compares each cohort's spend with the quarter it joined and calls the groups "retained user cohorts", and it states no denominator: the first thing to ask is who stays in the count. Removing users in one quarter lifts that quarter's cells and every later one, with nobody's behaviour changing.</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a weekly table agree?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Rebuilt by signup week instead of signup month, which part of the morning's story holds and which needs new words?</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cohorts by signup week, from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a weekly cohort table built from the event log?</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placed = ev[ev["stage"] == "order_placed"]</a:t>
            </a:r>
          </a:p>
          <a:p>
            <a:pPr>
              <a:spcAft>
                <a:spcPts val="200"/>
              </a:spcAft>
            </a:pPr>
            <a:r>
              <a:rPr sz="1400" b="0" i="0">
                <a:solidFill>
                  <a:srgbClr val="E4E1F1"/>
                </a:solidFill>
                <a:latin typeface="Consolas"/>
              </a:rPr>
              <a:t>monday = placed["event_ts"].dt.to_period("W-SUN").dt.start_time   # W-SUN: weeks end on Sunday, so each starts on a Monday</a:t>
            </a:r>
          </a:p>
          <a:p>
            <a:pPr>
              <a:spcAft>
                <a:spcPts val="200"/>
              </a:spcAft>
            </a:pPr>
            <a:r>
              <a:rPr sz="1400" b="0" i="0">
                <a:solidFill>
                  <a:srgbClr val="E4E1F1"/>
                </a:solidFill>
                <a:latin typeface="Consolas"/>
              </a:rPr>
              <a:t>orders_week = set(zip(placed["user_id"], monday))                # user_id in events is the member_id in members</a:t>
            </a:r>
          </a:p>
          <a:p>
            <a:pPr>
              <a:spcAft>
                <a:spcPts val="200"/>
              </a:spcAft>
            </a:pPr>
            <a:r>
              <a:rPr sz="1400" b="0" i="0">
                <a:solidFill>
                  <a:srgbClr val="A9A3D2"/>
                </a:solidFill>
                <a:latin typeface="Consolas"/>
              </a:rPr>
              <a:t># a member's signup week starts on the Monday on or before her signup date;</a:t>
            </a:r>
          </a:p>
          <a:p>
            <a:pPr>
              <a:spcAft>
                <a:spcPts val="200"/>
              </a:spcAft>
            </a:pPr>
            <a:r>
              <a:rPr sz="1400" b="0" i="0">
                <a:solidFill>
                  <a:srgbClr val="A9A3D2"/>
                </a:solidFill>
                <a:latin typeface="Consolas"/>
              </a:rPr>
              <a:t># week k is the week whose Monday is k x 7 days after that one</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Members who joined from 3 August to 13 September form six weekly cohorts. A member is active in week k when she placed an order that week. The week of 28 September is three days long, so the table stops at the week of 21 September.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1" name="Oval 20"/>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sale week: 53 percent, then 12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weekly table show for the sale week against the weeks either side of it?</a:t>
            </a:r>
          </a:p>
        </p:txBody>
      </p:sp>
      <p:pic>
        <p:nvPicPr>
          <p:cNvPr id="9" name="mermaid diagram" descr="C2_W04_D04_weekly_cohorts_STUDENT.png"/>
          <p:cNvPicPr>
            <a:picLocks noChangeAspect="1"/>
          </p:cNvPicPr>
          <p:nvPr/>
        </p:nvPicPr>
        <p:blipFill>
          <a:blip r:embed="rId4"/>
          <a:stretch>
            <a:fillRect/>
          </a:stretch>
        </p:blipFill>
        <p:spPr>
          <a:xfrm>
            <a:off x="2837436" y="1664208"/>
            <a:ext cx="65168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cohorts: the sale week orders once, then falls away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Percent of each weekly cohort that ordered in each full week after joining. The week of 17 August, the sale week, brought 9,108 members, the 8,027 who joined on the sale's discount among them. They ordered at 53 percent in their first full week, the most of any cohort, and then fell off a cliff to 12, the steepest fall of the six. The five other weeks, 1,112 to 1,247 members each, start between 27 and 38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8" name="Oval 1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survives; the words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of the morning holds on a weekly table, and which has to be rewritten?</a:t>
            </a:r>
          </a:p>
        </p:txBody>
      </p:sp>
      <p:graphicFrame>
        <p:nvGraphicFramePr>
          <p:cNvPr id="9" name="Table 8"/>
          <p:cNvGraphicFramePr>
            <a:graphicFrameLocks noGrp="1"/>
          </p:cNvGraphicFramePr>
          <p:nvPr/>
        </p:nvGraphicFramePr>
        <p:xfrm>
          <a:off x="530352" y="1956816"/>
          <a:ext cx="11130991" cy="2332736"/>
        </p:xfrm>
        <a:graphic>
          <a:graphicData uri="http://schemas.openxmlformats.org/drawingml/2006/table">
            <a:tbl>
              <a:tblPr firstRow="0" bandRow="0">
                <a:tableStyleId>{2D5ABB26-0587-4C30-8999-92F81FD0307C}</a:tableStyleId>
              </a:tblPr>
              <a:tblGrid>
                <a:gridCol w="5003138"/>
                <a:gridCol w="6127853"/>
              </a:tblGrid>
              <a:tr h="369824">
                <a:tc>
                  <a:txBody>
                    <a:bodyPr/>
                    <a:lstStyle/>
                    <a:p>
                      <a:r>
                        <a:rPr sz="1450" b="1" i="0">
                          <a:solidFill>
                            <a:srgbClr val="FFFFFF"/>
                          </a:solidFill>
                          <a:latin typeface="Calibri"/>
                        </a:rPr>
                        <a:t>The morning said</a:t>
                      </a:r>
                    </a:p>
                  </a:txBody>
                  <a:tcPr marL="101600" marR="101600" marT="38100" marB="38100" anchor="ctr">
                    <a:solidFill>
                      <a:srgbClr val="1A0F5C"/>
                    </a:solidFill>
                  </a:tcPr>
                </a:tc>
                <a:tc>
                  <a:txBody>
                    <a:bodyPr/>
                    <a:lstStyle/>
                    <a:p>
                      <a:r>
                        <a:rPr sz="1450" b="1" i="0">
                          <a:solidFill>
                            <a:srgbClr val="FFFFFF"/>
                          </a:solidFill>
                          <a:latin typeface="Calibri"/>
                        </a:rPr>
                        <a:t>On the weekly table</a:t>
                      </a:r>
                    </a:p>
                  </a:txBody>
                  <a:tcPr marL="101600" marR="101600" marT="38100" marB="38100" anchor="ctr">
                    <a:solidFill>
                      <a:srgbClr val="1A0F5C"/>
                    </a:solidFill>
                  </a:tcPr>
                </a:tc>
              </a:tr>
              <a:tr h="369824">
                <a:tc>
                  <a:txBody>
                    <a:bodyPr/>
                    <a:lstStyle/>
                    <a:p>
                      <a:r>
                        <a:rPr sz="1400" b="0" i="0">
                          <a:solidFill>
                            <a:srgbClr val="1A1440"/>
                          </a:solidFill>
                          <a:latin typeface="Calibri"/>
                        </a:rPr>
                        <a:t>Every cohort falls with age</a:t>
                      </a:r>
                    </a:p>
                  </a:txBody>
                  <a:tcPr marL="101600" marR="101600" marT="38100" marB="38100" anchor="ctr">
                    <a:solidFill>
                      <a:srgbClr val="FFFFFF"/>
                    </a:solidFill>
                  </a:tcPr>
                </a:tc>
                <a:tc>
                  <a:txBody>
                    <a:bodyPr/>
                    <a:lstStyle/>
                    <a:p>
                      <a:r>
                        <a:rPr sz="1400" b="0" i="0">
                          <a:solidFill>
                            <a:srgbClr val="1A1440"/>
                          </a:solidFill>
                          <a:latin typeface="Calibri"/>
                        </a:rPr>
                        <a:t>Holds, with noise: weekly cohorts of 1,112 to 1,247 members</a:t>
                      </a:r>
                    </a:p>
                  </a:txBody>
                  <a:tcPr marL="101600" marR="101600" marT="38100" marB="38100" anchor="ctr">
                    <a:solidFill>
                      <a:srgbClr val="FFFFFF"/>
                    </a:solidFill>
                  </a:tcPr>
                </a:tc>
              </a:tr>
              <a:tr h="611632">
                <a:tc>
                  <a:txBody>
                    <a:bodyPr/>
                    <a:lstStyle/>
                    <a:p>
                      <a:r>
                        <a:rPr sz="1400" b="0" i="0">
                          <a:solidFill>
                            <a:srgbClr val="1A1440"/>
                          </a:solidFill>
                          <a:latin typeface="Calibri"/>
                        </a:rPr>
                        <a:t>The sale-week members are the weakest</a:t>
                      </a:r>
                    </a:p>
                  </a:txBody>
                  <a:tcPr marL="101600" marR="101600" marT="38100" marB="38100" anchor="ctr">
                    <a:solidFill>
                      <a:srgbClr val="F4F2FA"/>
                    </a:solidFill>
                  </a:tcPr>
                </a:tc>
                <a:tc>
                  <a:txBody>
                    <a:bodyPr/>
                    <a:lstStyle/>
                    <a:p>
                      <a:r>
                        <a:rPr sz="1400" b="0" i="0">
                          <a:solidFill>
                            <a:srgbClr val="1A1440"/>
                          </a:solidFill>
                          <a:latin typeface="Calibri"/>
                        </a:rPr>
                        <a:t>Holds for the sale week's cohort after its first week; in that first week it looks strongest</a:t>
                      </a:r>
                    </a:p>
                  </a:txBody>
                  <a:tcPr marL="101600" marR="101600" marT="38100" marB="38100" anchor="ctr">
                    <a:solidFill>
                      <a:srgbClr val="F4F2FA"/>
                    </a:solidFill>
                  </a:tcPr>
                </a:tc>
              </a:tr>
              <a:tr h="611632">
                <a:tc>
                  <a:txBody>
                    <a:bodyPr/>
                    <a:lstStyle/>
                    <a:p>
                      <a:r>
                        <a:rPr sz="1400" b="0" i="0">
                          <a:solidFill>
                            <a:srgbClr val="1A1440"/>
                          </a:solidFill>
                          <a:latin typeface="Calibri"/>
                        </a:rPr>
                        <a:t>Rates near 38 percent</a:t>
                      </a:r>
                    </a:p>
                  </a:txBody>
                  <a:tcPr marL="101600" marR="101600" marT="38100" marB="38100" anchor="ctr">
                    <a:solidFill>
                      <a:srgbClr val="FFFFFF"/>
                    </a:solidFill>
                  </a:tcPr>
                </a:tc>
                <a:tc>
                  <a:txBody>
                    <a:bodyPr/>
                    <a:lstStyle/>
                    <a:p>
                      <a:r>
                        <a:rPr sz="1400" b="0" i="0">
                          <a:solidFill>
                            <a:srgbClr val="1A1440"/>
                          </a:solidFill>
                          <a:latin typeface="Calibri"/>
                        </a:rPr>
                        <a:t>Weekly rates are lower: ordering in a given week is rarer than in a month</a:t>
                      </a:r>
                    </a:p>
                  </a:txBody>
                  <a:tcPr marL="101600" marR="101600" marT="38100" marB="38100" anchor="ctr">
                    <a:solidFill>
                      <a:srgbClr val="FFFFFF"/>
                    </a:solidFill>
                  </a:tcPr>
                </a:tc>
              </a:tr>
              <a:tr h="369824">
                <a:tc>
                  <a:txBody>
                    <a:bodyPr/>
                    <a:lstStyle/>
                    <a:p>
                      <a:r>
                        <a:rPr sz="1400" b="0" i="0">
                          <a:solidFill>
                            <a:srgbClr val="1A1440"/>
                          </a:solidFill>
                          <a:latin typeface="Calibri"/>
                        </a:rPr>
                        <a:t>September, the last month, is whole and counted</a:t>
                      </a:r>
                    </a:p>
                  </a:txBody>
                  <a:tcPr marL="101600" marR="101600" marT="38100" marB="38100" anchor="ctr">
                    <a:solidFill>
                      <a:srgbClr val="F4F2FA"/>
                    </a:solidFill>
                  </a:tcPr>
                </a:tc>
                <a:tc>
                  <a:txBody>
                    <a:bodyPr/>
                    <a:lstStyle/>
                    <a:p>
                      <a:r>
                        <a:rPr sz="1400" b="0" i="0">
                          <a:solidFill>
                            <a:srgbClr val="1A1440"/>
                          </a:solidFill>
                          <a:latin typeface="Calibri"/>
                        </a:rPr>
                        <a:t>The week of 28 September has three days and is left out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Gold cause the orders?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says Gold members order about 60 percent more after joining; what comparison would let anyone say Gold caused it?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 members order about 60 percent more after joining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Zomato's own number say, and what does it leave out?</a:t>
            </a:r>
          </a:p>
        </p:txBody>
      </p:sp>
      <p:pic>
        <p:nvPicPr>
          <p:cNvPr id="9" name="mermaid diagram" descr="29d30e77a001c4e4.png"/>
          <p:cNvPicPr>
            <a:picLocks noChangeAspect="1"/>
          </p:cNvPicPr>
          <p:nvPr/>
        </p:nvPicPr>
        <p:blipFill>
          <a:blip r:embed="rId5"/>
          <a:stretch>
            <a:fillRect/>
          </a:stretch>
        </p:blipFill>
        <p:spPr>
          <a:xfrm>
            <a:off x="2924022" y="1956816"/>
            <a:ext cx="6343650" cy="2300287"/>
          </a:xfrm>
          <a:prstGeom prst="rect">
            <a:avLst/>
          </a:prstGeom>
        </p:spPr>
      </p:pic>
      <p:sp>
        <p:nvSpPr>
          <p:cNvPr id="10" name="TextBox 9"/>
          <p:cNvSpPr txBox="1"/>
          <p:nvPr/>
        </p:nvSpPr>
        <p:spPr>
          <a:xfrm>
            <a:off x="530352" y="440340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shareholder letter of 19 May 2023 (checked 12 October 2026) says Gold reached 1.8 million members in Q4 FY23 (January to March 2023), its members' orders were about 30 percent of food delivery GOV, gross order value, the value of all orders placed, in March 2023, and their order frequency rose about 60 percent after joining. The number describes members; it does not show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comparisons that would say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comparison would separate what Gold did from who chose Gold?</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542873"/>
                <a:gridCol w="3495480"/>
                <a:gridCol w="3092637"/>
              </a:tblGrid>
              <a:tr h="369824">
                <a:tc>
                  <a:txBody>
                    <a:bodyPr/>
                    <a:lstStyle/>
                    <a:p>
                      <a:r>
                        <a:rPr sz="1450" b="1" i="0">
                          <a:solidFill>
                            <a:srgbClr val="FFFFFF"/>
                          </a:solidFill>
                          <a:latin typeface="Calibri"/>
                        </a:rPr>
                        <a:t>Comparison</a:t>
                      </a:r>
                    </a:p>
                  </a:txBody>
                  <a:tcPr marL="101600" marR="101600" marT="38100" marB="38100" anchor="ctr">
                    <a:solidFill>
                      <a:srgbClr val="1A0F5C"/>
                    </a:solidFill>
                  </a:tcPr>
                </a:tc>
                <a:tc>
                  <a:txBody>
                    <a:bodyPr/>
                    <a:lstStyle/>
                    <a:p>
                      <a:r>
                        <a:rPr sz="1450" b="1" i="0">
                          <a:solidFill>
                            <a:srgbClr val="FFFFFF"/>
                          </a:solidFill>
                          <a:latin typeface="Calibri"/>
                        </a:rPr>
                        <a:t>What it controls for</a:t>
                      </a:r>
                    </a:p>
                  </a:txBody>
                  <a:tcPr marL="101600" marR="101600" marT="38100" marB="38100" anchor="ctr">
                    <a:solidFill>
                      <a:srgbClr val="1A0F5C"/>
                    </a:solidFill>
                  </a:tcPr>
                </a:tc>
                <a:tc>
                  <a:txBody>
                    <a:bodyPr/>
                    <a:lstStyle/>
                    <a:p>
                      <a:r>
                        <a:rPr sz="1450" b="1" i="0">
                          <a:solidFill>
                            <a:srgbClr val="FFFFFF"/>
                          </a:solidFill>
                          <a:latin typeface="Calibri"/>
                        </a:rPr>
                        <a:t>What it still misses</a:t>
                      </a:r>
                    </a:p>
                  </a:txBody>
                  <a:tcPr marL="101600" marR="101600" marT="38100" marB="38100" anchor="ctr">
                    <a:solidFill>
                      <a:srgbClr val="1A0F5C"/>
                    </a:solidFill>
                  </a:tcPr>
                </a:tc>
              </a:tr>
              <a:tr h="611632">
                <a:tc>
                  <a:txBody>
                    <a:bodyPr/>
                    <a:lstStyle/>
                    <a:p>
                      <a:r>
                        <a:rPr sz="1400" b="0" i="0">
                          <a:solidFill>
                            <a:srgbClr val="1A1440"/>
                          </a:solidFill>
                          <a:latin typeface="Calibri"/>
                        </a:rPr>
                        <a:t>Matched customers who did not join</a:t>
                      </a:r>
                    </a:p>
                  </a:txBody>
                  <a:tcPr marL="101600" marR="101600" marT="38100" marB="38100" anchor="ctr">
                    <a:solidFill>
                      <a:srgbClr val="FFFFFF"/>
                    </a:solidFill>
                  </a:tcPr>
                </a:tc>
                <a:tc>
                  <a:txBody>
                    <a:bodyPr/>
                    <a:lstStyle/>
                    <a:p>
                      <a:r>
                        <a:rPr sz="1400" b="0" i="0">
                          <a:solidFill>
                            <a:srgbClr val="1A1440"/>
                          </a:solidFill>
                          <a:latin typeface="Calibri"/>
                        </a:rPr>
                        <a:t>Customers who ordered alike before</a:t>
                      </a:r>
                    </a:p>
                  </a:txBody>
                  <a:tcPr marL="101600" marR="101600" marT="38100" marB="38100" anchor="ctr">
                    <a:solidFill>
                      <a:srgbClr val="FFFFFF"/>
                    </a:solidFill>
                  </a:tcPr>
                </a:tc>
                <a:tc>
                  <a:txBody>
                    <a:bodyPr/>
                    <a:lstStyle/>
                    <a:p>
                      <a:r>
                        <a:rPr sz="1400" b="0" i="0">
                          <a:solidFill>
                            <a:srgbClr val="1A1440"/>
                          </a:solidFill>
                          <a:latin typeface="Calibri"/>
                        </a:rPr>
                        <a:t>Why one joined and the other did not</a:t>
                      </a:r>
                    </a:p>
                  </a:txBody>
                  <a:tcPr marL="101600" marR="101600" marT="38100" marB="38100" anchor="ctr">
                    <a:solidFill>
                      <a:srgbClr val="FFFFFF"/>
                    </a:solidFill>
                  </a:tcPr>
                </a:tc>
              </a:tr>
              <a:tr h="611632">
                <a:tc>
                  <a:txBody>
                    <a:bodyPr/>
                    <a:lstStyle/>
                    <a:p>
                      <a:r>
                        <a:rPr sz="1400" b="0" i="0">
                          <a:solidFill>
                            <a:srgbClr val="1A1440"/>
                          </a:solidFill>
                          <a:latin typeface="Calibri"/>
                        </a:rPr>
                        <a:t>The trend before joining</a:t>
                      </a:r>
                    </a:p>
                  </a:txBody>
                  <a:tcPr marL="101600" marR="101600" marT="38100" marB="38100" anchor="ctr">
                    <a:solidFill>
                      <a:srgbClr val="F4F2FA"/>
                    </a:solidFill>
                  </a:tcPr>
                </a:tc>
                <a:tc>
                  <a:txBody>
                    <a:bodyPr/>
                    <a:lstStyle/>
                    <a:p>
                      <a:r>
                        <a:rPr sz="1400" b="0" i="0">
                          <a:solidFill>
                            <a:srgbClr val="1A1440"/>
                          </a:solidFill>
                          <a:latin typeface="Calibri"/>
                        </a:rPr>
                        <a:t>A member already ordering more each month</a:t>
                      </a:r>
                    </a:p>
                  </a:txBody>
                  <a:tcPr marL="101600" marR="101600" marT="38100" marB="38100" anchor="ctr">
                    <a:solidFill>
                      <a:srgbClr val="F4F2FA"/>
                    </a:solidFill>
                  </a:tcPr>
                </a:tc>
                <a:tc>
                  <a:txBody>
                    <a:bodyPr/>
                    <a:lstStyle/>
                    <a:p>
                      <a:r>
                        <a:rPr sz="1400" b="0" i="0">
                          <a:solidFill>
                            <a:srgbClr val="1A1440"/>
                          </a:solidFill>
                          <a:latin typeface="Calibri"/>
                        </a:rPr>
                        <a:t>A planned change (a move, a new job)</a:t>
                      </a:r>
                    </a:p>
                  </a:txBody>
                  <a:tcPr marL="101600" marR="101600" marT="38100" marB="38100" anchor="ctr">
                    <a:solidFill>
                      <a:srgbClr val="F4F2FA"/>
                    </a:solidFill>
                  </a:tcPr>
                </a:tc>
              </a:tr>
              <a:tr h="611632">
                <a:tc>
                  <a:txBody>
                    <a:bodyPr/>
                    <a:lstStyle/>
                    <a:p>
                      <a:r>
                        <a:rPr sz="1400" b="0" i="0">
                          <a:solidFill>
                            <a:srgbClr val="1A1440"/>
                          </a:solidFill>
                          <a:latin typeface="Calibri"/>
                        </a:rPr>
                        <a:t>A hold-out: Gold offered to some, withheld from others</a:t>
                      </a:r>
                    </a:p>
                  </a:txBody>
                  <a:tcPr marL="101600" marR="101600" marT="38100" marB="38100" anchor="ctr">
                    <a:solidFill>
                      <a:srgbClr val="FFFFFF"/>
                    </a:solidFill>
                  </a:tcPr>
                </a:tc>
                <a:tc>
                  <a:txBody>
                    <a:bodyPr/>
                    <a:lstStyle/>
                    <a:p>
                      <a:r>
                        <a:rPr sz="1400" b="0" i="0">
                          <a:solidFill>
                            <a:srgbClr val="1A1440"/>
                          </a:solidFill>
                          <a:latin typeface="Calibri"/>
                        </a:rPr>
                        <a:t>Who chose to join</a:t>
                      </a:r>
                    </a:p>
                  </a:txBody>
                  <a:tcPr marL="101600" marR="101600" marT="38100" marB="38100" anchor="ctr">
                    <a:solidFill>
                      <a:srgbClr val="FFFFFF"/>
                    </a:solidFill>
                  </a:tcPr>
                </a:tc>
                <a:tc>
                  <a:txBody>
                    <a:bodyPr/>
                    <a:lstStyle/>
                    <a:p>
                      <a:r>
                        <a:rPr sz="1400" b="0" i="0">
                          <a:solidFill>
                            <a:srgbClr val="1A1440"/>
                          </a:solidFill>
                          <a:latin typeface="Calibri"/>
                        </a:rPr>
                        <a:t>The cost of withholding the offer</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app team's stage fine?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app team says the funnel stage the room blamed is fine: how does a strong candidate answer a dispute that is partly right?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dispute, answered with the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weak answer bring to the meeting, and what does a hire-grade one bring?</a:t>
            </a:r>
          </a:p>
        </p:txBody>
      </p:sp>
      <p:graphicFrame>
        <p:nvGraphicFramePr>
          <p:cNvPr id="9" name="Table 8"/>
          <p:cNvGraphicFramePr>
            <a:graphicFrameLocks noGrp="1"/>
          </p:cNvGraphicFramePr>
          <p:nvPr/>
        </p:nvGraphicFramePr>
        <p:xfrm>
          <a:off x="530352" y="1956816"/>
          <a:ext cx="11130989" cy="3299968"/>
        </p:xfrm>
        <a:graphic>
          <a:graphicData uri="http://schemas.openxmlformats.org/drawingml/2006/table">
            <a:tbl>
              <a:tblPr firstRow="0" bandRow="0">
                <a:tableStyleId>{2D5ABB26-0587-4C30-8999-92F81FD0307C}</a:tableStyleId>
              </a:tblPr>
              <a:tblGrid>
                <a:gridCol w="2433579"/>
                <a:gridCol w="3322230"/>
                <a:gridCol w="5375180"/>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 one that gets the job</a:t>
                      </a:r>
                    </a:p>
                  </a:txBody>
                  <a:tcPr marL="101600" marR="101600" marT="38100" marB="38100" anchor="ctr">
                    <a:solidFill>
                      <a:srgbClr val="1A0F5C"/>
                    </a:solidFill>
                  </a:tcPr>
                </a:tc>
              </a:tr>
              <a:tr h="611632">
                <a:tc>
                  <a:txBody>
                    <a:bodyPr/>
                    <a:lstStyle/>
                    <a:p>
                      <a:r>
                        <a:rPr sz="1400" b="0" i="0">
                          <a:solidFill>
                            <a:srgbClr val="1A1440"/>
                          </a:solidFill>
                          <a:latin typeface="Calibri"/>
                        </a:rPr>
                        <a:t>Opening</a:t>
                      </a:r>
                    </a:p>
                  </a:txBody>
                  <a:tcPr marL="101600" marR="101600" marT="38100" marB="38100" anchor="ctr">
                    <a:solidFill>
                      <a:srgbClr val="FFFFFF"/>
                    </a:solidFill>
                  </a:tcPr>
                </a:tc>
                <a:tc>
                  <a:txBody>
                    <a:bodyPr/>
                    <a:lstStyle/>
                    <a:p>
                      <a:r>
                        <a:rPr sz="1400" b="0" i="0">
                          <a:solidFill>
                            <a:srgbClr val="1A1440"/>
                          </a:solidFill>
                          <a:latin typeface="Calibri"/>
                        </a:rPr>
                        <a:t>"Your release broke checkout."</a:t>
                      </a:r>
                    </a:p>
                  </a:txBody>
                  <a:tcPr marL="101600" marR="101600" marT="38100" marB="38100" anchor="ctr">
                    <a:solidFill>
                      <a:srgbClr val="FFFFFF"/>
                    </a:solidFill>
                  </a:tcPr>
                </a:tc>
                <a:tc>
                  <a:txBody>
                    <a:bodyPr/>
                    <a:lstStyle/>
                    <a:p>
                      <a:r>
                        <a:rPr sz="1400" b="0" i="0">
                          <a:solidFill>
                            <a:srgbClr val="1A1440"/>
                          </a:solidFill>
                          <a:latin typeface="Calibri"/>
                        </a:rPr>
                        <a:t>"You're right that checkout starts held at 80 percent; I'd like to show the next step."</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Overall conversion before and after</a:t>
                      </a:r>
                    </a:p>
                  </a:txBody>
                  <a:tcPr marL="101600" marR="101600" marT="38100" marB="38100" anchor="ctr">
                    <a:solidFill>
                      <a:srgbClr val="F4F2FA"/>
                    </a:solidFill>
                  </a:tcPr>
                </a:tc>
                <a:tc>
                  <a:txBody>
                    <a:bodyPr/>
                    <a:lstStyle/>
                    <a:p>
                      <a:r>
                        <a:rPr sz="1400" b="0" i="0">
                          <a:solidFill>
                            <a:srgbClr val="1A1440"/>
                          </a:solidFill>
                          <a:latin typeface="Calibri"/>
                        </a:rPr>
                        <a:t>Checkout start to order, per session, 72.5 to 55, members on Android only, from the release week</a:t>
                      </a:r>
                    </a:p>
                  </a:txBody>
                  <a:tcPr marL="101600" marR="101600" marT="38100" marB="38100" anchor="ctr">
                    <a:solidFill>
                      <a:srgbClr val="F4F2FA"/>
                    </a:solidFill>
                  </a:tcPr>
                </a:tc>
              </a:tr>
              <a:tr h="853440">
                <a:tc>
                  <a:txBody>
                    <a:bodyPr/>
                    <a:lstStyle/>
                    <a:p>
                      <a:r>
                        <a:rPr sz="1400" b="0" i="0">
                          <a:solidFill>
                            <a:srgbClr val="1A1440"/>
                          </a:solidFill>
                          <a:latin typeface="Calibri"/>
                        </a:rPr>
                        <a:t>The comparators</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c>
                  <a:txBody>
                    <a:bodyPr/>
                    <a:lstStyle/>
                    <a:p>
                      <a:r>
                        <a:rPr sz="1400" b="0" i="0">
                          <a:solidFill>
                            <a:srgbClr val="1A1440"/>
                          </a:solidFill>
                          <a:latin typeface="Calibri"/>
                        </a:rPr>
                        <a:t>On the same step, iOS members 71 to 70 and non-members on Android 65 to 64; members who joined before August, iOS 68.6 to 69.3</a:t>
                      </a:r>
                    </a:p>
                  </a:txBody>
                  <a:tcPr marL="101600" marR="101600" marT="38100" marB="38100" anchor="ctr">
                    <a:solidFill>
                      <a:srgbClr val="FFFFFF"/>
                    </a:solidFill>
                  </a:tcPr>
                </a:tc>
              </a:tr>
              <a:tr h="853440">
                <a:tc>
                  <a:txBody>
                    <a:bodyPr/>
                    <a:lstStyle/>
                    <a:p>
                      <a:r>
                        <a:rPr sz="1400" b="0" i="0">
                          <a:solidFill>
                            <a:srgbClr val="1A1440"/>
                          </a:solidFill>
                          <a:latin typeface="Calibri"/>
                        </a:rPr>
                        <a:t>What would change my mind</a:t>
                      </a:r>
                    </a:p>
                  </a:txBody>
                  <a:tcPr marL="101600" marR="101600" marT="38100" marB="38100" anchor="ctr">
                    <a:solidFill>
                      <a:srgbClr val="F4F2FA"/>
                    </a:solidFill>
                  </a:tcPr>
                </a:tc>
                <a:tc>
                  <a:txBody>
                    <a:bodyPr/>
                    <a:lstStyle/>
                    <a:p>
                      <a:r>
                        <a:rPr sz="1400" b="0" i="0">
                          <a:solidFill>
                            <a:srgbClr val="1A1440"/>
                          </a:solidFill>
                          <a:latin typeface="Calibri"/>
                        </a:rPr>
                        <a:t>Nothing</a:t>
                      </a:r>
                    </a:p>
                  </a:txBody>
                  <a:tcPr marL="101600" marR="101600" marT="38100" marB="38100" anchor="ctr">
                    <a:solidFill>
                      <a:srgbClr val="F4F2FA"/>
                    </a:solidFill>
                  </a:tcPr>
                </a:tc>
                <a:tc>
                  <a:txBody>
                    <a:bodyPr/>
                    <a:lstStyle/>
                    <a:p>
                      <a:r>
                        <a:rPr sz="1400" b="0" i="0">
                          <a:solidFill>
                            <a:srgbClr val="1A1440"/>
                          </a:solidFill>
                          <a:latin typeface="Calibri"/>
                        </a:rPr>
                        <a:t>"If the order records showed orders holding while the event log fell, or if members who failed came back and ordered later, I'd withdraw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block in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fallback block add to the day?</a:t>
            </a:r>
          </a:p>
        </p:txBody>
      </p:sp>
      <p:sp>
        <p:nvSpPr>
          <p:cNvPr id="9" name="TextBox 8"/>
          <p:cNvSpPr txBox="1"/>
          <p:nvPr/>
        </p:nvSpPr>
        <p:spPr>
          <a:xfrm>
            <a:off x="530352" y="19568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retention number can rise or hold because of who is counted, with nobody's behaviour changing: the cohort table with its denominator and its grain named is what tells the two apart.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