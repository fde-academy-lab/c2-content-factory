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opening and say that the hour teaches no survival content; the IITGN</a:t>
            </a:r>
          </a:p>
          <a:p>
            <a:r>
              <a:t>block owns that whenever it runs. Four short sections, 35 + 40 + 25 + 20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four lines aloud. The question for the room: which of these three</a:t>
            </a:r>
          </a:p>
          <a:p>
            <a:r>
              <a:t>explanations could show up with no change in anyone's behaviour at all? Expect "removing weak</a:t>
            </a:r>
          </a:p>
          <a:p>
            <a:r>
              <a:t>users" and reinforce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Build the table on the board with the room. The teaching move is StatQuest's:</a:t>
            </a:r>
          </a:p>
          <a:p>
            <a:r>
              <a:t>tiny numbers aloud, each step named. The point is that a weaning policy and a product improvement</a:t>
            </a:r>
          </a:p>
          <a:p>
            <a:r>
              <a:t>cannot be told apart from a blended number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room writes the three denominator choices and names what each would say</a:t>
            </a:r>
          </a:p>
          <a:p>
            <a:r>
              <a:t>about the lift. The hire-grade candidate asks for the denominator before trusting the number.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pair exercise: redraw the Chennai triangle at the week axis, from the</a:t>
            </a:r>
          </a:p>
          <a:p>
            <a:r>
              <a:t>member_months file (the finishing session owns the exercise's final form). Ask: which teaching</a:t>
            </a:r>
          </a:p>
          <a:p>
            <a:r>
              <a:t>sentence survives, and which has to be rephrased.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This is the mathematical close. The formula is the shorthand for what the hand</a:t>
            </a:r>
          </a:p>
          <a:p>
            <a:r>
              <a:t>table and the triangle already showed. Then the self-selection story on Zomato.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Walk the two columns side by side. The hire-grade candidate names the matched</a:t>
            </a:r>
          </a:p>
          <a:p>
            <a:r>
              <a:t>comparison as the step that would move the number from a description to a claim. No causal</a:t>
            </a:r>
          </a:p>
          <a:p>
            <a:r>
              <a:t>inference content past this slide; the IITGN block owns it when it 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This is the row's [D] anchor. The teaching move is the case method's: argue</a:t>
            </a:r>
          </a:p>
          <a:p>
            <a:r>
              <a:t>from the evidence, concede what is true, bring the chart that answers the question asked.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sentence. Return control to the main afternoon slot if the block is not</a:t>
            </a:r>
          </a:p>
          <a:p>
            <a:r>
              <a:t>coming. If the block arrives late, close here and start W4-3 cleanly.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THURSDAY  ·  FALLBACK</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weaned-users hour: when a decline hides inside a lift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“Swiggy weaned over four million unprofitable users away and one-month retention rose from 55 to 61 percent. Part of that rise is the mix changing. Which part?”</a:t>
            </a:r>
          </a:p>
        </p:txBody>
      </p:sp>
      <p:sp>
        <p:nvSpPr>
          <p:cNvPr id="10" name="TextBox 9"/>
          <p:cNvSpPr txBox="1"/>
          <p:nvPr/>
        </p:nvSpPr>
        <p:spPr>
          <a:xfrm>
            <a:off x="621792" y="5295646"/>
            <a:ext cx="10033711" cy="399796"/>
          </a:xfrm>
          <a:prstGeom prst="rect">
            <a:avLst/>
          </a:prstGeom>
          <a:noFill/>
        </p:spPr>
        <p:txBody>
          <a:bodyPr wrap="square" anchor="t" lIns="0" rIns="0" tIns="0" bIns="0">
            <a:spAutoFit/>
          </a:bodyPr>
          <a:lstStyle/>
          <a:p>
            <a:pPr algn="l"/>
            <a:r>
              <a:rPr sz="1100" b="0" i="0">
                <a:solidFill>
                  <a:srgbClr val="CFC9EE"/>
                </a:solidFill>
                <a:latin typeface="Calibri"/>
              </a:rPr>
              <a:t>The analyst reading Swiggy's Q1 FY27 letter. Illustrative use: the published numbers are Swiggy's, verified 12 October 2026; the dissection is the programme's.</a:t>
            </a:r>
          </a:p>
        </p:txBody>
      </p:sp>
      <p:sp>
        <p:nvSpPr>
          <p:cNvPr id="11" name="TextBox 10"/>
          <p:cNvSpPr txBox="1"/>
          <p:nvPr/>
        </p:nvSpPr>
        <p:spPr>
          <a:xfrm>
            <a:off x="621792"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052058"/>
            <a:ext cx="1898237" cy="185166"/>
          </a:xfrm>
          <a:prstGeom prst="rect">
            <a:avLst/>
          </a:prstGeom>
          <a:noFill/>
        </p:spPr>
        <p:txBody>
          <a:bodyPr wrap="square" anchor="t" lIns="0" rIns="0" tIns="0" bIns="0">
            <a:spAutoFit/>
          </a:bodyPr>
          <a:lstStyle/>
          <a:p>
            <a:pPr algn="l"/>
            <a:r>
              <a:rPr sz="900" b="0" i="0">
                <a:solidFill>
                  <a:srgbClr val="FFFFFF"/>
                </a:solidFill>
                <a:latin typeface="Calibri"/>
              </a:rPr>
              <a:t>Weaned users and the mix move</a:t>
            </a:r>
          </a:p>
        </p:txBody>
      </p:sp>
      <p:sp>
        <p:nvSpPr>
          <p:cNvPr id="13" name="TextBox 12"/>
          <p:cNvSpPr txBox="1"/>
          <p:nvPr/>
        </p:nvSpPr>
        <p:spPr>
          <a:xfrm>
            <a:off x="3086957"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471005" y="6052058"/>
            <a:ext cx="1993392" cy="333756"/>
          </a:xfrm>
          <a:prstGeom prst="rect">
            <a:avLst/>
          </a:prstGeom>
          <a:noFill/>
        </p:spPr>
        <p:txBody>
          <a:bodyPr wrap="square" anchor="t" lIns="0" rIns="0" tIns="0" bIns="0">
            <a:spAutoFit/>
          </a:bodyPr>
          <a:lstStyle/>
          <a:p>
            <a:pPr algn="l"/>
            <a:r>
              <a:rPr sz="900" b="0" i="0">
                <a:solidFill>
                  <a:srgbClr val="FFFFFF"/>
                </a:solidFill>
                <a:latin typeface="Calibri"/>
              </a:rPr>
              <a:t>Monthly against weekly on today's data</a:t>
            </a:r>
          </a:p>
        </p:txBody>
      </p:sp>
      <p:sp>
        <p:nvSpPr>
          <p:cNvPr id="15" name="TextBox 14"/>
          <p:cNvSpPr txBox="1"/>
          <p:nvPr/>
        </p:nvSpPr>
        <p:spPr>
          <a:xfrm>
            <a:off x="5647277"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031325" y="6052058"/>
            <a:ext cx="1993392" cy="333756"/>
          </a:xfrm>
          <a:prstGeom prst="rect">
            <a:avLst/>
          </a:prstGeom>
          <a:noFill/>
        </p:spPr>
        <p:txBody>
          <a:bodyPr wrap="square" anchor="t" lIns="0" rIns="0" tIns="0" bIns="0">
            <a:spAutoFit/>
          </a:bodyPr>
          <a:lstStyle/>
          <a:p>
            <a:pPr algn="l"/>
            <a:r>
              <a:rPr sz="900" b="0" i="0">
                <a:solidFill>
                  <a:srgbClr val="FFFFFF"/>
                </a:solidFill>
                <a:latin typeface="Calibri"/>
              </a:rPr>
              <a:t>Zomato's 60 percent rise, kept descriptive</a:t>
            </a:r>
          </a:p>
        </p:txBody>
      </p:sp>
      <p:sp>
        <p:nvSpPr>
          <p:cNvPr id="17" name="TextBox 16"/>
          <p:cNvSpPr txBox="1"/>
          <p:nvPr/>
        </p:nvSpPr>
        <p:spPr>
          <a:xfrm>
            <a:off x="8207597"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8591645" y="6052058"/>
            <a:ext cx="478631" cy="185166"/>
          </a:xfrm>
          <a:prstGeom prst="rect">
            <a:avLst/>
          </a:prstGeom>
          <a:noFill/>
        </p:spPr>
        <p:txBody>
          <a:bodyPr wrap="square" anchor="t" lIns="0" rIns="0" tIns="0" bIns="0">
            <a:spAutoFit/>
          </a:bodyPr>
          <a:lstStyle/>
          <a:p>
            <a:pPr algn="l"/>
            <a:r>
              <a:rPr sz="900" b="0" i="0">
                <a:solidFill>
                  <a:srgbClr val="FFFFFF"/>
                </a:solidFill>
                <a:latin typeface="Calibri"/>
              </a:rPr>
              <a:t>Close</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weaned-users hour: when a decline hides inside a lift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Weaned users and the mix move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Swiggy's own triangle, the move the mix makes, and the numbers.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Weaned users and the mix move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Monthly against weekly on today's data</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Zomato's 60 percent rise, kept descriptive</a:t>
            </a:r>
          </a:p>
        </p:txBody>
      </p:sp>
      <p:sp>
        <p:nvSpPr>
          <p:cNvPr id="13" name="Rounded Rectangle 12"/>
          <p:cNvSpPr/>
          <p:nvPr/>
        </p:nvSpPr>
        <p:spPr>
          <a:xfrm>
            <a:off x="7441407"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fallback: the weaned-users hour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55 to 61 percent: where does the lift come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rose, what left, and how does the mix shift show in a cohort chart?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156155"/>
                <a:gridCol w="5974835"/>
              </a:tblGrid>
              <a:tr h="369824">
                <a:tc>
                  <a:txBody>
                    <a:bodyPr/>
                    <a:lstStyle/>
                    <a:p>
                      <a:r>
                        <a:rPr sz="1450" b="1" i="0">
                          <a:solidFill>
                            <a:srgbClr val="FFFFFF"/>
                          </a:solidFill>
                          <a:latin typeface="Calibri"/>
                        </a:rPr>
                        <a:t>Fact in R2 (Th3)</a:t>
                      </a:r>
                    </a:p>
                  </a:txBody>
                  <a:tcPr marL="101600" marR="101600" marT="38100" marB="38100" anchor="ctr">
                    <a:solidFill>
                      <a:srgbClr val="1A0F5C"/>
                    </a:solidFill>
                  </a:tcPr>
                </a:tc>
                <a:tc>
                  <a:txBody>
                    <a:bodyPr/>
                    <a:lstStyle/>
                    <a:p>
                      <a:r>
                        <a:rPr sz="1450" b="1" i="0">
                          <a:solidFill>
                            <a:srgbClr val="FFFFFF"/>
                          </a:solidFill>
                          <a:latin typeface="Calibri"/>
                        </a:rPr>
                        <a:t>What the picture shows</a:t>
                      </a:r>
                    </a:p>
                  </a:txBody>
                  <a:tcPr marL="101600" marR="101600" marT="38100" marB="38100" anchor="ctr">
                    <a:solidFill>
                      <a:srgbClr val="1A0F5C"/>
                    </a:solidFill>
                  </a:tcPr>
                </a:tc>
              </a:tr>
              <a:tr h="369824">
                <a:tc>
                  <a:txBody>
                    <a:bodyPr/>
                    <a:lstStyle/>
                    <a:p>
                      <a:r>
                        <a:rPr sz="1400" b="0" i="0">
                          <a:solidFill>
                            <a:srgbClr val="1A1440"/>
                          </a:solidFill>
                          <a:latin typeface="Calibri"/>
                        </a:rPr>
                        <a:t>MTU up 27.4 percent</a:t>
                      </a:r>
                    </a:p>
                  </a:txBody>
                  <a:tcPr marL="101600" marR="101600" marT="38100" marB="38100" anchor="ctr">
                    <a:solidFill>
                      <a:srgbClr val="FFFFFF"/>
                    </a:solidFill>
                  </a:tcPr>
                </a:tc>
                <a:tc>
                  <a:txBody>
                    <a:bodyPr/>
                    <a:lstStyle/>
                    <a:p>
                      <a:r>
                        <a:rPr sz="1400" b="0" i="0">
                          <a:solidFill>
                            <a:srgbClr val="1A1440"/>
                          </a:solidFill>
                          <a:latin typeface="Calibri"/>
                        </a:rPr>
                        <a:t>More users touched the platform in the quarter</a:t>
                      </a:r>
                    </a:p>
                  </a:txBody>
                  <a:tcPr marL="101600" marR="101600" marT="38100" marB="38100" anchor="ctr">
                    <a:solidFill>
                      <a:srgbClr val="FFFFFF"/>
                    </a:solidFill>
                  </a:tcPr>
                </a:tc>
              </a:tr>
              <a:tr h="369824">
                <a:tc>
                  <a:txBody>
                    <a:bodyPr/>
                    <a:lstStyle/>
                    <a:p>
                      <a:r>
                        <a:rPr sz="1400" b="0" i="0">
                          <a:solidFill>
                            <a:srgbClr val="1A1440"/>
                          </a:solidFill>
                          <a:latin typeface="Calibri"/>
                        </a:rPr>
                        <a:t>Platform frequency fell 6.3 percent</a:t>
                      </a:r>
                    </a:p>
                  </a:txBody>
                  <a:tcPr marL="101600" marR="101600" marT="38100" marB="38100" anchor="ctr">
                    <a:solidFill>
                      <a:srgbClr val="F4F2FA"/>
                    </a:solidFill>
                  </a:tcPr>
                </a:tc>
                <a:tc>
                  <a:txBody>
                    <a:bodyPr/>
                    <a:lstStyle/>
                    <a:p>
                      <a:r>
                        <a:rPr sz="1400" b="0" i="0">
                          <a:solidFill>
                            <a:srgbClr val="1A1440"/>
                          </a:solidFill>
                          <a:latin typeface="Calibri"/>
                        </a:rPr>
                        <a:t>Each user used it slightly less often</a:t>
                      </a:r>
                    </a:p>
                  </a:txBody>
                  <a:tcPr marL="101600" marR="101600" marT="38100" marB="38100" anchor="ctr">
                    <a:solidFill>
                      <a:srgbClr val="F4F2FA"/>
                    </a:solidFill>
                  </a:tcPr>
                </a:tc>
              </a:tr>
              <a:tr h="369824">
                <a:tc>
                  <a:txBody>
                    <a:bodyPr/>
                    <a:lstStyle/>
                    <a:p>
                      <a:r>
                        <a:rPr sz="1400" b="0" i="0">
                          <a:solidFill>
                            <a:srgbClr val="1A1440"/>
                          </a:solidFill>
                          <a:latin typeface="Calibri"/>
                        </a:rPr>
                        <a:t>Over four million unprofitable users weaned away</a:t>
                      </a:r>
                    </a:p>
                  </a:txBody>
                  <a:tcPr marL="101600" marR="101600" marT="38100" marB="38100" anchor="ctr">
                    <a:solidFill>
                      <a:srgbClr val="FFFFFF"/>
                    </a:solidFill>
                  </a:tcPr>
                </a:tc>
                <a:tc>
                  <a:txBody>
                    <a:bodyPr/>
                    <a:lstStyle/>
                    <a:p>
                      <a:r>
                        <a:rPr sz="1400" b="0" i="0">
                          <a:solidFill>
                            <a:srgbClr val="1A1440"/>
                          </a:solidFill>
                          <a:latin typeface="Calibri"/>
                        </a:rPr>
                        <a:t>The weakest column of the triangle removed from the base</a:t>
                      </a:r>
                    </a:p>
                  </a:txBody>
                  <a:tcPr marL="101600" marR="101600" marT="38100" marB="38100" anchor="ctr">
                    <a:solidFill>
                      <a:srgbClr val="FFFFFF"/>
                    </a:solidFill>
                  </a:tcPr>
                </a:tc>
              </a:tr>
              <a:tr h="369824">
                <a:tc>
                  <a:txBody>
                    <a:bodyPr/>
                    <a:lstStyle/>
                    <a:p>
                      <a:r>
                        <a:rPr sz="1400" b="0" i="0">
                          <a:solidFill>
                            <a:srgbClr val="1A1440"/>
                          </a:solidFill>
                          <a:latin typeface="Calibri"/>
                        </a:rPr>
                        <a:t>One-month retention 55 to 61 percent</a:t>
                      </a:r>
                    </a:p>
                  </a:txBody>
                  <a:tcPr marL="101600" marR="101600" marT="38100" marB="38100" anchor="ctr">
                    <a:solidFill>
                      <a:srgbClr val="F4F2FA"/>
                    </a:solidFill>
                  </a:tcPr>
                </a:tc>
                <a:tc>
                  <a:txBody>
                    <a:bodyPr/>
                    <a:lstStyle/>
                    <a:p>
                      <a:r>
                        <a:rPr sz="1400" b="0" i="0">
                          <a:solidFill>
                            <a:srgbClr val="1A1440"/>
                          </a:solidFill>
                          <a:latin typeface="Calibri"/>
                        </a:rPr>
                        <a:t>Blended rate climbed six points</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lift of six points on blended retention can come from the remaining users ordering more, from the weakest users leaving, or from both. The cohort chart separates the two, which the dashboard does not.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Weaned users and the mix move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Monthly against weekly on today's data</a:t>
            </a:r>
          </a:p>
        </p:txBody>
      </p:sp>
      <p:sp>
        <p:nvSpPr>
          <p:cNvPr id="15" name="Oval 14"/>
          <p:cNvSpPr/>
          <p:nvPr/>
        </p:nvSpPr>
        <p:spPr>
          <a:xfrm>
            <a:off x="456371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73441"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Zomato's 60 percent rise, kept descriptive</a:t>
            </a:r>
          </a:p>
        </p:txBody>
      </p:sp>
      <p:sp>
        <p:nvSpPr>
          <p:cNvPr id="17" name="Oval 16"/>
          <p:cNvSpPr/>
          <p:nvPr/>
        </p:nvSpPr>
        <p:spPr>
          <a:xfrm>
            <a:off x="6959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069169"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weak users leave, every column reads higher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members, five weak and five strong; drop the five weak and the mean rises on every month.</a:t>
            </a:r>
          </a:p>
        </p:txBody>
      </p:sp>
      <p:pic>
        <p:nvPicPr>
          <p:cNvPr id="9" name="mermaid diagram" descr="04d02a300949687b.png"/>
          <p:cNvPicPr>
            <a:picLocks noChangeAspect="1"/>
          </p:cNvPicPr>
          <p:nvPr/>
        </p:nvPicPr>
        <p:blipFill>
          <a:blip r:embed="rId5"/>
          <a:stretch>
            <a:fillRect/>
          </a:stretch>
        </p:blipFill>
        <p:spPr>
          <a:xfrm>
            <a:off x="530352" y="1682496"/>
            <a:ext cx="5291175" cy="1754139"/>
          </a:xfrm>
          <a:prstGeom prst="rect">
            <a:avLst/>
          </a:prstGeom>
        </p:spPr>
      </p:pic>
      <p:graphicFrame>
        <p:nvGraphicFramePr>
          <p:cNvPr id="10" name="Table 9"/>
          <p:cNvGraphicFramePr>
            <a:graphicFrameLocks noGrp="1"/>
          </p:cNvGraphicFramePr>
          <p:nvPr/>
        </p:nvGraphicFramePr>
        <p:xfrm>
          <a:off x="530352" y="3582939"/>
          <a:ext cx="5291174" cy="1554480"/>
        </p:xfrm>
        <a:graphic>
          <a:graphicData uri="http://schemas.openxmlformats.org/drawingml/2006/table">
            <a:tbl>
              <a:tblPr firstRow="0" bandRow="0">
                <a:tableStyleId>{2D5ABB26-0587-4C30-8999-92F81FD0307C}</a:tableStyleId>
              </a:tblPr>
              <a:tblGrid>
                <a:gridCol w="914400"/>
                <a:gridCol w="1804370"/>
                <a:gridCol w="2572404"/>
              </a:tblGrid>
              <a:tr h="310896">
                <a:tc>
                  <a:txBody>
                    <a:bodyPr/>
                    <a:lstStyle/>
                    <a:p>
                      <a:r>
                        <a:rPr sz="950" b="1" i="0">
                          <a:solidFill>
                            <a:srgbClr val="FFFFFF"/>
                          </a:solidFill>
                          <a:latin typeface="Calibri"/>
                        </a:rPr>
                        <a:t>Month</a:t>
                      </a:r>
                    </a:p>
                  </a:txBody>
                  <a:tcPr marL="101600" marR="101600" marT="38100" marB="38100" anchor="ctr">
                    <a:solidFill>
                      <a:srgbClr val="1A0F5C"/>
                    </a:solidFill>
                  </a:tcPr>
                </a:tc>
                <a:tc>
                  <a:txBody>
                    <a:bodyPr/>
                    <a:lstStyle/>
                    <a:p>
                      <a:r>
                        <a:rPr sz="950" b="1" i="0">
                          <a:solidFill>
                            <a:srgbClr val="FFFFFF"/>
                          </a:solidFill>
                          <a:latin typeface="Calibri"/>
                        </a:rPr>
                        <a:t>All ten</a:t>
                      </a:r>
                    </a:p>
                  </a:txBody>
                  <a:tcPr marL="101600" marR="101600" marT="38100" marB="38100" anchor="ctr">
                    <a:solidFill>
                      <a:srgbClr val="1A0F5C"/>
                    </a:solidFill>
                  </a:tcPr>
                </a:tc>
                <a:tc>
                  <a:txBody>
                    <a:bodyPr/>
                    <a:lstStyle/>
                    <a:p>
                      <a:r>
                        <a:rPr sz="950" b="1" i="0">
                          <a:solidFill>
                            <a:srgbClr val="FFFFFF"/>
                          </a:solidFill>
                          <a:latin typeface="Calibri"/>
                        </a:rPr>
                        <a:t>Only the strong five</a:t>
                      </a:r>
                    </a:p>
                  </a:txBody>
                  <a:tcPr marL="101600" marR="101600" marT="38100" marB="38100" anchor="ctr">
                    <a:solidFill>
                      <a:srgbClr val="1A0F5C"/>
                    </a:solidFill>
                  </a:tcPr>
                </a:tc>
              </a:tr>
              <a:tr h="310896">
                <a:tc>
                  <a:txBody>
                    <a:bodyPr/>
                    <a:lstStyle/>
                    <a:p>
                      <a:r>
                        <a:rPr sz="900" b="0" i="0">
                          <a:solidFill>
                            <a:srgbClr val="1A1440"/>
                          </a:solidFill>
                          <a:latin typeface="Calibri"/>
                        </a:rPr>
                        <a:t>m1</a:t>
                      </a:r>
                    </a:p>
                  </a:txBody>
                  <a:tcPr marL="101600" marR="101600" marT="38100" marB="38100" anchor="ctr">
                    <a:solidFill>
                      <a:srgbClr val="FFFFFF"/>
                    </a:solidFill>
                  </a:tcPr>
                </a:tc>
                <a:tc>
                  <a:txBody>
                    <a:bodyPr/>
                    <a:lstStyle/>
                    <a:p>
                      <a:r>
                        <a:rPr sz="900" b="0" i="0">
                          <a:solidFill>
                            <a:srgbClr val="1A1440"/>
                          </a:solidFill>
                          <a:latin typeface="Calibri"/>
                        </a:rPr>
                        <a:t>7 of 10 ordered</a:t>
                      </a:r>
                    </a:p>
                  </a:txBody>
                  <a:tcPr marL="101600" marR="101600" marT="38100" marB="38100" anchor="ctr">
                    <a:solidFill>
                      <a:srgbClr val="FFFFFF"/>
                    </a:solidFill>
                  </a:tcPr>
                </a:tc>
                <a:tc>
                  <a:txBody>
                    <a:bodyPr/>
                    <a:lstStyle/>
                    <a:p>
                      <a:r>
                        <a:rPr sz="900" b="0" i="0">
                          <a:solidFill>
                            <a:srgbClr val="1A1440"/>
                          </a:solidFill>
                          <a:latin typeface="Calibri"/>
                        </a:rPr>
                        <a:t>5 of 5 ordered</a:t>
                      </a:r>
                    </a:p>
                  </a:txBody>
                  <a:tcPr marL="101600" marR="101600" marT="38100" marB="38100" anchor="ctr">
                    <a:solidFill>
                      <a:srgbClr val="FFFFFF"/>
                    </a:solidFill>
                  </a:tcPr>
                </a:tc>
              </a:tr>
              <a:tr h="310896">
                <a:tc>
                  <a:txBody>
                    <a:bodyPr/>
                    <a:lstStyle/>
                    <a:p>
                      <a:r>
                        <a:rPr sz="900" b="0" i="0">
                          <a:solidFill>
                            <a:srgbClr val="1A1440"/>
                          </a:solidFill>
                          <a:latin typeface="Calibri"/>
                        </a:rPr>
                        <a:t>m2</a:t>
                      </a:r>
                    </a:p>
                  </a:txBody>
                  <a:tcPr marL="101600" marR="101600" marT="38100" marB="38100" anchor="ctr">
                    <a:solidFill>
                      <a:srgbClr val="F4F2FA"/>
                    </a:solidFill>
                  </a:tcPr>
                </a:tc>
                <a:tc>
                  <a:txBody>
                    <a:bodyPr/>
                    <a:lstStyle/>
                    <a:p>
                      <a:r>
                        <a:rPr sz="900" b="0" i="0">
                          <a:solidFill>
                            <a:srgbClr val="1A1440"/>
                          </a:solidFill>
                          <a:latin typeface="Calibri"/>
                        </a:rPr>
                        <a:t>5 of 10 ordered</a:t>
                      </a:r>
                    </a:p>
                  </a:txBody>
                  <a:tcPr marL="101600" marR="101600" marT="38100" marB="38100" anchor="ctr">
                    <a:solidFill>
                      <a:srgbClr val="F4F2FA"/>
                    </a:solidFill>
                  </a:tcPr>
                </a:tc>
                <a:tc>
                  <a:txBody>
                    <a:bodyPr/>
                    <a:lstStyle/>
                    <a:p>
                      <a:r>
                        <a:rPr sz="900" b="0" i="0">
                          <a:solidFill>
                            <a:srgbClr val="1A1440"/>
                          </a:solidFill>
                          <a:latin typeface="Calibri"/>
                        </a:rPr>
                        <a:t>5 of 5 ordered</a:t>
                      </a:r>
                    </a:p>
                  </a:txBody>
                  <a:tcPr marL="101600" marR="101600" marT="38100" marB="38100" anchor="ctr">
                    <a:solidFill>
                      <a:srgbClr val="F4F2FA"/>
                    </a:solidFill>
                  </a:tcPr>
                </a:tc>
              </a:tr>
              <a:tr h="310896">
                <a:tc>
                  <a:txBody>
                    <a:bodyPr/>
                    <a:lstStyle/>
                    <a:p>
                      <a:r>
                        <a:rPr sz="900" b="0" i="0">
                          <a:solidFill>
                            <a:srgbClr val="1A1440"/>
                          </a:solidFill>
                          <a:latin typeface="Calibri"/>
                        </a:rPr>
                        <a:t>m3</a:t>
                      </a:r>
                    </a:p>
                  </a:txBody>
                  <a:tcPr marL="101600" marR="101600" marT="38100" marB="38100" anchor="ctr">
                    <a:solidFill>
                      <a:srgbClr val="FFFFFF"/>
                    </a:solidFill>
                  </a:tcPr>
                </a:tc>
                <a:tc>
                  <a:txBody>
                    <a:bodyPr/>
                    <a:lstStyle/>
                    <a:p>
                      <a:r>
                        <a:rPr sz="900" b="0" i="0">
                          <a:solidFill>
                            <a:srgbClr val="1A1440"/>
                          </a:solidFill>
                          <a:latin typeface="Calibri"/>
                        </a:rPr>
                        <a:t>4 of 10 ordered</a:t>
                      </a:r>
                    </a:p>
                  </a:txBody>
                  <a:tcPr marL="101600" marR="101600" marT="38100" marB="38100" anchor="ctr">
                    <a:solidFill>
                      <a:srgbClr val="FFFFFF"/>
                    </a:solidFill>
                  </a:tcPr>
                </a:tc>
                <a:tc>
                  <a:txBody>
                    <a:bodyPr/>
                    <a:lstStyle/>
                    <a:p>
                      <a:r>
                        <a:rPr sz="900" b="0" i="0">
                          <a:solidFill>
                            <a:srgbClr val="1A1440"/>
                          </a:solidFill>
                          <a:latin typeface="Calibri"/>
                        </a:rPr>
                        <a:t>4 of 5 ordered</a:t>
                      </a:r>
                    </a:p>
                  </a:txBody>
                  <a:tcPr marL="101600" marR="101600" marT="38100" marB="38100" anchor="ctr">
                    <a:solidFill>
                      <a:srgbClr val="FFFFFF"/>
                    </a:solidFill>
                  </a:tcPr>
                </a:tc>
              </a:tr>
              <a:tr h="310896">
                <a:tc>
                  <a:txBody>
                    <a:bodyPr/>
                    <a:lstStyle/>
                    <a:p>
                      <a:r>
                        <a:rPr sz="900" b="0" i="0">
                          <a:solidFill>
                            <a:srgbClr val="1A1440"/>
                          </a:solidFill>
                          <a:latin typeface="Calibri"/>
                        </a:rPr>
                        <a:t>m4</a:t>
                      </a:r>
                    </a:p>
                  </a:txBody>
                  <a:tcPr marL="101600" marR="101600" marT="38100" marB="38100" anchor="ctr">
                    <a:solidFill>
                      <a:srgbClr val="F4F2FA"/>
                    </a:solidFill>
                  </a:tcPr>
                </a:tc>
                <a:tc>
                  <a:txBody>
                    <a:bodyPr/>
                    <a:lstStyle/>
                    <a:p>
                      <a:r>
                        <a:rPr sz="900" b="0" i="0">
                          <a:solidFill>
                            <a:srgbClr val="1A1440"/>
                          </a:solidFill>
                          <a:latin typeface="Calibri"/>
                        </a:rPr>
                        <a:t>3 of 10 ordered</a:t>
                      </a:r>
                    </a:p>
                  </a:txBody>
                  <a:tcPr marL="101600" marR="101600" marT="38100" marB="38100" anchor="ctr">
                    <a:solidFill>
                      <a:srgbClr val="F4F2FA"/>
                    </a:solidFill>
                  </a:tcPr>
                </a:tc>
                <a:tc>
                  <a:txBody>
                    <a:bodyPr/>
                    <a:lstStyle/>
                    <a:p>
                      <a:r>
                        <a:rPr sz="900" b="0" i="0">
                          <a:solidFill>
                            <a:srgbClr val="1A1440"/>
                          </a:solidFill>
                          <a:latin typeface="Calibri"/>
                        </a:rPr>
                        <a:t>3 of 5 ordered</a:t>
                      </a:r>
                    </a:p>
                  </a:txBody>
                  <a:tcPr marL="101600" marR="101600" marT="38100" marB="38100" anchor="ctr">
                    <a:solidFill>
                      <a:srgbClr val="F4F2FA"/>
                    </a:solidFill>
                  </a:tcPr>
                </a:tc>
              </a:tr>
            </a:tbl>
          </a:graphicData>
        </a:graphic>
      </p:graphicFrame>
      <p:sp>
        <p:nvSpPr>
          <p:cNvPr id="11" name="TextBox 10"/>
          <p:cNvSpPr txBox="1"/>
          <p:nvPr/>
        </p:nvSpPr>
        <p:spPr>
          <a:xfrm>
            <a:off x="6370167" y="168249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Drop the five weak members and every cell rises without a single member changing behaviour. The lift is a composition effect, which the triangle makes visible and the dashboard hides.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Weaned users and the mix move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Monthly against weekly on today's data</a:t>
            </a:r>
          </a:p>
        </p:txBody>
      </p:sp>
      <p:sp>
        <p:nvSpPr>
          <p:cNvPr id="16" name="Oval 15"/>
          <p:cNvSpPr/>
          <p:nvPr/>
        </p:nvSpPr>
        <p:spPr>
          <a:xfrm>
            <a:off x="456371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73441"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Zomato's 60 percent rise, kept descriptive</a:t>
            </a:r>
          </a:p>
        </p:txBody>
      </p:sp>
      <p:sp>
        <p:nvSpPr>
          <p:cNvPr id="18" name="Oval 17"/>
          <p:cNvSpPr/>
          <p:nvPr/>
        </p:nvSpPr>
        <p:spPr>
          <a:xfrm>
            <a:off x="6959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069169"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denominator question on Swiggy's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did Swiggy pick, and what would the alternatives have said?</a:t>
            </a:r>
          </a:p>
        </p:txBody>
      </p:sp>
      <p:pic>
        <p:nvPicPr>
          <p:cNvPr id="9" name="mermaid diagram" descr="a9ec9e189daeaa7c.png"/>
          <p:cNvPicPr>
            <a:picLocks noChangeAspect="1"/>
          </p:cNvPicPr>
          <p:nvPr/>
        </p:nvPicPr>
        <p:blipFill>
          <a:blip r:embed="rId5"/>
          <a:stretch>
            <a:fillRect/>
          </a:stretch>
        </p:blipFill>
        <p:spPr>
          <a:xfrm>
            <a:off x="2603224" y="1664208"/>
            <a:ext cx="6985246"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 chart with no stated denominator is a shape; a chart with its denominator stated is a number. Swiggy's letter indexed to the Q4 FY24 cohort; a different index would have moved every row.</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Weaned users and the mix move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Monthly against weekly on today's data</a:t>
            </a:r>
          </a:p>
        </p:txBody>
      </p:sp>
      <p:sp>
        <p:nvSpPr>
          <p:cNvPr id="15" name="Oval 14"/>
          <p:cNvSpPr/>
          <p:nvPr/>
        </p:nvSpPr>
        <p:spPr>
          <a:xfrm>
            <a:off x="456371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73441"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Zomato's 60 percent rise, kept descriptive</a:t>
            </a:r>
          </a:p>
        </p:txBody>
      </p:sp>
      <p:sp>
        <p:nvSpPr>
          <p:cNvPr id="17" name="Oval 16"/>
          <p:cNvSpPr/>
          <p:nvPr/>
        </p:nvSpPr>
        <p:spPr>
          <a:xfrm>
            <a:off x="6959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069169"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Monthly against weekly on today's data</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Rerun the Chennai cohort at a weekly granularity: which story survives?</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Weaned users and the mix move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Monthly against weekly on today's data</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Zomato's 60 percent rise, kept descriptive</a:t>
            </a:r>
          </a:p>
        </p:txBody>
      </p:sp>
      <p:sp>
        <p:nvSpPr>
          <p:cNvPr id="13" name="Rounded Rectangle 12"/>
          <p:cNvSpPr/>
          <p:nvPr/>
        </p:nvSpPr>
        <p:spPr>
          <a:xfrm>
            <a:off x="7441407"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fallback: the weaned-users hour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Monthly against weekly, done in class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mix story the morning told hold at a weekly granularity, or does noise take over?</a:t>
            </a:r>
          </a:p>
        </p:txBody>
      </p:sp>
      <p:sp>
        <p:nvSpPr>
          <p:cNvPr id="9" name="TextBox 8"/>
          <p:cNvSpPr txBox="1"/>
          <p:nvPr/>
        </p:nvSpPr>
        <p:spPr>
          <a:xfrm>
            <a:off x="530352" y="19568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row's after-class brief asked for a weekly cohort rerun. The question is which story the rerun keeps:</a:t>
            </a:r>
          </a:p>
        </p:txBody>
      </p:sp>
      <p:graphicFrame>
        <p:nvGraphicFramePr>
          <p:cNvPr id="10" name="Table 9"/>
          <p:cNvGraphicFramePr>
            <a:graphicFrameLocks noGrp="1"/>
          </p:cNvGraphicFramePr>
          <p:nvPr/>
        </p:nvGraphicFramePr>
        <p:xfrm>
          <a:off x="530352" y="2580640"/>
          <a:ext cx="11130990" cy="1479296"/>
        </p:xfrm>
        <a:graphic>
          <a:graphicData uri="http://schemas.openxmlformats.org/drawingml/2006/table">
            <a:tbl>
              <a:tblPr firstRow="0" bandRow="0">
                <a:tableStyleId>{2D5ABB26-0587-4C30-8999-92F81FD0307C}</a:tableStyleId>
              </a:tblPr>
              <a:tblGrid>
                <a:gridCol w="4606459"/>
                <a:gridCol w="6524531"/>
              </a:tblGrid>
              <a:tr h="369824">
                <a:tc>
                  <a:txBody>
                    <a:bodyPr/>
                    <a:lstStyle/>
                    <a:p>
                      <a:r>
                        <a:rPr sz="1450" b="1" i="0">
                          <a:solidFill>
                            <a:srgbClr val="FFFFFF"/>
                          </a:solidFill>
                          <a:latin typeface="Calibri"/>
                        </a:rPr>
                        <a:t>What might change at the weekly axis</a:t>
                      </a:r>
                    </a:p>
                  </a:txBody>
                  <a:tcPr marL="101600" marR="101600" marT="38100" marB="38100" anchor="ctr">
                    <a:solidFill>
                      <a:srgbClr val="1A0F5C"/>
                    </a:solidFill>
                  </a:tcPr>
                </a:tc>
                <a:tc>
                  <a:txBody>
                    <a:bodyPr/>
                    <a:lstStyle/>
                    <a:p>
                      <a:r>
                        <a:rPr sz="1450" b="1" i="0">
                          <a:solidFill>
                            <a:srgbClr val="FFFFFF"/>
                          </a:solidFill>
                          <a:latin typeface="Calibri"/>
                        </a:rPr>
                        <a:t>Which story holds, which breaks</a:t>
                      </a:r>
                    </a:p>
                  </a:txBody>
                  <a:tcPr marL="101600" marR="101600" marT="38100" marB="38100" anchor="ctr">
                    <a:solidFill>
                      <a:srgbClr val="1A0F5C"/>
                    </a:solidFill>
                  </a:tcPr>
                </a:tc>
              </a:tr>
              <a:tr h="369824">
                <a:tc>
                  <a:txBody>
                    <a:bodyPr/>
                    <a:lstStyle/>
                    <a:p>
                      <a:r>
                        <a:rPr sz="1400" b="0" i="0">
                          <a:solidFill>
                            <a:srgbClr val="1A1440"/>
                          </a:solidFill>
                          <a:latin typeface="Calibri"/>
                        </a:rPr>
                        <a:t>Each cohort smaller, so curves noisier</a:t>
                      </a:r>
                    </a:p>
                  </a:txBody>
                  <a:tcPr marL="101600" marR="101600" marT="38100" marB="38100" anchor="ctr">
                    <a:solidFill>
                      <a:srgbClr val="FFFFFF"/>
                    </a:solidFill>
                  </a:tcPr>
                </a:tc>
                <a:tc>
                  <a:txBody>
                    <a:bodyPr/>
                    <a:lstStyle/>
                    <a:p>
                      <a:r>
                        <a:rPr sz="1400" b="0" i="0">
                          <a:solidFill>
                            <a:srgbClr val="1A1440"/>
                          </a:solidFill>
                          <a:latin typeface="Calibri"/>
                        </a:rPr>
                        <a:t>The paradox holds; the mix move is structural</a:t>
                      </a:r>
                    </a:p>
                  </a:txBody>
                  <a:tcPr marL="101600" marR="101600" marT="38100" marB="38100" anchor="ctr">
                    <a:solidFill>
                      <a:srgbClr val="FFFFFF"/>
                    </a:solidFill>
                  </a:tcPr>
                </a:tc>
              </a:tr>
              <a:tr h="369824">
                <a:tc>
                  <a:txBody>
                    <a:bodyPr/>
                    <a:lstStyle/>
                    <a:p>
                      <a:r>
                        <a:rPr sz="1400" b="0" i="0">
                          <a:solidFill>
                            <a:srgbClr val="1A1440"/>
                          </a:solidFill>
                          <a:latin typeface="Calibri"/>
                        </a:rPr>
                        <a:t>Seasonal weekends mix inside each month</a:t>
                      </a:r>
                    </a:p>
                  </a:txBody>
                  <a:tcPr marL="101600" marR="101600" marT="38100" marB="38100" anchor="ctr">
                    <a:solidFill>
                      <a:srgbClr val="F4F2FA"/>
                    </a:solidFill>
                  </a:tcPr>
                </a:tc>
                <a:tc>
                  <a:txBody>
                    <a:bodyPr/>
                    <a:lstStyle/>
                    <a:p>
                      <a:r>
                        <a:rPr sz="1400" b="0" i="0">
                          <a:solidFill>
                            <a:srgbClr val="1A1440"/>
                          </a:solidFill>
                          <a:latin typeface="Calibri"/>
                        </a:rPr>
                        <a:t>The denominator shift is where the lift sits</a:t>
                      </a:r>
                    </a:p>
                  </a:txBody>
                  <a:tcPr marL="101600" marR="101600" marT="38100" marB="38100" anchor="ctr">
                    <a:solidFill>
                      <a:srgbClr val="F4F2FA"/>
                    </a:solidFill>
                  </a:tcPr>
                </a:tc>
              </a:tr>
              <a:tr h="369824">
                <a:tc>
                  <a:txBody>
                    <a:bodyPr/>
                    <a:lstStyle/>
                    <a:p>
                      <a:r>
                        <a:rPr sz="1400" b="0" i="0">
                          <a:solidFill>
                            <a:srgbClr val="1A1440"/>
                          </a:solidFill>
                          <a:latin typeface="Calibri"/>
                        </a:rPr>
                        <a:t>A sale week isolated as its own cohort</a:t>
                      </a:r>
                    </a:p>
                  </a:txBody>
                  <a:tcPr marL="101600" marR="101600" marT="38100" marB="38100" anchor="ctr">
                    <a:solidFill>
                      <a:srgbClr val="FFFFFF"/>
                    </a:solidFill>
                  </a:tcPr>
                </a:tc>
                <a:tc>
                  <a:txBody>
                    <a:bodyPr/>
                    <a:lstStyle/>
                    <a:p>
                      <a:r>
                        <a:rPr sz="1400" b="0" i="0">
                          <a:solidFill>
                            <a:srgbClr val="1A1440"/>
                          </a:solidFill>
                          <a:latin typeface="Calibri"/>
                        </a:rPr>
                        <a:t>The sale-week cohort reads lowest, as the monthly view showed</a:t>
                      </a:r>
                    </a:p>
                  </a:txBody>
                  <a:tcPr marL="101600" marR="101600" marT="38100" marB="38100" anchor="ctr">
                    <a:solidFill>
                      <a:srgbClr val="FFFFFF"/>
                    </a:solidFill>
                  </a:tcPr>
                </a:tc>
              </a:tr>
            </a:tbl>
          </a:graphicData>
        </a:graphic>
      </p:graphicFrame>
      <p:sp>
        <p:nvSpPr>
          <p:cNvPr id="11" name="TextBox 10"/>
          <p:cNvSpPr txBox="1"/>
          <p:nvPr/>
        </p:nvSpPr>
        <p:spPr>
          <a:xfrm>
            <a:off x="530352" y="4315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method survives the change of axis. The specific numbers do not.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Weaned users and the mix move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Monthly against weekly on today's data</a:t>
            </a:r>
          </a:p>
        </p:txBody>
      </p:sp>
      <p:sp>
        <p:nvSpPr>
          <p:cNvPr id="16" name="Oval 15"/>
          <p:cNvSpPr/>
          <p:nvPr/>
        </p:nvSpPr>
        <p:spPr>
          <a:xfrm>
            <a:off x="456371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73441"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Zomato's 60 percent rise, kept descriptive</a:t>
            </a:r>
          </a:p>
        </p:txBody>
      </p:sp>
      <p:sp>
        <p:nvSpPr>
          <p:cNvPr id="18" name="Oval 17"/>
          <p:cNvSpPr/>
          <p:nvPr/>
        </p:nvSpPr>
        <p:spPr>
          <a:xfrm>
            <a:off x="6959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069169"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mix move sits in the formula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term is doing the heavy lifting in a 55 to 61 lift?</a:t>
            </a:r>
          </a:p>
        </p:txBody>
      </p:sp>
      <p:sp>
        <p:nvSpPr>
          <p:cNvPr id="9" name="TextBox 8"/>
          <p:cNvSpPr txBox="1"/>
          <p:nvPr/>
        </p:nvSpPr>
        <p:spPr>
          <a:xfrm>
            <a:off x="530352" y="19568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blended retention $B = \frac{\sum_c N_c r_c}{\sum_c N_c}$, four moves can lift it:</a:t>
            </a:r>
          </a:p>
        </p:txBody>
      </p:sp>
      <p:graphicFrame>
        <p:nvGraphicFramePr>
          <p:cNvPr id="10" name="Table 9"/>
          <p:cNvGraphicFramePr>
            <a:graphicFrameLocks noGrp="1"/>
          </p:cNvGraphicFramePr>
          <p:nvPr/>
        </p:nvGraphicFramePr>
        <p:xfrm>
          <a:off x="530352" y="2580640"/>
          <a:ext cx="11130990" cy="1849120"/>
        </p:xfrm>
        <a:graphic>
          <a:graphicData uri="http://schemas.openxmlformats.org/drawingml/2006/table">
            <a:tbl>
              <a:tblPr firstRow="0" bandRow="0">
                <a:tableStyleId>{2D5ABB26-0587-4C30-8999-92F81FD0307C}</a:tableStyleId>
              </a:tblPr>
              <a:tblGrid>
                <a:gridCol w="5619128"/>
                <a:gridCol w="5511862"/>
              </a:tblGrid>
              <a:tr h="369824">
                <a:tc>
                  <a:txBody>
                    <a:bodyPr/>
                    <a:lstStyle/>
                    <a:p>
                      <a:r>
                        <a:rPr sz="1450" b="1" i="0">
                          <a:solidFill>
                            <a:srgbClr val="FFFFFF"/>
                          </a:solidFill>
                          <a:latin typeface="Calibri"/>
                        </a:rPr>
                        <a:t>Move</a:t>
                      </a:r>
                    </a:p>
                  </a:txBody>
                  <a:tcPr marL="101600" marR="101600" marT="38100" marB="38100" anchor="ctr">
                    <a:solidFill>
                      <a:srgbClr val="1A0F5C"/>
                    </a:solidFill>
                  </a:tcPr>
                </a:tc>
                <a:tc>
                  <a:txBody>
                    <a:bodyPr/>
                    <a:lstStyle/>
                    <a:p>
                      <a:r>
                        <a:rPr sz="1450" b="1" i="0">
                          <a:solidFill>
                            <a:srgbClr val="FFFFFF"/>
                          </a:solidFill>
                          <a:latin typeface="Calibri"/>
                        </a:rPr>
                        <a:t>What the room would see</a:t>
                      </a:r>
                    </a:p>
                  </a:txBody>
                  <a:tcPr marL="101600" marR="101600" marT="38100" marB="38100" anchor="ctr">
                    <a:solidFill>
                      <a:srgbClr val="1A0F5C"/>
                    </a:solidFill>
                  </a:tcPr>
                </a:tc>
              </a:tr>
              <a:tr h="369824">
                <a:tc>
                  <a:txBody>
                    <a:bodyPr/>
                    <a:lstStyle/>
                    <a:p>
                      <a:r>
                        <a:rPr sz="1400" b="0" i="0">
                          <a:solidFill>
                            <a:srgbClr val="1A1440"/>
                          </a:solidFill>
                          <a:latin typeface="Calibri"/>
                        </a:rPr>
                        <a:t>Each $r_c$ rises (behaviour improves)</a:t>
                      </a:r>
                    </a:p>
                  </a:txBody>
                  <a:tcPr marL="101600" marR="101600" marT="38100" marB="38100" anchor="ctr">
                    <a:solidFill>
                      <a:srgbClr val="FFFFFF"/>
                    </a:solidFill>
                  </a:tcPr>
                </a:tc>
                <a:tc>
                  <a:txBody>
                    <a:bodyPr/>
                    <a:lstStyle/>
                    <a:p>
                      <a:r>
                        <a:rPr sz="1400" b="0" i="0">
                          <a:solidFill>
                            <a:srgbClr val="1A1440"/>
                          </a:solidFill>
                          <a:latin typeface="Calibri"/>
                        </a:rPr>
                        <a:t>Every triangle cell goes up</a:t>
                      </a:r>
                    </a:p>
                  </a:txBody>
                  <a:tcPr marL="101600" marR="101600" marT="38100" marB="38100" anchor="ctr">
                    <a:solidFill>
                      <a:srgbClr val="FFFFFF"/>
                    </a:solidFill>
                  </a:tcPr>
                </a:tc>
              </a:tr>
              <a:tr h="369824">
                <a:tc>
                  <a:txBody>
                    <a:bodyPr/>
                    <a:lstStyle/>
                    <a:p>
                      <a:r>
                        <a:rPr sz="1400" b="0" i="0">
                          <a:solidFill>
                            <a:srgbClr val="1A1440"/>
                          </a:solidFill>
                          <a:latin typeface="Calibri"/>
                        </a:rPr>
                        <a:t>The weak-$r_c$ cohorts' $N_c$ shrink (weaning)</a:t>
                      </a:r>
                    </a:p>
                  </a:txBody>
                  <a:tcPr marL="101600" marR="101600" marT="38100" marB="38100" anchor="ctr">
                    <a:solidFill>
                      <a:srgbClr val="F4F2FA"/>
                    </a:solidFill>
                  </a:tcPr>
                </a:tc>
                <a:tc>
                  <a:txBody>
                    <a:bodyPr/>
                    <a:lstStyle/>
                    <a:p>
                      <a:r>
                        <a:rPr sz="1400" b="0" i="0">
                          <a:solidFill>
                            <a:srgbClr val="1A1440"/>
                          </a:solidFill>
                          <a:latin typeface="Calibri"/>
                        </a:rPr>
                        <a:t>Those rows disappear; the remaining average rises</a:t>
                      </a:r>
                    </a:p>
                  </a:txBody>
                  <a:tcPr marL="101600" marR="101600" marT="38100" marB="38100" anchor="ctr">
                    <a:solidFill>
                      <a:srgbClr val="F4F2FA"/>
                    </a:solidFill>
                  </a:tcPr>
                </a:tc>
              </a:tr>
              <a:tr h="369824">
                <a:tc>
                  <a:txBody>
                    <a:bodyPr/>
                    <a:lstStyle/>
                    <a:p>
                      <a:r>
                        <a:rPr sz="1400" b="0" i="0">
                          <a:solidFill>
                            <a:srgbClr val="1A1440"/>
                          </a:solidFill>
                          <a:latin typeface="Calibri"/>
                        </a:rPr>
                        <a:t>New cohorts have higher $r_c$ (better acquisition)</a:t>
                      </a:r>
                    </a:p>
                  </a:txBody>
                  <a:tcPr marL="101600" marR="101600" marT="38100" marB="38100" anchor="ctr">
                    <a:solidFill>
                      <a:srgbClr val="FFFFFF"/>
                    </a:solidFill>
                  </a:tcPr>
                </a:tc>
                <a:tc>
                  <a:txBody>
                    <a:bodyPr/>
                    <a:lstStyle/>
                    <a:p>
                      <a:r>
                        <a:rPr sz="1400" b="0" i="0">
                          <a:solidFill>
                            <a:srgbClr val="1A1440"/>
                          </a:solidFill>
                          <a:latin typeface="Calibri"/>
                        </a:rPr>
                        <a:t>Later rows start higher than earlier ones</a:t>
                      </a:r>
                    </a:p>
                  </a:txBody>
                  <a:tcPr marL="101600" marR="101600" marT="38100" marB="38100" anchor="ctr">
                    <a:solidFill>
                      <a:srgbClr val="FFFFFF"/>
                    </a:solidFill>
                  </a:tcPr>
                </a:tc>
              </a:tr>
              <a:tr h="369824">
                <a:tc>
                  <a:txBody>
                    <a:bodyPr/>
                    <a:lstStyle/>
                    <a:p>
                      <a:r>
                        <a:rPr sz="1400" b="0" i="0">
                          <a:solidFill>
                            <a:srgbClr val="1A1440"/>
                          </a:solidFill>
                          <a:latin typeface="Calibri"/>
                        </a:rPr>
                        <a:t>The mix shifts toward higher-$r_c$ cohorts</a:t>
                      </a:r>
                    </a:p>
                  </a:txBody>
                  <a:tcPr marL="101600" marR="101600" marT="38100" marB="38100" anchor="ctr">
                    <a:solidFill>
                      <a:srgbClr val="F4F2FA"/>
                    </a:solidFill>
                  </a:tcPr>
                </a:tc>
                <a:tc>
                  <a:txBody>
                    <a:bodyPr/>
                    <a:lstStyle/>
                    <a:p>
                      <a:r>
                        <a:rPr sz="1400" b="0" i="0">
                          <a:solidFill>
                            <a:srgbClr val="1A1440"/>
                          </a:solidFill>
                          <a:latin typeface="Calibri"/>
                        </a:rPr>
                        <a:t>Earlier rows unchanged; later rows pull the blend</a:t>
                      </a:r>
                    </a:p>
                  </a:txBody>
                  <a:tcPr marL="101600" marR="101600" marT="38100" marB="38100" anchor="ctr">
                    <a:solidFill>
                      <a:srgbClr val="F4F2FA"/>
                    </a:solidFill>
                  </a:tcPr>
                </a:tc>
              </a:tr>
            </a:tbl>
          </a:graphicData>
        </a:graphic>
      </p:graphicFrame>
      <p:sp>
        <p:nvSpPr>
          <p:cNvPr id="11" name="TextBox 10"/>
          <p:cNvSpPr txBox="1"/>
          <p:nvPr/>
        </p:nvSpPr>
        <p:spPr>
          <a:xfrm>
            <a:off x="530352" y="468579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dashboard shows $B$, never which lever moved. The triangle shows every row that moved.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Weaned users and the mix move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Monthly against weekly on today's data</a:t>
            </a:r>
          </a:p>
        </p:txBody>
      </p:sp>
      <p:sp>
        <p:nvSpPr>
          <p:cNvPr id="16" name="Oval 15"/>
          <p:cNvSpPr/>
          <p:nvPr/>
        </p:nvSpPr>
        <p:spPr>
          <a:xfrm>
            <a:off x="456371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73441"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Zomato's 60 percent rise, kept descriptive</a:t>
            </a:r>
          </a:p>
        </p:txBody>
      </p:sp>
      <p:sp>
        <p:nvSpPr>
          <p:cNvPr id="18" name="Oval 17"/>
          <p:cNvSpPr/>
          <p:nvPr/>
        </p:nvSpPr>
        <p:spPr>
          <a:xfrm>
            <a:off x="6959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069169"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Zomato's 60 percent rise, kept descriptive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frequency rise after a decision is self-selection, not causation.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Weaned users and the mix move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Monthly against weekly on today's data</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Zomato's 60 percent rise, kept descriptive</a:t>
            </a:r>
          </a:p>
        </p:txBody>
      </p:sp>
      <p:sp>
        <p:nvSpPr>
          <p:cNvPr id="13" name="Rounded Rectangle 12"/>
          <p:cNvSpPr/>
          <p:nvPr/>
        </p:nvSpPr>
        <p:spPr>
          <a:xfrm>
            <a:off x="7441407" y="5074920"/>
            <a:ext cx="6618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Close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fallback: the weaned-users hour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Gold's 60 percent frequency rise, carefully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self-selection question would the row ask here?</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published Zomato letter says order frequency rose about 60 percent on average after a user joined Gold (Th4, verified 12 October 2026). The teaching read is kept descriptive: the number is real and it does not say Gold caused the rise.</a:t>
            </a:r>
          </a:p>
        </p:txBody>
      </p:sp>
      <p:graphicFrame>
        <p:nvGraphicFramePr>
          <p:cNvPr id="10" name="Table 9"/>
          <p:cNvGraphicFramePr>
            <a:graphicFrameLocks noGrp="1"/>
          </p:cNvGraphicFramePr>
          <p:nvPr/>
        </p:nvGraphicFramePr>
        <p:xfrm>
          <a:off x="530352" y="3133344"/>
          <a:ext cx="11130990" cy="1479296"/>
        </p:xfrm>
        <a:graphic>
          <a:graphicData uri="http://schemas.openxmlformats.org/drawingml/2006/table">
            <a:tbl>
              <a:tblPr firstRow="0" bandRow="0">
                <a:tableStyleId>{2D5ABB26-0587-4C30-8999-92F81FD0307C}</a:tableStyleId>
              </a:tblPr>
              <a:tblGrid>
                <a:gridCol w="5614414"/>
                <a:gridCol w="5516576"/>
              </a:tblGrid>
              <a:tr h="369824">
                <a:tc>
                  <a:txBody>
                    <a:bodyPr/>
                    <a:lstStyle/>
                    <a:p>
                      <a:r>
                        <a:rPr sz="1450" b="1" i="0">
                          <a:solidFill>
                            <a:srgbClr val="FFFFFF"/>
                          </a:solidFill>
                          <a:latin typeface="Calibri"/>
                        </a:rPr>
                        <a:t>What the number says</a:t>
                      </a:r>
                    </a:p>
                  </a:txBody>
                  <a:tcPr marL="101600" marR="101600" marT="38100" marB="38100" anchor="ctr">
                    <a:solidFill>
                      <a:srgbClr val="1A0F5C"/>
                    </a:solidFill>
                  </a:tcPr>
                </a:tc>
                <a:tc>
                  <a:txBody>
                    <a:bodyPr/>
                    <a:lstStyle/>
                    <a:p>
                      <a:r>
                        <a:rPr sz="1450" b="1" i="0">
                          <a:solidFill>
                            <a:srgbClr val="FFFFFF"/>
                          </a:solidFill>
                          <a:latin typeface="Calibri"/>
                        </a:rPr>
                        <a:t>What it does not say</a:t>
                      </a:r>
                    </a:p>
                  </a:txBody>
                  <a:tcPr marL="101600" marR="101600" marT="38100" marB="38100" anchor="ctr">
                    <a:solidFill>
                      <a:srgbClr val="1A0F5C"/>
                    </a:solidFill>
                  </a:tcPr>
                </a:tc>
              </a:tr>
              <a:tr h="369824">
                <a:tc>
                  <a:txBody>
                    <a:bodyPr/>
                    <a:lstStyle/>
                    <a:p>
                      <a:r>
                        <a:rPr sz="1400" b="0" i="0">
                          <a:solidFill>
                            <a:srgbClr val="1A1440"/>
                          </a:solidFill>
                          <a:latin typeface="Calibri"/>
                        </a:rPr>
                        <a:t>Frequency after joining is higher than frequency before</a:t>
                      </a:r>
                    </a:p>
                  </a:txBody>
                  <a:tcPr marL="101600" marR="101600" marT="38100" marB="38100" anchor="ctr">
                    <a:solidFill>
                      <a:srgbClr val="FFFFFF"/>
                    </a:solidFill>
                  </a:tcPr>
                </a:tc>
                <a:tc>
                  <a:txBody>
                    <a:bodyPr/>
                    <a:lstStyle/>
                    <a:p>
                      <a:r>
                        <a:rPr sz="1400" b="0" i="0">
                          <a:solidFill>
                            <a:srgbClr val="1A1440"/>
                          </a:solidFill>
                          <a:latin typeface="Calibri"/>
                        </a:rPr>
                        <a:t>The joining caused the rise</a:t>
                      </a:r>
                    </a:p>
                  </a:txBody>
                  <a:tcPr marL="101600" marR="101600" marT="38100" marB="38100" anchor="ctr">
                    <a:solidFill>
                      <a:srgbClr val="FFFFFF"/>
                    </a:solidFill>
                  </a:tcPr>
                </a:tc>
              </a:tr>
              <a:tr h="369824">
                <a:tc>
                  <a:txBody>
                    <a:bodyPr/>
                    <a:lstStyle/>
                    <a:p>
                      <a:r>
                        <a:rPr sz="1400" b="0" i="0">
                          <a:solidFill>
                            <a:srgbClr val="1A1440"/>
                          </a:solidFill>
                          <a:latin typeface="Calibri"/>
                        </a:rPr>
                        <a:t>The joined cohort is self-selected on expected ordering</a:t>
                      </a:r>
                    </a:p>
                  </a:txBody>
                  <a:tcPr marL="101600" marR="101600" marT="38100" marB="38100" anchor="ctr">
                    <a:solidFill>
                      <a:srgbClr val="F4F2FA"/>
                    </a:solidFill>
                  </a:tcPr>
                </a:tc>
                <a:tc>
                  <a:txBody>
                    <a:bodyPr/>
                    <a:lstStyle/>
                    <a:p>
                      <a:r>
                        <a:rPr sz="1400" b="0" i="0">
                          <a:solidFill>
                            <a:srgbClr val="1A1440"/>
                          </a:solidFill>
                          <a:latin typeface="Calibri"/>
                        </a:rPr>
                        <a:t>The marginal joiner behaves like the inframarginal one</a:t>
                      </a:r>
                    </a:p>
                  </a:txBody>
                  <a:tcPr marL="101600" marR="101600" marT="38100" marB="38100" anchor="ctr">
                    <a:solidFill>
                      <a:srgbClr val="F4F2FA"/>
                    </a:solidFill>
                  </a:tcPr>
                </a:tc>
              </a:tr>
              <a:tr h="369824">
                <a:tc>
                  <a:txBody>
                    <a:bodyPr/>
                    <a:lstStyle/>
                    <a:p>
                      <a:r>
                        <a:rPr sz="1400" b="0" i="0">
                          <a:solidFill>
                            <a:srgbClr val="1A1440"/>
                          </a:solidFill>
                          <a:latin typeface="Calibri"/>
                        </a:rPr>
                        <a:t>A matched non-joiner comparison would say more</a:t>
                      </a:r>
                    </a:p>
                  </a:txBody>
                  <a:tcPr marL="101600" marR="101600" marT="38100" marB="38100" anchor="ctr">
                    <a:solidFill>
                      <a:srgbClr val="FFFFFF"/>
                    </a:solidFill>
                  </a:tcPr>
                </a:tc>
                <a:tc>
                  <a:txBody>
                    <a:bodyPr/>
                    <a:lstStyle/>
                    <a:p>
                      <a:r>
                        <a:rPr sz="1400" b="0" i="0">
                          <a:solidFill>
                            <a:srgbClr val="1A1440"/>
                          </a:solidFill>
                          <a:latin typeface="Calibri"/>
                        </a:rPr>
                        <a:t>Nothing is said about non-joiners' trajectories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Weaned users and the mix move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Monthly against weekly on today's data</a:t>
            </a:r>
          </a:p>
        </p:txBody>
      </p:sp>
      <p:sp>
        <p:nvSpPr>
          <p:cNvPr id="15" name="Oval 14"/>
          <p:cNvSpPr/>
          <p:nvPr/>
        </p:nvSpPr>
        <p:spPr>
          <a:xfrm>
            <a:off x="456371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73441"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Zomato's 60 percent rise, kept descriptive</a:t>
            </a:r>
          </a:p>
        </p:txBody>
      </p:sp>
      <p:sp>
        <p:nvSpPr>
          <p:cNvPr id="17" name="Oval 16"/>
          <p:cNvSpPr/>
          <p:nvPr/>
        </p:nvSpPr>
        <p:spPr>
          <a:xfrm>
            <a:off x="6959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069169"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transcript: the app team disputes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hire-grade response answer a dispute that is partly right?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1544928"/>
                <a:gridCol w="4210882"/>
                <a:gridCol w="5375180"/>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What the app team says</a:t>
                      </a:r>
                    </a:p>
                  </a:txBody>
                  <a:tcPr marL="101600" marR="101600" marT="38100" marB="38100" anchor="ctr">
                    <a:solidFill>
                      <a:srgbClr val="1A0F5C"/>
                    </a:solidFill>
                  </a:tcPr>
                </a:tc>
                <a:tc>
                  <a:txBody>
                    <a:bodyPr/>
                    <a:lstStyle/>
                    <a:p>
                      <a:r>
                        <a:rPr sz="1450" b="1" i="0">
                          <a:solidFill>
                            <a:srgbClr val="FFFFFF"/>
                          </a:solidFill>
                          <a:latin typeface="Calibri"/>
                        </a:rPr>
                        <a:t>What a hire-grade response does</a:t>
                      </a:r>
                    </a:p>
                  </a:txBody>
                  <a:tcPr marL="101600" marR="101600" marT="38100" marB="38100" anchor="ctr">
                    <a:solidFill>
                      <a:srgbClr val="1A0F5C"/>
                    </a:solidFill>
                  </a:tcPr>
                </a:tc>
              </a:tr>
              <a:tr h="611632">
                <a:tc>
                  <a:txBody>
                    <a:bodyPr/>
                    <a:lstStyle/>
                    <a:p>
                      <a:r>
                        <a:rPr sz="1400" b="0" i="0">
                          <a:solidFill>
                            <a:srgbClr val="1A1440"/>
                          </a:solidFill>
                          <a:latin typeface="Calibri"/>
                        </a:rPr>
                        <a:t>Opening</a:t>
                      </a:r>
                    </a:p>
                  </a:txBody>
                  <a:tcPr marL="101600" marR="101600" marT="38100" marB="38100" anchor="ctr">
                    <a:solidFill>
                      <a:srgbClr val="FFFFFF"/>
                    </a:solidFill>
                  </a:tcPr>
                </a:tc>
                <a:tc>
                  <a:txBody>
                    <a:bodyPr/>
                    <a:lstStyle/>
                    <a:p>
                      <a:r>
                        <a:rPr sz="1400" b="0" i="0">
                          <a:solidFill>
                            <a:srgbClr val="1A1440"/>
                          </a:solidFill>
                          <a:latin typeface="Calibri"/>
                        </a:rPr>
                        <a:t>Overall conversion is flat; the stage is fine</a:t>
                      </a:r>
                    </a:p>
                  </a:txBody>
                  <a:tcPr marL="101600" marR="101600" marT="38100" marB="38100" anchor="ctr">
                    <a:solidFill>
                      <a:srgbClr val="FFFFFF"/>
                    </a:solidFill>
                  </a:tcPr>
                </a:tc>
                <a:tc>
                  <a:txBody>
                    <a:bodyPr/>
                    <a:lstStyle/>
                    <a:p>
                      <a:r>
                        <a:rPr sz="1400" b="0" i="0">
                          <a:solidFill>
                            <a:srgbClr val="1A1440"/>
                          </a:solidFill>
                          <a:latin typeface="Calibri"/>
                        </a:rPr>
                        <a:t>Concede that overall is flat; name the three axes it averages over</a:t>
                      </a:r>
                    </a:p>
                  </a:txBody>
                  <a:tcPr marL="101600" marR="101600" marT="38100" marB="38100" anchor="ctr">
                    <a:solidFill>
                      <a:srgbClr val="FFFFFF"/>
                    </a:solidFill>
                  </a:tcPr>
                </a:tc>
              </a:tr>
              <a:tr h="369824">
                <a:tc>
                  <a:txBody>
                    <a:bodyPr/>
                    <a:lstStyle/>
                    <a:p>
                      <a:r>
                        <a:rPr sz="1400" b="0" i="0">
                          <a:solidFill>
                            <a:srgbClr val="1A1440"/>
                          </a:solidFill>
                          <a:latin typeface="Calibri"/>
                        </a:rPr>
                        <a:t>First evidence</a:t>
                      </a:r>
                    </a:p>
                  </a:txBody>
                  <a:tcPr marL="101600" marR="101600" marT="38100" marB="38100" anchor="ctr">
                    <a:solidFill>
                      <a:srgbClr val="F4F2FA"/>
                    </a:solidFill>
                  </a:tcPr>
                </a:tc>
                <a:tc>
                  <a:txBody>
                    <a:bodyPr/>
                    <a:lstStyle/>
                    <a:p>
                      <a:r>
                        <a:rPr sz="1400" b="0" i="0">
                          <a:solidFill>
                            <a:srgbClr val="1A1440"/>
                          </a:solidFill>
                          <a:latin typeface="Calibri"/>
                        </a:rPr>
                        <a:t>A single chart of overall conversion</a:t>
                      </a:r>
                    </a:p>
                  </a:txBody>
                  <a:tcPr marL="101600" marR="101600" marT="38100" marB="38100" anchor="ctr">
                    <a:solidFill>
                      <a:srgbClr val="F4F2FA"/>
                    </a:solidFill>
                  </a:tcPr>
                </a:tc>
                <a:tc>
                  <a:txBody>
                    <a:bodyPr/>
                    <a:lstStyle/>
                    <a:p>
                      <a:r>
                        <a:rPr sz="1400" b="0" i="0">
                          <a:solidFill>
                            <a:srgbClr val="1A1440"/>
                          </a:solidFill>
                          <a:latin typeface="Calibri"/>
                        </a:rPr>
                        <a:t>Bring the split by platform, membership and date</a:t>
                      </a:r>
                    </a:p>
                  </a:txBody>
                  <a:tcPr marL="101600" marR="101600" marT="38100" marB="38100" anchor="ctr">
                    <a:solidFill>
                      <a:srgbClr val="F4F2FA"/>
                    </a:solidFill>
                  </a:tcPr>
                </a:tc>
              </a:tr>
              <a:tr h="611632">
                <a:tc>
                  <a:txBody>
                    <a:bodyPr/>
                    <a:lstStyle/>
                    <a:p>
                      <a:r>
                        <a:rPr sz="1400" b="0" i="0">
                          <a:solidFill>
                            <a:srgbClr val="1A1440"/>
                          </a:solidFill>
                          <a:latin typeface="Calibri"/>
                        </a:rPr>
                        <a:t>Second evidence</a:t>
                      </a:r>
                    </a:p>
                  </a:txBody>
                  <a:tcPr marL="101600" marR="101600" marT="38100" marB="38100" anchor="ctr">
                    <a:solidFill>
                      <a:srgbClr val="FFFFFF"/>
                    </a:solidFill>
                  </a:tcPr>
                </a:tc>
                <a:tc>
                  <a:txBody>
                    <a:bodyPr/>
                    <a:lstStyle/>
                    <a:p>
                      <a:r>
                        <a:rPr sz="1400" b="0" i="0">
                          <a:solidFill>
                            <a:srgbClr val="1A1440"/>
                          </a:solidFill>
                          <a:latin typeface="Calibri"/>
                        </a:rPr>
                        <a:t>The stage worked before and works now</a:t>
                      </a:r>
                    </a:p>
                  </a:txBody>
                  <a:tcPr marL="101600" marR="101600" marT="38100" marB="38100" anchor="ctr">
                    <a:solidFill>
                      <a:srgbClr val="FFFFFF"/>
                    </a:solidFill>
                  </a:tcPr>
                </a:tc>
                <a:tc>
                  <a:txBody>
                    <a:bodyPr/>
                    <a:lstStyle/>
                    <a:p>
                      <a:r>
                        <a:rPr sz="1400" b="0" i="0">
                          <a:solidFill>
                            <a:srgbClr val="1A1440"/>
                          </a:solidFill>
                          <a:latin typeface="Calibri"/>
                        </a:rPr>
                        <a:t>Compare pre-release and post-release on Android alone</a:t>
                      </a:r>
                    </a:p>
                  </a:txBody>
                  <a:tcPr marL="101600" marR="101600" marT="38100" marB="38100" anchor="ctr">
                    <a:solidFill>
                      <a:srgbClr val="FFFFFF"/>
                    </a:solidFill>
                  </a:tcPr>
                </a:tc>
              </a:tr>
              <a:tr h="611632">
                <a:tc>
                  <a:txBody>
                    <a:bodyPr/>
                    <a:lstStyle/>
                    <a:p>
                      <a:r>
                        <a:rPr sz="1400" b="0" i="0">
                          <a:solidFill>
                            <a:srgbClr val="1A1440"/>
                          </a:solidFill>
                          <a:latin typeface="Calibri"/>
                        </a:rPr>
                        <a:t>Close</a:t>
                      </a:r>
                    </a:p>
                  </a:txBody>
                  <a:tcPr marL="101600" marR="101600" marT="38100" marB="38100" anchor="ctr">
                    <a:solidFill>
                      <a:srgbClr val="F4F2FA"/>
                    </a:solidFill>
                  </a:tcPr>
                </a:tc>
                <a:tc>
                  <a:txBody>
                    <a:bodyPr/>
                    <a:lstStyle/>
                    <a:p>
                      <a:r>
                        <a:rPr sz="1400" b="0" i="0">
                          <a:solidFill>
                            <a:srgbClr val="1A1440"/>
                          </a:solidFill>
                          <a:latin typeface="Calibri"/>
                        </a:rPr>
                        <a:t>Everything looks the same</a:t>
                      </a:r>
                    </a:p>
                  </a:txBody>
                  <a:tcPr marL="101600" marR="101600" marT="38100" marB="38100" anchor="ctr">
                    <a:solidFill>
                      <a:srgbClr val="F4F2FA"/>
                    </a:solidFill>
                  </a:tcPr>
                </a:tc>
                <a:tc>
                  <a:txBody>
                    <a:bodyPr/>
                    <a:lstStyle/>
                    <a:p>
                      <a:r>
                        <a:rPr sz="1400" b="0" i="0">
                          <a:solidFill>
                            <a:srgbClr val="1A1440"/>
                          </a:solidFill>
                          <a:latin typeface="Calibri"/>
                        </a:rPr>
                        <a:t>Name the segment, the stage and the date; propose the fix</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Weaned users and the mix move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Monthly against weekly on today's data</a:t>
            </a:r>
          </a:p>
        </p:txBody>
      </p:sp>
      <p:sp>
        <p:nvSpPr>
          <p:cNvPr id="14" name="Oval 13"/>
          <p:cNvSpPr/>
          <p:nvPr/>
        </p:nvSpPr>
        <p:spPr>
          <a:xfrm>
            <a:off x="456371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73441"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Zomato's 60 percent rise, kept descriptive</a:t>
            </a:r>
          </a:p>
        </p:txBody>
      </p:sp>
      <p:sp>
        <p:nvSpPr>
          <p:cNvPr id="16" name="Oval 15"/>
          <p:cNvSpPr/>
          <p:nvPr/>
        </p:nvSpPr>
        <p:spPr>
          <a:xfrm>
            <a:off x="6959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69169" y="6437376"/>
            <a:ext cx="504348" cy="152146"/>
          </a:xfrm>
          <a:prstGeom prst="rect">
            <a:avLst/>
          </a:prstGeom>
          <a:noFill/>
        </p:spPr>
        <p:txBody>
          <a:bodyPr wrap="square" anchor="t" lIns="0" rIns="0" tIns="0" bIns="0">
            <a:spAutoFit/>
          </a:bodyPr>
          <a:lstStyle/>
          <a:p>
            <a:pPr algn="l"/>
            <a:r>
              <a:rPr sz="700" b="0" i="0">
                <a:solidFill>
                  <a:srgbClr val="6B6690"/>
                </a:solidFill>
                <a:latin typeface="Calibri"/>
              </a:rPr>
              <a:t>Close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the fallback hour taught, in one sentence.</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Weaned users and the mix move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Monthly against weekly on today's data</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Zomato's 60 percent rise, kept descriptive</a:t>
            </a:r>
          </a:p>
        </p:txBody>
      </p:sp>
      <p:sp>
        <p:nvSpPr>
          <p:cNvPr id="13" name="Rounded Rectangle 12"/>
          <p:cNvSpPr/>
          <p:nvPr/>
        </p:nvSpPr>
        <p:spPr>
          <a:xfrm>
            <a:off x="7441407" y="5074920"/>
            <a:ext cx="6618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Close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fallback: the weaned-users hour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closes the fallback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hour teach that the main day did not already carry?</a:t>
            </a:r>
          </a:p>
        </p:txBody>
      </p:sp>
      <p:sp>
        <p:nvSpPr>
          <p:cNvPr id="9" name="TextBox 8"/>
          <p:cNvSpPr txBox="1"/>
          <p:nvPr/>
        </p:nvSpPr>
        <p:spPr>
          <a:xfrm>
            <a:off x="530352" y="1956816"/>
            <a:ext cx="11130991" cy="143459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blended lift and a blended fall can both be the mix shifting rather than any member's behaviour changing. The chart that separates them is the cohort triangle with its denominator named.</a:t>
            </a:r>
          </a:p>
          <a:p>
            <a:pPr>
              <a:spcAft>
                <a:spcPts val="800"/>
              </a:spcAft>
            </a:pPr>
            <a:r>
              <a:rPr sz="1600" b="0" i="0">
                <a:solidFill>
                  <a:srgbClr val="1A1440"/>
                </a:solidFill>
                <a:latin typeface="Calibri"/>
              </a:rPr>
              <a:t>Nothing in this hour touched survival analysis, log-rank tests or hazard functions. The IITGN block owns those whenever it runs.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Weaned users and the mix move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Monthly against weekly on today's data</a:t>
            </a:r>
          </a:p>
        </p:txBody>
      </p:sp>
      <p:sp>
        <p:nvSpPr>
          <p:cNvPr id="14" name="Oval 13"/>
          <p:cNvSpPr/>
          <p:nvPr/>
        </p:nvSpPr>
        <p:spPr>
          <a:xfrm>
            <a:off x="456371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73441"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Zomato's 60 percent rise, kept descriptive</a:t>
            </a:r>
          </a:p>
        </p:txBody>
      </p:sp>
      <p:sp>
        <p:nvSpPr>
          <p:cNvPr id="16" name="Oval 15"/>
          <p:cNvSpPr/>
          <p:nvPr/>
        </p:nvSpPr>
        <p:spPr>
          <a:xfrm>
            <a:off x="6959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69169" y="6437376"/>
            <a:ext cx="504348" cy="152146"/>
          </a:xfrm>
          <a:prstGeom prst="rect">
            <a:avLst/>
          </a:prstGeom>
          <a:noFill/>
        </p:spPr>
        <p:txBody>
          <a:bodyPr wrap="square" anchor="t" lIns="0" rIns="0" tIns="0" bIns="0">
            <a:spAutoFit/>
          </a:bodyPr>
          <a:lstStyle/>
          <a:p>
            <a:pPr algn="l"/>
            <a:r>
              <a:rPr sz="700" b="1" i="0">
                <a:solidFill>
                  <a:srgbClr val="5B3FD6"/>
                </a:solidFill>
                <a:latin typeface="Calibri"/>
              </a:rPr>
              <a:t>Close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