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block runs only if the IITGN faculty session W4-3 (tentative) slips. It teaches no survival</a:t>
            </a:r>
          </a:p>
          <a:p>
            <a:r>
              <a:t>curves, censoring or tests between curves, which stay with the block whenever it runs. Four</a:t>
            </a:r>
          </a:p>
          <a:p>
            <a:r>
              <a:t>parts: 35, 40, 25 and 20 minutes, 120 in all.</a:t>
            </a:r>
          </a:p>
          <a:p>
            <a:r>
              <a:t>LIVE, 35 minutes. Styles: StatQuest (ten members on the board), the case method (Swiggy's own</a:t>
            </a:r>
          </a:p>
          <a:p>
            <a:r>
              <a:t>decision). The denominator question closes the part.</a:t>
            </a:r>
          </a:p>
          <a:p>
            <a:r>
              <a:t>Transition: Swiggy's numbers.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https://nsearchives.nseindia.com/corporate/SWIGGY_30072026154100_Covering_Letter_Letter_to_Shareholders_-_signed.pdf (checked 12 October 2026)</a:t>
            </a:r>
          </a:p>
          <a:p>
            <a:r>
              <a:t>https://www.swiggy.com/corporate/wp-content/uploads/2025/10/Q2-FY2026-Shareholder-letter.pdf (checked 12 October 2026)</a:t>
            </a:r>
          </a:p>
          <a:p>
            <a:r>
              <a:t>LIVE, 8 minutes. Read the three numbers and the decision. Ask: which of these could rise with no</a:t>
            </a:r>
          </a:p>
          <a:p>
            <a:r>
              <a:t>user ordering a single extra time? Expect "the retention rate"; the next slide shows how.</a:t>
            </a:r>
          </a:p>
          <a:p>
            <a:r>
              <a:t>Transition: ten members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12 minutes. Build the table on the board with the room, column by column (invented</a:t>
            </a:r>
          </a:p>
          <a:p>
            <a:r>
              <a:t>numbers). Then ask: from the blended number alone, could you tell a weaning from a better product?</a:t>
            </a:r>
          </a:p>
          <a:p>
            <a:r>
              <a:t>No; the cohort table with its denominator can.</a:t>
            </a:r>
          </a:p>
          <a:p>
            <a:r>
              <a:t>Transition: the denominator question.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Groups write what each denominator would show after a weaning. Per retained</a:t>
            </a:r>
          </a:p>
          <a:p>
            <a:r>
              <a:t>user rises most; per acquired user shows the removals as a fall; the total moves least.</a:t>
            </a:r>
          </a:p>
          <a:p>
            <a:r>
              <a:t>Transition: the rerun, by week.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40 minutes. The row's after-class task done in class, in pairs, on the event log. Styles:</a:t>
            </a:r>
          </a:p>
          <a:p>
            <a:r>
              <a:t>Krish Naik (a table built line by line), Veritasium (predict the sale week's row first).</a:t>
            </a:r>
          </a:p>
          <a:p>
            <a:r>
              <a:t>Transition: the task.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20 minutes in pairs. Ask each pair to predict the sale week's row before computing it.</a:t>
            </a:r>
          </a:p>
          <a:p>
            <a:r>
              <a:t>Transition: the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Point at the sale week's two cells. The monthly table hid this inside the</a:t>
            </a:r>
          </a:p>
          <a:p>
            <a:r>
              <a:t>signup month, which is month zero and never counted.</a:t>
            </a:r>
          </a:p>
          <a:p>
            <a:r>
              <a:t>Transition: which story survives.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10 minutes. The lesson: a cohort table's grain changes the numbers and keeps the method.</a:t>
            </a:r>
          </a:p>
          <a:p>
            <a:r>
              <a:t>Name the grain on every chart, as the unit is named on every funnel.</a:t>
            </a:r>
          </a:p>
          <a:p>
            <a:r>
              <a:t>Transition: Zomato's own number.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25 minutes. Kept descriptive: no causal method is taught. Styles: Veritasium (the</a:t>
            </a:r>
          </a:p>
          <a:p>
            <a:r>
              <a:t>misconception first), the case method.</a:t>
            </a:r>
          </a:p>
          <a:p>
            <a:r>
              <a:t>Transition: the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a:t>
            </a:r>
          </a:p>
          <a:p>
            <a:r>
              <a:t>https://www.bseindia.com/xml-data/corpfiling/AttachHis/42b3bf3b-1edb-4da7-849a-87ca9da27ff8.pdf (checked 12 October 2026)</a:t>
            </a:r>
          </a:p>
          <a:p>
            <a:r>
              <a:t>LIVE, 10 minutes. Members choose to join when they expect to order more, so before and after</a:t>
            </a:r>
          </a:p>
          <a:p>
            <a:r>
              <a:t>mixes the choice with the effect. Ask what a fair comparison would be.</a:t>
            </a:r>
          </a:p>
          <a:p>
            <a:r>
              <a:t>Transition: the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Groups rank the three for what Zomato could run. Keep it at this depth: how to</a:t>
            </a:r>
          </a:p>
          <a:p>
            <a:r>
              <a:t>estimate the effect belongs to later weeks.</a:t>
            </a:r>
          </a:p>
          <a:p>
            <a:r>
              <a:t>Transition: the second transcript.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20 minutes. The row's [D] anchor: the app team says the funnel stage you blamed is fine;</a:t>
            </a:r>
          </a:p>
          <a:p>
            <a:r>
              <a:t>what evidence do you bring to the meeting? Pairs read and score it.</a:t>
            </a:r>
          </a:p>
          <a:p>
            <a:r>
              <a:t>Transition: the transcript.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15 minutes. Pairs score the hire-grade side on the scorecard. The move is Tuesday's: restate,</a:t>
            </a:r>
          </a:p>
          <a:p>
            <a:r>
              <a:t>answer from the evidence, concede what is true, say what would change your mind.</a:t>
            </a:r>
          </a:p>
          <a:p>
            <a:r>
              <a:t>Transition: the close.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Nothing here touched survival curves, censoring or tests between curves; the</a:t>
            </a:r>
          </a:p>
          <a:p>
            <a:r>
              <a:t>faculty block (tentative) takes them whenever it runs. Then return to the Kahoot if it has not run.</a:t>
            </a:r>
          </a:p>
          <a:p>
            <a:r>
              <a:t>Transition: end of the block.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Can weaning lift retention?</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Zomato Gold, Chennai, continued, beside Swiggy's own published cohorts: Swiggy removed users with low expected value, so how much of a retention rise can that alone produce?</a:t>
            </a:r>
          </a:p>
        </p:txBody>
      </p:sp>
      <p:sp>
        <p:nvSpPr>
          <p:cNvPr id="10" name="Rounded Rectangle 9"/>
          <p:cNvSpPr/>
          <p:nvPr/>
        </p:nvSpPr>
        <p:spPr>
          <a:xfrm>
            <a:off x="731519" y="5074920"/>
            <a:ext cx="196459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Can weaning lift retention?</a:t>
            </a:r>
          </a:p>
        </p:txBody>
      </p:sp>
      <p:sp>
        <p:nvSpPr>
          <p:cNvPr id="11" name="Rounded Rectangle 10"/>
          <p:cNvSpPr/>
          <p:nvPr/>
        </p:nvSpPr>
        <p:spPr>
          <a:xfrm>
            <a:off x="2805839"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a weekly table agree?</a:t>
            </a:r>
          </a:p>
        </p:txBody>
      </p:sp>
      <p:sp>
        <p:nvSpPr>
          <p:cNvPr id="12" name="Rounded Rectangle 11"/>
          <p:cNvSpPr/>
          <p:nvPr/>
        </p:nvSpPr>
        <p:spPr>
          <a:xfrm>
            <a:off x="4820942"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Did Gold cause the orders?</a:t>
            </a:r>
          </a:p>
        </p:txBody>
      </p:sp>
      <p:sp>
        <p:nvSpPr>
          <p:cNvPr id="13" name="Rounded Rectangle 12"/>
          <p:cNvSpPr/>
          <p:nvPr/>
        </p:nvSpPr>
        <p:spPr>
          <a:xfrm>
            <a:off x="6836045"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Is the app team's stage fine?</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the fallback block</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THE FALLBACK, IF THE TENTATIVE FACULTY BLOCK SLIPS</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Swiggy weaned 4 million users; retention rose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Swiggy decide, and what did its numbers do?</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4M+</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USERS WEANED AWAY</a:t>
            </a:r>
          </a:p>
        </p:txBody>
      </p:sp>
      <p:sp>
        <p:nvSpPr>
          <p:cNvPr id="11" name="TextBox 10"/>
          <p:cNvSpPr txBox="1"/>
          <p:nvPr/>
        </p:nvSpPr>
        <p:spPr>
          <a:xfrm>
            <a:off x="530352" y="2893060"/>
            <a:ext cx="3527450" cy="350266"/>
          </a:xfrm>
          <a:prstGeom prst="rect">
            <a:avLst/>
          </a:prstGeom>
          <a:noFill/>
        </p:spPr>
        <p:txBody>
          <a:bodyPr wrap="square" anchor="t" lIns="0" rIns="0" tIns="0" bIns="0">
            <a:spAutoFit/>
          </a:bodyPr>
          <a:lstStyle/>
          <a:p>
            <a:pPr algn="l"/>
            <a:r>
              <a:rPr sz="950" b="0" i="0">
                <a:solidFill>
                  <a:srgbClr val="6B6690"/>
                </a:solidFill>
                <a:latin typeface="Calibri"/>
              </a:rPr>
              <a:t>unprofitable Instamart users, over three quarters to Q1 FY27</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55 to 61</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PERCENT</a:t>
            </a:r>
          </a:p>
        </p:txBody>
      </p:sp>
      <p:sp>
        <p:nvSpPr>
          <p:cNvPr id="15" name="TextBox 14"/>
          <p:cNvSpPr txBox="1"/>
          <p:nvPr/>
        </p:nvSpPr>
        <p:spPr>
          <a:xfrm>
            <a:off x="4332122" y="2893060"/>
            <a:ext cx="3527450" cy="350266"/>
          </a:xfrm>
          <a:prstGeom prst="rect">
            <a:avLst/>
          </a:prstGeom>
          <a:noFill/>
        </p:spPr>
        <p:txBody>
          <a:bodyPr wrap="square" anchor="t" lIns="0" rIns="0" tIns="0" bIns="0">
            <a:spAutoFit/>
          </a:bodyPr>
          <a:lstStyle/>
          <a:p>
            <a:pPr algn="l"/>
            <a:r>
              <a:rPr sz="950" b="0" i="0">
                <a:solidFill>
                  <a:srgbClr val="6B6690"/>
                </a:solidFill>
                <a:latin typeface="Calibri"/>
              </a:rPr>
              <a:t>one-month retention of the transacting base, Q1 FY26 to Q1 FY27</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4.14x</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SPEND AT Q6</a:t>
            </a:r>
          </a:p>
        </p:txBody>
      </p:sp>
      <p:sp>
        <p:nvSpPr>
          <p:cNvPr id="19" name="TextBox 18"/>
          <p:cNvSpPr txBox="1"/>
          <p:nvPr/>
        </p:nvSpPr>
        <p:spPr>
          <a:xfrm>
            <a:off x="8133892" y="2893060"/>
            <a:ext cx="3527450" cy="350266"/>
          </a:xfrm>
          <a:prstGeom prst="rect">
            <a:avLst/>
          </a:prstGeom>
          <a:noFill/>
        </p:spPr>
        <p:txBody>
          <a:bodyPr wrap="square" anchor="t" lIns="0" rIns="0" tIns="0" bIns="0">
            <a:spAutoFit/>
          </a:bodyPr>
          <a:lstStyle/>
          <a:p>
            <a:pPr algn="l"/>
            <a:r>
              <a:rPr sz="950" b="0" i="0">
                <a:solidFill>
                  <a:srgbClr val="6B6690"/>
                </a:solidFill>
                <a:latin typeface="Calibri"/>
              </a:rPr>
              <a:t>the Q4 FY24 cohort's spend in its sixth quarter against its first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Swiggy says it used cohort-level levers (minimum order thresholds, free deliveries, new-user coupons) and weaned away users with low expected lifetime value. Sources: Swiggy's Q1 FY27 and Q2 FY26 shareholder letters, each checked 12 October 2026.</a:t>
            </a:r>
          </a:p>
        </p:txBody>
      </p:sp>
      <p:sp>
        <p:nvSpPr>
          <p:cNvPr id="22" name="Oval 21"/>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Can weaning lift retention?</a:t>
            </a:r>
          </a:p>
        </p:txBody>
      </p:sp>
      <p:sp>
        <p:nvSpPr>
          <p:cNvPr id="24" name="Oval 23"/>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357723"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a weekly table agree?</a:t>
            </a:r>
          </a:p>
        </p:txBody>
      </p:sp>
      <p:sp>
        <p:nvSpPr>
          <p:cNvPr id="26" name="Oval 25"/>
          <p:cNvSpPr/>
          <p:nvPr/>
        </p:nvSpPr>
        <p:spPr>
          <a:xfrm>
            <a:off x="39196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02936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Did Gold cause the orders?</a:t>
            </a:r>
          </a:p>
        </p:txBody>
      </p:sp>
      <p:sp>
        <p:nvSpPr>
          <p:cNvPr id="28" name="Oval 27"/>
          <p:cNvSpPr/>
          <p:nvPr/>
        </p:nvSpPr>
        <p:spPr>
          <a:xfrm>
            <a:off x="559127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700998"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Is the app team's stage fine?</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THE FALLBACK, IF THE TENTATIVE FACULTY BLOCK SLIPS</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Drop five weak members, and every column rises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Ten members, five strong and five weak: what happens to each month's rate when the weak five leave (invented)?</a:t>
            </a:r>
          </a:p>
        </p:txBody>
      </p:sp>
      <p:graphicFrame>
        <p:nvGraphicFramePr>
          <p:cNvPr id="9" name="Table 8"/>
          <p:cNvGraphicFramePr>
            <a:graphicFrameLocks noGrp="1"/>
          </p:cNvGraphicFramePr>
          <p:nvPr/>
        </p:nvGraphicFramePr>
        <p:xfrm>
          <a:off x="530352" y="1956816"/>
          <a:ext cx="11130989" cy="1849120"/>
        </p:xfrm>
        <a:graphic>
          <a:graphicData uri="http://schemas.openxmlformats.org/drawingml/2006/table">
            <a:tbl>
              <a:tblPr firstRow="0" bandRow="0">
                <a:tableStyleId>{2D5ABB26-0587-4C30-8999-92F81FD0307C}</a:tableStyleId>
              </a:tblPr>
              <a:tblGrid>
                <a:gridCol w="3078592"/>
                <a:gridCol w="2351787"/>
                <a:gridCol w="5700610"/>
              </a:tblGrid>
              <a:tr h="369824">
                <a:tc>
                  <a:txBody>
                    <a:bodyPr/>
                    <a:lstStyle/>
                    <a:p>
                      <a:r>
                        <a:rPr sz="1450" b="1" i="0">
                          <a:solidFill>
                            <a:srgbClr val="FFFFFF"/>
                          </a:solidFill>
                          <a:latin typeface="Calibri"/>
                        </a:rPr>
                        <a:t>Month</a:t>
                      </a:r>
                    </a:p>
                  </a:txBody>
                  <a:tcPr marL="101600" marR="101600" marT="38100" marB="38100" anchor="ctr">
                    <a:solidFill>
                      <a:srgbClr val="1A0F5C"/>
                    </a:solidFill>
                  </a:tcPr>
                </a:tc>
                <a:tc>
                  <a:txBody>
                    <a:bodyPr/>
                    <a:lstStyle/>
                    <a:p>
                      <a:r>
                        <a:rPr sz="1450" b="1" i="0">
                          <a:solidFill>
                            <a:srgbClr val="FFFFFF"/>
                          </a:solidFill>
                          <a:latin typeface="Calibri"/>
                        </a:rPr>
                        <a:t>All ten</a:t>
                      </a:r>
                    </a:p>
                  </a:txBody>
                  <a:tcPr marL="101600" marR="101600" marT="38100" marB="38100" anchor="ctr">
                    <a:solidFill>
                      <a:srgbClr val="1A0F5C"/>
                    </a:solidFill>
                  </a:tcPr>
                </a:tc>
                <a:tc>
                  <a:txBody>
                    <a:bodyPr/>
                    <a:lstStyle/>
                    <a:p>
                      <a:r>
                        <a:rPr sz="1450" b="1" i="0">
                          <a:solidFill>
                            <a:srgbClr val="FFFFFF"/>
                          </a:solidFill>
                          <a:latin typeface="Calibri"/>
                        </a:rPr>
                        <a:t>The strong five only</a:t>
                      </a:r>
                    </a:p>
                  </a:txBody>
                  <a:tcPr marL="101600" marR="101600" marT="38100" marB="38100" anchor="ctr">
                    <a:solidFill>
                      <a:srgbClr val="1A0F5C"/>
                    </a:solidFill>
                  </a:tcPr>
                </a:tc>
              </a:tr>
              <a:tr h="369824">
                <a:tc>
                  <a:txBody>
                    <a:bodyPr/>
                    <a:lstStyle/>
                    <a:p>
                      <a:r>
                        <a:rPr sz="1400" b="0" i="0">
                          <a:solidFill>
                            <a:srgbClr val="1A1440"/>
                          </a:solidFill>
                          <a:latin typeface="Calibri"/>
                        </a:rPr>
                        <a:t>Month one</a:t>
                      </a:r>
                    </a:p>
                  </a:txBody>
                  <a:tcPr marL="101600" marR="101600" marT="38100" marB="38100" anchor="ctr">
                    <a:solidFill>
                      <a:srgbClr val="FFFFFF"/>
                    </a:solidFill>
                  </a:tcPr>
                </a:tc>
                <a:tc>
                  <a:txBody>
                    <a:bodyPr/>
                    <a:lstStyle/>
                    <a:p>
                      <a:r>
                        <a:rPr sz="1400" b="0" i="0">
                          <a:solidFill>
                            <a:srgbClr val="1A1440"/>
                          </a:solidFill>
                          <a:latin typeface="Calibri"/>
                        </a:rPr>
                        <a:t>7 of 10</a:t>
                      </a:r>
                    </a:p>
                  </a:txBody>
                  <a:tcPr marL="101600" marR="101600" marT="38100" marB="38100" anchor="ctr">
                    <a:solidFill>
                      <a:srgbClr val="FFFFFF"/>
                    </a:solidFill>
                  </a:tcPr>
                </a:tc>
                <a:tc>
                  <a:txBody>
                    <a:bodyPr/>
                    <a:lstStyle/>
                    <a:p>
                      <a:r>
                        <a:rPr sz="1400" b="0" i="0">
                          <a:solidFill>
                            <a:srgbClr val="1A1440"/>
                          </a:solidFill>
                          <a:latin typeface="Calibri"/>
                        </a:rPr>
                        <a:t>5 of 5</a:t>
                      </a:r>
                    </a:p>
                  </a:txBody>
                  <a:tcPr marL="101600" marR="101600" marT="38100" marB="38100" anchor="ctr">
                    <a:solidFill>
                      <a:srgbClr val="FFFFFF"/>
                    </a:solidFill>
                  </a:tcPr>
                </a:tc>
              </a:tr>
              <a:tr h="369824">
                <a:tc>
                  <a:txBody>
                    <a:bodyPr/>
                    <a:lstStyle/>
                    <a:p>
                      <a:r>
                        <a:rPr sz="1400" b="0" i="0">
                          <a:solidFill>
                            <a:srgbClr val="1A1440"/>
                          </a:solidFill>
                          <a:latin typeface="Calibri"/>
                        </a:rPr>
                        <a:t>Month two</a:t>
                      </a:r>
                    </a:p>
                  </a:txBody>
                  <a:tcPr marL="101600" marR="101600" marT="38100" marB="38100" anchor="ctr">
                    <a:solidFill>
                      <a:srgbClr val="F4F2FA"/>
                    </a:solidFill>
                  </a:tcPr>
                </a:tc>
                <a:tc>
                  <a:txBody>
                    <a:bodyPr/>
                    <a:lstStyle/>
                    <a:p>
                      <a:r>
                        <a:rPr sz="1400" b="0" i="0">
                          <a:solidFill>
                            <a:srgbClr val="1A1440"/>
                          </a:solidFill>
                          <a:latin typeface="Calibri"/>
                        </a:rPr>
                        <a:t>5 of 10</a:t>
                      </a:r>
                    </a:p>
                  </a:txBody>
                  <a:tcPr marL="101600" marR="101600" marT="38100" marB="38100" anchor="ctr">
                    <a:solidFill>
                      <a:srgbClr val="F4F2FA"/>
                    </a:solidFill>
                  </a:tcPr>
                </a:tc>
                <a:tc>
                  <a:txBody>
                    <a:bodyPr/>
                    <a:lstStyle/>
                    <a:p>
                      <a:r>
                        <a:rPr sz="1400" b="0" i="0">
                          <a:solidFill>
                            <a:srgbClr val="1A1440"/>
                          </a:solidFill>
                          <a:latin typeface="Calibri"/>
                        </a:rPr>
                        <a:t>5 of 5</a:t>
                      </a:r>
                    </a:p>
                  </a:txBody>
                  <a:tcPr marL="101600" marR="101600" marT="38100" marB="38100" anchor="ctr">
                    <a:solidFill>
                      <a:srgbClr val="F4F2FA"/>
                    </a:solidFill>
                  </a:tcPr>
                </a:tc>
              </a:tr>
              <a:tr h="369824">
                <a:tc>
                  <a:txBody>
                    <a:bodyPr/>
                    <a:lstStyle/>
                    <a:p>
                      <a:r>
                        <a:rPr sz="1400" b="0" i="0">
                          <a:solidFill>
                            <a:srgbClr val="1A1440"/>
                          </a:solidFill>
                          <a:latin typeface="Calibri"/>
                        </a:rPr>
                        <a:t>Month three</a:t>
                      </a:r>
                    </a:p>
                  </a:txBody>
                  <a:tcPr marL="101600" marR="101600" marT="38100" marB="38100" anchor="ctr">
                    <a:solidFill>
                      <a:srgbClr val="FFFFFF"/>
                    </a:solidFill>
                  </a:tcPr>
                </a:tc>
                <a:tc>
                  <a:txBody>
                    <a:bodyPr/>
                    <a:lstStyle/>
                    <a:p>
                      <a:r>
                        <a:rPr sz="1400" b="0" i="0">
                          <a:solidFill>
                            <a:srgbClr val="1A1440"/>
                          </a:solidFill>
                          <a:latin typeface="Calibri"/>
                        </a:rPr>
                        <a:t>4 of 10</a:t>
                      </a:r>
                    </a:p>
                  </a:txBody>
                  <a:tcPr marL="101600" marR="101600" marT="38100" marB="38100" anchor="ctr">
                    <a:solidFill>
                      <a:srgbClr val="FFFFFF"/>
                    </a:solidFill>
                  </a:tcPr>
                </a:tc>
                <a:tc>
                  <a:txBody>
                    <a:bodyPr/>
                    <a:lstStyle/>
                    <a:p>
                      <a:r>
                        <a:rPr sz="1400" b="0" i="0">
                          <a:solidFill>
                            <a:srgbClr val="1A1440"/>
                          </a:solidFill>
                          <a:latin typeface="Calibri"/>
                        </a:rPr>
                        <a:t>4 of 5</a:t>
                      </a:r>
                    </a:p>
                  </a:txBody>
                  <a:tcPr marL="101600" marR="101600" marT="38100" marB="38100" anchor="ctr">
                    <a:solidFill>
                      <a:srgbClr val="FFFFFF"/>
                    </a:solidFill>
                  </a:tcPr>
                </a:tc>
              </a:tr>
              <a:tr h="369824">
                <a:tc>
                  <a:txBody>
                    <a:bodyPr/>
                    <a:lstStyle/>
                    <a:p>
                      <a:r>
                        <a:rPr sz="1400" b="0" i="0">
                          <a:solidFill>
                            <a:srgbClr val="1A1440"/>
                          </a:solidFill>
                          <a:latin typeface="Calibri"/>
                        </a:rPr>
                        <a:t>Month four</a:t>
                      </a:r>
                    </a:p>
                  </a:txBody>
                  <a:tcPr marL="101600" marR="101600" marT="38100" marB="38100" anchor="ctr">
                    <a:solidFill>
                      <a:srgbClr val="F4F2FA"/>
                    </a:solidFill>
                  </a:tcPr>
                </a:tc>
                <a:tc>
                  <a:txBody>
                    <a:bodyPr/>
                    <a:lstStyle/>
                    <a:p>
                      <a:r>
                        <a:rPr sz="1400" b="0" i="0">
                          <a:solidFill>
                            <a:srgbClr val="1A1440"/>
                          </a:solidFill>
                          <a:latin typeface="Calibri"/>
                        </a:rPr>
                        <a:t>3 of 10</a:t>
                      </a:r>
                    </a:p>
                  </a:txBody>
                  <a:tcPr marL="101600" marR="101600" marT="38100" marB="38100" anchor="ctr">
                    <a:solidFill>
                      <a:srgbClr val="F4F2FA"/>
                    </a:solidFill>
                  </a:tcPr>
                </a:tc>
                <a:tc>
                  <a:txBody>
                    <a:bodyPr/>
                    <a:lstStyle/>
                    <a:p>
                      <a:r>
                        <a:rPr sz="1400" b="0" i="0">
                          <a:solidFill>
                            <a:srgbClr val="1A1440"/>
                          </a:solidFill>
                          <a:latin typeface="Calibri"/>
                        </a:rPr>
                        <a:t>3 of 5</a:t>
                      </a:r>
                    </a:p>
                  </a:txBody>
                  <a:tcPr marL="101600" marR="101600" marT="38100" marB="38100" anchor="ctr">
                    <a:solidFill>
                      <a:srgbClr val="F4F2FA"/>
                    </a:solidFill>
                  </a:tcPr>
                </a:tc>
              </a:tr>
            </a:tbl>
          </a:graphicData>
        </a:graphic>
      </p:graphicFrame>
      <p:sp>
        <p:nvSpPr>
          <p:cNvPr id="10" name="TextBox 9"/>
          <p:cNvSpPr txBox="1"/>
          <p:nvPr/>
        </p:nvSpPr>
        <p:spPr>
          <a:xfrm>
            <a:off x="530352" y="406196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No member changed what she did, and every month's rate rose: 70 to 100, 50 to 100, 40 to 80, 30 to 60 percent. A retention rise after a weaning is partly the mix of who remains.</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Can weaning lift retention?</a:t>
            </a:r>
          </a:p>
        </p:txBody>
      </p:sp>
      <p:sp>
        <p:nvSpPr>
          <p:cNvPr id="13" name="Oval 12"/>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57723"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a weekly table agree?</a:t>
            </a:r>
          </a:p>
        </p:txBody>
      </p:sp>
      <p:sp>
        <p:nvSpPr>
          <p:cNvPr id="15" name="Oval 14"/>
          <p:cNvSpPr/>
          <p:nvPr/>
        </p:nvSpPr>
        <p:spPr>
          <a:xfrm>
            <a:off x="39196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02936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Did Gold cause the orders?</a:t>
            </a:r>
          </a:p>
        </p:txBody>
      </p:sp>
      <p:sp>
        <p:nvSpPr>
          <p:cNvPr id="17" name="Oval 16"/>
          <p:cNvSpPr/>
          <p:nvPr/>
        </p:nvSpPr>
        <p:spPr>
          <a:xfrm>
            <a:off x="559127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00998"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Is the app team's stage fine?</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THE FALLBACK, IF THE TENTATIVE FACULTY BLOCK SLIPS</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denominators give three different charts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denominator does a published cohort chart use, and what would the others say?</a:t>
            </a:r>
          </a:p>
        </p:txBody>
      </p:sp>
      <p:pic>
        <p:nvPicPr>
          <p:cNvPr id="9" name="mermaid diagram" descr="c88584e5f6a98df8.png"/>
          <p:cNvPicPr>
            <a:picLocks noChangeAspect="1"/>
          </p:cNvPicPr>
          <p:nvPr/>
        </p:nvPicPr>
        <p:blipFill>
          <a:blip r:embed="rId5"/>
          <a:stretch>
            <a:fillRect/>
          </a:stretch>
        </p:blipFill>
        <p:spPr>
          <a:xfrm>
            <a:off x="1773878" y="1956816"/>
            <a:ext cx="8643937" cy="2271712"/>
          </a:xfrm>
          <a:prstGeom prst="rect">
            <a:avLst/>
          </a:prstGeom>
        </p:spPr>
      </p:pic>
      <p:sp>
        <p:nvSpPr>
          <p:cNvPr id="10" name="TextBox 9"/>
          <p:cNvSpPr txBox="1"/>
          <p:nvPr/>
        </p:nvSpPr>
        <p:spPr>
          <a:xfrm>
            <a:off x="530352" y="4374832"/>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cohort chart without its denominator is a shape. Swiggy's table is indexed to its Q4 FY24 cohort's first quarter, and calls the groups "retained user cohorts": the first thing to ask is who stays in the count.</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516475" cy="152146"/>
          </a:xfrm>
          <a:prstGeom prst="rect">
            <a:avLst/>
          </a:prstGeom>
          <a:noFill/>
        </p:spPr>
        <p:txBody>
          <a:bodyPr wrap="square" anchor="t" lIns="0" rIns="0" tIns="0" bIns="0">
            <a:spAutoFit/>
          </a:bodyPr>
          <a:lstStyle/>
          <a:p>
            <a:pPr algn="l"/>
            <a:r>
              <a:rPr sz="700" b="1" i="0">
                <a:solidFill>
                  <a:srgbClr val="5B3FD6"/>
                </a:solidFill>
                <a:latin typeface="Calibri"/>
              </a:rPr>
              <a:t>Can weaning lift retention?</a:t>
            </a:r>
          </a:p>
        </p:txBody>
      </p:sp>
      <p:sp>
        <p:nvSpPr>
          <p:cNvPr id="13" name="Oval 12"/>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57723"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a weekly table agree?</a:t>
            </a:r>
          </a:p>
        </p:txBody>
      </p:sp>
      <p:sp>
        <p:nvSpPr>
          <p:cNvPr id="15" name="Oval 14"/>
          <p:cNvSpPr/>
          <p:nvPr/>
        </p:nvSpPr>
        <p:spPr>
          <a:xfrm>
            <a:off x="39196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02936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Did Gold cause the orders?</a:t>
            </a:r>
          </a:p>
        </p:txBody>
      </p:sp>
      <p:sp>
        <p:nvSpPr>
          <p:cNvPr id="17" name="Oval 16"/>
          <p:cNvSpPr/>
          <p:nvPr/>
        </p:nvSpPr>
        <p:spPr>
          <a:xfrm>
            <a:off x="559127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00998"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Is the app team's stage fine?</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Does a weekly table agree?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Rebuilt by signup week instead of signup month, which part of the morning's story holds and which needs new words?</a:t>
            </a:r>
          </a:p>
        </p:txBody>
      </p:sp>
      <p:sp>
        <p:nvSpPr>
          <p:cNvPr id="10" name="Rounded Rectangle 9"/>
          <p:cNvSpPr/>
          <p:nvPr/>
        </p:nvSpPr>
        <p:spPr>
          <a:xfrm>
            <a:off x="731519"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weaning lift retention?</a:t>
            </a:r>
          </a:p>
        </p:txBody>
      </p:sp>
      <p:sp>
        <p:nvSpPr>
          <p:cNvPr id="11" name="Rounded Rectangle 10"/>
          <p:cNvSpPr/>
          <p:nvPr/>
        </p:nvSpPr>
        <p:spPr>
          <a:xfrm>
            <a:off x="2805839" y="5074920"/>
            <a:ext cx="190537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Does a weekly table agree?</a:t>
            </a:r>
          </a:p>
        </p:txBody>
      </p:sp>
      <p:sp>
        <p:nvSpPr>
          <p:cNvPr id="12" name="Rounded Rectangle 11"/>
          <p:cNvSpPr/>
          <p:nvPr/>
        </p:nvSpPr>
        <p:spPr>
          <a:xfrm>
            <a:off x="4820942"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Did Gold cause the orders?</a:t>
            </a:r>
          </a:p>
        </p:txBody>
      </p:sp>
      <p:sp>
        <p:nvSpPr>
          <p:cNvPr id="13" name="Rounded Rectangle 12"/>
          <p:cNvSpPr/>
          <p:nvPr/>
        </p:nvSpPr>
        <p:spPr>
          <a:xfrm>
            <a:off x="6836045"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Is the app team's stage fine?</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the fallback block</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THE FALLBACK, IF THE TENTATIVE FACULTY BLOCK SLIPS</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task: cohorts by signup week, from the log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a weekly cohort table built from the event log?</a:t>
            </a:r>
          </a:p>
        </p:txBody>
      </p:sp>
      <p:sp>
        <p:nvSpPr>
          <p:cNvPr id="9" name="Rounded Rectangle 8"/>
          <p:cNvSpPr/>
          <p:nvPr/>
        </p:nvSpPr>
        <p:spPr>
          <a:xfrm>
            <a:off x="530352" y="1956816"/>
            <a:ext cx="11130991" cy="1467104"/>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1064768"/>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placed = ev[ev["stage"] == "order_placed"]</a:t>
            </a:r>
          </a:p>
          <a:p>
            <a:pPr>
              <a:spcAft>
                <a:spcPts val="200"/>
              </a:spcAft>
            </a:pPr>
            <a:r>
              <a:rPr sz="1400" b="0" i="0">
                <a:solidFill>
                  <a:srgbClr val="E4E1F1"/>
                </a:solidFill>
                <a:latin typeface="Consolas"/>
              </a:rPr>
              <a:t>week = lambda t: t.dt.to_period("W-SUN").dt.start_time      # weeks start on Monday</a:t>
            </a:r>
          </a:p>
          <a:p>
            <a:pPr>
              <a:spcAft>
                <a:spcPts val="200"/>
              </a:spcAft>
            </a:pPr>
            <a:r>
              <a:rPr sz="1400" b="0" i="0">
                <a:solidFill>
                  <a:srgbClr val="E4E1F1"/>
                </a:solidFill>
                <a:latin typeface="Consolas"/>
              </a:rPr>
              <a:t>orders_week = set(zip(placed["user_id"], week(placed["event_ts"])))</a:t>
            </a:r>
          </a:p>
          <a:p>
            <a:pPr>
              <a:spcAft>
                <a:spcPts val="200"/>
              </a:spcAft>
            </a:pPr>
            <a:r>
              <a:rPr sz="1400" b="0" i="0">
                <a:solidFill>
                  <a:srgbClr val="A9A3D2"/>
                </a:solidFill>
                <a:latin typeface="Consolas"/>
              </a:rPr>
              <a:t># members who joined 3 August to 13 September; week k is the k-th full week after the signup week</a:t>
            </a:r>
          </a:p>
        </p:txBody>
      </p:sp>
      <p:sp>
        <p:nvSpPr>
          <p:cNvPr id="14" name="TextBox 13"/>
          <p:cNvSpPr txBox="1"/>
          <p:nvPr/>
        </p:nvSpPr>
        <p:spPr>
          <a:xfrm>
            <a:off x="530352" y="3588512"/>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Members who joined from 3 August to 13 September form six weekly cohorts. A member is active in week k when she placed an order that week. The week of 28 September is three days long, so the table stops at the week of 21 September.</a:t>
            </a:r>
          </a:p>
        </p:txBody>
      </p:sp>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Can weaning lift retention?</a:t>
            </a:r>
          </a:p>
        </p:txBody>
      </p:sp>
      <p:sp>
        <p:nvSpPr>
          <p:cNvPr id="17" name="Oval 16"/>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357723"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a weekly table agree?</a:t>
            </a:r>
          </a:p>
        </p:txBody>
      </p:sp>
      <p:sp>
        <p:nvSpPr>
          <p:cNvPr id="19" name="Oval 18"/>
          <p:cNvSpPr/>
          <p:nvPr/>
        </p:nvSpPr>
        <p:spPr>
          <a:xfrm>
            <a:off x="39196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02936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Did Gold cause the orders?</a:t>
            </a:r>
          </a:p>
        </p:txBody>
      </p:sp>
      <p:sp>
        <p:nvSpPr>
          <p:cNvPr id="21" name="Oval 20"/>
          <p:cNvSpPr/>
          <p:nvPr/>
        </p:nvSpPr>
        <p:spPr>
          <a:xfrm>
            <a:off x="559127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700998"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Is the app team's stage fine?</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THE FALLBACK, IF THE TENTATIVE FACULTY BLOCK SLIPS</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sale week: 53 percent, then 12</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weekly table show for the sale week against the weeks either side of it?</a:t>
            </a:r>
          </a:p>
        </p:txBody>
      </p:sp>
      <p:pic>
        <p:nvPicPr>
          <p:cNvPr id="9" name="mermaid diagram" descr="C2_W04_D04_weekly_cohorts_STUDENT.png"/>
          <p:cNvPicPr>
            <a:picLocks noChangeAspect="1"/>
          </p:cNvPicPr>
          <p:nvPr/>
        </p:nvPicPr>
        <p:blipFill>
          <a:blip r:embed="rId4"/>
          <a:stretch>
            <a:fillRect/>
          </a:stretch>
        </p:blipFill>
        <p:spPr>
          <a:xfrm>
            <a:off x="2837436" y="1664208"/>
            <a:ext cx="6516821"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Weekly cohorts: the sale week orders once, then falls away</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Percent of each weekly cohort that ordered in each full week after joining. The week of 17 August, the sale week, brought 9,108 members, the 8,027 who joined on the sale's discount among them. They ordered at 53 percent in their first full week, the most of any cohort, and then fell off a cliff to 12, the steepest fall of the six. The five other weeks, 1,112 to 1,247 members each, start between 27 and 38 percent.</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Can weaning lift retention?</a:t>
            </a:r>
          </a:p>
        </p:txBody>
      </p:sp>
      <p:sp>
        <p:nvSpPr>
          <p:cNvPr id="14" name="Oval 13"/>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357723"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a weekly table agree?</a:t>
            </a:r>
          </a:p>
        </p:txBody>
      </p:sp>
      <p:sp>
        <p:nvSpPr>
          <p:cNvPr id="16" name="Oval 15"/>
          <p:cNvSpPr/>
          <p:nvPr/>
        </p:nvSpPr>
        <p:spPr>
          <a:xfrm>
            <a:off x="39196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02936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Did Gold cause the orders?</a:t>
            </a:r>
          </a:p>
        </p:txBody>
      </p:sp>
      <p:sp>
        <p:nvSpPr>
          <p:cNvPr id="18" name="Oval 17"/>
          <p:cNvSpPr/>
          <p:nvPr/>
        </p:nvSpPr>
        <p:spPr>
          <a:xfrm>
            <a:off x="559127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700998"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Is the app team's stage fine?</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THE FALLBACK, IF THE TENTATIVE FACULTY BLOCK SLIPS</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method survives; the words change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sentence of the morning holds on a weekly table, and which has to be rewritten?</a:t>
            </a:r>
          </a:p>
        </p:txBody>
      </p:sp>
      <p:graphicFrame>
        <p:nvGraphicFramePr>
          <p:cNvPr id="9" name="Table 8"/>
          <p:cNvGraphicFramePr>
            <a:graphicFrameLocks noGrp="1"/>
          </p:cNvGraphicFramePr>
          <p:nvPr/>
        </p:nvGraphicFramePr>
        <p:xfrm>
          <a:off x="530352" y="1956816"/>
          <a:ext cx="11130990" cy="2332736"/>
        </p:xfrm>
        <a:graphic>
          <a:graphicData uri="http://schemas.openxmlformats.org/drawingml/2006/table">
            <a:tbl>
              <a:tblPr firstRow="0" bandRow="0">
                <a:tableStyleId>{2D5ABB26-0587-4C30-8999-92F81FD0307C}</a:tableStyleId>
              </a:tblPr>
              <a:tblGrid>
                <a:gridCol w="4389567"/>
                <a:gridCol w="6741423"/>
              </a:tblGrid>
              <a:tr h="369824">
                <a:tc>
                  <a:txBody>
                    <a:bodyPr/>
                    <a:lstStyle/>
                    <a:p>
                      <a:r>
                        <a:rPr sz="1450" b="1" i="0">
                          <a:solidFill>
                            <a:srgbClr val="FFFFFF"/>
                          </a:solidFill>
                          <a:latin typeface="Calibri"/>
                        </a:rPr>
                        <a:t>The morning said</a:t>
                      </a:r>
                    </a:p>
                  </a:txBody>
                  <a:tcPr marL="101600" marR="101600" marT="38100" marB="38100" anchor="ctr">
                    <a:solidFill>
                      <a:srgbClr val="1A0F5C"/>
                    </a:solidFill>
                  </a:tcPr>
                </a:tc>
                <a:tc>
                  <a:txBody>
                    <a:bodyPr/>
                    <a:lstStyle/>
                    <a:p>
                      <a:r>
                        <a:rPr sz="1450" b="1" i="0">
                          <a:solidFill>
                            <a:srgbClr val="FFFFFF"/>
                          </a:solidFill>
                          <a:latin typeface="Calibri"/>
                        </a:rPr>
                        <a:t>On the weekly table</a:t>
                      </a:r>
                    </a:p>
                  </a:txBody>
                  <a:tcPr marL="101600" marR="101600" marT="38100" marB="38100" anchor="ctr">
                    <a:solidFill>
                      <a:srgbClr val="1A0F5C"/>
                    </a:solidFill>
                  </a:tcPr>
                </a:tc>
              </a:tr>
              <a:tr h="369824">
                <a:tc>
                  <a:txBody>
                    <a:bodyPr/>
                    <a:lstStyle/>
                    <a:p>
                      <a:r>
                        <a:rPr sz="1400" b="0" i="0">
                          <a:solidFill>
                            <a:srgbClr val="1A1440"/>
                          </a:solidFill>
                          <a:latin typeface="Calibri"/>
                        </a:rPr>
                        <a:t>Every cohort falls with age</a:t>
                      </a:r>
                    </a:p>
                  </a:txBody>
                  <a:tcPr marL="101600" marR="101600" marT="38100" marB="38100" anchor="ctr">
                    <a:solidFill>
                      <a:srgbClr val="FFFFFF"/>
                    </a:solidFill>
                  </a:tcPr>
                </a:tc>
                <a:tc>
                  <a:txBody>
                    <a:bodyPr/>
                    <a:lstStyle/>
                    <a:p>
                      <a:r>
                        <a:rPr sz="1400" b="0" i="0">
                          <a:solidFill>
                            <a:srgbClr val="1A1440"/>
                          </a:solidFill>
                          <a:latin typeface="Calibri"/>
                        </a:rPr>
                        <a:t>Holds, with noise: weekly cohorts of 1,112 to 1,247 members</a:t>
                      </a:r>
                    </a:p>
                  </a:txBody>
                  <a:tcPr marL="101600" marR="101600" marT="38100" marB="38100" anchor="ctr">
                    <a:solidFill>
                      <a:srgbClr val="FFFFFF"/>
                    </a:solidFill>
                  </a:tcPr>
                </a:tc>
              </a:tr>
              <a:tr h="611632">
                <a:tc>
                  <a:txBody>
                    <a:bodyPr/>
                    <a:lstStyle/>
                    <a:p>
                      <a:r>
                        <a:rPr sz="1400" b="0" i="0">
                          <a:solidFill>
                            <a:srgbClr val="1A1440"/>
                          </a:solidFill>
                          <a:latin typeface="Calibri"/>
                        </a:rPr>
                        <a:t>The sale-week members are the weakest</a:t>
                      </a:r>
                    </a:p>
                  </a:txBody>
                  <a:tcPr marL="101600" marR="101600" marT="38100" marB="38100" anchor="ctr">
                    <a:solidFill>
                      <a:srgbClr val="F4F2FA"/>
                    </a:solidFill>
                  </a:tcPr>
                </a:tc>
                <a:tc>
                  <a:txBody>
                    <a:bodyPr/>
                    <a:lstStyle/>
                    <a:p>
                      <a:r>
                        <a:rPr sz="1400" b="0" i="0">
                          <a:solidFill>
                            <a:srgbClr val="1A1440"/>
                          </a:solidFill>
                          <a:latin typeface="Calibri"/>
                        </a:rPr>
                        <a:t>Holds for the sale week's cohort after its first week; in that first week it looks strongest</a:t>
                      </a:r>
                    </a:p>
                  </a:txBody>
                  <a:tcPr marL="101600" marR="101600" marT="38100" marB="38100" anchor="ctr">
                    <a:solidFill>
                      <a:srgbClr val="F4F2FA"/>
                    </a:solidFill>
                  </a:tcPr>
                </a:tc>
              </a:tr>
              <a:tr h="611632">
                <a:tc>
                  <a:txBody>
                    <a:bodyPr/>
                    <a:lstStyle/>
                    <a:p>
                      <a:r>
                        <a:rPr sz="1400" b="0" i="0">
                          <a:solidFill>
                            <a:srgbClr val="1A1440"/>
                          </a:solidFill>
                          <a:latin typeface="Calibri"/>
                        </a:rPr>
                        <a:t>Rates near 38 percent</a:t>
                      </a:r>
                    </a:p>
                  </a:txBody>
                  <a:tcPr marL="101600" marR="101600" marT="38100" marB="38100" anchor="ctr">
                    <a:solidFill>
                      <a:srgbClr val="FFFFFF"/>
                    </a:solidFill>
                  </a:tcPr>
                </a:tc>
                <a:tc>
                  <a:txBody>
                    <a:bodyPr/>
                    <a:lstStyle/>
                    <a:p>
                      <a:r>
                        <a:rPr sz="1400" b="0" i="0">
                          <a:solidFill>
                            <a:srgbClr val="1A1440"/>
                          </a:solidFill>
                          <a:latin typeface="Calibri"/>
                        </a:rPr>
                        <a:t>Weekly rates are lower: ordering in a given week is rarer than in a month</a:t>
                      </a:r>
                    </a:p>
                  </a:txBody>
                  <a:tcPr marL="101600" marR="101600" marT="38100" marB="38100" anchor="ctr">
                    <a:solidFill>
                      <a:srgbClr val="FFFFFF"/>
                    </a:solidFill>
                  </a:tcPr>
                </a:tc>
              </a:tr>
              <a:tr h="369824">
                <a:tc>
                  <a:txBody>
                    <a:bodyPr/>
                    <a:lstStyle/>
                    <a:p>
                      <a:r>
                        <a:rPr sz="1400" b="0" i="0">
                          <a:solidFill>
                            <a:srgbClr val="1A1440"/>
                          </a:solidFill>
                          <a:latin typeface="Calibri"/>
                        </a:rPr>
                        <a:t>The last month counts</a:t>
                      </a:r>
                    </a:p>
                  </a:txBody>
                  <a:tcPr marL="101600" marR="101600" marT="38100" marB="38100" anchor="ctr">
                    <a:solidFill>
                      <a:srgbClr val="F4F2FA"/>
                    </a:solidFill>
                  </a:tcPr>
                </a:tc>
                <a:tc>
                  <a:txBody>
                    <a:bodyPr/>
                    <a:lstStyle/>
                    <a:p>
                      <a:r>
                        <a:rPr sz="1400" b="0" i="0">
                          <a:solidFill>
                            <a:srgbClr val="1A1440"/>
                          </a:solidFill>
                          <a:latin typeface="Calibri"/>
                        </a:rPr>
                        <a:t>The last week is partial and leaves the table</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Can weaning lift retention?</a:t>
            </a:r>
          </a:p>
        </p:txBody>
      </p:sp>
      <p:sp>
        <p:nvSpPr>
          <p:cNvPr id="12" name="Oval 11"/>
          <p:cNvSpPr/>
          <p:nvPr/>
        </p:nvSpPr>
        <p:spPr>
          <a:xfrm>
            <a:off x="2247995"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57723"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Does a weekly table agree?</a:t>
            </a:r>
          </a:p>
        </p:txBody>
      </p:sp>
      <p:sp>
        <p:nvSpPr>
          <p:cNvPr id="14" name="Oval 13"/>
          <p:cNvSpPr/>
          <p:nvPr/>
        </p:nvSpPr>
        <p:spPr>
          <a:xfrm>
            <a:off x="39196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02936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Did Gold cause the orders?</a:t>
            </a:r>
          </a:p>
        </p:txBody>
      </p:sp>
      <p:sp>
        <p:nvSpPr>
          <p:cNvPr id="16" name="Oval 15"/>
          <p:cNvSpPr/>
          <p:nvPr/>
        </p:nvSpPr>
        <p:spPr>
          <a:xfrm>
            <a:off x="559127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00998"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Is the app team's stage fine?</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09</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Did Gold cause the orders?</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Zomato says Gold members order about 60 percent more after joining; what comparison would let anyone say Gold caused it?</a:t>
            </a:r>
          </a:p>
        </p:txBody>
      </p:sp>
      <p:sp>
        <p:nvSpPr>
          <p:cNvPr id="10" name="Rounded Rectangle 9"/>
          <p:cNvSpPr/>
          <p:nvPr/>
        </p:nvSpPr>
        <p:spPr>
          <a:xfrm>
            <a:off x="731519"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weaning lift retention?</a:t>
            </a:r>
          </a:p>
        </p:txBody>
      </p:sp>
      <p:sp>
        <p:nvSpPr>
          <p:cNvPr id="11" name="Rounded Rectangle 10"/>
          <p:cNvSpPr/>
          <p:nvPr/>
        </p:nvSpPr>
        <p:spPr>
          <a:xfrm>
            <a:off x="2805839"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a weekly table agree?</a:t>
            </a:r>
          </a:p>
        </p:txBody>
      </p:sp>
      <p:sp>
        <p:nvSpPr>
          <p:cNvPr id="12" name="Rounded Rectangle 11"/>
          <p:cNvSpPr/>
          <p:nvPr/>
        </p:nvSpPr>
        <p:spPr>
          <a:xfrm>
            <a:off x="4820942" y="5074920"/>
            <a:ext cx="190537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Did Gold cause the orders?</a:t>
            </a:r>
          </a:p>
        </p:txBody>
      </p:sp>
      <p:sp>
        <p:nvSpPr>
          <p:cNvPr id="13" name="Rounded Rectangle 12"/>
          <p:cNvSpPr/>
          <p:nvPr/>
        </p:nvSpPr>
        <p:spPr>
          <a:xfrm>
            <a:off x="6836045" y="5074920"/>
            <a:ext cx="208302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Is the app team's stage fine?</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the fallback block</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THE FALLBACK, IF THE TENTATIVE FACULTY BLOCK SLIPS</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Gold members order about 60 percent more after joining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Zomato's own number say, and what does it leave out?</a:t>
            </a:r>
          </a:p>
        </p:txBody>
      </p:sp>
      <p:pic>
        <p:nvPicPr>
          <p:cNvPr id="9" name="mermaid diagram" descr="29d30e77a001c4e4.png"/>
          <p:cNvPicPr>
            <a:picLocks noChangeAspect="1"/>
          </p:cNvPicPr>
          <p:nvPr/>
        </p:nvPicPr>
        <p:blipFill>
          <a:blip r:embed="rId5"/>
          <a:stretch>
            <a:fillRect/>
          </a:stretch>
        </p:blipFill>
        <p:spPr>
          <a:xfrm>
            <a:off x="2924022" y="1956816"/>
            <a:ext cx="6343650" cy="2300287"/>
          </a:xfrm>
          <a:prstGeom prst="rect">
            <a:avLst/>
          </a:prstGeom>
        </p:spPr>
      </p:pic>
      <p:sp>
        <p:nvSpPr>
          <p:cNvPr id="10" name="TextBox 9"/>
          <p:cNvSpPr txBox="1"/>
          <p:nvPr/>
        </p:nvSpPr>
        <p:spPr>
          <a:xfrm>
            <a:off x="530352" y="4403407"/>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Zomato's shareholder letter of 19 May 2023 (checked 12 October 2026) says Gold reached 1.8 million members in Q4 FY23, its members' orders were about 30 percent of food delivery GOV in March 2023, and their order frequency rose about 60 percent after joining. The number describes members; it does not show what Gold caused.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Can weaning lift retention?</a:t>
            </a:r>
          </a:p>
        </p:txBody>
      </p:sp>
      <p:sp>
        <p:nvSpPr>
          <p:cNvPr id="13" name="Oval 12"/>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357723"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a weekly table agree?</a:t>
            </a:r>
          </a:p>
        </p:txBody>
      </p:sp>
      <p:sp>
        <p:nvSpPr>
          <p:cNvPr id="15" name="Oval 14"/>
          <p:cNvSpPr/>
          <p:nvPr/>
        </p:nvSpPr>
        <p:spPr>
          <a:xfrm>
            <a:off x="391963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02936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Did Gold cause the orders?</a:t>
            </a:r>
          </a:p>
        </p:txBody>
      </p:sp>
      <p:sp>
        <p:nvSpPr>
          <p:cNvPr id="17" name="Oval 16"/>
          <p:cNvSpPr/>
          <p:nvPr/>
        </p:nvSpPr>
        <p:spPr>
          <a:xfrm>
            <a:off x="559127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700998"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Is the app team's stage fine?</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THE FALLBACK, IF THE TENTATIVE FACULTY BLOCK SLIPS</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Three comparisons that would say more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comparison would separate what Gold did from who chose Gold?</a:t>
            </a:r>
          </a:p>
        </p:txBody>
      </p:sp>
      <p:graphicFrame>
        <p:nvGraphicFramePr>
          <p:cNvPr id="9" name="Table 8"/>
          <p:cNvGraphicFramePr>
            <a:graphicFrameLocks noGrp="1"/>
          </p:cNvGraphicFramePr>
          <p:nvPr/>
        </p:nvGraphicFramePr>
        <p:xfrm>
          <a:off x="530352" y="1956816"/>
          <a:ext cx="11130990" cy="2204720"/>
        </p:xfrm>
        <a:graphic>
          <a:graphicData uri="http://schemas.openxmlformats.org/drawingml/2006/table">
            <a:tbl>
              <a:tblPr firstRow="0" bandRow="0">
                <a:tableStyleId>{2D5ABB26-0587-4C30-8999-92F81FD0307C}</a:tableStyleId>
              </a:tblPr>
              <a:tblGrid>
                <a:gridCol w="4494839"/>
                <a:gridCol w="3520966"/>
                <a:gridCol w="3115185"/>
              </a:tblGrid>
              <a:tr h="369824">
                <a:tc>
                  <a:txBody>
                    <a:bodyPr/>
                    <a:lstStyle/>
                    <a:p>
                      <a:r>
                        <a:rPr sz="1450" b="1" i="0">
                          <a:solidFill>
                            <a:srgbClr val="FFFFFF"/>
                          </a:solidFill>
                          <a:latin typeface="Calibri"/>
                        </a:rPr>
                        <a:t>Comparison</a:t>
                      </a:r>
                    </a:p>
                  </a:txBody>
                  <a:tcPr marL="101600" marR="101600" marT="38100" marB="38100" anchor="ctr">
                    <a:solidFill>
                      <a:srgbClr val="1A0F5C"/>
                    </a:solidFill>
                  </a:tcPr>
                </a:tc>
                <a:tc>
                  <a:txBody>
                    <a:bodyPr/>
                    <a:lstStyle/>
                    <a:p>
                      <a:r>
                        <a:rPr sz="1450" b="1" i="0">
                          <a:solidFill>
                            <a:srgbClr val="FFFFFF"/>
                          </a:solidFill>
                          <a:latin typeface="Calibri"/>
                        </a:rPr>
                        <a:t>What it controls for</a:t>
                      </a:r>
                    </a:p>
                  </a:txBody>
                  <a:tcPr marL="101600" marR="101600" marT="38100" marB="38100" anchor="ctr">
                    <a:solidFill>
                      <a:srgbClr val="1A0F5C"/>
                    </a:solidFill>
                  </a:tcPr>
                </a:tc>
                <a:tc>
                  <a:txBody>
                    <a:bodyPr/>
                    <a:lstStyle/>
                    <a:p>
                      <a:r>
                        <a:rPr sz="1450" b="1" i="0">
                          <a:solidFill>
                            <a:srgbClr val="FFFFFF"/>
                          </a:solidFill>
                          <a:latin typeface="Calibri"/>
                        </a:rPr>
                        <a:t>What it still misses</a:t>
                      </a:r>
                    </a:p>
                  </a:txBody>
                  <a:tcPr marL="101600" marR="101600" marT="38100" marB="38100" anchor="ctr">
                    <a:solidFill>
                      <a:srgbClr val="1A0F5C"/>
                    </a:solidFill>
                  </a:tcPr>
                </a:tc>
              </a:tr>
              <a:tr h="611632">
                <a:tc>
                  <a:txBody>
                    <a:bodyPr/>
                    <a:lstStyle/>
                    <a:p>
                      <a:r>
                        <a:rPr sz="1400" b="0" i="0">
                          <a:solidFill>
                            <a:srgbClr val="1A1440"/>
                          </a:solidFill>
                          <a:latin typeface="Calibri"/>
                        </a:rPr>
                        <a:t>Matched customers who did not join</a:t>
                      </a:r>
                    </a:p>
                  </a:txBody>
                  <a:tcPr marL="101600" marR="101600" marT="38100" marB="38100" anchor="ctr">
                    <a:solidFill>
                      <a:srgbClr val="FFFFFF"/>
                    </a:solidFill>
                  </a:tcPr>
                </a:tc>
                <a:tc>
                  <a:txBody>
                    <a:bodyPr/>
                    <a:lstStyle/>
                    <a:p>
                      <a:r>
                        <a:rPr sz="1400" b="0" i="0">
                          <a:solidFill>
                            <a:srgbClr val="1A1440"/>
                          </a:solidFill>
                          <a:latin typeface="Calibri"/>
                        </a:rPr>
                        <a:t>Customers who ordered alike before</a:t>
                      </a:r>
                    </a:p>
                  </a:txBody>
                  <a:tcPr marL="101600" marR="101600" marT="38100" marB="38100" anchor="ctr">
                    <a:solidFill>
                      <a:srgbClr val="FFFFFF"/>
                    </a:solidFill>
                  </a:tcPr>
                </a:tc>
                <a:tc>
                  <a:txBody>
                    <a:bodyPr/>
                    <a:lstStyle/>
                    <a:p>
                      <a:r>
                        <a:rPr sz="1400" b="0" i="0">
                          <a:solidFill>
                            <a:srgbClr val="1A1440"/>
                          </a:solidFill>
                          <a:latin typeface="Calibri"/>
                        </a:rPr>
                        <a:t>Why one joined and the other did not</a:t>
                      </a:r>
                    </a:p>
                  </a:txBody>
                  <a:tcPr marL="101600" marR="101600" marT="38100" marB="38100" anchor="ctr">
                    <a:solidFill>
                      <a:srgbClr val="FFFFFF"/>
                    </a:solidFill>
                  </a:tcPr>
                </a:tc>
              </a:tr>
              <a:tr h="611632">
                <a:tc>
                  <a:txBody>
                    <a:bodyPr/>
                    <a:lstStyle/>
                    <a:p>
                      <a:r>
                        <a:rPr sz="1400" b="0" i="0">
                          <a:solidFill>
                            <a:srgbClr val="1A1440"/>
                          </a:solidFill>
                          <a:latin typeface="Calibri"/>
                        </a:rPr>
                        <a:t>The trend before joining</a:t>
                      </a:r>
                    </a:p>
                  </a:txBody>
                  <a:tcPr marL="101600" marR="101600" marT="38100" marB="38100" anchor="ctr">
                    <a:solidFill>
                      <a:srgbClr val="F4F2FA"/>
                    </a:solidFill>
                  </a:tcPr>
                </a:tc>
                <a:tc>
                  <a:txBody>
                    <a:bodyPr/>
                    <a:lstStyle/>
                    <a:p>
                      <a:r>
                        <a:rPr sz="1400" b="0" i="0">
                          <a:solidFill>
                            <a:srgbClr val="1A1440"/>
                          </a:solidFill>
                          <a:latin typeface="Calibri"/>
                        </a:rPr>
                        <a:t>A member already ordering more each month</a:t>
                      </a:r>
                    </a:p>
                  </a:txBody>
                  <a:tcPr marL="101600" marR="101600" marT="38100" marB="38100" anchor="ctr">
                    <a:solidFill>
                      <a:srgbClr val="F4F2FA"/>
                    </a:solidFill>
                  </a:tcPr>
                </a:tc>
                <a:tc>
                  <a:txBody>
                    <a:bodyPr/>
                    <a:lstStyle/>
                    <a:p>
                      <a:r>
                        <a:rPr sz="1400" b="0" i="0">
                          <a:solidFill>
                            <a:srgbClr val="1A1440"/>
                          </a:solidFill>
                          <a:latin typeface="Calibri"/>
                        </a:rPr>
                        <a:t>A planned change (a move, a new job)</a:t>
                      </a:r>
                    </a:p>
                  </a:txBody>
                  <a:tcPr marL="101600" marR="101600" marT="38100" marB="38100" anchor="ctr">
                    <a:solidFill>
                      <a:srgbClr val="F4F2FA"/>
                    </a:solidFill>
                  </a:tcPr>
                </a:tc>
              </a:tr>
              <a:tr h="611632">
                <a:tc>
                  <a:txBody>
                    <a:bodyPr/>
                    <a:lstStyle/>
                    <a:p>
                      <a:r>
                        <a:rPr sz="1400" b="0" i="0">
                          <a:solidFill>
                            <a:srgbClr val="1A1440"/>
                          </a:solidFill>
                          <a:latin typeface="Calibri"/>
                        </a:rPr>
                        <a:t>A holdout: Gold offered to some, withheld from others</a:t>
                      </a:r>
                    </a:p>
                  </a:txBody>
                  <a:tcPr marL="101600" marR="101600" marT="38100" marB="38100" anchor="ctr">
                    <a:solidFill>
                      <a:srgbClr val="FFFFFF"/>
                    </a:solidFill>
                  </a:tcPr>
                </a:tc>
                <a:tc>
                  <a:txBody>
                    <a:bodyPr/>
                    <a:lstStyle/>
                    <a:p>
                      <a:r>
                        <a:rPr sz="1400" b="0" i="0">
                          <a:solidFill>
                            <a:srgbClr val="1A1440"/>
                          </a:solidFill>
                          <a:latin typeface="Calibri"/>
                        </a:rPr>
                        <a:t>Who chose to join</a:t>
                      </a:r>
                    </a:p>
                  </a:txBody>
                  <a:tcPr marL="101600" marR="101600" marT="38100" marB="38100" anchor="ctr">
                    <a:solidFill>
                      <a:srgbClr val="FFFFFF"/>
                    </a:solidFill>
                  </a:tcPr>
                </a:tc>
                <a:tc>
                  <a:txBody>
                    <a:bodyPr/>
                    <a:lstStyle/>
                    <a:p>
                      <a:r>
                        <a:rPr sz="1400" b="0" i="0">
                          <a:solidFill>
                            <a:srgbClr val="1A1440"/>
                          </a:solidFill>
                          <a:latin typeface="Calibri"/>
                        </a:rPr>
                        <a:t>The cost of withholding the offer</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Can weaning lift retention?</a:t>
            </a:r>
          </a:p>
        </p:txBody>
      </p:sp>
      <p:sp>
        <p:nvSpPr>
          <p:cNvPr id="12" name="Oval 11"/>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57723"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a weekly table agree?</a:t>
            </a:r>
          </a:p>
        </p:txBody>
      </p:sp>
      <p:sp>
        <p:nvSpPr>
          <p:cNvPr id="14" name="Oval 13"/>
          <p:cNvSpPr/>
          <p:nvPr/>
        </p:nvSpPr>
        <p:spPr>
          <a:xfrm>
            <a:off x="391963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029360" y="6437376"/>
            <a:ext cx="1470469" cy="152146"/>
          </a:xfrm>
          <a:prstGeom prst="rect">
            <a:avLst/>
          </a:prstGeom>
          <a:noFill/>
        </p:spPr>
        <p:txBody>
          <a:bodyPr wrap="square" anchor="t" lIns="0" rIns="0" tIns="0" bIns="0">
            <a:spAutoFit/>
          </a:bodyPr>
          <a:lstStyle/>
          <a:p>
            <a:pPr algn="l"/>
            <a:r>
              <a:rPr sz="700" b="1" i="0">
                <a:solidFill>
                  <a:srgbClr val="5B3FD6"/>
                </a:solidFill>
                <a:latin typeface="Calibri"/>
              </a:rPr>
              <a:t>Did Gold cause the orders?</a:t>
            </a:r>
          </a:p>
        </p:txBody>
      </p:sp>
      <p:sp>
        <p:nvSpPr>
          <p:cNvPr id="16" name="Oval 15"/>
          <p:cNvSpPr/>
          <p:nvPr/>
        </p:nvSpPr>
        <p:spPr>
          <a:xfrm>
            <a:off x="559127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00998" y="6437376"/>
            <a:ext cx="1608486" cy="152146"/>
          </a:xfrm>
          <a:prstGeom prst="rect">
            <a:avLst/>
          </a:prstGeom>
          <a:noFill/>
        </p:spPr>
        <p:txBody>
          <a:bodyPr wrap="square" anchor="t" lIns="0" rIns="0" tIns="0" bIns="0">
            <a:spAutoFit/>
          </a:bodyPr>
          <a:lstStyle/>
          <a:p>
            <a:pPr algn="l"/>
            <a:r>
              <a:rPr sz="700" b="0" i="0">
                <a:solidFill>
                  <a:srgbClr val="6B6690"/>
                </a:solidFill>
                <a:latin typeface="Calibri"/>
              </a:rPr>
              <a:t>Is the app team's stage fine?</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10</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Is the app team's stage fine?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The app team says the funnel stage the room blamed is fine: how does a strong candidate answer a dispute that is partly right?</a:t>
            </a:r>
          </a:p>
        </p:txBody>
      </p:sp>
      <p:sp>
        <p:nvSpPr>
          <p:cNvPr id="10" name="Rounded Rectangle 9"/>
          <p:cNvSpPr/>
          <p:nvPr/>
        </p:nvSpPr>
        <p:spPr>
          <a:xfrm>
            <a:off x="731519" y="5074920"/>
            <a:ext cx="196459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weaning lift retention?</a:t>
            </a:r>
          </a:p>
        </p:txBody>
      </p:sp>
      <p:sp>
        <p:nvSpPr>
          <p:cNvPr id="11" name="Rounded Rectangle 10"/>
          <p:cNvSpPr/>
          <p:nvPr/>
        </p:nvSpPr>
        <p:spPr>
          <a:xfrm>
            <a:off x="2805839"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Does a weekly table agree?</a:t>
            </a:r>
          </a:p>
        </p:txBody>
      </p:sp>
      <p:sp>
        <p:nvSpPr>
          <p:cNvPr id="12" name="Rounded Rectangle 11"/>
          <p:cNvSpPr/>
          <p:nvPr/>
        </p:nvSpPr>
        <p:spPr>
          <a:xfrm>
            <a:off x="4820942" y="5074920"/>
            <a:ext cx="190537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Did Gold cause the orders?</a:t>
            </a:r>
          </a:p>
        </p:txBody>
      </p:sp>
      <p:sp>
        <p:nvSpPr>
          <p:cNvPr id="13" name="Rounded Rectangle 12"/>
          <p:cNvSpPr/>
          <p:nvPr/>
        </p:nvSpPr>
        <p:spPr>
          <a:xfrm>
            <a:off x="6836045" y="5074920"/>
            <a:ext cx="208302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Is the app team's stage fine?</a:t>
            </a:r>
          </a:p>
        </p:txBody>
      </p:sp>
      <p:sp>
        <p:nvSpPr>
          <p:cNvPr id="14" name="TextBox 13"/>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4: the fallback block</a:t>
            </a:r>
          </a:p>
        </p:txBody>
      </p:sp>
      <p:sp>
        <p:nvSpPr>
          <p:cNvPr id="15" name="TextBox 1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THE FALLBACK, IF THE TENTATIVE FACULTY BLOCK SLIPS</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dispute, answered with the split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weak answer bring to the meeting, and what does a hire-grade one bring?</a:t>
            </a:r>
          </a:p>
        </p:txBody>
      </p:sp>
      <p:graphicFrame>
        <p:nvGraphicFramePr>
          <p:cNvPr id="9" name="Table 8"/>
          <p:cNvGraphicFramePr>
            <a:graphicFrameLocks noGrp="1"/>
          </p:cNvGraphicFramePr>
          <p:nvPr/>
        </p:nvGraphicFramePr>
        <p:xfrm>
          <a:off x="530352" y="1956816"/>
          <a:ext cx="11130989" cy="2574544"/>
        </p:xfrm>
        <a:graphic>
          <a:graphicData uri="http://schemas.openxmlformats.org/drawingml/2006/table">
            <a:tbl>
              <a:tblPr firstRow="0" bandRow="0">
                <a:tableStyleId>{2D5ABB26-0587-4C30-8999-92F81FD0307C}</a:tableStyleId>
              </a:tblPr>
              <a:tblGrid>
                <a:gridCol w="2433579"/>
                <a:gridCol w="3322230"/>
                <a:gridCol w="5375180"/>
              </a:tblGrid>
              <a:tr h="369824">
                <a:tc>
                  <a:txBody>
                    <a:bodyPr/>
                    <a:lstStyle/>
                    <a:p>
                      <a:r>
                        <a:rPr sz="1450" b="1" i="0">
                          <a:solidFill>
                            <a:srgbClr val="FFFFFF"/>
                          </a:solidFill>
                          <a:latin typeface="Calibri"/>
                        </a:rPr>
                        <a:t>Beat</a:t>
                      </a:r>
                    </a:p>
                  </a:txBody>
                  <a:tcPr marL="101600" marR="101600" marT="38100" marB="38100" anchor="ctr">
                    <a:solidFill>
                      <a:srgbClr val="1A0F5C"/>
                    </a:solidFill>
                  </a:tcPr>
                </a:tc>
                <a:tc>
                  <a:txBody>
                    <a:bodyPr/>
                    <a:lstStyle/>
                    <a:p>
                      <a:r>
                        <a:rPr sz="1450" b="1" i="0">
                          <a:solidFill>
                            <a:srgbClr val="FFFFFF"/>
                          </a:solidFill>
                          <a:latin typeface="Calibri"/>
                        </a:rPr>
                        <a:t>A weak answer</a:t>
                      </a:r>
                    </a:p>
                  </a:txBody>
                  <a:tcPr marL="101600" marR="101600" marT="38100" marB="38100" anchor="ctr">
                    <a:solidFill>
                      <a:srgbClr val="1A0F5C"/>
                    </a:solidFill>
                  </a:tcPr>
                </a:tc>
                <a:tc>
                  <a:txBody>
                    <a:bodyPr/>
                    <a:lstStyle/>
                    <a:p>
                      <a:r>
                        <a:rPr sz="1450" b="1" i="0">
                          <a:solidFill>
                            <a:srgbClr val="FFFFFF"/>
                          </a:solidFill>
                          <a:latin typeface="Calibri"/>
                        </a:rPr>
                        <a:t>A hire-grade answer</a:t>
                      </a:r>
                    </a:p>
                  </a:txBody>
                  <a:tcPr marL="101600" marR="101600" marT="38100" marB="38100" anchor="ctr">
                    <a:solidFill>
                      <a:srgbClr val="1A0F5C"/>
                    </a:solidFill>
                  </a:tcPr>
                </a:tc>
              </a:tr>
              <a:tr h="611632">
                <a:tc>
                  <a:txBody>
                    <a:bodyPr/>
                    <a:lstStyle/>
                    <a:p>
                      <a:r>
                        <a:rPr sz="1400" b="0" i="0">
                          <a:solidFill>
                            <a:srgbClr val="1A1440"/>
                          </a:solidFill>
                          <a:latin typeface="Calibri"/>
                        </a:rPr>
                        <a:t>Opening</a:t>
                      </a:r>
                    </a:p>
                  </a:txBody>
                  <a:tcPr marL="101600" marR="101600" marT="38100" marB="38100" anchor="ctr">
                    <a:solidFill>
                      <a:srgbClr val="FFFFFF"/>
                    </a:solidFill>
                  </a:tcPr>
                </a:tc>
                <a:tc>
                  <a:txBody>
                    <a:bodyPr/>
                    <a:lstStyle/>
                    <a:p>
                      <a:r>
                        <a:rPr sz="1400" b="0" i="0">
                          <a:solidFill>
                            <a:srgbClr val="1A1440"/>
                          </a:solidFill>
                          <a:latin typeface="Calibri"/>
                        </a:rPr>
                        <a:t>"Your release broke checkout."</a:t>
                      </a:r>
                    </a:p>
                  </a:txBody>
                  <a:tcPr marL="101600" marR="101600" marT="38100" marB="38100" anchor="ctr">
                    <a:solidFill>
                      <a:srgbClr val="FFFFFF"/>
                    </a:solidFill>
                  </a:tcPr>
                </a:tc>
                <a:tc>
                  <a:txBody>
                    <a:bodyPr/>
                    <a:lstStyle/>
                    <a:p>
                      <a:r>
                        <a:rPr sz="1400" b="0" i="0">
                          <a:solidFill>
                            <a:srgbClr val="1A1440"/>
                          </a:solidFill>
                          <a:latin typeface="Calibri"/>
                        </a:rPr>
                        <a:t>"You're right that checkout starts held at 80 percent; I'd like to show the next step."</a:t>
                      </a:r>
                    </a:p>
                  </a:txBody>
                  <a:tcPr marL="101600" marR="101600" marT="38100" marB="38100" anchor="ctr">
                    <a:solidFill>
                      <a:srgbClr val="FFFFFF"/>
                    </a:solidFill>
                  </a:tcPr>
                </a:tc>
              </a:tr>
              <a:tr h="611632">
                <a:tc>
                  <a:txBody>
                    <a:bodyPr/>
                    <a:lstStyle/>
                    <a:p>
                      <a:r>
                        <a:rPr sz="1400" b="0" i="0">
                          <a:solidFill>
                            <a:srgbClr val="1A1440"/>
                          </a:solidFill>
                          <a:latin typeface="Calibri"/>
                        </a:rPr>
                        <a:t>Evidence</a:t>
                      </a:r>
                    </a:p>
                  </a:txBody>
                  <a:tcPr marL="101600" marR="101600" marT="38100" marB="38100" anchor="ctr">
                    <a:solidFill>
                      <a:srgbClr val="F4F2FA"/>
                    </a:solidFill>
                  </a:tcPr>
                </a:tc>
                <a:tc>
                  <a:txBody>
                    <a:bodyPr/>
                    <a:lstStyle/>
                    <a:p>
                      <a:r>
                        <a:rPr sz="1400" b="0" i="0">
                          <a:solidFill>
                            <a:srgbClr val="1A1440"/>
                          </a:solidFill>
                          <a:latin typeface="Calibri"/>
                        </a:rPr>
                        <a:t>Overall conversion before and after</a:t>
                      </a:r>
                    </a:p>
                  </a:txBody>
                  <a:tcPr marL="101600" marR="101600" marT="38100" marB="38100" anchor="ctr">
                    <a:solidFill>
                      <a:srgbClr val="F4F2FA"/>
                    </a:solidFill>
                  </a:tcPr>
                </a:tc>
                <a:tc>
                  <a:txBody>
                    <a:bodyPr/>
                    <a:lstStyle/>
                    <a:p>
                      <a:r>
                        <a:rPr sz="1400" b="0" i="0">
                          <a:solidFill>
                            <a:srgbClr val="1A1440"/>
                          </a:solidFill>
                          <a:latin typeface="Calibri"/>
                        </a:rPr>
                        <a:t>Checkout start to order, 72.5 to 55, members on Android only, from the release week</a:t>
                      </a:r>
                    </a:p>
                  </a:txBody>
                  <a:tcPr marL="101600" marR="101600" marT="38100" marB="38100" anchor="ctr">
                    <a:solidFill>
                      <a:srgbClr val="F4F2FA"/>
                    </a:solidFill>
                  </a:tcPr>
                </a:tc>
              </a:tr>
              <a:tr h="369824">
                <a:tc>
                  <a:txBody>
                    <a:bodyPr/>
                    <a:lstStyle/>
                    <a:p>
                      <a:r>
                        <a:rPr sz="1400" b="0" i="0">
                          <a:solidFill>
                            <a:srgbClr val="1A1440"/>
                          </a:solidFill>
                          <a:latin typeface="Calibri"/>
                        </a:rPr>
                        <a:t>The comparators</a:t>
                      </a:r>
                    </a:p>
                  </a:txBody>
                  <a:tcPr marL="101600" marR="101600" marT="38100" marB="38100" anchor="ctr">
                    <a:solidFill>
                      <a:srgbClr val="FFFFFF"/>
                    </a:solidFill>
                  </a:tcPr>
                </a:tc>
                <a:tc>
                  <a:txBody>
                    <a:bodyPr/>
                    <a:lstStyle/>
                    <a:p>
                      <a:r>
                        <a:rPr sz="1400" b="0" i="0">
                          <a:solidFill>
                            <a:srgbClr val="1A1440"/>
                          </a:solidFill>
                          <a:latin typeface="Calibri"/>
                        </a:rPr>
                        <a:t>None</a:t>
                      </a:r>
                    </a:p>
                  </a:txBody>
                  <a:tcPr marL="101600" marR="101600" marT="38100" marB="38100" anchor="ctr">
                    <a:solidFill>
                      <a:srgbClr val="FFFFFF"/>
                    </a:solidFill>
                  </a:tcPr>
                </a:tc>
                <a:tc>
                  <a:txBody>
                    <a:bodyPr/>
                    <a:lstStyle/>
                    <a:p>
                      <a:r>
                        <a:rPr sz="1400" b="0" i="0">
                          <a:solidFill>
                            <a:srgbClr val="1A1440"/>
                          </a:solidFill>
                          <a:latin typeface="Calibri"/>
                        </a:rPr>
                        <a:t>iOS members 57 to 56; non-members on Android 52 to 51</a:t>
                      </a:r>
                    </a:p>
                  </a:txBody>
                  <a:tcPr marL="101600" marR="101600" marT="38100" marB="38100" anchor="ctr">
                    <a:solidFill>
                      <a:srgbClr val="FFFFFF"/>
                    </a:solidFill>
                  </a:tcPr>
                </a:tc>
              </a:tr>
              <a:tr h="611632">
                <a:tc>
                  <a:txBody>
                    <a:bodyPr/>
                    <a:lstStyle/>
                    <a:p>
                      <a:r>
                        <a:rPr sz="1400" b="0" i="0">
                          <a:solidFill>
                            <a:srgbClr val="1A1440"/>
                          </a:solidFill>
                          <a:latin typeface="Calibri"/>
                        </a:rPr>
                        <a:t>What would change my mind</a:t>
                      </a:r>
                    </a:p>
                  </a:txBody>
                  <a:tcPr marL="101600" marR="101600" marT="38100" marB="38100" anchor="ctr">
                    <a:solidFill>
                      <a:srgbClr val="F4F2FA"/>
                    </a:solidFill>
                  </a:tcPr>
                </a:tc>
                <a:tc>
                  <a:txBody>
                    <a:bodyPr/>
                    <a:lstStyle/>
                    <a:p>
                      <a:r>
                        <a:rPr sz="1400" b="0" i="0">
                          <a:solidFill>
                            <a:srgbClr val="1A1440"/>
                          </a:solidFill>
                          <a:latin typeface="Calibri"/>
                        </a:rPr>
                        <a:t>Nothing</a:t>
                      </a:r>
                    </a:p>
                  </a:txBody>
                  <a:tcPr marL="101600" marR="101600" marT="38100" marB="38100" anchor="ctr">
                    <a:solidFill>
                      <a:srgbClr val="F4F2FA"/>
                    </a:solidFill>
                  </a:tcPr>
                </a:tc>
                <a:tc>
                  <a:txBody>
                    <a:bodyPr/>
                    <a:lstStyle/>
                    <a:p>
                      <a:r>
                        <a:rPr sz="1400" b="0" i="0">
                          <a:solidFill>
                            <a:srgbClr val="1A1440"/>
                          </a:solidFill>
                          <a:latin typeface="Calibri"/>
                        </a:rPr>
                        <a:t>"If the event the release renamed is mapped wrong, I'd rerun it on your mapping."</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Can weaning lift retention?</a:t>
            </a:r>
          </a:p>
        </p:txBody>
      </p:sp>
      <p:sp>
        <p:nvSpPr>
          <p:cNvPr id="12" name="Oval 11"/>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57723"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a weekly table agree?</a:t>
            </a:r>
          </a:p>
        </p:txBody>
      </p:sp>
      <p:sp>
        <p:nvSpPr>
          <p:cNvPr id="14" name="Oval 13"/>
          <p:cNvSpPr/>
          <p:nvPr/>
        </p:nvSpPr>
        <p:spPr>
          <a:xfrm>
            <a:off x="39196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02936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Did Gold cause the orders?</a:t>
            </a:r>
          </a:p>
        </p:txBody>
      </p:sp>
      <p:sp>
        <p:nvSpPr>
          <p:cNvPr id="16" name="Oval 15"/>
          <p:cNvSpPr/>
          <p:nvPr/>
        </p:nvSpPr>
        <p:spPr>
          <a:xfrm>
            <a:off x="559127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00998"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Is the app team's stage fine?</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4  ·  THE FALLBACK, IF THE TENTATIVE FACULTY BLOCK SLIPS</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block in one sentence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fallback block add to the day?</a:t>
            </a:r>
          </a:p>
        </p:txBody>
      </p:sp>
      <p:sp>
        <p:nvSpPr>
          <p:cNvPr id="9" name="TextBox 8"/>
          <p:cNvSpPr txBox="1"/>
          <p:nvPr/>
        </p:nvSpPr>
        <p:spPr>
          <a:xfrm>
            <a:off x="530352" y="1956816"/>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retention number can rise or hold because of who is counted, with nobody's behaviour changing: the cohort table with its denominator and its grain named is what tells the two apart.</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516475" cy="152146"/>
          </a:xfrm>
          <a:prstGeom prst="rect">
            <a:avLst/>
          </a:prstGeom>
          <a:noFill/>
        </p:spPr>
        <p:txBody>
          <a:bodyPr wrap="square" anchor="t" lIns="0" rIns="0" tIns="0" bIns="0">
            <a:spAutoFit/>
          </a:bodyPr>
          <a:lstStyle/>
          <a:p>
            <a:pPr algn="l"/>
            <a:r>
              <a:rPr sz="700" b="0" i="0">
                <a:solidFill>
                  <a:srgbClr val="6B6690"/>
                </a:solidFill>
                <a:latin typeface="Calibri"/>
              </a:rPr>
              <a:t>Can weaning lift retention?</a:t>
            </a:r>
          </a:p>
        </p:txBody>
      </p:sp>
      <p:sp>
        <p:nvSpPr>
          <p:cNvPr id="12" name="Oval 11"/>
          <p:cNvSpPr/>
          <p:nvPr/>
        </p:nvSpPr>
        <p:spPr>
          <a:xfrm>
            <a:off x="2247995"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357723"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Does a weekly table agree?</a:t>
            </a:r>
          </a:p>
        </p:txBody>
      </p:sp>
      <p:sp>
        <p:nvSpPr>
          <p:cNvPr id="14" name="Oval 13"/>
          <p:cNvSpPr/>
          <p:nvPr/>
        </p:nvSpPr>
        <p:spPr>
          <a:xfrm>
            <a:off x="391963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029360" y="6437376"/>
            <a:ext cx="1470469" cy="152146"/>
          </a:xfrm>
          <a:prstGeom prst="rect">
            <a:avLst/>
          </a:prstGeom>
          <a:noFill/>
        </p:spPr>
        <p:txBody>
          <a:bodyPr wrap="square" anchor="t" lIns="0" rIns="0" tIns="0" bIns="0">
            <a:spAutoFit/>
          </a:bodyPr>
          <a:lstStyle/>
          <a:p>
            <a:pPr algn="l"/>
            <a:r>
              <a:rPr sz="700" b="0" i="0">
                <a:solidFill>
                  <a:srgbClr val="6B6690"/>
                </a:solidFill>
                <a:latin typeface="Calibri"/>
              </a:rPr>
              <a:t>Did Gold cause the orders?</a:t>
            </a:r>
          </a:p>
        </p:txBody>
      </p:sp>
      <p:sp>
        <p:nvSpPr>
          <p:cNvPr id="16" name="Oval 15"/>
          <p:cNvSpPr/>
          <p:nvPr/>
        </p:nvSpPr>
        <p:spPr>
          <a:xfrm>
            <a:off x="559127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00998" y="6437376"/>
            <a:ext cx="1608486" cy="152146"/>
          </a:xfrm>
          <a:prstGeom prst="rect">
            <a:avLst/>
          </a:prstGeom>
          <a:noFill/>
        </p:spPr>
        <p:txBody>
          <a:bodyPr wrap="square" anchor="t" lIns="0" rIns="0" tIns="0" bIns="0">
            <a:spAutoFit/>
          </a:bodyPr>
          <a:lstStyle/>
          <a:p>
            <a:pPr algn="l"/>
            <a:r>
              <a:rPr sz="700" b="1" i="0">
                <a:solidFill>
                  <a:srgbClr val="5B3FD6"/>
                </a:solidFill>
                <a:latin typeface="Calibri"/>
              </a:rPr>
              <a:t>Is the app team's stage fine?</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