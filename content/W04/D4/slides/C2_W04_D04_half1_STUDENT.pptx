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topic as the curriculum words it, then the three questions. Say once,</a:t>
            </a:r>
          </a:p>
          <a:p>
            <a:r>
              <a:t>in plain words, the shape of the day: five topics first on examples small enough to count by hand,</a:t>
            </a:r>
          </a:p>
          <a:p>
            <a:r>
              <a:t>then the same topics on a real company's synthetic data, then Kalpa in the lab.</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asked whether the number paid for measures what is wanted, Tuesday put</a:t>
            </a:r>
          </a:p>
          <a:p>
            <a:r>
              <a:t>one denominator on one slide, Wednesday judged a pair against chance. Thursday judges a cohort</a:t>
            </a:r>
          </a:p>
          <a:p>
            <a:r>
              <a:t>against the blend. Friday stays dashed. The explorer's home screen draws the same map (day</a:t>
            </a:r>
          </a:p>
          <a:p>
            <a:r>
              <a:t>control: Thu).</a:t>
            </a:r>
          </a:p>
          <a:p>
            <a:r>
              <a:t>Transition: the day's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five topics in the curriculum's words, top to bottom, then the order</a:t>
            </a:r>
          </a:p>
          <a:p>
            <a:r>
              <a:t>they are taught in and why: the three retention topics build one table once and read it three</a:t>
            </a:r>
          </a:p>
          <a:p>
            <a:r>
              <a:t>ways, the funnel is a second picture and a second example, and the decision is a pattern, so it</a:t>
            </a:r>
          </a:p>
          <a:p>
            <a:r>
              <a:t>sits right before the Zomato Gold call that applies it. A trainer matching the row to the deck</a:t>
            </a:r>
          </a:p>
          <a:p>
            <a:r>
              <a:t>reads this table: every topic has its chapter, its minutes and its notebook.</a:t>
            </a:r>
          </a:p>
          <a:p>
            <a:r>
              <a:t>Transition: how the five connect.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map in words a newcomer can repeat: a cohort fixes who joined when (1),</a:t>
            </a:r>
          </a:p>
          <a:p>
            <a:r>
              <a:t>so one cohort's share month by month is a curve whose shape and floor can be read (3); one number</a:t>
            </a:r>
          </a:p>
          <a:p>
            <a:r>
              <a:t>over all cohorts is a weighted blend, which a growing young cohort can hold flat while every</a:t>
            </a:r>
          </a:p>
          <a:p>
            <a:r>
              <a:t>cohort falls (4); a funnel is the other picture, a chain of steps where each rate divides by the</a:t>
            </a:r>
          </a:p>
          <a:p>
            <a:r>
              <a:t>step before in one unit (2); the fix-first call takes the cohort and the step and carries its</a:t>
            </a:r>
          </a:p>
          <a:p>
            <a:r>
              <a:t>evidence (5). Weeks 1 and 2 gave the pieces: the denominator habit, the segment reversal,</a:t>
            </a:r>
          </a:p>
          <a:p>
            <a:r>
              <a:t>pivot_table. Each chapter's last slide lights its own node on a map like this one.</a:t>
            </a:r>
          </a:p>
          <a:p>
            <a:r>
              <a:t>Transition: the case these topics are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for Gold's free delivery: Zomato's shareholder letter of 19 May 2023,</a:t>
            </a:r>
          </a:p>
          <a:p>
            <a:r>
              <a:t>https://www.bseindia.com/xml-data/corpfiling/AttachHis/42b3bf3b-1edb-4da7-849a-87ca9da27ff8.pdf (checked 12 October 2026)</a:t>
            </a:r>
          </a:p>
          <a:p>
            <a:r>
              <a:t>LIVE, 2 minutes. This slide is the destination, shown before the topics are taught. Say the label</a:t>
            </a:r>
          </a:p>
          <a:p>
            <a:r>
              <a:t>line aloud first: the company is real, the situation and the data are synthetic. Read the ask,</a:t>
            </a:r>
          </a:p>
          <a:p>
            <a:r>
              <a:t>then point at two numbers only: the flat 38 and the 58 to 44 on Android. Say that each of the five</a:t>
            </a:r>
          </a:p>
          <a:p>
            <a:r>
              <a:t>topics will be needed to read this ticket, and that the full read opens the case in SECTION 5,</a:t>
            </a:r>
          </a:p>
          <a:p>
            <a:r>
              <a:t>after the topics.</a:t>
            </a:r>
          </a:p>
          <a:p>
            <a:r>
              <a:t>Transition: the first topic, cohort construction, on a gym.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Laptops closed until the code glimpse; notebook 01 afterwards or in the lab.</a:t>
            </a:r>
          </a:p>
          <a:p>
            <a:r>
              <a:t>Styles: Veritasium (the owner's reading, then predict and vote), StatQuest (the count aloud,</a:t>
            </a:r>
          </a:p>
          <a:p>
            <a:r>
              <a:t>one row at a time), 3Blue1Brown (the triangle, the formula named last), Krish Naik (one</a:t>
            </a:r>
          </a:p>
          <a:p>
            <a:r>
              <a:t>pivot_table, line by line), ByteByteGo (the map node). The gym is invented; say so once.</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The coaching-batch line is the only place the batches appear: a learner who has sat in a coaching</a:t>
            </a:r>
          </a:p>
          <a:p>
            <a:r>
              <a:t>class already knows what a cohort is.</a:t>
            </a:r>
          </a:p>
          <a:p>
            <a:r>
              <a:t>Transition: the owner's reading.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Month one is the first full month after joining; the joining month is month</a:t>
            </a:r>
          </a:p>
          <a:p>
            <a:r>
              <a:t>zero, ringed on the picture. Vote first, in writing, then pairs argue for one minute and vote</a:t>
            </a:r>
          </a:p>
          <a:p>
            <a:r>
              <a:t>again (peer instruction). Expect a from tables that trust the shaded April column.</a:t>
            </a:r>
          </a:p>
          <a:p>
            <a:r>
              <a:t>Transition: the count, by hand.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January's row aloud from the register: down the February column for the</a:t>
            </a:r>
          </a:p>
          <a:p>
            <a:r>
              <a:t>ten January joiners (8), then March (6), then April, May and June (5 each). Then February's row</a:t>
            </a:r>
          </a:p>
          <a:p>
            <a:r>
              <a:t>from March on, then March's from April on. Build the table on the board as it is counted. Say the</a:t>
            </a:r>
          </a:p>
          <a:p>
            <a:r>
              <a:t>word cohort only now: a cohort is everyone who joined in the same month, and the table has one</a:t>
            </a:r>
          </a:p>
          <a:p>
            <a:r>
              <a:t>row per cohort and one column per age.</a:t>
            </a:r>
          </a:p>
          <a:p>
            <a:r>
              <a:t>Transition: the table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one cell and say its sentence: of the ten who joined in January, six</a:t>
            </a:r>
          </a:p>
          <a:p>
            <a:r>
              <a:t>visited in their second month after joining. Point at the empty corner: those months have not</a:t>
            </a:r>
          </a:p>
          <a:p>
            <a:r>
              <a:t>happened yet for the later batches. Then the formula, last, as the shorthand for the sentence.</a:t>
            </a:r>
          </a:p>
          <a:p>
            <a:r>
              <a:t>Transition: the same table in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code a line at a time: melt makes one row per member per month (the</a:t>
            </a:r>
          </a:p>
          <a:p>
            <a:r>
              <a:t>shape called panel data), the age line subtracts two places in the year, the filter drops month</a:t>
            </a:r>
          </a:p>
          <a:p>
            <a:r>
              <a:t>zero, and pivot_table puts cohorts on the rows and ages on the columns. Ask what the table would</a:t>
            </a:r>
          </a:p>
          <a:p>
            <a:r>
              <a:t>show without the filter: a column of 100 percent at age zero, since everyone visits the month</a:t>
            </a:r>
          </a:p>
          <a:p>
            <a:r>
              <a:t>they join. Notebook 01 runs the cell and checks the code against the hand count.</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rules; learners photograph this slide. One learner says the</a:t>
            </a:r>
          </a:p>
          <a:p>
            <a:r>
              <a:t>interview line aloud in under twenty seconds.</a:t>
            </a:r>
          </a:p>
          <a:p>
            <a:r>
              <a:t>Transition: where this topic goes next.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https://www.swiggy.com/corporate/wp-content/uploads/2025/10/Q2-FY2026-Shareholder-letter.pdf (checked 12 October 2026)</a:t>
            </a:r>
          </a:p>
          <a:p>
            <a:r>
              <a:t>LIVE, 3 minutes. Light the node on the concept map. Swiggy's table is the same shape as the gym's,</a:t>
            </a:r>
          </a:p>
          <a:p>
            <a:r>
              <a:t>with spend in place of visits: per user who joined, or per user who stayed? The denominator</a:t>
            </a:r>
          </a:p>
          <a:p>
            <a:r>
              <a:t>decides what the chart says.</a:t>
            </a:r>
          </a:p>
          <a:p>
            <a:r>
              <a:t>Transition: the next topic, the rows read as curves.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Laptops closed; notebook 02 afterwards. Styles: Veritasium (predict January's</a:t>
            </a:r>
          </a:p>
          <a:p>
            <a:r>
              <a:t>age five), 3Blue1Brown (the three curves, then the words shape and floor), StatQuest (churn on</a:t>
            </a:r>
          </a:p>
          <a:p>
            <a:r>
              <a:t>ten members), the case method (Blinkit's own retention figure).</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table from SECTION 1 is unchanged; this chapter reads its rows.</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Most of the room extends the line: a and c. A learner who says b, ask why;</a:t>
            </a:r>
          </a:p>
          <a:p>
            <a:r>
              <a:t>the reason should be that the members still coming by age three are the ones who stay.</a:t>
            </a:r>
          </a:p>
          <a:p>
            <a:r>
              <a:t>Transition: the three curves.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January with a finger: steep, then flat. A point is the gap between two</a:t>
            </a:r>
          </a:p>
          <a:p>
            <a:r>
              <a:t>percentages, so 80 to 60 is a fall of 20 points. Then February's floor and March's open end.</a:t>
            </a:r>
          </a:p>
          <a:p>
            <a:r>
              <a:t>Transition: churn, the same row counted as losses.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 this branch no member came back after stopping, so the members visiting at</a:t>
            </a:r>
          </a:p>
          <a:p>
            <a:r>
              <a:t>each age are the ones who were still visiting the age before, which is what lets the third row</a:t>
            </a:r>
          </a:p>
          <a:p>
            <a:r>
              <a:t>divide by last month's visitors. Ask which row the owner should print on a wall chart; either,</a:t>
            </a:r>
          </a:p>
          <a:p>
            <a:r>
              <a:t>with its name.</a:t>
            </a:r>
          </a:p>
          <a:p>
            <a:r>
              <a:t>Transition: when can a floor be called?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two-ages rule is this programme's rule of thumb, so say it as ours. A floor</a:t>
            </a:r>
          </a:p>
          <a:p>
            <a:r>
              <a:t>read from one age is the plausible wrong answer: it looks settled after a big drop. March's row</a:t>
            </a:r>
          </a:p>
          <a:p>
            <a:r>
              <a:t>returns None: a young cohort has not lived enough ages to show a floor, which is the plain-words</a:t>
            </a:r>
          </a:p>
          <a:p>
            <a:r>
              <a:t>version of what the IITGN block (tentative) calls censoring.</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LIVE, 2 minutes. Read the rules. Blinkit's two numbers disagree by a factor of three because the</a:t>
            </a:r>
          </a:p>
          <a:p>
            <a:r>
              <a:t>denominators differ: fewer customers, each spending more. The floor is who the business keeps.</a:t>
            </a:r>
          </a:p>
          <a:p>
            <a:r>
              <a:t>Transition: where this topic goes next.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Light the node. The IITGN block after lunch is tentative; name it only as the</a:t>
            </a:r>
          </a:p>
          <a:p>
            <a:r>
              <a:t>place where a member who has not left yet gets a name.</a:t>
            </a:r>
          </a:p>
          <a:p>
            <a:r>
              <a:t>Transition: the next topic, one number over every cohort.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Laptops closed until the code; notebook 03 afterwards. Styles: Veritasium (the</a:t>
            </a:r>
          </a:p>
          <a:p>
            <a:r>
              <a:t>room predicts what a big new cohort does to the dashboard), 3Blue1Brown (the stacked bars, the</a:t>
            </a:r>
          </a:p>
          <a:p>
            <a:r>
              <a:t>formula named last), StatQuest (the weighted average on two numbers), ByteByteGo (the Week 1</a:t>
            </a:r>
          </a:p>
          <a:p>
            <a:r>
              <a:t>Thursday link). Explorer scene Th2 lets a learner slide the new cohort's size; it draws the</a:t>
            </a:r>
          </a:p>
          <a:p>
            <a:r>
              <a:t>same 100 and 400 as a coaching centre's batches A and B.</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dashboard is the whole gym's, all branches; the branch's thirty joiners from</a:t>
            </a:r>
          </a:p>
          <a:p>
            <a:r>
              <a:t>SECTION 1 are part of the January, February and March joiners.</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argue, vote again. Most of the room says a: when a group falls, the average</a:t>
            </a:r>
          </a:p>
          <a:p>
            <a:r>
              <a:t>falls with it. Hold the reveal until every table has committed.</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dashed line, then the falling line under it. Next month the</a:t>
            </a:r>
          </a:p>
          <a:p>
            <a:r>
              <a:t>January joiners age too, and unless another large batch joins, the dashboard starts to fall.</a:t>
            </a:r>
          </a:p>
          <a:p>
            <a:r>
              <a:t>Transition: what the 50 is made 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two stacks, then the formula last, as the shorthand for what the bars</a:t>
            </a:r>
          </a:p>
          <a:p>
            <a:r>
              <a:t>already showed. The weighted average and the direct count are the same number by arithmetic, so</a:t>
            </a:r>
          </a:p>
          <a:p>
            <a:r>
              <a:t>the rebuild is a check on the cohorts, not on the formula.</a:t>
            </a:r>
          </a:p>
          <a:p>
            <a:r>
              <a:t>Transition: the quick average that gets it wrong.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check that catches it: the weighted average must equal the direct count, and</a:t>
            </a:r>
          </a:p>
          <a:p>
            <a:r>
              <a:t>the plain mean does not. The plain mean equals the blend only when every cohort is the same size.</a:t>
            </a:r>
          </a:p>
          <a:p>
            <a:r>
              <a:t>Notebook 03 asserts both lines.</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rules, then Swiggy's two numbers: more users, fewer orders each, and a</a:t>
            </a:r>
          </a:p>
          <a:p>
            <a:r>
              <a:t>blend that cannot say which group moved.</a:t>
            </a:r>
          </a:p>
          <a:p>
            <a:r>
              <a:t>Transition: where this topic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paper's Crossref record, https://doi.org/10.1111/j.2517-6161.1951.tb00088.x (checked 13 October 2026).</a:t>
            </a:r>
          </a:p>
          <a:p>
            <a:r>
              <a:t>LIVE, 2 minutes. Say the Week 1 Thursday link in one sentence and let the room name the reversal</a:t>
            </a:r>
          </a:p>
          <a:p>
            <a:r>
              <a:t>it met then; do not restate that week's numbers. Light the node.</a:t>
            </a:r>
          </a:p>
          <a:p>
            <a:r>
              <a:t>Transition: the next topic, the funnel, on a college.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Laptops closed until the code; notebook 04 afterwards. Styles: Brilliant (the</a:t>
            </a:r>
          </a:p>
          <a:p>
            <a:r>
              <a:t>two cycles shown before any rate is named), Veritasium (predict the losing step), StatQuest (each</a:t>
            </a:r>
          </a:p>
          <a:p>
            <a:r>
              <a:t>step over the step before, by hand), the case method (a sister programme's 107 percent).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 learner has been through an admissions funnel; ask nobody to share theirs.</a:t>
            </a:r>
          </a:p>
          <a:p>
            <a:r>
              <a:t>Transition: the two cycles.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numbers before the explanation. Vote, argue, vote. Expect</a:t>
            </a:r>
          </a:p>
          <a:p>
            <a:r>
              <a:t>a from most of the room: the lowest step looks like the loss.</a:t>
            </a:r>
          </a:p>
          <a:p>
            <a:r>
              <a:t>Transition: the step that moved.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one pair of bars that differs. Then at shortlisting: low, and the</a:t>
            </a:r>
          </a:p>
          <a:p>
            <a:r>
              <a:t>same both cycles. A committee sent to redesign shortlisting would work on a step that works.</a:t>
            </a:r>
          </a:p>
          <a:p>
            <a:r>
              <a:t>Transition: each step by hand.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Divide aloud, step by step: 800 of 1,000, 400 of 800, 300 of 400, 240 of 300.</a:t>
            </a:r>
          </a:p>
          <a:p>
            <a:r>
              <a:t>Then the overall, then the product. The definitions are the ones analytics tools print as step</a:t>
            </a:r>
          </a:p>
          <a:p>
            <a:r>
              <a:t>conversion, funnel conversion from the first step, and drop-off.</a:t>
            </a:r>
          </a:p>
          <a:p>
            <a:r>
              <a:t>Transition: a step that reads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test team's question is "how often does sitting our test lead to a</a:t>
            </a:r>
          </a:p>
          <a:p>
            <a:r>
              <a:t>shortlist?", and only 77 answers it. Shortlisted over applications, 32 percent, and test-takers</a:t>
            </a:r>
          </a:p>
          <a:p>
            <a:r>
              <a:t>over applications, 30 percent, are true numbers that answer other questions.</a:t>
            </a:r>
          </a:p>
          <a:p>
            <a:r>
              <a:t>Transition: the unit.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loop prints each unit's step rates (each count over the one before, which is</a:t>
            </a:r>
          </a:p>
          <a:p>
            <a:r>
              <a:t>what shift does) and its overall. Per applicant every step reads at least as high as per</a:t>
            </a:r>
          </a:p>
          <a:p>
            <a:r>
              <a:t>application. Notebook 04 draws both.</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rules; the last two are the traps the case meets on its event log.</a:t>
            </a:r>
          </a:p>
          <a:p>
            <a:r>
              <a:t>Transition: where this topic goes next.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Light the node. Break follows: 10 minutes, the seam between the topics and the</a:t>
            </a:r>
          </a:p>
          <a:p>
            <a:r>
              <a:t>case. If the room needs the break earlier, it falls after SECTION 3.</a:t>
            </a:r>
          </a:p>
          <a:p>
            <a:r>
              <a:t>Transition: after the break, the case opens 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Laptops closed; the twelve-row card is on every table. Styles: the case method</a:t>
            </a:r>
          </a:p>
          <a:p>
            <a:r>
              <a:t>(the hypothesis board), StatQuest (the twelve counted aloud), Veritasium (two predictions).</a:t>
            </a:r>
          </a:p>
          <a:p>
            <a:r>
              <a:t>Notebook 05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each is answered before the next is asked.</a:t>
            </a:r>
          </a:p>
          <a:p>
            <a:r>
              <a:t>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Go back to the ticket's table (the slide after the concept map) if the room</a:t>
            </a:r>
          </a:p>
          <a:p>
            <a:r>
              <a:t>wants it; this slide is the same ticket read line by line against the topics. Every line now has</a:t>
            </a:r>
          </a:p>
          <a:p>
            <a:r>
              <a:t>a topic the room has met, except the last, which opens the afternoon.</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groups write their own ordered list first, with the test each cause needs,</a:t>
            </a:r>
          </a:p>
          <a:p>
            <a:r>
              <a:t>on the hypothesis board template; then show this ladder. It runs in the order a careful analyst</a:t>
            </a:r>
          </a:p>
          <a:p>
            <a:r>
              <a:t>checks: the count, the rule, the cohorts, everyone, then the stage. Rows 3 and 4 read the same table</a:t>
            </a:r>
          </a:p>
          <a:p>
            <a:r>
              <a:t>two ways: cohorts compared at the same age for strength, one calendar month read across them for a</a:t>
            </a:r>
          </a:p>
          <a:p>
            <a:r>
              <a:t>shock that hit everyone. Each chapter's reveal strikes or confirms a line; keep the board up all</a:t>
            </a:r>
          </a:p>
          <a:p>
            <a:r>
              <a:t>morning.</a:t>
            </a:r>
          </a:p>
          <a:p>
            <a:r>
              <a:t>Transition: the card.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Hand out the card if it is not on the tables. Read one row aloud: ZG21052 joined</a:t>
            </a:r>
          </a:p>
          <a:p>
            <a:r>
              <a:t>in May, ordered in June and July, then stopped. The last line holds the five sale-week members,</a:t>
            </a:r>
          </a:p>
          <a:p>
            <a:r>
              <a:t>named one by one, none of whom ordered in September. Ask each table to rewrite the card by months</a:t>
            </a:r>
          </a:p>
          <a:p>
            <a:r>
              <a:t>since joining, as they rewrote the gym's register,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Vote. Expect some c from tables that read September's column, where August's</a:t>
            </a:r>
          </a:p>
          <a:p>
            <a:r>
              <a:t>month one sits beside May's month four: the gym's April reading again.</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Count May's row aloud: three ordered in month one, two in month two, one in three</a:t>
            </a:r>
          </a:p>
          <a:p>
            <a:r>
              <a:t>and four. Then June's, then August's. In September the sale member's month one sits beside May's</a:t>
            </a:r>
          </a:p>
          <a:p>
            <a:r>
              <a:t>month four, which is why the age column, not the calendar 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Ring the two 2-of-7 cells. Then the August column of the sale-week members: they</a:t>
            </a:r>
          </a:p>
          <a:p>
            <a:r>
              <a:t>joined in August, so August is their month zero, and September is their month one, which the</a:t>
            </a:r>
          </a:p>
          <a:p>
            <a:r>
              <a:t>dashboard skips. SECTION 6 finds the same two readings on all 53,089 members.</a:t>
            </a:r>
          </a:p>
          <a:p>
            <a:r>
              <a:t>Transition: what the card showed.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board's first region; Q2 and Q3 stay dashed. Strike or confirm on the</a:t>
            </a:r>
          </a:p>
          <a:p>
            <a:r>
              <a:t>hypothesis board: "a cohort problem" is now likely; the test was the card.</a:t>
            </a:r>
          </a:p>
          <a:p>
            <a:r>
              <a:t>Transition: SECTION 6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Laptops open; notebook 06. Styles: Krish Naik (one pivot_table, line by line),</a:t>
            </a:r>
          </a:p>
          <a:p>
            <a:r>
              <a:t>Veritasium (three predictions), 3Blue1Brown (the triangle, the stacked count),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Say what SECTION 5 found, with its numbers, so the room</a:t>
            </a:r>
          </a:p>
          <a:p>
            <a:r>
              <a:t>carries it in: each group fell with age, the sale-week members kept 0 of 5, and the dashboard's</a:t>
            </a:r>
          </a:p>
          <a:p>
            <a:r>
              <a:t>way 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code a line at a time: each year-month as one count of months, age as</a:t>
            </a:r>
          </a:p>
          <a:p>
            <a:r>
              <a:t>the gap between the two, then one pivot_table with cohorts on the rows and ages on the columns;</a:t>
            </a:r>
          </a:p>
          <a:p>
            <a:r>
              <a:t>active (at least one order) was set when the table loaded, and each cell is a mean of True and</a:t>
            </a:r>
          </a:p>
          <a:p>
            <a:r>
              <a:t>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one row (January: 58, then 38.7 and down to 36.9 by month eight) and one</a:t>
            </a:r>
          </a:p>
          <a:p>
            <a:r>
              <a:t>column (month one: 58 down to 49, then 31). By the two-ages rule no Gold row holds exactly level,</a:t>
            </a:r>
          </a:p>
          <a:p>
            <a:r>
              <a:t>so call it a floor that erodes, about 0.3 points a month.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August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wrong sentence exactly as a hurried analyst would say it. Ask for the</a:t>
            </a:r>
          </a:p>
          <a:p>
            <a:r>
              <a:t>decision it would drive. Point at September's stack: seven cohorts, January at the bottom, July at</a:t>
            </a:r>
          </a:p>
          <a:p>
            <a:r>
              <a:t>the top, then the hatched bar beside it: 13,000 members the dashboard does not count yet. The</a:t>
            </a:r>
          </a:p>
          <a:p>
            <a:r>
              <a:t>check, taking the number apart, runs in the notebook's empty your-turn cell before the next slide.</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the</a:t>
            </a:r>
          </a:p>
          <a:p>
            <a:r>
              <a:t>gym's plain mean of rates again, which is why weights matter when sizes differ.</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set out</a:t>
            </a:r>
          </a:p>
          <a:p>
            <a:r>
              <a:t>on the self-study slide that follows;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notebook 06's October cell computes the same three numbers. Read it as an estimate with</a:t>
            </a:r>
          </a:p>
          <a:p>
            <a:r>
              <a:t>its assumption named, never as a forecast.</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Transition: SECTION 7, the order flow.</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Notebook 07. Styles: Brilliant (the five rates before any explanation),</a:t>
            </a:r>
          </a:p>
          <a:p>
            <a:r>
              <a:t>Veritasium (three predictions), the case method (the app team's partly 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what SECTION 6 found, with its numbers: 38 is a weighted average of falling</a:t>
            </a:r>
          </a:p>
          <a:p>
            <a:r>
              <a:t>cohorts, and the sale-week members kept 20 percent in month one.</a:t>
            </a:r>
          </a:p>
          <a:p>
            <a:r>
              <a:t>Transition: the five rates.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numbers first. Vote, argue, vote. Expect b from part of</a:t>
            </a:r>
          </a:p>
          <a:p>
            <a:r>
              <a:t>the room even after the college; the lowest rate still looks like the loss.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then straight to the data: the next slide takes the 118 apart.</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Ask one table to explain its letter in a sentence; the college's applicants</a:t>
            </a:r>
          </a:p>
          <a:p>
            <a:r>
              <a:t>are the clue.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three lines. The moved cut dates the fall; it does not test tracking,</a:t>
            </a:r>
          </a:p>
          <a:p>
            <a:r>
              <a:t>since the rename shipped with the release and a logging fault would also start on 14 September.</a:t>
            </a:r>
          </a:p>
          <a:p>
            <a:r>
              <a:t>The tracking test is on the doubts slide: the orders counted in member_months against the event</a:t>
            </a:r>
          </a:p>
          <a:p>
            <a:r>
              <a:t>log. Every Android session from 14 September ran checkout v2, so the date and the version are one</a:t>
            </a:r>
          </a:p>
          <a:p>
            <a:r>
              <a:t>split here.</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case method: the app team is partly right, so find the part. Concede that</a:t>
            </a:r>
          </a:p>
          <a:p>
            <a:r>
              <a:t>checkout starts held; bring the split that shows completion fell, for members, on Android, from</a:t>
            </a:r>
          </a:p>
          <a:p>
            <a:r>
              <a:t>the release. Only members on Android fell, so the place to look is something in the new flow that</a:t>
            </a:r>
          </a:p>
          <a:p>
            <a:r>
              <a:t>members see. The 55 rests on 18,273 checkout starts, so chance moves it by under a point; the</a:t>
            </a:r>
          </a:p>
          <a:p>
            <a:r>
              <a:t>non-members' comparator rests on 1,600, so "held" there means within about 2.5 points. The</a:t>
            </a:r>
          </a:p>
          <a:p>
            <a:r>
              <a:t>afternoon's role card replays this dispute.</a:t>
            </a:r>
          </a:p>
          <a:p>
            <a:r>
              <a:t>Transition: the checks before the call.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2 minutes. Read three rows aloud: tracking, the mix inside the split, and sessions against</a:t>
            </a:r>
          </a:p>
          <a:p>
            <a:r>
              <a:t>members; the other four are for self-study and the notebook. Strike the last lines of the</a:t>
            </a:r>
          </a:p>
          <a:p>
            <a:r>
              <a:t>hypothesis board: tracking is ruled out, the definition explained, a cohort problem confirmed,</a:t>
            </a:r>
          </a:p>
          <a:p>
            <a:r>
              <a:t>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A "good" retention number needs its definition: Amplitude, a product-analytics vendor, says 7</a:t>
            </a:r>
          </a:p>
          <a:p>
            <a:r>
              <a:t>percent of a cohort back on day seven puts a product in the top 25 percent of the more than 2,600</a:t>
            </a:r>
          </a:p>
          <a:p>
            <a:r>
              <a:t>companies it studied, and its blog gives no method. Say so if the room asks for a benchmark.</a:t>
            </a:r>
          </a:p>
          <a:p>
            <a:r>
              <a:t>LIVE, 1 minute. Say the morning's sentence: the dashboard was flat because of who it counts;</a:t>
            </a:r>
          </a:p>
          <a:p>
            <a:r>
              <a:t>every cohort fell; one step, on one platform, after one date, drove the order loss. Board complete.</a:t>
            </a:r>
          </a:p>
          <a:p>
            <a:r>
              <a:t>The afternoon opens on the fifth topic, then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3.png"/><Relationship Id="rId6" Type="http://schemas.openxmlformats.org/officeDocument/2006/relationships/image" Target="../media/image9.png"/><Relationship Id="rId7"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5.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23.png"/><Relationship Id="rId6" Type="http://schemas.openxmlformats.org/officeDocument/2006/relationships/image" Target="../media/image9.png"/><Relationship Id="rId7" Type="http://schemas.openxmlformats.org/officeDocument/2006/relationships/image" Target="../media/image2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2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23.png"/><Relationship Id="rId6"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Thursday's topic: cohort and funnel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leaving, and at which step do we lose them?</a:t>
            </a:r>
          </a:p>
        </p:txBody>
      </p:sp>
      <p:sp>
        <p:nvSpPr>
          <p:cNvPr id="9" name="TextBox 8"/>
          <p:cNvSpPr txBox="1"/>
          <p:nvPr/>
        </p:nvSpPr>
        <p:spPr>
          <a:xfrm>
            <a:off x="530352" y="1843437"/>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Thursday's topic, as the curriculum words it.</a:t>
            </a:r>
            <a:r>
              <a:rPr sz="1600" b="0" i="0">
                <a:solidFill>
                  <a:srgbClr val="1A1440"/>
                </a:solidFill>
                <a:latin typeface="Calibri"/>
              </a:rPr>
              <a:t> Cohort and funnel: why Retail-Plus frequency fell, and where the loss actually happens.</a:t>
            </a:r>
          </a:p>
        </p:txBody>
      </p:sp>
      <p:pic>
        <p:nvPicPr>
          <p:cNvPr id="10" name="mermaid diagram" descr="ca67899a59960eb0.png"/>
          <p:cNvPicPr>
            <a:picLocks noChangeAspect="1"/>
          </p:cNvPicPr>
          <p:nvPr/>
        </p:nvPicPr>
        <p:blipFill>
          <a:blip r:embed="rId5"/>
          <a:stretch>
            <a:fillRect/>
          </a:stretch>
        </p:blipFill>
        <p:spPr>
          <a:xfrm>
            <a:off x="2152497" y="2743613"/>
            <a:ext cx="7886700" cy="2100262"/>
          </a:xfrm>
          <a:prstGeom prst="rect">
            <a:avLst/>
          </a:prstGeom>
        </p:spPr>
      </p:pic>
      <p:sp>
        <p:nvSpPr>
          <p:cNvPr id="11" name="TextBox 10"/>
          <p:cNvSpPr txBox="1"/>
          <p:nvPr/>
        </p:nvSpPr>
        <p:spPr>
          <a:xfrm>
            <a:off x="530352" y="499017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day climbs these three questions twice: first on a gym and a college, invented so every number can be counted by hand, then on Zomato Gold in Chennai, an illustrative case, and in the lab on Kalpa Retail's Retail-Plus tier.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73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1e025ae40bea612b.png"/>
          <p:cNvPicPr>
            <a:picLocks noChangeAspect="1"/>
          </p:cNvPicPr>
          <p:nvPr/>
        </p:nvPicPr>
        <p:blipFill>
          <a:blip r:embed="rId5"/>
          <a:stretch>
            <a:fillRect/>
          </a:stretch>
        </p:blipFill>
        <p:spPr>
          <a:xfrm>
            <a:off x="2682134" y="1682496"/>
            <a:ext cx="6827426"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each with its chapter and notebook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Thursday teach, in which chapter, for how long, and with which notebook?</a:t>
            </a:r>
          </a:p>
        </p:txBody>
      </p:sp>
      <p:graphicFrame>
        <p:nvGraphicFramePr>
          <p:cNvPr id="9" name="Table 8"/>
          <p:cNvGraphicFramePr>
            <a:graphicFrameLocks noGrp="1"/>
          </p:cNvGraphicFramePr>
          <p:nvPr/>
        </p:nvGraphicFramePr>
        <p:xfrm>
          <a:off x="530352" y="1956816"/>
          <a:ext cx="11130988" cy="2011680"/>
        </p:xfrm>
        <a:graphic>
          <a:graphicData uri="http://schemas.openxmlformats.org/drawingml/2006/table">
            <a:tbl>
              <a:tblPr firstRow="0" bandRow="0">
                <a:tableStyleId>{2D5ABB26-0587-4C30-8999-92F81FD0307C}</a:tableStyleId>
              </a:tblPr>
              <a:tblGrid>
                <a:gridCol w="914400"/>
                <a:gridCol w="3498899"/>
                <a:gridCol w="1960803"/>
                <a:gridCol w="914400"/>
                <a:gridCol w="1960803"/>
                <a:gridCol w="1881683"/>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as the curriculum words it</a:t>
                      </a:r>
                    </a:p>
                  </a:txBody>
                  <a:tcPr marL="101600" marR="101600" marT="38100" marB="38100" anchor="ctr">
                    <a:solidFill>
                      <a:srgbClr val="1A0F5C"/>
                    </a:solidFill>
                  </a:tcPr>
                </a:tc>
                <a:tc>
                  <a:txBody>
                    <a:bodyPr/>
                    <a:lstStyle/>
                    <a:p>
                      <a:r>
                        <a:rPr sz="1250" b="1" i="0">
                          <a:solidFill>
                            <a:srgbClr val="FFFFFF"/>
                          </a:solidFill>
                          <a:latin typeface="Calibri"/>
                        </a:rPr>
                        <a:t>Taught in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c>
                  <a:txBody>
                    <a:bodyPr/>
                    <a:lstStyle/>
                    <a:p>
                      <a:r>
                        <a:rPr sz="1250" b="1" i="0">
                          <a:solidFill>
                            <a:srgbClr val="FFFFFF"/>
                          </a:solidFill>
                          <a:latin typeface="Calibri"/>
                        </a:rPr>
                        <a:t>Applied in</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Cohort construction</a:t>
                      </a:r>
                    </a:p>
                  </a:txBody>
                  <a:tcPr marL="101600" marR="101600" marT="38100" marB="38100" anchor="ctr">
                    <a:solidFill>
                      <a:srgbClr val="FFFFFF"/>
                    </a:solidFill>
                  </a:tcPr>
                </a:tc>
                <a:tc>
                  <a:txBody>
                    <a:bodyPr/>
                    <a:lstStyle/>
                    <a:p>
                      <a:r>
                        <a:rPr sz="1200" b="0" i="0">
                          <a:solidFill>
                            <a:srgbClr val="1A1440"/>
                          </a:solidFill>
                          <a:latin typeface="Calibri"/>
                        </a:rPr>
                        <a:t>SECTION 1</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01 cohort construction</a:t>
                      </a:r>
                    </a:p>
                  </a:txBody>
                  <a:tcPr marL="101600" marR="101600" marT="38100" marB="38100" anchor="ctr">
                    <a:solidFill>
                      <a:srgbClr val="FFFFFF"/>
                    </a:solidFill>
                  </a:tcPr>
                </a:tc>
                <a:tc>
                  <a:txBody>
                    <a:bodyPr/>
                    <a:lstStyle/>
                    <a:p>
                      <a:r>
                        <a:rPr sz="1200" b="0" i="0">
                          <a:solidFill>
                            <a:srgbClr val="1A1440"/>
                          </a:solidFill>
                          <a:latin typeface="Calibri"/>
                        </a:rPr>
                        <a:t>SECTIONs 5 and 6</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Funnel stages, drop-off, denominators</a:t>
                      </a:r>
                    </a:p>
                  </a:txBody>
                  <a:tcPr marL="101600" marR="101600" marT="38100" marB="38100" anchor="ctr">
                    <a:solidFill>
                      <a:srgbClr val="F4F2FA"/>
                    </a:solidFill>
                  </a:tcPr>
                </a:tc>
                <a:tc>
                  <a:txBody>
                    <a:bodyPr/>
                    <a:lstStyle/>
                    <a:p>
                      <a:r>
                        <a:rPr sz="1200" b="0" i="0">
                          <a:solidFill>
                            <a:srgbClr val="1A1440"/>
                          </a:solidFill>
                          <a:latin typeface="Calibri"/>
                        </a:rPr>
                        <a:t>SECTION 4</a:t>
                      </a:r>
                    </a:p>
                  </a:txBody>
                  <a:tcPr marL="101600" marR="101600" marT="38100" marB="38100" anchor="ctr">
                    <a:solidFill>
                      <a:srgbClr val="F4F2FA"/>
                    </a:solidFill>
                  </a:tcPr>
                </a:tc>
                <a:tc>
                  <a:txBody>
                    <a:bodyPr/>
                    <a:lstStyle/>
                    <a:p>
                      <a:r>
                        <a:rPr sz="1200" b="0" i="0">
                          <a:solidFill>
                            <a:srgbClr val="1A1440"/>
                          </a:solidFill>
                          <a:latin typeface="Calibri"/>
                        </a:rPr>
                        <a:t>25</a:t>
                      </a:r>
                    </a:p>
                  </a:txBody>
                  <a:tcPr marL="101600" marR="101600" marT="38100" marB="38100" anchor="ctr">
                    <a:solidFill>
                      <a:srgbClr val="F4F2FA"/>
                    </a:solidFill>
                  </a:tcPr>
                </a:tc>
                <a:tc>
                  <a:txBody>
                    <a:bodyPr/>
                    <a:lstStyle/>
                    <a:p>
                      <a:r>
                        <a:rPr sz="1200" b="0" i="0">
                          <a:solidFill>
                            <a:srgbClr val="1A1440"/>
                          </a:solidFill>
                          <a:latin typeface="Calibri"/>
                        </a:rPr>
                        <a:t>04 funnel denominators</a:t>
                      </a:r>
                    </a:p>
                  </a:txBody>
                  <a:tcPr marL="101600" marR="101600" marT="38100" marB="38100" anchor="ctr">
                    <a:solidFill>
                      <a:srgbClr val="F4F2FA"/>
                    </a:solidFill>
                  </a:tcPr>
                </a:tc>
                <a:tc>
                  <a:txBody>
                    <a:bodyPr/>
                    <a:lstStyle/>
                    <a:p>
                      <a:r>
                        <a:rPr sz="1200" b="0" i="0">
                          <a:solidFill>
                            <a:srgbClr val="1A1440"/>
                          </a:solidFill>
                          <a:latin typeface="Calibri"/>
                        </a:rPr>
                        <a:t>SECTION 7</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Retention curves: shape and floor</a:t>
                      </a:r>
                    </a:p>
                  </a:txBody>
                  <a:tcPr marL="101600" marR="101600" marT="38100" marB="38100" anchor="ctr">
                    <a:solidFill>
                      <a:srgbClr val="FFFFFF"/>
                    </a:solidFill>
                  </a:tcPr>
                </a:tc>
                <a:tc>
                  <a:txBody>
                    <a:bodyPr/>
                    <a:lstStyle/>
                    <a:p>
                      <a:r>
                        <a:rPr sz="1200" b="0" i="0">
                          <a:solidFill>
                            <a:srgbClr val="1A1440"/>
                          </a:solidFill>
                          <a:latin typeface="Calibri"/>
                        </a:rPr>
                        <a:t>SECTION 2</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02 retention curves</a:t>
                      </a:r>
                    </a:p>
                  </a:txBody>
                  <a:tcPr marL="101600" marR="101600" marT="38100" marB="38100" anchor="ctr">
                    <a:solidFill>
                      <a:srgbClr val="FFFFFF"/>
                    </a:solidFill>
                  </a:tcPr>
                </a:tc>
                <a:tc>
                  <a:txBody>
                    <a:bodyPr/>
                    <a:lstStyle/>
                    <a:p>
                      <a:r>
                        <a:rPr sz="1200" b="0" i="0">
                          <a:solidFill>
                            <a:srgbClr val="1A1440"/>
                          </a:solidFill>
                          <a:latin typeface="Calibri"/>
                        </a:rPr>
                        <a:t>SECTION 6</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Blended numbers against cohort truth</a:t>
                      </a:r>
                    </a:p>
                  </a:txBody>
                  <a:tcPr marL="101600" marR="101600" marT="38100" marB="38100" anchor="ctr">
                    <a:solidFill>
                      <a:srgbClr val="F4F2FA"/>
                    </a:solidFill>
                  </a:tcPr>
                </a:tc>
                <a:tc>
                  <a:txBody>
                    <a:bodyPr/>
                    <a:lstStyle/>
                    <a:p>
                      <a:r>
                        <a:rPr sz="1200" b="0" i="0">
                          <a:solidFill>
                            <a:srgbClr val="1A1440"/>
                          </a:solidFill>
                          <a:latin typeface="Calibri"/>
                        </a:rPr>
                        <a:t>SECTION 3</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03 blended vs cohort</a:t>
                      </a:r>
                    </a:p>
                  </a:txBody>
                  <a:tcPr marL="101600" marR="101600" marT="38100" marB="38100" anchor="ctr">
                    <a:solidFill>
                      <a:srgbClr val="F4F2FA"/>
                    </a:solidFill>
                  </a:tcPr>
                </a:tc>
                <a:tc>
                  <a:txBody>
                    <a:bodyPr/>
                    <a:lstStyle/>
                    <a:p>
                      <a:r>
                        <a:rPr sz="1200" b="0" i="0">
                          <a:solidFill>
                            <a:srgbClr val="1A1440"/>
                          </a:solidFill>
                          <a:latin typeface="Calibri"/>
                        </a:rPr>
                        <a:t>SECTION 6</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fix-first decision and its evidence</a:t>
                      </a:r>
                    </a:p>
                  </a:txBody>
                  <a:tcPr marL="101600" marR="101600" marT="38100" marB="38100" anchor="ctr">
                    <a:solidFill>
                      <a:srgbClr val="FFFFFF"/>
                    </a:solidFill>
                  </a:tcPr>
                </a:tc>
                <a:tc>
                  <a:txBody>
                    <a:bodyPr/>
                    <a:lstStyle/>
                    <a:p>
                      <a:r>
                        <a:rPr sz="1200" b="0" i="0">
                          <a:solidFill>
                            <a:srgbClr val="1A1440"/>
                          </a:solidFill>
                          <a:latin typeface="Calibri"/>
                        </a:rPr>
                        <a:t>SECTION 8,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08 fix first evidence</a:t>
                      </a:r>
                    </a:p>
                  </a:txBody>
                  <a:tcPr marL="101600" marR="101600" marT="38100" marB="38100" anchor="ctr">
                    <a:solidFill>
                      <a:srgbClr val="FFFFFF"/>
                    </a:solidFill>
                  </a:tcPr>
                </a:tc>
                <a:tc>
                  <a:txBody>
                    <a:bodyPr/>
                    <a:lstStyle/>
                    <a:p>
                      <a:r>
                        <a:rPr sz="1200" b="0" i="0">
                          <a:solidFill>
                            <a:srgbClr val="1A1440"/>
                          </a:solidFill>
                          <a:latin typeface="Calibri"/>
                        </a:rPr>
                        <a:t>SECTION 9 and the lab</a:t>
                      </a:r>
                    </a:p>
                  </a:txBody>
                  <a:tcPr marL="101600" marR="101600" marT="38100" marB="38100" anchor="ctr">
                    <a:solidFill>
                      <a:srgbClr val="FFFFFF"/>
                    </a:solidFill>
                  </a:tcPr>
                </a:tc>
              </a:tr>
            </a:tbl>
          </a:graphicData>
        </a:graphic>
      </p:graphicFrame>
      <p:sp>
        <p:nvSpPr>
          <p:cNvPr id="10" name="TextBox 9"/>
          <p:cNvSpPr txBox="1"/>
          <p:nvPr/>
        </p:nvSpPr>
        <p:spPr>
          <a:xfrm>
            <a:off x="530352" y="4224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chapters run 1, 3, 4, 2, 5: topics 1, 3 and 4 share one invented gym and one table read three ways, topic 2 brings an invented college, and topic 5 opens the afternoon right before the call that uses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73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the five topics connect, and where they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from earlier weeks, what does it feed, and where is it used?</a:t>
            </a:r>
          </a:p>
        </p:txBody>
      </p:sp>
      <p:pic>
        <p:nvPicPr>
          <p:cNvPr id="9" name="mermaid diagram" descr="8f6501b267288fc3.png"/>
          <p:cNvPicPr>
            <a:picLocks noChangeAspect="1"/>
          </p:cNvPicPr>
          <p:nvPr/>
        </p:nvPicPr>
        <p:blipFill>
          <a:blip r:embed="rId5"/>
          <a:stretch>
            <a:fillRect/>
          </a:stretch>
        </p:blipFill>
        <p:spPr>
          <a:xfrm>
            <a:off x="1925861" y="1682496"/>
            <a:ext cx="8339971"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five topics be used, and what is due Friday?</a:t>
            </a:r>
          </a:p>
        </p:txBody>
      </p:sp>
      <p:graphicFrame>
        <p:nvGraphicFramePr>
          <p:cNvPr id="9" name="Table 8"/>
          <p:cNvGraphicFramePr>
            <a:graphicFrameLocks noGrp="1"/>
          </p:cNvGraphicFramePr>
          <p:nvPr/>
        </p:nvGraphicFramePr>
        <p:xfrm>
          <a:off x="530352" y="185013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(the first full month after joining), by signup month,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TextBox 9"/>
          <p:cNvSpPr txBox="1"/>
          <p:nvPr/>
        </p:nvSpPr>
        <p:spPr>
          <a:xfrm>
            <a:off x="530352" y="4282440"/>
            <a:ext cx="11130991" cy="1169416"/>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Gold</a:t>
            </a:r>
            <a:r>
              <a:rPr sz="1100" b="0" i="0">
                <a:solidFill>
                  <a:srgbClr val="1A1440"/>
                </a:solidFill>
                <a:latin typeface="Calibri"/>
              </a:rPr>
              <a:t> is the app's paid membership, with free delivery. </a:t>
            </a:r>
            <a:r>
              <a:rPr sz="1100" b="1" i="0">
                <a:solidFill>
                  <a:srgbClr val="1A1440"/>
                </a:solidFill>
                <a:latin typeface="Calibri"/>
              </a:rPr>
              <a:t>Data.</a:t>
            </a:r>
            <a:r>
              <a:rPr sz="1100" b="0" i="0">
                <a:solidFill>
                  <a:srgbClr val="1A1440"/>
                </a:solidFill>
                <a:latin typeface="Calibri"/>
              </a:rPr>
              <a:t> members (53,089 who joined January to September), member_months (orders per member per month, from the order records), events (one row per stage each app session, one visit to the app, reached; August and September; platform, and checkout version v1 or the new v2; Gold members and 4,000 non-members). </a:t>
            </a:r>
            <a:r>
              <a:rPr sz="1100" b="1" i="0">
                <a:solidFill>
                  <a:srgbClr val="1A1440"/>
                </a:solidFill>
                <a:latin typeface="Calibri"/>
              </a:rPr>
              <a:t>The ask, due Friday.</a:t>
            </a:r>
            <a:r>
              <a:rPr sz="1100" b="0" i="0">
                <a:solidFill>
                  <a:srgbClr val="1A1440"/>
                </a:solidFill>
                <a:latin typeface="Calibri"/>
              </a:rPr>
              <a:t> Cohort problem or everyone problem; which funnel stage owns the loss; what to fix first, with the evidence. </a:t>
            </a:r>
            <a:r>
              <a:rPr sz="1100" b="1" i="0">
                <a:solidFill>
                  <a:srgbClr val="1A1440"/>
                </a:solidFill>
                <a:latin typeface="Calibri"/>
              </a:rPr>
              <a:t>Known caveats.</a:t>
            </a:r>
            <a:r>
              <a:rPr sz="11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1" name="Rounded Rectangle 10"/>
          <p:cNvSpPr/>
          <p:nvPr/>
        </p:nvSpPr>
        <p:spPr>
          <a:xfrm>
            <a:off x="530352" y="557987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70788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69874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8" name="Oval 1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2" name="Oval 2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4" name="Oval 23"/>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73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Cohort construction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joined when?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Group people by the month they joined, count each group at each age since joining, and compare groups at the same age, on one gym branch's thirty joiners counted by hand.</a:t>
            </a:r>
          </a:p>
        </p:txBody>
      </p:sp>
      <p:sp>
        <p:nvSpPr>
          <p:cNvPr id="11" name="Rounded Rectangle 10"/>
          <p:cNvSpPr/>
          <p:nvPr/>
        </p:nvSpPr>
        <p:spPr>
          <a:xfrm>
            <a:off x="731519" y="5074920"/>
            <a:ext cx="118264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73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Cohort construction: four questions, one gym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85343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a neighbourhood gym (invented), who wants to know which month's joiners keep coming, so that a retention offer reaches the batch that needs it; read by calendar month, the offer goes to the wrong batch. A cohort is a batch, as a coaching centre runs a June batch and a July batch: everyone who joined in the same month.</a:t>
            </a:r>
          </a:p>
        </p:txBody>
      </p:sp>
      <p:sp>
        <p:nvSpPr>
          <p:cNvPr id="12" name="Rounded Rectangle 11"/>
          <p:cNvSpPr/>
          <p:nvPr/>
        </p:nvSpPr>
        <p:spPr>
          <a:xfrm>
            <a:off x="530352" y="335915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48716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478022"/>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and each is answered with a count before the next is asked.</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batch looks best in April?</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owner's reading, one calendar month</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batch keep at each age?</a:t>
            </a:r>
          </a:p>
        </p:txBody>
      </p:sp>
      <p:sp>
        <p:nvSpPr>
          <p:cNvPr id="25" name="TextBox 24"/>
          <p:cNvSpPr txBox="1"/>
          <p:nvPr/>
        </p:nvSpPr>
        <p:spPr>
          <a:xfrm>
            <a:off x="3523411"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Thirty joiners counted by hand</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Why is the table a triangle?</a:t>
            </a:r>
          </a:p>
        </p:txBody>
      </p:sp>
      <p:sp>
        <p:nvSpPr>
          <p:cNvPr id="30" name="TextBox 29"/>
          <p:cNvSpPr txBox="1"/>
          <p:nvPr/>
        </p:nvSpPr>
        <p:spPr>
          <a:xfrm>
            <a:off x="6351879"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Rows by joining month, columns by age</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code count the same table?</a:t>
            </a:r>
          </a:p>
        </p:txBody>
      </p:sp>
      <p:sp>
        <p:nvSpPr>
          <p:cNvPr id="35" name="TextBox 34"/>
          <p:cNvSpPr txBox="1"/>
          <p:nvPr/>
        </p:nvSpPr>
        <p:spPr>
          <a:xfrm>
            <a:off x="9180347" y="5600445"/>
            <a:ext cx="2316403" cy="366776"/>
          </a:xfrm>
          <a:prstGeom prst="rect">
            <a:avLst/>
          </a:prstGeom>
          <a:noFill/>
        </p:spPr>
        <p:txBody>
          <a:bodyPr wrap="square" anchor="t" lIns="0" rIns="0" tIns="0" bIns="0">
            <a:spAutoFit/>
          </a:bodyPr>
          <a:lstStyle/>
          <a:p>
            <a:pPr algn="l"/>
            <a:r>
              <a:rPr sz="1000" b="0" i="0">
                <a:solidFill>
                  <a:srgbClr val="CFC9EE"/>
                </a:solidFill>
                <a:latin typeface="Calibri"/>
              </a:rPr>
              <a:t>One pivot_table, month zero left out</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38" name="Oval 3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0" name="Oval 3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2" name="Oval 4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batch keeps most in month one?</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April the owner reads 5, 5 and 6 of 10 January, February and March joiners and calls March best. Counted by months since joining, which batch keeps the most in its own month one?</a:t>
            </a:r>
          </a:p>
        </p:txBody>
      </p:sp>
      <p:pic>
        <p:nvPicPr>
          <p:cNvPr id="9" name="mermaid diagram" descr="C2_W04_D04_gym_register_STUDENT.png"/>
          <p:cNvPicPr>
            <a:picLocks noChangeAspect="1"/>
          </p:cNvPicPr>
          <p:nvPr/>
        </p:nvPicPr>
        <p:blipFill>
          <a:blip r:embed="rId4"/>
          <a:stretch>
            <a:fillRect/>
          </a:stretch>
        </p:blipFill>
        <p:spPr>
          <a:xfrm>
            <a:off x="530352" y="2664760"/>
            <a:ext cx="4786326" cy="2028351"/>
          </a:xfrm>
          <a:prstGeom prst="rect">
            <a:avLst/>
          </a:prstGeom>
        </p:spPr>
      </p:pic>
      <p:sp>
        <p:nvSpPr>
          <p:cNvPr id="10" name="picture caption"/>
          <p:cNvSpPr txBox="1"/>
          <p:nvPr/>
        </p:nvSpPr>
        <p:spPr>
          <a:xfrm>
            <a:off x="530352" y="4729687"/>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gym branch's thirty joiners, January to June 2026, one row each (invented)</a:t>
            </a:r>
          </a:p>
        </p:txBody>
      </p:sp>
      <p:sp>
        <p:nvSpPr>
          <p:cNvPr id="11" name="TextBox 10"/>
          <p:cNvSpPr txBox="1"/>
          <p:nvPr/>
        </p:nvSpPr>
        <p:spPr>
          <a:xfrm>
            <a:off x="5761917" y="1956816"/>
            <a:ext cx="5899425"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March, as the owner reads it</a:t>
            </a:r>
          </a:p>
          <a:p>
            <a:pPr>
              <a:spcAft>
                <a:spcPts val="800"/>
              </a:spcAft>
            </a:pPr>
            <a:r>
              <a:rPr sz="1600" b="0" i="0">
                <a:solidFill>
                  <a:srgbClr val="1A1440"/>
                </a:solidFill>
                <a:latin typeface="Calibri"/>
              </a:rPr>
              <a:t>b) February</a:t>
            </a:r>
          </a:p>
          <a:p>
            <a:pPr>
              <a:spcAft>
                <a:spcPts val="800"/>
              </a:spcAft>
            </a:pPr>
            <a:r>
              <a:rPr sz="1600" b="0" i="0">
                <a:solidFill>
                  <a:srgbClr val="1A1440"/>
                </a:solidFill>
                <a:latin typeface="Calibri"/>
              </a:rPr>
              <a:t>c) January</a:t>
            </a:r>
          </a:p>
          <a:p>
            <a:pPr>
              <a:spcAft>
                <a:spcPts val="800"/>
              </a:spcAft>
            </a:pPr>
            <a:r>
              <a:rPr sz="1600" b="0" i="0">
                <a:solidFill>
                  <a:srgbClr val="1A1440"/>
                </a:solidFill>
                <a:latin typeface="Calibri"/>
              </a:rPr>
              <a:t>d) All three keep the same share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73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January keeps 8 of 10, March 6 of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batch keep at each age, counted by hand?</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558991"/>
                <a:gridCol w="914400"/>
                <a:gridCol w="914400"/>
                <a:gridCol w="914400"/>
                <a:gridCol w="914400"/>
                <a:gridCol w="914400"/>
              </a:tblGrid>
              <a:tr h="335280">
                <a:tc>
                  <a:txBody>
                    <a:bodyPr/>
                    <a:lstStyle/>
                    <a:p>
                      <a:r>
                        <a:rPr sz="1250" b="1" i="0">
                          <a:solidFill>
                            <a:srgbClr val="FFFFFF"/>
                          </a:solidFill>
                          <a:latin typeface="Calibri"/>
                        </a:rPr>
                        <a:t>Joined, 10 each (invented)</a:t>
                      </a:r>
                    </a:p>
                  </a:txBody>
                  <a:tcPr marL="101600" marR="101600" marT="38100" marB="38100" anchor="ctr">
                    <a:solidFill>
                      <a:srgbClr val="1A0F5C"/>
                    </a:solidFill>
                  </a:tcPr>
                </a:tc>
                <a:tc>
                  <a:txBody>
                    <a:bodyPr/>
                    <a:lstStyle/>
                    <a:p>
                      <a:r>
                        <a:rPr sz="1250" b="1" i="0">
                          <a:solidFill>
                            <a:srgbClr val="FFFFFF"/>
                          </a:solidFill>
                          <a:latin typeface="Calibri"/>
                        </a:rPr>
                        <a:t>Age 1</a:t>
                      </a:r>
                    </a:p>
                  </a:txBody>
                  <a:tcPr marL="101600" marR="101600" marT="38100" marB="38100" anchor="ctr">
                    <a:solidFill>
                      <a:srgbClr val="1A0F5C"/>
                    </a:solidFill>
                  </a:tcPr>
                </a:tc>
                <a:tc>
                  <a:txBody>
                    <a:bodyPr/>
                    <a:lstStyle/>
                    <a:p>
                      <a:r>
                        <a:rPr sz="1250" b="1" i="0">
                          <a:solidFill>
                            <a:srgbClr val="FFFFFF"/>
                          </a:solidFill>
                          <a:latin typeface="Calibri"/>
                        </a:rPr>
                        <a:t>Age 2</a:t>
                      </a:r>
                    </a:p>
                  </a:txBody>
                  <a:tcPr marL="101600" marR="101600" marT="38100" marB="38100" anchor="ctr">
                    <a:solidFill>
                      <a:srgbClr val="1A0F5C"/>
                    </a:solidFill>
                  </a:tcPr>
                </a:tc>
                <a:tc>
                  <a:txBody>
                    <a:bodyPr/>
                    <a:lstStyle/>
                    <a:p>
                      <a:r>
                        <a:rPr sz="1250" b="1" i="0">
                          <a:solidFill>
                            <a:srgbClr val="FFFFFF"/>
                          </a:solidFill>
                          <a:latin typeface="Calibri"/>
                        </a:rPr>
                        <a:t>Age 3</a:t>
                      </a:r>
                    </a:p>
                  </a:txBody>
                  <a:tcPr marL="101600" marR="101600" marT="38100" marB="38100" anchor="ctr">
                    <a:solidFill>
                      <a:srgbClr val="1A0F5C"/>
                    </a:solidFill>
                  </a:tcPr>
                </a:tc>
                <a:tc>
                  <a:txBody>
                    <a:bodyPr/>
                    <a:lstStyle/>
                    <a:p>
                      <a:r>
                        <a:rPr sz="1250" b="1" i="0">
                          <a:solidFill>
                            <a:srgbClr val="FFFFFF"/>
                          </a:solidFill>
                          <a:latin typeface="Calibri"/>
                        </a:rPr>
                        <a:t>Age 4</a:t>
                      </a:r>
                    </a:p>
                  </a:txBody>
                  <a:tcPr marL="101600" marR="101600" marT="38100" marB="38100" anchor="ctr">
                    <a:solidFill>
                      <a:srgbClr val="1A0F5C"/>
                    </a:solidFill>
                  </a:tcPr>
                </a:tc>
                <a:tc>
                  <a:txBody>
                    <a:bodyPr/>
                    <a:lstStyle/>
                    <a:p>
                      <a:r>
                        <a:rPr sz="1250" b="1" i="0">
                          <a:solidFill>
                            <a:srgbClr val="FFFFFF"/>
                          </a:solidFill>
                          <a:latin typeface="Calibri"/>
                        </a:rPr>
                        <a:t>Age 5</a:t>
                      </a:r>
                    </a:p>
                  </a:txBody>
                  <a:tcPr marL="101600" marR="101600" marT="38100" marB="38100" anchor="ctr">
                    <a:solidFill>
                      <a:srgbClr val="1A0F5C"/>
                    </a:solidFill>
                  </a:tcPr>
                </a:tc>
              </a:tr>
              <a:tr h="335280">
                <a:tc>
                  <a:txBody>
                    <a:bodyPr/>
                    <a:lstStyle/>
                    <a:p>
                      <a:r>
                        <a:rPr sz="1200" b="0" i="0">
                          <a:solidFill>
                            <a:srgbClr val="1A1440"/>
                          </a:solidFill>
                          <a:latin typeface="Calibri"/>
                        </a:rPr>
                        <a:t>January</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February</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March</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Age is the month minus the joining month, and the joining month is age zero, never counted, so a January joiner's age one is February. At age one the batches keep 8, 7 and 6 of 10: March, best in April, is the weakest at the same age. April's column mixed January at age three, February at age two and March at age one, so its 16 of 30 names no batch.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73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cohort table is a triangle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row stop where it does, and what does one cell mean?</a:t>
            </a:r>
          </a:p>
        </p:txBody>
      </p:sp>
      <p:pic>
        <p:nvPicPr>
          <p:cNvPr id="9" name="mermaid diagram" descr="C2_W04_D04_gym_triangle_STUDENT.png"/>
          <p:cNvPicPr>
            <a:picLocks noChangeAspect="1"/>
          </p:cNvPicPr>
          <p:nvPr/>
        </p:nvPicPr>
        <p:blipFill>
          <a:blip r:embed="rId4"/>
          <a:stretch>
            <a:fillRect/>
          </a:stretch>
        </p:blipFill>
        <p:spPr>
          <a:xfrm>
            <a:off x="2300174" y="1664208"/>
            <a:ext cx="7591346"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gym's cohort table: percent of each batch who visited, by age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Each row is a cohort, everyone who joined in one month, and each column is an age. By June, March's joiners have lived only three ages, so their row is short, and a newer cohort's row is always shorter: that is why a cohort table is a triangle. </a:t>
            </a:r>
            <a:r>
              <a:rPr sz="1600" b="1" i="0">
                <a:solidFill>
                  <a:srgbClr val="1A1440"/>
                </a:solidFill>
                <a:latin typeface="Calibri"/>
              </a:rPr>
              <a:t>Named last, the formula:</a:t>
            </a:r>
            <a:r>
              <a:rPr sz="1600" b="0" i="0">
                <a:solidFill>
                  <a:srgbClr val="1A1440"/>
                </a:solidFill>
                <a:latin typeface="Calibri"/>
              </a:rPr>
              <a:t> retention of cohort c at age k = members of c who visited at age k ÷ the members of c. January at age two: 6 ÷ 10 = 60 percent.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73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pivot_table builds the same triangle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pandas count the triangle from the register?</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PLACE = {"jan": 0, "feb": 1, "mar": 2, "apr": 3, "may": 4, "jun": 5}</a:t>
            </a:r>
          </a:p>
          <a:p>
            <a:pPr>
              <a:spcAft>
                <a:spcPts val="200"/>
              </a:spcAft>
            </a:pPr>
            <a:r>
              <a:rPr sz="1400" b="0" i="0">
                <a:solidFill>
                  <a:srgbClr val="E4E1F1"/>
                </a:solidFill>
                <a:latin typeface="Consolas"/>
              </a:rPr>
              <a:t>long = roster.melt(id_vars=["member_id", "joined"], var_name="month",</a:t>
            </a:r>
          </a:p>
          <a:p>
            <a:pPr>
              <a:spcAft>
                <a:spcPts val="200"/>
              </a:spcAft>
            </a:pPr>
            <a:r>
              <a:rPr sz="1400" b="0" i="0">
                <a:solidFill>
                  <a:srgbClr val="E4E1F1"/>
                </a:solidFill>
                <a:latin typeface="Consolas"/>
              </a:rPr>
              <a:t>                   value_name="visited").dropna()               # one row per member per month</a:t>
            </a:r>
          </a:p>
          <a:p>
            <a:pPr>
              <a:spcAft>
                <a:spcPts val="200"/>
              </a:spcAft>
            </a:pPr>
            <a:r>
              <a:rPr sz="1400" b="0" i="0">
                <a:solidFill>
                  <a:srgbClr val="E4E1F1"/>
                </a:solidFill>
                <a:latin typeface="Consolas"/>
              </a:rPr>
              <a:t>long["age"] = long["month"].map(PLACE) - long["joined"].map(PLACE)   # joining month = age 0</a:t>
            </a:r>
          </a:p>
          <a:p>
            <a:pPr>
              <a:spcAft>
                <a:spcPts val="200"/>
              </a:spcAft>
            </a:pPr>
            <a:r>
              <a:rPr sz="1400" b="0" i="0">
                <a:solidFill>
                  <a:srgbClr val="E4E1F1"/>
                </a:solidFill>
                <a:latin typeface="Consolas"/>
              </a:rPr>
              <a:t>tri = long[long["age"] &gt;= 1].pivot_table(index="joined", columns="age",</a:t>
            </a:r>
          </a:p>
          <a:p>
            <a:pPr>
              <a:spcAft>
                <a:spcPts val="200"/>
              </a:spcAft>
            </a:pPr>
            <a:r>
              <a:rPr sz="1400" b="0" i="0">
                <a:solidFill>
                  <a:srgbClr val="E4E1F1"/>
                </a:solidFill>
                <a:latin typeface="Consolas"/>
              </a:rPr>
              <a:t>                                         values="visited", aggfunc="mean")</a:t>
            </a:r>
          </a:p>
        </p:txBody>
      </p:sp>
      <p:sp>
        <p:nvSpPr>
          <p:cNvPr id="14" name="TextBox 13"/>
          <p:cNvSpPr txBox="1"/>
          <p:nvPr/>
        </p:nvSpPr>
        <p:spPr>
          <a:xfrm>
            <a:off x="530352" y="4093463"/>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is Week 2 Thursday's pivot_table with one new line: age &gt;= 1 keeps month zero out of the table. Each cell is the mean of ones and zeros, which is the share who visited, so the code prints 0.8, 0.6, 0.5, 0.5, 0.5 for January, the row counted by hand.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73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building a cohort table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do every time a retention table is built, and what does an interviewer listen for?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A cohort is everyone who joined in the same month, and a member keeps her cohort for good.</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The joining month is age zero and is never counted; age one is the first full month after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Every cell divides by the whole cohort, never by the members who visited the month before.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Cohorts are compared at the same age, since one calendar month mixes ages and names no cohort.</a:t>
            </a:r>
          </a:p>
        </p:txBody>
      </p:sp>
      <p:sp>
        <p:nvSpPr>
          <p:cNvPr id="17" name="Rounded Rectangle 16"/>
          <p:cNvSpPr/>
          <p:nvPr/>
        </p:nvSpPr>
        <p:spPr>
          <a:xfrm>
            <a:off x="530352" y="383438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941832"/>
          </a:xfrm>
          <a:prstGeom prst="rect">
            <a:avLst/>
          </a:prstGeom>
          <a:noFill/>
        </p:spPr>
        <p:txBody>
          <a:bodyPr wrap="square" anchor="t" lIns="0" rIns="0" tIns="0" bIns="0">
            <a:spAutoFit/>
          </a:bodyPr>
          <a:lstStyle/>
          <a:p>
            <a:r>
              <a:rPr sz="1500" b="0" i="0">
                <a:solidFill>
                  <a:srgbClr val="1A1440"/>
                </a:solidFill>
                <a:latin typeface="Calibri"/>
              </a:rPr>
              <a:t>[S] "Retention dropped; walk me through your investigation." The first move a strong candidate makes: "I'd fix each member's joining month and compare cohorts at the same age before I read any blended number."</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24" name="Oval 2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2" name="Oval 3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4" name="Oval 3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73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Cohort construction feeds three later chapters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a157a661e87e3837.png"/>
          <p:cNvPicPr>
            <a:picLocks noChangeAspect="1"/>
          </p:cNvPicPr>
          <p:nvPr/>
        </p:nvPicPr>
        <p:blipFill>
          <a:blip r:embed="rId5"/>
          <a:stretch>
            <a:fillRect/>
          </a:stretch>
        </p:blipFill>
        <p:spPr>
          <a:xfrm>
            <a:off x="530352" y="2124514"/>
            <a:ext cx="4786326" cy="3633099"/>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Where it shows up. </a:t>
            </a:r>
            <a:r>
              <a:rPr sz="1500" b="0" i="0">
                <a:solidFill>
                  <a:srgbClr val="1A1440"/>
                </a:solidFill>
                <a:latin typeface="Calibri"/>
              </a:rPr>
              <a:t>Swiggy Instamart publishes its cohorts as this same triangle, each cohort's spend set against one cohort's spend in its first quarter, and the table states no denominator (Swiggy's Q2 FY26 shareholder letter, checked 12 October 2026). Before trusting any cohort chart, ask per what.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3" name="Oval 2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5" name="Oval 2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73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Retention curves: shape and floor</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is the floor?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one cohort's row as a curve: how fast it falls in its first months, and the level it stops falling at, on the same gym's three batches.</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73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Retention curves: four questions, one gym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gym's owner, who staffs the floor for the regulars: the level a batch stops falling at says how many joiners became regulars, and a level read too early staffs for members who are about to leave.</a:t>
            </a:r>
          </a:p>
        </p:txBody>
      </p:sp>
      <p:sp>
        <p:nvSpPr>
          <p:cNvPr id="12" name="Rounded Rectangle 11"/>
          <p:cNvSpPr/>
          <p:nvPr/>
        </p:nvSpPr>
        <p:spPr>
          <a:xfrm>
            <a:off x="530352" y="31958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each read off the gym's three batches.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fast does a batch fall?</a:t>
            </a:r>
          </a:p>
        </p:txBody>
      </p:sp>
      <p:sp>
        <p:nvSpPr>
          <p:cNvPr id="20" name="TextBox 19"/>
          <p:cNvSpPr txBox="1"/>
          <p:nvPr/>
        </p:nvSpPr>
        <p:spPr>
          <a:xfrm>
            <a:off x="694944"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curve's shape in its first ages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does it stop falling?</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floor, and churn beside it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When can a floor be called?</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Two ages that read the same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FFFFFF"/>
                </a:solidFill>
                <a:latin typeface="Calibri"/>
              </a:rPr>
              <a:t>Which batch is strongest, fairly?</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same age for all three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8" name="Oval 37"/>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40" name="Oval 3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2" name="Oval 4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January read at age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January's ten joiners read 80, 60 and then 50 percent at ages one to three. What do they read at age five?</a:t>
            </a:r>
          </a:p>
        </p:txBody>
      </p:sp>
      <p:pic>
        <p:nvPicPr>
          <p:cNvPr id="9" name="mermaid diagram" descr="e0e7c3a9cb18e2c3.png"/>
          <p:cNvPicPr>
            <a:picLocks noChangeAspect="1"/>
          </p:cNvPicPr>
          <p:nvPr/>
        </p:nvPicPr>
        <p:blipFill>
          <a:blip r:embed="rId5"/>
          <a:stretch>
            <a:fillRect/>
          </a:stretch>
        </p:blipFill>
        <p:spPr>
          <a:xfrm>
            <a:off x="530352" y="1956816"/>
            <a:ext cx="11130991" cy="915690"/>
          </a:xfrm>
          <a:prstGeom prst="rect">
            <a:avLst/>
          </a:prstGeom>
        </p:spPr>
      </p:pic>
      <p:sp>
        <p:nvSpPr>
          <p:cNvPr id="10" name="TextBox 9"/>
          <p:cNvSpPr txBox="1"/>
          <p:nvPr/>
        </p:nvSpPr>
        <p:spPr>
          <a:xfrm>
            <a:off x="530352" y="3018810"/>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25 percent, the fall carrying on</a:t>
            </a:r>
          </a:p>
          <a:p>
            <a:pPr>
              <a:spcAft>
                <a:spcPts val="800"/>
              </a:spcAft>
            </a:pPr>
            <a:r>
              <a:rPr sz="1600" b="0" i="0">
                <a:solidFill>
                  <a:srgbClr val="1A1440"/>
                </a:solidFill>
                <a:latin typeface="Calibri"/>
              </a:rPr>
              <a:t>b) 50 percent</a:t>
            </a:r>
          </a:p>
          <a:p>
            <a:pPr>
              <a:spcAft>
                <a:spcPts val="800"/>
              </a:spcAft>
            </a:pPr>
            <a:r>
              <a:rPr sz="1600" b="0" i="0">
                <a:solidFill>
                  <a:srgbClr val="1A1440"/>
                </a:solidFill>
                <a:latin typeface="Calibri"/>
              </a:rPr>
              <a:t>c) Under 10 percent</a:t>
            </a:r>
          </a:p>
          <a:p>
            <a:pPr>
              <a:spcAft>
                <a:spcPts val="800"/>
              </a:spcAft>
            </a:pPr>
            <a:r>
              <a:rPr sz="1600" b="0" i="0">
                <a:solidFill>
                  <a:srgbClr val="1A1440"/>
                </a:solidFill>
                <a:latin typeface="Calibri"/>
              </a:rPr>
              <a:t>d) Back up to 80 percent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January holds at 50 from age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three batches' curves look like, and where does each stop falling?</a:t>
            </a:r>
          </a:p>
        </p:txBody>
      </p:sp>
      <p:pic>
        <p:nvPicPr>
          <p:cNvPr id="9" name="mermaid diagram" descr="C2_W04_D04_gym_curves_STUDENT.png"/>
          <p:cNvPicPr>
            <a:picLocks noChangeAspect="1"/>
          </p:cNvPicPr>
          <p:nvPr/>
        </p:nvPicPr>
        <p:blipFill>
          <a:blip r:embed="rId4"/>
          <a:stretch>
            <a:fillRect/>
          </a:stretch>
        </p:blipFill>
        <p:spPr>
          <a:xfrm>
            <a:off x="2959144" y="1664208"/>
            <a:ext cx="6273405"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gym's three batches as curves, with their floors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b: 80, 60, 50, 50, 50. A curve's </a:t>
            </a:r>
            <a:r>
              <a:rPr sz="1600" b="1" i="0">
                <a:solidFill>
                  <a:srgbClr val="1A1440"/>
                </a:solidFill>
                <a:latin typeface="Calibri"/>
              </a:rPr>
              <a:t>shape</a:t>
            </a:r>
            <a:r>
              <a:rPr sz="1600" b="0" i="0">
                <a:solidFill>
                  <a:srgbClr val="1A1440"/>
                </a:solidFill>
                <a:latin typeface="Calibri"/>
              </a:rPr>
              <a:t> is how fast it falls in its first ages: January lost 20 points, then 20, then 10, then none. Its </a:t>
            </a:r>
            <a:r>
              <a:rPr sz="1600" b="1" i="0">
                <a:solidFill>
                  <a:srgbClr val="1A1440"/>
                </a:solidFill>
                <a:latin typeface="Calibri"/>
              </a:rPr>
              <a:t>floor</a:t>
            </a:r>
            <a:r>
              <a:rPr sz="1600" b="0" i="0">
                <a:solidFill>
                  <a:srgbClr val="1A1440"/>
                </a:solidFill>
                <a:latin typeface="Calibri"/>
              </a:rPr>
              <a:t> is the level where it stops falling: January's is 50, the five of ten who made visiting a habit, and February's is 30. March reads 60, 40, 30 and is still falling, so its floor is not known yet.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Churn is the share lost, counted two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January's joiners has stopped by each age, and what share of last month's visitors stopped?</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558991"/>
                <a:gridCol w="914400"/>
                <a:gridCol w="914400"/>
                <a:gridCol w="914400"/>
                <a:gridCol w="914400"/>
                <a:gridCol w="914400"/>
              </a:tblGrid>
              <a:tr h="335280">
                <a:tc>
                  <a:txBody>
                    <a:bodyPr/>
                    <a:lstStyle/>
                    <a:p>
                      <a:r>
                        <a:rPr sz="1250" b="1" i="0">
                          <a:solidFill>
                            <a:srgbClr val="FFFFFF"/>
                          </a:solidFill>
                          <a:latin typeface="Calibri"/>
                        </a:rPr>
                        <a:t>January's ten joiners (invented)</a:t>
                      </a:r>
                    </a:p>
                  </a:txBody>
                  <a:tcPr marL="101600" marR="101600" marT="38100" marB="38100" anchor="ctr">
                    <a:solidFill>
                      <a:srgbClr val="1A0F5C"/>
                    </a:solidFill>
                  </a:tcPr>
                </a:tc>
                <a:tc>
                  <a:txBody>
                    <a:bodyPr/>
                    <a:lstStyle/>
                    <a:p>
                      <a:r>
                        <a:rPr sz="1250" b="1" i="0">
                          <a:solidFill>
                            <a:srgbClr val="FFFFFF"/>
                          </a:solidFill>
                          <a:latin typeface="Calibri"/>
                        </a:rPr>
                        <a:t>Age 1</a:t>
                      </a:r>
                    </a:p>
                  </a:txBody>
                  <a:tcPr marL="101600" marR="101600" marT="38100" marB="38100" anchor="ctr">
                    <a:solidFill>
                      <a:srgbClr val="1A0F5C"/>
                    </a:solidFill>
                  </a:tcPr>
                </a:tc>
                <a:tc>
                  <a:txBody>
                    <a:bodyPr/>
                    <a:lstStyle/>
                    <a:p>
                      <a:r>
                        <a:rPr sz="1250" b="1" i="0">
                          <a:solidFill>
                            <a:srgbClr val="FFFFFF"/>
                          </a:solidFill>
                          <a:latin typeface="Calibri"/>
                        </a:rPr>
                        <a:t>Age 2</a:t>
                      </a:r>
                    </a:p>
                  </a:txBody>
                  <a:tcPr marL="101600" marR="101600" marT="38100" marB="38100" anchor="ctr">
                    <a:solidFill>
                      <a:srgbClr val="1A0F5C"/>
                    </a:solidFill>
                  </a:tcPr>
                </a:tc>
                <a:tc>
                  <a:txBody>
                    <a:bodyPr/>
                    <a:lstStyle/>
                    <a:p>
                      <a:r>
                        <a:rPr sz="1250" b="1" i="0">
                          <a:solidFill>
                            <a:srgbClr val="FFFFFF"/>
                          </a:solidFill>
                          <a:latin typeface="Calibri"/>
                        </a:rPr>
                        <a:t>Age 3</a:t>
                      </a:r>
                    </a:p>
                  </a:txBody>
                  <a:tcPr marL="101600" marR="101600" marT="38100" marB="38100" anchor="ctr">
                    <a:solidFill>
                      <a:srgbClr val="1A0F5C"/>
                    </a:solidFill>
                  </a:tcPr>
                </a:tc>
                <a:tc>
                  <a:txBody>
                    <a:bodyPr/>
                    <a:lstStyle/>
                    <a:p>
                      <a:r>
                        <a:rPr sz="1250" b="1" i="0">
                          <a:solidFill>
                            <a:srgbClr val="FFFFFF"/>
                          </a:solidFill>
                          <a:latin typeface="Calibri"/>
                        </a:rPr>
                        <a:t>Age 4</a:t>
                      </a:r>
                    </a:p>
                  </a:txBody>
                  <a:tcPr marL="101600" marR="101600" marT="38100" marB="38100" anchor="ctr">
                    <a:solidFill>
                      <a:srgbClr val="1A0F5C"/>
                    </a:solidFill>
                  </a:tcPr>
                </a:tc>
                <a:tc>
                  <a:txBody>
                    <a:bodyPr/>
                    <a:lstStyle/>
                    <a:p>
                      <a:r>
                        <a:rPr sz="1250" b="1" i="0">
                          <a:solidFill>
                            <a:srgbClr val="FFFFFF"/>
                          </a:solidFill>
                          <a:latin typeface="Calibri"/>
                        </a:rPr>
                        <a:t>Age 5</a:t>
                      </a:r>
                    </a:p>
                  </a:txBody>
                  <a:tcPr marL="101600" marR="101600" marT="38100" marB="38100" anchor="ctr">
                    <a:solidFill>
                      <a:srgbClr val="1A0F5C"/>
                    </a:solidFill>
                  </a:tcPr>
                </a:tc>
              </a:tr>
              <a:tr h="335280">
                <a:tc>
                  <a:txBody>
                    <a:bodyPr/>
                    <a:lstStyle/>
                    <a:p>
                      <a:r>
                        <a:rPr sz="1200" b="0" i="0">
                          <a:solidFill>
                            <a:srgbClr val="1A1440"/>
                          </a:solidFill>
                          <a:latin typeface="Calibri"/>
                        </a:rPr>
                        <a:t>Still visiting, percent of 10</a:t>
                      </a:r>
                    </a:p>
                  </a:txBody>
                  <a:tcPr marL="101600" marR="101600" marT="38100" marB="38100" anchor="ctr">
                    <a:solidFill>
                      <a:srgbClr val="FFFFFF"/>
                    </a:solidFill>
                  </a:tcPr>
                </a:tc>
                <a:tc>
                  <a:txBody>
                    <a:bodyPr/>
                    <a:lstStyle/>
                    <a:p>
                      <a:r>
                        <a:rPr sz="1200" b="0" i="0">
                          <a:solidFill>
                            <a:srgbClr val="1A1440"/>
                          </a:solidFill>
                          <a:latin typeface="Calibri"/>
                        </a:rPr>
                        <a:t>80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Churned so far, percent of 10</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r>
              <a:tr h="335280">
                <a:tc>
                  <a:txBody>
                    <a:bodyPr/>
                    <a:lstStyle/>
                    <a:p>
                      <a:r>
                        <a:rPr sz="1200" b="0" i="0">
                          <a:solidFill>
                            <a:srgbClr val="1A1440"/>
                          </a:solidFill>
                          <a:latin typeface="Calibri"/>
                        </a:rPr>
                        <a:t>Stopped since the month before, percent</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16.7</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Named last. </a:t>
            </a:r>
            <a:r>
              <a:rPr sz="1500" b="0" i="0">
                <a:solidFill>
                  <a:srgbClr val="1A1440"/>
                </a:solidFill>
                <a:latin typeface="Calibri"/>
              </a:rPr>
              <a:t>Churn so far is 100 less the retention. Month-to-month churn divides those who stopped by those still visiting the month before: 2 of 8 at age two, 25 percent. A chart that prints a churn number says which of the two it is.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3" name="Oval 2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5" name="Oval 2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floor needs two ages that read the same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February read 50 at age two; why was that not its floor, and how does code test for one?</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After February's age two, 5 of 10, the owner staffed for a floor of five regulars. Ages three and four read 3 of 10, so the plan counted two regulars too many.</a:t>
            </a:r>
          </a:p>
        </p:txBody>
      </p:sp>
      <p:sp>
        <p:nvSpPr>
          <p:cNvPr id="14" name="Rounded Rectangle 13"/>
          <p:cNvSpPr/>
          <p:nvPr/>
        </p:nvSpPr>
        <p:spPr>
          <a:xfrm>
            <a:off x="530352" y="324307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37108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361944"/>
            <a:ext cx="10564063" cy="624840"/>
          </a:xfrm>
          <a:prstGeom prst="rect">
            <a:avLst/>
          </a:prstGeom>
          <a:noFill/>
        </p:spPr>
        <p:txBody>
          <a:bodyPr wrap="square" anchor="ctr" lIns="0" rIns="0" tIns="0" bIns="0">
            <a:spAutoFit/>
          </a:bodyPr>
          <a:lstStyle/>
          <a:p>
            <a:r>
              <a:rPr sz="1500" b="1">
                <a:solidFill>
                  <a:srgbClr val="5B3FD6"/>
                </a:solidFill>
                <a:latin typeface="Calibri"/>
              </a:rPr>
              <a:t>The rule we use, this programme's own. </a:t>
            </a:r>
            <a:r>
              <a:rPr sz="1500" b="0" i="0">
                <a:solidFill>
                  <a:srgbClr val="1A1440"/>
                </a:solidFill>
                <a:latin typeface="Calibri"/>
              </a:rPr>
              <a:t>Call a floor only when two ages in a row read the same share; until then the curve is still falling.</a:t>
            </a:r>
          </a:p>
        </p:txBody>
      </p:sp>
      <p:sp>
        <p:nvSpPr>
          <p:cNvPr id="17" name="Rounded Rectangle 16"/>
          <p:cNvSpPr/>
          <p:nvPr/>
        </p:nvSpPr>
        <p:spPr>
          <a:xfrm>
            <a:off x="530352" y="4215384"/>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13232" y="434340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68680" y="434340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1024128" y="434340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4671" y="4544568"/>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floor_of(row):                                  # row: shares at ages 1, 2, 3, ...</a:t>
            </a:r>
          </a:p>
          <a:p>
            <a:pPr>
              <a:spcAft>
                <a:spcPts val="200"/>
              </a:spcAft>
            </a:pPr>
            <a:r>
              <a:rPr sz="1400" b="0" i="0">
                <a:solidFill>
                  <a:srgbClr val="E4E1F1"/>
                </a:solidFill>
                <a:latin typeface="Consolas"/>
              </a:rPr>
              <a:t>    pairs = zip(row, row[1:])</a:t>
            </a:r>
          </a:p>
          <a:p>
            <a:pPr>
              <a:spcAft>
                <a:spcPts val="200"/>
              </a:spcAft>
            </a:pPr>
            <a:r>
              <a:rPr sz="1400" b="0" i="0">
                <a:solidFill>
                  <a:srgbClr val="E4E1F1"/>
                </a:solidFill>
                <a:latin typeface="Consolas"/>
              </a:rPr>
              <a:t>    return next((a for a, b in pairs if a == b), None)  # None: still falling</a:t>
            </a:r>
          </a:p>
          <a:p>
            <a:pPr>
              <a:spcAft>
                <a:spcPts val="200"/>
              </a:spcAft>
            </a:pPr>
            <a:r>
              <a:rPr sz="1400" b="0" i="0">
                <a:solidFill>
                  <a:srgbClr val="A9A3D2"/>
                </a:solidFill>
                <a:latin typeface="Consolas"/>
              </a:rPr>
              <a:t># floor_of([0.8, 0.6, 0.5, 0.5, 0.5]) gives 0.5; floor_of([0.6, 0.4, 0.3]) gives None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4" name="Oval 23"/>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2" name="Oval 3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4" name="Oval 3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retention curve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read off every retention curve, and what does an interviewer listen for?</a:t>
            </a:r>
          </a:p>
        </p:txBody>
      </p:sp>
      <p:sp>
        <p:nvSpPr>
          <p:cNvPr id="9" name="TextBox 8"/>
          <p:cNvSpPr txBox="1"/>
          <p:nvPr/>
        </p:nvSpPr>
        <p:spPr>
          <a:xfrm>
            <a:off x="530352" y="192024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956816"/>
            <a:ext cx="10564063" cy="334264"/>
          </a:xfrm>
          <a:prstGeom prst="rect">
            <a:avLst/>
          </a:prstGeom>
          <a:noFill/>
        </p:spPr>
        <p:txBody>
          <a:bodyPr wrap="square" anchor="t" lIns="0" rIns="0" tIns="0" bIns="0">
            <a:spAutoFit/>
          </a:bodyPr>
          <a:lstStyle/>
          <a:p>
            <a:r>
              <a:rPr sz="1300" b="0" i="0">
                <a:solidFill>
                  <a:srgbClr val="1A1440"/>
                </a:solidFill>
                <a:latin typeface="Calibri"/>
              </a:rPr>
              <a:t>A retention curve is one cohort's row of the table, drawn by age.</a:t>
            </a:r>
          </a:p>
        </p:txBody>
      </p:sp>
      <p:sp>
        <p:nvSpPr>
          <p:cNvPr id="11" name="TextBox 10"/>
          <p:cNvSpPr txBox="1"/>
          <p:nvPr/>
        </p:nvSpPr>
        <p:spPr>
          <a:xfrm>
            <a:off x="530352" y="232765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364232"/>
            <a:ext cx="10564063" cy="334264"/>
          </a:xfrm>
          <a:prstGeom prst="rect">
            <a:avLst/>
          </a:prstGeom>
          <a:noFill/>
        </p:spPr>
        <p:txBody>
          <a:bodyPr wrap="square" anchor="t" lIns="0" rIns="0" tIns="0" bIns="0">
            <a:spAutoFit/>
          </a:bodyPr>
          <a:lstStyle/>
          <a:p>
            <a:r>
              <a:rPr sz="1300" b="0" i="0">
                <a:solidFill>
                  <a:srgbClr val="1A1440"/>
                </a:solidFill>
                <a:latin typeface="Calibri"/>
              </a:rPr>
              <a:t>The shape says how fast a cohort leaves, and the floor says how many stay.</a:t>
            </a:r>
          </a:p>
        </p:txBody>
      </p:sp>
      <p:sp>
        <p:nvSpPr>
          <p:cNvPr id="13" name="TextBox 12"/>
          <p:cNvSpPr txBox="1"/>
          <p:nvPr/>
        </p:nvSpPr>
        <p:spPr>
          <a:xfrm>
            <a:off x="530352" y="273507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771648"/>
            <a:ext cx="10564063" cy="334264"/>
          </a:xfrm>
          <a:prstGeom prst="rect">
            <a:avLst/>
          </a:prstGeom>
          <a:noFill/>
        </p:spPr>
        <p:txBody>
          <a:bodyPr wrap="square" anchor="t" lIns="0" rIns="0" tIns="0" bIns="0">
            <a:spAutoFit/>
          </a:bodyPr>
          <a:lstStyle/>
          <a:p>
            <a:r>
              <a:rPr sz="1300" b="0" i="0">
                <a:solidFill>
                  <a:srgbClr val="1A1440"/>
                </a:solidFill>
                <a:latin typeface="Calibri"/>
              </a:rPr>
              <a:t>Cohorts are ranked at the same age, never by the latest calendar month.</a:t>
            </a:r>
          </a:p>
        </p:txBody>
      </p:sp>
      <p:sp>
        <p:nvSpPr>
          <p:cNvPr id="15" name="TextBox 14"/>
          <p:cNvSpPr txBox="1"/>
          <p:nvPr/>
        </p:nvSpPr>
        <p:spPr>
          <a:xfrm>
            <a:off x="530352" y="314248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3179064"/>
            <a:ext cx="10564063" cy="334264"/>
          </a:xfrm>
          <a:prstGeom prst="rect">
            <a:avLst/>
          </a:prstGeom>
          <a:noFill/>
        </p:spPr>
        <p:txBody>
          <a:bodyPr wrap="square" anchor="t" lIns="0" rIns="0" tIns="0" bIns="0">
            <a:spAutoFit/>
          </a:bodyPr>
          <a:lstStyle/>
          <a:p>
            <a:r>
              <a:rPr sz="1300" b="0" i="0">
                <a:solidFill>
                  <a:srgbClr val="1A1440"/>
                </a:solidFill>
                <a:latin typeface="Calibri"/>
              </a:rPr>
              <a:t>A young cohort has no floor yet, since it has not lived the ages that would show one.</a:t>
            </a:r>
          </a:p>
        </p:txBody>
      </p:sp>
      <p:sp>
        <p:nvSpPr>
          <p:cNvPr id="17" name="Rounded Rectangle 16"/>
          <p:cNvSpPr/>
          <p:nvPr/>
        </p:nvSpPr>
        <p:spPr>
          <a:xfrm>
            <a:off x="530352" y="369620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993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03624"/>
            <a:ext cx="237744" cy="237744"/>
          </a:xfrm>
          <a:prstGeom prst="rect">
            <a:avLst/>
          </a:prstGeom>
        </p:spPr>
      </p:pic>
      <p:sp>
        <p:nvSpPr>
          <p:cNvPr id="20" name="TextBox 19"/>
          <p:cNvSpPr txBox="1"/>
          <p:nvPr/>
        </p:nvSpPr>
        <p:spPr>
          <a:xfrm>
            <a:off x="1399031" y="38425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061968"/>
            <a:ext cx="9987991" cy="613664"/>
          </a:xfrm>
          <a:prstGeom prst="rect">
            <a:avLst/>
          </a:prstGeom>
          <a:noFill/>
        </p:spPr>
        <p:txBody>
          <a:bodyPr wrap="square" anchor="t" lIns="0" rIns="0" tIns="0" bIns="0">
            <a:spAutoFit/>
          </a:bodyPr>
          <a:lstStyle/>
          <a:p>
            <a:r>
              <a:rPr sz="1300" b="0" i="0">
                <a:solidFill>
                  <a:srgbClr val="1A1440"/>
                </a:solidFill>
                <a:latin typeface="Calibri"/>
              </a:rPr>
              <a:t>[F] "How would you use cohort analysis to find a retention issue?" Read each cohort's shape and floor, rank cohorts at the same age, and look for the cohort whose curve starts lower or never flattens.</a:t>
            </a:r>
          </a:p>
        </p:txBody>
      </p:sp>
      <p:sp>
        <p:nvSpPr>
          <p:cNvPr id="22" name="TextBox 21"/>
          <p:cNvSpPr txBox="1"/>
          <p:nvPr/>
        </p:nvSpPr>
        <p:spPr>
          <a:xfrm>
            <a:off x="530352" y="4913376"/>
            <a:ext cx="11130991"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Blinkit, Eternal's quick-commerce app: in the fourth quarter after joining, 46 percent of a cohort's customers still ordered, on average, and the cohort's order value was 150 percent of its first quarter's (Eternal's Q1 FY27 letter of 22 July 2026, checked 12 October 2026). The customers above the floor carry the business.</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5" name="Oval 2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27" name="Oval 2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9" name="Oval 2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1" name="Oval 3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3" name="Oval 3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5" name="Oval 3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floor feeds the blend and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f65ccaf1c3fb48ed.png"/>
          <p:cNvPicPr>
            <a:picLocks noChangeAspect="1"/>
          </p:cNvPicPr>
          <p:nvPr/>
        </p:nvPicPr>
        <p:blipFill>
          <a:blip r:embed="rId5"/>
          <a:stretch>
            <a:fillRect/>
          </a:stretch>
        </p:blipFill>
        <p:spPr>
          <a:xfrm>
            <a:off x="3404790" y="1664208"/>
            <a:ext cx="5382113"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Rank at the same age, read the floor only once two ages agree, and leave a young cohort's floor open.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Blended numbers against cohort truth</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blend made of?</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Rebuild one number over all members as an average weighted by cohort size, and see how a large new cohort holds it flat while the older members fall, on the whole gym's dashboard.</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73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Blended numbers: four questions, one dashboard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gym's owner, who reads one dashboard number each month, the share of members who visited; a flat number read as "nothing changed" leaves a falling cohort with no action.</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from the dashboard's one number down to the cohorts under it.</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February's dashboard read?</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100 older members and 400 January joiners</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are the cohorts doing under it?</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Each cohort's own rate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the dashboard's number made of?</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An average weighted by size</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465836"/>
          </a:xfrm>
          <a:prstGeom prst="rect">
            <a:avLst/>
          </a:prstGeom>
          <a:noFill/>
        </p:spPr>
        <p:txBody>
          <a:bodyPr wrap="square" anchor="t" lIns="0" rIns="0" tIns="0" bIns="0">
            <a:spAutoFit/>
          </a:bodyPr>
          <a:lstStyle/>
          <a:p>
            <a:pPr algn="l"/>
            <a:r>
              <a:rPr sz="1300" b="1" i="0">
                <a:solidFill>
                  <a:srgbClr val="FFFFFF"/>
                </a:solidFill>
                <a:latin typeface="Calibri"/>
              </a:rPr>
              <a:t>Which quick average is wrong?</a:t>
            </a:r>
          </a:p>
        </p:txBody>
      </p:sp>
      <p:sp>
        <p:nvSpPr>
          <p:cNvPr id="35" name="TextBox 34"/>
          <p:cNvSpPr txBox="1"/>
          <p:nvPr/>
        </p:nvSpPr>
        <p:spPr>
          <a:xfrm>
            <a:off x="9180347" y="51704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plain mean of the rates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8" name="Oval 3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0" name="Oval 39"/>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42" name="Oval 4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February's dashboard read?</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dashboard counts a member from the month after she joins. January read 50 of 100 older members, 50 percent. In February the older members fall to 40 of 100, and the 400 January joiners, in their month one, visit at 52.5 percent. What does February read?</a:t>
            </a:r>
          </a:p>
        </p:txBody>
      </p:sp>
      <p:graphicFrame>
        <p:nvGraphicFramePr>
          <p:cNvPr id="9" name="Table 8"/>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4840171"/>
                <a:gridCol w="4624963"/>
                <a:gridCol w="1665855"/>
              </a:tblGrid>
              <a:tr h="369824">
                <a:tc>
                  <a:txBody>
                    <a:bodyPr/>
                    <a:lstStyle/>
                    <a:p>
                      <a:r>
                        <a:rPr sz="1450" b="1" i="0">
                          <a:solidFill>
                            <a:srgbClr val="FFFFFF"/>
                          </a:solidFill>
                          <a:latin typeface="Calibri"/>
                        </a:rPr>
                        <a:t>The gym's dashboard (invented)</a:t>
                      </a:r>
                    </a:p>
                  </a:txBody>
                  <a:tcPr marL="101600" marR="101600" marT="38100" marB="38100" anchor="ctr">
                    <a:solidFill>
                      <a:srgbClr val="1A0F5C"/>
                    </a:solidFill>
                  </a:tcPr>
                </a:tc>
                <a:tc>
                  <a:txBody>
                    <a:bodyPr/>
                    <a:lstStyle/>
                    <a:p>
                      <a:r>
                        <a:rPr sz="1450" b="1" i="0">
                          <a:solidFill>
                            <a:srgbClr val="FFFFFF"/>
                          </a:solidFill>
                          <a:latin typeface="Calibri"/>
                        </a:rPr>
                        <a:t>January</a:t>
                      </a:r>
                    </a:p>
                  </a:txBody>
                  <a:tcPr marL="101600" marR="101600" marT="38100" marB="38100" anchor="ctr">
                    <a:solidFill>
                      <a:srgbClr val="1A0F5C"/>
                    </a:solidFill>
                  </a:tcPr>
                </a:tc>
                <a:tc>
                  <a:txBody>
                    <a:bodyPr/>
                    <a:lstStyle/>
                    <a:p>
                      <a:r>
                        <a:rPr sz="1450" b="1" i="0">
                          <a:solidFill>
                            <a:srgbClr val="FFFFFF"/>
                          </a:solidFill>
                          <a:latin typeface="Calibri"/>
                        </a:rPr>
                        <a:t>February</a:t>
                      </a:r>
                    </a:p>
                  </a:txBody>
                  <a:tcPr marL="101600" marR="101600" marT="38100" marB="38100" anchor="ctr">
                    <a:solidFill>
                      <a:srgbClr val="1A0F5C"/>
                    </a:solidFill>
                  </a:tcPr>
                </a:tc>
              </a:tr>
              <a:tr h="369824">
                <a:tc>
                  <a:txBody>
                    <a:bodyPr/>
                    <a:lstStyle/>
                    <a:p>
                      <a:r>
                        <a:rPr sz="1400" b="0" i="0">
                          <a:solidFill>
                            <a:srgbClr val="1A1440"/>
                          </a:solidFill>
                          <a:latin typeface="Calibri"/>
                        </a:rPr>
                        <a:t>Older members, joined before 2026</a:t>
                      </a:r>
                    </a:p>
                  </a:txBody>
                  <a:tcPr marL="101600" marR="101600" marT="38100" marB="38100" anchor="ctr">
                    <a:solidFill>
                      <a:srgbClr val="FFFFFF"/>
                    </a:solidFill>
                  </a:tcPr>
                </a:tc>
                <a:tc>
                  <a:txBody>
                    <a:bodyPr/>
                    <a:lstStyle/>
                    <a:p>
                      <a:r>
                        <a:rPr sz="1400" b="0" i="0">
                          <a:solidFill>
                            <a:srgbClr val="1A1440"/>
                          </a:solidFill>
                          <a:latin typeface="Calibri"/>
                        </a:rPr>
                        <a:t>50 of 100</a:t>
                      </a:r>
                    </a:p>
                  </a:txBody>
                  <a:tcPr marL="101600" marR="101600" marT="38100" marB="38100" anchor="ctr">
                    <a:solidFill>
                      <a:srgbClr val="FFFFFF"/>
                    </a:solidFill>
                  </a:tcPr>
                </a:tc>
                <a:tc>
                  <a:txBody>
                    <a:bodyPr/>
                    <a:lstStyle/>
                    <a:p>
                      <a:r>
                        <a:rPr sz="1400" b="0" i="0">
                          <a:solidFill>
                            <a:srgbClr val="1A1440"/>
                          </a:solidFill>
                          <a:latin typeface="Calibri"/>
                        </a:rPr>
                        <a:t>40 of 100</a:t>
                      </a:r>
                    </a:p>
                  </a:txBody>
                  <a:tcPr marL="101600" marR="101600" marT="38100" marB="38100" anchor="ctr">
                    <a:solidFill>
                      <a:srgbClr val="FFFFFF"/>
                    </a:solidFill>
                  </a:tcPr>
                </a:tc>
              </a:tr>
              <a:tr h="369824">
                <a:tc>
                  <a:txBody>
                    <a:bodyPr/>
                    <a:lstStyle/>
                    <a:p>
                      <a:r>
                        <a:rPr sz="1400" b="0" i="0">
                          <a:solidFill>
                            <a:srgbClr val="1A1440"/>
                          </a:solidFill>
                          <a:latin typeface="Calibri"/>
                        </a:rPr>
                        <a:t>January joiners</a:t>
                      </a:r>
                    </a:p>
                  </a:txBody>
                  <a:tcPr marL="101600" marR="101600" marT="38100" marB="38100" anchor="ctr">
                    <a:solidFill>
                      <a:srgbClr val="F4F2FA"/>
                    </a:solidFill>
                  </a:tcPr>
                </a:tc>
                <a:tc>
                  <a:txBody>
                    <a:bodyPr/>
                    <a:lstStyle/>
                    <a:p>
                      <a:r>
                        <a:rPr sz="1400" b="0" i="0">
                          <a:solidFill>
                            <a:srgbClr val="1A1440"/>
                          </a:solidFill>
                          <a:latin typeface="Calibri"/>
                        </a:rPr>
                        <a:t>their joining month, not counted</a:t>
                      </a:r>
                    </a:p>
                  </a:txBody>
                  <a:tcPr marL="101600" marR="101600" marT="38100" marB="38100" anchor="ctr">
                    <a:solidFill>
                      <a:srgbClr val="F4F2FA"/>
                    </a:solidFill>
                  </a:tcPr>
                </a:tc>
                <a:tc>
                  <a:txBody>
                    <a:bodyPr/>
                    <a:lstStyle/>
                    <a:p>
                      <a:r>
                        <a:rPr sz="1400" b="0" i="0">
                          <a:solidFill>
                            <a:srgbClr val="1A1440"/>
                          </a:solidFill>
                          <a:latin typeface="Calibri"/>
                        </a:rPr>
                        <a:t>210 of 400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falls, because the older members fell</a:t>
            </a:r>
          </a:p>
          <a:p>
            <a:pPr>
              <a:spcAft>
                <a:spcPts val="800"/>
              </a:spcAft>
            </a:pPr>
            <a:r>
              <a:rPr sz="1600" b="0" i="0">
                <a:solidFill>
                  <a:srgbClr val="1A1440"/>
                </a:solidFill>
                <a:latin typeface="Calibri"/>
              </a:rPr>
              <a:t>b) It rises, because 400 members joined</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250 of 500, 50 percent, unmoved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the dashboard stand still while the older members fall ten points?</a:t>
            </a:r>
          </a:p>
        </p:txBody>
      </p:sp>
      <p:pic>
        <p:nvPicPr>
          <p:cNvPr id="9" name="mermaid diagram" descr="C2_W04_D04_gym_dashboard_STUDENT.png"/>
          <p:cNvPicPr>
            <a:picLocks noChangeAspect="1"/>
          </p:cNvPicPr>
          <p:nvPr/>
        </p:nvPicPr>
        <p:blipFill>
          <a:blip r:embed="rId4"/>
          <a:stretch>
            <a:fillRect/>
          </a:stretch>
        </p:blipFill>
        <p:spPr>
          <a:xfrm>
            <a:off x="2959144" y="1664208"/>
            <a:ext cx="6273405"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gym's dashboard holds at 50 while the older members fall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February counts 40 older members plus 210 January joiners who visited: 250 of 500, 50 percent, the same as January's 50 of 100. The older members fell ten points, from 50 to 40 percent, and the one number over everyone did not move, because 400 joiners at their high early rate now carry four votes in five.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blend is an average weighted by size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February's 50 made of, cohort by cohort?</a:t>
            </a:r>
          </a:p>
        </p:txBody>
      </p:sp>
      <p:pic>
        <p:nvPicPr>
          <p:cNvPr id="9" name="mermaid diagram" descr="C2_W04_D04_gym_dashboard_stack_STUDENT.png"/>
          <p:cNvPicPr>
            <a:picLocks noChangeAspect="1"/>
          </p:cNvPicPr>
          <p:nvPr/>
        </p:nvPicPr>
        <p:blipFill>
          <a:blip r:embed="rId4"/>
          <a:stretch>
            <a:fillRect/>
          </a:stretch>
        </p:blipFill>
        <p:spPr>
          <a:xfrm>
            <a:off x="3192823" y="1664208"/>
            <a:ext cx="5806048" cy="2933700"/>
          </a:xfrm>
          <a:prstGeom prst="rect">
            <a:avLst/>
          </a:prstGeom>
        </p:spPr>
      </p:pic>
      <p:sp>
        <p:nvSpPr>
          <p:cNvPr id="10" name="picture caption"/>
          <p:cNvSpPr txBox="1"/>
          <p:nvPr/>
        </p:nvSpPr>
        <p:spPr>
          <a:xfrm>
            <a:off x="530352" y="46344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January and February's counts, stacked by cohort (invented)</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Named last, the formula: </a:t>
            </a:r>
            <a:r>
              <a:rPr sz="1500" b="0" i="0">
                <a:solidFill>
                  <a:srgbClr val="1A1440"/>
                </a:solidFill>
                <a:latin typeface="Calibri"/>
              </a:rPr>
              <a:t>blend = sum of (cohort size × cohort rate) ÷ sum of cohort sizes = (100 × 0.40 + 400 × 0.525) ÷ 500 = (40 + 210) ÷ 500 = 50 percent. Rebuilt from its cohorts, the blend lands on the direct count, 250 of 500; a rebuild that misses the count has left a cohort out or counted one twice.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8" name="Oval 17"/>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2" name="Oval 2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4" name="Oval 23"/>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plain mean of the rates is the wrong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46.25 percent wrong, and how does code catch it?</a:t>
            </a:r>
          </a:p>
        </p:txBody>
      </p:sp>
      <p:sp>
        <p:nvSpPr>
          <p:cNvPr id="9" name="Rounded Rectangle 8"/>
          <p:cNvSpPr/>
          <p:nvPr/>
        </p:nvSpPr>
        <p:spPr>
          <a:xfrm>
            <a:off x="530352" y="195681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1A1440"/>
                </a:solidFill>
                <a:latin typeface="Calibri"/>
              </a:rPr>
              <a:t>Averaging the two rates, (40 + 52.5) ÷ 2 = 46.25 percent, gives 100 older members the same vote as 400 joiners. It is neither the count, 50 percent, nor the older members' own 40, and a report of "46.25 percent, down 3.75 points" describes no group in the gym.</a:t>
            </a:r>
          </a:p>
        </p:txBody>
      </p:sp>
      <p:sp>
        <p:nvSpPr>
          <p:cNvPr id="14" name="Rounded Rectangle 13"/>
          <p:cNvSpPr/>
          <p:nvPr/>
        </p:nvSpPr>
        <p:spPr>
          <a:xfrm>
            <a:off x="530352" y="3502152"/>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13232" y="36301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868680" y="36301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24128" y="36301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04671" y="3831336"/>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feb = dash[(dash["example"] == "gym") &amp; (dash["month"] == "2026-02")]</a:t>
            </a:r>
          </a:p>
          <a:p>
            <a:pPr>
              <a:spcAft>
                <a:spcPts val="200"/>
              </a:spcAft>
            </a:pPr>
            <a:r>
              <a:rPr sz="1400" b="0" i="0">
                <a:solidFill>
                  <a:srgbClr val="E4E1F1"/>
                </a:solidFill>
                <a:latin typeface="Consolas"/>
              </a:rPr>
              <a:t>rate = feb["visited"] / feb["members"]</a:t>
            </a:r>
          </a:p>
          <a:p>
            <a:pPr>
              <a:spcAft>
                <a:spcPts val="200"/>
              </a:spcAft>
            </a:pPr>
            <a:r>
              <a:rPr sz="1400" b="0" i="0">
                <a:solidFill>
                  <a:srgbClr val="E4E1F1"/>
                </a:solidFill>
                <a:latin typeface="Consolas"/>
              </a:rPr>
              <a:t>direct = feb["visited"].sum() / feb["members"].sum()                  # 250 / 500 = 0.50</a:t>
            </a:r>
          </a:p>
          <a:p>
            <a:pPr>
              <a:spcAft>
                <a:spcPts val="200"/>
              </a:spcAft>
            </a:pPr>
            <a:r>
              <a:rPr sz="1400" b="0" i="0">
                <a:solidFill>
                  <a:srgbClr val="E4E1F1"/>
                </a:solidFill>
                <a:latin typeface="Consolas"/>
              </a:rPr>
              <a:t>weighted = (feb["members"] * rate).sum() / feb["members"].sum()      # equals direct</a:t>
            </a:r>
          </a:p>
          <a:p>
            <a:pPr>
              <a:spcAft>
                <a:spcPts val="200"/>
              </a:spcAft>
            </a:pPr>
            <a:r>
              <a:rPr sz="1400" b="0" i="0">
                <a:solidFill>
                  <a:srgbClr val="E4E1F1"/>
                </a:solidFill>
                <a:latin typeface="Consolas"/>
              </a:rPr>
              <a:t>plain = rate.mean()                                                  # 0.4625, one vote each</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3" name="Oval 22"/>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7" name="Oval 2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9" name="Oval 28"/>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1" name="Oval 30"/>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blended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do before believing one number over many cohorts?</a:t>
            </a:r>
          </a:p>
        </p:txBody>
      </p:sp>
      <p:sp>
        <p:nvSpPr>
          <p:cNvPr id="9" name="TextBox 8"/>
          <p:cNvSpPr txBox="1"/>
          <p:nvPr/>
        </p:nvSpPr>
        <p:spPr>
          <a:xfrm>
            <a:off x="530352" y="184150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878076"/>
            <a:ext cx="10564063" cy="334264"/>
          </a:xfrm>
          <a:prstGeom prst="rect">
            <a:avLst/>
          </a:prstGeom>
          <a:noFill/>
        </p:spPr>
        <p:txBody>
          <a:bodyPr wrap="square" anchor="t" lIns="0" rIns="0" tIns="0" bIns="0">
            <a:spAutoFit/>
          </a:bodyPr>
          <a:lstStyle/>
          <a:p>
            <a:r>
              <a:rPr sz="1300" b="0" i="0">
                <a:solidFill>
                  <a:srgbClr val="1A1440"/>
                </a:solidFill>
                <a:latin typeface="Calibri"/>
              </a:rPr>
              <a:t>A number over several cohorts is their average weighted by cohort size.</a:t>
            </a:r>
          </a:p>
        </p:txBody>
      </p:sp>
      <p:sp>
        <p:nvSpPr>
          <p:cNvPr id="11" name="TextBox 10"/>
          <p:cNvSpPr txBox="1"/>
          <p:nvPr/>
        </p:nvSpPr>
        <p:spPr>
          <a:xfrm>
            <a:off x="530352" y="224891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285492"/>
            <a:ext cx="10564063" cy="334264"/>
          </a:xfrm>
          <a:prstGeom prst="rect">
            <a:avLst/>
          </a:prstGeom>
          <a:noFill/>
        </p:spPr>
        <p:txBody>
          <a:bodyPr wrap="square" anchor="t" lIns="0" rIns="0" tIns="0" bIns="0">
            <a:spAutoFit/>
          </a:bodyPr>
          <a:lstStyle/>
          <a:p>
            <a:r>
              <a:rPr sz="1300" b="0" i="0">
                <a:solidFill>
                  <a:srgbClr val="1A1440"/>
                </a:solidFill>
                <a:latin typeface="Calibri"/>
              </a:rPr>
              <a:t>It moves when the mix of young and old cohorts moves, as well as when behaviour does.</a:t>
            </a:r>
          </a:p>
        </p:txBody>
      </p:sp>
      <p:sp>
        <p:nvSpPr>
          <p:cNvPr id="13" name="TextBox 12"/>
          <p:cNvSpPr txBox="1"/>
          <p:nvPr/>
        </p:nvSpPr>
        <p:spPr>
          <a:xfrm>
            <a:off x="530352" y="265633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692908"/>
            <a:ext cx="10564063" cy="334264"/>
          </a:xfrm>
          <a:prstGeom prst="rect">
            <a:avLst/>
          </a:prstGeom>
          <a:noFill/>
        </p:spPr>
        <p:txBody>
          <a:bodyPr wrap="square" anchor="t" lIns="0" rIns="0" tIns="0" bIns="0">
            <a:spAutoFit/>
          </a:bodyPr>
          <a:lstStyle/>
          <a:p>
            <a:r>
              <a:rPr sz="1300" b="0" i="0">
                <a:solidFill>
                  <a:srgbClr val="1A1440"/>
                </a:solidFill>
                <a:latin typeface="Calibri"/>
              </a:rPr>
              <a:t>Rebuild it from its cohorts, and check the rebuild equals the direct count, before believing it.</a:t>
            </a:r>
          </a:p>
        </p:txBody>
      </p:sp>
      <p:sp>
        <p:nvSpPr>
          <p:cNvPr id="15" name="TextBox 14"/>
          <p:cNvSpPr txBox="1"/>
          <p:nvPr/>
        </p:nvSpPr>
        <p:spPr>
          <a:xfrm>
            <a:off x="530352" y="306374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3100324"/>
            <a:ext cx="10564063" cy="334264"/>
          </a:xfrm>
          <a:prstGeom prst="rect">
            <a:avLst/>
          </a:prstGeom>
          <a:noFill/>
        </p:spPr>
        <p:txBody>
          <a:bodyPr wrap="square" anchor="t" lIns="0" rIns="0" tIns="0" bIns="0">
            <a:spAutoFit/>
          </a:bodyPr>
          <a:lstStyle/>
          <a:p>
            <a:r>
              <a:rPr sz="1300" b="0" i="0">
                <a:solidFill>
                  <a:srgbClr val="1A1440"/>
                </a:solidFill>
                <a:latin typeface="Calibri"/>
              </a:rPr>
              <a:t>A plain mean of cohort rates is never the blend unless every cohort is the same size.</a:t>
            </a:r>
          </a:p>
        </p:txBody>
      </p:sp>
      <p:sp>
        <p:nvSpPr>
          <p:cNvPr id="17" name="Rounded Rectangle 16"/>
          <p:cNvSpPr/>
          <p:nvPr/>
        </p:nvSpPr>
        <p:spPr>
          <a:xfrm>
            <a:off x="530352" y="3617468"/>
            <a:ext cx="11130991" cy="1277112"/>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274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37152"/>
            <a:ext cx="237744" cy="237744"/>
          </a:xfrm>
          <a:prstGeom prst="rect">
            <a:avLst/>
          </a:prstGeom>
        </p:spPr>
      </p:pic>
      <p:sp>
        <p:nvSpPr>
          <p:cNvPr id="20" name="TextBox 19"/>
          <p:cNvSpPr txBox="1"/>
          <p:nvPr/>
        </p:nvSpPr>
        <p:spPr>
          <a:xfrm>
            <a:off x="1399031" y="37637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83228"/>
            <a:ext cx="9987991" cy="838200"/>
          </a:xfrm>
          <a:prstGeom prst="rect">
            <a:avLst/>
          </a:prstGeom>
          <a:noFill/>
        </p:spPr>
        <p:txBody>
          <a:bodyPr wrap="square" anchor="t" lIns="0" rIns="0" tIns="0" bIns="0">
            <a:spAutoFit/>
          </a:bodyPr>
          <a:lstStyle/>
          <a:p>
            <a:r>
              <a:rPr sz="1300" b="0" i="0">
                <a:solidFill>
                  <a:srgbClr val="1A1440"/>
                </a:solidFill>
                <a:latin typeface="Calibri"/>
              </a:rPr>
              <a:t>[F] "Blended retention is flat while every cohort declines; how?" A growing young cohort at its high early rate carries more weight each month, so the average holds while each cohort falls; the fix is to read the cohorts at the same age.</a:t>
            </a:r>
          </a:p>
        </p:txBody>
      </p:sp>
      <p:sp>
        <p:nvSpPr>
          <p:cNvPr id="22" name="TextBox 21"/>
          <p:cNvSpPr txBox="1"/>
          <p:nvPr/>
        </p:nvSpPr>
        <p:spPr>
          <a:xfrm>
            <a:off x="530352" y="5059172"/>
            <a:ext cx="11130991"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Swiggy: users who ordered at least once a month rose 27.4 percent in a year while orders per user fell from 4.13 to 3.87, about 6.3 percent (Swiggy's Q1 FY27 letter, checked 12 October 2026; the 6.3 is our arithmetic). One blended number cannot say whether existing users ordered less or new users ordered little.</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5" name="Oval 2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7" name="Oval 26"/>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29" name="Oval 2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1" name="Oval 3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3" name="Oval 3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5" name="Oval 3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blend is Week 1 Thursday's reversal again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ab32a951257d9e0f.png"/>
          <p:cNvPicPr>
            <a:picLocks noChangeAspect="1"/>
          </p:cNvPicPr>
          <p:nvPr/>
        </p:nvPicPr>
        <p:blipFill>
          <a:blip r:embed="rId5"/>
          <a:stretch>
            <a:fillRect/>
          </a:stretch>
        </p:blipFill>
        <p:spPr>
          <a:xfrm>
            <a:off x="2381078" y="1664208"/>
            <a:ext cx="7429537"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 total that runs against its parts is called Simpson's paradox, after E. H. Simpson's 1951 paper in the Journal of the Royal Statistical Society; a flat blend over falling cohorts is its retention form.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Funnel stages, drop-off, denominators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step owns a loss?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Divide each step by the step before in one named unit, find the step that moved against its own past, and tell a real loss from a step people can skip, on one college's admissions.</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73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four questions, one college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3979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dean of a college (invented), who has one admissions team for one fix this year: a step blamed because it is low sends the team to a step that works. A funnel is a chain of steps people pass through, fewer at each, as every learner here passed through one to be admitted: applied, sat a test, shortlisted, accepted an offer, joined.</a:t>
            </a:r>
          </a:p>
        </p:txBody>
      </p:sp>
      <p:sp>
        <p:nvSpPr>
          <p:cNvPr id="12" name="Rounded Rectangle 11"/>
          <p:cNvSpPr/>
          <p:nvPr/>
        </p:nvSpPr>
        <p:spPr>
          <a:xfrm>
            <a:off x="530352" y="344551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57352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564382"/>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each answered on the college's own counts.</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step owns this cycle's loss?</a:t>
            </a:r>
          </a:p>
        </p:txBody>
      </p:sp>
      <p:sp>
        <p:nvSpPr>
          <p:cNvPr id="20" name="TextBox 19"/>
          <p:cNvSpPr txBox="1"/>
          <p:nvPr/>
        </p:nvSpPr>
        <p:spPr>
          <a:xfrm>
            <a:off x="694944"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Two cycles side by side</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step read?</a:t>
            </a:r>
          </a:p>
        </p:txBody>
      </p:sp>
      <p:sp>
        <p:nvSpPr>
          <p:cNvPr id="25" name="TextBox 24"/>
          <p:cNvSpPr txBox="1"/>
          <p:nvPr/>
        </p:nvSpPr>
        <p:spPr>
          <a:xfrm>
            <a:off x="3523411"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Step rate, drop-off, overall</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step people can skip</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62660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FFFFFF"/>
                </a:solidFill>
                <a:latin typeface="Calibri"/>
              </a:rPr>
              <a:t>Per application or per applicant?</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CFC9EE"/>
                </a:solidFill>
                <a:latin typeface="Calibri"/>
              </a:rPr>
              <a:t>The unit, named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8" name="Oval 3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0" name="Oval 3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2" name="Oval 4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73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step owns this cycle's loss?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Last cycle against this one, at an invented college: which step owns the loss?</a:t>
            </a:r>
          </a:p>
        </p:txBody>
      </p:sp>
      <p:pic>
        <p:nvPicPr>
          <p:cNvPr id="9" name="mermaid diagram" descr="C2_W04_D04_college_funnel_STUDENT.png"/>
          <p:cNvPicPr>
            <a:picLocks noChangeAspect="1"/>
          </p:cNvPicPr>
          <p:nvPr/>
        </p:nvPicPr>
        <p:blipFill>
          <a:blip r:embed="rId4"/>
          <a:stretch>
            <a:fillRect/>
          </a:stretch>
        </p:blipFill>
        <p:spPr>
          <a:xfrm>
            <a:off x="530352" y="2559285"/>
            <a:ext cx="4786326" cy="2239300"/>
          </a:xfrm>
          <a:prstGeom prst="rect">
            <a:avLst/>
          </a:prstGeom>
        </p:spPr>
      </p:pic>
      <p:sp>
        <p:nvSpPr>
          <p:cNvPr id="10" name="picture caption"/>
          <p:cNvSpPr txBox="1"/>
          <p:nvPr/>
        </p:nvSpPr>
        <p:spPr>
          <a:xfrm>
            <a:off x="530352" y="4835162"/>
            <a:ext cx="4786326" cy="524256"/>
          </a:xfrm>
          <a:prstGeom prst="rect">
            <a:avLst/>
          </a:prstGeom>
          <a:noFill/>
        </p:spPr>
        <p:txBody>
          <a:bodyPr wrap="square" anchor="t" lIns="0" rIns="0" tIns="0" bIns="0">
            <a:spAutoFit/>
          </a:bodyPr>
          <a:lstStyle/>
          <a:p>
            <a:pPr algn="ctr"/>
            <a:r>
              <a:rPr sz="1200" b="0" i="0">
                <a:solidFill>
                  <a:srgbClr val="6B6690"/>
                </a:solidFill>
                <a:latin typeface="Calibri"/>
              </a:rPr>
              <a:t>Applications at each stage, last cycle and this cycle (invented)</a:t>
            </a:r>
          </a:p>
        </p:txBody>
      </p:sp>
      <p:sp>
        <p:nvSpPr>
          <p:cNvPr id="11" name="TextBox 10"/>
          <p:cNvSpPr txBox="1"/>
          <p:nvPr/>
        </p:nvSpPr>
        <p:spPr>
          <a:xfrm>
            <a:off x="5761917" y="1956816"/>
            <a:ext cx="5899425"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Shortlisting, the lowest step at 50 percent</a:t>
            </a:r>
          </a:p>
          <a:p>
            <a:pPr>
              <a:spcAft>
                <a:spcPts val="800"/>
              </a:spcAft>
            </a:pPr>
            <a:r>
              <a:rPr sz="1600" b="0" i="0">
                <a:solidFill>
                  <a:srgbClr val="1A1440"/>
                </a:solidFill>
                <a:latin typeface="Calibri"/>
              </a:rPr>
              <a:t>b) Offer acceptance, 90 to 75 percent</a:t>
            </a:r>
          </a:p>
          <a:p>
            <a:pPr>
              <a:spcAft>
                <a:spcPts val="800"/>
              </a:spcAft>
            </a:pPr>
            <a:r>
              <a:rPr sz="1600" b="0" i="0">
                <a:solidFill>
                  <a:srgbClr val="1A1440"/>
                </a:solidFill>
                <a:latin typeface="Calibri"/>
              </a:rPr>
              <a:t>c) Joining, at 80 percent</a:t>
            </a:r>
          </a:p>
          <a:p>
            <a:pPr>
              <a:spcAft>
                <a:spcPts val="800"/>
              </a:spcAft>
            </a:pPr>
            <a:r>
              <a:rPr sz="1600" b="0" i="0">
                <a:solidFill>
                  <a:srgbClr val="1A1440"/>
                </a:solidFill>
                <a:latin typeface="Calibri"/>
              </a:rPr>
              <a:t>d) The test, which 200 applications skip</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73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offer acceptance, the step that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step changed against its own past, and which only looks low?</a:t>
            </a:r>
          </a:p>
        </p:txBody>
      </p:sp>
      <p:pic>
        <p:nvPicPr>
          <p:cNvPr id="9" name="mermaid diagram" descr="C2_W04_D04_college_steps_STUDENT.png"/>
          <p:cNvPicPr>
            <a:picLocks noChangeAspect="1"/>
          </p:cNvPicPr>
          <p:nvPr/>
        </p:nvPicPr>
        <p:blipFill>
          <a:blip r:embed="rId4"/>
          <a:stretch>
            <a:fillRect/>
          </a:stretch>
        </p:blipFill>
        <p:spPr>
          <a:xfrm>
            <a:off x="2479879" y="1664208"/>
            <a:ext cx="723193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step's rate, last cycle and this cycle (invented)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b. Offer acceptance fell from 90 to 75 percent of those shortlisted, and every other step read the same in both cycles. Shortlisting reads 50 percent because the college selects half by design, and it did not move: a low step is a loss only when it moves.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rate, drop-off and overall,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step read this cycle, and how do the steps make the overall?</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4466668"/>
                <a:gridCol w="914400"/>
                <a:gridCol w="1821424"/>
                <a:gridCol w="1695674"/>
                <a:gridCol w="1318423"/>
                <a:gridCol w="914400"/>
              </a:tblGrid>
              <a:tr h="335280">
                <a:tc>
                  <a:txBody>
                    <a:bodyPr/>
                    <a:lstStyle/>
                    <a:p>
                      <a:r>
                        <a:rPr sz="1250" b="1" i="0">
                          <a:solidFill>
                            <a:srgbClr val="FFFFFF"/>
                          </a:solidFill>
                          <a:latin typeface="Calibri"/>
                        </a:rPr>
                        <a:t>This cycle (invented)</a:t>
                      </a:r>
                    </a:p>
                  </a:txBody>
                  <a:tcPr marL="101600" marR="101600" marT="38100" marB="38100" anchor="ctr">
                    <a:solidFill>
                      <a:srgbClr val="1A0F5C"/>
                    </a:solidFill>
                  </a:tcPr>
                </a:tc>
                <a:tc>
                  <a:txBody>
                    <a:bodyPr/>
                    <a:lstStyle/>
                    <a:p>
                      <a:r>
                        <a:rPr sz="1250" b="1" i="0">
                          <a:solidFill>
                            <a:srgbClr val="FFFFFF"/>
                          </a:solidFill>
                          <a:latin typeface="Calibri"/>
                        </a:rPr>
                        <a:t>Applied</a:t>
                      </a:r>
                    </a:p>
                  </a:txBody>
                  <a:tcPr marL="101600" marR="101600" marT="38100" marB="38100" anchor="ctr">
                    <a:solidFill>
                      <a:srgbClr val="1A0F5C"/>
                    </a:solidFill>
                  </a:tcPr>
                </a:tc>
                <a:tc>
                  <a:txBody>
                    <a:bodyPr/>
                    <a:lstStyle/>
                    <a:p>
                      <a:r>
                        <a:rPr sz="1250" b="1" i="0">
                          <a:solidFill>
                            <a:srgbClr val="FFFFFF"/>
                          </a:solidFill>
                          <a:latin typeface="Calibri"/>
                        </a:rPr>
                        <a:t>Sat the test</a:t>
                      </a:r>
                    </a:p>
                  </a:txBody>
                  <a:tcPr marL="101600" marR="101600" marT="38100" marB="38100" anchor="ctr">
                    <a:solidFill>
                      <a:srgbClr val="1A0F5C"/>
                    </a:solidFill>
                  </a:tcPr>
                </a:tc>
                <a:tc>
                  <a:txBody>
                    <a:bodyPr/>
                    <a:lstStyle/>
                    <a:p>
                      <a:r>
                        <a:rPr sz="1250" b="1" i="0">
                          <a:solidFill>
                            <a:srgbClr val="FFFFFF"/>
                          </a:solidFill>
                          <a:latin typeface="Calibri"/>
                        </a:rPr>
                        <a:t>Shortlisted</a:t>
                      </a:r>
                    </a:p>
                  </a:txBody>
                  <a:tcPr marL="101600" marR="101600" marT="38100" marB="38100" anchor="ctr">
                    <a:solidFill>
                      <a:srgbClr val="1A0F5C"/>
                    </a:solidFill>
                  </a:tcPr>
                </a:tc>
                <a:tc>
                  <a:txBody>
                    <a:bodyPr/>
                    <a:lstStyle/>
                    <a:p>
                      <a:r>
                        <a:rPr sz="1250" b="1" i="0">
                          <a:solidFill>
                            <a:srgbClr val="FFFFFF"/>
                          </a:solidFill>
                          <a:latin typeface="Calibri"/>
                        </a:rPr>
                        <a:t>Accepted</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r>
              <a:tr h="335280">
                <a:tc>
                  <a:txBody>
                    <a:bodyPr/>
                    <a:lstStyle/>
                    <a:p>
                      <a:r>
                        <a:rPr sz="1200" b="0" i="0">
                          <a:solidFill>
                            <a:srgbClr val="1A1440"/>
                          </a:solidFill>
                          <a:latin typeface="Calibri"/>
                        </a:rPr>
                        <a:t>Applications</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c>
                  <a:txBody>
                    <a:bodyPr/>
                    <a:lstStyle/>
                    <a:p>
                      <a:r>
                        <a:rPr sz="1200" b="0" i="0">
                          <a:solidFill>
                            <a:srgbClr val="1A1440"/>
                          </a:solidFill>
                          <a:latin typeface="Calibri"/>
                        </a:rPr>
                        <a:t>400</a:t>
                      </a:r>
                    </a:p>
                  </a:txBody>
                  <a:tcPr marL="101600" marR="101600" marT="38100" marB="38100" anchor="ctr">
                    <a:solidFill>
                      <a:srgbClr val="FFFFFF"/>
                    </a:solidFill>
                  </a:tcPr>
                </a:tc>
                <a:tc>
                  <a:txBody>
                    <a:bodyPr/>
                    <a:lstStyle/>
                    <a:p>
                      <a:r>
                        <a:rPr sz="1200" b="0" i="0">
                          <a:solidFill>
                            <a:srgbClr val="1A1440"/>
                          </a:solidFill>
                          <a:latin typeface="Calibri"/>
                        </a:rPr>
                        <a:t>300</a:t>
                      </a:r>
                    </a:p>
                  </a:txBody>
                  <a:tcPr marL="101600" marR="101600" marT="38100" marB="38100" anchor="ctr">
                    <a:solidFill>
                      <a:srgbClr val="FFFFFF"/>
                    </a:solidFill>
                  </a:tcPr>
                </a:tc>
                <a:tc>
                  <a:txBody>
                    <a:bodyPr/>
                    <a:lstStyle/>
                    <a:p>
                      <a:r>
                        <a:rPr sz="1200" b="0" i="0">
                          <a:solidFill>
                            <a:srgbClr val="1A1440"/>
                          </a:solidFill>
                          <a:latin typeface="Calibri"/>
                        </a:rPr>
                        <a:t>240</a:t>
                      </a:r>
                    </a:p>
                  </a:txBody>
                  <a:tcPr marL="101600" marR="101600" marT="38100" marB="38100" anchor="ctr">
                    <a:solidFill>
                      <a:srgbClr val="FFFFFF"/>
                    </a:solidFill>
                  </a:tcPr>
                </a:tc>
              </a:tr>
              <a:tr h="335280">
                <a:tc>
                  <a:txBody>
                    <a:bodyPr/>
                    <a:lstStyle/>
                    <a:p>
                      <a:r>
                        <a:rPr sz="1200" b="0" i="0">
                          <a:solidFill>
                            <a:srgbClr val="1A1440"/>
                          </a:solidFill>
                          <a:latin typeface="Calibri"/>
                        </a:rPr>
                        <a:t>Step rate, percent of the step before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80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75</a:t>
                      </a:r>
                    </a:p>
                  </a:txBody>
                  <a:tcPr marL="101600" marR="101600" marT="38100" marB="38100" anchor="ctr">
                    <a:solidFill>
                      <a:srgbClr val="F4F2FA"/>
                    </a:solidFill>
                  </a:tcPr>
                </a:tc>
                <a:tc>
                  <a:txBody>
                    <a:bodyPr/>
                    <a:lstStyle/>
                    <a:p>
                      <a:r>
                        <a:rPr sz="1200" b="0" i="0">
                          <a:solidFill>
                            <a:srgbClr val="1A1440"/>
                          </a:solidFill>
                          <a:latin typeface="Calibri"/>
                        </a:rPr>
                        <a:t>80</a:t>
                      </a:r>
                    </a:p>
                  </a:txBody>
                  <a:tcPr marL="101600" marR="101600" marT="38100" marB="38100" anchor="ctr">
                    <a:solidFill>
                      <a:srgbClr val="F4F2FA"/>
                    </a:solidFill>
                  </a:tcPr>
                </a:tc>
              </a:tr>
              <a:tr h="335280">
                <a:tc>
                  <a:txBody>
                    <a:bodyPr/>
                    <a:lstStyle/>
                    <a:p>
                      <a:r>
                        <a:rPr sz="1200" b="0" i="0">
                          <a:solidFill>
                            <a:srgbClr val="1A1440"/>
                          </a:solidFill>
                          <a:latin typeface="Calibri"/>
                        </a:rPr>
                        <a:t>Drop-off,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Named last. </a:t>
            </a:r>
            <a:r>
              <a:rPr sz="1500" b="0" i="0">
                <a:solidFill>
                  <a:srgbClr val="1A1440"/>
                </a:solidFill>
                <a:latin typeface="Calibri"/>
              </a:rPr>
              <a:t>Step rate = those who reached a step ÷ those who reached the step before, in one unit. Drop-off = 100 less the step rate. Overall conversion = the last step ÷ the first: 240 ÷ 1,000 = 24 percent this cycle against 28.8 last cycle, and the step rates multiply to it, 0.80 × 0.50 × 0.75 × 0.80 = 0.24.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3" name="Oval 2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5" name="Oval 2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73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step above 100 percent is one people skip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sister programme's test to shortlist read 107 percent, and what does it really read?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311205"/>
                <a:gridCol w="5819785"/>
              </a:tblGrid>
              <a:tr h="369824">
                <a:tc>
                  <a:txBody>
                    <a:bodyPr/>
                    <a:lstStyle/>
                    <a:p>
                      <a:r>
                        <a:rPr sz="1450" b="1" i="0">
                          <a:solidFill>
                            <a:srgbClr val="FFFFFF"/>
                          </a:solidFill>
                          <a:latin typeface="Calibri"/>
                        </a:rPr>
                        <a:t>The sister programme, this cycle (invented)</a:t>
                      </a:r>
                    </a:p>
                  </a:txBody>
                  <a:tcPr marL="101600" marR="101600" marT="38100" marB="38100" anchor="ctr">
                    <a:solidFill>
                      <a:srgbClr val="1A0F5C"/>
                    </a:solidFill>
                  </a:tcPr>
                </a:tc>
                <a:tc>
                  <a:txBody>
                    <a:bodyPr/>
                    <a:lstStyle/>
                    <a:p>
                      <a:r>
                        <a:rPr sz="1450" b="1" i="0">
                          <a:solidFill>
                            <a:srgbClr val="FFFFFF"/>
                          </a:solidFill>
                          <a:latin typeface="Calibri"/>
                        </a:rPr>
                        <a:t>Applications</a:t>
                      </a:r>
                    </a:p>
                  </a:txBody>
                  <a:tcPr marL="101600" marR="101600" marT="38100" marB="38100" anchor="ctr">
                    <a:solidFill>
                      <a:srgbClr val="1A0F5C"/>
                    </a:solidFill>
                  </a:tcPr>
                </a:tc>
              </a:tr>
              <a:tr h="369824">
                <a:tc>
                  <a:txBody>
                    <a:bodyPr/>
                    <a:lstStyle/>
                    <a:p>
                      <a:r>
                        <a:rPr sz="1400" b="0" i="0">
                          <a:solidFill>
                            <a:srgbClr val="1A1440"/>
                          </a:solidFill>
                          <a:latin typeface="Calibri"/>
                        </a:rPr>
                        <a:t>Applied</a:t>
                      </a:r>
                    </a:p>
                  </a:txBody>
                  <a:tcPr marL="101600" marR="101600" marT="38100" marB="38100" anchor="ctr">
                    <a:solidFill>
                      <a:srgbClr val="FFFFFF"/>
                    </a:solidFill>
                  </a:tcPr>
                </a:tc>
                <a:tc>
                  <a:txBody>
                    <a:bodyPr/>
                    <a:lstStyle/>
                    <a:p>
                      <a:r>
                        <a:rPr sz="1400" b="0" i="0">
                          <a:solidFill>
                            <a:srgbClr val="1A1440"/>
                          </a:solidFill>
                          <a:latin typeface="Calibri"/>
                        </a:rPr>
                        <a:t>1,000</a:t>
                      </a:r>
                    </a:p>
                  </a:txBody>
                  <a:tcPr marL="101600" marR="101600" marT="38100" marB="38100" anchor="ctr">
                    <a:solidFill>
                      <a:srgbClr val="FFFFFF"/>
                    </a:solidFill>
                  </a:tcPr>
                </a:tc>
              </a:tr>
              <a:tr h="369824">
                <a:tc>
                  <a:txBody>
                    <a:bodyPr/>
                    <a:lstStyle/>
                    <a:p>
                      <a:r>
                        <a:rPr sz="1400" b="0" i="0">
                          <a:solidFill>
                            <a:srgbClr val="1A1440"/>
                          </a:solidFill>
                          <a:latin typeface="Calibri"/>
                        </a:rPr>
                        <a:t>Sat the optional test</a:t>
                      </a:r>
                    </a:p>
                  </a:txBody>
                  <a:tcPr marL="101600" marR="101600" marT="38100" marB="38100" anchor="ctr">
                    <a:solidFill>
                      <a:srgbClr val="F4F2FA"/>
                    </a:solidFill>
                  </a:tcPr>
                </a:tc>
                <a:tc>
                  <a:txBody>
                    <a:bodyPr/>
                    <a:lstStyle/>
                    <a:p>
                      <a:r>
                        <a:rPr sz="1400" b="0" i="0">
                          <a:solidFill>
                            <a:srgbClr val="1A1440"/>
                          </a:solidFill>
                          <a:latin typeface="Calibri"/>
                        </a:rPr>
                        <a:t>300</a:t>
                      </a:r>
                    </a:p>
                  </a:txBody>
                  <a:tcPr marL="101600" marR="101600" marT="38100" marB="38100" anchor="ctr">
                    <a:solidFill>
                      <a:srgbClr val="F4F2FA"/>
                    </a:solidFill>
                  </a:tcPr>
                </a:tc>
              </a:tr>
              <a:tr h="369824">
                <a:tc>
                  <a:txBody>
                    <a:bodyPr/>
                    <a:lstStyle/>
                    <a:p>
                      <a:r>
                        <a:rPr sz="1400" b="0" i="0">
                          <a:solidFill>
                            <a:srgbClr val="1A1440"/>
                          </a:solidFill>
                          <a:latin typeface="Calibri"/>
                        </a:rPr>
                        <a:t>Shortlisted</a:t>
                      </a:r>
                    </a:p>
                  </a:txBody>
                  <a:tcPr marL="101600" marR="101600" marT="38100" marB="38100" anchor="ctr">
                    <a:solidFill>
                      <a:srgbClr val="FFFFFF"/>
                    </a:solidFill>
                  </a:tcPr>
                </a:tc>
                <a:tc>
                  <a:txBody>
                    <a:bodyPr/>
                    <a:lstStyle/>
                    <a:p>
                      <a:r>
                        <a:rPr sz="1400" b="0" i="0">
                          <a:solidFill>
                            <a:srgbClr val="1A1440"/>
                          </a:solidFill>
                          <a:latin typeface="Calibri"/>
                        </a:rPr>
                        <a:t>320: 230 who sat the test, 90 on school results alone</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129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522724"/>
            <a:ext cx="237744" cy="237744"/>
          </a:xfrm>
          <a:prstGeom prst="rect">
            <a:avLst/>
          </a:prstGeom>
        </p:spPr>
      </p:pic>
      <p:sp>
        <p:nvSpPr>
          <p:cNvPr id="13" name="TextBox 12"/>
          <p:cNvSpPr txBox="1"/>
          <p:nvPr/>
        </p:nvSpPr>
        <p:spPr>
          <a:xfrm>
            <a:off x="1399031" y="38384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57904"/>
            <a:ext cx="9987991" cy="1459992"/>
          </a:xfrm>
          <a:prstGeom prst="rect">
            <a:avLst/>
          </a:prstGeom>
          <a:noFill/>
        </p:spPr>
        <p:txBody>
          <a:bodyPr wrap="square" anchor="t" lIns="0" rIns="0" tIns="0" bIns="0">
            <a:spAutoFit/>
          </a:bodyPr>
          <a:lstStyle/>
          <a:p>
            <a:r>
              <a:rPr sz="1500" b="0" i="0">
                <a:solidFill>
                  <a:srgbClr val="1A1440"/>
                </a:solidFill>
                <a:latin typeface="Calibri"/>
              </a:rPr>
              <a:t>"Test to shortlist reads 107 percent, our best step": 320 ÷ 300 puts 90 students who never sat the test over the test-takers. A rate above 100 says the numerator holds people who never passed the denominator's step, so the step is one people can skip, and the 107 is an </a:t>
            </a:r>
            <a:r>
              <a:rPr sz="1500" b="1" i="0">
                <a:solidFill>
                  <a:srgbClr val="1A1440"/>
                </a:solidFill>
                <a:latin typeface="Calibri"/>
              </a:rPr>
              <a:t>artefact</a:t>
            </a:r>
            <a:r>
              <a:rPr sz="1500" b="0" i="0">
                <a:solidFill>
                  <a:srgbClr val="1A1440"/>
                </a:solidFill>
                <a:latin typeface="Calibri"/>
              </a:rPr>
              <a:t>, a number made by the way the count is taken. </a:t>
            </a:r>
            <a:r>
              <a:rPr sz="1500" b="1" i="0">
                <a:solidFill>
                  <a:srgbClr val="1A1440"/>
                </a:solidFill>
                <a:latin typeface="Calibri"/>
              </a:rPr>
              <a:t>The fix.</a:t>
            </a:r>
            <a:r>
              <a:rPr sz="1500" b="0" i="0">
                <a:solidFill>
                  <a:srgbClr val="1A1440"/>
                </a:solidFill>
                <a:latin typeface="Calibri"/>
              </a:rPr>
              <a:t> Count the shortlist among those who sat the test: 230 ÷ 300 = 77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73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unit: per application or per applicant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same funnel read counted in people, and how does code read every step?</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cycle's 1,000 applications came from 900 applicants, since some applied in two rounds. The same 240 joiners are 24 percent of applications and 26.7 percent of applicants: a person can try more than once, so a funnel read per person reads at least as high, and a chart names its unit.</a:t>
            </a:r>
          </a:p>
        </p:txBody>
      </p:sp>
      <p:sp>
        <p:nvSpPr>
          <p:cNvPr id="10" name="Rounded Rectangle 9"/>
          <p:cNvSpPr/>
          <p:nvPr/>
        </p:nvSpPr>
        <p:spPr>
          <a:xfrm>
            <a:off x="530352" y="3133344"/>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326136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326136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326136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3462528"/>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STAGES = ["applied", "sat_test", "shortlisted", "accepted", "joined"]</a:t>
            </a:r>
          </a:p>
          <a:p>
            <a:pPr>
              <a:spcAft>
                <a:spcPts val="200"/>
              </a:spcAft>
            </a:pPr>
            <a:r>
              <a:rPr sz="1400" b="0" i="0">
                <a:solidFill>
                  <a:srgbClr val="E4E1F1"/>
                </a:solidFill>
                <a:latin typeface="Consolas"/>
              </a:rPr>
              <a:t>this = adm.query("programme == 'main' and cycle == 2026 and group == 'all'")</a:t>
            </a:r>
          </a:p>
          <a:p>
            <a:pPr>
              <a:spcAft>
                <a:spcPts val="200"/>
              </a:spcAft>
            </a:pPr>
            <a:r>
              <a:rPr sz="1400" b="0" i="0">
                <a:solidFill>
                  <a:srgbClr val="E4E1F1"/>
                </a:solidFill>
                <a:latin typeface="Consolas"/>
              </a:rPr>
              <a:t>for unit, c in this.groupby("unit"):</a:t>
            </a:r>
          </a:p>
          <a:p>
            <a:pPr>
              <a:spcAft>
                <a:spcPts val="200"/>
              </a:spcAft>
            </a:pPr>
            <a:r>
              <a:rPr sz="1400" b="0" i="0">
                <a:solidFill>
                  <a:srgbClr val="E4E1F1"/>
                </a:solidFill>
                <a:latin typeface="Consolas"/>
              </a:rPr>
              <a:t>    c = c.set_index("stage")["count"].reindex(STAGES)</a:t>
            </a:r>
          </a:p>
          <a:p>
            <a:pPr>
              <a:spcAft>
                <a:spcPts val="200"/>
              </a:spcAft>
            </a:pPr>
            <a:r>
              <a:rPr sz="1400" b="0" i="0">
                <a:solidFill>
                  <a:srgbClr val="E4E1F1"/>
                </a:solidFill>
                <a:latin typeface="Consolas"/>
              </a:rPr>
              <a:t>    print(unit, (c / c.shift()).round(3).tolist()[1:], round(c.iloc[-1] / c.iloc[0], 3))</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73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funnel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check at every step, and what does an interviewer listen for?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Each step divides by the step before, in one named unit, and drop-off is 100 less that rate.</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The overall rate divides the last step by the first, and the step rates multiply to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A low step is a loss only when it moves against its own past.</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A rate above 100 percent is a step people can skip, so count only those who passed the step before.</a:t>
            </a:r>
          </a:p>
        </p:txBody>
      </p:sp>
      <p:sp>
        <p:nvSpPr>
          <p:cNvPr id="17" name="Rounded Rectangle 16"/>
          <p:cNvSpPr/>
          <p:nvPr/>
        </p:nvSpPr>
        <p:spPr>
          <a:xfrm>
            <a:off x="530352" y="38343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666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7634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682752"/>
          </a:xfrm>
          <a:prstGeom prst="rect">
            <a:avLst/>
          </a:prstGeom>
          <a:noFill/>
        </p:spPr>
        <p:txBody>
          <a:bodyPr wrap="square" anchor="t" lIns="0" rIns="0" tIns="0" bIns="0">
            <a:spAutoFit/>
          </a:bodyPr>
          <a:lstStyle/>
          <a:p>
            <a:r>
              <a:rPr sz="1500" b="0" i="0">
                <a:solidFill>
                  <a:srgbClr val="1A1440"/>
                </a:solidFill>
                <a:latin typeface="Calibri"/>
              </a:rPr>
              <a:t>[D] "The team that owns the step says it is fine; what do you bring?" The step's rate against its own past, split by group and date, in a named unit, with a step beside it that held.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4" name="Oval 2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8" name="Oval 2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2" name="Oval 3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4" name="Oval 3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feeds the case's order flow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07db3aa163b4535d.png"/>
          <p:cNvPicPr>
            <a:picLocks noChangeAspect="1"/>
          </p:cNvPicPr>
          <p:nvPr/>
        </p:nvPicPr>
        <p:blipFill>
          <a:blip r:embed="rId5"/>
          <a:stretch>
            <a:fillRect/>
          </a:stretch>
        </p:blipFill>
        <p:spPr>
          <a:xfrm>
            <a:off x="2152497" y="1797050"/>
            <a:ext cx="7886700" cy="3543300"/>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Four of the five topics are now on the map; SECTIONs 5 to 7 apply them to Zomato Gold in Chennai, and the fifth opens the afternoon.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Cohort construction on twelve Gold members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ticket read in full, the causes listed before any data, and twelve members of the case counted by hand by age, as SECTION 1 counted the gym.</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39 / 73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members: the board, then the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TextBox 11"/>
          <p:cNvSpPr txBox="1"/>
          <p:nvPr/>
        </p:nvSpPr>
        <p:spPr>
          <a:xfrm>
            <a:off x="530352" y="292912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Applies: Cohort construction (SECTION 1).</a:t>
            </a:r>
          </a:p>
        </p:txBody>
      </p:sp>
      <p:sp>
        <p:nvSpPr>
          <p:cNvPr id="13" name="Rectangle 12"/>
          <p:cNvSpPr/>
          <p:nvPr/>
        </p:nvSpPr>
        <p:spPr>
          <a:xfrm>
            <a:off x="1853145" y="411988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43992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5862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topic does each ticket line need?</a:t>
            </a:r>
          </a:p>
        </p:txBody>
      </p:sp>
      <p:sp>
        <p:nvSpPr>
          <p:cNvPr id="18" name="TextBox 17"/>
          <p:cNvSpPr txBox="1"/>
          <p:nvPr/>
        </p:nvSpPr>
        <p:spPr>
          <a:xfrm>
            <a:off x="694944" y="508863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ticket read in full</a:t>
            </a:r>
          </a:p>
        </p:txBody>
      </p:sp>
      <p:sp>
        <p:nvSpPr>
          <p:cNvPr id="19" name="TextBox 18"/>
          <p:cNvSpPr txBox="1"/>
          <p:nvPr/>
        </p:nvSpPr>
        <p:spPr>
          <a:xfrm>
            <a:off x="3358819"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43992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5862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causes could explain it?</a:t>
            </a:r>
          </a:p>
        </p:txBody>
      </p:sp>
      <p:sp>
        <p:nvSpPr>
          <p:cNvPr id="23" name="TextBox 22"/>
          <p:cNvSpPr txBox="1"/>
          <p:nvPr/>
        </p:nvSpPr>
        <p:spPr>
          <a:xfrm>
            <a:off x="3523411" y="5088636"/>
            <a:ext cx="2316403" cy="201676"/>
          </a:xfrm>
          <a:prstGeom prst="rect">
            <a:avLst/>
          </a:prstGeom>
          <a:noFill/>
        </p:spPr>
        <p:txBody>
          <a:bodyPr wrap="square" anchor="t" lIns="0" rIns="0" tIns="0" bIns="0">
            <a:spAutoFit/>
          </a:bodyPr>
          <a:lstStyle/>
          <a:p>
            <a:pPr algn="l"/>
            <a:r>
              <a:rPr sz="1000" b="0" i="0">
                <a:solidFill>
                  <a:srgbClr val="6B6690"/>
                </a:solidFill>
                <a:latin typeface="Calibri"/>
              </a:rPr>
              <a:t>Five causes, each with its test</a:t>
            </a:r>
          </a:p>
        </p:txBody>
      </p:sp>
      <p:sp>
        <p:nvSpPr>
          <p:cNvPr id="24" name="TextBox 23"/>
          <p:cNvSpPr txBox="1"/>
          <p:nvPr/>
        </p:nvSpPr>
        <p:spPr>
          <a:xfrm>
            <a:off x="6187287"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43992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58622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8" name="TextBox 27"/>
          <p:cNvSpPr txBox="1"/>
          <p:nvPr/>
        </p:nvSpPr>
        <p:spPr>
          <a:xfrm>
            <a:off x="6351879" y="5088636"/>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members of the case data, by age</a:t>
            </a:r>
          </a:p>
        </p:txBody>
      </p:sp>
      <p:sp>
        <p:nvSpPr>
          <p:cNvPr id="29" name="TextBox 28"/>
          <p:cNvSpPr txBox="1"/>
          <p:nvPr/>
        </p:nvSpPr>
        <p:spPr>
          <a:xfrm>
            <a:off x="9015755"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40284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43992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586224"/>
            <a:ext cx="2316403" cy="465836"/>
          </a:xfrm>
          <a:prstGeom prst="rect">
            <a:avLst/>
          </a:prstGeom>
          <a:noFill/>
        </p:spPr>
        <p:txBody>
          <a:bodyPr wrap="square" anchor="t" lIns="0" rIns="0" tIns="0" bIns="0">
            <a:spAutoFit/>
          </a:bodyPr>
          <a:lstStyle/>
          <a:p>
            <a:pPr algn="l"/>
            <a:r>
              <a:rPr sz="1300" b="1" i="0">
                <a:solidFill>
                  <a:srgbClr val="FFFFFF"/>
                </a:solidFill>
                <a:latin typeface="Calibri"/>
              </a:rPr>
              <a:t>What does the dashboard count?</a:t>
            </a:r>
          </a:p>
        </p:txBody>
      </p:sp>
      <p:sp>
        <p:nvSpPr>
          <p:cNvPr id="33" name="TextBox 32"/>
          <p:cNvSpPr txBox="1"/>
          <p:nvPr/>
        </p:nvSpPr>
        <p:spPr>
          <a:xfrm>
            <a:off x="9180347" y="5088636"/>
            <a:ext cx="2316403" cy="366776"/>
          </a:xfrm>
          <a:prstGeom prst="rect">
            <a:avLst/>
          </a:prstGeom>
          <a:noFill/>
        </p:spPr>
        <p:txBody>
          <a:bodyPr wrap="square" anchor="t" lIns="0" rIns="0" tIns="0" bIns="0">
            <a:spAutoFit/>
          </a:bodyPr>
          <a:lstStyle/>
          <a:p>
            <a:pPr algn="l"/>
            <a:r>
              <a:rPr sz="1000" b="0" i="0">
                <a:solidFill>
                  <a:srgbClr val="CFC9EE"/>
                </a:solidFill>
                <a:latin typeface="Calibri"/>
              </a:rPr>
              <a:t>The same twelve, the dashboard's way</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6" name="Oval 3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38" name="Oval 3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0" name="Oval 3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2" name="Oval 41"/>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44" name="Oval 43"/>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6" name="Oval 4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73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read in full: each line and its topic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five topics does each line of the ticket need, and where is it answered?</a:t>
            </a:r>
          </a:p>
        </p:txBody>
      </p:sp>
      <p:graphicFrame>
        <p:nvGraphicFramePr>
          <p:cNvPr id="9" name="Table 8"/>
          <p:cNvGraphicFramePr>
            <a:graphicFrameLocks noGrp="1"/>
          </p:cNvGraphicFramePr>
          <p:nvPr/>
        </p:nvGraphicFramePr>
        <p:xfrm>
          <a:off x="530352" y="1956816"/>
          <a:ext cx="11130990" cy="3427984"/>
        </p:xfrm>
        <a:graphic>
          <a:graphicData uri="http://schemas.openxmlformats.org/drawingml/2006/table">
            <a:tbl>
              <a:tblPr firstRow="0" bandRow="0">
                <a:tableStyleId>{2D5ABB26-0587-4C30-8999-92F81FD0307C}</a:tableStyleId>
              </a:tblPr>
              <a:tblGrid>
                <a:gridCol w="4977776"/>
                <a:gridCol w="4640213"/>
                <a:gridCol w="1513001"/>
              </a:tblGrid>
              <a:tr h="369824">
                <a:tc>
                  <a:txBody>
                    <a:bodyPr/>
                    <a:lstStyle/>
                    <a:p>
                      <a:r>
                        <a:rPr sz="1450" b="1" i="0">
                          <a:solidFill>
                            <a:srgbClr val="FFFFFF"/>
                          </a:solidFill>
                          <a:latin typeface="Calibri"/>
                        </a:rPr>
                        <a:t>The ticket says</a:t>
                      </a:r>
                    </a:p>
                  </a:txBody>
                  <a:tcPr marL="101600" marR="101600" marT="38100" marB="38100" anchor="ctr">
                    <a:solidFill>
                      <a:srgbClr val="1A0F5C"/>
                    </a:solidFill>
                  </a:tcPr>
                </a:tc>
                <a:tc>
                  <a:txBody>
                    <a:bodyPr/>
                    <a:lstStyle/>
                    <a:p>
                      <a:r>
                        <a:rPr sz="1450" b="1" i="0">
                          <a:solidFill>
                            <a:srgbClr val="FFFFFF"/>
                          </a:solidFill>
                          <a:latin typeface="Calibri"/>
                        </a:rPr>
                        <a:t>The topic that reads it</a:t>
                      </a:r>
                    </a:p>
                  </a:txBody>
                  <a:tcPr marL="101600" marR="101600" marT="38100" marB="38100" anchor="ctr">
                    <a:solidFill>
                      <a:srgbClr val="1A0F5C"/>
                    </a:solidFill>
                  </a:tcPr>
                </a:tc>
                <a:tc>
                  <a:txBody>
                    <a:bodyPr/>
                    <a:lstStyle/>
                    <a:p>
                      <a:r>
                        <a:rPr sz="1450" b="1" i="0">
                          <a:solidFill>
                            <a:srgbClr val="FFFFFF"/>
                          </a:solidFill>
                          <a:latin typeface="Calibri"/>
                        </a:rPr>
                        <a:t>Answered in</a:t>
                      </a:r>
                    </a:p>
                  </a:txBody>
                  <a:tcPr marL="101600" marR="101600" marT="38100" marB="38100" anchor="ctr">
                    <a:solidFill>
                      <a:srgbClr val="1A0F5C"/>
                    </a:solidFill>
                  </a:tcPr>
                </a:tc>
              </a:tr>
              <a:tr h="611632">
                <a:tc>
                  <a:txBody>
                    <a:bodyPr/>
                    <a:lstStyle/>
                    <a:p>
                      <a:r>
                        <a:rPr sz="1400" b="0" i="0">
                          <a:solidFill>
                            <a:srgbClr val="1A1440"/>
                          </a:solidFill>
                          <a:latin typeface="Calibri"/>
                        </a:rPr>
                        <a:t>Month-two retention flat at 38 percent, June to September</a:t>
                      </a:r>
                    </a:p>
                  </a:txBody>
                  <a:tcPr marL="101600" marR="101600" marT="38100" marB="38100" anchor="ctr">
                    <a:solidFill>
                      <a:srgbClr val="FFFFFF"/>
                    </a:solidFill>
                  </a:tcPr>
                </a:tc>
                <a:tc>
                  <a:txBody>
                    <a:bodyPr/>
                    <a:lstStyle/>
                    <a:p>
                      <a:r>
                        <a:rPr sz="1400" b="0" i="0">
                          <a:solidFill>
                            <a:srgbClr val="1A1440"/>
                          </a:solidFill>
                          <a:latin typeface="Calibri"/>
                        </a:rPr>
                        <a:t>Blended numbers against cohort truth</a:t>
                      </a:r>
                    </a:p>
                  </a:txBody>
                  <a:tcPr marL="101600" marR="101600" marT="38100" marB="38100" anchor="ctr">
                    <a:solidFill>
                      <a:srgbClr val="FFFFFF"/>
                    </a:solidFill>
                  </a:tcPr>
                </a:tc>
                <a:tc>
                  <a:txBody>
                    <a:bodyPr/>
                    <a:lstStyle/>
                    <a:p>
                      <a:r>
                        <a:rPr sz="1400" b="0" i="0">
                          <a:solidFill>
                            <a:srgbClr val="1A1440"/>
                          </a:solidFill>
                          <a:latin typeface="Calibri"/>
                        </a:rPr>
                        <a:t>SECTION 6</a:t>
                      </a:r>
                    </a:p>
                  </a:txBody>
                  <a:tcPr marL="101600" marR="101600" marT="38100" marB="38100" anchor="ctr">
                    <a:solidFill>
                      <a:srgbClr val="FFFFFF"/>
                    </a:solidFill>
                  </a:tcPr>
                </a:tc>
              </a:tr>
              <a:tr h="611632">
                <a:tc>
                  <a:txBody>
                    <a:bodyPr/>
                    <a:lstStyle/>
                    <a:p>
                      <a:r>
                        <a:rPr sz="1400" b="0" i="0">
                          <a:solidFill>
                            <a:srgbClr val="1A1440"/>
                          </a:solidFill>
                          <a:latin typeface="Calibri"/>
                        </a:rPr>
                        <a:t>Month one 58, 56, 55, 53, 52, 50, 49, then 31 percent</a:t>
                      </a:r>
                    </a:p>
                  </a:txBody>
                  <a:tcPr marL="101600" marR="101600" marT="38100" marB="38100" anchor="ctr">
                    <a:solidFill>
                      <a:srgbClr val="F4F2FA"/>
                    </a:solidFill>
                  </a:tcPr>
                </a:tc>
                <a:tc>
                  <a:txBody>
                    <a:bodyPr/>
                    <a:lstStyle/>
                    <a:p>
                      <a:r>
                        <a:rPr sz="1400" b="0" i="0">
                          <a:solidFill>
                            <a:srgbClr val="1A1440"/>
                          </a:solidFill>
                          <a:latin typeface="Calibri"/>
                        </a:rPr>
                        <a:t>Cohort construction; retention curves: shape and floor</a:t>
                      </a:r>
                    </a:p>
                  </a:txBody>
                  <a:tcPr marL="101600" marR="101600" marT="38100" marB="38100" anchor="ctr">
                    <a:solidFill>
                      <a:srgbClr val="F4F2FA"/>
                    </a:solidFill>
                  </a:tcPr>
                </a:tc>
                <a:tc>
                  <a:txBody>
                    <a:bodyPr/>
                    <a:lstStyle/>
                    <a:p>
                      <a:r>
                        <a:rPr sz="1400" b="0" i="0">
                          <a:solidFill>
                            <a:srgbClr val="1A1440"/>
                          </a:solidFill>
                          <a:latin typeface="Calibri"/>
                        </a:rPr>
                        <a:t>SECTIONs 5 and 6</a:t>
                      </a:r>
                    </a:p>
                  </a:txBody>
                  <a:tcPr marL="101600" marR="101600" marT="38100" marB="38100" anchor="ctr">
                    <a:solidFill>
                      <a:srgbClr val="F4F2FA"/>
                    </a:solidFill>
                  </a:tcPr>
                </a:tc>
              </a:tr>
              <a:tr h="611632">
                <a:tc>
                  <a:txBody>
                    <a:bodyPr/>
                    <a:lstStyle/>
                    <a:p>
                      <a:r>
                        <a:rPr sz="1400" b="0" i="0">
                          <a:solidFill>
                            <a:srgbClr val="1A1440"/>
                          </a:solidFill>
                          <a:latin typeface="Calibri"/>
                        </a:rPr>
                        <a:t>Members' add-to-cart to order on Android, 58 to 44 percent after 14 September</a:t>
                      </a:r>
                    </a:p>
                  </a:txBody>
                  <a:tcPr marL="101600" marR="101600" marT="38100" marB="38100" anchor="ctr">
                    <a:solidFill>
                      <a:srgbClr val="FFFFFF"/>
                    </a:solidFill>
                  </a:tcPr>
                </a:tc>
                <a:tc>
                  <a:txBody>
                    <a:bodyPr/>
                    <a:lstStyle/>
                    <a:p>
                      <a:r>
                        <a:rPr sz="1400" b="0" i="0">
                          <a:solidFill>
                            <a:srgbClr val="1A1440"/>
                          </a:solidFill>
                          <a:latin typeface="Calibri"/>
                        </a:rPr>
                        <a:t>Funnel stages, drop-off, denominators</a:t>
                      </a:r>
                    </a:p>
                  </a:txBody>
                  <a:tcPr marL="101600" marR="101600" marT="38100" marB="38100" anchor="ctr">
                    <a:solidFill>
                      <a:srgbClr val="FFFFFF"/>
                    </a:solidFill>
                  </a:tcPr>
                </a:tc>
                <a:tc>
                  <a:txBody>
                    <a:bodyPr/>
                    <a:lstStyle/>
                    <a:p>
                      <a:r>
                        <a:rPr sz="1400" b="0" i="0">
                          <a:solidFill>
                            <a:srgbClr val="1A1440"/>
                          </a:solidFill>
                          <a:latin typeface="Calibri"/>
                        </a:rPr>
                        <a:t>SECTION 7</a:t>
                      </a:r>
                    </a:p>
                  </a:txBody>
                  <a:tcPr marL="101600" marR="101600" marT="38100" marB="38100" anchor="ctr">
                    <a:solidFill>
                      <a:srgbClr val="FFFFFF"/>
                    </a:solidFill>
                  </a:tcPr>
                </a:tc>
              </a:tr>
              <a:tr h="611632">
                <a:tc>
                  <a:txBody>
                    <a:bodyPr/>
                    <a:lstStyle/>
                    <a:p>
                      <a:r>
                        <a:rPr sz="1400" b="0" i="0">
                          <a:solidFill>
                            <a:srgbClr val="1A1440"/>
                          </a:solidFill>
                          <a:latin typeface="Calibri"/>
                        </a:rPr>
                        <a:t>Search to menu view 118 percent; menu to cart 34 per session, 61 per member</a:t>
                      </a:r>
                    </a:p>
                  </a:txBody>
                  <a:tcPr marL="101600" marR="101600" marT="38100" marB="38100" anchor="ctr">
                    <a:solidFill>
                      <a:srgbClr val="F4F2FA"/>
                    </a:solidFill>
                  </a:tcPr>
                </a:tc>
                <a:tc>
                  <a:txBody>
                    <a:bodyPr/>
                    <a:lstStyle/>
                    <a:p>
                      <a:r>
                        <a:rPr sz="1400" b="0" i="0">
                          <a:solidFill>
                            <a:srgbClr val="1A1440"/>
                          </a:solidFill>
                          <a:latin typeface="Calibri"/>
                        </a:rPr>
                        <a:t>Funnel stages, drop-off, denominators</a:t>
                      </a:r>
                    </a:p>
                  </a:txBody>
                  <a:tcPr marL="101600" marR="101600" marT="38100" marB="38100" anchor="ctr">
                    <a:solidFill>
                      <a:srgbClr val="F4F2FA"/>
                    </a:solidFill>
                  </a:tcPr>
                </a:tc>
                <a:tc>
                  <a:txBody>
                    <a:bodyPr/>
                    <a:lstStyle/>
                    <a:p>
                      <a:r>
                        <a:rPr sz="1400" b="0" i="0">
                          <a:solidFill>
                            <a:srgbClr val="1A1440"/>
                          </a:solidFill>
                          <a:latin typeface="Calibri"/>
                        </a:rPr>
                        <a:t>SECTION 7</a:t>
                      </a:r>
                    </a:p>
                  </a:txBody>
                  <a:tcPr marL="101600" marR="101600" marT="38100" marB="38100" anchor="ctr">
                    <a:solidFill>
                      <a:srgbClr val="F4F2FA"/>
                    </a:solidFill>
                  </a:tcPr>
                </a:tc>
              </a:tr>
              <a:tr h="611632">
                <a:tc>
                  <a:txBody>
                    <a:bodyPr/>
                    <a:lstStyle/>
                    <a:p>
                      <a:r>
                        <a:rPr sz="1400" b="0" i="0">
                          <a:solidFill>
                            <a:srgbClr val="1A1440"/>
                          </a:solidFill>
                          <a:latin typeface="Calibri"/>
                        </a:rPr>
                        <a:t>The ask: cohort or everyone, which stage, what first</a:t>
                      </a:r>
                    </a:p>
                  </a:txBody>
                  <a:tcPr marL="101600" marR="101600" marT="38100" marB="38100" anchor="ctr">
                    <a:solidFill>
                      <a:srgbClr val="FFFFFF"/>
                    </a:solidFill>
                  </a:tcPr>
                </a:tc>
                <a:tc>
                  <a:txBody>
                    <a:bodyPr/>
                    <a:lstStyle/>
                    <a:p>
                      <a:r>
                        <a:rPr sz="1400" b="0" i="0">
                          <a:solidFill>
                            <a:srgbClr val="1A1440"/>
                          </a:solidFill>
                          <a:latin typeface="Calibri"/>
                        </a:rPr>
                        <a:t>The fix-first decision and its evidence</a:t>
                      </a:r>
                    </a:p>
                  </a:txBody>
                  <a:tcPr marL="101600" marR="101600" marT="38100" marB="38100" anchor="ctr">
                    <a:solidFill>
                      <a:srgbClr val="FFFFFF"/>
                    </a:solidFill>
                  </a:tcPr>
                </a:tc>
                <a:tc>
                  <a:txBody>
                    <a:bodyPr/>
                    <a:lstStyle/>
                    <a:p>
                      <a:r>
                        <a:rPr sz="1400" b="0" i="0">
                          <a:solidFill>
                            <a:srgbClr val="1A1440"/>
                          </a:solidFill>
                          <a:latin typeface="Calibri"/>
                        </a:rPr>
                        <a:t>SECTIONs 8 and 9</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73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9253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925320"/>
          </a:xfrm>
          <a:prstGeom prst="rect">
            <a:avLst/>
          </a:prstGeom>
          <a:noFill/>
        </p:spPr>
        <p:txBody>
          <a:bodyPr wrap="square" anchor="t" lIns="0" rIns="0" tIns="0" bIns="0">
            <a:spAutoFit/>
          </a:bodyPr>
          <a:lstStyle/>
          <a:p>
            <a:r>
              <a:rPr sz="1400" b="0" i="1">
                <a:solidFill>
                  <a:srgbClr val="1A0F5C"/>
                </a:solidFill>
                <a:latin typeface="Georgia"/>
              </a:rPr>
              <a:t>"It is both, in two numbers that need different fixes. Retention is a cohort problem: the dashboard starts counting at month two, where every cohort lands near 38.5, so it never sees that each new cohort starts lower in month one, and it has not yet counted the 13,000-member August cohort, whose sale-week members kept 20 percent; in October the dashboard drops to about 33. The order loss hits members of every signup month on Android at one step from the 14 September release: of the checkouts started, 72.5 percent ended in an order before and 55 after, about 1,133 to 1,317 orders a week. Fix the Android checkout first; before buying another sale, work out whether this one's members pay back their discount."</a:t>
            </a:r>
          </a:p>
        </p:txBody>
      </p:sp>
      <p:sp>
        <p:nvSpPr>
          <p:cNvPr id="11" name="Rounded Rectangle 10"/>
          <p:cNvSpPr/>
          <p:nvPr/>
        </p:nvSpPr>
        <p:spPr>
          <a:xfrm>
            <a:off x="530352" y="402844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15645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147312"/>
            <a:ext cx="10564063" cy="784860"/>
          </a:xfrm>
          <a:prstGeom prst="rect">
            <a:avLst/>
          </a:prstGeom>
          <a:noFill/>
        </p:spPr>
        <p:txBody>
          <a:bodyPr wrap="square" anchor="ctr" lIns="0" rIns="0" tIns="0" bIns="0">
            <a:spAutoFit/>
          </a:bodyPr>
          <a:lstStyle/>
          <a:p>
            <a:r>
              <a:rPr sz="1300" b="1">
                <a:solidFill>
                  <a:srgbClr val="5B3FD6"/>
                </a:solidFill>
                <a:latin typeface="Calibri"/>
              </a:rPr>
              <a:t>The words. </a:t>
            </a:r>
            <a:r>
              <a:rPr sz="1300" b="0" i="0">
                <a:solidFill>
                  <a:srgbClr val="1A1440"/>
                </a:solidFill>
                <a:latin typeface="Calibri"/>
              </a:rPr>
              <a:t>Month-two retention is the dashboard's name for the share of members two or more months past their signup month who ordered in the month; a member with no order in a month is not retained that month, and she is still a member. A cohort problem sits in some signup months; an everyone problem hits members of every signup month at once.</a:t>
            </a:r>
          </a:p>
        </p:txBody>
      </p:sp>
      <p:sp>
        <p:nvSpPr>
          <p:cNvPr id="14" name="TextBox 13"/>
          <p:cNvSpPr txBox="1"/>
          <p:nvPr/>
        </p:nvSpPr>
        <p:spPr>
          <a:xfrm>
            <a:off x="530352" y="5160772"/>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Each number in that sentence is earned in order: by hand on twelve members, on all 53,089, then on 1,386,235 app events.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73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014ba7b686b01944.png"/>
          <p:cNvPicPr>
            <a:picLocks noChangeAspect="1"/>
          </p:cNvPicPr>
          <p:nvPr/>
        </p:nvPicPr>
        <p:blipFill>
          <a:blip r:embed="rId5"/>
          <a:stretch>
            <a:fillRect/>
          </a:stretch>
        </p:blipFill>
        <p:spPr>
          <a:xfrm>
            <a:off x="530352" y="1956816"/>
            <a:ext cx="11130991" cy="1331913"/>
          </a:xfrm>
          <a:prstGeom prst="rect">
            <a:avLst/>
          </a:prstGeom>
        </p:spPr>
      </p:pic>
      <p:graphicFrame>
        <p:nvGraphicFramePr>
          <p:cNvPr id="10" name="Table 9"/>
          <p:cNvGraphicFramePr>
            <a:graphicFrameLocks noGrp="1"/>
          </p:cNvGraphicFramePr>
          <p:nvPr/>
        </p:nvGraphicFramePr>
        <p:xfrm>
          <a:off x="530352" y="3435033"/>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orders counted a second way, in the order records, against the app's event log</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read at the same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One calendar month read across every cohort: did all of them move at once, on one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73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682496"/>
          <a:ext cx="11130991" cy="30175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ZG39559, ZG40539, ZG41000, ZG41529, ZG42328</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0 each</a:t>
                      </a:r>
                    </a:p>
                  </a:txBody>
                  <a:tcPr marL="101600" marR="101600" marT="38100" marB="38100" anchor="ctr">
                    <a:solidFill>
                      <a:srgbClr val="F4F2FA"/>
                    </a:solidFill>
                  </a:tcPr>
                </a:tc>
              </a:tr>
            </a:tbl>
          </a:graphicData>
        </a:graphic>
      </p:graphicFrame>
      <p:sp>
        <p:nvSpPr>
          <p:cNvPr id="10" name="TextBox 9"/>
          <p:cNvSpPr txBox="1"/>
          <p:nvPr/>
        </p:nvSpPr>
        <p:spPr>
          <a:xfrm>
            <a:off x="530352" y="49560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 as Cohort construction (SECTION 1) set out on the gym.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73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73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0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0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0 percent in month one. Read by age, as Cohort construction (SECTION 1) read the gym, the three groups are comparable at all. The twelve were picked to show the pattern on one card: on all 53,089, May's month one is 52 percent and June's 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73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2 of 12 in both months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73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2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none of them ordered: they are outside its count until October. Counted for everyone, September reads 2 of 12.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73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card showed: fix the entry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22d0f0149a691e4b.png"/>
          <p:cNvPicPr>
            <a:picLocks noChangeAspect="1"/>
          </p:cNvPicPr>
          <p:nvPr/>
        </p:nvPicPr>
        <p:blipFill>
          <a:blip r:embed="rId7"/>
          <a:stretch>
            <a:fillRect/>
          </a:stretch>
        </p:blipFill>
        <p:spPr>
          <a:xfrm>
            <a:off x="780897" y="1883092"/>
            <a:ext cx="10629900" cy="1857375"/>
          </a:xfrm>
          <a:prstGeom prst="rect">
            <a:avLst/>
          </a:prstGeom>
        </p:spPr>
      </p:pic>
      <p:sp>
        <p:nvSpPr>
          <p:cNvPr id="10" name="Rounded Rectangle 9"/>
          <p:cNvSpPr/>
          <p:nvPr/>
        </p:nvSpPr>
        <p:spPr>
          <a:xfrm>
            <a:off x="530352" y="4005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7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31749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70832"/>
            <a:ext cx="9987991" cy="42367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a:t>
            </a:r>
          </a:p>
        </p:txBody>
      </p:sp>
      <p:sp>
        <p:nvSpPr>
          <p:cNvPr id="15" name="Rounded Rectangle 14"/>
          <p:cNvSpPr/>
          <p:nvPr/>
        </p:nvSpPr>
        <p:spPr>
          <a:xfrm>
            <a:off x="530352" y="5032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940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603748"/>
            <a:ext cx="237744" cy="237744"/>
          </a:xfrm>
          <a:prstGeom prst="rect">
            <a:avLst/>
          </a:prstGeom>
        </p:spPr>
      </p:pic>
      <p:sp>
        <p:nvSpPr>
          <p:cNvPr id="18" name="TextBox 17"/>
          <p:cNvSpPr txBox="1"/>
          <p:nvPr/>
        </p:nvSpPr>
        <p:spPr>
          <a:xfrm>
            <a:off x="1399031" y="5178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98008"/>
            <a:ext cx="9987991" cy="941832"/>
          </a:xfrm>
          <a:prstGeom prst="rect">
            <a:avLst/>
          </a:prstGeom>
          <a:noFill/>
        </p:spPr>
        <p:txBody>
          <a:bodyPr wrap="square" anchor="t" lIns="0" rIns="0" tIns="0" bIns="0">
            <a:spAutoFit/>
          </a:bodyPr>
          <a:lstStyle/>
          <a:p>
            <a:r>
              <a:rPr sz="1500" b="0" i="0">
                <a:solidFill>
                  <a:srgbClr val="1A1440"/>
                </a:solidFill>
                <a:latin typeface="Calibri"/>
              </a:rPr>
              <a:t>[F], frequent in GCC (global capability centre) and product-company screens: blended retention is flat while every cohort declines; how? The mix, each cohort's share of the count, changes under the average.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4" name="Oval 2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8" name="Oval 2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0" name="Oval 2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2" name="Oval 3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73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Retention curves and blended numbers on 53,089 members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Every cohort's curve on the full data, the dashboard's flat 38 rebuilt from its cohorts, and the cohort the count leaves out, as SECTIONs 2 and 3 read the gym.</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50 / 73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Applies: Cohort construction (SECTION 1); Retention curves: shape and floor (SECTION 2); Blended numbers against cohort truth (SECTION 3).</a:t>
            </a:r>
          </a:p>
        </p:txBody>
      </p:sp>
      <p:sp>
        <p:nvSpPr>
          <p:cNvPr id="13" name="Rectangle 12"/>
          <p:cNvSpPr/>
          <p:nvPr/>
        </p:nvSpPr>
        <p:spPr>
          <a:xfrm>
            <a:off x="1853145" y="4396232"/>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430479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716272"/>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86257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8" name="TextBox 17"/>
          <p:cNvSpPr txBox="1"/>
          <p:nvPr/>
        </p:nvSpPr>
        <p:spPr>
          <a:xfrm>
            <a:off x="694944" y="5364988"/>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9" name="TextBox 18"/>
          <p:cNvSpPr txBox="1"/>
          <p:nvPr/>
        </p:nvSpPr>
        <p:spPr>
          <a:xfrm>
            <a:off x="3358819"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430479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716272"/>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86257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3" name="TextBox 22"/>
          <p:cNvSpPr txBox="1"/>
          <p:nvPr/>
        </p:nvSpPr>
        <p:spPr>
          <a:xfrm>
            <a:off x="3523411" y="5364988"/>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4" name="TextBox 23"/>
          <p:cNvSpPr txBox="1"/>
          <p:nvPr/>
        </p:nvSpPr>
        <p:spPr>
          <a:xfrm>
            <a:off x="6187287"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430479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716272"/>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86257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8" name="TextBox 27"/>
          <p:cNvSpPr txBox="1"/>
          <p:nvPr/>
        </p:nvSpPr>
        <p:spPr>
          <a:xfrm>
            <a:off x="6351879" y="5364988"/>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9" name="TextBox 28"/>
          <p:cNvSpPr txBox="1"/>
          <p:nvPr/>
        </p:nvSpPr>
        <p:spPr>
          <a:xfrm>
            <a:off x="9015755"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430479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716272"/>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862576"/>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3" name="TextBox 32"/>
          <p:cNvSpPr txBox="1"/>
          <p:nvPr/>
        </p:nvSpPr>
        <p:spPr>
          <a:xfrm>
            <a:off x="9180347" y="5150358"/>
            <a:ext cx="2316403" cy="201676"/>
          </a:xfrm>
          <a:prstGeom prst="rect">
            <a:avLst/>
          </a:prstGeom>
          <a:noFill/>
        </p:spPr>
        <p:txBody>
          <a:bodyPr wrap="square" anchor="t" lIns="0" rIns="0" tIns="0" bIns="0">
            <a:spAutoFit/>
          </a:bodyPr>
          <a:lstStyle/>
          <a:p>
            <a:pPr algn="l"/>
            <a:r>
              <a:rPr sz="1000" b="0" i="0">
                <a:solidFill>
                  <a:srgbClr val="CFC9EE"/>
                </a:solidFill>
                <a:latin typeface="Calibri"/>
              </a:rPr>
              <a:t>The August cohort</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6" name="Oval 3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38" name="Oval 3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0" name="Oval 3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2" name="Oval 4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4" name="Oval 43"/>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46" name="Oval 4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51 / 73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as SECTION 1 built the gym's. After month one, which way does each row run?</a:t>
            </a:r>
          </a:p>
        </p:txBody>
      </p:sp>
      <p:sp>
        <p:nvSpPr>
          <p:cNvPr id="9" name="Rounded Rectangle 8"/>
          <p:cNvSpPr/>
          <p:nvPr/>
        </p:nvSpPr>
        <p:spPr>
          <a:xfrm>
            <a:off x="530352" y="191947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4749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4749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4749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48662"/>
            <a:ext cx="10673791"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mm is member_months; year x 12 + month is a running count, so 2026-09 minus 2026-07 is 2</a:t>
            </a:r>
          </a:p>
          <a:p>
            <a:pPr>
              <a:spcAft>
                <a:spcPts val="200"/>
              </a:spcAft>
            </a:pPr>
            <a:r>
              <a:rPr sz="1400" b="0" i="0">
                <a:solidFill>
                  <a:srgbClr val="E4E1F1"/>
                </a:solidFill>
                <a:latin typeface="Consolas"/>
              </a:rPr>
              <a:t>month_n = mm["month"].str[:4].astype(int) * 12 + mm["month"].str[5:].astype(int)</a:t>
            </a:r>
          </a:p>
          <a:p>
            <a:pPr>
              <a:spcAft>
                <a:spcPts val="200"/>
              </a:spcAft>
            </a:pPr>
            <a:r>
              <a:rPr sz="1400" b="0" i="0">
                <a:solidFill>
                  <a:srgbClr val="E4E1F1"/>
                </a:solidFill>
                <a:latin typeface="Consolas"/>
              </a:rPr>
              <a:t>cohort_n = mm["cohort_month"].str[:4].astype(int) * 12 + mm["cohort_month"].str[5:].astype(int)</a:t>
            </a:r>
          </a:p>
          <a:p>
            <a:pPr>
              <a:spcAft>
                <a:spcPts val="200"/>
              </a:spcAft>
            </a:pPr>
            <a:r>
              <a:rPr sz="1400" b="0" i="0">
                <a:solidFill>
                  <a:srgbClr val="E4E1F1"/>
                </a:solidFill>
                <a:latin typeface="Consolas"/>
              </a:rPr>
              <a:t>mm["age"] = month_n - cohort_n          # month zero is the joining month</a:t>
            </a:r>
          </a:p>
          <a:p>
            <a:pPr>
              <a:spcAft>
                <a:spcPts val="200"/>
              </a:spcAft>
            </a:pPr>
            <a:r>
              <a:rPr sz="1400" b="0" i="0">
                <a:solidFill>
                  <a:srgbClr val="A9A3D2"/>
                </a:solidFill>
                <a:latin typeface="Consolas"/>
              </a:rPr>
              <a:t># active is True or False, so the mean of each cell is a share</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a:t>
            </a:r>
          </a:p>
        </p:txBody>
      </p:sp>
      <p:sp>
        <p:nvSpPr>
          <p:cNvPr id="14" name="TextBox 13"/>
          <p:cNvSpPr txBox="1"/>
          <p:nvPr/>
        </p:nvSpPr>
        <p:spPr>
          <a:xfrm>
            <a:off x="530352" y="4308601"/>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73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932376" y="1664208"/>
            <a:ext cx="632694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then slides about 0.3 points a month: read as in SECTION 2, a cliff after month one and a floor that erodes slowly. What changes from cohort to cohort is month one: 58 percent for January down to 49 for July, and 31 for the 13,000-member August cohort. The dashboard starts at month two, so it never sees the weaker start.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73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August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73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 It counts every member aged two or more, so it is not the table's month-two column.</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30" name="Oval 2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4" name="Oval 3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6" name="Oval 35"/>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8" name="Oval 3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682496"/>
            <a:ext cx="529117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738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38353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048256"/>
            <a:ext cx="4148175" cy="120091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August cohort gets no action, and October's drop arrives as a surprise.</a:t>
            </a:r>
          </a:p>
        </p:txBody>
      </p:sp>
      <p:pic>
        <p:nvPicPr>
          <p:cNvPr id="14" name="mermaid diagram" descr="C2_W04_D04_blend_decomposition_STUDENT.png"/>
          <p:cNvPicPr>
            <a:picLocks noChangeAspect="1"/>
          </p:cNvPicPr>
          <p:nvPr/>
        </p:nvPicPr>
        <p:blipFill>
          <a:blip r:embed="rId5"/>
          <a:stretch>
            <a:fillRect/>
          </a:stretch>
        </p:blipFill>
        <p:spPr>
          <a:xfrm>
            <a:off x="530352" y="3486912"/>
            <a:ext cx="5291175" cy="2346967"/>
          </a:xfrm>
          <a:prstGeom prst="rect">
            <a:avLst/>
          </a:prstGeom>
        </p:spPr>
      </p:pic>
      <p:sp>
        <p:nvSpPr>
          <p:cNvPr id="15" name="picture caption"/>
          <p:cNvSpPr txBox="1"/>
          <p:nvPr/>
        </p:nvSpPr>
        <p:spPr>
          <a:xfrm>
            <a:off x="530352" y="5870455"/>
            <a:ext cx="5291175"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6" name="Rounded Rectangle 15"/>
          <p:cNvSpPr/>
          <p:nvPr/>
        </p:nvSpPr>
        <p:spPr>
          <a:xfrm>
            <a:off x="6370167" y="1682496"/>
            <a:ext cx="5291175"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516471" y="181051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17639" y="1801368"/>
            <a:ext cx="4724247" cy="19583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 blend weighted by cohort size, as Blended numbers against cohort truth (SECTION 3) showed on the gym, and it counts a member only from her second month: each month a new cohort enters at the top while every older one shrinks, and the hatched August cohort is outside the count.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3" name="Oval 2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7" name="Oval 2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9" name="Oval 28"/>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1" name="Oval 30"/>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73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rates rise with youth, from January's 36.9 to June's 38.6 and July's 38.5: the younger cohorts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73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73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2500592" y="1664208"/>
            <a:ext cx="7190509"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the 5,089 who joined in September are in their month zero and in neither count. Counted this way, everyone who joined before the month, the four months read 40.9, 40.0, 39.5 and 35.9: the drop the dashboard hides. Split by how they joined, the 4,973 organic August members kept 49 percent in month one, July's rate; the 8,027 sale-week members kept 20. In October the August cohort enters the dashboard, which drops to about 33 percent.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73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October's dashboard: about 33 percent, worked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dashboard drop to about 33 in October, and what does that estimate assume?</a:t>
            </a:r>
          </a:p>
        </p:txBody>
      </p:sp>
      <p:graphicFrame>
        <p:nvGraphicFramePr>
          <p:cNvPr id="10" name="Table 9"/>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The working</a:t>
                      </a:r>
                    </a:p>
                  </a:txBody>
                  <a:tcPr marL="101600" marR="101600" marT="38100" marB="38100" anchor="ctr">
                    <a:solidFill>
                      <a:srgbClr val="1A0F5C"/>
                    </a:solidFill>
                  </a:tcPr>
                </a:tc>
              </a:tr>
              <a:tr h="611632">
                <a:tc>
                  <a:txBody>
                    <a:bodyPr/>
                    <a:lstStyle/>
                    <a:p>
                      <a:r>
                        <a:rPr sz="1400" b="0" i="0">
                          <a:solidFill>
                            <a:srgbClr val="1A1440"/>
                          </a:solidFill>
                          <a:latin typeface="Calibri"/>
                        </a:rPr>
                        <a:t>The assumption</a:t>
                      </a:r>
                    </a:p>
                  </a:txBody>
                  <a:tcPr marL="101600" marR="101600" marT="38100" marB="38100" anchor="ctr">
                    <a:solidFill>
                      <a:srgbClr val="FFFFFF"/>
                    </a:solidFill>
                  </a:tcPr>
                </a:tc>
                <a:tc>
                  <a:txBody>
                    <a:bodyPr/>
                    <a:lstStyle/>
                    <a:p>
                      <a:r>
                        <a:rPr sz="1400" b="0" i="0">
                          <a:solidFill>
                            <a:srgbClr val="1A1440"/>
                          </a:solidFill>
                          <a:latin typeface="Calibri"/>
                        </a:rPr>
                        <a:t>The August cohort loses the same 10.5 points from month one to month two that July's lost (49 to 38.5)</a:t>
                      </a:r>
                    </a:p>
                  </a:txBody>
                  <a:tcPr marL="101600" marR="101600" marT="38100" marB="38100" anchor="ctr">
                    <a:solidFill>
                      <a:srgbClr val="FFFFFF"/>
                    </a:solidFill>
                  </a:tcPr>
                </a:tc>
              </a:tr>
              <a:tr h="369824">
                <a:tc>
                  <a:txBody>
                    <a:bodyPr/>
                    <a:lstStyle/>
                    <a:p>
                      <a:r>
                        <a:rPr sz="1400" b="0" i="0">
                          <a:solidFill>
                            <a:srgbClr val="1A1440"/>
                          </a:solidFill>
                          <a:latin typeface="Calibri"/>
                        </a:rPr>
                        <a:t>August at month two</a:t>
                      </a:r>
                    </a:p>
                  </a:txBody>
                  <a:tcPr marL="101600" marR="101600" marT="38100" marB="38100" anchor="ctr">
                    <a:solidFill>
                      <a:srgbClr val="F4F2FA"/>
                    </a:solidFill>
                  </a:tcPr>
                </a:tc>
                <a:tc>
                  <a:txBody>
                    <a:bodyPr/>
                    <a:lstStyle/>
                    <a:p>
                      <a:r>
                        <a:rPr sz="1400" b="0" i="0">
                          <a:solidFill>
                            <a:srgbClr val="1A1440"/>
                          </a:solidFill>
                          <a:latin typeface="Calibri"/>
                        </a:rPr>
                        <a:t>31 less 10.5 is about 20.5 percent</a:t>
                      </a:r>
                    </a:p>
                  </a:txBody>
                  <a:tcPr marL="101600" marR="101600" marT="38100" marB="38100" anchor="ctr">
                    <a:solidFill>
                      <a:srgbClr val="F4F2FA"/>
                    </a:solidFill>
                  </a:tcPr>
                </a:tc>
              </a:tr>
              <a:tr h="369824">
                <a:tc>
                  <a:txBody>
                    <a:bodyPr/>
                    <a:lstStyle/>
                    <a:p>
                      <a:r>
                        <a:rPr sz="1400" b="0" i="0">
                          <a:solidFill>
                            <a:srgbClr val="1A1440"/>
                          </a:solidFill>
                          <a:latin typeface="Calibri"/>
                        </a:rPr>
                        <a:t>The older cohorts</a:t>
                      </a:r>
                    </a:p>
                  </a:txBody>
                  <a:tcPr marL="101600" marR="101600" marT="38100" marB="38100" anchor="ctr">
                    <a:solidFill>
                      <a:srgbClr val="FFFFFF"/>
                    </a:solidFill>
                  </a:tcPr>
                </a:tc>
                <a:tc>
                  <a:txBody>
                    <a:bodyPr/>
                    <a:lstStyle/>
                    <a:p>
                      <a:r>
                        <a:rPr sz="1400" b="0" i="0">
                          <a:solidFill>
                            <a:srgbClr val="1A1440"/>
                          </a:solidFill>
                          <a:latin typeface="Calibri"/>
                        </a:rPr>
                        <a:t>Each slides one month further, about 0.3 points</a:t>
                      </a:r>
                    </a:p>
                  </a:txBody>
                  <a:tcPr marL="101600" marR="101600" marT="38100" marB="38100" anchor="ctr">
                    <a:solidFill>
                      <a:srgbClr val="FFFFFF"/>
                    </a:solidFill>
                  </a:tcPr>
                </a:tc>
              </a:tr>
              <a:tr h="369824">
                <a:tc>
                  <a:txBody>
                    <a:bodyPr/>
                    <a:lstStyle/>
                    <a:p>
                      <a:r>
                        <a:rPr sz="1400" b="0" i="0">
                          <a:solidFill>
                            <a:srgbClr val="1A1440"/>
                          </a:solidFill>
                          <a:latin typeface="Calibri"/>
                        </a:rPr>
                        <a:t>October, counted the dashboard's way</a:t>
                      </a:r>
                    </a:p>
                  </a:txBody>
                  <a:tcPr marL="101600" marR="101600" marT="38100" marB="38100" anchor="ctr">
                    <a:solidFill>
                      <a:srgbClr val="F4F2FA"/>
                    </a:solidFill>
                  </a:tcPr>
                </a:tc>
                <a:tc>
                  <a:txBody>
                    <a:bodyPr/>
                    <a:lstStyle/>
                    <a:p>
                      <a:r>
                        <a:rPr sz="1400" b="0" i="0">
                          <a:solidFill>
                            <a:srgbClr val="1A1440"/>
                          </a:solidFill>
                          <a:latin typeface="Calibri"/>
                        </a:rPr>
                        <a:t>About 33 percent, against the 38 printed since June</a:t>
                      </a:r>
                    </a:p>
                  </a:txBody>
                  <a:tcPr marL="101600" marR="101600" marT="38100" marB="38100" anchor="ctr">
                    <a:solidFill>
                      <a:srgbClr val="F4F2FA"/>
                    </a:solidFill>
                  </a:tcPr>
                </a:tc>
              </a:tr>
              <a:tr h="369824">
                <a:tc>
                  <a:txBody>
                    <a:bodyPr/>
                    <a:lstStyle/>
                    <a:p>
                      <a:r>
                        <a:rPr sz="1400" b="0" i="0">
                          <a:solidFill>
                            <a:srgbClr val="1A1440"/>
                          </a:solidFill>
                          <a:latin typeface="Calibri"/>
                        </a:rPr>
                        <a:t>The range</a:t>
                      </a:r>
                    </a:p>
                  </a:txBody>
                  <a:tcPr marL="101600" marR="101600" marT="38100" marB="38100" anchor="ctr">
                    <a:solidFill>
                      <a:srgbClr val="FFFFFF"/>
                    </a:solidFill>
                  </a:tcPr>
                </a:tc>
                <a:tc>
                  <a:txBody>
                    <a:bodyPr/>
                    <a:lstStyle/>
                    <a:p>
                      <a:r>
                        <a:rPr sz="1400" b="0" i="0">
                          <a:solidFill>
                            <a:srgbClr val="1A1440"/>
                          </a:solidFill>
                          <a:latin typeface="Calibri"/>
                        </a:rPr>
                        <a:t>32 to 34 percent for an August month two anywhere from 17 to 24 percent</a:t>
                      </a:r>
                    </a:p>
                  </a:txBody>
                  <a:tcPr marL="101600" marR="101600" marT="38100" marB="38100" anchor="ctr">
                    <a:solidFill>
                      <a:srgbClr val="FFFFFF"/>
                    </a:solidFill>
                  </a:tcPr>
                </a:tc>
              </a:tr>
            </a:tbl>
          </a:graphicData>
        </a:graphic>
      </p:graphicFrame>
      <p:sp>
        <p:nvSpPr>
          <p:cNvPr id="11" name="TextBox 10"/>
          <p:cNvSpPr txBox="1"/>
          <p:nvPr/>
        </p:nvSpPr>
        <p:spPr>
          <a:xfrm>
            <a:off x="530352" y="46736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drop comes from who enters the count; no member has to change what she does in October for it to happen.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60 / 73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Gold's 38 is a weighted average of falling cohorts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5376e803c0ae8a18.png"/>
          <p:cNvPicPr>
            <a:picLocks noChangeAspect="1"/>
          </p:cNvPicPr>
          <p:nvPr/>
        </p:nvPicPr>
        <p:blipFill>
          <a:blip r:embed="rId7"/>
          <a:stretch>
            <a:fillRect/>
          </a:stretch>
        </p:blipFill>
        <p:spPr>
          <a:xfrm>
            <a:off x="1826879" y="1664208"/>
            <a:ext cx="8537935" cy="2295144"/>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4" name="Oval 2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8" name="Oval 2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0" name="Oval 29"/>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2" name="Oval 3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61 / 73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Funnel stages, drop-off, denominators on the event log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Gold's order flow read step over step in a named unit, the step that passes 100 percent, and the fall split by membership, platform and date, as SECTION 4 read the college.</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62 / 73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TextBox 11"/>
          <p:cNvSpPr txBox="1"/>
          <p:nvPr/>
        </p:nvSpPr>
        <p:spPr>
          <a:xfrm>
            <a:off x="530352" y="292912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Applies: Funnel stages, drop-off, denominators (SECTION 4).</a:t>
            </a:r>
          </a:p>
        </p:txBody>
      </p:sp>
      <p:sp>
        <p:nvSpPr>
          <p:cNvPr id="13" name="Rectangle 12"/>
          <p:cNvSpPr/>
          <p:nvPr/>
        </p:nvSpPr>
        <p:spPr>
          <a:xfrm>
            <a:off x="1570299" y="41198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step owns the loss?</a:t>
            </a:r>
          </a:p>
        </p:txBody>
      </p:sp>
      <p:sp>
        <p:nvSpPr>
          <p:cNvPr id="18" name="TextBox 17"/>
          <p:cNvSpPr txBox="1"/>
          <p:nvPr/>
        </p:nvSpPr>
        <p:spPr>
          <a:xfrm>
            <a:off x="694944" y="5088636"/>
            <a:ext cx="1750710" cy="366776"/>
          </a:xfrm>
          <a:prstGeom prst="rect">
            <a:avLst/>
          </a:prstGeom>
          <a:noFill/>
        </p:spPr>
        <p:txBody>
          <a:bodyPr wrap="square" anchor="t" lIns="0" rIns="0" tIns="0" bIns="0">
            <a:spAutoFit/>
          </a:bodyPr>
          <a:lstStyle/>
          <a:p>
            <a:pPr algn="l"/>
            <a:r>
              <a:rPr sz="1000" b="0" i="0">
                <a:solidFill>
                  <a:srgbClr val="6B6690"/>
                </a:solidFill>
                <a:latin typeface="Calibri"/>
              </a:rPr>
              <a:t>Five rates, before any split</a:t>
            </a:r>
          </a:p>
        </p:txBody>
      </p:sp>
      <p:sp>
        <p:nvSpPr>
          <p:cNvPr id="19" name="TextBox 18"/>
          <p:cNvSpPr txBox="1"/>
          <p:nvPr/>
        </p:nvSpPr>
        <p:spPr>
          <a:xfrm>
            <a:off x="2793126"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3" name="TextBox 22"/>
          <p:cNvSpPr txBox="1"/>
          <p:nvPr/>
        </p:nvSpPr>
        <p:spPr>
          <a:xfrm>
            <a:off x="2957718" y="5088636"/>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4" name="TextBox 23"/>
          <p:cNvSpPr txBox="1"/>
          <p:nvPr/>
        </p:nvSpPr>
        <p:spPr>
          <a:xfrm>
            <a:off x="5055900"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8" name="TextBox 27"/>
          <p:cNvSpPr txBox="1"/>
          <p:nvPr/>
        </p:nvSpPr>
        <p:spPr>
          <a:xfrm>
            <a:off x="5220492" y="5088636"/>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9" name="TextBox 28"/>
          <p:cNvSpPr txBox="1"/>
          <p:nvPr/>
        </p:nvSpPr>
        <p:spPr>
          <a:xfrm>
            <a:off x="7318674"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a:t>
            </a:r>
          </a:p>
        </p:txBody>
      </p:sp>
      <p:sp>
        <p:nvSpPr>
          <p:cNvPr id="33" name="TextBox 32"/>
          <p:cNvSpPr txBox="1"/>
          <p:nvPr/>
        </p:nvSpPr>
        <p:spPr>
          <a:xfrm>
            <a:off x="7483266" y="5088636"/>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4" name="TextBox 33"/>
          <p:cNvSpPr txBox="1"/>
          <p:nvPr/>
        </p:nvSpPr>
        <p:spPr>
          <a:xfrm>
            <a:off x="9581448"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40284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439920"/>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586224"/>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8" name="TextBox 37"/>
          <p:cNvSpPr txBox="1"/>
          <p:nvPr/>
        </p:nvSpPr>
        <p:spPr>
          <a:xfrm>
            <a:off x="9746040" y="5088636"/>
            <a:ext cx="1750710" cy="366776"/>
          </a:xfrm>
          <a:prstGeom prst="rect">
            <a:avLst/>
          </a:prstGeom>
          <a:noFill/>
        </p:spPr>
        <p:txBody>
          <a:bodyPr wrap="square" anchor="t" lIns="0" rIns="0" tIns="0" bIns="0">
            <a:spAutoFit/>
          </a:bodyPr>
          <a:lstStyle/>
          <a:p>
            <a:pPr algn="l"/>
            <a:r>
              <a:rPr sz="1000" b="0" i="0">
                <a:solidFill>
                  <a:srgbClr val="CFC9EE"/>
                </a:solidFill>
                <a:latin typeface="Calibri"/>
              </a:rPr>
              <a:t>Seven doubts, each with its check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41" name="Oval 4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3" name="Oval 4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5" name="Oval 4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7" name="Oval 4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9" name="Oval 48"/>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51" name="Oval 50"/>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63 / 73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Open to search, the first step</a:t>
            </a:r>
          </a:p>
          <a:p>
            <a:pPr>
              <a:spcAft>
                <a:spcPts val="800"/>
              </a:spcAft>
            </a:pPr>
            <a:r>
              <a:rPr sz="1600" b="0" i="0">
                <a:solidFill>
                  <a:srgbClr val="1A1440"/>
                </a:solidFill>
                <a:latin typeface="Calibri"/>
              </a:rPr>
              <a:t>d) None, until each step is split by platform and date and set against the weeks before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64 / 73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step owns it until it is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step owns the loss before any split by who, where and when?</a:t>
            </a:r>
          </a:p>
        </p:txBody>
      </p:sp>
      <p:pic>
        <p:nvPicPr>
          <p:cNvPr id="9" name="mermaid diagram" descr="5b5947bd6600826e.png"/>
          <p:cNvPicPr>
            <a:picLocks noChangeAspect="1"/>
          </p:cNvPicPr>
          <p:nvPr/>
        </p:nvPicPr>
        <p:blipFill>
          <a:blip r:embed="rId5"/>
          <a:stretch>
            <a:fillRect/>
          </a:stretch>
        </p:blipFill>
        <p:spPr>
          <a:xfrm>
            <a:off x="965188" y="1664208"/>
            <a:ext cx="10261317" cy="2979928"/>
          </a:xfrm>
          <a:prstGeom prst="rect">
            <a:avLst/>
          </a:prstGeom>
        </p:spPr>
      </p:pic>
      <p:sp>
        <p:nvSpPr>
          <p:cNvPr id="10" name="TextBox 9"/>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d. A low step is a loss only when it moves against its own past, as Funnel stages, drop-off, denominators (SECTION 4) found on the college, where shortlisting read 50 percent in both cycles. Menu view to add-to-cart, at 34 percent, is the lowest step and may be low by design; search to menu view, at 118, is a step members can skip. The loss shows only once a step is split by membership, platform and date.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65 / 73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39036"/>
          <a:ext cx="11130990" cy="1849120"/>
        </p:xfrm>
        <a:graphic>
          <a:graphicData uri="http://schemas.openxmlformats.org/drawingml/2006/table">
            <a:tbl>
              <a:tblPr firstRow="0" bandRow="0">
                <a:tableStyleId>{2D5ABB26-0587-4C30-8999-92F81FD0307C}</a:tableStyleId>
              </a:tblPr>
              <a:tblGrid>
                <a:gridCol w="6604546"/>
                <a:gridCol w="4526444"/>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Sessions with a menu view and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search and a menu view</a:t>
                      </a:r>
                    </a:p>
                  </a:txBody>
                  <a:tcPr marL="101600" marR="101600" marT="38100" marB="38100" anchor="ctr">
                    <a:solidFill>
                      <a:srgbClr val="F4F2FA"/>
                    </a:solidFill>
                  </a:tcPr>
                </a:tc>
                <a:tc>
                  <a:txBody>
                    <a:bodyPr/>
                    <a:lstStyle/>
                    <a:p>
                      <a:r>
                        <a:rPr sz="1400" b="0" i="0">
                          <a:solidFill>
                            <a:srgbClr val="1A1440"/>
                          </a:solidFill>
                          <a:latin typeface="Calibri"/>
                        </a:rPr>
                        <a:t>116,797, which is 89 percent of 131,974</a:t>
                      </a:r>
                    </a:p>
                  </a:txBody>
                  <a:tcPr marL="101600" marR="101600" marT="38100" marB="38100" anchor="ctr">
                    <a:solidFill>
                      <a:srgbClr val="F4F2FA"/>
                    </a:solidFill>
                  </a:tcPr>
                </a:tc>
              </a:tr>
            </a:tbl>
          </a:graphicData>
        </a:graphic>
      </p:graphicFrame>
      <p:sp>
        <p:nvSpPr>
          <p:cNvPr id="10" name="Rounded Rectangle 9"/>
          <p:cNvSpPr/>
          <p:nvPr/>
        </p:nvSpPr>
        <p:spPr>
          <a:xfrm>
            <a:off x="530352" y="4044188"/>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5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874768"/>
            <a:ext cx="237744" cy="237744"/>
          </a:xfrm>
          <a:prstGeom prst="rect">
            <a:avLst/>
          </a:prstGeom>
        </p:spPr>
      </p:pic>
      <p:sp>
        <p:nvSpPr>
          <p:cNvPr id="13" name="TextBox 12"/>
          <p:cNvSpPr txBox="1"/>
          <p:nvPr/>
        </p:nvSpPr>
        <p:spPr>
          <a:xfrm>
            <a:off x="1399031" y="41904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09948"/>
            <a:ext cx="9987991" cy="145999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as the sister programme's optional test was in SECTION 4, and the 118 is an artefact, a number made by the way the count is taken.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66 / 73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67 / 73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427574" y="1664208"/>
            <a:ext cx="7336546"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Every step reads higher per member, since a member who fails in one session can succeed in another; search to menu view still reads 101. This chart pools every platform and all of September, so neither panel shows the ticket's loss: the split by platform and date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68 / 73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69 / 73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3035838" y="1664208"/>
            <a:ext cx="6120017"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about 58 in each of the seven weeks before the release, then 45, 43 and 44. Members on iOS: 57 to 56. Non-members on Android: 52 to 51. Moving the cut a week either way keeps the fall, 58 to 47 with the cut on 7 September and 56 to 43 on 21 September, so the fall does not depend on where the line is drawn.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70 / 73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3144426" y="1664208"/>
            <a:ext cx="5902841"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and the two steps multiply to the ticket's numbers: 0.80 × 72.5 = 58, 0.80 × 55 = 44. On this same step, iOS members went from 71 to 70 and non-members on Android from 65 to 64. The app team's chart, carts that start checkout, reads 80 percent flat: true, and it measures the step that did not break.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71 / 73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checks before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462528"/>
        </p:xfrm>
        <a:graphic>
          <a:graphicData uri="http://schemas.openxmlformats.org/drawingml/2006/table">
            <a:tbl>
              <a:tblPr firstRow="0" bandRow="0">
                <a:tableStyleId>{2D5ABB26-0587-4C30-8999-92F81FD0307C}</a:tableStyleId>
              </a:tblPr>
              <a:tblGrid>
                <a:gridCol w="3575224"/>
                <a:gridCol w="3777883"/>
                <a:gridCol w="3777883"/>
              </a:tblGrid>
              <a:tr h="310896">
                <a:tc>
                  <a:txBody>
                    <a:bodyPr/>
                    <a:lstStyle/>
                    <a:p>
                      <a:r>
                        <a:rPr sz="1050" b="1" i="0">
                          <a:solidFill>
                            <a:srgbClr val="FFFFFF"/>
                          </a:solidFill>
                          <a:latin typeface="Calibri"/>
                        </a:rPr>
                        <a:t>Caveat</a:t>
                      </a:r>
                    </a:p>
                  </a:txBody>
                  <a:tcPr marL="101600" marR="101600" marT="38100" marB="38100" anchor="ctr">
                    <a:solidFill>
                      <a:srgbClr val="1A0F5C"/>
                    </a:solidFill>
                  </a:tcPr>
                </a:tc>
                <a:tc>
                  <a:txBody>
                    <a:bodyPr/>
                    <a:lstStyle/>
                    <a:p>
                      <a:r>
                        <a:rPr sz="1050" b="1" i="0">
                          <a:solidFill>
                            <a:srgbClr val="FFFFFF"/>
                          </a:solidFill>
                          <a:latin typeface="Calibri"/>
                        </a:rPr>
                        <a:t>The check</a:t>
                      </a:r>
                    </a:p>
                  </a:txBody>
                  <a:tcPr marL="101600" marR="101600" marT="38100" marB="38100" anchor="ctr">
                    <a:solidFill>
                      <a:srgbClr val="1A0F5C"/>
                    </a:solidFill>
                  </a:tcPr>
                </a:tc>
                <a:tc>
                  <a:txBody>
                    <a:bodyPr/>
                    <a:lstStyle/>
                    <a:p>
                      <a:r>
                        <a:rPr sz="1050" b="1" i="0">
                          <a:solidFill>
                            <a:srgbClr val="FFFFFF"/>
                          </a:solidFill>
                          <a:latin typeface="Calibri"/>
                        </a:rPr>
                        <a:t>What it found</a:t>
                      </a:r>
                    </a:p>
                  </a:txBody>
                  <a:tcPr marL="101600" marR="101600" marT="38100" marB="38100" anchor="ctr">
                    <a:solidFill>
                      <a:srgbClr val="1A0F5C"/>
                    </a:solidFill>
                  </a:tcPr>
                </a:tc>
              </a:tr>
              <a:tr h="473456">
                <a:tc>
                  <a:txBody>
                    <a:bodyPr/>
                    <a:lstStyle/>
                    <a:p>
                      <a:r>
                        <a:rPr sz="10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000" b="0" i="0">
                          <a:solidFill>
                            <a:srgbClr val="1A1440"/>
                          </a:solidFill>
                          <a:latin typeface="Calibri"/>
                        </a:rPr>
                        <a:t>The August cohort's organic members beside July's cohort</a:t>
                      </a:r>
                    </a:p>
                  </a:txBody>
                  <a:tcPr marL="101600" marR="101600" marT="38100" marB="38100" anchor="ctr">
                    <a:solidFill>
                      <a:srgbClr val="FFFFFF"/>
                    </a:solidFill>
                  </a:tcPr>
                </a:tc>
                <a:tc>
                  <a:txBody>
                    <a:bodyPr/>
                    <a:lstStyle/>
                    <a:p>
                      <a:r>
                        <a:rPr sz="1000" b="0" i="0">
                          <a:solidFill>
                            <a:srgbClr val="1A1440"/>
                          </a:solidFill>
                          <a:latin typeface="Calibri"/>
                        </a:rPr>
                        <a:t>49 against 49 percent; the sale-week members alone sit at 20</a:t>
                      </a:r>
                    </a:p>
                  </a:txBody>
                  <a:tcPr marL="101600" marR="101600" marT="38100" marB="38100" anchor="ctr">
                    <a:solidFill>
                      <a:srgbClr val="FFFFFF"/>
                    </a:solidFill>
                  </a:tcPr>
                </a:tc>
              </a:tr>
              <a:tr h="473456">
                <a:tc>
                  <a:txBody>
                    <a:bodyPr/>
                    <a:lstStyle/>
                    <a:p>
                      <a:r>
                        <a:rPr sz="1000" b="0" i="0">
                          <a:solidFill>
                            <a:srgbClr val="1A1440"/>
                          </a:solidFill>
                          <a:latin typeface="Calibri"/>
                        </a:rPr>
                        <a:t>Censoring: the newest cohorts have few months on record</a:t>
                      </a:r>
                    </a:p>
                  </a:txBody>
                  <a:tcPr marL="101600" marR="101600" marT="38100" marB="38100" anchor="ctr">
                    <a:solidFill>
                      <a:srgbClr val="F4F2FA"/>
                    </a:solidFill>
                  </a:tcPr>
                </a:tc>
                <a:tc>
                  <a:txBody>
                    <a:bodyPr/>
                    <a:lstStyle/>
                    <a:p>
                      <a:r>
                        <a:rPr sz="1000" b="0" i="0">
                          <a:solidFill>
                            <a:srgbClr val="1A1440"/>
                          </a:solidFill>
                          <a:latin typeface="Calibri"/>
                        </a:rPr>
                        <a:t>Compare cohorts only at ages all have reached; an empty cell is a month not yet lived</a:t>
                      </a:r>
                    </a:p>
                  </a:txBody>
                  <a:tcPr marL="101600" marR="101600" marT="38100" marB="38100" anchor="ctr">
                    <a:solidFill>
                      <a:srgbClr val="F4F2FA"/>
                    </a:solidFill>
                  </a:tcPr>
                </a:tc>
                <a:tc>
                  <a:txBody>
                    <a:bodyPr/>
                    <a:lstStyle/>
                    <a:p>
                      <a:r>
                        <a:rPr sz="1000" b="0" i="0">
                          <a:solidFill>
                            <a:srgbClr val="1A1440"/>
                          </a:solidFill>
                          <a:latin typeface="Calibri"/>
                        </a:rPr>
                        <a:t>Named here; the IITGN faculty session W4-3 (tentative) takes it up</a:t>
                      </a:r>
                    </a:p>
                  </a:txBody>
                  <a:tcPr marL="101600" marR="101600" marT="38100" marB="38100" anchor="ctr">
                    <a:solidFill>
                      <a:srgbClr val="F4F2FA"/>
                    </a:solidFill>
                  </a:tcPr>
                </a:tc>
              </a:tr>
              <a:tr h="473456">
                <a:tc>
                  <a:txBody>
                    <a:bodyPr/>
                    <a:lstStyle/>
                    <a:p>
                      <a:r>
                        <a:rPr sz="10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000" b="0" i="0">
                          <a:solidFill>
                            <a:srgbClr val="1A1440"/>
                          </a:solidFill>
                          <a:latin typeface="Calibri"/>
                        </a:rPr>
                        <a:t>September split by zone (notebook 06)</a:t>
                      </a:r>
                    </a:p>
                  </a:txBody>
                  <a:tcPr marL="101600" marR="101600" marT="38100" marB="38100" anchor="ctr">
                    <a:solidFill>
                      <a:srgbClr val="FFFFFF"/>
                    </a:solidFill>
                  </a:tcPr>
                </a:tc>
                <a:tc>
                  <a:txBody>
                    <a:bodyPr/>
                    <a:lstStyle/>
                    <a:p>
                      <a:r>
                        <a:rPr sz="1000" b="0" i="0">
                          <a:solidFill>
                            <a:srgbClr val="1A1440"/>
                          </a:solidFill>
                          <a:latin typeface="Calibri"/>
                        </a:rPr>
                        <a:t>No zone more than 0.9 points from the city</a:t>
                      </a:r>
                    </a:p>
                  </a:txBody>
                  <a:tcPr marL="101600" marR="101600" marT="38100" marB="38100" anchor="ctr">
                    <a:solidFill>
                      <a:srgbClr val="FFFFFF"/>
                    </a:solidFill>
                  </a:tcPr>
                </a:tc>
              </a:tr>
              <a:tr h="473456">
                <a:tc>
                  <a:txBody>
                    <a:bodyPr/>
                    <a:lstStyle/>
                    <a:p>
                      <a:r>
                        <a:rPr sz="10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000" b="0" i="0">
                          <a:solidFill>
                            <a:srgbClr val="1A1440"/>
                          </a:solidFill>
                          <a:latin typeface="Calibri"/>
                        </a:rPr>
                        <a:t>Orders in member_months, which event names do not touch, against the event log</a:t>
                      </a:r>
                    </a:p>
                  </a:txBody>
                  <a:tcPr marL="101600" marR="101600" marT="38100" marB="38100" anchor="ctr">
                    <a:solidFill>
                      <a:srgbClr val="F4F2FA"/>
                    </a:solidFill>
                  </a:tcPr>
                </a:tc>
                <a:tc>
                  <a:txBody>
                    <a:bodyPr/>
                    <a:lstStyle/>
                    <a:p>
                      <a:r>
                        <a:rPr sz="1000" b="0" i="0">
                          <a:solidFill>
                            <a:srgbClr val="1A1440"/>
                          </a:solidFill>
                          <a:latin typeface="Calibri"/>
                        </a:rPr>
                        <a:t>The same 27,212 member orders in September: none went missing</a:t>
                      </a:r>
                    </a:p>
                  </a:txBody>
                  <a:tcPr marL="101600" marR="101600" marT="38100" marB="38100" anchor="ctr">
                    <a:solidFill>
                      <a:srgbClr val="F4F2FA"/>
                    </a:solidFill>
                  </a:tcPr>
                </a:tc>
              </a:tr>
              <a:tr h="473456">
                <a:tc>
                  <a:txBody>
                    <a:bodyPr/>
                    <a:lstStyle/>
                    <a:p>
                      <a:r>
                        <a:rPr sz="1000" b="0" i="0">
                          <a:solidFill>
                            <a:srgbClr val="1A1440"/>
                          </a:solidFill>
                          <a:latin typeface="Calibri"/>
                        </a:rPr>
                        <a:t>Mix inside the split: the August cohort aged across 14 September</a:t>
                      </a:r>
                    </a:p>
                  </a:txBody>
                  <a:tcPr marL="101600" marR="101600" marT="38100" marB="38100" anchor="ctr">
                    <a:solidFill>
                      <a:srgbClr val="FFFFFF"/>
                    </a:solidFill>
                  </a:tcPr>
                </a:tc>
                <a:tc>
                  <a:txBody>
                    <a:bodyPr/>
                    <a:lstStyle/>
                    <a:p>
                      <a:r>
                        <a:rPr sz="1000" b="0" i="0">
                          <a:solidFill>
                            <a:srgbClr val="1A1440"/>
                          </a:solidFill>
                          <a:latin typeface="Calibri"/>
                        </a:rPr>
                        <a:t>Members who joined before August, on the same step</a:t>
                      </a:r>
                    </a:p>
                  </a:txBody>
                  <a:tcPr marL="101600" marR="101600" marT="38100" marB="38100" anchor="ctr">
                    <a:solidFill>
                      <a:srgbClr val="FFFFFF"/>
                    </a:solidFill>
                  </a:tcPr>
                </a:tc>
                <a:tc>
                  <a:txBody>
                    <a:bodyPr/>
                    <a:lstStyle/>
                    <a:p>
                      <a:r>
                        <a:rPr sz="1000" b="0" i="0">
                          <a:solidFill>
                            <a:srgbClr val="1A1440"/>
                          </a:solidFill>
                          <a:latin typeface="Calibri"/>
                        </a:rPr>
                        <a:t>Android 70.3 to 53.6; iOS 68.6 to 69.3</a:t>
                      </a:r>
                    </a:p>
                  </a:txBody>
                  <a:tcPr marL="101600" marR="101600" marT="38100" marB="38100" anchor="ctr">
                    <a:solidFill>
                      <a:srgbClr val="FFFFFF"/>
                    </a:solidFill>
                  </a:tcPr>
                </a:tc>
              </a:tr>
              <a:tr h="310896">
                <a:tc>
                  <a:txBody>
                    <a:bodyPr/>
                    <a:lstStyle/>
                    <a:p>
                      <a:r>
                        <a:rPr sz="1000" b="0" i="0">
                          <a:solidFill>
                            <a:srgbClr val="1A1440"/>
                          </a:solidFill>
                          <a:latin typeface="Calibri"/>
                        </a:rPr>
                        <a:t>Sessions against members</a:t>
                      </a:r>
                    </a:p>
                  </a:txBody>
                  <a:tcPr marL="101600" marR="101600" marT="38100" marB="38100" anchor="ctr">
                    <a:solidFill>
                      <a:srgbClr val="F4F2FA"/>
                    </a:solidFill>
                  </a:tcPr>
                </a:tc>
                <a:tc>
                  <a:txBody>
                    <a:bodyPr/>
                    <a:lstStyle/>
                    <a:p>
                      <a:r>
                        <a:rPr sz="1000" b="0" i="0">
                          <a:solidFill>
                            <a:srgbClr val="1A1440"/>
                          </a:solidFill>
                          <a:latin typeface="Calibri"/>
                        </a:rPr>
                        <a:t>The unit named on every chart</a:t>
                      </a:r>
                    </a:p>
                  </a:txBody>
                  <a:tcPr marL="101600" marR="101600" marT="38100" marB="38100" anchor="ctr">
                    <a:solidFill>
                      <a:srgbClr val="F4F2FA"/>
                    </a:solidFill>
                  </a:tcPr>
                </a:tc>
                <a:tc>
                  <a:txBody>
                    <a:bodyPr/>
                    <a:lstStyle/>
                    <a:p>
                      <a:r>
                        <a:rPr sz="1000" b="0" i="0">
                          <a:solidFill>
                            <a:srgbClr val="1A1440"/>
                          </a:solidFill>
                          <a:latin typeface="Calibri"/>
                        </a:rPr>
                        <a:t>34 per session, 61 per member, both true</a:t>
                      </a:r>
                    </a:p>
                  </a:txBody>
                  <a:tcPr marL="101600" marR="101600" marT="38100" marB="38100" anchor="ctr">
                    <a:solidFill>
                      <a:srgbClr val="F4F2FA"/>
                    </a:solidFill>
                  </a:tcPr>
                </a:tc>
              </a:tr>
              <a:tr h="473456">
                <a:tc>
                  <a:txBody>
                    <a:bodyPr/>
                    <a:lstStyle/>
                    <a:p>
                      <a:r>
                        <a:rPr sz="1000" b="0" i="0">
                          <a:solidFill>
                            <a:srgbClr val="1A1440"/>
                          </a:solidFill>
                          <a:latin typeface="Calibri"/>
                        </a:rPr>
                        <a:t>Joiners' orders rising after they join</a:t>
                      </a:r>
                    </a:p>
                  </a:txBody>
                  <a:tcPr marL="101600" marR="101600" marT="38100" marB="38100" anchor="ctr">
                    <a:solidFill>
                      <a:srgbClr val="FFFFFF"/>
                    </a:solidFill>
                  </a:tcPr>
                </a:tc>
                <a:tc>
                  <a:txBody>
                    <a:bodyPr/>
                    <a:lstStyle/>
                    <a:p>
                      <a:r>
                        <a:rPr sz="1000" b="0" i="0">
                          <a:solidFill>
                            <a:srgbClr val="1A1440"/>
                          </a:solidFill>
                          <a:latin typeface="Calibri"/>
                        </a:rPr>
                        <a:t>Zomato Gold's frequency rose about 60 percent after joining</a:t>
                      </a:r>
                    </a:p>
                  </a:txBody>
                  <a:tcPr marL="101600" marR="101600" marT="38100" marB="38100" anchor="ctr">
                    <a:solidFill>
                      <a:srgbClr val="FFFFFF"/>
                    </a:solidFill>
                  </a:tcPr>
                </a:tc>
                <a:tc>
                  <a:txBody>
                    <a:bodyPr/>
                    <a:lstStyle/>
                    <a:p>
                      <a:r>
                        <a:rPr sz="1000" b="0" i="0">
                          <a:solidFill>
                            <a:srgbClr val="1A1440"/>
                          </a:solidFill>
                          <a:latin typeface="Calibri"/>
                        </a:rPr>
                        <a:t>Members join when they expect to order more; the release split has a comparison, this has none</a:t>
                      </a:r>
                    </a:p>
                  </a:txBody>
                  <a:tcPr marL="101600" marR="101600" marT="38100" marB="38100" anchor="ctr">
                    <a:solidFill>
                      <a:srgbClr val="FFFFFF"/>
                    </a:solidFill>
                  </a:tcPr>
                </a:tc>
              </a:tr>
            </a:tbl>
          </a:graphicData>
        </a:graphic>
      </p:graphicFrame>
      <p:sp>
        <p:nvSpPr>
          <p:cNvPr id="10" name="TextBox 9"/>
          <p:cNvSpPr txBox="1"/>
          <p:nvPr/>
        </p:nvSpPr>
        <p:spPr>
          <a:xfrm>
            <a:off x="530352" y="540105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72 / 73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221ecc7b46c0c823.png"/>
          <p:cNvPicPr>
            <a:picLocks noChangeAspect="1"/>
          </p:cNvPicPr>
          <p:nvPr/>
        </p:nvPicPr>
        <p:blipFill>
          <a:blip r:embed="rId6"/>
          <a:stretch>
            <a:fillRect/>
          </a:stretch>
        </p:blipFill>
        <p:spPr>
          <a:xfrm>
            <a:off x="530352" y="1830683"/>
            <a:ext cx="11130991" cy="1962193"/>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0.14 × 22,841 carts is about 3,198 orders in 17 days: 188 a day, 1,317 a week if none came back; counted in orders placed, 1,133 to 1,266 a week, a quarter of Android members' 5,064. At Rs 300 to Rs 500 an order (an assumption), Rs 3.4 to 6.6 lakh of order value a week, of which Zomato keeps its commission and fees.</a:t>
            </a:r>
          </a:p>
        </p:txBody>
      </p:sp>
      <p:sp>
        <p:nvSpPr>
          <p:cNvPr id="13" name="Rounded Rectangle 12"/>
          <p:cNvSpPr/>
          <p:nvPr/>
        </p:nvSpPr>
        <p:spPr>
          <a:xfrm>
            <a:off x="530352" y="55107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58430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5952744"/>
            <a:ext cx="237744" cy="237744"/>
          </a:xfrm>
          <a:prstGeom prst="rect">
            <a:avLst/>
          </a:prstGeom>
        </p:spPr>
      </p:pic>
      <p:sp>
        <p:nvSpPr>
          <p:cNvPr id="16" name="TextBox 15"/>
          <p:cNvSpPr txBox="1"/>
          <p:nvPr/>
        </p:nvSpPr>
        <p:spPr>
          <a:xfrm>
            <a:off x="1399031" y="56570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5876544"/>
            <a:ext cx="9987991" cy="68275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0" name="Oval 19"/>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2" name="Oval 21"/>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6" name="Oval 25"/>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0" name="Oval 29"/>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73 / 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