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Read the topic as the curriculum words it, then the three questions. Say once,</a:t>
            </a:r>
          </a:p>
          <a:p>
            <a:r>
              <a:t>in plain words, the shape of the day: five topics first on examples small enough to count by hand,</a:t>
            </a:r>
          </a:p>
          <a:p>
            <a:r>
              <a:t>then the same topics on a real company's synthetic data, then Kalpa in the lab.</a:t>
            </a:r>
          </a:p>
          <a:p>
            <a:r>
              <a:t>Transition: where Thursday sits in the week.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Monday asked whether the number paid for measures what is wanted, Tuesday put</a:t>
            </a:r>
          </a:p>
          <a:p>
            <a:r>
              <a:t>one denominator on one slide, Wednesday judged a pair against chance. Thursday judges a cohort</a:t>
            </a:r>
          </a:p>
          <a:p>
            <a:r>
              <a:t>against the blend. Friday stays dashed. The explorer's home screen draws the same map (day</a:t>
            </a:r>
          </a:p>
          <a:p>
            <a:r>
              <a:t>control: Thu).</a:t>
            </a:r>
          </a:p>
          <a:p>
            <a:r>
              <a:t>Transition: the day's five topics.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Read the five topics in the curriculum's words, top to bottom, then the order</a:t>
            </a:r>
          </a:p>
          <a:p>
            <a:r>
              <a:t>they are taught in and why: the three retention topics build one table once and read it three</a:t>
            </a:r>
          </a:p>
          <a:p>
            <a:r>
              <a:t>ways, the funnel is a second picture and a second example, and the decision is a pattern, so it</a:t>
            </a:r>
          </a:p>
          <a:p>
            <a:r>
              <a:t>sits right before the Zomato Gold call that applies it. A trainer matching the row to the deck</a:t>
            </a:r>
          </a:p>
          <a:p>
            <a:r>
              <a:t>reads this table: every topic has its chapter, its minutes and its notebook.</a:t>
            </a:r>
          </a:p>
          <a:p>
            <a:r>
              <a:t>Transition: how the five connect.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Walk the map in words a newcomer can repeat: a cohort fixes who joined when (1),</a:t>
            </a:r>
          </a:p>
          <a:p>
            <a:r>
              <a:t>so one cohort's share month by month is a curve whose shape and floor can be read (3); one number</a:t>
            </a:r>
          </a:p>
          <a:p>
            <a:r>
              <a:t>over all cohorts is a weighted blend, which a growing young cohort can hold flat while every</a:t>
            </a:r>
          </a:p>
          <a:p>
            <a:r>
              <a:t>cohort falls (4); a funnel is the other picture, a chain of steps where each rate divides by the</a:t>
            </a:r>
          </a:p>
          <a:p>
            <a:r>
              <a:t>step before in one unit (2); the fix-first call takes the cohort and the step and carries its</a:t>
            </a:r>
          </a:p>
          <a:p>
            <a:r>
              <a:t>evidence (5). Weeks 1 and 2 gave the pieces: the denominator habit, the segment reversal,</a:t>
            </a:r>
          </a:p>
          <a:p>
            <a:r>
              <a:t>pivot_table. Each chapter's last slide lights its own node on a map like this one.</a:t>
            </a:r>
          </a:p>
          <a:p>
            <a:r>
              <a:t>Transition: the case these topics are used 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for Gold's free delivery: Zomato's shareholder letter of 19 May 2023,</a:t>
            </a:r>
          </a:p>
          <a:p>
            <a:r>
              <a:t>https://www.bseindia.com/xml-data/corpfiling/AttachHis/42b3bf3b-1edb-4da7-849a-87ca9da27ff8.pdf (checked 12 October 2026)</a:t>
            </a:r>
          </a:p>
          <a:p>
            <a:r>
              <a:t>LIVE, 2 minutes. This slide is the destination, shown before the topics are taught. Say the label</a:t>
            </a:r>
          </a:p>
          <a:p>
            <a:r>
              <a:t>line aloud first: the company is real, the situation and the data are synthetic. Read the ask,</a:t>
            </a:r>
          </a:p>
          <a:p>
            <a:r>
              <a:t>then point at two numbers only: the flat 38 and the 58 to 44 on Android. Say that each of the five</a:t>
            </a:r>
          </a:p>
          <a:p>
            <a:r>
              <a:t>topics will be needed to read this ticket, and that the full read opens the case in SECTION 5,</a:t>
            </a:r>
          </a:p>
          <a:p>
            <a:r>
              <a:t>after the topics.</a:t>
            </a:r>
          </a:p>
          <a:p>
            <a:r>
              <a:t>Transition: the first topic, cohort construction, on a gym.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25 minutes. Laptops closed until the code glimpse; notebook 01 afterwards or in the lab.</a:t>
            </a:r>
          </a:p>
          <a:p>
            <a:r>
              <a:t>Hand out: drill c1 with the rules slide; it runs on paper after S11, 4 minutes. If late: S12 in</a:t>
            </a:r>
          </a:p>
          <a:p>
            <a:r>
              <a:t>one sentence, and drill c1 moves to the lab.</a:t>
            </a:r>
          </a:p>
          <a:p>
            <a:r>
              <a:t>Styles: Veritasium (the owner's reading, then predict and vote), StatQuest (the count aloud,</a:t>
            </a:r>
          </a:p>
          <a:p>
            <a:r>
              <a:t>one row at a time), 3Blue1Brown (the triangle, the formula named last), Krish Naik (one</a:t>
            </a:r>
          </a:p>
          <a:p>
            <a:r>
              <a:t>pivot_table, line by line), ByteByteGo (the map node). The gym is invented; say so once.</a:t>
            </a:r>
          </a:p>
          <a:p>
            <a:r>
              <a:t>Transition: the chapter's questions.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Read the four questions; each is answered with a count before the next is asked.</a:t>
            </a:r>
          </a:p>
          <a:p>
            <a:r>
              <a:t>The coaching-batch line is the only place the batches appear: a learner who has sat in a coaching</a:t>
            </a:r>
          </a:p>
          <a:p>
            <a:r>
              <a:t>class already knows what a cohort is.</a:t>
            </a:r>
          </a:p>
          <a:p>
            <a:r>
              <a:t>Transition: the owner's reading.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Month one is the first full month after joining; the joining month is month</a:t>
            </a:r>
          </a:p>
          <a:p>
            <a:r>
              <a:t>zero, ringed on the picture. Vote first, in writing, then pairs argue for one minute and vote</a:t>
            </a:r>
          </a:p>
          <a:p>
            <a:r>
              <a:t>again (peer instruction). Expect a from tables that trust the shaded April column.</a:t>
            </a:r>
          </a:p>
          <a:p>
            <a:r>
              <a:t>Transition: the count, by hand.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5 minutes. Count January's row aloud from the register: down the February column for the</a:t>
            </a:r>
          </a:p>
          <a:p>
            <a:r>
              <a:t>ten January joiners (8), then March (6), then April, May and June (5 each). Then February's row</a:t>
            </a:r>
          </a:p>
          <a:p>
            <a:r>
              <a:t>from March on, then March's from April on. Build the table on the board as it is counted. Say the</a:t>
            </a:r>
          </a:p>
          <a:p>
            <a:r>
              <a:t>word cohort only now: a cohort is everyone who joined in the same month, and the table has one</a:t>
            </a:r>
          </a:p>
          <a:p>
            <a:r>
              <a:t>row per cohort and one column per age.</a:t>
            </a:r>
          </a:p>
          <a:p>
            <a:r>
              <a:t>Transition: the table as a picture.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Point at one cell and say its sentence: of the ten who joined in January, six</a:t>
            </a:r>
          </a:p>
          <a:p>
            <a:r>
              <a:t>visited in their second month after joining. Point at the empty corner: those months have not</a:t>
            </a:r>
          </a:p>
          <a:p>
            <a:r>
              <a:t>happened yet for the later batches. Then the formula, last, as the shorthand for the sentence.</a:t>
            </a:r>
          </a:p>
          <a:p>
            <a:r>
              <a:t>Transition: the same table in code.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Read the code a line at a time: melt makes one row per member per month (the</a:t>
            </a:r>
          </a:p>
          <a:p>
            <a:r>
              <a:t>shape called panel data), the age line subtracts two places in the year, the filter drops month</a:t>
            </a:r>
          </a:p>
          <a:p>
            <a:r>
              <a:t>zero, and pivot_table puts cohorts on the rows and ages on the columns. Ask what the table would</a:t>
            </a:r>
          </a:p>
          <a:p>
            <a:r>
              <a:t>show without the filter: a column of 100 percent at age zero, since everyone visits the month</a:t>
            </a:r>
          </a:p>
          <a:p>
            <a:r>
              <a:t>they join. Notebook 01 runs the cell and checks the code against the hand count.</a:t>
            </a:r>
          </a:p>
          <a:p>
            <a:r>
              <a:t>Transition: the rules.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Read the four rules; learners photograph this slide. One learner says the</a:t>
            </a:r>
          </a:p>
          <a:p>
            <a:r>
              <a:t>interview line aloud in under twenty seconds. Then drill c1 on paper, 4 minutes: three items on</a:t>
            </a:r>
          </a:p>
          <a:p>
            <a:r>
              <a:t>the gym, letters posted before S12.</a:t>
            </a:r>
          </a:p>
          <a:p>
            <a:r>
              <a:t>Transition: where this topic goes next.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a:t>
            </a:r>
          </a:p>
          <a:p>
            <a:r>
              <a:t>https://www.swiggy.com/corporate/wp-content/uploads/2025/10/Q2-FY2026-Shareholder-letter.pdf (checked 12 October 2026)</a:t>
            </a:r>
          </a:p>
          <a:p>
            <a:r>
              <a:t>LIVE, 2 minutes. Light the node on the concept map. Swiggy's table is the same shape as the gym's,</a:t>
            </a:r>
          </a:p>
          <a:p>
            <a:r>
              <a:t>with spend in place of visits: per user who joined, or per user who stayed? The denominator</a:t>
            </a:r>
          </a:p>
          <a:p>
            <a:r>
              <a:t>decides what the chart says.</a:t>
            </a:r>
          </a:p>
          <a:p>
            <a:r>
              <a:t>Transition: the next topic, the rows read as curves.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15 minutes. Laptops closed; notebook 02 afterwards. Hand out: drill c2, on paper after S18,</a:t>
            </a:r>
          </a:p>
          <a:p>
            <a:r>
              <a:t>3 minutes. If late: S16's table in one sentence, and drill c2 moves to the lab. Styles: Veritasium (predict January's</a:t>
            </a:r>
          </a:p>
          <a:p>
            <a:r>
              <a:t>age five), 3Blue1Brown (the three curves, then the words shape and floor), StatQuest (churn on</a:t>
            </a:r>
          </a:p>
          <a:p>
            <a:r>
              <a:t>ten members), the case method (Blinkit's own retention figure).</a:t>
            </a:r>
          </a:p>
          <a:p>
            <a:r>
              <a:t>Transition: the chapter's questions.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The table from SECTION 1 is unchanged; this chapter reads its rows.</a:t>
            </a:r>
          </a:p>
          <a:p>
            <a:r>
              <a:t>Transition: the prediction.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Vote. Most of the room extends the line: a and c. A learner who says b, ask why;</a:t>
            </a:r>
          </a:p>
          <a:p>
            <a:r>
              <a:t>the reason should be that the members still coming by age three are the ones who stay.</a:t>
            </a:r>
          </a:p>
          <a:p>
            <a:r>
              <a:t>Transition: the three curves.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Trace January with a finger: steep, then flat. A point is the gap between two</a:t>
            </a:r>
          </a:p>
          <a:p>
            <a:r>
              <a:t>percentages, so 80 to 60 is a fall of 20 points. Then February's floor and March's open end.</a:t>
            </a:r>
          </a:p>
          <a:p>
            <a:r>
              <a:t>Transition: churn, the same row counted as losses.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In this branch no member came back after stopping, so the members visiting at</a:t>
            </a:r>
          </a:p>
          <a:p>
            <a:r>
              <a:t>each age are the ones who were still visiting the age before, which is what lets the third row</a:t>
            </a:r>
          </a:p>
          <a:p>
            <a:r>
              <a:t>divide by last month's visitors. Ask which row the owner should print on a wall chart; either,</a:t>
            </a:r>
          </a:p>
          <a:p>
            <a:r>
              <a:t>with its name.</a:t>
            </a:r>
          </a:p>
          <a:p>
            <a:r>
              <a:t>Transition: when can a floor be called?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The two-ages rule, within a point, is this programme's rule of thumb, so say it</a:t>
            </a:r>
          </a:p>
          <a:p>
            <a:r>
              <a:t>as ours; exact equality never fires on a large cohort's shares, which is why the code allows a</a:t>
            </a:r>
          </a:p>
          <a:p>
            <a:r>
              <a:t>point. A floor</a:t>
            </a:r>
          </a:p>
          <a:p>
            <a:r>
              <a:t>read from one age is the plausible wrong answer: it looks settled after a big drop. March's row</a:t>
            </a:r>
          </a:p>
          <a:p>
            <a:r>
              <a:t>returns None: a young cohort has not lived enough ages to show a floor, which is the plain-words</a:t>
            </a:r>
          </a:p>
          <a:p>
            <a:r>
              <a:t>version of what the IITGN block (tentative) calls censoring.</a:t>
            </a:r>
          </a:p>
          <a:p>
            <a:r>
              <a:t>Transition: the rules.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https://www.eternal.com/blog/q1fy27/ (checked 12 October 2026), which links the letter itself:</a:t>
            </a:r>
          </a:p>
          <a:p>
            <a:r>
              <a:t>https://drive.google.com/file/d/1jb9KWd4Ap4RTKHFHxzEOO7jgQqVZEGcd/view (checked 12 October 2026)</a:t>
            </a:r>
          </a:p>
          <a:p>
            <a:r>
              <a:t>LIVE, 1 minute. Read the rules. Blinkit's two numbers measure different things: 46 is a share of</a:t>
            </a:r>
          </a:p>
          <a:p>
            <a:r>
              <a:t>the cohort's customers and 150 compares the cohort's order value with its first quarter's. Then</a:t>
            </a:r>
          </a:p>
          <a:p>
            <a:r>
              <a:t>drill c2 on paper, 3 minutes, letters posted before S19.</a:t>
            </a:r>
          </a:p>
          <a:p>
            <a:r>
              <a:t>Transition: where this topic goes next.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Light the node. The IITGN faculty session this afternoon is tentative; name it</a:t>
            </a:r>
          </a:p>
          <a:p>
            <a:r>
              <a:t>only as the place where a member who has not left yet gets a name.</a:t>
            </a:r>
          </a:p>
          <a:p>
            <a:r>
              <a:t>Transition: the next topic, one number over every cohort.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20 minutes. Laptops closed until the code; notebook 03 afterwards. Hand out: drill c3, on</a:t>
            </a:r>
          </a:p>
          <a:p>
            <a:r>
              <a:t>paper after S25, 3 minutes. If late: S26's origin in one sentence, and drill c3 moves to the lab.</a:t>
            </a:r>
          </a:p>
          <a:p>
            <a:r>
              <a:t>Styles: Veritasium (the</a:t>
            </a:r>
          </a:p>
          <a:p>
            <a:r>
              <a:t>room predicts what a big new cohort does to the dashboard), 3Blue1Brown (the stacked bars, the</a:t>
            </a:r>
          </a:p>
          <a:p>
            <a:r>
              <a:t>formula named last), StatQuest (the weighted average on two numbers), ByteByteGo (the Week 1</a:t>
            </a:r>
          </a:p>
          <a:p>
            <a:r>
              <a:t>Thursday link). Explorer scene Th2 lets a learner slide the new cohort's size; it draws the</a:t>
            </a:r>
          </a:p>
          <a:p>
            <a:r>
              <a:t>same 100 and 400 as a coaching centre's batches A and B.</a:t>
            </a:r>
          </a:p>
          <a:p>
            <a:r>
              <a:t>Transition: the chapter's questions.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The dashboard is the whole gym's, all branches; the branch's thirty joiners from</a:t>
            </a:r>
          </a:p>
          <a:p>
            <a:r>
              <a:t>SECTION 1 are part of the January, February and March joiners.</a:t>
            </a:r>
          </a:p>
          <a:p>
            <a:r>
              <a:t>Transition: the prediction.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Vote, argue, vote again. Most of the room says a: when a group falls, the average</a:t>
            </a:r>
          </a:p>
          <a:p>
            <a:r>
              <a:t>falls with it. Hold the reveal until every table has committed.</a:t>
            </a:r>
          </a:p>
          <a:p>
            <a:r>
              <a:t>Transition: the reveal.</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Point at the dashed line, then the falling line under it. Next month the</a:t>
            </a:r>
          </a:p>
          <a:p>
            <a:r>
              <a:t>January joiners age too, and unless another large batch joins, the dashboard starts to fall.</a:t>
            </a:r>
          </a:p>
          <a:p>
            <a:r>
              <a:t>Transition: what the 50 is made of.</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Read the two stacks, then the formula last, as the shorthand for what the bars</a:t>
            </a:r>
          </a:p>
          <a:p>
            <a:r>
              <a:t>already showed. The weighted average and the direct count are the same number by arithmetic, so</a:t>
            </a:r>
          </a:p>
          <a:p>
            <a:r>
              <a:t>the rebuild is a check on the cohorts, not on the formula.</a:t>
            </a:r>
          </a:p>
          <a:p>
            <a:r>
              <a:t>Transition: the quick average that gets it wrong.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The check that catches it: the weighted average must equal the direct count, and</a:t>
            </a:r>
          </a:p>
          <a:p>
            <a:r>
              <a:t>the plain mean does not. The plain mean matches the blend only when the cohorts are the same size</a:t>
            </a:r>
          </a:p>
          <a:p>
            <a:r>
              <a:t>or read the same rate. Notebook 03 asserts both lines.</a:t>
            </a:r>
          </a:p>
          <a:p>
            <a:r>
              <a:t>Transition: the rules.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a:t>
            </a:r>
          </a:p>
          <a:p>
            <a:r>
              <a:t>https://nsearchives.nseindia.com/corporate/SWIGGY_30072026154100_Covering_Letter_Letter_to_Shareholders_-_signed.pdf (checked 12 October 2026)</a:t>
            </a:r>
          </a:p>
          <a:p>
            <a:r>
              <a:t>LIVE, 2 minutes. Read the rules, then Swiggy's two numbers: more users, fewer orders each, and a</a:t>
            </a:r>
          </a:p>
          <a:p>
            <a:r>
              <a:t>blend that cannot say which group moved. Then drill c3 on paper, 3 minutes, letters posted before</a:t>
            </a:r>
          </a:p>
          <a:p>
            <a:r>
              <a:t>S26.</a:t>
            </a:r>
          </a:p>
          <a:p>
            <a:r>
              <a:t>Transition: where this topic comes from.</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the paper's Crossref record, https://doi.org/10.1111/j.2517-6161.1951.tb00088.x (checked 13 October 2026).</a:t>
            </a:r>
          </a:p>
          <a:p>
            <a:r>
              <a:t>LIVE, 2 minutes. Say the Week 1 Thursday link in one sentence and let the room name the reversal</a:t>
            </a:r>
          </a:p>
          <a:p>
            <a:r>
              <a:t>it met then; do not restate that week's numbers. Light the node.</a:t>
            </a:r>
          </a:p>
          <a:p>
            <a:r>
              <a:t>Transition: the next topic, the funnel, on a college.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25 minutes. Laptops closed until the code; notebook 04 afterwards. Hand out: drill c4, on</a:t>
            </a:r>
          </a:p>
          <a:p>
            <a:r>
              <a:t>paper after S33, 4 minutes. If late: S32's code read and not run, and drill c4 moves to the lab.</a:t>
            </a:r>
          </a:p>
          <a:p>
            <a:r>
              <a:t>Styles: Brilliant (the</a:t>
            </a:r>
          </a:p>
          <a:p>
            <a:r>
              <a:t>two cycles shown before any rate is named), Veritasium (predict the losing step), StatQuest (each</a:t>
            </a:r>
          </a:p>
          <a:p>
            <a:r>
              <a:t>step over the step before, by hand), the case method (a sister programme's 107 percent).</a:t>
            </a:r>
          </a:p>
          <a:p>
            <a:r>
              <a:t>Transition: the chapter's questions.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Every learner has been through an admissions funnel; ask nobody to share theirs.</a:t>
            </a:r>
          </a:p>
          <a:p>
            <a:r>
              <a:t>Transition: the two cycles.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Brilliant's move: the numbers before the explanation. Vote, argue, vote. Expect</a:t>
            </a:r>
          </a:p>
          <a:p>
            <a:r>
              <a:t>a from most of the room: the lowest step looks like the loss.</a:t>
            </a:r>
          </a:p>
          <a:p>
            <a:r>
              <a:t>Transition: the step that moved.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Point at the one pair of bars that differs. Then at shortlisting: low, and the</a:t>
            </a:r>
          </a:p>
          <a:p>
            <a:r>
              <a:t>same both cycles. A committee sent to redesign shortlisting would work on a step that works.</a:t>
            </a:r>
          </a:p>
          <a:p>
            <a:r>
              <a:t>Transition: each step by hand.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Divide aloud, step by step: 800 of 1,000, 400 of 800, 300 of 400, 240 of 300.</a:t>
            </a:r>
          </a:p>
          <a:p>
            <a:r>
              <a:t>Then the overall, then the product. The definitions are the ones analytics tools print as step</a:t>
            </a:r>
          </a:p>
          <a:p>
            <a:r>
              <a:t>conversion, funnel conversion from the first step, and drop-off.</a:t>
            </a:r>
          </a:p>
          <a:p>
            <a:r>
              <a:t>Transition: a step that reads above 100 percent.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The test team's question is "how often does sitting our test lead to a</a:t>
            </a:r>
          </a:p>
          <a:p>
            <a:r>
              <a:t>shortlist?", and only 77 answers it. Shortlisted over applications, 32 percent, and test-takers</a:t>
            </a:r>
          </a:p>
          <a:p>
            <a:r>
              <a:t>over applications, 30 percent, are true numbers that answer other questions.</a:t>
            </a:r>
          </a:p>
          <a:p>
            <a:r>
              <a:t>Transition: the unit.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The loop prints each unit's step rates (each count over the one before, which is</a:t>
            </a:r>
          </a:p>
          <a:p>
            <a:r>
              <a:t>what shift does) and its overall. In this college's data every step reads at least as high per</a:t>
            </a:r>
          </a:p>
          <a:p>
            <a:r>
              <a:t>applicant; that is this data's pattern, and only the overall is sure to, since each applicant joins</a:t>
            </a:r>
          </a:p>
          <a:p>
            <a:r>
              <a:t>once. Notebook 04 draws both.</a:t>
            </a:r>
          </a:p>
          <a:p>
            <a:r>
              <a:t>Transition: the rules.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Read the rules; the last two are the traps the case meets on its event log. Then</a:t>
            </a:r>
          </a:p>
          <a:p>
            <a:r>
              <a:t>drill c4 on paper, 4 minutes, letters posted before S34.</a:t>
            </a:r>
          </a:p>
          <a:p>
            <a:r>
              <a:t>Transition: where this topic goes next.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Light the node. Break follows: 10 minutes, the seam between the topics and the</a:t>
            </a:r>
          </a:p>
          <a:p>
            <a:r>
              <a:t>case. If the room needs the break earlier, it falls after SECTION 3.</a:t>
            </a:r>
          </a:p>
          <a:p>
            <a:r>
              <a:t>Transition: after the break, the case opens on the ticket read in full.</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15 minutes. Laptops closed; the twelve-row card is on every table. Hand out: the hypothesis</a:t>
            </a:r>
          </a:p>
          <a:p>
            <a:r>
              <a:t>board template at S38, the card and the guided set at S39. If late: S37 is read without discussion. Styles: the case method</a:t>
            </a:r>
          </a:p>
          <a:p>
            <a:r>
              <a:t>(the hypothesis board), StatQuest (the twelve counted aloud), Veritasium (two predictions).</a:t>
            </a:r>
          </a:p>
          <a:p>
            <a:r>
              <a:t>Notebook 05 reproduces every count.</a:t>
            </a:r>
          </a:p>
          <a:p>
            <a:r>
              <a:t>Transition: the chapter's questions.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Read the four questions; each is answered before the next is asked.</a:t>
            </a:r>
          </a:p>
          <a:p>
            <a:r>
              <a:t>Transition: the ticket, read in full.</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Go back to the ticket's table (the slide after the concept map) if the room</a:t>
            </a:r>
          </a:p>
          <a:p>
            <a:r>
              <a:t>wants it; this slide is the same ticket read line by line against the topics. Every line now has</a:t>
            </a:r>
          </a:p>
          <a:p>
            <a:r>
              <a:t>a topic the room has met, except the last, which opens the afternoon.</a:t>
            </a:r>
          </a:p>
          <a:p>
            <a:r>
              <a:t>Transition: where today ends.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Read it once with its blanks and move on; nothing to write yet. The room fills</a:t>
            </a:r>
          </a:p>
          <a:p>
            <a:r>
              <a:t>each blank as the morning earns it; the filled sentence is in the case file.</a:t>
            </a:r>
          </a:p>
          <a:p>
            <a:r>
              <a:t>Transition: the hypothesis board, before any data opens.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The groups write their own ordered list first, with the test each cause needs,</a:t>
            </a:r>
          </a:p>
          <a:p>
            <a:r>
              <a:t>on the hypothesis board template; then show this ladder. It runs in the order a careful analyst</a:t>
            </a:r>
          </a:p>
          <a:p>
            <a:r>
              <a:t>checks: the count, the rule, the cohorts, everyone, then the stage. Rows 3 and 4 read the same table</a:t>
            </a:r>
          </a:p>
          <a:p>
            <a:r>
              <a:t>two ways: cohorts compared at the same age for strength, one calendar month read across them for a</a:t>
            </a:r>
          </a:p>
          <a:p>
            <a:r>
              <a:t>shock that hit everyone. Each chapter's reveal strikes or confirms a line; keep the board up all</a:t>
            </a:r>
          </a:p>
          <a:p>
            <a:r>
              <a:t>morning.</a:t>
            </a:r>
          </a:p>
          <a:p>
            <a:r>
              <a:t>Transition: the card.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Hand out the card if it is not on the tables, with the guided set</a:t>
            </a:r>
          </a:p>
          <a:p>
            <a:r>
              <a:t>(exercises/guided, one row), whose two items are the rewrite below. Read one row aloud: ZG21052 joined</a:t>
            </a:r>
          </a:p>
          <a:p>
            <a:r>
              <a:t>in May, ordered in June and July, then stopped. The last line holds the five sale-week members,</a:t>
            </a:r>
          </a:p>
          <a:p>
            <a:r>
              <a:t>named one by one, none of whom ordered in September. Ask each table to rewrite the card by months</a:t>
            </a:r>
          </a:p>
          <a:p>
            <a:r>
              <a:t>since joining, as they rewrote the gym's register, before the next slide.</a:t>
            </a:r>
          </a:p>
          <a:p>
            <a:r>
              <a:t>Transition: the prediction.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Vote. Expect some c from tables that read September's column, where August's</a:t>
            </a:r>
          </a:p>
          <a:p>
            <a:r>
              <a:t>month one sits beside May's month four: the gym's April reading again.</a:t>
            </a:r>
          </a:p>
          <a:p>
            <a:r>
              <a:t>Transition: the count.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Count May's row aloud: three ordered in month one, two in month two, one in three</a:t>
            </a:r>
          </a:p>
          <a:p>
            <a:r>
              <a:t>and four. Then June's, then August's. In September the sale member's month one sits beside May's</a:t>
            </a:r>
          </a:p>
          <a:p>
            <a:r>
              <a:t>month four, which is why the age column, not the calendar column, is the fair comparison.</a:t>
            </a:r>
          </a:p>
          <a:p>
            <a:r>
              <a:t>Transition: what the dashboard does with the same card.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Remind the rule: in a reporting month, count every member two or more months past</a:t>
            </a:r>
          </a:p>
          <a:p>
            <a:r>
              <a:t>her joining month, and ask what share ordered. Vote, argue, vote again.</a:t>
            </a:r>
          </a:p>
          <a:p>
            <a:r>
              <a:t>Transition: the count, both ways.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Ring the two 2-of-7 cells. Then the August column of the sale-week members: they</a:t>
            </a:r>
          </a:p>
          <a:p>
            <a:r>
              <a:t>joined in August, so August is their month zero, and September is their month one, which the</a:t>
            </a:r>
          </a:p>
          <a:p>
            <a:r>
              <a:t>dashboard skips. SECTION 6 finds the same two readings on all 53,089 members.</a:t>
            </a:r>
          </a:p>
          <a:p>
            <a:r>
              <a:t>Transition: what the card showed.</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Read the board's first region; Q2 and Q3 stay dashed. Strike or confirm on the</a:t>
            </a:r>
          </a:p>
          <a:p>
            <a:r>
              <a:t>hypothesis board: "a cohort problem" is now likely; the test was the card.</a:t>
            </a:r>
          </a:p>
          <a:p>
            <a:r>
              <a:t>Transition: SECTION 6 and the full data.</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30 minutes. Laptops open; notebook 06. Hand out: reveal 1 at S47, reveal 2 at S53. If late:</a:t>
            </a:r>
          </a:p>
          <a:p>
            <a:r>
              <a:t>D1 stays self-study. Styles: Krish Naik (one pivot_table, line by line),</a:t>
            </a:r>
          </a:p>
          <a:p>
            <a:r>
              <a:t>Veritasium (three predictions), 3Blue1Brown (the triangle, the stacked count), StatQuest (the</a:t>
            </a:r>
          </a:p>
          <a:p>
            <a:r>
              <a:t>weighted average on seven numbers). Explorer scene Th1.</a:t>
            </a:r>
          </a:p>
          <a:p>
            <a:r>
              <a:t>Transition: the chapter's questions.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Read the four questions. Say what SECTION 5 found, with its numbers, so the room</a:t>
            </a:r>
          </a:p>
          <a:p>
            <a:r>
              <a:t>carries it in: each group fell with age, the sale-week members kept 0 of 5, and the dashboard's</a:t>
            </a:r>
          </a:p>
          <a:p>
            <a:r>
              <a:t>way read 2 of 7 two months running.</a:t>
            </a:r>
          </a:p>
          <a:p>
            <a:r>
              <a:t>Transition: the code that builds the table.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Read the code a line at a time: each year-month as one count of months, age as</a:t>
            </a:r>
          </a:p>
          <a:p>
            <a:r>
              <a:t>the gap between the two, then one pivot_table with cohorts on the rows and ages on the columns;</a:t>
            </a:r>
          </a:p>
          <a:p>
            <a:r>
              <a:t>active (at least one order) was set when the table loaded, and each cell is a mean of True and</a:t>
            </a:r>
          </a:p>
          <a:p>
            <a:r>
              <a:t>False, so it is a share. Vote before the cell runs.</a:t>
            </a:r>
          </a:p>
          <a:p>
            <a:r>
              <a:t>Transition: the table.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Walk one row (January: 58, then 38.7 and down to 36.9 by month eight) and one</a:t>
            </a:r>
          </a:p>
          <a:p>
            <a:r>
              <a:t>column (month one: 58 down to 49, then 31). By our rule, two ages within a point, January to</a:t>
            </a:r>
          </a:p>
          <a:p>
            <a:r>
              <a:t>June each reach a floor at month two, which erodes about 0.3 points a month; July has not lived</a:t>
            </a:r>
          </a:p>
          <a:p>
            <a:r>
              <a:t>month three. Members come back after a month with no order, so the floor is the share ordering in</a:t>
            </a:r>
          </a:p>
          <a:p>
            <a:r>
              <a:t>a typical month, and the 38 who order are not always the same 38. If the room wants the motion, open</a:t>
            </a:r>
          </a:p>
          <a:p>
            <a:r>
              <a:t>whiteboards/C2_W04_D04_cohort_fill_STUDENT.gif, which fills the triangle one month at a time with</a:t>
            </a:r>
          </a:p>
          <a:p>
            <a:r>
              <a:t>the dashboard drawn beside it, or explorer scene Th1, which adds a "next month" button.</a:t>
            </a:r>
          </a:p>
          <a:p>
            <a:r>
              <a:t>Transition: why the dashboard holds over the same months.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Vote. The d voters are thinking about the August cohort, which the dashboard has</a:t>
            </a:r>
          </a:p>
          <a:p>
            <a:r>
              <a:t>not counted yet; ask them to hold that thought for four slides. The a voters hold a true fact,</a:t>
            </a:r>
          </a:p>
          <a:p>
            <a:r>
              <a:t>since members do come back, and the rows already count every returner.</a:t>
            </a:r>
          </a:p>
          <a:p>
            <a:r>
              <a:t>Transition: the direct count.</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Read the four counts. Point at the denominators growing by about 5,000 a month:</a:t>
            </a:r>
          </a:p>
          <a:p>
            <a:r>
              <a:t>one new cohort a month enters the count. The prop is real and small; the number looks flat mostly</a:t>
            </a:r>
          </a:p>
          <a:p>
            <a:r>
              <a:t>because the slide is slow and the count starts at month two. Then say what the room is about to</a:t>
            </a:r>
          </a:p>
          <a:p>
            <a:r>
              <a:t>be tempted to say.</a:t>
            </a:r>
          </a:p>
          <a:p>
            <a:r>
              <a:t>Transition: the plausible wrong answer.</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Read the wrong sentence exactly as a hurried analyst would say it. Ask for the</a:t>
            </a:r>
          </a:p>
          <a:p>
            <a:r>
              <a:t>decision it would drive. Point at September's stack: seven cohorts, January at the bottom, July at</a:t>
            </a:r>
          </a:p>
          <a:p>
            <a:r>
              <a:t>the top, then the hatched bar beside it: 13,000 members the dashboard does not count yet. The</a:t>
            </a:r>
          </a:p>
          <a:p>
            <a:r>
              <a:t>check, taking the number apart, runs in the notebook's empty your-turn cell before the next slide.</a:t>
            </a:r>
          </a:p>
          <a:p>
            <a:r>
              <a:t>Transition: the second route.</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5 minutes. Have one table read its weighted average aloud; it must match 37.8. Unweighted,</a:t>
            </a:r>
          </a:p>
          <a:p>
            <a:r>
              <a:t>the seven rates also average 37.8, because the seven cohorts are about the same size. Add the</a:t>
            </a:r>
          </a:p>
          <a:p>
            <a:r>
              <a:t>13,000-member August cohort and the unweighted mean (36.9) drifts a point from the true 35.9: the</a:t>
            </a:r>
          </a:p>
          <a:p>
            <a:r>
              <a:t>gym's plain mean of rates again, which is why weights matter when sizes differ.</a:t>
            </a:r>
          </a:p>
          <a:p>
            <a:r>
              <a:t>Transition: what the count leaves out.</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Vote. Remind the August cohort's month one is 31 percent, below the 38.</a:t>
            </a:r>
          </a:p>
          <a:p>
            <a:r>
              <a:t>Transition: the reveal.</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5 minutes. Hand out reveal 2 now. Two readings of the same month differ only by who is counted. Then the split:</a:t>
            </a:r>
          </a:p>
          <a:p>
            <a:r>
              <a:t>the problem is the sale week, not the month. The October estimate rests on an assumption, set out</a:t>
            </a:r>
          </a:p>
          <a:p>
            <a:r>
              <a:t>on the self-study slide that follows; name it as one. Strike on the hypothesis board: a cohort</a:t>
            </a:r>
          </a:p>
          <a:p>
            <a:r>
              <a:t>problem, confirmed; the cohort is the sale week's.</a:t>
            </a:r>
          </a:p>
          <a:p>
            <a:r>
              <a:t>Transition: the chapter's close.</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notebook 06's October cell computes the same three numbers. Read it as an estimate with</a:t>
            </a:r>
          </a:p>
          <a:p>
            <a:r>
              <a:t>its assumption named, never as a forecast.</a:t>
            </a:r>
          </a:p>
          <a:p>
            <a:r>
              <a:t>Transition: the chapter's close.</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 cohort axis, months since joining, is the time axis Friday's forecast runs on.</a:t>
            </a:r>
          </a:p>
          <a:p>
            <a:r>
              <a:t>Transition: SECTION 7, the order flow.</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30 minutes. Notebook 07. Hand out: reveal 3 at S62. If late: S62's weekly picture described,</a:t>
            </a:r>
          </a:p>
          <a:p>
            <a:r>
              <a:t>and S64's four self-study rows left to the notes. Styles: Brilliant (the five rates before any explanation),</a:t>
            </a:r>
          </a:p>
          <a:p>
            <a:r>
              <a:t>Veritasium (three predictions), the case method (the app team's partly right chart), Krish Naik</a:t>
            </a:r>
          </a:p>
          <a:p>
            <a:r>
              <a:t>(the release split built line by line). Explorer scene Th3.</a:t>
            </a:r>
          </a:p>
          <a:p>
            <a:r>
              <a:t>Transition: the chapter's questions.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Say what SECTION 6 found, with its numbers: 38 is a weighted average of falling</a:t>
            </a:r>
          </a:p>
          <a:p>
            <a:r>
              <a:t>cohorts, and the sale-week members kept 20 percent in month one.</a:t>
            </a:r>
          </a:p>
          <a:p>
            <a:r>
              <a:t>Transition: the five rates.</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Brilliant's move: the numbers first. Vote, argue, vote. Expect b from part of</a:t>
            </a:r>
          </a:p>
          <a:p>
            <a:r>
              <a:t>the room even after the college; the lowest rate still looks like the loss.</a:t>
            </a:r>
          </a:p>
          <a:p>
            <a:r>
              <a:t>Transition: the answer.</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One line of recall, then straight to the data: the next slide takes the 118 apart.</a:t>
            </a:r>
          </a:p>
          <a:p>
            <a:r>
              <a:t>Transition: the step above 100 percent.</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5 minutes. The artefact: a rate above 100 percent says the numerator holds people who never</a:t>
            </a:r>
          </a:p>
          <a:p>
            <a:r>
              <a:t>passed the denominator's step. Explorer scene Th3 toggles the carousel entries in and out. Strike</a:t>
            </a:r>
          </a:p>
          <a:p>
            <a:r>
              <a:t>on the hypothesis board: the funnel's first steps are not the loss.</a:t>
            </a:r>
          </a:p>
          <a:p>
            <a:r>
              <a:t>Transition: the second unit.</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Vote. Ask one table to explain its letter in a sentence; the college's applicants</a:t>
            </a:r>
          </a:p>
          <a:p>
            <a:r>
              <a:t>are the clue.</a:t>
            </a:r>
          </a:p>
          <a:p>
            <a:r>
              <a:t>Transition: the two units side by side.</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Point at the same step in both panels: 34 and 61. Then at the 101: members skip</a:t>
            </a:r>
          </a:p>
          <a:p>
            <a:r>
              <a:t>search in either unit, which is what makes the step pass 100.</a:t>
            </a:r>
          </a:p>
          <a:p>
            <a:r>
              <a:t>Transition: the release.</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Vote. The ticket gave the before and the after; the shape between them says</a:t>
            </a:r>
          </a:p>
          <a:p>
            <a:r>
              <a:t>whether the release is the moment. The app team's lead will say the checkout works.</a:t>
            </a:r>
          </a:p>
          <a:p>
            <a:r>
              <a:t>Transition: the split by membership, platform and date.</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Read the three lines. The moved cut dates the fall; it does not test tracking,</a:t>
            </a:r>
          </a:p>
          <a:p>
            <a:r>
              <a:t>since the rename shipped with the release and a logging fault would also start on 14 September.</a:t>
            </a:r>
          </a:p>
          <a:p>
            <a:r>
              <a:t>The tracking test is on the doubts slide: the orders counted in member_months against the event</a:t>
            </a:r>
          </a:p>
          <a:p>
            <a:r>
              <a:t>log. Every Android session from 14 September ran checkout v2, so the date and the version are one</a:t>
            </a:r>
          </a:p>
          <a:p>
            <a:r>
              <a:t>split here.</a:t>
            </a:r>
          </a:p>
          <a:p>
            <a:r>
              <a:t>Transition: which step inside the checkout.</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5 minutes. The case method: the app team is partly right, so find the part. Concede that</a:t>
            </a:r>
          </a:p>
          <a:p>
            <a:r>
              <a:t>checkout starts held; bring the split that shows completion fell, for members, on Android, from</a:t>
            </a:r>
          </a:p>
          <a:p>
            <a:r>
              <a:t>the release. Only members on Android fell, so the place to look is something in the new flow that</a:t>
            </a:r>
          </a:p>
          <a:p>
            <a:r>
              <a:t>members see. The 55 rests on 18,273 checkout starts, so chance moves it by under a point if sessions were</a:t>
            </a:r>
          </a:p>
          <a:p>
            <a:r>
              <a:t>independent; sessions cluster within members, so the honest margin is somewhat wider and still far</a:t>
            </a:r>
          </a:p>
          <a:p>
            <a:r>
              <a:t>smaller than the fall from 72.5 to 55. The non-members' comparator rests on 1,600, so "held" there means</a:t>
            </a:r>
          </a:p>
          <a:p>
            <a:r>
              <a:t>within about 2.5 points. The</a:t>
            </a:r>
          </a:p>
          <a:p>
            <a:r>
              <a:t>afternoon's role card replays this dispute.</a:t>
            </a:r>
          </a:p>
          <a:p>
            <a:r>
              <a:t>Transition: the checks before the call.</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a:t>
            </a:r>
          </a:p>
          <a:p>
            <a:r>
              <a:t>https://www.bseindia.com/xml-data/corpfiling/AttachHis/42b3bf3b-1edb-4da7-849a-87ca9da27ff8.pdf (checked 12 October 2026)</a:t>
            </a:r>
          </a:p>
          <a:p>
            <a:r>
              <a:t>LIVE, 2 minutes. Read three rows aloud: tracking, the mix inside the split, and sessions against</a:t>
            </a:r>
          </a:p>
          <a:p>
            <a:r>
              <a:t>members; the other four are for self-study and the notebook. Strike the last lines of the</a:t>
            </a:r>
          </a:p>
          <a:p>
            <a:r>
              <a:t>hypothesis board: tracking is ruled out, the definition explained, a cohort problem confirmed,</a:t>
            </a:r>
          </a:p>
          <a:p>
            <a:r>
              <a:t>and an everyone-on-Android problem in one step. Name censoring for the faculty block (tentative)</a:t>
            </a:r>
          </a:p>
          <a:p>
            <a:r>
              <a:t>and park any "are these curves different by chance" question there.</a:t>
            </a:r>
          </a:p>
          <a:p>
            <a:r>
              <a:t>Transition: the chapter's close.</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a:t>
            </a:r>
          </a:p>
          <a:p>
            <a:r>
              <a:t>https://www.amplitude.com/blog/7-percent-retention-rule (checked 13 October 2026)</a:t>
            </a:r>
          </a:p>
          <a:p>
            <a:r>
              <a:t>A "good" retention number needs its definition: Amplitude, a product-analytics vendor, says 7</a:t>
            </a:r>
          </a:p>
          <a:p>
            <a:r>
              <a:t>percent of a cohort back on day seven puts a product in the top 25 percent for activation among the</a:t>
            </a:r>
          </a:p>
          <a:p>
            <a:r>
              <a:t>more than 2,600 companies it studied, and its blog gives no method. Say so if the room asks for a</a:t>
            </a:r>
          </a:p>
          <a:p>
            <a:r>
              <a:t>benchmark. The size's working: Android members placed 5,064 orders a week before the release and</a:t>
            </a:r>
          </a:p>
          <a:p>
            <a:r>
              <a:t>4,138 after, down 18 percent, while iOS members' orders rose 7 percent and non-members' on Android</a:t>
            </a:r>
          </a:p>
          <a:p>
            <a:r>
              <a:t>4 percent; held to either comparator's change, the loss is 1,266 or 1,133 orders a week.</a:t>
            </a:r>
          </a:p>
          <a:p>
            <a:r>
              <a:t>LIVE, 1 minute. Say the morning's sentence: the dashboard was flat because of who it counts;</a:t>
            </a:r>
          </a:p>
          <a:p>
            <a:r>
              <a:t>every cohort fell; one step, on one platform, after one date, drove the order loss. Board complete.</a:t>
            </a:r>
          </a:p>
          <a:p>
            <a:r>
              <a:t>The afternoon opens on the fifth topic, then makes the call and reads the interview.</a:t>
            </a:r>
          </a:p>
          <a:p>
            <a:r>
              <a:t>Transition: lunch.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xml"/><Relationship Id="rId5"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4.xml"/><Relationship Id="rId5"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3.xml"/><Relationship Id="rId5"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6.xml"/><Relationship Id="rId5"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1.xml"/><Relationship Id="rId5"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14.png"/><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16.png"/><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9.xml"/><Relationship Id="rId5" Type="http://schemas.openxmlformats.org/officeDocument/2006/relationships/image" Target="../media/image1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17.png"/><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19.png"/><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8.xml"/><Relationship Id="rId5" Type="http://schemas.openxmlformats.org/officeDocument/2006/relationships/image" Target="../media/image2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43.xml"/><Relationship Id="rId5" Type="http://schemas.openxmlformats.org/officeDocument/2006/relationships/image" Target="../media/image2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49.xml"/><Relationship Id="rId5" Type="http://schemas.openxmlformats.org/officeDocument/2006/relationships/image" Target="../media/image23.png"/><Relationship Id="rId6" Type="http://schemas.openxmlformats.org/officeDocument/2006/relationships/image" Target="../media/image9.png"/><Relationship Id="rId7" Type="http://schemas.openxmlformats.org/officeDocument/2006/relationships/image" Target="../media/image2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20.png"/><Relationship Id="rId5"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image" Target="../media/image25.png"/><Relationship Id="rId6"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26.png"/><Relationship Id="rId5"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61.xml"/><Relationship Id="rId5" Type="http://schemas.openxmlformats.org/officeDocument/2006/relationships/image" Target="../media/image23.png"/><Relationship Id="rId6" Type="http://schemas.openxmlformats.org/officeDocument/2006/relationships/image" Target="../media/image9.png"/><Relationship Id="rId7" Type="http://schemas.openxmlformats.org/officeDocument/2006/relationships/image" Target="../media/image28.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65.xml"/><Relationship Id="rId5" Type="http://schemas.openxmlformats.org/officeDocument/2006/relationships/image" Target="../media/image29.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27.png"/><Relationship Id="rId5"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0.png"/><Relationship Id="rId5"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1.png"/><Relationship Id="rId5"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73.xml"/><Relationship Id="rId5" Type="http://schemas.openxmlformats.org/officeDocument/2006/relationships/image" Target="../media/image23.png"/><Relationship Id="rId6" Type="http://schemas.openxmlformats.org/officeDocument/2006/relationships/image" Target="../media/image3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COHORT AND FUNNEL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Thursday's topic: cohort and funnel</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is leaving, and at which step do we lose them?</a:t>
            </a:r>
          </a:p>
        </p:txBody>
      </p:sp>
      <p:sp>
        <p:nvSpPr>
          <p:cNvPr id="9" name="TextBox 8"/>
          <p:cNvSpPr txBox="1"/>
          <p:nvPr/>
        </p:nvSpPr>
        <p:spPr>
          <a:xfrm>
            <a:off x="530352" y="1843437"/>
            <a:ext cx="11130991" cy="772160"/>
          </a:xfrm>
          <a:prstGeom prst="rect">
            <a:avLst/>
          </a:prstGeom>
          <a:noFill/>
        </p:spPr>
        <p:txBody>
          <a:bodyPr wrap="square" anchor="t" lIns="0" rIns="0" tIns="0" bIns="0">
            <a:spAutoFit/>
          </a:bodyPr>
          <a:lstStyle/>
          <a:p>
            <a:pPr>
              <a:spcAft>
                <a:spcPts val="800"/>
              </a:spcAft>
            </a:pPr>
            <a:r>
              <a:rPr sz="1600" b="1" i="0">
                <a:solidFill>
                  <a:srgbClr val="1A1440"/>
                </a:solidFill>
                <a:latin typeface="Calibri"/>
              </a:rPr>
              <a:t>Thursday's topic, as the curriculum words it.</a:t>
            </a:r>
            <a:r>
              <a:rPr sz="1600" b="0" i="0">
                <a:solidFill>
                  <a:srgbClr val="1A1440"/>
                </a:solidFill>
                <a:latin typeface="Calibri"/>
              </a:rPr>
              <a:t> Cohort and funnel: why Retail-Plus frequency fell, and where the loss actually happens.</a:t>
            </a:r>
          </a:p>
        </p:txBody>
      </p:sp>
      <p:pic>
        <p:nvPicPr>
          <p:cNvPr id="10" name="mermaid diagram" descr="ca67899a59960eb0.png"/>
          <p:cNvPicPr>
            <a:picLocks noChangeAspect="1"/>
          </p:cNvPicPr>
          <p:nvPr/>
        </p:nvPicPr>
        <p:blipFill>
          <a:blip r:embed="rId5"/>
          <a:stretch>
            <a:fillRect/>
          </a:stretch>
        </p:blipFill>
        <p:spPr>
          <a:xfrm>
            <a:off x="2152497" y="2743613"/>
            <a:ext cx="7886700" cy="2100262"/>
          </a:xfrm>
          <a:prstGeom prst="rect">
            <a:avLst/>
          </a:prstGeom>
        </p:spPr>
      </p:pic>
      <p:sp>
        <p:nvSpPr>
          <p:cNvPr id="11" name="TextBox 10"/>
          <p:cNvSpPr txBox="1"/>
          <p:nvPr/>
        </p:nvSpPr>
        <p:spPr>
          <a:xfrm>
            <a:off x="530352" y="4990179"/>
            <a:ext cx="11130991" cy="1048512"/>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day climbs these three questions twice: first on a gym and a college, invented so every number can be counted by hand, then on Zomato Gold in Chennai, an illustrative case, and in the lab on Kalpa Retail's Retail-Plus tier.</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010412" cy="152146"/>
          </a:xfrm>
          <a:prstGeom prst="rect">
            <a:avLst/>
          </a:prstGeom>
          <a:noFill/>
        </p:spPr>
        <p:txBody>
          <a:bodyPr wrap="square" anchor="t" lIns="0" rIns="0" tIns="0" bIns="0">
            <a:spAutoFit/>
          </a:bodyPr>
          <a:lstStyle/>
          <a:p>
            <a:pPr algn="l"/>
            <a:r>
              <a:rPr sz="700" b="0" i="0">
                <a:solidFill>
                  <a:srgbClr val="6B6690"/>
                </a:solidFill>
                <a:latin typeface="Calibri"/>
              </a:rPr>
              <a:t>Who joined when?</a:t>
            </a:r>
          </a:p>
        </p:txBody>
      </p:sp>
      <p:sp>
        <p:nvSpPr>
          <p:cNvPr id="14" name="Oval 13"/>
          <p:cNvSpPr/>
          <p:nvPr/>
        </p:nvSpPr>
        <p:spPr>
          <a:xfrm>
            <a:off x="174193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85166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Where is the floor?</a:t>
            </a:r>
          </a:p>
        </p:txBody>
      </p:sp>
      <p:sp>
        <p:nvSpPr>
          <p:cNvPr id="16" name="Oval 15"/>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20125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a blend made of?</a:t>
            </a:r>
          </a:p>
        </p:txBody>
      </p:sp>
      <p:sp>
        <p:nvSpPr>
          <p:cNvPr id="18" name="Oval 17"/>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78088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step owns a loss?</a:t>
            </a:r>
          </a:p>
        </p:txBody>
      </p:sp>
      <p:sp>
        <p:nvSpPr>
          <p:cNvPr id="20" name="Oval 19"/>
          <p:cNvSpPr/>
          <p:nvPr/>
        </p:nvSpPr>
        <p:spPr>
          <a:xfrm>
            <a:off x="62047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314503"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Who entered when?</a:t>
            </a:r>
          </a:p>
        </p:txBody>
      </p:sp>
      <p:sp>
        <p:nvSpPr>
          <p:cNvPr id="22" name="Oval 21"/>
          <p:cNvSpPr/>
          <p:nvPr/>
        </p:nvSpPr>
        <p:spPr>
          <a:xfrm>
            <a:off x="74623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572089"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the 38 made of?</a:t>
            </a:r>
          </a:p>
        </p:txBody>
      </p:sp>
      <p:sp>
        <p:nvSpPr>
          <p:cNvPr id="24" name="Oval 23"/>
          <p:cNvSpPr/>
          <p:nvPr/>
        </p:nvSpPr>
        <p:spPr>
          <a:xfrm>
            <a:off x="899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10570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stage owns the loss?</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  ·  1 / 73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COHORT AND FUNNEL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week map, Thursday lit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Where does today sit, and what did the days before it find?</a:t>
            </a:r>
          </a:p>
        </p:txBody>
      </p:sp>
      <p:pic>
        <p:nvPicPr>
          <p:cNvPr id="9" name="mermaid diagram" descr="1e025ae40bea612b.png"/>
          <p:cNvPicPr>
            <a:picLocks noChangeAspect="1"/>
          </p:cNvPicPr>
          <p:nvPr/>
        </p:nvPicPr>
        <p:blipFill>
          <a:blip r:embed="rId5"/>
          <a:stretch>
            <a:fillRect/>
          </a:stretch>
        </p:blipFill>
        <p:spPr>
          <a:xfrm>
            <a:off x="2682134" y="1682496"/>
            <a:ext cx="6827426" cy="4517136"/>
          </a:xfrm>
          <a:prstGeom prst="rect">
            <a:avLst/>
          </a:prstGeom>
        </p:spPr>
      </p:pic>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010412" cy="152146"/>
          </a:xfrm>
          <a:prstGeom prst="rect">
            <a:avLst/>
          </a:prstGeom>
          <a:noFill/>
        </p:spPr>
        <p:txBody>
          <a:bodyPr wrap="square" anchor="t" lIns="0" rIns="0" tIns="0" bIns="0">
            <a:spAutoFit/>
          </a:bodyPr>
          <a:lstStyle/>
          <a:p>
            <a:pPr algn="l"/>
            <a:r>
              <a:rPr sz="700" b="0" i="0">
                <a:solidFill>
                  <a:srgbClr val="6B6690"/>
                </a:solidFill>
                <a:latin typeface="Calibri"/>
              </a:rPr>
              <a:t>Who joined when?</a:t>
            </a:r>
          </a:p>
        </p:txBody>
      </p:sp>
      <p:sp>
        <p:nvSpPr>
          <p:cNvPr id="12" name="Oval 11"/>
          <p:cNvSpPr/>
          <p:nvPr/>
        </p:nvSpPr>
        <p:spPr>
          <a:xfrm>
            <a:off x="174193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85166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Where is the floor?</a:t>
            </a:r>
          </a:p>
        </p:txBody>
      </p:sp>
      <p:sp>
        <p:nvSpPr>
          <p:cNvPr id="14" name="Oval 13"/>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20125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a blend made of?</a:t>
            </a:r>
          </a:p>
        </p:txBody>
      </p:sp>
      <p:sp>
        <p:nvSpPr>
          <p:cNvPr id="16" name="Oval 15"/>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78088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step owns a loss?</a:t>
            </a:r>
          </a:p>
        </p:txBody>
      </p:sp>
      <p:sp>
        <p:nvSpPr>
          <p:cNvPr id="18" name="Oval 17"/>
          <p:cNvSpPr/>
          <p:nvPr/>
        </p:nvSpPr>
        <p:spPr>
          <a:xfrm>
            <a:off x="62047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314503"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Who entered when?</a:t>
            </a:r>
          </a:p>
        </p:txBody>
      </p:sp>
      <p:sp>
        <p:nvSpPr>
          <p:cNvPr id="20" name="Oval 19"/>
          <p:cNvSpPr/>
          <p:nvPr/>
        </p:nvSpPr>
        <p:spPr>
          <a:xfrm>
            <a:off x="74623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572089"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the 38 made of?</a:t>
            </a:r>
          </a:p>
        </p:txBody>
      </p:sp>
      <p:sp>
        <p:nvSpPr>
          <p:cNvPr id="22" name="Oval 21"/>
          <p:cNvSpPr/>
          <p:nvPr/>
        </p:nvSpPr>
        <p:spPr>
          <a:xfrm>
            <a:off x="899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10570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stage owns the loss?</a:t>
            </a:r>
          </a:p>
        </p:txBody>
      </p:sp>
      <p:sp>
        <p:nvSpPr>
          <p:cNvPr id="24" name="TextBox 2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  ·  2 / 73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COHORT AND FUNNEL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Five topics, each with its chapter and notebook</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topics does Thursday teach, in which chapter, for how long, and with which notebook?</a:t>
            </a:r>
          </a:p>
        </p:txBody>
      </p:sp>
      <p:graphicFrame>
        <p:nvGraphicFramePr>
          <p:cNvPr id="9" name="Table 8"/>
          <p:cNvGraphicFramePr>
            <a:graphicFrameLocks noGrp="1"/>
          </p:cNvGraphicFramePr>
          <p:nvPr/>
        </p:nvGraphicFramePr>
        <p:xfrm>
          <a:off x="530352" y="1956816"/>
          <a:ext cx="11130990" cy="2426208"/>
        </p:xfrm>
        <a:graphic>
          <a:graphicData uri="http://schemas.openxmlformats.org/drawingml/2006/table">
            <a:tbl>
              <a:tblPr firstRow="0" bandRow="0">
                <a:tableStyleId>{2D5ABB26-0587-4C30-8999-92F81FD0307C}</a:tableStyleId>
              </a:tblPr>
              <a:tblGrid>
                <a:gridCol w="914400"/>
                <a:gridCol w="3383776"/>
                <a:gridCol w="1896288"/>
                <a:gridCol w="914400"/>
                <a:gridCol w="2202355"/>
                <a:gridCol w="1819771"/>
              </a:tblGrid>
              <a:tr h="335280">
                <a:tc>
                  <a:txBody>
                    <a:bodyPr/>
                    <a:lstStyle/>
                    <a:p>
                      <a:r>
                        <a:rPr sz="1250" b="1" i="0">
                          <a:solidFill>
                            <a:srgbClr val="FFFFFF"/>
                          </a:solidFill>
                          <a:latin typeface="Calibri"/>
                        </a:rPr>
                        <a:t>#</a:t>
                      </a:r>
                    </a:p>
                  </a:txBody>
                  <a:tcPr marL="101600" marR="101600" marT="38100" marB="38100" anchor="ctr">
                    <a:solidFill>
                      <a:srgbClr val="1A0F5C"/>
                    </a:solidFill>
                  </a:tcPr>
                </a:tc>
                <a:tc>
                  <a:txBody>
                    <a:bodyPr/>
                    <a:lstStyle/>
                    <a:p>
                      <a:r>
                        <a:rPr sz="1250" b="1" i="0">
                          <a:solidFill>
                            <a:srgbClr val="FFFFFF"/>
                          </a:solidFill>
                          <a:latin typeface="Calibri"/>
                        </a:rPr>
                        <a:t>The topic, as the curriculum words it</a:t>
                      </a:r>
                    </a:p>
                  </a:txBody>
                  <a:tcPr marL="101600" marR="101600" marT="38100" marB="38100" anchor="ctr">
                    <a:solidFill>
                      <a:srgbClr val="1A0F5C"/>
                    </a:solidFill>
                  </a:tcPr>
                </a:tc>
                <a:tc>
                  <a:txBody>
                    <a:bodyPr/>
                    <a:lstStyle/>
                    <a:p>
                      <a:r>
                        <a:rPr sz="1250" b="1" i="0">
                          <a:solidFill>
                            <a:srgbClr val="FFFFFF"/>
                          </a:solidFill>
                          <a:latin typeface="Calibri"/>
                        </a:rPr>
                        <a:t>Taught in</a:t>
                      </a:r>
                    </a:p>
                  </a:txBody>
                  <a:tcPr marL="101600" marR="101600" marT="38100" marB="38100" anchor="ctr">
                    <a:solidFill>
                      <a:srgbClr val="1A0F5C"/>
                    </a:solidFill>
                  </a:tcPr>
                </a:tc>
                <a:tc>
                  <a:txBody>
                    <a:bodyPr/>
                    <a:lstStyle/>
                    <a:p>
                      <a:r>
                        <a:rPr sz="1250" b="1" i="0">
                          <a:solidFill>
                            <a:srgbClr val="FFFFFF"/>
                          </a:solidFill>
                          <a:latin typeface="Calibri"/>
                        </a:rPr>
                        <a:t>Minutes</a:t>
                      </a:r>
                    </a:p>
                  </a:txBody>
                  <a:tcPr marL="101600" marR="101600" marT="38100" marB="38100" anchor="ctr">
                    <a:solidFill>
                      <a:srgbClr val="1A0F5C"/>
                    </a:solidFill>
                  </a:tcPr>
                </a:tc>
                <a:tc>
                  <a:txBody>
                    <a:bodyPr/>
                    <a:lstStyle/>
                    <a:p>
                      <a:r>
                        <a:rPr sz="1250" b="1" i="0">
                          <a:solidFill>
                            <a:srgbClr val="FFFFFF"/>
                          </a:solidFill>
                          <a:latin typeface="Calibri"/>
                        </a:rPr>
                        <a:t>Notebook</a:t>
                      </a:r>
                    </a:p>
                  </a:txBody>
                  <a:tcPr marL="101600" marR="101600" marT="38100" marB="38100" anchor="ctr">
                    <a:solidFill>
                      <a:srgbClr val="1A0F5C"/>
                    </a:solidFill>
                  </a:tcPr>
                </a:tc>
                <a:tc>
                  <a:txBody>
                    <a:bodyPr/>
                    <a:lstStyle/>
                    <a:p>
                      <a:r>
                        <a:rPr sz="1250" b="1" i="0">
                          <a:solidFill>
                            <a:srgbClr val="FFFFFF"/>
                          </a:solidFill>
                          <a:latin typeface="Calibri"/>
                        </a:rPr>
                        <a:t>Applied in</a:t>
                      </a:r>
                    </a:p>
                  </a:txBody>
                  <a:tcPr marL="101600" marR="101600" marT="38100" marB="38100" anchor="ctr">
                    <a:solidFill>
                      <a:srgbClr val="1A0F5C"/>
                    </a:solidFill>
                  </a:tcPr>
                </a:tc>
              </a:tr>
              <a:tr h="335280">
                <a:tc>
                  <a:txBody>
                    <a:bodyPr/>
                    <a:lstStyle/>
                    <a:p>
                      <a:r>
                        <a:rPr sz="1200" b="0" i="0">
                          <a:solidFill>
                            <a:srgbClr val="1A1440"/>
                          </a:solidFill>
                          <a:latin typeface="Calibri"/>
                        </a:rPr>
                        <a:t>1</a:t>
                      </a:r>
                    </a:p>
                  </a:txBody>
                  <a:tcPr marL="101600" marR="101600" marT="38100" marB="38100" anchor="ctr">
                    <a:solidFill>
                      <a:srgbClr val="FFFFFF"/>
                    </a:solidFill>
                  </a:tcPr>
                </a:tc>
                <a:tc>
                  <a:txBody>
                    <a:bodyPr/>
                    <a:lstStyle/>
                    <a:p>
                      <a:r>
                        <a:rPr sz="1200" b="0" i="0">
                          <a:solidFill>
                            <a:srgbClr val="1A1440"/>
                          </a:solidFill>
                          <a:latin typeface="Calibri"/>
                        </a:rPr>
                        <a:t>Cohort construction</a:t>
                      </a:r>
                    </a:p>
                  </a:txBody>
                  <a:tcPr marL="101600" marR="101600" marT="38100" marB="38100" anchor="ctr">
                    <a:solidFill>
                      <a:srgbClr val="FFFFFF"/>
                    </a:solidFill>
                  </a:tcPr>
                </a:tc>
                <a:tc>
                  <a:txBody>
                    <a:bodyPr/>
                    <a:lstStyle/>
                    <a:p>
                      <a:r>
                        <a:rPr sz="1200" b="0" i="0">
                          <a:solidFill>
                            <a:srgbClr val="1A1440"/>
                          </a:solidFill>
                          <a:latin typeface="Calibri"/>
                        </a:rPr>
                        <a:t>SECTION 1</a:t>
                      </a:r>
                    </a:p>
                  </a:txBody>
                  <a:tcPr marL="101600" marR="101600" marT="38100" marB="38100" anchor="ctr">
                    <a:solidFill>
                      <a:srgbClr val="FFFFFF"/>
                    </a:solidFill>
                  </a:tcPr>
                </a:tc>
                <a:tc>
                  <a:txBody>
                    <a:bodyPr/>
                    <a:lstStyle/>
                    <a:p>
                      <a:r>
                        <a:rPr sz="1200" b="0" i="0">
                          <a:solidFill>
                            <a:srgbClr val="1A1440"/>
                          </a:solidFill>
                          <a:latin typeface="Calibri"/>
                        </a:rPr>
                        <a:t>25</a:t>
                      </a:r>
                    </a:p>
                  </a:txBody>
                  <a:tcPr marL="101600" marR="101600" marT="38100" marB="38100" anchor="ctr">
                    <a:solidFill>
                      <a:srgbClr val="FFFFFF"/>
                    </a:solidFill>
                  </a:tcPr>
                </a:tc>
                <a:tc>
                  <a:txBody>
                    <a:bodyPr/>
                    <a:lstStyle/>
                    <a:p>
                      <a:r>
                        <a:rPr sz="1200" b="0" i="0">
                          <a:solidFill>
                            <a:srgbClr val="1A1440"/>
                          </a:solidFill>
                          <a:latin typeface="Calibri"/>
                        </a:rPr>
                        <a:t>01 cohort construction</a:t>
                      </a:r>
                    </a:p>
                  </a:txBody>
                  <a:tcPr marL="101600" marR="101600" marT="38100" marB="38100" anchor="ctr">
                    <a:solidFill>
                      <a:srgbClr val="FFFFFF"/>
                    </a:solidFill>
                  </a:tcPr>
                </a:tc>
                <a:tc>
                  <a:txBody>
                    <a:bodyPr/>
                    <a:lstStyle/>
                    <a:p>
                      <a:r>
                        <a:rPr sz="1200" b="0" i="0">
                          <a:solidFill>
                            <a:srgbClr val="1A1440"/>
                          </a:solidFill>
                          <a:latin typeface="Calibri"/>
                        </a:rPr>
                        <a:t>SECTIONs 5 and 6</a:t>
                      </a:r>
                    </a:p>
                  </a:txBody>
                  <a:tcPr marL="101600" marR="101600" marT="38100" marB="38100" anchor="ctr">
                    <a:solidFill>
                      <a:srgbClr val="FFFFFF"/>
                    </a:solidFill>
                  </a:tcPr>
                </a:tc>
              </a:tr>
              <a:tr h="335280">
                <a:tc>
                  <a:txBody>
                    <a:bodyPr/>
                    <a:lstStyle/>
                    <a:p>
                      <a:r>
                        <a:rPr sz="1200" b="0" i="0">
                          <a:solidFill>
                            <a:srgbClr val="1A1440"/>
                          </a:solidFill>
                          <a:latin typeface="Calibri"/>
                        </a:rPr>
                        <a:t>2</a:t>
                      </a:r>
                    </a:p>
                  </a:txBody>
                  <a:tcPr marL="101600" marR="101600" marT="38100" marB="38100" anchor="ctr">
                    <a:solidFill>
                      <a:srgbClr val="F4F2FA"/>
                    </a:solidFill>
                  </a:tcPr>
                </a:tc>
                <a:tc>
                  <a:txBody>
                    <a:bodyPr/>
                    <a:lstStyle/>
                    <a:p>
                      <a:r>
                        <a:rPr sz="1200" b="0" i="0">
                          <a:solidFill>
                            <a:srgbClr val="1A1440"/>
                          </a:solidFill>
                          <a:latin typeface="Calibri"/>
                        </a:rPr>
                        <a:t>Funnel stages, drop-off, denominators</a:t>
                      </a:r>
                    </a:p>
                  </a:txBody>
                  <a:tcPr marL="101600" marR="101600" marT="38100" marB="38100" anchor="ctr">
                    <a:solidFill>
                      <a:srgbClr val="F4F2FA"/>
                    </a:solidFill>
                  </a:tcPr>
                </a:tc>
                <a:tc>
                  <a:txBody>
                    <a:bodyPr/>
                    <a:lstStyle/>
                    <a:p>
                      <a:r>
                        <a:rPr sz="1200" b="0" i="0">
                          <a:solidFill>
                            <a:srgbClr val="1A1440"/>
                          </a:solidFill>
                          <a:latin typeface="Calibri"/>
                        </a:rPr>
                        <a:t>SECTION 4</a:t>
                      </a:r>
                    </a:p>
                  </a:txBody>
                  <a:tcPr marL="101600" marR="101600" marT="38100" marB="38100" anchor="ctr">
                    <a:solidFill>
                      <a:srgbClr val="F4F2FA"/>
                    </a:solidFill>
                  </a:tcPr>
                </a:tc>
                <a:tc>
                  <a:txBody>
                    <a:bodyPr/>
                    <a:lstStyle/>
                    <a:p>
                      <a:r>
                        <a:rPr sz="1200" b="0" i="0">
                          <a:solidFill>
                            <a:srgbClr val="1A1440"/>
                          </a:solidFill>
                          <a:latin typeface="Calibri"/>
                        </a:rPr>
                        <a:t>25</a:t>
                      </a:r>
                    </a:p>
                  </a:txBody>
                  <a:tcPr marL="101600" marR="101600" marT="38100" marB="38100" anchor="ctr">
                    <a:solidFill>
                      <a:srgbClr val="F4F2FA"/>
                    </a:solidFill>
                  </a:tcPr>
                </a:tc>
                <a:tc>
                  <a:txBody>
                    <a:bodyPr/>
                    <a:lstStyle/>
                    <a:p>
                      <a:r>
                        <a:rPr sz="1200" b="0" i="0">
                          <a:solidFill>
                            <a:srgbClr val="1A1440"/>
                          </a:solidFill>
                          <a:latin typeface="Calibri"/>
                        </a:rPr>
                        <a:t>04 funnel denominators</a:t>
                      </a:r>
                    </a:p>
                  </a:txBody>
                  <a:tcPr marL="101600" marR="101600" marT="38100" marB="38100" anchor="ctr">
                    <a:solidFill>
                      <a:srgbClr val="F4F2FA"/>
                    </a:solidFill>
                  </a:tcPr>
                </a:tc>
                <a:tc>
                  <a:txBody>
                    <a:bodyPr/>
                    <a:lstStyle/>
                    <a:p>
                      <a:r>
                        <a:rPr sz="1200" b="0" i="0">
                          <a:solidFill>
                            <a:srgbClr val="1A1440"/>
                          </a:solidFill>
                          <a:latin typeface="Calibri"/>
                        </a:rPr>
                        <a:t>SECTION 7</a:t>
                      </a:r>
                    </a:p>
                  </a:txBody>
                  <a:tcPr marL="101600" marR="101600" marT="38100" marB="38100" anchor="ctr">
                    <a:solidFill>
                      <a:srgbClr val="F4F2FA"/>
                    </a:solidFill>
                  </a:tcPr>
                </a:tc>
              </a:tr>
              <a:tr h="335280">
                <a:tc>
                  <a:txBody>
                    <a:bodyPr/>
                    <a:lstStyle/>
                    <a:p>
                      <a:r>
                        <a:rPr sz="1200" b="0" i="0">
                          <a:solidFill>
                            <a:srgbClr val="1A1440"/>
                          </a:solidFill>
                          <a:latin typeface="Calibri"/>
                        </a:rPr>
                        <a:t>3</a:t>
                      </a:r>
                    </a:p>
                  </a:txBody>
                  <a:tcPr marL="101600" marR="101600" marT="38100" marB="38100" anchor="ctr">
                    <a:solidFill>
                      <a:srgbClr val="FFFFFF"/>
                    </a:solidFill>
                  </a:tcPr>
                </a:tc>
                <a:tc>
                  <a:txBody>
                    <a:bodyPr/>
                    <a:lstStyle/>
                    <a:p>
                      <a:r>
                        <a:rPr sz="1200" b="0" i="0">
                          <a:solidFill>
                            <a:srgbClr val="1A1440"/>
                          </a:solidFill>
                          <a:latin typeface="Calibri"/>
                        </a:rPr>
                        <a:t>Retention curves: shape and floor</a:t>
                      </a:r>
                    </a:p>
                  </a:txBody>
                  <a:tcPr marL="101600" marR="101600" marT="38100" marB="38100" anchor="ctr">
                    <a:solidFill>
                      <a:srgbClr val="FFFFFF"/>
                    </a:solidFill>
                  </a:tcPr>
                </a:tc>
                <a:tc>
                  <a:txBody>
                    <a:bodyPr/>
                    <a:lstStyle/>
                    <a:p>
                      <a:r>
                        <a:rPr sz="1200" b="0" i="0">
                          <a:solidFill>
                            <a:srgbClr val="1A1440"/>
                          </a:solidFill>
                          <a:latin typeface="Calibri"/>
                        </a:rPr>
                        <a:t>SECTION 2</a:t>
                      </a:r>
                    </a:p>
                  </a:txBody>
                  <a:tcPr marL="101600" marR="101600" marT="38100" marB="38100" anchor="ctr">
                    <a:solidFill>
                      <a:srgbClr val="FFFFFF"/>
                    </a:solidFill>
                  </a:tcPr>
                </a:tc>
                <a:tc>
                  <a:txBody>
                    <a:bodyPr/>
                    <a:lstStyle/>
                    <a:p>
                      <a:r>
                        <a:rPr sz="1200" b="0" i="0">
                          <a:solidFill>
                            <a:srgbClr val="1A1440"/>
                          </a:solidFill>
                          <a:latin typeface="Calibri"/>
                        </a:rPr>
                        <a:t>15</a:t>
                      </a:r>
                    </a:p>
                  </a:txBody>
                  <a:tcPr marL="101600" marR="101600" marT="38100" marB="38100" anchor="ctr">
                    <a:solidFill>
                      <a:srgbClr val="FFFFFF"/>
                    </a:solidFill>
                  </a:tcPr>
                </a:tc>
                <a:tc>
                  <a:txBody>
                    <a:bodyPr/>
                    <a:lstStyle/>
                    <a:p>
                      <a:r>
                        <a:rPr sz="1200" b="0" i="0">
                          <a:solidFill>
                            <a:srgbClr val="1A1440"/>
                          </a:solidFill>
                          <a:latin typeface="Calibri"/>
                        </a:rPr>
                        <a:t>02 retention curves</a:t>
                      </a:r>
                    </a:p>
                  </a:txBody>
                  <a:tcPr marL="101600" marR="101600" marT="38100" marB="38100" anchor="ctr">
                    <a:solidFill>
                      <a:srgbClr val="FFFFFF"/>
                    </a:solidFill>
                  </a:tcPr>
                </a:tc>
                <a:tc>
                  <a:txBody>
                    <a:bodyPr/>
                    <a:lstStyle/>
                    <a:p>
                      <a:r>
                        <a:rPr sz="1200" b="0" i="0">
                          <a:solidFill>
                            <a:srgbClr val="1A1440"/>
                          </a:solidFill>
                          <a:latin typeface="Calibri"/>
                        </a:rPr>
                        <a:t>SECTION 6</a:t>
                      </a:r>
                    </a:p>
                  </a:txBody>
                  <a:tcPr marL="101600" marR="101600" marT="38100" marB="38100" anchor="ctr">
                    <a:solidFill>
                      <a:srgbClr val="FFFFFF"/>
                    </a:solidFill>
                  </a:tcPr>
                </a:tc>
              </a:tr>
              <a:tr h="542544">
                <a:tc>
                  <a:txBody>
                    <a:bodyPr/>
                    <a:lstStyle/>
                    <a:p>
                      <a:r>
                        <a:rPr sz="1200" b="0" i="0">
                          <a:solidFill>
                            <a:srgbClr val="1A1440"/>
                          </a:solidFill>
                          <a:latin typeface="Calibri"/>
                        </a:rPr>
                        <a:t>4</a:t>
                      </a:r>
                    </a:p>
                  </a:txBody>
                  <a:tcPr marL="101600" marR="101600" marT="38100" marB="38100" anchor="ctr">
                    <a:solidFill>
                      <a:srgbClr val="F4F2FA"/>
                    </a:solidFill>
                  </a:tcPr>
                </a:tc>
                <a:tc>
                  <a:txBody>
                    <a:bodyPr/>
                    <a:lstStyle/>
                    <a:p>
                      <a:r>
                        <a:rPr sz="1200" b="0" i="0">
                          <a:solidFill>
                            <a:srgbClr val="1A1440"/>
                          </a:solidFill>
                          <a:latin typeface="Calibri"/>
                        </a:rPr>
                        <a:t>Blended numbers against cohort truth</a:t>
                      </a:r>
                    </a:p>
                  </a:txBody>
                  <a:tcPr marL="101600" marR="101600" marT="38100" marB="38100" anchor="ctr">
                    <a:solidFill>
                      <a:srgbClr val="F4F2FA"/>
                    </a:solidFill>
                  </a:tcPr>
                </a:tc>
                <a:tc>
                  <a:txBody>
                    <a:bodyPr/>
                    <a:lstStyle/>
                    <a:p>
                      <a:r>
                        <a:rPr sz="1200" b="0" i="0">
                          <a:solidFill>
                            <a:srgbClr val="1A1440"/>
                          </a:solidFill>
                          <a:latin typeface="Calibri"/>
                        </a:rPr>
                        <a:t>SECTION 3</a:t>
                      </a:r>
                    </a:p>
                  </a:txBody>
                  <a:tcPr marL="101600" marR="101600" marT="38100" marB="38100" anchor="ctr">
                    <a:solidFill>
                      <a:srgbClr val="F4F2FA"/>
                    </a:solidFill>
                  </a:tcPr>
                </a:tc>
                <a:tc>
                  <a:txBody>
                    <a:bodyPr/>
                    <a:lstStyle/>
                    <a:p>
                      <a:r>
                        <a:rPr sz="1200" b="0" i="0">
                          <a:solidFill>
                            <a:srgbClr val="1A1440"/>
                          </a:solidFill>
                          <a:latin typeface="Calibri"/>
                        </a:rPr>
                        <a:t>20</a:t>
                      </a:r>
                    </a:p>
                  </a:txBody>
                  <a:tcPr marL="101600" marR="101600" marT="38100" marB="38100" anchor="ctr">
                    <a:solidFill>
                      <a:srgbClr val="F4F2FA"/>
                    </a:solidFill>
                  </a:tcPr>
                </a:tc>
                <a:tc>
                  <a:txBody>
                    <a:bodyPr/>
                    <a:lstStyle/>
                    <a:p>
                      <a:r>
                        <a:rPr sz="1200" b="0" i="0">
                          <a:solidFill>
                            <a:srgbClr val="1A1440"/>
                          </a:solidFill>
                          <a:latin typeface="Calibri"/>
                        </a:rPr>
                        <a:t>03 blended vs cohort truth</a:t>
                      </a:r>
                    </a:p>
                  </a:txBody>
                  <a:tcPr marL="101600" marR="101600" marT="38100" marB="38100" anchor="ctr">
                    <a:solidFill>
                      <a:srgbClr val="F4F2FA"/>
                    </a:solidFill>
                  </a:tcPr>
                </a:tc>
                <a:tc>
                  <a:txBody>
                    <a:bodyPr/>
                    <a:lstStyle/>
                    <a:p>
                      <a:r>
                        <a:rPr sz="1200" b="0" i="0">
                          <a:solidFill>
                            <a:srgbClr val="1A1440"/>
                          </a:solidFill>
                          <a:latin typeface="Calibri"/>
                        </a:rPr>
                        <a:t>SECTION 6</a:t>
                      </a:r>
                    </a:p>
                  </a:txBody>
                  <a:tcPr marL="101600" marR="101600" marT="38100" marB="38100" anchor="ctr">
                    <a:solidFill>
                      <a:srgbClr val="F4F2FA"/>
                    </a:solidFill>
                  </a:tcPr>
                </a:tc>
              </a:tr>
              <a:tr h="542544">
                <a:tc>
                  <a:txBody>
                    <a:bodyPr/>
                    <a:lstStyle/>
                    <a:p>
                      <a:r>
                        <a:rPr sz="1200" b="0" i="0">
                          <a:solidFill>
                            <a:srgbClr val="1A1440"/>
                          </a:solidFill>
                          <a:latin typeface="Calibri"/>
                        </a:rPr>
                        <a:t>5</a:t>
                      </a:r>
                    </a:p>
                  </a:txBody>
                  <a:tcPr marL="101600" marR="101600" marT="38100" marB="38100" anchor="ctr">
                    <a:solidFill>
                      <a:srgbClr val="FFFFFF"/>
                    </a:solidFill>
                  </a:tcPr>
                </a:tc>
                <a:tc>
                  <a:txBody>
                    <a:bodyPr/>
                    <a:lstStyle/>
                    <a:p>
                      <a:r>
                        <a:rPr sz="1200" b="0" i="0">
                          <a:solidFill>
                            <a:srgbClr val="1A1440"/>
                          </a:solidFill>
                          <a:latin typeface="Calibri"/>
                        </a:rPr>
                        <a:t>The fix-first decision and its evidence</a:t>
                      </a:r>
                    </a:p>
                  </a:txBody>
                  <a:tcPr marL="101600" marR="101600" marT="38100" marB="38100" anchor="ctr">
                    <a:solidFill>
                      <a:srgbClr val="FFFFFF"/>
                    </a:solidFill>
                  </a:tcPr>
                </a:tc>
                <a:tc>
                  <a:txBody>
                    <a:bodyPr/>
                    <a:lstStyle/>
                    <a:p>
                      <a:r>
                        <a:rPr sz="1200" b="0" i="0">
                          <a:solidFill>
                            <a:srgbClr val="1A1440"/>
                          </a:solidFill>
                          <a:latin typeface="Calibri"/>
                        </a:rPr>
                        <a:t>SECTION 8, after lunch</a:t>
                      </a:r>
                    </a:p>
                  </a:txBody>
                  <a:tcPr marL="101600" marR="101600" marT="38100" marB="38100" anchor="ctr">
                    <a:solidFill>
                      <a:srgbClr val="FFFFFF"/>
                    </a:solidFill>
                  </a:tcPr>
                </a:tc>
                <a:tc>
                  <a:txBody>
                    <a:bodyPr/>
                    <a:lstStyle/>
                    <a:p>
                      <a:r>
                        <a:rPr sz="1200" b="0" i="0">
                          <a:solidFill>
                            <a:srgbClr val="1A1440"/>
                          </a:solidFill>
                          <a:latin typeface="Calibri"/>
                        </a:rPr>
                        <a:t>10</a:t>
                      </a:r>
                    </a:p>
                  </a:txBody>
                  <a:tcPr marL="101600" marR="101600" marT="38100" marB="38100" anchor="ctr">
                    <a:solidFill>
                      <a:srgbClr val="FFFFFF"/>
                    </a:solidFill>
                  </a:tcPr>
                </a:tc>
                <a:tc>
                  <a:txBody>
                    <a:bodyPr/>
                    <a:lstStyle/>
                    <a:p>
                      <a:r>
                        <a:rPr sz="1200" b="0" i="0">
                          <a:solidFill>
                            <a:srgbClr val="1A1440"/>
                          </a:solidFill>
                          <a:latin typeface="Calibri"/>
                        </a:rPr>
                        <a:t>08 fix first evidence</a:t>
                      </a:r>
                    </a:p>
                  </a:txBody>
                  <a:tcPr marL="101600" marR="101600" marT="38100" marB="38100" anchor="ctr">
                    <a:solidFill>
                      <a:srgbClr val="FFFFFF"/>
                    </a:solidFill>
                  </a:tcPr>
                </a:tc>
                <a:tc>
                  <a:txBody>
                    <a:bodyPr/>
                    <a:lstStyle/>
                    <a:p>
                      <a:r>
                        <a:rPr sz="1200" b="0" i="0">
                          <a:solidFill>
                            <a:srgbClr val="1A1440"/>
                          </a:solidFill>
                          <a:latin typeface="Calibri"/>
                        </a:rPr>
                        <a:t>SECTION 9 and the lab</a:t>
                      </a:r>
                    </a:p>
                  </a:txBody>
                  <a:tcPr marL="101600" marR="101600" marT="38100" marB="38100" anchor="ctr">
                    <a:solidFill>
                      <a:srgbClr val="FFFFFF"/>
                    </a:solidFill>
                  </a:tcPr>
                </a:tc>
              </a:tr>
            </a:tbl>
          </a:graphicData>
        </a:graphic>
      </p:graphicFrame>
      <p:sp>
        <p:nvSpPr>
          <p:cNvPr id="10" name="TextBox 9"/>
          <p:cNvSpPr txBox="1"/>
          <p:nvPr/>
        </p:nvSpPr>
        <p:spPr>
          <a:xfrm>
            <a:off x="530352" y="4639056"/>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chapters run 1, 3, 4, 2, 5: topics 1, 3 and 4 share one invented gym and one table read three ways, topic 2 brings an invented college, and topic 5 opens the afternoon right before the call that uses it.</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010412" cy="152146"/>
          </a:xfrm>
          <a:prstGeom prst="rect">
            <a:avLst/>
          </a:prstGeom>
          <a:noFill/>
        </p:spPr>
        <p:txBody>
          <a:bodyPr wrap="square" anchor="t" lIns="0" rIns="0" tIns="0" bIns="0">
            <a:spAutoFit/>
          </a:bodyPr>
          <a:lstStyle/>
          <a:p>
            <a:pPr algn="l"/>
            <a:r>
              <a:rPr sz="700" b="0" i="0">
                <a:solidFill>
                  <a:srgbClr val="6B6690"/>
                </a:solidFill>
                <a:latin typeface="Calibri"/>
              </a:rPr>
              <a:t>Who joined when?</a:t>
            </a:r>
          </a:p>
        </p:txBody>
      </p:sp>
      <p:sp>
        <p:nvSpPr>
          <p:cNvPr id="13" name="Oval 12"/>
          <p:cNvSpPr/>
          <p:nvPr/>
        </p:nvSpPr>
        <p:spPr>
          <a:xfrm>
            <a:off x="174193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85166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Where is the floor?</a:t>
            </a:r>
          </a:p>
        </p:txBody>
      </p:sp>
      <p:sp>
        <p:nvSpPr>
          <p:cNvPr id="15" name="Oval 14"/>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20125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a blend made of?</a:t>
            </a:r>
          </a:p>
        </p:txBody>
      </p:sp>
      <p:sp>
        <p:nvSpPr>
          <p:cNvPr id="17" name="Oval 16"/>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78088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step owns a loss?</a:t>
            </a:r>
          </a:p>
        </p:txBody>
      </p:sp>
      <p:sp>
        <p:nvSpPr>
          <p:cNvPr id="19" name="Oval 18"/>
          <p:cNvSpPr/>
          <p:nvPr/>
        </p:nvSpPr>
        <p:spPr>
          <a:xfrm>
            <a:off x="62047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314503"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Who entered when?</a:t>
            </a:r>
          </a:p>
        </p:txBody>
      </p:sp>
      <p:sp>
        <p:nvSpPr>
          <p:cNvPr id="21" name="Oval 20"/>
          <p:cNvSpPr/>
          <p:nvPr/>
        </p:nvSpPr>
        <p:spPr>
          <a:xfrm>
            <a:off x="74623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572089"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the 38 made of?</a:t>
            </a:r>
          </a:p>
        </p:txBody>
      </p:sp>
      <p:sp>
        <p:nvSpPr>
          <p:cNvPr id="23" name="Oval 22"/>
          <p:cNvSpPr/>
          <p:nvPr/>
        </p:nvSpPr>
        <p:spPr>
          <a:xfrm>
            <a:off x="899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10570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stage owns the loss?</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  ·  3 / 73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COHORT AND FUNNEL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How the five topics connect, and where they go</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each topic rest on from earlier weeks, what does it feed, and where is it used?</a:t>
            </a:r>
          </a:p>
        </p:txBody>
      </p:sp>
      <p:pic>
        <p:nvPicPr>
          <p:cNvPr id="9" name="mermaid diagram" descr="e47bf924091f0e94.png"/>
          <p:cNvPicPr>
            <a:picLocks noChangeAspect="1"/>
          </p:cNvPicPr>
          <p:nvPr/>
        </p:nvPicPr>
        <p:blipFill>
          <a:blip r:embed="rId5"/>
          <a:stretch>
            <a:fillRect/>
          </a:stretch>
        </p:blipFill>
        <p:spPr>
          <a:xfrm>
            <a:off x="2053132" y="1682496"/>
            <a:ext cx="8085430" cy="4517136"/>
          </a:xfrm>
          <a:prstGeom prst="rect">
            <a:avLst/>
          </a:prstGeom>
        </p:spPr>
      </p:pic>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010412" cy="152146"/>
          </a:xfrm>
          <a:prstGeom prst="rect">
            <a:avLst/>
          </a:prstGeom>
          <a:noFill/>
        </p:spPr>
        <p:txBody>
          <a:bodyPr wrap="square" anchor="t" lIns="0" rIns="0" tIns="0" bIns="0">
            <a:spAutoFit/>
          </a:bodyPr>
          <a:lstStyle/>
          <a:p>
            <a:pPr algn="l"/>
            <a:r>
              <a:rPr sz="700" b="0" i="0">
                <a:solidFill>
                  <a:srgbClr val="6B6690"/>
                </a:solidFill>
                <a:latin typeface="Calibri"/>
              </a:rPr>
              <a:t>Who joined when?</a:t>
            </a:r>
          </a:p>
        </p:txBody>
      </p:sp>
      <p:sp>
        <p:nvSpPr>
          <p:cNvPr id="12" name="Oval 11"/>
          <p:cNvSpPr/>
          <p:nvPr/>
        </p:nvSpPr>
        <p:spPr>
          <a:xfrm>
            <a:off x="174193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85166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Where is the floor?</a:t>
            </a:r>
          </a:p>
        </p:txBody>
      </p:sp>
      <p:sp>
        <p:nvSpPr>
          <p:cNvPr id="14" name="Oval 13"/>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20125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a blend made of?</a:t>
            </a:r>
          </a:p>
        </p:txBody>
      </p:sp>
      <p:sp>
        <p:nvSpPr>
          <p:cNvPr id="16" name="Oval 15"/>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78088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step owns a loss?</a:t>
            </a:r>
          </a:p>
        </p:txBody>
      </p:sp>
      <p:sp>
        <p:nvSpPr>
          <p:cNvPr id="18" name="Oval 17"/>
          <p:cNvSpPr/>
          <p:nvPr/>
        </p:nvSpPr>
        <p:spPr>
          <a:xfrm>
            <a:off x="62047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314503"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Who entered when?</a:t>
            </a:r>
          </a:p>
        </p:txBody>
      </p:sp>
      <p:sp>
        <p:nvSpPr>
          <p:cNvPr id="20" name="Oval 19"/>
          <p:cNvSpPr/>
          <p:nvPr/>
        </p:nvSpPr>
        <p:spPr>
          <a:xfrm>
            <a:off x="74623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572089"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the 38 made of?</a:t>
            </a:r>
          </a:p>
        </p:txBody>
      </p:sp>
      <p:sp>
        <p:nvSpPr>
          <p:cNvPr id="22" name="Oval 21"/>
          <p:cNvSpPr/>
          <p:nvPr/>
        </p:nvSpPr>
        <p:spPr>
          <a:xfrm>
            <a:off x="899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10570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stage owns the loss?</a:t>
            </a:r>
          </a:p>
        </p:txBody>
      </p:sp>
      <p:sp>
        <p:nvSpPr>
          <p:cNvPr id="24" name="TextBox 2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  ·  4 / 73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COHORT AND FUNNEL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ticket: a flat 38 and a release on Android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Where will the five topics be used, and what is due Friday?</a:t>
            </a:r>
          </a:p>
        </p:txBody>
      </p:sp>
      <p:graphicFrame>
        <p:nvGraphicFramePr>
          <p:cNvPr id="9" name="Table 8"/>
          <p:cNvGraphicFramePr>
            <a:graphicFrameLocks noGrp="1"/>
          </p:cNvGraphicFramePr>
          <p:nvPr/>
        </p:nvGraphicFramePr>
        <p:xfrm>
          <a:off x="530352" y="1682496"/>
          <a:ext cx="11130990" cy="2176272"/>
        </p:xfrm>
        <a:graphic>
          <a:graphicData uri="http://schemas.openxmlformats.org/drawingml/2006/table">
            <a:tbl>
              <a:tblPr firstRow="0" bandRow="0">
                <a:tableStyleId>{2D5ABB26-0587-4C30-8999-92F81FD0307C}</a:tableStyleId>
              </a:tblPr>
              <a:tblGrid>
                <a:gridCol w="6300601"/>
                <a:gridCol w="4830389"/>
              </a:tblGrid>
              <a:tr h="310896">
                <a:tc>
                  <a:txBody>
                    <a:bodyPr/>
                    <a:lstStyle/>
                    <a:p>
                      <a:r>
                        <a:rPr sz="950" b="1" i="0">
                          <a:solidFill>
                            <a:srgbClr val="FFFFFF"/>
                          </a:solidFill>
                          <a:latin typeface="Calibri"/>
                        </a:rPr>
                        <a:t>Measure</a:t>
                      </a:r>
                    </a:p>
                  </a:txBody>
                  <a:tcPr marL="101600" marR="101600" marT="38100" marB="38100" anchor="ctr">
                    <a:solidFill>
                      <a:srgbClr val="1A0F5C"/>
                    </a:solidFill>
                  </a:tcPr>
                </a:tc>
                <a:tc>
                  <a:txBody>
                    <a:bodyPr/>
                    <a:lstStyle/>
                    <a:p>
                      <a:r>
                        <a:rPr sz="950" b="1" i="0">
                          <a:solidFill>
                            <a:srgbClr val="FFFFFF"/>
                          </a:solidFill>
                          <a:latin typeface="Calibri"/>
                        </a:rPr>
                        <a:t>Value</a:t>
                      </a:r>
                    </a:p>
                  </a:txBody>
                  <a:tcPr marL="101600" marR="101600" marT="38100" marB="38100" anchor="ctr">
                    <a:solidFill>
                      <a:srgbClr val="1A0F5C"/>
                    </a:solidFill>
                  </a:tcPr>
                </a:tc>
              </a:tr>
              <a:tr h="310896">
                <a:tc>
                  <a:txBody>
                    <a:bodyPr/>
                    <a:lstStyle/>
                    <a:p>
                      <a:r>
                        <a:rPr sz="900" b="0" i="0">
                          <a:solidFill>
                            <a:srgbClr val="1A1440"/>
                          </a:solidFill>
                          <a:latin typeface="Calibri"/>
                        </a:rPr>
                        <a:t>Month-two retention on the dashboard, June to September 2026</a:t>
                      </a:r>
                    </a:p>
                  </a:txBody>
                  <a:tcPr marL="101600" marR="101600" marT="38100" marB="38100" anchor="ctr">
                    <a:solidFill>
                      <a:srgbClr val="FFFFFF"/>
                    </a:solidFill>
                  </a:tcPr>
                </a:tc>
                <a:tc>
                  <a:txBody>
                    <a:bodyPr/>
                    <a:lstStyle/>
                    <a:p>
                      <a:r>
                        <a:rPr sz="900" b="0" i="0">
                          <a:solidFill>
                            <a:srgbClr val="1A1440"/>
                          </a:solidFill>
                          <a:latin typeface="Calibri"/>
                        </a:rPr>
                        <a:t>38 percent each month</a:t>
                      </a:r>
                    </a:p>
                  </a:txBody>
                  <a:tcPr marL="101600" marR="101600" marT="38100" marB="38100" anchor="ctr">
                    <a:solidFill>
                      <a:srgbClr val="FFFFFF"/>
                    </a:solidFill>
                  </a:tcPr>
                </a:tc>
              </a:tr>
              <a:tr h="310896">
                <a:tc>
                  <a:txBody>
                    <a:bodyPr/>
                    <a:lstStyle/>
                    <a:p>
                      <a:r>
                        <a:rPr sz="900" b="0" i="0">
                          <a:solidFill>
                            <a:srgbClr val="1A1440"/>
                          </a:solidFill>
                          <a:latin typeface="Calibri"/>
                        </a:rPr>
                        <a:t>Month one (the first full month after joining), by signup month, January to August</a:t>
                      </a:r>
                    </a:p>
                  </a:txBody>
                  <a:tcPr marL="101600" marR="101600" marT="38100" marB="38100" anchor="ctr">
                    <a:solidFill>
                      <a:srgbClr val="F4F2FA"/>
                    </a:solidFill>
                  </a:tcPr>
                </a:tc>
                <a:tc>
                  <a:txBody>
                    <a:bodyPr/>
                    <a:lstStyle/>
                    <a:p>
                      <a:r>
                        <a:rPr sz="900" b="0" i="0">
                          <a:solidFill>
                            <a:srgbClr val="1A1440"/>
                          </a:solidFill>
                          <a:latin typeface="Calibri"/>
                        </a:rPr>
                        <a:t>58, 56, 55, 53, 52, 50, 49, 31 percent</a:t>
                      </a:r>
                    </a:p>
                  </a:txBody>
                  <a:tcPr marL="101600" marR="101600" marT="38100" marB="38100" anchor="ctr">
                    <a:solidFill>
                      <a:srgbClr val="F4F2FA"/>
                    </a:solidFill>
                  </a:tcPr>
                </a:tc>
              </a:tr>
              <a:tr h="310896">
                <a:tc>
                  <a:txBody>
                    <a:bodyPr/>
                    <a:lstStyle/>
                    <a:p>
                      <a:r>
                        <a:rPr sz="900" b="0" i="0">
                          <a:solidFill>
                            <a:srgbClr val="1A1440"/>
                          </a:solidFill>
                          <a:latin typeface="Calibri"/>
                        </a:rPr>
                        <a:t>The August cohort, grown by a sale week</a:t>
                      </a:r>
                    </a:p>
                  </a:txBody>
                  <a:tcPr marL="101600" marR="101600" marT="38100" marB="38100" anchor="ctr">
                    <a:solidFill>
                      <a:srgbClr val="FFFFFF"/>
                    </a:solidFill>
                  </a:tcPr>
                </a:tc>
                <a:tc>
                  <a:txBody>
                    <a:bodyPr/>
                    <a:lstStyle/>
                    <a:p>
                      <a:r>
                        <a:rPr sz="900" b="0" i="0">
                          <a:solidFill>
                            <a:srgbClr val="1A1440"/>
                          </a:solidFill>
                          <a:latin typeface="Calibri"/>
                        </a:rPr>
                        <a:t>13,000 members, 2.6 times the 5,000 a month of January to July</a:t>
                      </a:r>
                    </a:p>
                  </a:txBody>
                  <a:tcPr marL="101600" marR="101600" marT="38100" marB="38100" anchor="ctr">
                    <a:solidFill>
                      <a:srgbClr val="FFFFFF"/>
                    </a:solidFill>
                  </a:tcPr>
                </a:tc>
              </a:tr>
              <a:tr h="310896">
                <a:tc>
                  <a:txBody>
                    <a:bodyPr/>
                    <a:lstStyle/>
                    <a:p>
                      <a:r>
                        <a:rPr sz="900" b="0" i="0">
                          <a:solidFill>
                            <a:srgbClr val="1A1440"/>
                          </a:solidFill>
                          <a:latin typeface="Calibri"/>
                        </a:rPr>
                        <a:t>Members on Android, add-to-cart to order, before and after 14 September</a:t>
                      </a:r>
                    </a:p>
                  </a:txBody>
                  <a:tcPr marL="101600" marR="101600" marT="38100" marB="38100" anchor="ctr">
                    <a:solidFill>
                      <a:srgbClr val="F4F2FA"/>
                    </a:solidFill>
                  </a:tcPr>
                </a:tc>
                <a:tc>
                  <a:txBody>
                    <a:bodyPr/>
                    <a:lstStyle/>
                    <a:p>
                      <a:r>
                        <a:rPr sz="900" b="0" i="0">
                          <a:solidFill>
                            <a:srgbClr val="1A1440"/>
                          </a:solidFill>
                          <a:latin typeface="Calibri"/>
                        </a:rPr>
                        <a:t>58 to 44 percent</a:t>
                      </a:r>
                    </a:p>
                  </a:txBody>
                  <a:tcPr marL="101600" marR="101600" marT="38100" marB="38100" anchor="ctr">
                    <a:solidFill>
                      <a:srgbClr val="F4F2FA"/>
                    </a:solidFill>
                  </a:tcPr>
                </a:tc>
              </a:tr>
              <a:tr h="310896">
                <a:tc>
                  <a:txBody>
                    <a:bodyPr/>
                    <a:lstStyle/>
                    <a:p>
                      <a:r>
                        <a:rPr sz="900" b="0" i="0">
                          <a:solidFill>
                            <a:srgbClr val="1A1440"/>
                          </a:solidFill>
                          <a:latin typeface="Calibri"/>
                        </a:rPr>
                        <a:t>Members on iOS; non-members on Android</a:t>
                      </a:r>
                    </a:p>
                  </a:txBody>
                  <a:tcPr marL="101600" marR="101600" marT="38100" marB="38100" anchor="ctr">
                    <a:solidFill>
                      <a:srgbClr val="FFFFFF"/>
                    </a:solidFill>
                  </a:tcPr>
                </a:tc>
                <a:tc>
                  <a:txBody>
                    <a:bodyPr/>
                    <a:lstStyle/>
                    <a:p>
                      <a:r>
                        <a:rPr sz="900" b="0" i="0">
                          <a:solidFill>
                            <a:srgbClr val="1A1440"/>
                          </a:solidFill>
                          <a:latin typeface="Calibri"/>
                        </a:rPr>
                        <a:t>57 to 56 percent; 52 to 51 percent</a:t>
                      </a:r>
                    </a:p>
                  </a:txBody>
                  <a:tcPr marL="101600" marR="101600" marT="38100" marB="38100" anchor="ctr">
                    <a:solidFill>
                      <a:srgbClr val="FFFFFF"/>
                    </a:solidFill>
                  </a:tcPr>
                </a:tc>
              </a:tr>
              <a:tr h="310896">
                <a:tc>
                  <a:txBody>
                    <a:bodyPr/>
                    <a:lstStyle/>
                    <a:p>
                      <a:r>
                        <a:rPr sz="900" b="0" i="0">
                          <a:solidFill>
                            <a:srgbClr val="1A1440"/>
                          </a:solidFill>
                          <a:latin typeface="Calibri"/>
                        </a:rPr>
                        <a:t>Search to menu view and menu view to add-to-cart, per session, September</a:t>
                      </a:r>
                    </a:p>
                  </a:txBody>
                  <a:tcPr marL="101600" marR="101600" marT="38100" marB="38100" anchor="ctr">
                    <a:solidFill>
                      <a:srgbClr val="F4F2FA"/>
                    </a:solidFill>
                  </a:tcPr>
                </a:tc>
                <a:tc>
                  <a:txBody>
                    <a:bodyPr/>
                    <a:lstStyle/>
                    <a:p>
                      <a:r>
                        <a:rPr sz="900" b="0" i="0">
                          <a:solidFill>
                            <a:srgbClr val="1A1440"/>
                          </a:solidFill>
                          <a:latin typeface="Calibri"/>
                        </a:rPr>
                        <a:t>118 percent; 34 percent</a:t>
                      </a:r>
                    </a:p>
                  </a:txBody>
                  <a:tcPr marL="101600" marR="101600" marT="38100" marB="38100" anchor="ctr">
                    <a:solidFill>
                      <a:srgbClr val="F4F2FA"/>
                    </a:solidFill>
                  </a:tcPr>
                </a:tc>
              </a:tr>
            </a:tbl>
          </a:graphicData>
        </a:graphic>
      </p:graphicFrame>
      <p:sp>
        <p:nvSpPr>
          <p:cNvPr id="10" name="TextBox 9"/>
          <p:cNvSpPr txBox="1"/>
          <p:nvPr/>
        </p:nvSpPr>
        <p:spPr>
          <a:xfrm>
            <a:off x="530352" y="4114800"/>
            <a:ext cx="11130991" cy="1359408"/>
          </a:xfrm>
          <a:prstGeom prst="rect">
            <a:avLst/>
          </a:prstGeom>
          <a:noFill/>
        </p:spPr>
        <p:txBody>
          <a:bodyPr wrap="square" anchor="t" lIns="0" rIns="0" tIns="0" bIns="0">
            <a:spAutoFit/>
          </a:bodyPr>
          <a:lstStyle/>
          <a:p>
            <a:pPr>
              <a:spcAft>
                <a:spcPts val="500"/>
              </a:spcAft>
            </a:pPr>
            <a:r>
              <a:rPr sz="1100" b="1" i="0">
                <a:solidFill>
                  <a:srgbClr val="1A1440"/>
                </a:solidFill>
                <a:latin typeface="Calibri"/>
              </a:rPr>
              <a:t>Gold</a:t>
            </a:r>
            <a:r>
              <a:rPr sz="1100" b="0" i="0">
                <a:solidFill>
                  <a:srgbClr val="1A1440"/>
                </a:solidFill>
                <a:latin typeface="Calibri"/>
              </a:rPr>
              <a:t> is the app's paid membership, with free delivery. </a:t>
            </a:r>
            <a:r>
              <a:rPr sz="1100" b="1" i="0">
                <a:solidFill>
                  <a:srgbClr val="1A1440"/>
                </a:solidFill>
                <a:latin typeface="Calibri"/>
              </a:rPr>
              <a:t>Month-two retention</a:t>
            </a:r>
            <a:r>
              <a:rPr sz="1100" b="0" i="0">
                <a:solidFill>
                  <a:srgbClr val="1A1440"/>
                </a:solidFill>
                <a:latin typeface="Calibri"/>
              </a:rPr>
              <a:t> is the dashboard's name for the share of members two or more months past their signup month who ordered in the month. </a:t>
            </a:r>
            <a:r>
              <a:rPr sz="1100" b="1" i="0">
                <a:solidFill>
                  <a:srgbClr val="1A1440"/>
                </a:solidFill>
                <a:latin typeface="Calibri"/>
              </a:rPr>
              <a:t>Data.</a:t>
            </a:r>
            <a:r>
              <a:rPr sz="1100" b="0" i="0">
                <a:solidFill>
                  <a:srgbClr val="1A1440"/>
                </a:solidFill>
                <a:latin typeface="Calibri"/>
              </a:rPr>
              <a:t> members (53,089 who joined January to September), member_months (orders per member per month, from the order records), events (one row for each stage an app session reached, a session being one visit to the app; August and September; with the platform and the checkout version, v1 or the new v2; Gold members and 4,000 non-members). </a:t>
            </a:r>
            <a:r>
              <a:rPr sz="1100" b="1" i="0">
                <a:solidFill>
                  <a:srgbClr val="1A1440"/>
                </a:solidFill>
                <a:latin typeface="Calibri"/>
              </a:rPr>
              <a:t>The ask, due Friday.</a:t>
            </a:r>
            <a:r>
              <a:rPr sz="1100" b="0" i="0">
                <a:solidFill>
                  <a:srgbClr val="1A1440"/>
                </a:solidFill>
                <a:latin typeface="Calibri"/>
              </a:rPr>
              <a:t> Cohort problem or everyone problem; which funnel stage owns the loss; what to fix first, with the evidence. </a:t>
            </a:r>
            <a:r>
              <a:rPr sz="1100" b="1" i="0">
                <a:solidFill>
                  <a:srgbClr val="1A1440"/>
                </a:solidFill>
                <a:latin typeface="Calibri"/>
              </a:rPr>
              <a:t>Known caveats.</a:t>
            </a:r>
            <a:r>
              <a:rPr sz="1100" b="0" i="0">
                <a:solidFill>
                  <a:srgbClr val="1A1440"/>
                </a:solidFill>
                <a:latin typeface="Calibri"/>
              </a:rPr>
              <a:t> The home carousel opens a menu without a search; sessions and members are different units; the August cohort was bought on a discount; the release renamed one Android event, which the app team has mapped.</a:t>
            </a:r>
          </a:p>
        </p:txBody>
      </p:sp>
      <p:sp>
        <p:nvSpPr>
          <p:cNvPr id="11" name="Rounded Rectangle 10"/>
          <p:cNvSpPr/>
          <p:nvPr/>
        </p:nvSpPr>
        <p:spPr>
          <a:xfrm>
            <a:off x="530352" y="5602223"/>
            <a:ext cx="11130991" cy="4521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676656" y="5730239"/>
            <a:ext cx="45720" cy="1960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77824" y="5721095"/>
            <a:ext cx="10564063" cy="269240"/>
          </a:xfrm>
          <a:prstGeom prst="rect">
            <a:avLst/>
          </a:prstGeom>
          <a:noFill/>
        </p:spPr>
        <p:txBody>
          <a:bodyPr wrap="square" anchor="ctr" lIns="0" rIns="0" tIns="0" bIns="0">
            <a:spAutoFit/>
          </a:bodyPr>
          <a:lstStyle/>
          <a:p>
            <a:r>
              <a:rPr sz="1000" b="1">
                <a:solidFill>
                  <a:srgbClr val="5B3FD6"/>
                </a:solidFill>
                <a:latin typeface="Calibri"/>
              </a:rPr>
              <a:t>Illustrative case. </a:t>
            </a:r>
            <a:r>
              <a:rPr sz="1000" b="0" i="0">
                <a:solidFill>
                  <a:srgbClr val="1A1440"/>
                </a:solidFill>
                <a:latin typeface="Calibri"/>
              </a:rPr>
              <a:t>The company is real; the situation and the data are synthetic, built for this class.</a:t>
            </a:r>
          </a:p>
        </p:txBody>
      </p:sp>
      <p:sp>
        <p:nvSpPr>
          <p:cNvPr id="14" name="Oval 13"/>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0080" y="6437376"/>
            <a:ext cx="1010412" cy="152146"/>
          </a:xfrm>
          <a:prstGeom prst="rect">
            <a:avLst/>
          </a:prstGeom>
          <a:noFill/>
        </p:spPr>
        <p:txBody>
          <a:bodyPr wrap="square" anchor="t" lIns="0" rIns="0" tIns="0" bIns="0">
            <a:spAutoFit/>
          </a:bodyPr>
          <a:lstStyle/>
          <a:p>
            <a:pPr algn="l"/>
            <a:r>
              <a:rPr sz="700" b="0" i="0">
                <a:solidFill>
                  <a:srgbClr val="6B6690"/>
                </a:solidFill>
                <a:latin typeface="Calibri"/>
              </a:rPr>
              <a:t>Who joined when?</a:t>
            </a:r>
          </a:p>
        </p:txBody>
      </p:sp>
      <p:sp>
        <p:nvSpPr>
          <p:cNvPr id="16" name="Oval 15"/>
          <p:cNvSpPr/>
          <p:nvPr/>
        </p:nvSpPr>
        <p:spPr>
          <a:xfrm>
            <a:off x="174193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85166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Where is the floor?</a:t>
            </a:r>
          </a:p>
        </p:txBody>
      </p:sp>
      <p:sp>
        <p:nvSpPr>
          <p:cNvPr id="18" name="Oval 17"/>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20125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a blend made of?</a:t>
            </a:r>
          </a:p>
        </p:txBody>
      </p:sp>
      <p:sp>
        <p:nvSpPr>
          <p:cNvPr id="20" name="Oval 19"/>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478088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step owns a loss?</a:t>
            </a:r>
          </a:p>
        </p:txBody>
      </p:sp>
      <p:sp>
        <p:nvSpPr>
          <p:cNvPr id="22" name="Oval 21"/>
          <p:cNvSpPr/>
          <p:nvPr/>
        </p:nvSpPr>
        <p:spPr>
          <a:xfrm>
            <a:off x="62047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314503"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Who entered when?</a:t>
            </a:r>
          </a:p>
        </p:txBody>
      </p:sp>
      <p:sp>
        <p:nvSpPr>
          <p:cNvPr id="24" name="Oval 23"/>
          <p:cNvSpPr/>
          <p:nvPr/>
        </p:nvSpPr>
        <p:spPr>
          <a:xfrm>
            <a:off x="74623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572089"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the 38 made of?</a:t>
            </a:r>
          </a:p>
        </p:txBody>
      </p:sp>
      <p:sp>
        <p:nvSpPr>
          <p:cNvPr id="26" name="Oval 25"/>
          <p:cNvSpPr/>
          <p:nvPr/>
        </p:nvSpPr>
        <p:spPr>
          <a:xfrm>
            <a:off x="899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910570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stage owns the loss?</a:t>
            </a:r>
          </a:p>
        </p:txBody>
      </p:sp>
      <p:sp>
        <p:nvSpPr>
          <p:cNvPr id="28" name="TextBox 2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  ·  5 / 73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01</a:t>
            </a:r>
          </a:p>
        </p:txBody>
      </p:sp>
      <p:sp>
        <p:nvSpPr>
          <p:cNvPr id="8" name="TextBox 7"/>
          <p:cNvSpPr txBox="1"/>
          <p:nvPr/>
        </p:nvSpPr>
        <p:spPr>
          <a:xfrm>
            <a:off x="731519" y="2542032"/>
            <a:ext cx="10673791" cy="366776"/>
          </a:xfrm>
          <a:prstGeom prst="rect">
            <a:avLst/>
          </a:prstGeom>
          <a:noFill/>
        </p:spPr>
        <p:txBody>
          <a:bodyPr wrap="square" anchor="t" lIns="0" rIns="0" tIns="0" bIns="0">
            <a:spAutoFit/>
          </a:bodyPr>
          <a:lstStyle/>
          <a:p>
            <a:pPr algn="l"/>
            <a:r>
              <a:rPr sz="2000" b="1" i="0">
                <a:solidFill>
                  <a:srgbClr val="D9A7FF"/>
                </a:solidFill>
                <a:latin typeface="Calibri"/>
              </a:rPr>
              <a:t>Cohort construction</a:t>
            </a:r>
          </a:p>
        </p:txBody>
      </p:sp>
      <p:sp>
        <p:nvSpPr>
          <p:cNvPr id="9" name="TextBox 8"/>
          <p:cNvSpPr txBox="1"/>
          <p:nvPr/>
        </p:nvSpPr>
        <p:spPr>
          <a:xfrm>
            <a:off x="731519" y="3017520"/>
            <a:ext cx="10673791" cy="731520"/>
          </a:xfrm>
          <a:prstGeom prst="rect">
            <a:avLst/>
          </a:prstGeom>
          <a:noFill/>
        </p:spPr>
        <p:txBody>
          <a:bodyPr wrap="square" anchor="t" lIns="0" rIns="0" tIns="0" bIns="0">
            <a:spAutoFit/>
          </a:bodyPr>
          <a:lstStyle/>
          <a:p>
            <a:pPr algn="l"/>
            <a:r>
              <a:rPr sz="4000" b="0" i="0">
                <a:solidFill>
                  <a:srgbClr val="FFFFFF"/>
                </a:solidFill>
                <a:latin typeface="Georgia"/>
              </a:rPr>
              <a:t>Who joined when?</a:t>
            </a:r>
          </a:p>
        </p:txBody>
      </p:sp>
      <p:sp>
        <p:nvSpPr>
          <p:cNvPr id="10" name="TextBox 9"/>
          <p:cNvSpPr txBox="1"/>
          <p:nvPr/>
        </p:nvSpPr>
        <p:spPr>
          <a:xfrm>
            <a:off x="731519" y="3931920"/>
            <a:ext cx="9509760" cy="531876"/>
          </a:xfrm>
          <a:prstGeom prst="rect">
            <a:avLst/>
          </a:prstGeom>
          <a:noFill/>
        </p:spPr>
        <p:txBody>
          <a:bodyPr wrap="square" anchor="t" lIns="0" rIns="0" tIns="0" bIns="0">
            <a:spAutoFit/>
          </a:bodyPr>
          <a:lstStyle/>
          <a:p>
            <a:pPr algn="l"/>
            <a:r>
              <a:rPr sz="1500" b="0" i="0">
                <a:solidFill>
                  <a:srgbClr val="E4E1F1"/>
                </a:solidFill>
                <a:latin typeface="Calibri"/>
              </a:rPr>
              <a:t>Group people by the month they joined, count each group at each age since joining, and compare groups at the same age, on one gym branch's thirty joiners counted by hand.</a:t>
            </a:r>
          </a:p>
        </p:txBody>
      </p:sp>
      <p:sp>
        <p:nvSpPr>
          <p:cNvPr id="11" name="Rounded Rectangle 10"/>
          <p:cNvSpPr/>
          <p:nvPr/>
        </p:nvSpPr>
        <p:spPr>
          <a:xfrm>
            <a:off x="731519" y="5074920"/>
            <a:ext cx="1182641"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Who joined when?</a:t>
            </a:r>
          </a:p>
        </p:txBody>
      </p:sp>
      <p:sp>
        <p:nvSpPr>
          <p:cNvPr id="12" name="Rounded Rectangle 11"/>
          <p:cNvSpPr/>
          <p:nvPr/>
        </p:nvSpPr>
        <p:spPr>
          <a:xfrm>
            <a:off x="2023889" y="5074920"/>
            <a:ext cx="134262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Where is the floor?</a:t>
            </a:r>
          </a:p>
        </p:txBody>
      </p:sp>
      <p:sp>
        <p:nvSpPr>
          <p:cNvPr id="13" name="Rounded Rectangle 12"/>
          <p:cNvSpPr/>
          <p:nvPr/>
        </p:nvSpPr>
        <p:spPr>
          <a:xfrm>
            <a:off x="3476243" y="5074920"/>
            <a:ext cx="1609266"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is a blend made of?</a:t>
            </a:r>
          </a:p>
        </p:txBody>
      </p:sp>
      <p:sp>
        <p:nvSpPr>
          <p:cNvPr id="14" name="Rounded Rectangle 13"/>
          <p:cNvSpPr/>
          <p:nvPr/>
        </p:nvSpPr>
        <p:spPr>
          <a:xfrm>
            <a:off x="5195238" y="5074920"/>
            <a:ext cx="1555938"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step owns a loss?</a:t>
            </a:r>
          </a:p>
        </p:txBody>
      </p:sp>
      <p:sp>
        <p:nvSpPr>
          <p:cNvPr id="15" name="Rounded Rectangle 14"/>
          <p:cNvSpPr/>
          <p:nvPr/>
        </p:nvSpPr>
        <p:spPr>
          <a:xfrm>
            <a:off x="6860904" y="5074920"/>
            <a:ext cx="123596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Who entered when?</a:t>
            </a:r>
          </a:p>
        </p:txBody>
      </p:sp>
      <p:sp>
        <p:nvSpPr>
          <p:cNvPr id="16" name="Rounded Rectangle 15"/>
          <p:cNvSpPr/>
          <p:nvPr/>
        </p:nvSpPr>
        <p:spPr>
          <a:xfrm>
            <a:off x="8206602" y="5074920"/>
            <a:ext cx="1555938"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is the 38 made of?</a:t>
            </a:r>
          </a:p>
        </p:txBody>
      </p:sp>
      <p:sp>
        <p:nvSpPr>
          <p:cNvPr id="17" name="Rounded Rectangle 16"/>
          <p:cNvSpPr/>
          <p:nvPr/>
        </p:nvSpPr>
        <p:spPr>
          <a:xfrm>
            <a:off x="9872268" y="5074920"/>
            <a:ext cx="1715922"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stage owns the loss?</a:t>
            </a:r>
          </a:p>
        </p:txBody>
      </p:sp>
      <p:sp>
        <p:nvSpPr>
          <p:cNvPr id="18" name="TextBox 17"/>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4, Day 4. Cohort and funnel: who is leaving, and at which step?</a:t>
            </a:r>
          </a:p>
        </p:txBody>
      </p:sp>
      <p:sp>
        <p:nvSpPr>
          <p:cNvPr id="19" name="TextBox 1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6 / 73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COHORT AND FUNNEL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Cohort construction: four questions, one gym</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the answer, and which smaller questions lead to it?</a:t>
            </a:r>
          </a:p>
        </p:txBody>
      </p:sp>
      <p:sp>
        <p:nvSpPr>
          <p:cNvPr id="9" name="Rounded Rectangle 8"/>
          <p:cNvSpPr/>
          <p:nvPr/>
        </p:nvSpPr>
        <p:spPr>
          <a:xfrm>
            <a:off x="530352" y="1853438"/>
            <a:ext cx="11130991" cy="13411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1981454"/>
            <a:ext cx="45720" cy="10850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1972310"/>
            <a:ext cx="10564063" cy="11582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The owner of a neighbourhood gym (invented), who wants to know which month's joiners keep coming, so that a retention offer reaches the batch that needs it; read by calendar month, the offer goes to the wrong batch. A cohort is a batch, as a coaching centre runs a June batch and a July batch: everyone who joined in the same month.</a:t>
            </a:r>
          </a:p>
        </p:txBody>
      </p:sp>
      <p:sp>
        <p:nvSpPr>
          <p:cNvPr id="12" name="Rounded Rectangle 11"/>
          <p:cNvSpPr/>
          <p:nvPr/>
        </p:nvSpPr>
        <p:spPr>
          <a:xfrm>
            <a:off x="530352" y="3359150"/>
            <a:ext cx="11130991" cy="5410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676656" y="3487166"/>
            <a:ext cx="45720" cy="2849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77824" y="3478022"/>
            <a:ext cx="10564063" cy="358140"/>
          </a:xfrm>
          <a:prstGeom prst="rect">
            <a:avLst/>
          </a:prstGeom>
          <a:noFill/>
        </p:spPr>
        <p:txBody>
          <a:bodyPr wrap="square" anchor="ctr" lIns="0" rIns="0" tIns="0" bIns="0">
            <a:spAutoFit/>
          </a:bodyPr>
          <a:lstStyle/>
          <a:p>
            <a:r>
              <a:rPr sz="1500" b="1">
                <a:solidFill>
                  <a:srgbClr val="5B3FD6"/>
                </a:solidFill>
                <a:latin typeface="Calibri"/>
              </a:rPr>
              <a:t>The questions on the way. </a:t>
            </a:r>
            <a:r>
              <a:rPr sz="1500" b="0" i="0">
                <a:solidFill>
                  <a:srgbClr val="1A1440"/>
                </a:solidFill>
                <a:latin typeface="Calibri"/>
              </a:rPr>
              <a:t>Four, and each is answered with a count before the next is asked.</a:t>
            </a:r>
          </a:p>
        </p:txBody>
      </p:sp>
      <p:sp>
        <p:nvSpPr>
          <p:cNvPr id="15" name="Rectangle 14"/>
          <p:cNvSpPr/>
          <p:nvPr/>
        </p:nvSpPr>
        <p:spPr>
          <a:xfrm>
            <a:off x="1853145" y="4631689"/>
            <a:ext cx="8485403"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30352" y="4064761"/>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1</a:t>
            </a:r>
          </a:p>
        </p:txBody>
      </p:sp>
      <p:sp>
        <p:nvSpPr>
          <p:cNvPr id="17" name="Oval 16"/>
          <p:cNvSpPr/>
          <p:nvPr/>
        </p:nvSpPr>
        <p:spPr>
          <a:xfrm>
            <a:off x="1752561" y="4540249"/>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530352" y="4951729"/>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94944" y="5098033"/>
            <a:ext cx="2316403" cy="465836"/>
          </a:xfrm>
          <a:prstGeom prst="rect">
            <a:avLst/>
          </a:prstGeom>
          <a:noFill/>
        </p:spPr>
        <p:txBody>
          <a:bodyPr wrap="square" anchor="t" lIns="0" rIns="0" tIns="0" bIns="0">
            <a:spAutoFit/>
          </a:bodyPr>
          <a:lstStyle/>
          <a:p>
            <a:pPr algn="l"/>
            <a:r>
              <a:rPr sz="1300" b="1" i="0">
                <a:solidFill>
                  <a:srgbClr val="1A0F5C"/>
                </a:solidFill>
                <a:latin typeface="Calibri"/>
              </a:rPr>
              <a:t>Which batch looks best in April?</a:t>
            </a:r>
          </a:p>
        </p:txBody>
      </p:sp>
      <p:sp>
        <p:nvSpPr>
          <p:cNvPr id="20" name="TextBox 19"/>
          <p:cNvSpPr txBox="1"/>
          <p:nvPr/>
        </p:nvSpPr>
        <p:spPr>
          <a:xfrm>
            <a:off x="694944" y="5600445"/>
            <a:ext cx="2316403" cy="366776"/>
          </a:xfrm>
          <a:prstGeom prst="rect">
            <a:avLst/>
          </a:prstGeom>
          <a:noFill/>
        </p:spPr>
        <p:txBody>
          <a:bodyPr wrap="square" anchor="t" lIns="0" rIns="0" tIns="0" bIns="0">
            <a:spAutoFit/>
          </a:bodyPr>
          <a:lstStyle/>
          <a:p>
            <a:pPr algn="l"/>
            <a:r>
              <a:rPr sz="1000" b="0" i="0">
                <a:solidFill>
                  <a:srgbClr val="6B6690"/>
                </a:solidFill>
                <a:latin typeface="Calibri"/>
              </a:rPr>
              <a:t>The owner's reading, one calendar month</a:t>
            </a:r>
          </a:p>
        </p:txBody>
      </p:sp>
      <p:sp>
        <p:nvSpPr>
          <p:cNvPr id="21" name="TextBox 20"/>
          <p:cNvSpPr txBox="1"/>
          <p:nvPr/>
        </p:nvSpPr>
        <p:spPr>
          <a:xfrm>
            <a:off x="3358819" y="4064761"/>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2</a:t>
            </a:r>
          </a:p>
        </p:txBody>
      </p:sp>
      <p:sp>
        <p:nvSpPr>
          <p:cNvPr id="22" name="Oval 21"/>
          <p:cNvSpPr/>
          <p:nvPr/>
        </p:nvSpPr>
        <p:spPr>
          <a:xfrm>
            <a:off x="4581029" y="4540249"/>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3358819" y="4951729"/>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3523411" y="5098033"/>
            <a:ext cx="2316403" cy="465836"/>
          </a:xfrm>
          <a:prstGeom prst="rect">
            <a:avLst/>
          </a:prstGeom>
          <a:noFill/>
        </p:spPr>
        <p:txBody>
          <a:bodyPr wrap="square" anchor="t" lIns="0" rIns="0" tIns="0" bIns="0">
            <a:spAutoFit/>
          </a:bodyPr>
          <a:lstStyle/>
          <a:p>
            <a:pPr algn="l"/>
            <a:r>
              <a:rPr sz="1300" b="1" i="0">
                <a:solidFill>
                  <a:srgbClr val="1A0F5C"/>
                </a:solidFill>
                <a:latin typeface="Calibri"/>
              </a:rPr>
              <a:t>What does each batch keep at each age?</a:t>
            </a:r>
          </a:p>
        </p:txBody>
      </p:sp>
      <p:sp>
        <p:nvSpPr>
          <p:cNvPr id="25" name="TextBox 24"/>
          <p:cNvSpPr txBox="1"/>
          <p:nvPr/>
        </p:nvSpPr>
        <p:spPr>
          <a:xfrm>
            <a:off x="3523411" y="5600445"/>
            <a:ext cx="2316403" cy="201676"/>
          </a:xfrm>
          <a:prstGeom prst="rect">
            <a:avLst/>
          </a:prstGeom>
          <a:noFill/>
        </p:spPr>
        <p:txBody>
          <a:bodyPr wrap="square" anchor="t" lIns="0" rIns="0" tIns="0" bIns="0">
            <a:spAutoFit/>
          </a:bodyPr>
          <a:lstStyle/>
          <a:p>
            <a:pPr algn="l"/>
            <a:r>
              <a:rPr sz="1000" b="0" i="0">
                <a:solidFill>
                  <a:srgbClr val="6B6690"/>
                </a:solidFill>
                <a:latin typeface="Calibri"/>
              </a:rPr>
              <a:t>Thirty joiners counted by hand</a:t>
            </a:r>
          </a:p>
        </p:txBody>
      </p:sp>
      <p:sp>
        <p:nvSpPr>
          <p:cNvPr id="26" name="TextBox 25"/>
          <p:cNvSpPr txBox="1"/>
          <p:nvPr/>
        </p:nvSpPr>
        <p:spPr>
          <a:xfrm>
            <a:off x="6187287" y="4064761"/>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3</a:t>
            </a:r>
          </a:p>
        </p:txBody>
      </p:sp>
      <p:sp>
        <p:nvSpPr>
          <p:cNvPr id="27" name="Oval 26"/>
          <p:cNvSpPr/>
          <p:nvPr/>
        </p:nvSpPr>
        <p:spPr>
          <a:xfrm>
            <a:off x="7409497" y="4540249"/>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6187287" y="4951729"/>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351879" y="5098033"/>
            <a:ext cx="2316403" cy="465836"/>
          </a:xfrm>
          <a:prstGeom prst="rect">
            <a:avLst/>
          </a:prstGeom>
          <a:noFill/>
        </p:spPr>
        <p:txBody>
          <a:bodyPr wrap="square" anchor="t" lIns="0" rIns="0" tIns="0" bIns="0">
            <a:spAutoFit/>
          </a:bodyPr>
          <a:lstStyle/>
          <a:p>
            <a:pPr algn="l"/>
            <a:r>
              <a:rPr sz="1300" b="1" i="0">
                <a:solidFill>
                  <a:srgbClr val="1A0F5C"/>
                </a:solidFill>
                <a:latin typeface="Calibri"/>
              </a:rPr>
              <a:t>Why is the table a triangle?</a:t>
            </a:r>
          </a:p>
        </p:txBody>
      </p:sp>
      <p:sp>
        <p:nvSpPr>
          <p:cNvPr id="30" name="TextBox 29"/>
          <p:cNvSpPr txBox="1"/>
          <p:nvPr/>
        </p:nvSpPr>
        <p:spPr>
          <a:xfrm>
            <a:off x="6351879" y="5600445"/>
            <a:ext cx="2316403" cy="366776"/>
          </a:xfrm>
          <a:prstGeom prst="rect">
            <a:avLst/>
          </a:prstGeom>
          <a:noFill/>
        </p:spPr>
        <p:txBody>
          <a:bodyPr wrap="square" anchor="t" lIns="0" rIns="0" tIns="0" bIns="0">
            <a:spAutoFit/>
          </a:bodyPr>
          <a:lstStyle/>
          <a:p>
            <a:pPr algn="l"/>
            <a:r>
              <a:rPr sz="1000" b="0" i="0">
                <a:solidFill>
                  <a:srgbClr val="6B6690"/>
                </a:solidFill>
                <a:latin typeface="Calibri"/>
              </a:rPr>
              <a:t>Rows by joining month, columns by age</a:t>
            </a:r>
          </a:p>
        </p:txBody>
      </p:sp>
      <p:sp>
        <p:nvSpPr>
          <p:cNvPr id="31" name="TextBox 30"/>
          <p:cNvSpPr txBox="1"/>
          <p:nvPr/>
        </p:nvSpPr>
        <p:spPr>
          <a:xfrm>
            <a:off x="9015755" y="4064761"/>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4</a:t>
            </a:r>
          </a:p>
        </p:txBody>
      </p:sp>
      <p:sp>
        <p:nvSpPr>
          <p:cNvPr id="32" name="Oval 31"/>
          <p:cNvSpPr/>
          <p:nvPr/>
        </p:nvSpPr>
        <p:spPr>
          <a:xfrm>
            <a:off x="10237965" y="4540249"/>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ounded Rectangle 32"/>
          <p:cNvSpPr/>
          <p:nvPr/>
        </p:nvSpPr>
        <p:spPr>
          <a:xfrm>
            <a:off x="9015755" y="4951729"/>
            <a:ext cx="2645587" cy="107696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9180347" y="5098033"/>
            <a:ext cx="2316403" cy="465836"/>
          </a:xfrm>
          <a:prstGeom prst="rect">
            <a:avLst/>
          </a:prstGeom>
          <a:noFill/>
        </p:spPr>
        <p:txBody>
          <a:bodyPr wrap="square" anchor="t" lIns="0" rIns="0" tIns="0" bIns="0">
            <a:spAutoFit/>
          </a:bodyPr>
          <a:lstStyle/>
          <a:p>
            <a:pPr algn="l"/>
            <a:r>
              <a:rPr sz="1300" b="1" i="0">
                <a:solidFill>
                  <a:srgbClr val="FFFFFF"/>
                </a:solidFill>
                <a:latin typeface="Calibri"/>
              </a:rPr>
              <a:t>How does code count the same table?</a:t>
            </a:r>
          </a:p>
        </p:txBody>
      </p:sp>
      <p:sp>
        <p:nvSpPr>
          <p:cNvPr id="35" name="TextBox 34"/>
          <p:cNvSpPr txBox="1"/>
          <p:nvPr/>
        </p:nvSpPr>
        <p:spPr>
          <a:xfrm>
            <a:off x="9180347" y="5600445"/>
            <a:ext cx="2316403" cy="366776"/>
          </a:xfrm>
          <a:prstGeom prst="rect">
            <a:avLst/>
          </a:prstGeom>
          <a:noFill/>
        </p:spPr>
        <p:txBody>
          <a:bodyPr wrap="square" anchor="t" lIns="0" rIns="0" tIns="0" bIns="0">
            <a:spAutoFit/>
          </a:bodyPr>
          <a:lstStyle/>
          <a:p>
            <a:pPr algn="l"/>
            <a:r>
              <a:rPr sz="1000" b="0" i="0">
                <a:solidFill>
                  <a:srgbClr val="CFC9EE"/>
                </a:solidFill>
                <a:latin typeface="Calibri"/>
              </a:rPr>
              <a:t>One pivot_table, month zero left out</a:t>
            </a:r>
          </a:p>
        </p:txBody>
      </p:sp>
      <p:sp>
        <p:nvSpPr>
          <p:cNvPr id="36" name="Oval 35"/>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40080" y="6437376"/>
            <a:ext cx="1010412" cy="152146"/>
          </a:xfrm>
          <a:prstGeom prst="rect">
            <a:avLst/>
          </a:prstGeom>
          <a:noFill/>
        </p:spPr>
        <p:txBody>
          <a:bodyPr wrap="square" anchor="t" lIns="0" rIns="0" tIns="0" bIns="0">
            <a:spAutoFit/>
          </a:bodyPr>
          <a:lstStyle/>
          <a:p>
            <a:pPr algn="l"/>
            <a:r>
              <a:rPr sz="700" b="1" i="0">
                <a:solidFill>
                  <a:srgbClr val="5B3FD6"/>
                </a:solidFill>
                <a:latin typeface="Calibri"/>
              </a:rPr>
              <a:t>Who joined when?</a:t>
            </a:r>
          </a:p>
        </p:txBody>
      </p:sp>
      <p:sp>
        <p:nvSpPr>
          <p:cNvPr id="38" name="Oval 37"/>
          <p:cNvSpPr/>
          <p:nvPr/>
        </p:nvSpPr>
        <p:spPr>
          <a:xfrm>
            <a:off x="174193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185166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Where is the floor?</a:t>
            </a:r>
          </a:p>
        </p:txBody>
      </p:sp>
      <p:sp>
        <p:nvSpPr>
          <p:cNvPr id="40" name="Oval 39"/>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320125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a blend made of?</a:t>
            </a:r>
          </a:p>
        </p:txBody>
      </p:sp>
      <p:sp>
        <p:nvSpPr>
          <p:cNvPr id="42" name="Oval 41"/>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478088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step owns a loss?</a:t>
            </a:r>
          </a:p>
        </p:txBody>
      </p:sp>
      <p:sp>
        <p:nvSpPr>
          <p:cNvPr id="44" name="Oval 43"/>
          <p:cNvSpPr/>
          <p:nvPr/>
        </p:nvSpPr>
        <p:spPr>
          <a:xfrm>
            <a:off x="62047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6314503"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Who entered when?</a:t>
            </a:r>
          </a:p>
        </p:txBody>
      </p:sp>
      <p:sp>
        <p:nvSpPr>
          <p:cNvPr id="46" name="Oval 45"/>
          <p:cNvSpPr/>
          <p:nvPr/>
        </p:nvSpPr>
        <p:spPr>
          <a:xfrm>
            <a:off x="74623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7572089"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the 38 made of?</a:t>
            </a:r>
          </a:p>
        </p:txBody>
      </p:sp>
      <p:sp>
        <p:nvSpPr>
          <p:cNvPr id="48" name="Oval 47"/>
          <p:cNvSpPr/>
          <p:nvPr/>
        </p:nvSpPr>
        <p:spPr>
          <a:xfrm>
            <a:off x="899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910570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stage owns the loss?</a:t>
            </a:r>
          </a:p>
        </p:txBody>
      </p:sp>
      <p:sp>
        <p:nvSpPr>
          <p:cNvPr id="50" name="TextBox 4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  ·  7 / 73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COHORT AND FUNNEL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Predict: which batch keeps most in month one?</a:t>
            </a:r>
          </a:p>
        </p:txBody>
      </p:sp>
      <p:sp>
        <p:nvSpPr>
          <p:cNvPr id="8" name="TextBox 7"/>
          <p:cNvSpPr txBox="1"/>
          <p:nvPr/>
        </p:nvSpPr>
        <p:spPr>
          <a:xfrm>
            <a:off x="530352" y="1243584"/>
            <a:ext cx="11130991" cy="399796"/>
          </a:xfrm>
          <a:prstGeom prst="rect">
            <a:avLst/>
          </a:prstGeom>
          <a:noFill/>
        </p:spPr>
        <p:txBody>
          <a:bodyPr wrap="square" anchor="t" lIns="0" rIns="0" tIns="0" bIns="0">
            <a:spAutoFit/>
          </a:bodyPr>
          <a:lstStyle/>
          <a:p>
            <a:pPr algn="l"/>
            <a:r>
              <a:rPr sz="1100" b="0" i="0">
                <a:solidFill>
                  <a:srgbClr val="6B6690"/>
                </a:solidFill>
                <a:latin typeface="Calibri"/>
              </a:rPr>
              <a:t>In April the owner reads 5, 5 and 6 of 10 January, February and March joiners and calls March best. Counted by months since joining, which batch keeps the most in its own month one?</a:t>
            </a:r>
          </a:p>
        </p:txBody>
      </p:sp>
      <p:pic>
        <p:nvPicPr>
          <p:cNvPr id="9" name="mermaid diagram" descr="C2_W04_D04_gym_register_STUDENT.png"/>
          <p:cNvPicPr>
            <a:picLocks noChangeAspect="1"/>
          </p:cNvPicPr>
          <p:nvPr/>
        </p:nvPicPr>
        <p:blipFill>
          <a:blip r:embed="rId4"/>
          <a:stretch>
            <a:fillRect/>
          </a:stretch>
        </p:blipFill>
        <p:spPr>
          <a:xfrm>
            <a:off x="530352" y="2664760"/>
            <a:ext cx="4786326" cy="2028351"/>
          </a:xfrm>
          <a:prstGeom prst="rect">
            <a:avLst/>
          </a:prstGeom>
        </p:spPr>
      </p:pic>
      <p:sp>
        <p:nvSpPr>
          <p:cNvPr id="10" name="picture caption"/>
          <p:cNvSpPr txBox="1"/>
          <p:nvPr/>
        </p:nvSpPr>
        <p:spPr>
          <a:xfrm>
            <a:off x="530352" y="4729687"/>
            <a:ext cx="4786326" cy="524256"/>
          </a:xfrm>
          <a:prstGeom prst="rect">
            <a:avLst/>
          </a:prstGeom>
          <a:noFill/>
        </p:spPr>
        <p:txBody>
          <a:bodyPr wrap="square" anchor="t" lIns="0" rIns="0" tIns="0" bIns="0">
            <a:spAutoFit/>
          </a:bodyPr>
          <a:lstStyle/>
          <a:p>
            <a:pPr algn="ctr"/>
            <a:r>
              <a:rPr sz="1200" b="0" i="0">
                <a:solidFill>
                  <a:srgbClr val="6B6690"/>
                </a:solidFill>
                <a:latin typeface="Calibri"/>
              </a:rPr>
              <a:t>The gym branch's thirty joiners, January to June 2026, one row each (invented)</a:t>
            </a:r>
          </a:p>
        </p:txBody>
      </p:sp>
      <p:sp>
        <p:nvSpPr>
          <p:cNvPr id="11" name="TextBox 10"/>
          <p:cNvSpPr txBox="1"/>
          <p:nvPr/>
        </p:nvSpPr>
        <p:spPr>
          <a:xfrm>
            <a:off x="5761917" y="1956816"/>
            <a:ext cx="5899425" cy="1654048"/>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March, as the owner reads it</a:t>
            </a:r>
          </a:p>
          <a:p>
            <a:pPr>
              <a:spcAft>
                <a:spcPts val="800"/>
              </a:spcAft>
            </a:pPr>
            <a:r>
              <a:rPr sz="1600" b="0" i="0">
                <a:solidFill>
                  <a:srgbClr val="1A1440"/>
                </a:solidFill>
                <a:latin typeface="Calibri"/>
              </a:rPr>
              <a:t>b) February</a:t>
            </a:r>
          </a:p>
          <a:p>
            <a:pPr>
              <a:spcAft>
                <a:spcPts val="800"/>
              </a:spcAft>
            </a:pPr>
            <a:r>
              <a:rPr sz="1600" b="0" i="0">
                <a:solidFill>
                  <a:srgbClr val="1A1440"/>
                </a:solidFill>
                <a:latin typeface="Calibri"/>
              </a:rPr>
              <a:t>c) January</a:t>
            </a:r>
          </a:p>
          <a:p>
            <a:pPr>
              <a:spcAft>
                <a:spcPts val="800"/>
              </a:spcAft>
            </a:pPr>
            <a:r>
              <a:rPr sz="1600" b="0" i="0">
                <a:solidFill>
                  <a:srgbClr val="1A1440"/>
                </a:solidFill>
                <a:latin typeface="Calibri"/>
              </a:rPr>
              <a:t>d) All three keep the same share</a:t>
            </a:r>
          </a:p>
        </p:txBody>
      </p:sp>
      <p:sp>
        <p:nvSpPr>
          <p:cNvPr id="12" name="Oval 11"/>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010412" cy="152146"/>
          </a:xfrm>
          <a:prstGeom prst="rect">
            <a:avLst/>
          </a:prstGeom>
          <a:noFill/>
        </p:spPr>
        <p:txBody>
          <a:bodyPr wrap="square" anchor="t" lIns="0" rIns="0" tIns="0" bIns="0">
            <a:spAutoFit/>
          </a:bodyPr>
          <a:lstStyle/>
          <a:p>
            <a:pPr algn="l"/>
            <a:r>
              <a:rPr sz="700" b="1" i="0">
                <a:solidFill>
                  <a:srgbClr val="5B3FD6"/>
                </a:solidFill>
                <a:latin typeface="Calibri"/>
              </a:rPr>
              <a:t>Who joined when?</a:t>
            </a:r>
          </a:p>
        </p:txBody>
      </p:sp>
      <p:sp>
        <p:nvSpPr>
          <p:cNvPr id="14" name="Oval 13"/>
          <p:cNvSpPr/>
          <p:nvPr/>
        </p:nvSpPr>
        <p:spPr>
          <a:xfrm>
            <a:off x="174193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85166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Where is the floor?</a:t>
            </a:r>
          </a:p>
        </p:txBody>
      </p:sp>
      <p:sp>
        <p:nvSpPr>
          <p:cNvPr id="16" name="Oval 15"/>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20125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a blend made of?</a:t>
            </a:r>
          </a:p>
        </p:txBody>
      </p:sp>
      <p:sp>
        <p:nvSpPr>
          <p:cNvPr id="18" name="Oval 17"/>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78088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step owns a loss?</a:t>
            </a:r>
          </a:p>
        </p:txBody>
      </p:sp>
      <p:sp>
        <p:nvSpPr>
          <p:cNvPr id="20" name="Oval 19"/>
          <p:cNvSpPr/>
          <p:nvPr/>
        </p:nvSpPr>
        <p:spPr>
          <a:xfrm>
            <a:off x="62047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314503"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Who entered when?</a:t>
            </a:r>
          </a:p>
        </p:txBody>
      </p:sp>
      <p:sp>
        <p:nvSpPr>
          <p:cNvPr id="22" name="Oval 21"/>
          <p:cNvSpPr/>
          <p:nvPr/>
        </p:nvSpPr>
        <p:spPr>
          <a:xfrm>
            <a:off x="74623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572089"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the 38 made of?</a:t>
            </a:r>
          </a:p>
        </p:txBody>
      </p:sp>
      <p:sp>
        <p:nvSpPr>
          <p:cNvPr id="24" name="Oval 23"/>
          <p:cNvSpPr/>
          <p:nvPr/>
        </p:nvSpPr>
        <p:spPr>
          <a:xfrm>
            <a:off x="899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10570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stage owns the loss?</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S7  ·  8 / 73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COHORT AND FUNNEL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January keeps 8 of 10, March 6 of 10</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each batch keep at each age, counted by hand?</a:t>
            </a:r>
          </a:p>
        </p:txBody>
      </p:sp>
      <p:graphicFrame>
        <p:nvGraphicFramePr>
          <p:cNvPr id="9" name="Table 8"/>
          <p:cNvGraphicFramePr>
            <a:graphicFrameLocks noGrp="1"/>
          </p:cNvGraphicFramePr>
          <p:nvPr/>
        </p:nvGraphicFramePr>
        <p:xfrm>
          <a:off x="530352" y="1956816"/>
          <a:ext cx="11130991" cy="1341120"/>
        </p:xfrm>
        <a:graphic>
          <a:graphicData uri="http://schemas.openxmlformats.org/drawingml/2006/table">
            <a:tbl>
              <a:tblPr firstRow="0" bandRow="0">
                <a:tableStyleId>{2D5ABB26-0587-4C30-8999-92F81FD0307C}</a:tableStyleId>
              </a:tblPr>
              <a:tblGrid>
                <a:gridCol w="6558991"/>
                <a:gridCol w="914400"/>
                <a:gridCol w="914400"/>
                <a:gridCol w="914400"/>
                <a:gridCol w="914400"/>
                <a:gridCol w="914400"/>
              </a:tblGrid>
              <a:tr h="335280">
                <a:tc>
                  <a:txBody>
                    <a:bodyPr/>
                    <a:lstStyle/>
                    <a:p>
                      <a:r>
                        <a:rPr sz="1250" b="1" i="0">
                          <a:solidFill>
                            <a:srgbClr val="FFFFFF"/>
                          </a:solidFill>
                          <a:latin typeface="Calibri"/>
                        </a:rPr>
                        <a:t>Joined, 10 each (invented)</a:t>
                      </a:r>
                    </a:p>
                  </a:txBody>
                  <a:tcPr marL="101600" marR="101600" marT="38100" marB="38100" anchor="ctr">
                    <a:solidFill>
                      <a:srgbClr val="1A0F5C"/>
                    </a:solidFill>
                  </a:tcPr>
                </a:tc>
                <a:tc>
                  <a:txBody>
                    <a:bodyPr/>
                    <a:lstStyle/>
                    <a:p>
                      <a:r>
                        <a:rPr sz="1250" b="1" i="0">
                          <a:solidFill>
                            <a:srgbClr val="FFFFFF"/>
                          </a:solidFill>
                          <a:latin typeface="Calibri"/>
                        </a:rPr>
                        <a:t>Age 1</a:t>
                      </a:r>
                    </a:p>
                  </a:txBody>
                  <a:tcPr marL="101600" marR="101600" marT="38100" marB="38100" anchor="ctr">
                    <a:solidFill>
                      <a:srgbClr val="1A0F5C"/>
                    </a:solidFill>
                  </a:tcPr>
                </a:tc>
                <a:tc>
                  <a:txBody>
                    <a:bodyPr/>
                    <a:lstStyle/>
                    <a:p>
                      <a:r>
                        <a:rPr sz="1250" b="1" i="0">
                          <a:solidFill>
                            <a:srgbClr val="FFFFFF"/>
                          </a:solidFill>
                          <a:latin typeface="Calibri"/>
                        </a:rPr>
                        <a:t>Age 2</a:t>
                      </a:r>
                    </a:p>
                  </a:txBody>
                  <a:tcPr marL="101600" marR="101600" marT="38100" marB="38100" anchor="ctr">
                    <a:solidFill>
                      <a:srgbClr val="1A0F5C"/>
                    </a:solidFill>
                  </a:tcPr>
                </a:tc>
                <a:tc>
                  <a:txBody>
                    <a:bodyPr/>
                    <a:lstStyle/>
                    <a:p>
                      <a:r>
                        <a:rPr sz="1250" b="1" i="0">
                          <a:solidFill>
                            <a:srgbClr val="FFFFFF"/>
                          </a:solidFill>
                          <a:latin typeface="Calibri"/>
                        </a:rPr>
                        <a:t>Age 3</a:t>
                      </a:r>
                    </a:p>
                  </a:txBody>
                  <a:tcPr marL="101600" marR="101600" marT="38100" marB="38100" anchor="ctr">
                    <a:solidFill>
                      <a:srgbClr val="1A0F5C"/>
                    </a:solidFill>
                  </a:tcPr>
                </a:tc>
                <a:tc>
                  <a:txBody>
                    <a:bodyPr/>
                    <a:lstStyle/>
                    <a:p>
                      <a:r>
                        <a:rPr sz="1250" b="1" i="0">
                          <a:solidFill>
                            <a:srgbClr val="FFFFFF"/>
                          </a:solidFill>
                          <a:latin typeface="Calibri"/>
                        </a:rPr>
                        <a:t>Age 4</a:t>
                      </a:r>
                    </a:p>
                  </a:txBody>
                  <a:tcPr marL="101600" marR="101600" marT="38100" marB="38100" anchor="ctr">
                    <a:solidFill>
                      <a:srgbClr val="1A0F5C"/>
                    </a:solidFill>
                  </a:tcPr>
                </a:tc>
                <a:tc>
                  <a:txBody>
                    <a:bodyPr/>
                    <a:lstStyle/>
                    <a:p>
                      <a:r>
                        <a:rPr sz="1250" b="1" i="0">
                          <a:solidFill>
                            <a:srgbClr val="FFFFFF"/>
                          </a:solidFill>
                          <a:latin typeface="Calibri"/>
                        </a:rPr>
                        <a:t>Age 5</a:t>
                      </a:r>
                    </a:p>
                  </a:txBody>
                  <a:tcPr marL="101600" marR="101600" marT="38100" marB="38100" anchor="ctr">
                    <a:solidFill>
                      <a:srgbClr val="1A0F5C"/>
                    </a:solidFill>
                  </a:tcPr>
                </a:tc>
              </a:tr>
              <a:tr h="335280">
                <a:tc>
                  <a:txBody>
                    <a:bodyPr/>
                    <a:lstStyle/>
                    <a:p>
                      <a:r>
                        <a:rPr sz="1200" b="0" i="0">
                          <a:solidFill>
                            <a:srgbClr val="1A1440"/>
                          </a:solidFill>
                          <a:latin typeface="Calibri"/>
                        </a:rPr>
                        <a:t>January</a:t>
                      </a:r>
                    </a:p>
                  </a:txBody>
                  <a:tcPr marL="101600" marR="101600" marT="38100" marB="38100" anchor="ctr">
                    <a:solidFill>
                      <a:srgbClr val="FFFFFF"/>
                    </a:solidFill>
                  </a:tcPr>
                </a:tc>
                <a:tc>
                  <a:txBody>
                    <a:bodyPr/>
                    <a:lstStyle/>
                    <a:p>
                      <a:r>
                        <a:rPr sz="1200" b="0" i="0">
                          <a:solidFill>
                            <a:srgbClr val="1A1440"/>
                          </a:solidFill>
                          <a:latin typeface="Calibri"/>
                        </a:rPr>
                        <a:t>8</a:t>
                      </a:r>
                    </a:p>
                  </a:txBody>
                  <a:tcPr marL="101600" marR="101600" marT="38100" marB="38100" anchor="ctr">
                    <a:solidFill>
                      <a:srgbClr val="FFFFFF"/>
                    </a:solidFill>
                  </a:tcPr>
                </a:tc>
                <a:tc>
                  <a:txBody>
                    <a:bodyPr/>
                    <a:lstStyle/>
                    <a:p>
                      <a:r>
                        <a:rPr sz="1200" b="0" i="0">
                          <a:solidFill>
                            <a:srgbClr val="1A1440"/>
                          </a:solidFill>
                          <a:latin typeface="Calibri"/>
                        </a:rPr>
                        <a:t>6</a:t>
                      </a:r>
                    </a:p>
                  </a:txBody>
                  <a:tcPr marL="101600" marR="101600" marT="38100" marB="38100" anchor="ctr">
                    <a:solidFill>
                      <a:srgbClr val="FFFFFF"/>
                    </a:solidFill>
                  </a:tcPr>
                </a:tc>
                <a:tc>
                  <a:txBody>
                    <a:bodyPr/>
                    <a:lstStyle/>
                    <a:p>
                      <a:r>
                        <a:rPr sz="1200" b="0" i="0">
                          <a:solidFill>
                            <a:srgbClr val="1A1440"/>
                          </a:solidFill>
                          <a:latin typeface="Calibri"/>
                        </a:rPr>
                        <a:t>5</a:t>
                      </a:r>
                    </a:p>
                  </a:txBody>
                  <a:tcPr marL="101600" marR="101600" marT="38100" marB="38100" anchor="ctr">
                    <a:solidFill>
                      <a:srgbClr val="FFFFFF"/>
                    </a:solidFill>
                  </a:tcPr>
                </a:tc>
                <a:tc>
                  <a:txBody>
                    <a:bodyPr/>
                    <a:lstStyle/>
                    <a:p>
                      <a:r>
                        <a:rPr sz="1200" b="0" i="0">
                          <a:solidFill>
                            <a:srgbClr val="1A1440"/>
                          </a:solidFill>
                          <a:latin typeface="Calibri"/>
                        </a:rPr>
                        <a:t>5</a:t>
                      </a:r>
                    </a:p>
                  </a:txBody>
                  <a:tcPr marL="101600" marR="101600" marT="38100" marB="38100" anchor="ctr">
                    <a:solidFill>
                      <a:srgbClr val="FFFFFF"/>
                    </a:solidFill>
                  </a:tcPr>
                </a:tc>
                <a:tc>
                  <a:txBody>
                    <a:bodyPr/>
                    <a:lstStyle/>
                    <a:p>
                      <a:r>
                        <a:rPr sz="1200" b="0" i="0">
                          <a:solidFill>
                            <a:srgbClr val="1A1440"/>
                          </a:solidFill>
                          <a:latin typeface="Calibri"/>
                        </a:rPr>
                        <a:t>5</a:t>
                      </a:r>
                    </a:p>
                  </a:txBody>
                  <a:tcPr marL="101600" marR="101600" marT="38100" marB="38100" anchor="ctr">
                    <a:solidFill>
                      <a:srgbClr val="FFFFFF"/>
                    </a:solidFill>
                  </a:tcPr>
                </a:tc>
              </a:tr>
              <a:tr h="335280">
                <a:tc>
                  <a:txBody>
                    <a:bodyPr/>
                    <a:lstStyle/>
                    <a:p>
                      <a:r>
                        <a:rPr sz="1200" b="0" i="0">
                          <a:solidFill>
                            <a:srgbClr val="1A1440"/>
                          </a:solidFill>
                          <a:latin typeface="Calibri"/>
                        </a:rPr>
                        <a:t>February</a:t>
                      </a:r>
                    </a:p>
                  </a:txBody>
                  <a:tcPr marL="101600" marR="101600" marT="38100" marB="38100" anchor="ctr">
                    <a:solidFill>
                      <a:srgbClr val="F4F2FA"/>
                    </a:solidFill>
                  </a:tcPr>
                </a:tc>
                <a:tc>
                  <a:txBody>
                    <a:bodyPr/>
                    <a:lstStyle/>
                    <a:p>
                      <a:r>
                        <a:rPr sz="1200" b="0" i="0">
                          <a:solidFill>
                            <a:srgbClr val="1A1440"/>
                          </a:solidFill>
                          <a:latin typeface="Calibri"/>
                        </a:rPr>
                        <a:t>7</a:t>
                      </a:r>
                    </a:p>
                  </a:txBody>
                  <a:tcPr marL="101600" marR="101600" marT="38100" marB="38100" anchor="ctr">
                    <a:solidFill>
                      <a:srgbClr val="F4F2FA"/>
                    </a:solidFill>
                  </a:tcPr>
                </a:tc>
                <a:tc>
                  <a:txBody>
                    <a:bodyPr/>
                    <a:lstStyle/>
                    <a:p>
                      <a:r>
                        <a:rPr sz="1200" b="0" i="0">
                          <a:solidFill>
                            <a:srgbClr val="1A1440"/>
                          </a:solidFill>
                          <a:latin typeface="Calibri"/>
                        </a:rPr>
                        <a:t>5</a:t>
                      </a:r>
                    </a:p>
                  </a:txBody>
                  <a:tcPr marL="101600" marR="101600" marT="38100" marB="38100" anchor="ctr">
                    <a:solidFill>
                      <a:srgbClr val="F4F2FA"/>
                    </a:solidFill>
                  </a:tcPr>
                </a:tc>
                <a:tc>
                  <a:txBody>
                    <a:bodyPr/>
                    <a:lstStyle/>
                    <a:p>
                      <a:r>
                        <a:rPr sz="1200" b="0" i="0">
                          <a:solidFill>
                            <a:srgbClr val="1A1440"/>
                          </a:solidFill>
                          <a:latin typeface="Calibri"/>
                        </a:rPr>
                        <a:t>3</a:t>
                      </a:r>
                    </a:p>
                  </a:txBody>
                  <a:tcPr marL="101600" marR="101600" marT="38100" marB="38100" anchor="ctr">
                    <a:solidFill>
                      <a:srgbClr val="F4F2FA"/>
                    </a:solidFill>
                  </a:tcPr>
                </a:tc>
                <a:tc>
                  <a:txBody>
                    <a:bodyPr/>
                    <a:lstStyle/>
                    <a:p>
                      <a:r>
                        <a:rPr sz="1200" b="0" i="0">
                          <a:solidFill>
                            <a:srgbClr val="1A1440"/>
                          </a:solidFill>
                          <a:latin typeface="Calibri"/>
                        </a:rPr>
                        <a:t>3</a:t>
                      </a:r>
                    </a:p>
                  </a:txBody>
                  <a:tcPr marL="101600" marR="101600" marT="38100" marB="38100" anchor="ctr">
                    <a:solidFill>
                      <a:srgbClr val="F4F2FA"/>
                    </a:solidFill>
                  </a:tcPr>
                </a:tc>
                <a:tc>
                  <a:txBody>
                    <a:bodyPr/>
                    <a:lstStyle/>
                    <a:p/>
                  </a:txBody>
                  <a:tcPr marL="101600" marR="101600" marT="38100" marB="38100" anchor="ctr">
                    <a:solidFill>
                      <a:srgbClr val="F4F2FA"/>
                    </a:solidFill>
                  </a:tcPr>
                </a:tc>
              </a:tr>
              <a:tr h="335280">
                <a:tc>
                  <a:txBody>
                    <a:bodyPr/>
                    <a:lstStyle/>
                    <a:p>
                      <a:r>
                        <a:rPr sz="1200" b="0" i="0">
                          <a:solidFill>
                            <a:srgbClr val="1A1440"/>
                          </a:solidFill>
                          <a:latin typeface="Calibri"/>
                        </a:rPr>
                        <a:t>March</a:t>
                      </a:r>
                    </a:p>
                  </a:txBody>
                  <a:tcPr marL="101600" marR="101600" marT="38100" marB="38100" anchor="ctr">
                    <a:solidFill>
                      <a:srgbClr val="FFFFFF"/>
                    </a:solidFill>
                  </a:tcPr>
                </a:tc>
                <a:tc>
                  <a:txBody>
                    <a:bodyPr/>
                    <a:lstStyle/>
                    <a:p>
                      <a:r>
                        <a:rPr sz="1200" b="0" i="0">
                          <a:solidFill>
                            <a:srgbClr val="1A1440"/>
                          </a:solidFill>
                          <a:latin typeface="Calibri"/>
                        </a:rPr>
                        <a:t>6</a:t>
                      </a:r>
                    </a:p>
                  </a:txBody>
                  <a:tcPr marL="101600" marR="101600" marT="38100" marB="38100" anchor="ctr">
                    <a:solidFill>
                      <a:srgbClr val="FFFFFF"/>
                    </a:solidFill>
                  </a:tcPr>
                </a:tc>
                <a:tc>
                  <a:txBody>
                    <a:bodyPr/>
                    <a:lstStyle/>
                    <a:p>
                      <a:r>
                        <a:rPr sz="1200" b="0" i="0">
                          <a:solidFill>
                            <a:srgbClr val="1A1440"/>
                          </a:solidFill>
                          <a:latin typeface="Calibri"/>
                        </a:rPr>
                        <a:t>4</a:t>
                      </a:r>
                    </a:p>
                  </a:txBody>
                  <a:tcPr marL="101600" marR="101600" marT="38100" marB="38100" anchor="ctr">
                    <a:solidFill>
                      <a:srgbClr val="FFFFFF"/>
                    </a:solidFill>
                  </a:tcPr>
                </a:tc>
                <a:tc>
                  <a:txBody>
                    <a:bodyPr/>
                    <a:lstStyle/>
                    <a:p>
                      <a:r>
                        <a:rPr sz="1200" b="0" i="0">
                          <a:solidFill>
                            <a:srgbClr val="1A1440"/>
                          </a:solidFill>
                          <a:latin typeface="Calibri"/>
                        </a:rPr>
                        <a:t>3</a:t>
                      </a:r>
                    </a:p>
                  </a:txBody>
                  <a:tcPr marL="101600" marR="101600" marT="38100" marB="38100" anchor="ctr">
                    <a:solidFill>
                      <a:srgbClr val="FFFFFF"/>
                    </a:solidFill>
                  </a:tcPr>
                </a:tc>
                <a:tc>
                  <a:txBody>
                    <a:bodyPr/>
                    <a:lstStyle/>
                    <a:p/>
                  </a:txBody>
                  <a:tcPr marL="101600" marR="101600" marT="38100" marB="38100" anchor="ctr">
                    <a:solidFill>
                      <a:srgbClr val="FFFFFF"/>
                    </a:solidFill>
                  </a:tcPr>
                </a:tc>
                <a:tc>
                  <a:txBody>
                    <a:bodyPr/>
                    <a:lstStyle/>
                    <a:p/>
                  </a:txBody>
                  <a:tcPr marL="101600" marR="101600" marT="38100" marB="38100" anchor="ctr">
                    <a:solidFill>
                      <a:srgbClr val="FFFFFF"/>
                    </a:solidFill>
                  </a:tcPr>
                </a:tc>
              </a:tr>
            </a:tbl>
          </a:graphicData>
        </a:graphic>
      </p:graphicFrame>
      <p:sp>
        <p:nvSpPr>
          <p:cNvPr id="10" name="TextBox 9"/>
          <p:cNvSpPr txBox="1"/>
          <p:nvPr/>
        </p:nvSpPr>
        <p:spPr>
          <a:xfrm>
            <a:off x="530352" y="3553968"/>
            <a:ext cx="11130991" cy="1324864"/>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answer is c. Age is the month minus the joining month, and the joining month is age zero, never counted, so a January joiner's age one is February. At age one the batches keep 8, 7 and 6 of 10: March, best in April, is the weakest at the same age. April's column mixed January at age three, February at age two and March at age one, so its 16 of 30 names no batch.</a:t>
            </a:r>
          </a:p>
        </p:txBody>
      </p:sp>
      <p:sp>
        <p:nvSpPr>
          <p:cNvPr id="11" name="Oval 10"/>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010412" cy="152146"/>
          </a:xfrm>
          <a:prstGeom prst="rect">
            <a:avLst/>
          </a:prstGeom>
          <a:noFill/>
        </p:spPr>
        <p:txBody>
          <a:bodyPr wrap="square" anchor="t" lIns="0" rIns="0" tIns="0" bIns="0">
            <a:spAutoFit/>
          </a:bodyPr>
          <a:lstStyle/>
          <a:p>
            <a:pPr algn="l"/>
            <a:r>
              <a:rPr sz="700" b="1" i="0">
                <a:solidFill>
                  <a:srgbClr val="5B3FD6"/>
                </a:solidFill>
                <a:latin typeface="Calibri"/>
              </a:rPr>
              <a:t>Who joined when?</a:t>
            </a:r>
          </a:p>
        </p:txBody>
      </p:sp>
      <p:sp>
        <p:nvSpPr>
          <p:cNvPr id="13" name="Oval 12"/>
          <p:cNvSpPr/>
          <p:nvPr/>
        </p:nvSpPr>
        <p:spPr>
          <a:xfrm>
            <a:off x="174193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85166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Where is the floor?</a:t>
            </a:r>
          </a:p>
        </p:txBody>
      </p:sp>
      <p:sp>
        <p:nvSpPr>
          <p:cNvPr id="15" name="Oval 14"/>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20125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a blend made of?</a:t>
            </a:r>
          </a:p>
        </p:txBody>
      </p:sp>
      <p:sp>
        <p:nvSpPr>
          <p:cNvPr id="17" name="Oval 16"/>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78088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step owns a loss?</a:t>
            </a:r>
          </a:p>
        </p:txBody>
      </p:sp>
      <p:sp>
        <p:nvSpPr>
          <p:cNvPr id="19" name="Oval 18"/>
          <p:cNvSpPr/>
          <p:nvPr/>
        </p:nvSpPr>
        <p:spPr>
          <a:xfrm>
            <a:off x="62047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314503"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Who entered when?</a:t>
            </a:r>
          </a:p>
        </p:txBody>
      </p:sp>
      <p:sp>
        <p:nvSpPr>
          <p:cNvPr id="21" name="Oval 20"/>
          <p:cNvSpPr/>
          <p:nvPr/>
        </p:nvSpPr>
        <p:spPr>
          <a:xfrm>
            <a:off x="74623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572089"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the 38 made of?</a:t>
            </a:r>
          </a:p>
        </p:txBody>
      </p:sp>
      <p:sp>
        <p:nvSpPr>
          <p:cNvPr id="23" name="Oval 22"/>
          <p:cNvSpPr/>
          <p:nvPr/>
        </p:nvSpPr>
        <p:spPr>
          <a:xfrm>
            <a:off x="899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10570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stage owns the loss?</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S8  ·  9 / 73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COHORT AND FUNNEL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cohort table is a triangle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Why does each row stop where it does, and what does one cell mean?</a:t>
            </a:r>
          </a:p>
        </p:txBody>
      </p:sp>
      <p:pic>
        <p:nvPicPr>
          <p:cNvPr id="9" name="mermaid diagram" descr="C2_W04_D04_gym_triangle_STUDENT.png"/>
          <p:cNvPicPr>
            <a:picLocks noChangeAspect="1"/>
          </p:cNvPicPr>
          <p:nvPr/>
        </p:nvPicPr>
        <p:blipFill>
          <a:blip r:embed="rId4"/>
          <a:stretch>
            <a:fillRect/>
          </a:stretch>
        </p:blipFill>
        <p:spPr>
          <a:xfrm>
            <a:off x="2300174" y="1664208"/>
            <a:ext cx="7591346" cy="2939288"/>
          </a:xfrm>
          <a:prstGeom prst="rect">
            <a:avLst/>
          </a:prstGeom>
        </p:spPr>
      </p:pic>
      <p:sp>
        <p:nvSpPr>
          <p:cNvPr id="10" name="picture caption"/>
          <p:cNvSpPr txBox="1"/>
          <p:nvPr/>
        </p:nvSpPr>
        <p:spPr>
          <a:xfrm>
            <a:off x="530352" y="4640072"/>
            <a:ext cx="11130991" cy="316992"/>
          </a:xfrm>
          <a:prstGeom prst="rect">
            <a:avLst/>
          </a:prstGeom>
          <a:noFill/>
        </p:spPr>
        <p:txBody>
          <a:bodyPr wrap="square" anchor="t" lIns="0" rIns="0" tIns="0" bIns="0">
            <a:spAutoFit/>
          </a:bodyPr>
          <a:lstStyle/>
          <a:p>
            <a:pPr algn="ctr"/>
            <a:r>
              <a:rPr sz="1200" b="0" i="0">
                <a:solidFill>
                  <a:srgbClr val="6B6690"/>
                </a:solidFill>
                <a:latin typeface="Calibri"/>
              </a:rPr>
              <a:t>The gym's cohort table: percent of each batch who visited, by age (invented)</a:t>
            </a:r>
          </a:p>
        </p:txBody>
      </p:sp>
      <p:sp>
        <p:nvSpPr>
          <p:cNvPr id="11" name="TextBox 10"/>
          <p:cNvSpPr txBox="1"/>
          <p:nvPr/>
        </p:nvSpPr>
        <p:spPr>
          <a:xfrm>
            <a:off x="530352" y="4966208"/>
            <a:ext cx="11130991" cy="1233424"/>
          </a:xfrm>
          <a:prstGeom prst="rect">
            <a:avLst/>
          </a:prstGeom>
          <a:noFill/>
        </p:spPr>
        <p:txBody>
          <a:bodyPr wrap="square" anchor="t" lIns="0" rIns="0" tIns="0" bIns="0">
            <a:spAutoFit/>
          </a:bodyPr>
          <a:lstStyle/>
          <a:p>
            <a:r>
              <a:rPr sz="1600" b="0" i="0">
                <a:solidFill>
                  <a:srgbClr val="1A1440"/>
                </a:solidFill>
                <a:latin typeface="Calibri"/>
              </a:rPr>
              <a:t>Each row is a cohort, everyone who joined in one month, and each column is an age. By June, March's joiners have lived only three ages, so their row is short, and a newer cohort's row is always shorter: that is why a cohort table is a triangle. </a:t>
            </a:r>
            <a:r>
              <a:rPr sz="1600" b="1" i="0">
                <a:solidFill>
                  <a:srgbClr val="1A1440"/>
                </a:solidFill>
                <a:latin typeface="Calibri"/>
              </a:rPr>
              <a:t>Named last, the formula:</a:t>
            </a:r>
            <a:r>
              <a:rPr sz="1600" b="0" i="0">
                <a:solidFill>
                  <a:srgbClr val="1A1440"/>
                </a:solidFill>
                <a:latin typeface="Calibri"/>
              </a:rPr>
              <a:t> retention of cohort c at age k = members of c who visited at age k ÷ the members of c. January at age two: 6 ÷ 10 = 60 percent.</a:t>
            </a:r>
          </a:p>
        </p:txBody>
      </p:sp>
      <p:sp>
        <p:nvSpPr>
          <p:cNvPr id="12" name="Oval 11"/>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010412" cy="152146"/>
          </a:xfrm>
          <a:prstGeom prst="rect">
            <a:avLst/>
          </a:prstGeom>
          <a:noFill/>
        </p:spPr>
        <p:txBody>
          <a:bodyPr wrap="square" anchor="t" lIns="0" rIns="0" tIns="0" bIns="0">
            <a:spAutoFit/>
          </a:bodyPr>
          <a:lstStyle/>
          <a:p>
            <a:pPr algn="l"/>
            <a:r>
              <a:rPr sz="700" b="1" i="0">
                <a:solidFill>
                  <a:srgbClr val="5B3FD6"/>
                </a:solidFill>
                <a:latin typeface="Calibri"/>
              </a:rPr>
              <a:t>Who joined when?</a:t>
            </a:r>
          </a:p>
        </p:txBody>
      </p:sp>
      <p:sp>
        <p:nvSpPr>
          <p:cNvPr id="14" name="Oval 13"/>
          <p:cNvSpPr/>
          <p:nvPr/>
        </p:nvSpPr>
        <p:spPr>
          <a:xfrm>
            <a:off x="174193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85166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Where is the floor?</a:t>
            </a:r>
          </a:p>
        </p:txBody>
      </p:sp>
      <p:sp>
        <p:nvSpPr>
          <p:cNvPr id="16" name="Oval 15"/>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20125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a blend made of?</a:t>
            </a:r>
          </a:p>
        </p:txBody>
      </p:sp>
      <p:sp>
        <p:nvSpPr>
          <p:cNvPr id="18" name="Oval 17"/>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78088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step owns a loss?</a:t>
            </a:r>
          </a:p>
        </p:txBody>
      </p:sp>
      <p:sp>
        <p:nvSpPr>
          <p:cNvPr id="20" name="Oval 19"/>
          <p:cNvSpPr/>
          <p:nvPr/>
        </p:nvSpPr>
        <p:spPr>
          <a:xfrm>
            <a:off x="62047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314503"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Who entered when?</a:t>
            </a:r>
          </a:p>
        </p:txBody>
      </p:sp>
      <p:sp>
        <p:nvSpPr>
          <p:cNvPr id="22" name="Oval 21"/>
          <p:cNvSpPr/>
          <p:nvPr/>
        </p:nvSpPr>
        <p:spPr>
          <a:xfrm>
            <a:off x="74623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572089"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the 38 made of?</a:t>
            </a:r>
          </a:p>
        </p:txBody>
      </p:sp>
      <p:sp>
        <p:nvSpPr>
          <p:cNvPr id="24" name="Oval 23"/>
          <p:cNvSpPr/>
          <p:nvPr/>
        </p:nvSpPr>
        <p:spPr>
          <a:xfrm>
            <a:off x="899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10570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stage owns the loss?</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S9  ·  10 / 73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COHORT AND FUNNEL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One pivot_table builds the same triangle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does pandas count the triangle from the register?</a:t>
            </a:r>
          </a:p>
        </p:txBody>
      </p:sp>
      <p:sp>
        <p:nvSpPr>
          <p:cNvPr id="9" name="Rounded Rectangle 8"/>
          <p:cNvSpPr/>
          <p:nvPr/>
        </p:nvSpPr>
        <p:spPr>
          <a:xfrm>
            <a:off x="530352" y="1956816"/>
            <a:ext cx="11130991" cy="1972055"/>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208483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208483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208483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286000"/>
            <a:ext cx="10673791" cy="1569719"/>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PLACE = {"jan": 0, "feb": 1, "mar": 2, "apr": 3, "may": 4, "jun": 5}</a:t>
            </a:r>
          </a:p>
          <a:p>
            <a:pPr>
              <a:spcAft>
                <a:spcPts val="200"/>
              </a:spcAft>
            </a:pPr>
            <a:r>
              <a:rPr sz="1400" b="0" i="0">
                <a:solidFill>
                  <a:srgbClr val="E4E1F1"/>
                </a:solidFill>
                <a:latin typeface="Consolas"/>
              </a:rPr>
              <a:t>long = roster.melt(id_vars=["member_id", "joined"], var_name="month",</a:t>
            </a:r>
          </a:p>
          <a:p>
            <a:pPr>
              <a:spcAft>
                <a:spcPts val="200"/>
              </a:spcAft>
            </a:pPr>
            <a:r>
              <a:rPr sz="1400" b="0" i="0">
                <a:solidFill>
                  <a:srgbClr val="E4E1F1"/>
                </a:solidFill>
                <a:latin typeface="Consolas"/>
              </a:rPr>
              <a:t>                   value_name="visited").dropna()               # one row per member per month</a:t>
            </a:r>
          </a:p>
          <a:p>
            <a:pPr>
              <a:spcAft>
                <a:spcPts val="200"/>
              </a:spcAft>
            </a:pPr>
            <a:r>
              <a:rPr sz="1400" b="0" i="0">
                <a:solidFill>
                  <a:srgbClr val="E4E1F1"/>
                </a:solidFill>
                <a:latin typeface="Consolas"/>
              </a:rPr>
              <a:t>long["age"] = long["month"].map(PLACE) - long["joined"].map(PLACE)   # joining month = age 0</a:t>
            </a:r>
          </a:p>
          <a:p>
            <a:pPr>
              <a:spcAft>
                <a:spcPts val="200"/>
              </a:spcAft>
            </a:pPr>
            <a:r>
              <a:rPr sz="1400" b="0" i="0">
                <a:solidFill>
                  <a:srgbClr val="E4E1F1"/>
                </a:solidFill>
                <a:latin typeface="Consolas"/>
              </a:rPr>
              <a:t>tri = long[long["age"] &gt;= 1].pivot_table(index="joined", columns="age",</a:t>
            </a:r>
          </a:p>
          <a:p>
            <a:pPr>
              <a:spcAft>
                <a:spcPts val="200"/>
              </a:spcAft>
            </a:pPr>
            <a:r>
              <a:rPr sz="1400" b="0" i="0">
                <a:solidFill>
                  <a:srgbClr val="E4E1F1"/>
                </a:solidFill>
                <a:latin typeface="Consolas"/>
              </a:rPr>
              <a:t>                                         values="visited", aggfunc="mean")</a:t>
            </a:r>
          </a:p>
        </p:txBody>
      </p:sp>
      <p:sp>
        <p:nvSpPr>
          <p:cNvPr id="14" name="TextBox 13"/>
          <p:cNvSpPr txBox="1"/>
          <p:nvPr/>
        </p:nvSpPr>
        <p:spPr>
          <a:xfrm>
            <a:off x="530352" y="4093463"/>
            <a:ext cx="11130991" cy="1048512"/>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This is Week 2 Thursday's pivot_table with one new line: age &gt;= 1 keeps month zero out of the table. Each cell is the mean of ones and zeros, which is the share who visited, so the code prints 0.8, 0.6, 0.5, 0.5, 0.5 for January, the row counted by hand.</a:t>
            </a:r>
          </a:p>
        </p:txBody>
      </p:sp>
      <p:sp>
        <p:nvSpPr>
          <p:cNvPr id="15" name="Oval 14"/>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010412" cy="152146"/>
          </a:xfrm>
          <a:prstGeom prst="rect">
            <a:avLst/>
          </a:prstGeom>
          <a:noFill/>
        </p:spPr>
        <p:txBody>
          <a:bodyPr wrap="square" anchor="t" lIns="0" rIns="0" tIns="0" bIns="0">
            <a:spAutoFit/>
          </a:bodyPr>
          <a:lstStyle/>
          <a:p>
            <a:pPr algn="l"/>
            <a:r>
              <a:rPr sz="700" b="1" i="0">
                <a:solidFill>
                  <a:srgbClr val="5B3FD6"/>
                </a:solidFill>
                <a:latin typeface="Calibri"/>
              </a:rPr>
              <a:t>Who joined when?</a:t>
            </a:r>
          </a:p>
        </p:txBody>
      </p:sp>
      <p:sp>
        <p:nvSpPr>
          <p:cNvPr id="17" name="Oval 16"/>
          <p:cNvSpPr/>
          <p:nvPr/>
        </p:nvSpPr>
        <p:spPr>
          <a:xfrm>
            <a:off x="174193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85166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Where is the floor?</a:t>
            </a:r>
          </a:p>
        </p:txBody>
      </p:sp>
      <p:sp>
        <p:nvSpPr>
          <p:cNvPr id="19" name="Oval 18"/>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20125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a blend made of?</a:t>
            </a:r>
          </a:p>
        </p:txBody>
      </p:sp>
      <p:sp>
        <p:nvSpPr>
          <p:cNvPr id="21" name="Oval 20"/>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78088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step owns a loss?</a:t>
            </a:r>
          </a:p>
        </p:txBody>
      </p:sp>
      <p:sp>
        <p:nvSpPr>
          <p:cNvPr id="23" name="Oval 22"/>
          <p:cNvSpPr/>
          <p:nvPr/>
        </p:nvSpPr>
        <p:spPr>
          <a:xfrm>
            <a:off x="62047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314503"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Who entered when?</a:t>
            </a:r>
          </a:p>
        </p:txBody>
      </p:sp>
      <p:sp>
        <p:nvSpPr>
          <p:cNvPr id="25" name="Oval 24"/>
          <p:cNvSpPr/>
          <p:nvPr/>
        </p:nvSpPr>
        <p:spPr>
          <a:xfrm>
            <a:off x="74623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572089"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the 38 made of?</a:t>
            </a:r>
          </a:p>
        </p:txBody>
      </p:sp>
      <p:sp>
        <p:nvSpPr>
          <p:cNvPr id="27" name="Oval 26"/>
          <p:cNvSpPr/>
          <p:nvPr/>
        </p:nvSpPr>
        <p:spPr>
          <a:xfrm>
            <a:off x="899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910570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stage owns the loss?</a:t>
            </a:r>
          </a:p>
        </p:txBody>
      </p:sp>
      <p:sp>
        <p:nvSpPr>
          <p:cNvPr id="29" name="TextBox 2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S10  ·  11 / 73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COHORT AND FUNNEL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Four rules for building a cohort table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an analyst do every time a retention table is built, and what does an interviewer listen for?</a:t>
            </a:r>
          </a:p>
        </p:txBody>
      </p:sp>
      <p:sp>
        <p:nvSpPr>
          <p:cNvPr id="9" name="TextBox 8"/>
          <p:cNvSpPr txBox="1"/>
          <p:nvPr/>
        </p:nvSpPr>
        <p:spPr>
          <a:xfrm>
            <a:off x="530352" y="1920240"/>
            <a:ext cx="502920" cy="333756"/>
          </a:xfrm>
          <a:prstGeom prst="rect">
            <a:avLst/>
          </a:prstGeom>
          <a:noFill/>
        </p:spPr>
        <p:txBody>
          <a:bodyPr wrap="square" anchor="t" lIns="0" rIns="0" tIns="0" bIns="0">
            <a:spAutoFit/>
          </a:bodyPr>
          <a:lstStyle/>
          <a:p>
            <a:pPr algn="l"/>
            <a:r>
              <a:rPr sz="1800" b="0" i="0">
                <a:solidFill>
                  <a:srgbClr val="5B3FD6"/>
                </a:solidFill>
                <a:latin typeface="Georgia"/>
              </a:rPr>
              <a:t>01</a:t>
            </a:r>
          </a:p>
        </p:txBody>
      </p:sp>
      <p:sp>
        <p:nvSpPr>
          <p:cNvPr id="10" name="TextBox 9"/>
          <p:cNvSpPr txBox="1"/>
          <p:nvPr/>
        </p:nvSpPr>
        <p:spPr>
          <a:xfrm>
            <a:off x="1097280" y="1956816"/>
            <a:ext cx="10564063" cy="368808"/>
          </a:xfrm>
          <a:prstGeom prst="rect">
            <a:avLst/>
          </a:prstGeom>
          <a:noFill/>
        </p:spPr>
        <p:txBody>
          <a:bodyPr wrap="square" anchor="t" lIns="0" rIns="0" tIns="0" bIns="0">
            <a:spAutoFit/>
          </a:bodyPr>
          <a:lstStyle/>
          <a:p>
            <a:r>
              <a:rPr sz="1500" b="0" i="0">
                <a:solidFill>
                  <a:srgbClr val="1A1440"/>
                </a:solidFill>
                <a:latin typeface="Calibri"/>
              </a:rPr>
              <a:t>A cohort is everyone who joined in the same month, and a member keeps her cohort for good.</a:t>
            </a:r>
          </a:p>
        </p:txBody>
      </p:sp>
      <p:sp>
        <p:nvSpPr>
          <p:cNvPr id="11" name="TextBox 10"/>
          <p:cNvSpPr txBox="1"/>
          <p:nvPr/>
        </p:nvSpPr>
        <p:spPr>
          <a:xfrm>
            <a:off x="530352" y="2362200"/>
            <a:ext cx="502920" cy="333756"/>
          </a:xfrm>
          <a:prstGeom prst="rect">
            <a:avLst/>
          </a:prstGeom>
          <a:noFill/>
        </p:spPr>
        <p:txBody>
          <a:bodyPr wrap="square" anchor="t" lIns="0" rIns="0" tIns="0" bIns="0">
            <a:spAutoFit/>
          </a:bodyPr>
          <a:lstStyle/>
          <a:p>
            <a:pPr algn="l"/>
            <a:r>
              <a:rPr sz="1800" b="0" i="0">
                <a:solidFill>
                  <a:srgbClr val="5B3FD6"/>
                </a:solidFill>
                <a:latin typeface="Georgia"/>
              </a:rPr>
              <a:t>02</a:t>
            </a:r>
          </a:p>
        </p:txBody>
      </p:sp>
      <p:sp>
        <p:nvSpPr>
          <p:cNvPr id="12" name="TextBox 11"/>
          <p:cNvSpPr txBox="1"/>
          <p:nvPr/>
        </p:nvSpPr>
        <p:spPr>
          <a:xfrm>
            <a:off x="1097280" y="2398776"/>
            <a:ext cx="10564063" cy="368808"/>
          </a:xfrm>
          <a:prstGeom prst="rect">
            <a:avLst/>
          </a:prstGeom>
          <a:noFill/>
        </p:spPr>
        <p:txBody>
          <a:bodyPr wrap="square" anchor="t" lIns="0" rIns="0" tIns="0" bIns="0">
            <a:spAutoFit/>
          </a:bodyPr>
          <a:lstStyle/>
          <a:p>
            <a:r>
              <a:rPr sz="1500" b="0" i="0">
                <a:solidFill>
                  <a:srgbClr val="1A1440"/>
                </a:solidFill>
                <a:latin typeface="Calibri"/>
              </a:rPr>
              <a:t>The joining month is age zero and is never counted; age one is the first full month after it.</a:t>
            </a:r>
          </a:p>
        </p:txBody>
      </p:sp>
      <p:sp>
        <p:nvSpPr>
          <p:cNvPr id="13" name="TextBox 12"/>
          <p:cNvSpPr txBox="1"/>
          <p:nvPr/>
        </p:nvSpPr>
        <p:spPr>
          <a:xfrm>
            <a:off x="530352" y="2804160"/>
            <a:ext cx="502920" cy="333756"/>
          </a:xfrm>
          <a:prstGeom prst="rect">
            <a:avLst/>
          </a:prstGeom>
          <a:noFill/>
        </p:spPr>
        <p:txBody>
          <a:bodyPr wrap="square" anchor="t" lIns="0" rIns="0" tIns="0" bIns="0">
            <a:spAutoFit/>
          </a:bodyPr>
          <a:lstStyle/>
          <a:p>
            <a:pPr algn="l"/>
            <a:r>
              <a:rPr sz="1800" b="0" i="0">
                <a:solidFill>
                  <a:srgbClr val="5B3FD6"/>
                </a:solidFill>
                <a:latin typeface="Georgia"/>
              </a:rPr>
              <a:t>03</a:t>
            </a:r>
          </a:p>
        </p:txBody>
      </p:sp>
      <p:sp>
        <p:nvSpPr>
          <p:cNvPr id="14" name="TextBox 13"/>
          <p:cNvSpPr txBox="1"/>
          <p:nvPr/>
        </p:nvSpPr>
        <p:spPr>
          <a:xfrm>
            <a:off x="1097280" y="2840736"/>
            <a:ext cx="10564063" cy="368808"/>
          </a:xfrm>
          <a:prstGeom prst="rect">
            <a:avLst/>
          </a:prstGeom>
          <a:noFill/>
        </p:spPr>
        <p:txBody>
          <a:bodyPr wrap="square" anchor="t" lIns="0" rIns="0" tIns="0" bIns="0">
            <a:spAutoFit/>
          </a:bodyPr>
          <a:lstStyle/>
          <a:p>
            <a:r>
              <a:rPr sz="1500" b="0" i="0">
                <a:solidFill>
                  <a:srgbClr val="1A1440"/>
                </a:solidFill>
                <a:latin typeface="Calibri"/>
              </a:rPr>
              <a:t>Every cell divides by the whole cohort, never by the members who visited the month before.</a:t>
            </a:r>
          </a:p>
        </p:txBody>
      </p:sp>
      <p:sp>
        <p:nvSpPr>
          <p:cNvPr id="15" name="TextBox 14"/>
          <p:cNvSpPr txBox="1"/>
          <p:nvPr/>
        </p:nvSpPr>
        <p:spPr>
          <a:xfrm>
            <a:off x="530352" y="3246120"/>
            <a:ext cx="502920" cy="333756"/>
          </a:xfrm>
          <a:prstGeom prst="rect">
            <a:avLst/>
          </a:prstGeom>
          <a:noFill/>
        </p:spPr>
        <p:txBody>
          <a:bodyPr wrap="square" anchor="t" lIns="0" rIns="0" tIns="0" bIns="0">
            <a:spAutoFit/>
          </a:bodyPr>
          <a:lstStyle/>
          <a:p>
            <a:pPr algn="l"/>
            <a:r>
              <a:rPr sz="1800" b="0" i="0">
                <a:solidFill>
                  <a:srgbClr val="5B3FD6"/>
                </a:solidFill>
                <a:latin typeface="Georgia"/>
              </a:rPr>
              <a:t>04</a:t>
            </a:r>
          </a:p>
        </p:txBody>
      </p:sp>
      <p:sp>
        <p:nvSpPr>
          <p:cNvPr id="16" name="TextBox 15"/>
          <p:cNvSpPr txBox="1"/>
          <p:nvPr/>
        </p:nvSpPr>
        <p:spPr>
          <a:xfrm>
            <a:off x="1097280" y="3282696"/>
            <a:ext cx="10564063" cy="368808"/>
          </a:xfrm>
          <a:prstGeom prst="rect">
            <a:avLst/>
          </a:prstGeom>
          <a:noFill/>
        </p:spPr>
        <p:txBody>
          <a:bodyPr wrap="square" anchor="t" lIns="0" rIns="0" tIns="0" bIns="0">
            <a:spAutoFit/>
          </a:bodyPr>
          <a:lstStyle/>
          <a:p>
            <a:r>
              <a:rPr sz="1500" b="0" i="0">
                <a:solidFill>
                  <a:srgbClr val="1A1440"/>
                </a:solidFill>
                <a:latin typeface="Calibri"/>
              </a:rPr>
              <a:t>Cohorts are compared at the same age, since one calendar month mixes ages and names no cohort.</a:t>
            </a:r>
          </a:p>
        </p:txBody>
      </p:sp>
      <p:sp>
        <p:nvSpPr>
          <p:cNvPr id="17" name="Rounded Rectangle 16"/>
          <p:cNvSpPr/>
          <p:nvPr/>
        </p:nvSpPr>
        <p:spPr>
          <a:xfrm>
            <a:off x="530352" y="3834384"/>
            <a:ext cx="11130991" cy="189890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758952" y="4555236"/>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9" name="Picture 18" descr="mic_caee7398c80d.png"/>
          <p:cNvPicPr>
            <a:picLocks noChangeAspect="1"/>
          </p:cNvPicPr>
          <p:nvPr/>
        </p:nvPicPr>
        <p:blipFill>
          <a:blip r:embed="rId4"/>
          <a:stretch>
            <a:fillRect/>
          </a:stretch>
        </p:blipFill>
        <p:spPr>
          <a:xfrm>
            <a:off x="868680" y="4664964"/>
            <a:ext cx="237744" cy="237744"/>
          </a:xfrm>
          <a:prstGeom prst="rect">
            <a:avLst/>
          </a:prstGeom>
        </p:spPr>
      </p:pic>
      <p:sp>
        <p:nvSpPr>
          <p:cNvPr id="20" name="TextBox 19"/>
          <p:cNvSpPr txBox="1"/>
          <p:nvPr/>
        </p:nvSpPr>
        <p:spPr>
          <a:xfrm>
            <a:off x="1399031" y="3980688"/>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21" name="TextBox 20"/>
          <p:cNvSpPr txBox="1"/>
          <p:nvPr/>
        </p:nvSpPr>
        <p:spPr>
          <a:xfrm>
            <a:off x="1399031" y="4200144"/>
            <a:ext cx="9987991" cy="1459992"/>
          </a:xfrm>
          <a:prstGeom prst="rect">
            <a:avLst/>
          </a:prstGeom>
          <a:noFill/>
        </p:spPr>
        <p:txBody>
          <a:bodyPr wrap="square" anchor="t" lIns="0" rIns="0" tIns="0" bIns="0">
            <a:spAutoFit/>
          </a:bodyPr>
          <a:lstStyle/>
          <a:p>
            <a:r>
              <a:rPr sz="1500" b="0" i="0">
                <a:solidFill>
                  <a:srgbClr val="1A1440"/>
                </a:solidFill>
                <a:latin typeface="Calibri"/>
              </a:rPr>
              <a:t>[S] "Retention dropped; walk me through your investigation." A strong first move: "I'd confirm what the number counts and that the count is right, then fix each member's joining month and compare cohorts at the same age before I read any blended number." The tag says how often it is asked: [S] a staple everywhere, [F] frequent in GCC (global capability centre) and product screens, [D] a question that sets a candidate apart.</a:t>
            </a:r>
          </a:p>
        </p:txBody>
      </p:sp>
      <p:sp>
        <p:nvSpPr>
          <p:cNvPr id="22" name="Oval 21"/>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40080" y="6437376"/>
            <a:ext cx="1010412" cy="152146"/>
          </a:xfrm>
          <a:prstGeom prst="rect">
            <a:avLst/>
          </a:prstGeom>
          <a:noFill/>
        </p:spPr>
        <p:txBody>
          <a:bodyPr wrap="square" anchor="t" lIns="0" rIns="0" tIns="0" bIns="0">
            <a:spAutoFit/>
          </a:bodyPr>
          <a:lstStyle/>
          <a:p>
            <a:pPr algn="l"/>
            <a:r>
              <a:rPr sz="700" b="1" i="0">
                <a:solidFill>
                  <a:srgbClr val="5B3FD6"/>
                </a:solidFill>
                <a:latin typeface="Calibri"/>
              </a:rPr>
              <a:t>Who joined when?</a:t>
            </a:r>
          </a:p>
        </p:txBody>
      </p:sp>
      <p:sp>
        <p:nvSpPr>
          <p:cNvPr id="24" name="Oval 23"/>
          <p:cNvSpPr/>
          <p:nvPr/>
        </p:nvSpPr>
        <p:spPr>
          <a:xfrm>
            <a:off x="174193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185166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Where is the floor?</a:t>
            </a:r>
          </a:p>
        </p:txBody>
      </p:sp>
      <p:sp>
        <p:nvSpPr>
          <p:cNvPr id="26" name="Oval 25"/>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320125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a blend made of?</a:t>
            </a:r>
          </a:p>
        </p:txBody>
      </p:sp>
      <p:sp>
        <p:nvSpPr>
          <p:cNvPr id="28" name="Oval 27"/>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478088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step owns a loss?</a:t>
            </a:r>
          </a:p>
        </p:txBody>
      </p:sp>
      <p:sp>
        <p:nvSpPr>
          <p:cNvPr id="30" name="Oval 29"/>
          <p:cNvSpPr/>
          <p:nvPr/>
        </p:nvSpPr>
        <p:spPr>
          <a:xfrm>
            <a:off x="62047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314503"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Who entered when?</a:t>
            </a:r>
          </a:p>
        </p:txBody>
      </p:sp>
      <p:sp>
        <p:nvSpPr>
          <p:cNvPr id="32" name="Oval 31"/>
          <p:cNvSpPr/>
          <p:nvPr/>
        </p:nvSpPr>
        <p:spPr>
          <a:xfrm>
            <a:off x="74623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7572089"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the 38 made of?</a:t>
            </a:r>
          </a:p>
        </p:txBody>
      </p:sp>
      <p:sp>
        <p:nvSpPr>
          <p:cNvPr id="34" name="Oval 33"/>
          <p:cNvSpPr/>
          <p:nvPr/>
        </p:nvSpPr>
        <p:spPr>
          <a:xfrm>
            <a:off x="899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910570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stage owns the loss?</a:t>
            </a:r>
          </a:p>
        </p:txBody>
      </p:sp>
      <p:sp>
        <p:nvSpPr>
          <p:cNvPr id="36" name="TextBox 3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S11  ·  12 / 73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COHORT AND FUNNEL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Cohort construction feeds three later chapters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Where does this topic come from, and which chapters use it next?</a:t>
            </a:r>
          </a:p>
        </p:txBody>
      </p:sp>
      <p:pic>
        <p:nvPicPr>
          <p:cNvPr id="9" name="mermaid diagram" descr="a157a661e87e3837.png"/>
          <p:cNvPicPr>
            <a:picLocks noChangeAspect="1"/>
          </p:cNvPicPr>
          <p:nvPr/>
        </p:nvPicPr>
        <p:blipFill>
          <a:blip r:embed="rId5"/>
          <a:stretch>
            <a:fillRect/>
          </a:stretch>
        </p:blipFill>
        <p:spPr>
          <a:xfrm>
            <a:off x="530352" y="2124514"/>
            <a:ext cx="4786326" cy="3633099"/>
          </a:xfrm>
          <a:prstGeom prst="rect">
            <a:avLst/>
          </a:prstGeom>
        </p:spPr>
      </p:pic>
      <p:sp>
        <p:nvSpPr>
          <p:cNvPr id="10" name="Rounded Rectangle 9"/>
          <p:cNvSpPr/>
          <p:nvPr/>
        </p:nvSpPr>
        <p:spPr>
          <a:xfrm>
            <a:off x="5761917" y="1956816"/>
            <a:ext cx="5899425" cy="1874519"/>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5908221" y="2084832"/>
            <a:ext cx="45720" cy="1618487"/>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109389" y="2075688"/>
            <a:ext cx="5332497" cy="1691639"/>
          </a:xfrm>
          <a:prstGeom prst="rect">
            <a:avLst/>
          </a:prstGeom>
          <a:noFill/>
        </p:spPr>
        <p:txBody>
          <a:bodyPr wrap="square" anchor="ctr" lIns="0" rIns="0" tIns="0" bIns="0">
            <a:spAutoFit/>
          </a:bodyPr>
          <a:lstStyle/>
          <a:p>
            <a:r>
              <a:rPr sz="1500" b="1">
                <a:solidFill>
                  <a:srgbClr val="5B3FD6"/>
                </a:solidFill>
                <a:latin typeface="Calibri"/>
              </a:rPr>
              <a:t>Where it shows up. </a:t>
            </a:r>
            <a:r>
              <a:rPr sz="1500" b="0" i="0">
                <a:solidFill>
                  <a:srgbClr val="1A1440"/>
                </a:solidFill>
                <a:latin typeface="Calibri"/>
              </a:rPr>
              <a:t>Swiggy Instamart publishes its cohorts as this same triangle, each cohort's spend set against one cohort's spend in its first quarter, and the table states no denominator (Swiggy's Q2 FY26 shareholder letter, checked 12 October 2026). Before trusting any cohort chart, ask per what.</a:t>
            </a:r>
          </a:p>
        </p:txBody>
      </p:sp>
      <p:sp>
        <p:nvSpPr>
          <p:cNvPr id="13" name="Oval 1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010412" cy="152146"/>
          </a:xfrm>
          <a:prstGeom prst="rect">
            <a:avLst/>
          </a:prstGeom>
          <a:noFill/>
        </p:spPr>
        <p:txBody>
          <a:bodyPr wrap="square" anchor="t" lIns="0" rIns="0" tIns="0" bIns="0">
            <a:spAutoFit/>
          </a:bodyPr>
          <a:lstStyle/>
          <a:p>
            <a:pPr algn="l"/>
            <a:r>
              <a:rPr sz="700" b="1" i="0">
                <a:solidFill>
                  <a:srgbClr val="5B3FD6"/>
                </a:solidFill>
                <a:latin typeface="Calibri"/>
              </a:rPr>
              <a:t>Who joined when?</a:t>
            </a:r>
          </a:p>
        </p:txBody>
      </p:sp>
      <p:sp>
        <p:nvSpPr>
          <p:cNvPr id="15" name="Oval 14"/>
          <p:cNvSpPr/>
          <p:nvPr/>
        </p:nvSpPr>
        <p:spPr>
          <a:xfrm>
            <a:off x="174193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85166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Where is the floor?</a:t>
            </a:r>
          </a:p>
        </p:txBody>
      </p:sp>
      <p:sp>
        <p:nvSpPr>
          <p:cNvPr id="17" name="Oval 16"/>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20125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a blend made of?</a:t>
            </a:r>
          </a:p>
        </p:txBody>
      </p:sp>
      <p:sp>
        <p:nvSpPr>
          <p:cNvPr id="19" name="Oval 18"/>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78088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step owns a loss?</a:t>
            </a:r>
          </a:p>
        </p:txBody>
      </p:sp>
      <p:sp>
        <p:nvSpPr>
          <p:cNvPr id="21" name="Oval 20"/>
          <p:cNvSpPr/>
          <p:nvPr/>
        </p:nvSpPr>
        <p:spPr>
          <a:xfrm>
            <a:off x="62047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314503"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Who entered when?</a:t>
            </a:r>
          </a:p>
        </p:txBody>
      </p:sp>
      <p:sp>
        <p:nvSpPr>
          <p:cNvPr id="23" name="Oval 22"/>
          <p:cNvSpPr/>
          <p:nvPr/>
        </p:nvSpPr>
        <p:spPr>
          <a:xfrm>
            <a:off x="74623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572089"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the 38 made of?</a:t>
            </a:r>
          </a:p>
        </p:txBody>
      </p:sp>
      <p:sp>
        <p:nvSpPr>
          <p:cNvPr id="25" name="Oval 24"/>
          <p:cNvSpPr/>
          <p:nvPr/>
        </p:nvSpPr>
        <p:spPr>
          <a:xfrm>
            <a:off x="899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910570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stage owns the loss?</a:t>
            </a:r>
          </a:p>
        </p:txBody>
      </p:sp>
      <p:sp>
        <p:nvSpPr>
          <p:cNvPr id="27" name="TextBox 2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S12  ·  13 / 73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02</a:t>
            </a:r>
          </a:p>
        </p:txBody>
      </p:sp>
      <p:sp>
        <p:nvSpPr>
          <p:cNvPr id="8" name="TextBox 7"/>
          <p:cNvSpPr txBox="1"/>
          <p:nvPr/>
        </p:nvSpPr>
        <p:spPr>
          <a:xfrm>
            <a:off x="731519" y="2542032"/>
            <a:ext cx="10673791" cy="366776"/>
          </a:xfrm>
          <a:prstGeom prst="rect">
            <a:avLst/>
          </a:prstGeom>
          <a:noFill/>
        </p:spPr>
        <p:txBody>
          <a:bodyPr wrap="square" anchor="t" lIns="0" rIns="0" tIns="0" bIns="0">
            <a:spAutoFit/>
          </a:bodyPr>
          <a:lstStyle/>
          <a:p>
            <a:pPr algn="l"/>
            <a:r>
              <a:rPr sz="2000" b="1" i="0">
                <a:solidFill>
                  <a:srgbClr val="D9A7FF"/>
                </a:solidFill>
                <a:latin typeface="Calibri"/>
              </a:rPr>
              <a:t>Retention curves: shape and floor</a:t>
            </a:r>
          </a:p>
        </p:txBody>
      </p:sp>
      <p:sp>
        <p:nvSpPr>
          <p:cNvPr id="9" name="TextBox 8"/>
          <p:cNvSpPr txBox="1"/>
          <p:nvPr/>
        </p:nvSpPr>
        <p:spPr>
          <a:xfrm>
            <a:off x="731519" y="3017520"/>
            <a:ext cx="10673791" cy="731520"/>
          </a:xfrm>
          <a:prstGeom prst="rect">
            <a:avLst/>
          </a:prstGeom>
          <a:noFill/>
        </p:spPr>
        <p:txBody>
          <a:bodyPr wrap="square" anchor="t" lIns="0" rIns="0" tIns="0" bIns="0">
            <a:spAutoFit/>
          </a:bodyPr>
          <a:lstStyle/>
          <a:p>
            <a:pPr algn="l"/>
            <a:r>
              <a:rPr sz="4000" b="0" i="0">
                <a:solidFill>
                  <a:srgbClr val="FFFFFF"/>
                </a:solidFill>
                <a:latin typeface="Georgia"/>
              </a:rPr>
              <a:t>Where is the floor?</a:t>
            </a:r>
          </a:p>
        </p:txBody>
      </p:sp>
      <p:sp>
        <p:nvSpPr>
          <p:cNvPr id="10" name="TextBox 9"/>
          <p:cNvSpPr txBox="1"/>
          <p:nvPr/>
        </p:nvSpPr>
        <p:spPr>
          <a:xfrm>
            <a:off x="731519" y="3931920"/>
            <a:ext cx="9509760" cy="531876"/>
          </a:xfrm>
          <a:prstGeom prst="rect">
            <a:avLst/>
          </a:prstGeom>
          <a:noFill/>
        </p:spPr>
        <p:txBody>
          <a:bodyPr wrap="square" anchor="t" lIns="0" rIns="0" tIns="0" bIns="0">
            <a:spAutoFit/>
          </a:bodyPr>
          <a:lstStyle/>
          <a:p>
            <a:pPr algn="l"/>
            <a:r>
              <a:rPr sz="1500" b="0" i="0">
                <a:solidFill>
                  <a:srgbClr val="E4E1F1"/>
                </a:solidFill>
                <a:latin typeface="Calibri"/>
              </a:rPr>
              <a:t>Read one cohort's row as a curve: how fast it falls in its first months, and the level it stops falling at, on the same gym's three batches.</a:t>
            </a:r>
          </a:p>
        </p:txBody>
      </p:sp>
      <p:sp>
        <p:nvSpPr>
          <p:cNvPr id="11" name="Rounded Rectangle 10"/>
          <p:cNvSpPr/>
          <p:nvPr/>
        </p:nvSpPr>
        <p:spPr>
          <a:xfrm>
            <a:off x="731519" y="5074920"/>
            <a:ext cx="118264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Who joined when?</a:t>
            </a:r>
          </a:p>
        </p:txBody>
      </p:sp>
      <p:sp>
        <p:nvSpPr>
          <p:cNvPr id="12" name="Rounded Rectangle 11"/>
          <p:cNvSpPr/>
          <p:nvPr/>
        </p:nvSpPr>
        <p:spPr>
          <a:xfrm>
            <a:off x="2023889" y="5074920"/>
            <a:ext cx="1342625"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Where is the floor?</a:t>
            </a:r>
          </a:p>
        </p:txBody>
      </p:sp>
      <p:sp>
        <p:nvSpPr>
          <p:cNvPr id="13" name="Rounded Rectangle 12"/>
          <p:cNvSpPr/>
          <p:nvPr/>
        </p:nvSpPr>
        <p:spPr>
          <a:xfrm>
            <a:off x="3476243" y="5074920"/>
            <a:ext cx="1609266"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is a blend made of?</a:t>
            </a:r>
          </a:p>
        </p:txBody>
      </p:sp>
      <p:sp>
        <p:nvSpPr>
          <p:cNvPr id="14" name="Rounded Rectangle 13"/>
          <p:cNvSpPr/>
          <p:nvPr/>
        </p:nvSpPr>
        <p:spPr>
          <a:xfrm>
            <a:off x="5195238" y="5074920"/>
            <a:ext cx="1555938"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step owns a loss?</a:t>
            </a:r>
          </a:p>
        </p:txBody>
      </p:sp>
      <p:sp>
        <p:nvSpPr>
          <p:cNvPr id="15" name="Rounded Rectangle 14"/>
          <p:cNvSpPr/>
          <p:nvPr/>
        </p:nvSpPr>
        <p:spPr>
          <a:xfrm>
            <a:off x="6860904" y="5074920"/>
            <a:ext cx="123596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Who entered when?</a:t>
            </a:r>
          </a:p>
        </p:txBody>
      </p:sp>
      <p:sp>
        <p:nvSpPr>
          <p:cNvPr id="16" name="Rounded Rectangle 15"/>
          <p:cNvSpPr/>
          <p:nvPr/>
        </p:nvSpPr>
        <p:spPr>
          <a:xfrm>
            <a:off x="8206602" y="5074920"/>
            <a:ext cx="1555938"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is the 38 made of?</a:t>
            </a:r>
          </a:p>
        </p:txBody>
      </p:sp>
      <p:sp>
        <p:nvSpPr>
          <p:cNvPr id="17" name="Rounded Rectangle 16"/>
          <p:cNvSpPr/>
          <p:nvPr/>
        </p:nvSpPr>
        <p:spPr>
          <a:xfrm>
            <a:off x="9872268" y="5074920"/>
            <a:ext cx="1715922"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stage owns the loss?</a:t>
            </a:r>
          </a:p>
        </p:txBody>
      </p:sp>
      <p:sp>
        <p:nvSpPr>
          <p:cNvPr id="18" name="TextBox 17"/>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4, Day 4. Cohort and funnel: who is leaving, and at which step?</a:t>
            </a:r>
          </a:p>
        </p:txBody>
      </p:sp>
      <p:sp>
        <p:nvSpPr>
          <p:cNvPr id="19" name="TextBox 1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14 / 73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COHORT AND FUNNEL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Retention curves: four questions, one gym</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the answer, and which smaller questions lead to it?</a:t>
            </a:r>
          </a:p>
        </p:txBody>
      </p:sp>
      <p:sp>
        <p:nvSpPr>
          <p:cNvPr id="9" name="Rounded Rectangle 8"/>
          <p:cNvSpPr/>
          <p:nvPr/>
        </p:nvSpPr>
        <p:spPr>
          <a:xfrm>
            <a:off x="530352" y="1956816"/>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8915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The gym's owner, who staffs the floor for the regulars: the level a batch stops falling at says how many joiners became regulars, and a level read too early staffs for members who are about to leave.</a:t>
            </a:r>
          </a:p>
        </p:txBody>
      </p:sp>
      <p:sp>
        <p:nvSpPr>
          <p:cNvPr id="12" name="Rounded Rectangle 11"/>
          <p:cNvSpPr/>
          <p:nvPr/>
        </p:nvSpPr>
        <p:spPr>
          <a:xfrm>
            <a:off x="530352" y="3195828"/>
            <a:ext cx="11130991" cy="5410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676656" y="3323844"/>
            <a:ext cx="45720" cy="2849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77824" y="3314700"/>
            <a:ext cx="10564063" cy="358140"/>
          </a:xfrm>
          <a:prstGeom prst="rect">
            <a:avLst/>
          </a:prstGeom>
          <a:noFill/>
        </p:spPr>
        <p:txBody>
          <a:bodyPr wrap="square" anchor="ctr" lIns="0" rIns="0" tIns="0" bIns="0">
            <a:spAutoFit/>
          </a:bodyPr>
          <a:lstStyle/>
          <a:p>
            <a:r>
              <a:rPr sz="1500" b="1">
                <a:solidFill>
                  <a:srgbClr val="5B3FD6"/>
                </a:solidFill>
                <a:latin typeface="Calibri"/>
              </a:rPr>
              <a:t>The questions on the way. </a:t>
            </a:r>
            <a:r>
              <a:rPr sz="1500" b="0" i="0">
                <a:solidFill>
                  <a:srgbClr val="1A1440"/>
                </a:solidFill>
                <a:latin typeface="Calibri"/>
              </a:rPr>
              <a:t>Four, each read off the gym's three batches.</a:t>
            </a:r>
          </a:p>
        </p:txBody>
      </p:sp>
      <p:sp>
        <p:nvSpPr>
          <p:cNvPr id="15" name="Rectangle 14"/>
          <p:cNvSpPr/>
          <p:nvPr/>
        </p:nvSpPr>
        <p:spPr>
          <a:xfrm>
            <a:off x="1853145" y="4468368"/>
            <a:ext cx="8485403"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30352" y="3901440"/>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1</a:t>
            </a:r>
          </a:p>
        </p:txBody>
      </p:sp>
      <p:sp>
        <p:nvSpPr>
          <p:cNvPr id="17" name="Oval 16"/>
          <p:cNvSpPr/>
          <p:nvPr/>
        </p:nvSpPr>
        <p:spPr>
          <a:xfrm>
            <a:off x="1752561" y="4376928"/>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530352" y="4788408"/>
            <a:ext cx="2645587" cy="90424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94944" y="4934712"/>
            <a:ext cx="2316403" cy="251205"/>
          </a:xfrm>
          <a:prstGeom prst="rect">
            <a:avLst/>
          </a:prstGeom>
          <a:noFill/>
        </p:spPr>
        <p:txBody>
          <a:bodyPr wrap="square" anchor="t" lIns="0" rIns="0" tIns="0" bIns="0">
            <a:spAutoFit/>
          </a:bodyPr>
          <a:lstStyle/>
          <a:p>
            <a:pPr algn="l"/>
            <a:r>
              <a:rPr sz="1300" b="1" i="0">
                <a:solidFill>
                  <a:srgbClr val="1A0F5C"/>
                </a:solidFill>
                <a:latin typeface="Calibri"/>
              </a:rPr>
              <a:t>How fast does a batch fall?</a:t>
            </a:r>
          </a:p>
        </p:txBody>
      </p:sp>
      <p:sp>
        <p:nvSpPr>
          <p:cNvPr id="20" name="TextBox 19"/>
          <p:cNvSpPr txBox="1"/>
          <p:nvPr/>
        </p:nvSpPr>
        <p:spPr>
          <a:xfrm>
            <a:off x="694944" y="5222494"/>
            <a:ext cx="2316403" cy="201676"/>
          </a:xfrm>
          <a:prstGeom prst="rect">
            <a:avLst/>
          </a:prstGeom>
          <a:noFill/>
        </p:spPr>
        <p:txBody>
          <a:bodyPr wrap="square" anchor="t" lIns="0" rIns="0" tIns="0" bIns="0">
            <a:spAutoFit/>
          </a:bodyPr>
          <a:lstStyle/>
          <a:p>
            <a:pPr algn="l"/>
            <a:r>
              <a:rPr sz="1000" b="0" i="0">
                <a:solidFill>
                  <a:srgbClr val="6B6690"/>
                </a:solidFill>
                <a:latin typeface="Calibri"/>
              </a:rPr>
              <a:t>The curve's shape in its first ages</a:t>
            </a:r>
          </a:p>
        </p:txBody>
      </p:sp>
      <p:sp>
        <p:nvSpPr>
          <p:cNvPr id="21" name="TextBox 20"/>
          <p:cNvSpPr txBox="1"/>
          <p:nvPr/>
        </p:nvSpPr>
        <p:spPr>
          <a:xfrm>
            <a:off x="3358819" y="3901440"/>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2</a:t>
            </a:r>
          </a:p>
        </p:txBody>
      </p:sp>
      <p:sp>
        <p:nvSpPr>
          <p:cNvPr id="22" name="Oval 21"/>
          <p:cNvSpPr/>
          <p:nvPr/>
        </p:nvSpPr>
        <p:spPr>
          <a:xfrm>
            <a:off x="4581029" y="4376928"/>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3358819" y="4788408"/>
            <a:ext cx="2645587" cy="90424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3523411" y="4934712"/>
            <a:ext cx="2316403" cy="251205"/>
          </a:xfrm>
          <a:prstGeom prst="rect">
            <a:avLst/>
          </a:prstGeom>
          <a:noFill/>
        </p:spPr>
        <p:txBody>
          <a:bodyPr wrap="square" anchor="t" lIns="0" rIns="0" tIns="0" bIns="0">
            <a:spAutoFit/>
          </a:bodyPr>
          <a:lstStyle/>
          <a:p>
            <a:pPr algn="l"/>
            <a:r>
              <a:rPr sz="1300" b="1" i="0">
                <a:solidFill>
                  <a:srgbClr val="1A0F5C"/>
                </a:solidFill>
                <a:latin typeface="Calibri"/>
              </a:rPr>
              <a:t>Where does it stop falling?</a:t>
            </a:r>
          </a:p>
        </p:txBody>
      </p:sp>
      <p:sp>
        <p:nvSpPr>
          <p:cNvPr id="25" name="TextBox 24"/>
          <p:cNvSpPr txBox="1"/>
          <p:nvPr/>
        </p:nvSpPr>
        <p:spPr>
          <a:xfrm>
            <a:off x="3523411" y="5222494"/>
            <a:ext cx="2316403" cy="201676"/>
          </a:xfrm>
          <a:prstGeom prst="rect">
            <a:avLst/>
          </a:prstGeom>
          <a:noFill/>
        </p:spPr>
        <p:txBody>
          <a:bodyPr wrap="square" anchor="t" lIns="0" rIns="0" tIns="0" bIns="0">
            <a:spAutoFit/>
          </a:bodyPr>
          <a:lstStyle/>
          <a:p>
            <a:pPr algn="l"/>
            <a:r>
              <a:rPr sz="1000" b="0" i="0">
                <a:solidFill>
                  <a:srgbClr val="6B6690"/>
                </a:solidFill>
                <a:latin typeface="Calibri"/>
              </a:rPr>
              <a:t>The floor, and churn beside it</a:t>
            </a:r>
          </a:p>
        </p:txBody>
      </p:sp>
      <p:sp>
        <p:nvSpPr>
          <p:cNvPr id="26" name="TextBox 25"/>
          <p:cNvSpPr txBox="1"/>
          <p:nvPr/>
        </p:nvSpPr>
        <p:spPr>
          <a:xfrm>
            <a:off x="6187287" y="3901440"/>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3</a:t>
            </a:r>
          </a:p>
        </p:txBody>
      </p:sp>
      <p:sp>
        <p:nvSpPr>
          <p:cNvPr id="27" name="Oval 26"/>
          <p:cNvSpPr/>
          <p:nvPr/>
        </p:nvSpPr>
        <p:spPr>
          <a:xfrm>
            <a:off x="7409497" y="4376928"/>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6187287" y="4788408"/>
            <a:ext cx="2645587" cy="90424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351879" y="4934712"/>
            <a:ext cx="2316403" cy="251205"/>
          </a:xfrm>
          <a:prstGeom prst="rect">
            <a:avLst/>
          </a:prstGeom>
          <a:noFill/>
        </p:spPr>
        <p:txBody>
          <a:bodyPr wrap="square" anchor="t" lIns="0" rIns="0" tIns="0" bIns="0">
            <a:spAutoFit/>
          </a:bodyPr>
          <a:lstStyle/>
          <a:p>
            <a:pPr algn="l"/>
            <a:r>
              <a:rPr sz="1300" b="1" i="0">
                <a:solidFill>
                  <a:srgbClr val="1A0F5C"/>
                </a:solidFill>
                <a:latin typeface="Calibri"/>
              </a:rPr>
              <a:t>When can a floor be called?</a:t>
            </a:r>
          </a:p>
        </p:txBody>
      </p:sp>
      <p:sp>
        <p:nvSpPr>
          <p:cNvPr id="30" name="TextBox 29"/>
          <p:cNvSpPr txBox="1"/>
          <p:nvPr/>
        </p:nvSpPr>
        <p:spPr>
          <a:xfrm>
            <a:off x="6351879" y="5222494"/>
            <a:ext cx="2316403" cy="201676"/>
          </a:xfrm>
          <a:prstGeom prst="rect">
            <a:avLst/>
          </a:prstGeom>
          <a:noFill/>
        </p:spPr>
        <p:txBody>
          <a:bodyPr wrap="square" anchor="t" lIns="0" rIns="0" tIns="0" bIns="0">
            <a:spAutoFit/>
          </a:bodyPr>
          <a:lstStyle/>
          <a:p>
            <a:pPr algn="l"/>
            <a:r>
              <a:rPr sz="1000" b="0" i="0">
                <a:solidFill>
                  <a:srgbClr val="6B6690"/>
                </a:solidFill>
                <a:latin typeface="Calibri"/>
              </a:rPr>
              <a:t>Two ages that read the same</a:t>
            </a:r>
          </a:p>
        </p:txBody>
      </p:sp>
      <p:sp>
        <p:nvSpPr>
          <p:cNvPr id="31" name="TextBox 30"/>
          <p:cNvSpPr txBox="1"/>
          <p:nvPr/>
        </p:nvSpPr>
        <p:spPr>
          <a:xfrm>
            <a:off x="9015755" y="3901440"/>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4</a:t>
            </a:r>
          </a:p>
        </p:txBody>
      </p:sp>
      <p:sp>
        <p:nvSpPr>
          <p:cNvPr id="32" name="Oval 31"/>
          <p:cNvSpPr/>
          <p:nvPr/>
        </p:nvSpPr>
        <p:spPr>
          <a:xfrm>
            <a:off x="10237965" y="4376928"/>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ounded Rectangle 32"/>
          <p:cNvSpPr/>
          <p:nvPr/>
        </p:nvSpPr>
        <p:spPr>
          <a:xfrm>
            <a:off x="9015755" y="4788408"/>
            <a:ext cx="2645587" cy="90424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9180347" y="4934712"/>
            <a:ext cx="2316403" cy="465836"/>
          </a:xfrm>
          <a:prstGeom prst="rect">
            <a:avLst/>
          </a:prstGeom>
          <a:noFill/>
        </p:spPr>
        <p:txBody>
          <a:bodyPr wrap="square" anchor="t" lIns="0" rIns="0" tIns="0" bIns="0">
            <a:spAutoFit/>
          </a:bodyPr>
          <a:lstStyle/>
          <a:p>
            <a:pPr algn="l"/>
            <a:r>
              <a:rPr sz="1300" b="1" i="0">
                <a:solidFill>
                  <a:srgbClr val="FFFFFF"/>
                </a:solidFill>
                <a:latin typeface="Calibri"/>
              </a:rPr>
              <a:t>Which batch is strongest, fairly?</a:t>
            </a:r>
          </a:p>
        </p:txBody>
      </p:sp>
      <p:sp>
        <p:nvSpPr>
          <p:cNvPr id="35" name="TextBox 34"/>
          <p:cNvSpPr txBox="1"/>
          <p:nvPr/>
        </p:nvSpPr>
        <p:spPr>
          <a:xfrm>
            <a:off x="9180347" y="5437124"/>
            <a:ext cx="2316403" cy="201676"/>
          </a:xfrm>
          <a:prstGeom prst="rect">
            <a:avLst/>
          </a:prstGeom>
          <a:noFill/>
        </p:spPr>
        <p:txBody>
          <a:bodyPr wrap="square" anchor="t" lIns="0" rIns="0" tIns="0" bIns="0">
            <a:spAutoFit/>
          </a:bodyPr>
          <a:lstStyle/>
          <a:p>
            <a:pPr algn="l"/>
            <a:r>
              <a:rPr sz="1000" b="0" i="0">
                <a:solidFill>
                  <a:srgbClr val="CFC9EE"/>
                </a:solidFill>
                <a:latin typeface="Calibri"/>
              </a:rPr>
              <a:t>The same age for all three</a:t>
            </a:r>
          </a:p>
        </p:txBody>
      </p:sp>
      <p:sp>
        <p:nvSpPr>
          <p:cNvPr id="36" name="Oval 35"/>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40080" y="6437376"/>
            <a:ext cx="1010412" cy="152146"/>
          </a:xfrm>
          <a:prstGeom prst="rect">
            <a:avLst/>
          </a:prstGeom>
          <a:noFill/>
        </p:spPr>
        <p:txBody>
          <a:bodyPr wrap="square" anchor="t" lIns="0" rIns="0" tIns="0" bIns="0">
            <a:spAutoFit/>
          </a:bodyPr>
          <a:lstStyle/>
          <a:p>
            <a:pPr algn="l"/>
            <a:r>
              <a:rPr sz="700" b="0" i="0">
                <a:solidFill>
                  <a:srgbClr val="6B6690"/>
                </a:solidFill>
                <a:latin typeface="Calibri"/>
              </a:rPr>
              <a:t>Who joined when?</a:t>
            </a:r>
          </a:p>
        </p:txBody>
      </p:sp>
      <p:sp>
        <p:nvSpPr>
          <p:cNvPr id="38" name="Oval 37"/>
          <p:cNvSpPr/>
          <p:nvPr/>
        </p:nvSpPr>
        <p:spPr>
          <a:xfrm>
            <a:off x="174193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1851660" y="6437376"/>
            <a:ext cx="1148429" cy="152146"/>
          </a:xfrm>
          <a:prstGeom prst="rect">
            <a:avLst/>
          </a:prstGeom>
          <a:noFill/>
        </p:spPr>
        <p:txBody>
          <a:bodyPr wrap="square" anchor="t" lIns="0" rIns="0" tIns="0" bIns="0">
            <a:spAutoFit/>
          </a:bodyPr>
          <a:lstStyle/>
          <a:p>
            <a:pPr algn="l"/>
            <a:r>
              <a:rPr sz="700" b="1" i="0">
                <a:solidFill>
                  <a:srgbClr val="5B3FD6"/>
                </a:solidFill>
                <a:latin typeface="Calibri"/>
              </a:rPr>
              <a:t>Where is the floor?</a:t>
            </a:r>
          </a:p>
        </p:txBody>
      </p:sp>
      <p:sp>
        <p:nvSpPr>
          <p:cNvPr id="40" name="Oval 39"/>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320125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a blend made of?</a:t>
            </a:r>
          </a:p>
        </p:txBody>
      </p:sp>
      <p:sp>
        <p:nvSpPr>
          <p:cNvPr id="42" name="Oval 41"/>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478088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step owns a loss?</a:t>
            </a:r>
          </a:p>
        </p:txBody>
      </p:sp>
      <p:sp>
        <p:nvSpPr>
          <p:cNvPr id="44" name="Oval 43"/>
          <p:cNvSpPr/>
          <p:nvPr/>
        </p:nvSpPr>
        <p:spPr>
          <a:xfrm>
            <a:off x="62047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6314503"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Who entered when?</a:t>
            </a:r>
          </a:p>
        </p:txBody>
      </p:sp>
      <p:sp>
        <p:nvSpPr>
          <p:cNvPr id="46" name="Oval 45"/>
          <p:cNvSpPr/>
          <p:nvPr/>
        </p:nvSpPr>
        <p:spPr>
          <a:xfrm>
            <a:off x="74623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7572089"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the 38 made of?</a:t>
            </a:r>
          </a:p>
        </p:txBody>
      </p:sp>
      <p:sp>
        <p:nvSpPr>
          <p:cNvPr id="48" name="Oval 47"/>
          <p:cNvSpPr/>
          <p:nvPr/>
        </p:nvSpPr>
        <p:spPr>
          <a:xfrm>
            <a:off x="899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910570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stage owns the loss?</a:t>
            </a:r>
          </a:p>
        </p:txBody>
      </p:sp>
      <p:sp>
        <p:nvSpPr>
          <p:cNvPr id="50" name="TextBox 4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S13  ·  15 / 73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COHORT AND FUNNEL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Predict: what does January read at age five?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January's ten joiners read 80, 60 and then 50 percent at ages one to three. What do they read at age five?</a:t>
            </a:r>
          </a:p>
        </p:txBody>
      </p:sp>
      <p:pic>
        <p:nvPicPr>
          <p:cNvPr id="9" name="mermaid diagram" descr="e0e7c3a9cb18e2c3.png"/>
          <p:cNvPicPr>
            <a:picLocks noChangeAspect="1"/>
          </p:cNvPicPr>
          <p:nvPr/>
        </p:nvPicPr>
        <p:blipFill>
          <a:blip r:embed="rId5"/>
          <a:stretch>
            <a:fillRect/>
          </a:stretch>
        </p:blipFill>
        <p:spPr>
          <a:xfrm>
            <a:off x="530352" y="1956816"/>
            <a:ext cx="11130991" cy="915690"/>
          </a:xfrm>
          <a:prstGeom prst="rect">
            <a:avLst/>
          </a:prstGeom>
        </p:spPr>
      </p:pic>
      <p:sp>
        <p:nvSpPr>
          <p:cNvPr id="10" name="TextBox 9"/>
          <p:cNvSpPr txBox="1"/>
          <p:nvPr/>
        </p:nvSpPr>
        <p:spPr>
          <a:xfrm>
            <a:off x="530352" y="3018810"/>
            <a:ext cx="11130991" cy="1654048"/>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About 25 percent, the fall carrying on</a:t>
            </a:r>
          </a:p>
          <a:p>
            <a:pPr>
              <a:spcAft>
                <a:spcPts val="800"/>
              </a:spcAft>
            </a:pPr>
            <a:r>
              <a:rPr sz="1600" b="0" i="0">
                <a:solidFill>
                  <a:srgbClr val="1A1440"/>
                </a:solidFill>
                <a:latin typeface="Calibri"/>
              </a:rPr>
              <a:t>b) 50 percent</a:t>
            </a:r>
          </a:p>
          <a:p>
            <a:pPr>
              <a:spcAft>
                <a:spcPts val="800"/>
              </a:spcAft>
            </a:pPr>
            <a:r>
              <a:rPr sz="1600" b="0" i="0">
                <a:solidFill>
                  <a:srgbClr val="1A1440"/>
                </a:solidFill>
                <a:latin typeface="Calibri"/>
              </a:rPr>
              <a:t>c) Under 10 percent</a:t>
            </a:r>
          </a:p>
          <a:p>
            <a:pPr>
              <a:spcAft>
                <a:spcPts val="800"/>
              </a:spcAft>
            </a:pPr>
            <a:r>
              <a:rPr sz="1600" b="0" i="0">
                <a:solidFill>
                  <a:srgbClr val="1A1440"/>
                </a:solidFill>
                <a:latin typeface="Calibri"/>
              </a:rPr>
              <a:t>d) Back up to 80 percent</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010412" cy="152146"/>
          </a:xfrm>
          <a:prstGeom prst="rect">
            <a:avLst/>
          </a:prstGeom>
          <a:noFill/>
        </p:spPr>
        <p:txBody>
          <a:bodyPr wrap="square" anchor="t" lIns="0" rIns="0" tIns="0" bIns="0">
            <a:spAutoFit/>
          </a:bodyPr>
          <a:lstStyle/>
          <a:p>
            <a:pPr algn="l"/>
            <a:r>
              <a:rPr sz="700" b="0" i="0">
                <a:solidFill>
                  <a:srgbClr val="6B6690"/>
                </a:solidFill>
                <a:latin typeface="Calibri"/>
              </a:rPr>
              <a:t>Who joined when?</a:t>
            </a:r>
          </a:p>
        </p:txBody>
      </p:sp>
      <p:sp>
        <p:nvSpPr>
          <p:cNvPr id="13" name="Oval 12"/>
          <p:cNvSpPr/>
          <p:nvPr/>
        </p:nvSpPr>
        <p:spPr>
          <a:xfrm>
            <a:off x="174193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851660" y="6437376"/>
            <a:ext cx="1148429" cy="152146"/>
          </a:xfrm>
          <a:prstGeom prst="rect">
            <a:avLst/>
          </a:prstGeom>
          <a:noFill/>
        </p:spPr>
        <p:txBody>
          <a:bodyPr wrap="square" anchor="t" lIns="0" rIns="0" tIns="0" bIns="0">
            <a:spAutoFit/>
          </a:bodyPr>
          <a:lstStyle/>
          <a:p>
            <a:pPr algn="l"/>
            <a:r>
              <a:rPr sz="700" b="1" i="0">
                <a:solidFill>
                  <a:srgbClr val="5B3FD6"/>
                </a:solidFill>
                <a:latin typeface="Calibri"/>
              </a:rPr>
              <a:t>Where is the floor?</a:t>
            </a:r>
          </a:p>
        </p:txBody>
      </p:sp>
      <p:sp>
        <p:nvSpPr>
          <p:cNvPr id="15" name="Oval 14"/>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20125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a blend made of?</a:t>
            </a:r>
          </a:p>
        </p:txBody>
      </p:sp>
      <p:sp>
        <p:nvSpPr>
          <p:cNvPr id="17" name="Oval 16"/>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78088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step owns a loss?</a:t>
            </a:r>
          </a:p>
        </p:txBody>
      </p:sp>
      <p:sp>
        <p:nvSpPr>
          <p:cNvPr id="19" name="Oval 18"/>
          <p:cNvSpPr/>
          <p:nvPr/>
        </p:nvSpPr>
        <p:spPr>
          <a:xfrm>
            <a:off x="62047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314503"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Who entered when?</a:t>
            </a:r>
          </a:p>
        </p:txBody>
      </p:sp>
      <p:sp>
        <p:nvSpPr>
          <p:cNvPr id="21" name="Oval 20"/>
          <p:cNvSpPr/>
          <p:nvPr/>
        </p:nvSpPr>
        <p:spPr>
          <a:xfrm>
            <a:off x="74623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572089"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the 38 made of?</a:t>
            </a:r>
          </a:p>
        </p:txBody>
      </p:sp>
      <p:sp>
        <p:nvSpPr>
          <p:cNvPr id="23" name="Oval 22"/>
          <p:cNvSpPr/>
          <p:nvPr/>
        </p:nvSpPr>
        <p:spPr>
          <a:xfrm>
            <a:off x="899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10570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stage owns the loss?</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S14  ·  16 / 73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COHORT AND FUNNEL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January holds at 50 from age three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 the three batches' curves look like, and where does each stop falling?</a:t>
            </a:r>
          </a:p>
        </p:txBody>
      </p:sp>
      <p:pic>
        <p:nvPicPr>
          <p:cNvPr id="9" name="mermaid diagram" descr="C2_W04_D04_gym_curves_STUDENT.png"/>
          <p:cNvPicPr>
            <a:picLocks noChangeAspect="1"/>
          </p:cNvPicPr>
          <p:nvPr/>
        </p:nvPicPr>
        <p:blipFill>
          <a:blip r:embed="rId4"/>
          <a:stretch>
            <a:fillRect/>
          </a:stretch>
        </p:blipFill>
        <p:spPr>
          <a:xfrm>
            <a:off x="2959144" y="1664208"/>
            <a:ext cx="6273405" cy="2939288"/>
          </a:xfrm>
          <a:prstGeom prst="rect">
            <a:avLst/>
          </a:prstGeom>
        </p:spPr>
      </p:pic>
      <p:sp>
        <p:nvSpPr>
          <p:cNvPr id="10" name="picture caption"/>
          <p:cNvSpPr txBox="1"/>
          <p:nvPr/>
        </p:nvSpPr>
        <p:spPr>
          <a:xfrm>
            <a:off x="530352" y="4640072"/>
            <a:ext cx="11130991" cy="316992"/>
          </a:xfrm>
          <a:prstGeom prst="rect">
            <a:avLst/>
          </a:prstGeom>
          <a:noFill/>
        </p:spPr>
        <p:txBody>
          <a:bodyPr wrap="square" anchor="t" lIns="0" rIns="0" tIns="0" bIns="0">
            <a:spAutoFit/>
          </a:bodyPr>
          <a:lstStyle/>
          <a:p>
            <a:pPr algn="ctr"/>
            <a:r>
              <a:rPr sz="1200" b="0" i="0">
                <a:solidFill>
                  <a:srgbClr val="6B6690"/>
                </a:solidFill>
                <a:latin typeface="Calibri"/>
              </a:rPr>
              <a:t>The gym's three batches as curves, with their floors (invented)</a:t>
            </a:r>
          </a:p>
        </p:txBody>
      </p:sp>
      <p:sp>
        <p:nvSpPr>
          <p:cNvPr id="11" name="TextBox 10"/>
          <p:cNvSpPr txBox="1"/>
          <p:nvPr/>
        </p:nvSpPr>
        <p:spPr>
          <a:xfrm>
            <a:off x="530352" y="4966208"/>
            <a:ext cx="11130991" cy="1233424"/>
          </a:xfrm>
          <a:prstGeom prst="rect">
            <a:avLst/>
          </a:prstGeom>
          <a:noFill/>
        </p:spPr>
        <p:txBody>
          <a:bodyPr wrap="square" anchor="t" lIns="0" rIns="0" tIns="0" bIns="0">
            <a:spAutoFit/>
          </a:bodyPr>
          <a:lstStyle/>
          <a:p>
            <a:r>
              <a:rPr sz="1600" b="0" i="0">
                <a:solidFill>
                  <a:srgbClr val="1A1440"/>
                </a:solidFill>
                <a:latin typeface="Calibri"/>
              </a:rPr>
              <a:t>The answer is b: 80, 60, 50, 50, 50. A curve's </a:t>
            </a:r>
            <a:r>
              <a:rPr sz="1600" b="1" i="0">
                <a:solidFill>
                  <a:srgbClr val="1A1440"/>
                </a:solidFill>
                <a:latin typeface="Calibri"/>
              </a:rPr>
              <a:t>shape</a:t>
            </a:r>
            <a:r>
              <a:rPr sz="1600" b="0" i="0">
                <a:solidFill>
                  <a:srgbClr val="1A1440"/>
                </a:solidFill>
                <a:latin typeface="Calibri"/>
              </a:rPr>
              <a:t> is how fast it falls in its first ages: January fell 20 points from age one to age two, then 10, then none. Its </a:t>
            </a:r>
            <a:r>
              <a:rPr sz="1600" b="1" i="0">
                <a:solidFill>
                  <a:srgbClr val="1A1440"/>
                </a:solidFill>
                <a:latin typeface="Calibri"/>
              </a:rPr>
              <a:t>floor</a:t>
            </a:r>
            <a:r>
              <a:rPr sz="1600" b="0" i="0">
                <a:solidFill>
                  <a:srgbClr val="1A1440"/>
                </a:solidFill>
                <a:latin typeface="Calibri"/>
              </a:rPr>
              <a:t> is the level where it stops falling: January's is 50, the five of ten who made visiting a habit, and February's is 30. March reads 60, 40, 30 and is still falling, so its floor is not known yet.</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010412" cy="152146"/>
          </a:xfrm>
          <a:prstGeom prst="rect">
            <a:avLst/>
          </a:prstGeom>
          <a:noFill/>
        </p:spPr>
        <p:txBody>
          <a:bodyPr wrap="square" anchor="t" lIns="0" rIns="0" tIns="0" bIns="0">
            <a:spAutoFit/>
          </a:bodyPr>
          <a:lstStyle/>
          <a:p>
            <a:pPr algn="l"/>
            <a:r>
              <a:rPr sz="700" b="0" i="0">
                <a:solidFill>
                  <a:srgbClr val="6B6690"/>
                </a:solidFill>
                <a:latin typeface="Calibri"/>
              </a:rPr>
              <a:t>Who joined when?</a:t>
            </a:r>
          </a:p>
        </p:txBody>
      </p:sp>
      <p:sp>
        <p:nvSpPr>
          <p:cNvPr id="14" name="Oval 13"/>
          <p:cNvSpPr/>
          <p:nvPr/>
        </p:nvSpPr>
        <p:spPr>
          <a:xfrm>
            <a:off x="174193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851660" y="6437376"/>
            <a:ext cx="1148429" cy="152146"/>
          </a:xfrm>
          <a:prstGeom prst="rect">
            <a:avLst/>
          </a:prstGeom>
          <a:noFill/>
        </p:spPr>
        <p:txBody>
          <a:bodyPr wrap="square" anchor="t" lIns="0" rIns="0" tIns="0" bIns="0">
            <a:spAutoFit/>
          </a:bodyPr>
          <a:lstStyle/>
          <a:p>
            <a:pPr algn="l"/>
            <a:r>
              <a:rPr sz="700" b="1" i="0">
                <a:solidFill>
                  <a:srgbClr val="5B3FD6"/>
                </a:solidFill>
                <a:latin typeface="Calibri"/>
              </a:rPr>
              <a:t>Where is the floor?</a:t>
            </a:r>
          </a:p>
        </p:txBody>
      </p:sp>
      <p:sp>
        <p:nvSpPr>
          <p:cNvPr id="16" name="Oval 15"/>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20125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a blend made of?</a:t>
            </a:r>
          </a:p>
        </p:txBody>
      </p:sp>
      <p:sp>
        <p:nvSpPr>
          <p:cNvPr id="18" name="Oval 17"/>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78088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step owns a loss?</a:t>
            </a:r>
          </a:p>
        </p:txBody>
      </p:sp>
      <p:sp>
        <p:nvSpPr>
          <p:cNvPr id="20" name="Oval 19"/>
          <p:cNvSpPr/>
          <p:nvPr/>
        </p:nvSpPr>
        <p:spPr>
          <a:xfrm>
            <a:off x="62047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314503"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Who entered when?</a:t>
            </a:r>
          </a:p>
        </p:txBody>
      </p:sp>
      <p:sp>
        <p:nvSpPr>
          <p:cNvPr id="22" name="Oval 21"/>
          <p:cNvSpPr/>
          <p:nvPr/>
        </p:nvSpPr>
        <p:spPr>
          <a:xfrm>
            <a:off x="74623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572089"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the 38 made of?</a:t>
            </a:r>
          </a:p>
        </p:txBody>
      </p:sp>
      <p:sp>
        <p:nvSpPr>
          <p:cNvPr id="24" name="Oval 23"/>
          <p:cNvSpPr/>
          <p:nvPr/>
        </p:nvSpPr>
        <p:spPr>
          <a:xfrm>
            <a:off x="899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10570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stage owns the loss?</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S15  ·  17 / 73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COHORT AND FUNNEL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Churn is the share lost, counted two ways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share of January's joiners has stopped by each age, and what share of last month's visitors stopped?</a:t>
            </a:r>
          </a:p>
        </p:txBody>
      </p:sp>
      <p:graphicFrame>
        <p:nvGraphicFramePr>
          <p:cNvPr id="9" name="Table 8"/>
          <p:cNvGraphicFramePr>
            <a:graphicFrameLocks noGrp="1"/>
          </p:cNvGraphicFramePr>
          <p:nvPr/>
        </p:nvGraphicFramePr>
        <p:xfrm>
          <a:off x="530352" y="1956816"/>
          <a:ext cx="11130991" cy="1341120"/>
        </p:xfrm>
        <a:graphic>
          <a:graphicData uri="http://schemas.openxmlformats.org/drawingml/2006/table">
            <a:tbl>
              <a:tblPr firstRow="0" bandRow="0">
                <a:tableStyleId>{2D5ABB26-0587-4C30-8999-92F81FD0307C}</a:tableStyleId>
              </a:tblPr>
              <a:tblGrid>
                <a:gridCol w="6558991"/>
                <a:gridCol w="914400"/>
                <a:gridCol w="914400"/>
                <a:gridCol w="914400"/>
                <a:gridCol w="914400"/>
                <a:gridCol w="914400"/>
              </a:tblGrid>
              <a:tr h="335280">
                <a:tc>
                  <a:txBody>
                    <a:bodyPr/>
                    <a:lstStyle/>
                    <a:p>
                      <a:r>
                        <a:rPr sz="1250" b="1" i="0">
                          <a:solidFill>
                            <a:srgbClr val="FFFFFF"/>
                          </a:solidFill>
                          <a:latin typeface="Calibri"/>
                        </a:rPr>
                        <a:t>January's ten joiners (invented)</a:t>
                      </a:r>
                    </a:p>
                  </a:txBody>
                  <a:tcPr marL="101600" marR="101600" marT="38100" marB="38100" anchor="ctr">
                    <a:solidFill>
                      <a:srgbClr val="1A0F5C"/>
                    </a:solidFill>
                  </a:tcPr>
                </a:tc>
                <a:tc>
                  <a:txBody>
                    <a:bodyPr/>
                    <a:lstStyle/>
                    <a:p>
                      <a:r>
                        <a:rPr sz="1250" b="1" i="0">
                          <a:solidFill>
                            <a:srgbClr val="FFFFFF"/>
                          </a:solidFill>
                          <a:latin typeface="Calibri"/>
                        </a:rPr>
                        <a:t>Age 1</a:t>
                      </a:r>
                    </a:p>
                  </a:txBody>
                  <a:tcPr marL="101600" marR="101600" marT="38100" marB="38100" anchor="ctr">
                    <a:solidFill>
                      <a:srgbClr val="1A0F5C"/>
                    </a:solidFill>
                  </a:tcPr>
                </a:tc>
                <a:tc>
                  <a:txBody>
                    <a:bodyPr/>
                    <a:lstStyle/>
                    <a:p>
                      <a:r>
                        <a:rPr sz="1250" b="1" i="0">
                          <a:solidFill>
                            <a:srgbClr val="FFFFFF"/>
                          </a:solidFill>
                          <a:latin typeface="Calibri"/>
                        </a:rPr>
                        <a:t>Age 2</a:t>
                      </a:r>
                    </a:p>
                  </a:txBody>
                  <a:tcPr marL="101600" marR="101600" marT="38100" marB="38100" anchor="ctr">
                    <a:solidFill>
                      <a:srgbClr val="1A0F5C"/>
                    </a:solidFill>
                  </a:tcPr>
                </a:tc>
                <a:tc>
                  <a:txBody>
                    <a:bodyPr/>
                    <a:lstStyle/>
                    <a:p>
                      <a:r>
                        <a:rPr sz="1250" b="1" i="0">
                          <a:solidFill>
                            <a:srgbClr val="FFFFFF"/>
                          </a:solidFill>
                          <a:latin typeface="Calibri"/>
                        </a:rPr>
                        <a:t>Age 3</a:t>
                      </a:r>
                    </a:p>
                  </a:txBody>
                  <a:tcPr marL="101600" marR="101600" marT="38100" marB="38100" anchor="ctr">
                    <a:solidFill>
                      <a:srgbClr val="1A0F5C"/>
                    </a:solidFill>
                  </a:tcPr>
                </a:tc>
                <a:tc>
                  <a:txBody>
                    <a:bodyPr/>
                    <a:lstStyle/>
                    <a:p>
                      <a:r>
                        <a:rPr sz="1250" b="1" i="0">
                          <a:solidFill>
                            <a:srgbClr val="FFFFFF"/>
                          </a:solidFill>
                          <a:latin typeface="Calibri"/>
                        </a:rPr>
                        <a:t>Age 4</a:t>
                      </a:r>
                    </a:p>
                  </a:txBody>
                  <a:tcPr marL="101600" marR="101600" marT="38100" marB="38100" anchor="ctr">
                    <a:solidFill>
                      <a:srgbClr val="1A0F5C"/>
                    </a:solidFill>
                  </a:tcPr>
                </a:tc>
                <a:tc>
                  <a:txBody>
                    <a:bodyPr/>
                    <a:lstStyle/>
                    <a:p>
                      <a:r>
                        <a:rPr sz="1250" b="1" i="0">
                          <a:solidFill>
                            <a:srgbClr val="FFFFFF"/>
                          </a:solidFill>
                          <a:latin typeface="Calibri"/>
                        </a:rPr>
                        <a:t>Age 5</a:t>
                      </a:r>
                    </a:p>
                  </a:txBody>
                  <a:tcPr marL="101600" marR="101600" marT="38100" marB="38100" anchor="ctr">
                    <a:solidFill>
                      <a:srgbClr val="1A0F5C"/>
                    </a:solidFill>
                  </a:tcPr>
                </a:tc>
              </a:tr>
              <a:tr h="335280">
                <a:tc>
                  <a:txBody>
                    <a:bodyPr/>
                    <a:lstStyle/>
                    <a:p>
                      <a:r>
                        <a:rPr sz="1200" b="0" i="0">
                          <a:solidFill>
                            <a:srgbClr val="1A1440"/>
                          </a:solidFill>
                          <a:latin typeface="Calibri"/>
                        </a:rPr>
                        <a:t>Still visiting, percent of 10</a:t>
                      </a:r>
                    </a:p>
                  </a:txBody>
                  <a:tcPr marL="101600" marR="101600" marT="38100" marB="38100" anchor="ctr">
                    <a:solidFill>
                      <a:srgbClr val="FFFFFF"/>
                    </a:solidFill>
                  </a:tcPr>
                </a:tc>
                <a:tc>
                  <a:txBody>
                    <a:bodyPr/>
                    <a:lstStyle/>
                    <a:p>
                      <a:r>
                        <a:rPr sz="1200" b="0" i="0">
                          <a:solidFill>
                            <a:srgbClr val="1A1440"/>
                          </a:solidFill>
                          <a:latin typeface="Calibri"/>
                        </a:rPr>
                        <a:t>80</a:t>
                      </a:r>
                    </a:p>
                  </a:txBody>
                  <a:tcPr marL="101600" marR="101600" marT="38100" marB="38100" anchor="ctr">
                    <a:solidFill>
                      <a:srgbClr val="FFFFFF"/>
                    </a:solidFill>
                  </a:tcPr>
                </a:tc>
                <a:tc>
                  <a:txBody>
                    <a:bodyPr/>
                    <a:lstStyle/>
                    <a:p>
                      <a:r>
                        <a:rPr sz="1200" b="0" i="0">
                          <a:solidFill>
                            <a:srgbClr val="1A1440"/>
                          </a:solidFill>
                          <a:latin typeface="Calibri"/>
                        </a:rPr>
                        <a:t>60</a:t>
                      </a:r>
                    </a:p>
                  </a:txBody>
                  <a:tcPr marL="101600" marR="101600" marT="38100" marB="38100" anchor="ctr">
                    <a:solidFill>
                      <a:srgbClr val="FFFFFF"/>
                    </a:solidFill>
                  </a:tcPr>
                </a:tc>
                <a:tc>
                  <a:txBody>
                    <a:bodyPr/>
                    <a:lstStyle/>
                    <a:p>
                      <a:r>
                        <a:rPr sz="1200" b="0" i="0">
                          <a:solidFill>
                            <a:srgbClr val="1A1440"/>
                          </a:solidFill>
                          <a:latin typeface="Calibri"/>
                        </a:rPr>
                        <a:t>50</a:t>
                      </a:r>
                    </a:p>
                  </a:txBody>
                  <a:tcPr marL="101600" marR="101600" marT="38100" marB="38100" anchor="ctr">
                    <a:solidFill>
                      <a:srgbClr val="FFFFFF"/>
                    </a:solidFill>
                  </a:tcPr>
                </a:tc>
                <a:tc>
                  <a:txBody>
                    <a:bodyPr/>
                    <a:lstStyle/>
                    <a:p>
                      <a:r>
                        <a:rPr sz="1200" b="0" i="0">
                          <a:solidFill>
                            <a:srgbClr val="1A1440"/>
                          </a:solidFill>
                          <a:latin typeface="Calibri"/>
                        </a:rPr>
                        <a:t>50</a:t>
                      </a:r>
                    </a:p>
                  </a:txBody>
                  <a:tcPr marL="101600" marR="101600" marT="38100" marB="38100" anchor="ctr">
                    <a:solidFill>
                      <a:srgbClr val="FFFFFF"/>
                    </a:solidFill>
                  </a:tcPr>
                </a:tc>
                <a:tc>
                  <a:txBody>
                    <a:bodyPr/>
                    <a:lstStyle/>
                    <a:p>
                      <a:r>
                        <a:rPr sz="1200" b="0" i="0">
                          <a:solidFill>
                            <a:srgbClr val="1A1440"/>
                          </a:solidFill>
                          <a:latin typeface="Calibri"/>
                        </a:rPr>
                        <a:t>50</a:t>
                      </a:r>
                    </a:p>
                  </a:txBody>
                  <a:tcPr marL="101600" marR="101600" marT="38100" marB="38100" anchor="ctr">
                    <a:solidFill>
                      <a:srgbClr val="FFFFFF"/>
                    </a:solidFill>
                  </a:tcPr>
                </a:tc>
              </a:tr>
              <a:tr h="335280">
                <a:tc>
                  <a:txBody>
                    <a:bodyPr/>
                    <a:lstStyle/>
                    <a:p>
                      <a:r>
                        <a:rPr sz="1200" b="0" i="0">
                          <a:solidFill>
                            <a:srgbClr val="1A1440"/>
                          </a:solidFill>
                          <a:latin typeface="Calibri"/>
                        </a:rPr>
                        <a:t>Churned so far, percent of 10</a:t>
                      </a:r>
                    </a:p>
                  </a:txBody>
                  <a:tcPr marL="101600" marR="101600" marT="38100" marB="38100" anchor="ctr">
                    <a:solidFill>
                      <a:srgbClr val="F4F2FA"/>
                    </a:solidFill>
                  </a:tcPr>
                </a:tc>
                <a:tc>
                  <a:txBody>
                    <a:bodyPr/>
                    <a:lstStyle/>
                    <a:p>
                      <a:r>
                        <a:rPr sz="1200" b="0" i="0">
                          <a:solidFill>
                            <a:srgbClr val="1A1440"/>
                          </a:solidFill>
                          <a:latin typeface="Calibri"/>
                        </a:rPr>
                        <a:t>20</a:t>
                      </a:r>
                    </a:p>
                  </a:txBody>
                  <a:tcPr marL="101600" marR="101600" marT="38100" marB="38100" anchor="ctr">
                    <a:solidFill>
                      <a:srgbClr val="F4F2FA"/>
                    </a:solidFill>
                  </a:tcPr>
                </a:tc>
                <a:tc>
                  <a:txBody>
                    <a:bodyPr/>
                    <a:lstStyle/>
                    <a:p>
                      <a:r>
                        <a:rPr sz="1200" b="0" i="0">
                          <a:solidFill>
                            <a:srgbClr val="1A1440"/>
                          </a:solidFill>
                          <a:latin typeface="Calibri"/>
                        </a:rPr>
                        <a:t>40</a:t>
                      </a:r>
                    </a:p>
                  </a:txBody>
                  <a:tcPr marL="101600" marR="101600" marT="38100" marB="38100" anchor="ctr">
                    <a:solidFill>
                      <a:srgbClr val="F4F2FA"/>
                    </a:solidFill>
                  </a:tcPr>
                </a:tc>
                <a:tc>
                  <a:txBody>
                    <a:bodyPr/>
                    <a:lstStyle/>
                    <a:p>
                      <a:r>
                        <a:rPr sz="1200" b="0" i="0">
                          <a:solidFill>
                            <a:srgbClr val="1A1440"/>
                          </a:solidFill>
                          <a:latin typeface="Calibri"/>
                        </a:rPr>
                        <a:t>50</a:t>
                      </a:r>
                    </a:p>
                  </a:txBody>
                  <a:tcPr marL="101600" marR="101600" marT="38100" marB="38100" anchor="ctr">
                    <a:solidFill>
                      <a:srgbClr val="F4F2FA"/>
                    </a:solidFill>
                  </a:tcPr>
                </a:tc>
                <a:tc>
                  <a:txBody>
                    <a:bodyPr/>
                    <a:lstStyle/>
                    <a:p>
                      <a:r>
                        <a:rPr sz="1200" b="0" i="0">
                          <a:solidFill>
                            <a:srgbClr val="1A1440"/>
                          </a:solidFill>
                          <a:latin typeface="Calibri"/>
                        </a:rPr>
                        <a:t>50</a:t>
                      </a:r>
                    </a:p>
                  </a:txBody>
                  <a:tcPr marL="101600" marR="101600" marT="38100" marB="38100" anchor="ctr">
                    <a:solidFill>
                      <a:srgbClr val="F4F2FA"/>
                    </a:solidFill>
                  </a:tcPr>
                </a:tc>
                <a:tc>
                  <a:txBody>
                    <a:bodyPr/>
                    <a:lstStyle/>
                    <a:p>
                      <a:r>
                        <a:rPr sz="1200" b="0" i="0">
                          <a:solidFill>
                            <a:srgbClr val="1A1440"/>
                          </a:solidFill>
                          <a:latin typeface="Calibri"/>
                        </a:rPr>
                        <a:t>50</a:t>
                      </a:r>
                    </a:p>
                  </a:txBody>
                  <a:tcPr marL="101600" marR="101600" marT="38100" marB="38100" anchor="ctr">
                    <a:solidFill>
                      <a:srgbClr val="F4F2FA"/>
                    </a:solidFill>
                  </a:tcPr>
                </a:tc>
              </a:tr>
              <a:tr h="335280">
                <a:tc>
                  <a:txBody>
                    <a:bodyPr/>
                    <a:lstStyle/>
                    <a:p>
                      <a:r>
                        <a:rPr sz="1200" b="0" i="0">
                          <a:solidFill>
                            <a:srgbClr val="1A1440"/>
                          </a:solidFill>
                          <a:latin typeface="Calibri"/>
                        </a:rPr>
                        <a:t>Stopped since the month before, percent</a:t>
                      </a:r>
                    </a:p>
                  </a:txBody>
                  <a:tcPr marL="101600" marR="101600" marT="38100" marB="38100" anchor="ctr">
                    <a:solidFill>
                      <a:srgbClr val="FFFFFF"/>
                    </a:solidFill>
                  </a:tcPr>
                </a:tc>
                <a:tc>
                  <a:txBody>
                    <a:bodyPr/>
                    <a:lstStyle/>
                    <a:p>
                      <a:r>
                        <a:rPr sz="1200" b="0" i="0">
                          <a:solidFill>
                            <a:srgbClr val="1A1440"/>
                          </a:solidFill>
                          <a:latin typeface="Calibri"/>
                        </a:rPr>
                        <a:t>20</a:t>
                      </a:r>
                    </a:p>
                  </a:txBody>
                  <a:tcPr marL="101600" marR="101600" marT="38100" marB="38100" anchor="ctr">
                    <a:solidFill>
                      <a:srgbClr val="FFFFFF"/>
                    </a:solidFill>
                  </a:tcPr>
                </a:tc>
                <a:tc>
                  <a:txBody>
                    <a:bodyPr/>
                    <a:lstStyle/>
                    <a:p>
                      <a:r>
                        <a:rPr sz="1200" b="0" i="0">
                          <a:solidFill>
                            <a:srgbClr val="1A1440"/>
                          </a:solidFill>
                          <a:latin typeface="Calibri"/>
                        </a:rPr>
                        <a:t>25</a:t>
                      </a:r>
                    </a:p>
                  </a:txBody>
                  <a:tcPr marL="101600" marR="101600" marT="38100" marB="38100" anchor="ctr">
                    <a:solidFill>
                      <a:srgbClr val="FFFFFF"/>
                    </a:solidFill>
                  </a:tcPr>
                </a:tc>
                <a:tc>
                  <a:txBody>
                    <a:bodyPr/>
                    <a:lstStyle/>
                    <a:p>
                      <a:r>
                        <a:rPr sz="1200" b="0" i="0">
                          <a:solidFill>
                            <a:srgbClr val="1A1440"/>
                          </a:solidFill>
                          <a:latin typeface="Calibri"/>
                        </a:rPr>
                        <a:t>16.7</a:t>
                      </a:r>
                    </a:p>
                  </a:txBody>
                  <a:tcPr marL="101600" marR="101600" marT="38100" marB="38100" anchor="ctr">
                    <a:solidFill>
                      <a:srgbClr val="FFFFFF"/>
                    </a:solidFill>
                  </a:tcPr>
                </a:tc>
                <a:tc>
                  <a:txBody>
                    <a:bodyPr/>
                    <a:lstStyle/>
                    <a:p>
                      <a:r>
                        <a:rPr sz="1200" b="0" i="0">
                          <a:solidFill>
                            <a:srgbClr val="1A1440"/>
                          </a:solidFill>
                          <a:latin typeface="Calibri"/>
                        </a:rPr>
                        <a:t>0</a:t>
                      </a:r>
                    </a:p>
                  </a:txBody>
                  <a:tcPr marL="101600" marR="101600" marT="38100" marB="38100" anchor="ctr">
                    <a:solidFill>
                      <a:srgbClr val="FFFFFF"/>
                    </a:solidFill>
                  </a:tcPr>
                </a:tc>
                <a:tc>
                  <a:txBody>
                    <a:bodyPr/>
                    <a:lstStyle/>
                    <a:p>
                      <a:r>
                        <a:rPr sz="1200" b="0" i="0">
                          <a:solidFill>
                            <a:srgbClr val="1A1440"/>
                          </a:solidFill>
                          <a:latin typeface="Calibri"/>
                        </a:rPr>
                        <a:t>0</a:t>
                      </a:r>
                    </a:p>
                  </a:txBody>
                  <a:tcPr marL="101600" marR="101600" marT="38100" marB="38100" anchor="ctr">
                    <a:solidFill>
                      <a:srgbClr val="FFFFFF"/>
                    </a:solidFill>
                  </a:tcPr>
                </a:tc>
              </a:tr>
            </a:tbl>
          </a:graphicData>
        </a:graphic>
      </p:graphicFrame>
      <p:sp>
        <p:nvSpPr>
          <p:cNvPr id="10" name="Rounded Rectangle 9"/>
          <p:cNvSpPr/>
          <p:nvPr/>
        </p:nvSpPr>
        <p:spPr>
          <a:xfrm>
            <a:off x="530352" y="3553968"/>
            <a:ext cx="11130991" cy="16078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3681984"/>
            <a:ext cx="45720" cy="13517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3672840"/>
            <a:ext cx="10564063" cy="1424940"/>
          </a:xfrm>
          <a:prstGeom prst="rect">
            <a:avLst/>
          </a:prstGeom>
          <a:noFill/>
        </p:spPr>
        <p:txBody>
          <a:bodyPr wrap="square" anchor="ctr" lIns="0" rIns="0" tIns="0" bIns="0">
            <a:spAutoFit/>
          </a:bodyPr>
          <a:lstStyle/>
          <a:p>
            <a:r>
              <a:rPr sz="1500" b="1">
                <a:solidFill>
                  <a:srgbClr val="5B3FD6"/>
                </a:solidFill>
                <a:latin typeface="Calibri"/>
              </a:rPr>
              <a:t>Named last. </a:t>
            </a:r>
            <a:r>
              <a:rPr sz="1500" b="0" i="0">
                <a:solidFill>
                  <a:srgbClr val="1A1440"/>
                </a:solidFill>
                <a:latin typeface="Calibri"/>
              </a:rPr>
              <a:t>In this branch nobody who stopped came back, which is what lets both counts work. Churn so far is 100 less the retention. Month-to-month churn divides those who stopped by those still visiting the month before: 2 of 8 at age two, 25 percent. Where members do come back, a team first picks when a member counts as gone, for example 60 days with no visit, and labels that a choice. A chart that prints a churn number says which of the two it is.</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010412" cy="152146"/>
          </a:xfrm>
          <a:prstGeom prst="rect">
            <a:avLst/>
          </a:prstGeom>
          <a:noFill/>
        </p:spPr>
        <p:txBody>
          <a:bodyPr wrap="square" anchor="t" lIns="0" rIns="0" tIns="0" bIns="0">
            <a:spAutoFit/>
          </a:bodyPr>
          <a:lstStyle/>
          <a:p>
            <a:pPr algn="l"/>
            <a:r>
              <a:rPr sz="700" b="0" i="0">
                <a:solidFill>
                  <a:srgbClr val="6B6690"/>
                </a:solidFill>
                <a:latin typeface="Calibri"/>
              </a:rPr>
              <a:t>Who joined when?</a:t>
            </a:r>
          </a:p>
        </p:txBody>
      </p:sp>
      <p:sp>
        <p:nvSpPr>
          <p:cNvPr id="15" name="Oval 14"/>
          <p:cNvSpPr/>
          <p:nvPr/>
        </p:nvSpPr>
        <p:spPr>
          <a:xfrm>
            <a:off x="174193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851660" y="6437376"/>
            <a:ext cx="1148429" cy="152146"/>
          </a:xfrm>
          <a:prstGeom prst="rect">
            <a:avLst/>
          </a:prstGeom>
          <a:noFill/>
        </p:spPr>
        <p:txBody>
          <a:bodyPr wrap="square" anchor="t" lIns="0" rIns="0" tIns="0" bIns="0">
            <a:spAutoFit/>
          </a:bodyPr>
          <a:lstStyle/>
          <a:p>
            <a:pPr algn="l"/>
            <a:r>
              <a:rPr sz="700" b="1" i="0">
                <a:solidFill>
                  <a:srgbClr val="5B3FD6"/>
                </a:solidFill>
                <a:latin typeface="Calibri"/>
              </a:rPr>
              <a:t>Where is the floor?</a:t>
            </a:r>
          </a:p>
        </p:txBody>
      </p:sp>
      <p:sp>
        <p:nvSpPr>
          <p:cNvPr id="17" name="Oval 16"/>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20125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a blend made of?</a:t>
            </a:r>
          </a:p>
        </p:txBody>
      </p:sp>
      <p:sp>
        <p:nvSpPr>
          <p:cNvPr id="19" name="Oval 18"/>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78088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step owns a loss?</a:t>
            </a:r>
          </a:p>
        </p:txBody>
      </p:sp>
      <p:sp>
        <p:nvSpPr>
          <p:cNvPr id="21" name="Oval 20"/>
          <p:cNvSpPr/>
          <p:nvPr/>
        </p:nvSpPr>
        <p:spPr>
          <a:xfrm>
            <a:off x="62047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314503"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Who entered when?</a:t>
            </a:r>
          </a:p>
        </p:txBody>
      </p:sp>
      <p:sp>
        <p:nvSpPr>
          <p:cNvPr id="23" name="Oval 22"/>
          <p:cNvSpPr/>
          <p:nvPr/>
        </p:nvSpPr>
        <p:spPr>
          <a:xfrm>
            <a:off x="74623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572089"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the 38 made of?</a:t>
            </a:r>
          </a:p>
        </p:txBody>
      </p:sp>
      <p:sp>
        <p:nvSpPr>
          <p:cNvPr id="25" name="Oval 24"/>
          <p:cNvSpPr/>
          <p:nvPr/>
        </p:nvSpPr>
        <p:spPr>
          <a:xfrm>
            <a:off x="899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910570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stage owns the loss?</a:t>
            </a:r>
          </a:p>
        </p:txBody>
      </p:sp>
      <p:sp>
        <p:nvSpPr>
          <p:cNvPr id="27" name="TextBox 2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S16  ·  18 / 73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COHORT AND FUNNEL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floor needs two ages that agree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February read 50 at age two; why was that not its floor, and how does code test for one?</a:t>
            </a:r>
          </a:p>
        </p:txBody>
      </p:sp>
      <p:sp>
        <p:nvSpPr>
          <p:cNvPr id="9" name="Rounded Rectangle 8"/>
          <p:cNvSpPr/>
          <p:nvPr/>
        </p:nvSpPr>
        <p:spPr>
          <a:xfrm>
            <a:off x="530352" y="1818640"/>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58952" y="2150872"/>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bug_39ada6eff46d.png"/>
          <p:cNvPicPr>
            <a:picLocks noChangeAspect="1"/>
          </p:cNvPicPr>
          <p:nvPr/>
        </p:nvPicPr>
        <p:blipFill>
          <a:blip r:embed="rId4"/>
          <a:stretch>
            <a:fillRect/>
          </a:stretch>
        </p:blipFill>
        <p:spPr>
          <a:xfrm>
            <a:off x="868680" y="2260600"/>
            <a:ext cx="237744" cy="237744"/>
          </a:xfrm>
          <a:prstGeom prst="rect">
            <a:avLst/>
          </a:prstGeom>
        </p:spPr>
      </p:pic>
      <p:sp>
        <p:nvSpPr>
          <p:cNvPr id="12" name="TextBox 11"/>
          <p:cNvSpPr txBox="1"/>
          <p:nvPr/>
        </p:nvSpPr>
        <p:spPr>
          <a:xfrm>
            <a:off x="1399031" y="1964944"/>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WHAT BREAKS</a:t>
            </a:r>
          </a:p>
        </p:txBody>
      </p:sp>
      <p:sp>
        <p:nvSpPr>
          <p:cNvPr id="13" name="TextBox 12"/>
          <p:cNvSpPr txBox="1"/>
          <p:nvPr/>
        </p:nvSpPr>
        <p:spPr>
          <a:xfrm>
            <a:off x="1399031" y="2184400"/>
            <a:ext cx="9987991" cy="682752"/>
          </a:xfrm>
          <a:prstGeom prst="rect">
            <a:avLst/>
          </a:prstGeom>
          <a:noFill/>
        </p:spPr>
        <p:txBody>
          <a:bodyPr wrap="square" anchor="t" lIns="0" rIns="0" tIns="0" bIns="0">
            <a:spAutoFit/>
          </a:bodyPr>
          <a:lstStyle/>
          <a:p>
            <a:r>
              <a:rPr sz="1500" b="0" i="0">
                <a:solidFill>
                  <a:srgbClr val="1A1440"/>
                </a:solidFill>
                <a:latin typeface="Calibri"/>
              </a:rPr>
              <a:t>After February's age two, 5 of 10, the owner staffed for a floor of five regulars. Ages three and four read 3 of 10, so the plan counted two regulars too many.</a:t>
            </a:r>
          </a:p>
        </p:txBody>
      </p:sp>
      <p:sp>
        <p:nvSpPr>
          <p:cNvPr id="14" name="Rounded Rectangle 13"/>
          <p:cNvSpPr/>
          <p:nvPr/>
        </p:nvSpPr>
        <p:spPr>
          <a:xfrm>
            <a:off x="530352" y="3104896"/>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676656" y="3232912"/>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77824" y="3223768"/>
            <a:ext cx="10564063" cy="891540"/>
          </a:xfrm>
          <a:prstGeom prst="rect">
            <a:avLst/>
          </a:prstGeom>
          <a:noFill/>
        </p:spPr>
        <p:txBody>
          <a:bodyPr wrap="square" anchor="ctr" lIns="0" rIns="0" tIns="0" bIns="0">
            <a:spAutoFit/>
          </a:bodyPr>
          <a:lstStyle/>
          <a:p>
            <a:r>
              <a:rPr sz="1500" b="1">
                <a:solidFill>
                  <a:srgbClr val="5B3FD6"/>
                </a:solidFill>
                <a:latin typeface="Calibri"/>
              </a:rPr>
              <a:t>The rule we use, this programme's own. </a:t>
            </a:r>
            <a:r>
              <a:rPr sz="1500" b="0" i="0">
                <a:solidFill>
                  <a:srgbClr val="1A1440"/>
                </a:solidFill>
                <a:latin typeface="Calibri"/>
              </a:rPr>
              <a:t>Call a floor only when two ages in a row read within a point of each other; until then the curve is still falling. A batch of ten moves in steps of ten points, so on the gym that means two equal ages.</a:t>
            </a:r>
          </a:p>
        </p:txBody>
      </p:sp>
      <p:sp>
        <p:nvSpPr>
          <p:cNvPr id="17" name="Rounded Rectangle 16"/>
          <p:cNvSpPr/>
          <p:nvPr/>
        </p:nvSpPr>
        <p:spPr>
          <a:xfrm>
            <a:off x="530352" y="4343908"/>
            <a:ext cx="11130991" cy="1719580"/>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713232" y="4471924"/>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868680" y="4471924"/>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1024128" y="4471924"/>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04671" y="4673092"/>
            <a:ext cx="10673791" cy="1317244"/>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def floor_of(row, within=0.01):          # row: shares at ages 1, 2, 3, ...</a:t>
            </a:r>
          </a:p>
          <a:p>
            <a:pPr>
              <a:spcAft>
                <a:spcPts val="200"/>
              </a:spcAft>
            </a:pPr>
            <a:r>
              <a:rPr sz="1400" b="0" i="0">
                <a:solidFill>
                  <a:srgbClr val="E4E1F1"/>
                </a:solidFill>
                <a:latin typeface="Consolas"/>
              </a:rPr>
              <a:t>    pairs = zip(row, row[1:])</a:t>
            </a:r>
          </a:p>
          <a:p>
            <a:pPr>
              <a:spcAft>
                <a:spcPts val="200"/>
              </a:spcAft>
            </a:pPr>
            <a:r>
              <a:rPr sz="1400" b="0" i="0">
                <a:solidFill>
                  <a:srgbClr val="E4E1F1"/>
                </a:solidFill>
                <a:latin typeface="Consolas"/>
              </a:rPr>
              <a:t>    near = (b for a, b in pairs if abs(a - b) &lt;= within)</a:t>
            </a:r>
          </a:p>
          <a:p>
            <a:pPr>
              <a:spcAft>
                <a:spcPts val="200"/>
              </a:spcAft>
            </a:pPr>
            <a:r>
              <a:rPr sz="1400" b="0" i="0">
                <a:solidFill>
                  <a:srgbClr val="E4E1F1"/>
                </a:solidFill>
                <a:latin typeface="Consolas"/>
              </a:rPr>
              <a:t>    return next(near, None)              # None: still falling</a:t>
            </a:r>
          </a:p>
          <a:p>
            <a:pPr>
              <a:spcAft>
                <a:spcPts val="200"/>
              </a:spcAft>
            </a:pPr>
            <a:r>
              <a:rPr sz="1400" b="0" i="0">
                <a:solidFill>
                  <a:srgbClr val="A9A3D2"/>
                </a:solidFill>
                <a:latin typeface="Consolas"/>
              </a:rPr>
              <a:t># floor_of([0.8, 0.6, 0.5, 0.5, 0.5]) gives 0.5; floor_of([0.6, 0.4, 0.3]) gives None</a:t>
            </a:r>
          </a:p>
        </p:txBody>
      </p:sp>
      <p:sp>
        <p:nvSpPr>
          <p:cNvPr id="22" name="Oval 2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40080" y="6437376"/>
            <a:ext cx="1010412" cy="152146"/>
          </a:xfrm>
          <a:prstGeom prst="rect">
            <a:avLst/>
          </a:prstGeom>
          <a:noFill/>
        </p:spPr>
        <p:txBody>
          <a:bodyPr wrap="square" anchor="t" lIns="0" rIns="0" tIns="0" bIns="0">
            <a:spAutoFit/>
          </a:bodyPr>
          <a:lstStyle/>
          <a:p>
            <a:pPr algn="l"/>
            <a:r>
              <a:rPr sz="700" b="0" i="0">
                <a:solidFill>
                  <a:srgbClr val="6B6690"/>
                </a:solidFill>
                <a:latin typeface="Calibri"/>
              </a:rPr>
              <a:t>Who joined when?</a:t>
            </a:r>
          </a:p>
        </p:txBody>
      </p:sp>
      <p:sp>
        <p:nvSpPr>
          <p:cNvPr id="24" name="Oval 23"/>
          <p:cNvSpPr/>
          <p:nvPr/>
        </p:nvSpPr>
        <p:spPr>
          <a:xfrm>
            <a:off x="174193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1851660" y="6437376"/>
            <a:ext cx="1148429" cy="152146"/>
          </a:xfrm>
          <a:prstGeom prst="rect">
            <a:avLst/>
          </a:prstGeom>
          <a:noFill/>
        </p:spPr>
        <p:txBody>
          <a:bodyPr wrap="square" anchor="t" lIns="0" rIns="0" tIns="0" bIns="0">
            <a:spAutoFit/>
          </a:bodyPr>
          <a:lstStyle/>
          <a:p>
            <a:pPr algn="l"/>
            <a:r>
              <a:rPr sz="700" b="1" i="0">
                <a:solidFill>
                  <a:srgbClr val="5B3FD6"/>
                </a:solidFill>
                <a:latin typeface="Calibri"/>
              </a:rPr>
              <a:t>Where is the floor?</a:t>
            </a:r>
          </a:p>
        </p:txBody>
      </p:sp>
      <p:sp>
        <p:nvSpPr>
          <p:cNvPr id="26" name="Oval 25"/>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320125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a blend made of?</a:t>
            </a:r>
          </a:p>
        </p:txBody>
      </p:sp>
      <p:sp>
        <p:nvSpPr>
          <p:cNvPr id="28" name="Oval 27"/>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478088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step owns a loss?</a:t>
            </a:r>
          </a:p>
        </p:txBody>
      </p:sp>
      <p:sp>
        <p:nvSpPr>
          <p:cNvPr id="30" name="Oval 29"/>
          <p:cNvSpPr/>
          <p:nvPr/>
        </p:nvSpPr>
        <p:spPr>
          <a:xfrm>
            <a:off x="62047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314503"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Who entered when?</a:t>
            </a:r>
          </a:p>
        </p:txBody>
      </p:sp>
      <p:sp>
        <p:nvSpPr>
          <p:cNvPr id="32" name="Oval 31"/>
          <p:cNvSpPr/>
          <p:nvPr/>
        </p:nvSpPr>
        <p:spPr>
          <a:xfrm>
            <a:off x="74623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7572089"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the 38 made of?</a:t>
            </a:r>
          </a:p>
        </p:txBody>
      </p:sp>
      <p:sp>
        <p:nvSpPr>
          <p:cNvPr id="34" name="Oval 33"/>
          <p:cNvSpPr/>
          <p:nvPr/>
        </p:nvSpPr>
        <p:spPr>
          <a:xfrm>
            <a:off x="899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910570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stage owns the loss?</a:t>
            </a:r>
          </a:p>
        </p:txBody>
      </p:sp>
      <p:sp>
        <p:nvSpPr>
          <p:cNvPr id="36" name="TextBox 3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S17  ·  19 / 73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COHORT AND FUNNEL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Four rules for reading a retention curve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an analyst read off every retention curve, and what does an interviewer listen for?</a:t>
            </a:r>
          </a:p>
        </p:txBody>
      </p:sp>
      <p:sp>
        <p:nvSpPr>
          <p:cNvPr id="9" name="TextBox 8"/>
          <p:cNvSpPr txBox="1"/>
          <p:nvPr/>
        </p:nvSpPr>
        <p:spPr>
          <a:xfrm>
            <a:off x="530352" y="1841500"/>
            <a:ext cx="502920" cy="300735"/>
          </a:xfrm>
          <a:prstGeom prst="rect">
            <a:avLst/>
          </a:prstGeom>
          <a:noFill/>
        </p:spPr>
        <p:txBody>
          <a:bodyPr wrap="square" anchor="t" lIns="0" rIns="0" tIns="0" bIns="0">
            <a:spAutoFit/>
          </a:bodyPr>
          <a:lstStyle/>
          <a:p>
            <a:pPr algn="l"/>
            <a:r>
              <a:rPr sz="1600" b="0" i="0">
                <a:solidFill>
                  <a:srgbClr val="5B3FD6"/>
                </a:solidFill>
                <a:latin typeface="Georgia"/>
              </a:rPr>
              <a:t>01</a:t>
            </a:r>
          </a:p>
        </p:txBody>
      </p:sp>
      <p:sp>
        <p:nvSpPr>
          <p:cNvPr id="10" name="TextBox 9"/>
          <p:cNvSpPr txBox="1"/>
          <p:nvPr/>
        </p:nvSpPr>
        <p:spPr>
          <a:xfrm>
            <a:off x="1097280" y="1878076"/>
            <a:ext cx="10564063" cy="334264"/>
          </a:xfrm>
          <a:prstGeom prst="rect">
            <a:avLst/>
          </a:prstGeom>
          <a:noFill/>
        </p:spPr>
        <p:txBody>
          <a:bodyPr wrap="square" anchor="t" lIns="0" rIns="0" tIns="0" bIns="0">
            <a:spAutoFit/>
          </a:bodyPr>
          <a:lstStyle/>
          <a:p>
            <a:r>
              <a:rPr sz="1300" b="0" i="0">
                <a:solidFill>
                  <a:srgbClr val="1A1440"/>
                </a:solidFill>
                <a:latin typeface="Calibri"/>
              </a:rPr>
              <a:t>A retention curve is one cohort's row of the table, drawn by age.</a:t>
            </a:r>
          </a:p>
        </p:txBody>
      </p:sp>
      <p:sp>
        <p:nvSpPr>
          <p:cNvPr id="11" name="TextBox 10"/>
          <p:cNvSpPr txBox="1"/>
          <p:nvPr/>
        </p:nvSpPr>
        <p:spPr>
          <a:xfrm>
            <a:off x="530352" y="2248916"/>
            <a:ext cx="502920" cy="300735"/>
          </a:xfrm>
          <a:prstGeom prst="rect">
            <a:avLst/>
          </a:prstGeom>
          <a:noFill/>
        </p:spPr>
        <p:txBody>
          <a:bodyPr wrap="square" anchor="t" lIns="0" rIns="0" tIns="0" bIns="0">
            <a:spAutoFit/>
          </a:bodyPr>
          <a:lstStyle/>
          <a:p>
            <a:pPr algn="l"/>
            <a:r>
              <a:rPr sz="1600" b="0" i="0">
                <a:solidFill>
                  <a:srgbClr val="5B3FD6"/>
                </a:solidFill>
                <a:latin typeface="Georgia"/>
              </a:rPr>
              <a:t>02</a:t>
            </a:r>
          </a:p>
        </p:txBody>
      </p:sp>
      <p:sp>
        <p:nvSpPr>
          <p:cNvPr id="12" name="TextBox 11"/>
          <p:cNvSpPr txBox="1"/>
          <p:nvPr/>
        </p:nvSpPr>
        <p:spPr>
          <a:xfrm>
            <a:off x="1097280" y="2285492"/>
            <a:ext cx="10564063" cy="558800"/>
          </a:xfrm>
          <a:prstGeom prst="rect">
            <a:avLst/>
          </a:prstGeom>
          <a:noFill/>
        </p:spPr>
        <p:txBody>
          <a:bodyPr wrap="square" anchor="t" lIns="0" rIns="0" tIns="0" bIns="0">
            <a:spAutoFit/>
          </a:bodyPr>
          <a:lstStyle/>
          <a:p>
            <a:r>
              <a:rPr sz="1300" b="0" i="0">
                <a:solidFill>
                  <a:srgbClr val="1A1440"/>
                </a:solidFill>
                <a:latin typeface="Calibri"/>
              </a:rPr>
              <a:t>The shape says how fast a cohort leaves; the floor says how many stay where members who stop never return, and otherwise the share active in a typical month.</a:t>
            </a:r>
          </a:p>
        </p:txBody>
      </p:sp>
      <p:sp>
        <p:nvSpPr>
          <p:cNvPr id="13" name="TextBox 12"/>
          <p:cNvSpPr txBox="1"/>
          <p:nvPr/>
        </p:nvSpPr>
        <p:spPr>
          <a:xfrm>
            <a:off x="530352" y="2880868"/>
            <a:ext cx="502920" cy="300735"/>
          </a:xfrm>
          <a:prstGeom prst="rect">
            <a:avLst/>
          </a:prstGeom>
          <a:noFill/>
        </p:spPr>
        <p:txBody>
          <a:bodyPr wrap="square" anchor="t" lIns="0" rIns="0" tIns="0" bIns="0">
            <a:spAutoFit/>
          </a:bodyPr>
          <a:lstStyle/>
          <a:p>
            <a:pPr algn="l"/>
            <a:r>
              <a:rPr sz="1600" b="0" i="0">
                <a:solidFill>
                  <a:srgbClr val="5B3FD6"/>
                </a:solidFill>
                <a:latin typeface="Georgia"/>
              </a:rPr>
              <a:t>03</a:t>
            </a:r>
          </a:p>
        </p:txBody>
      </p:sp>
      <p:sp>
        <p:nvSpPr>
          <p:cNvPr id="14" name="TextBox 13"/>
          <p:cNvSpPr txBox="1"/>
          <p:nvPr/>
        </p:nvSpPr>
        <p:spPr>
          <a:xfrm>
            <a:off x="1097280" y="2917444"/>
            <a:ext cx="10564063" cy="334264"/>
          </a:xfrm>
          <a:prstGeom prst="rect">
            <a:avLst/>
          </a:prstGeom>
          <a:noFill/>
        </p:spPr>
        <p:txBody>
          <a:bodyPr wrap="square" anchor="t" lIns="0" rIns="0" tIns="0" bIns="0">
            <a:spAutoFit/>
          </a:bodyPr>
          <a:lstStyle/>
          <a:p>
            <a:r>
              <a:rPr sz="1300" b="0" i="0">
                <a:solidFill>
                  <a:srgbClr val="1A1440"/>
                </a:solidFill>
                <a:latin typeface="Calibri"/>
              </a:rPr>
              <a:t>Cohorts are ranked at the same age, never by the latest calendar month.</a:t>
            </a:r>
          </a:p>
        </p:txBody>
      </p:sp>
      <p:sp>
        <p:nvSpPr>
          <p:cNvPr id="15" name="TextBox 14"/>
          <p:cNvSpPr txBox="1"/>
          <p:nvPr/>
        </p:nvSpPr>
        <p:spPr>
          <a:xfrm>
            <a:off x="530352" y="3288284"/>
            <a:ext cx="502920" cy="300735"/>
          </a:xfrm>
          <a:prstGeom prst="rect">
            <a:avLst/>
          </a:prstGeom>
          <a:noFill/>
        </p:spPr>
        <p:txBody>
          <a:bodyPr wrap="square" anchor="t" lIns="0" rIns="0" tIns="0" bIns="0">
            <a:spAutoFit/>
          </a:bodyPr>
          <a:lstStyle/>
          <a:p>
            <a:pPr algn="l"/>
            <a:r>
              <a:rPr sz="1600" b="0" i="0">
                <a:solidFill>
                  <a:srgbClr val="5B3FD6"/>
                </a:solidFill>
                <a:latin typeface="Georgia"/>
              </a:rPr>
              <a:t>04</a:t>
            </a:r>
          </a:p>
        </p:txBody>
      </p:sp>
      <p:sp>
        <p:nvSpPr>
          <p:cNvPr id="16" name="TextBox 15"/>
          <p:cNvSpPr txBox="1"/>
          <p:nvPr/>
        </p:nvSpPr>
        <p:spPr>
          <a:xfrm>
            <a:off x="1097280" y="3324860"/>
            <a:ext cx="10564063" cy="334264"/>
          </a:xfrm>
          <a:prstGeom prst="rect">
            <a:avLst/>
          </a:prstGeom>
          <a:noFill/>
        </p:spPr>
        <p:txBody>
          <a:bodyPr wrap="square" anchor="t" lIns="0" rIns="0" tIns="0" bIns="0">
            <a:spAutoFit/>
          </a:bodyPr>
          <a:lstStyle/>
          <a:p>
            <a:r>
              <a:rPr sz="1300" b="0" i="0">
                <a:solidFill>
                  <a:srgbClr val="1A1440"/>
                </a:solidFill>
                <a:latin typeface="Calibri"/>
              </a:rPr>
              <a:t>A young cohort has no floor yet, since it has not lived the ages that would show one.</a:t>
            </a:r>
          </a:p>
        </p:txBody>
      </p:sp>
      <p:sp>
        <p:nvSpPr>
          <p:cNvPr id="17" name="Rounded Rectangle 16"/>
          <p:cNvSpPr/>
          <p:nvPr/>
        </p:nvSpPr>
        <p:spPr>
          <a:xfrm>
            <a:off x="530352" y="3842004"/>
            <a:ext cx="11130991" cy="1052576"/>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758952" y="4139692"/>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9" name="Picture 18" descr="mic_caee7398c80d.png"/>
          <p:cNvPicPr>
            <a:picLocks noChangeAspect="1"/>
          </p:cNvPicPr>
          <p:nvPr/>
        </p:nvPicPr>
        <p:blipFill>
          <a:blip r:embed="rId4"/>
          <a:stretch>
            <a:fillRect/>
          </a:stretch>
        </p:blipFill>
        <p:spPr>
          <a:xfrm>
            <a:off x="868680" y="4249420"/>
            <a:ext cx="237744" cy="237744"/>
          </a:xfrm>
          <a:prstGeom prst="rect">
            <a:avLst/>
          </a:prstGeom>
        </p:spPr>
      </p:pic>
      <p:sp>
        <p:nvSpPr>
          <p:cNvPr id="20" name="TextBox 19"/>
          <p:cNvSpPr txBox="1"/>
          <p:nvPr/>
        </p:nvSpPr>
        <p:spPr>
          <a:xfrm>
            <a:off x="1399031" y="3988308"/>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21" name="TextBox 20"/>
          <p:cNvSpPr txBox="1"/>
          <p:nvPr/>
        </p:nvSpPr>
        <p:spPr>
          <a:xfrm>
            <a:off x="1399031" y="4207764"/>
            <a:ext cx="9987991" cy="613664"/>
          </a:xfrm>
          <a:prstGeom prst="rect">
            <a:avLst/>
          </a:prstGeom>
          <a:noFill/>
        </p:spPr>
        <p:txBody>
          <a:bodyPr wrap="square" anchor="t" lIns="0" rIns="0" tIns="0" bIns="0">
            <a:spAutoFit/>
          </a:bodyPr>
          <a:lstStyle/>
          <a:p>
            <a:r>
              <a:rPr sz="1300" b="0" i="0">
                <a:solidFill>
                  <a:srgbClr val="1A1440"/>
                </a:solidFill>
                <a:latin typeface="Calibri"/>
              </a:rPr>
              <a:t>[F] "How would you use cohort analysis to find a retention issue?" Read each cohort's shape and floor, rank cohorts at the same age, and look for the cohort whose curve starts lower or never flattens.</a:t>
            </a:r>
          </a:p>
        </p:txBody>
      </p:sp>
      <p:sp>
        <p:nvSpPr>
          <p:cNvPr id="22" name="TextBox 21"/>
          <p:cNvSpPr txBox="1"/>
          <p:nvPr/>
        </p:nvSpPr>
        <p:spPr>
          <a:xfrm>
            <a:off x="530352" y="5059172"/>
            <a:ext cx="11130991" cy="944880"/>
          </a:xfrm>
          <a:prstGeom prst="rect">
            <a:avLst/>
          </a:prstGeom>
          <a:noFill/>
        </p:spPr>
        <p:txBody>
          <a:bodyPr wrap="square" anchor="t" lIns="0" rIns="0" tIns="0" bIns="0">
            <a:spAutoFit/>
          </a:bodyPr>
          <a:lstStyle/>
          <a:p>
            <a:pPr>
              <a:spcAft>
                <a:spcPts val="700"/>
              </a:spcAft>
            </a:pPr>
            <a:r>
              <a:rPr sz="1400" b="0" i="0">
                <a:solidFill>
                  <a:srgbClr val="1A1440"/>
                </a:solidFill>
                <a:latin typeface="Calibri"/>
              </a:rPr>
              <a:t>Blinkit, Eternal's quick-commerce app: in the fourth quarter after joining, 46 percent of a cohort's customers still ordered, on average, and the cohort's order value was 150 percent of its first quarter's (Eternal's Q1 FY27 letter of 22 July 2026, checked 12 October 2026). The customers who stay carry the business: fewer of them, each spending more.</a:t>
            </a:r>
          </a:p>
        </p:txBody>
      </p:sp>
      <p:sp>
        <p:nvSpPr>
          <p:cNvPr id="23" name="Oval 2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40080" y="6437376"/>
            <a:ext cx="1010412" cy="152146"/>
          </a:xfrm>
          <a:prstGeom prst="rect">
            <a:avLst/>
          </a:prstGeom>
          <a:noFill/>
        </p:spPr>
        <p:txBody>
          <a:bodyPr wrap="square" anchor="t" lIns="0" rIns="0" tIns="0" bIns="0">
            <a:spAutoFit/>
          </a:bodyPr>
          <a:lstStyle/>
          <a:p>
            <a:pPr algn="l"/>
            <a:r>
              <a:rPr sz="700" b="0" i="0">
                <a:solidFill>
                  <a:srgbClr val="6B6690"/>
                </a:solidFill>
                <a:latin typeface="Calibri"/>
              </a:rPr>
              <a:t>Who joined when?</a:t>
            </a:r>
          </a:p>
        </p:txBody>
      </p:sp>
      <p:sp>
        <p:nvSpPr>
          <p:cNvPr id="25" name="Oval 24"/>
          <p:cNvSpPr/>
          <p:nvPr/>
        </p:nvSpPr>
        <p:spPr>
          <a:xfrm>
            <a:off x="174193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1851660" y="6437376"/>
            <a:ext cx="1148429" cy="152146"/>
          </a:xfrm>
          <a:prstGeom prst="rect">
            <a:avLst/>
          </a:prstGeom>
          <a:noFill/>
        </p:spPr>
        <p:txBody>
          <a:bodyPr wrap="square" anchor="t" lIns="0" rIns="0" tIns="0" bIns="0">
            <a:spAutoFit/>
          </a:bodyPr>
          <a:lstStyle/>
          <a:p>
            <a:pPr algn="l"/>
            <a:r>
              <a:rPr sz="700" b="1" i="0">
                <a:solidFill>
                  <a:srgbClr val="5B3FD6"/>
                </a:solidFill>
                <a:latin typeface="Calibri"/>
              </a:rPr>
              <a:t>Where is the floor?</a:t>
            </a:r>
          </a:p>
        </p:txBody>
      </p:sp>
      <p:sp>
        <p:nvSpPr>
          <p:cNvPr id="27" name="Oval 26"/>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320125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a blend made of?</a:t>
            </a:r>
          </a:p>
        </p:txBody>
      </p:sp>
      <p:sp>
        <p:nvSpPr>
          <p:cNvPr id="29" name="Oval 28"/>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478088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step owns a loss?</a:t>
            </a:r>
          </a:p>
        </p:txBody>
      </p:sp>
      <p:sp>
        <p:nvSpPr>
          <p:cNvPr id="31" name="Oval 30"/>
          <p:cNvSpPr/>
          <p:nvPr/>
        </p:nvSpPr>
        <p:spPr>
          <a:xfrm>
            <a:off x="62047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314503"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Who entered when?</a:t>
            </a:r>
          </a:p>
        </p:txBody>
      </p:sp>
      <p:sp>
        <p:nvSpPr>
          <p:cNvPr id="33" name="Oval 32"/>
          <p:cNvSpPr/>
          <p:nvPr/>
        </p:nvSpPr>
        <p:spPr>
          <a:xfrm>
            <a:off x="74623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7572089"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the 38 made of?</a:t>
            </a:r>
          </a:p>
        </p:txBody>
      </p:sp>
      <p:sp>
        <p:nvSpPr>
          <p:cNvPr id="35" name="Oval 34"/>
          <p:cNvSpPr/>
          <p:nvPr/>
        </p:nvSpPr>
        <p:spPr>
          <a:xfrm>
            <a:off x="899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910570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stage owns the loss?</a:t>
            </a:r>
          </a:p>
        </p:txBody>
      </p:sp>
      <p:sp>
        <p:nvSpPr>
          <p:cNvPr id="37" name="TextBox 3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S18  ·  20 / 73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COHORT AND FUNNEL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floor feeds the blend and the case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Where does this topic come from, and which chapters use it next?</a:t>
            </a:r>
          </a:p>
        </p:txBody>
      </p:sp>
      <p:pic>
        <p:nvPicPr>
          <p:cNvPr id="9" name="mermaid diagram" descr="e1189673e71a8c74.png"/>
          <p:cNvPicPr>
            <a:picLocks noChangeAspect="1"/>
          </p:cNvPicPr>
          <p:nvPr/>
        </p:nvPicPr>
        <p:blipFill>
          <a:blip r:embed="rId5"/>
          <a:stretch>
            <a:fillRect/>
          </a:stretch>
        </p:blipFill>
        <p:spPr>
          <a:xfrm>
            <a:off x="3690173" y="1664208"/>
            <a:ext cx="4811348" cy="3808984"/>
          </a:xfrm>
          <a:prstGeom prst="rect">
            <a:avLst/>
          </a:prstGeom>
        </p:spPr>
      </p:pic>
      <p:sp>
        <p:nvSpPr>
          <p:cNvPr id="10" name="TextBox 9"/>
          <p:cNvSpPr txBox="1"/>
          <p:nvPr/>
        </p:nvSpPr>
        <p:spPr>
          <a:xfrm>
            <a:off x="530352" y="5518912"/>
            <a:ext cx="11130991" cy="680720"/>
          </a:xfrm>
          <a:prstGeom prst="rect">
            <a:avLst/>
          </a:prstGeom>
          <a:noFill/>
        </p:spPr>
        <p:txBody>
          <a:bodyPr wrap="square" anchor="t" lIns="0" rIns="0" tIns="0" bIns="0">
            <a:spAutoFit/>
          </a:bodyPr>
          <a:lstStyle/>
          <a:p>
            <a:r>
              <a:rPr sz="1600" b="0" i="0">
                <a:solidFill>
                  <a:srgbClr val="1A1440"/>
                </a:solidFill>
                <a:latin typeface="Calibri"/>
              </a:rPr>
              <a:t>Rank at the same age, read the floor only once two ages agree within a point (our rule), and leave a young cohort's floor open.</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010412" cy="152146"/>
          </a:xfrm>
          <a:prstGeom prst="rect">
            <a:avLst/>
          </a:prstGeom>
          <a:noFill/>
        </p:spPr>
        <p:txBody>
          <a:bodyPr wrap="square" anchor="t" lIns="0" rIns="0" tIns="0" bIns="0">
            <a:spAutoFit/>
          </a:bodyPr>
          <a:lstStyle/>
          <a:p>
            <a:pPr algn="l"/>
            <a:r>
              <a:rPr sz="700" b="0" i="0">
                <a:solidFill>
                  <a:srgbClr val="6B6690"/>
                </a:solidFill>
                <a:latin typeface="Calibri"/>
              </a:rPr>
              <a:t>Who joined when?</a:t>
            </a:r>
          </a:p>
        </p:txBody>
      </p:sp>
      <p:sp>
        <p:nvSpPr>
          <p:cNvPr id="13" name="Oval 12"/>
          <p:cNvSpPr/>
          <p:nvPr/>
        </p:nvSpPr>
        <p:spPr>
          <a:xfrm>
            <a:off x="174193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851660" y="6437376"/>
            <a:ext cx="1148429" cy="152146"/>
          </a:xfrm>
          <a:prstGeom prst="rect">
            <a:avLst/>
          </a:prstGeom>
          <a:noFill/>
        </p:spPr>
        <p:txBody>
          <a:bodyPr wrap="square" anchor="t" lIns="0" rIns="0" tIns="0" bIns="0">
            <a:spAutoFit/>
          </a:bodyPr>
          <a:lstStyle/>
          <a:p>
            <a:pPr algn="l"/>
            <a:r>
              <a:rPr sz="700" b="1" i="0">
                <a:solidFill>
                  <a:srgbClr val="5B3FD6"/>
                </a:solidFill>
                <a:latin typeface="Calibri"/>
              </a:rPr>
              <a:t>Where is the floor?</a:t>
            </a:r>
          </a:p>
        </p:txBody>
      </p:sp>
      <p:sp>
        <p:nvSpPr>
          <p:cNvPr id="15" name="Oval 14"/>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20125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a blend made of?</a:t>
            </a:r>
          </a:p>
        </p:txBody>
      </p:sp>
      <p:sp>
        <p:nvSpPr>
          <p:cNvPr id="17" name="Oval 16"/>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78088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step owns a loss?</a:t>
            </a:r>
          </a:p>
        </p:txBody>
      </p:sp>
      <p:sp>
        <p:nvSpPr>
          <p:cNvPr id="19" name="Oval 18"/>
          <p:cNvSpPr/>
          <p:nvPr/>
        </p:nvSpPr>
        <p:spPr>
          <a:xfrm>
            <a:off x="62047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314503"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Who entered when?</a:t>
            </a:r>
          </a:p>
        </p:txBody>
      </p:sp>
      <p:sp>
        <p:nvSpPr>
          <p:cNvPr id="21" name="Oval 20"/>
          <p:cNvSpPr/>
          <p:nvPr/>
        </p:nvSpPr>
        <p:spPr>
          <a:xfrm>
            <a:off x="74623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572089"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the 38 made of?</a:t>
            </a:r>
          </a:p>
        </p:txBody>
      </p:sp>
      <p:sp>
        <p:nvSpPr>
          <p:cNvPr id="23" name="Oval 22"/>
          <p:cNvSpPr/>
          <p:nvPr/>
        </p:nvSpPr>
        <p:spPr>
          <a:xfrm>
            <a:off x="899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10570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stage owns the loss?</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S19  ·  21 / 73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03</a:t>
            </a:r>
          </a:p>
        </p:txBody>
      </p:sp>
      <p:sp>
        <p:nvSpPr>
          <p:cNvPr id="8" name="TextBox 7"/>
          <p:cNvSpPr txBox="1"/>
          <p:nvPr/>
        </p:nvSpPr>
        <p:spPr>
          <a:xfrm>
            <a:off x="731519" y="2542032"/>
            <a:ext cx="10673791" cy="366776"/>
          </a:xfrm>
          <a:prstGeom prst="rect">
            <a:avLst/>
          </a:prstGeom>
          <a:noFill/>
        </p:spPr>
        <p:txBody>
          <a:bodyPr wrap="square" anchor="t" lIns="0" rIns="0" tIns="0" bIns="0">
            <a:spAutoFit/>
          </a:bodyPr>
          <a:lstStyle/>
          <a:p>
            <a:pPr algn="l"/>
            <a:r>
              <a:rPr sz="2000" b="1" i="0">
                <a:solidFill>
                  <a:srgbClr val="D9A7FF"/>
                </a:solidFill>
                <a:latin typeface="Calibri"/>
              </a:rPr>
              <a:t>Blended numbers against cohort truth</a:t>
            </a:r>
          </a:p>
        </p:txBody>
      </p:sp>
      <p:sp>
        <p:nvSpPr>
          <p:cNvPr id="9" name="TextBox 8"/>
          <p:cNvSpPr txBox="1"/>
          <p:nvPr/>
        </p:nvSpPr>
        <p:spPr>
          <a:xfrm>
            <a:off x="731519" y="3017520"/>
            <a:ext cx="10673791" cy="731520"/>
          </a:xfrm>
          <a:prstGeom prst="rect">
            <a:avLst/>
          </a:prstGeom>
          <a:noFill/>
        </p:spPr>
        <p:txBody>
          <a:bodyPr wrap="square" anchor="t" lIns="0" rIns="0" tIns="0" bIns="0">
            <a:spAutoFit/>
          </a:bodyPr>
          <a:lstStyle/>
          <a:p>
            <a:pPr algn="l"/>
            <a:r>
              <a:rPr sz="4000" b="0" i="0">
                <a:solidFill>
                  <a:srgbClr val="FFFFFF"/>
                </a:solidFill>
                <a:latin typeface="Georgia"/>
              </a:rPr>
              <a:t>What is a blend made of?</a:t>
            </a:r>
          </a:p>
        </p:txBody>
      </p:sp>
      <p:sp>
        <p:nvSpPr>
          <p:cNvPr id="10" name="TextBox 9"/>
          <p:cNvSpPr txBox="1"/>
          <p:nvPr/>
        </p:nvSpPr>
        <p:spPr>
          <a:xfrm>
            <a:off x="731519" y="3931920"/>
            <a:ext cx="9509760" cy="531876"/>
          </a:xfrm>
          <a:prstGeom prst="rect">
            <a:avLst/>
          </a:prstGeom>
          <a:noFill/>
        </p:spPr>
        <p:txBody>
          <a:bodyPr wrap="square" anchor="t" lIns="0" rIns="0" tIns="0" bIns="0">
            <a:spAutoFit/>
          </a:bodyPr>
          <a:lstStyle/>
          <a:p>
            <a:pPr algn="l"/>
            <a:r>
              <a:rPr sz="1500" b="0" i="0">
                <a:solidFill>
                  <a:srgbClr val="E4E1F1"/>
                </a:solidFill>
                <a:latin typeface="Calibri"/>
              </a:rPr>
              <a:t>Rebuild one number over all members as an average weighted by cohort size, and see how a large new cohort holds it flat while the older members fall, on the whole gym's dashboard.</a:t>
            </a:r>
          </a:p>
        </p:txBody>
      </p:sp>
      <p:sp>
        <p:nvSpPr>
          <p:cNvPr id="11" name="Rounded Rectangle 10"/>
          <p:cNvSpPr/>
          <p:nvPr/>
        </p:nvSpPr>
        <p:spPr>
          <a:xfrm>
            <a:off x="731519" y="5074920"/>
            <a:ext cx="118264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Who joined when?</a:t>
            </a:r>
          </a:p>
        </p:txBody>
      </p:sp>
      <p:sp>
        <p:nvSpPr>
          <p:cNvPr id="12" name="Rounded Rectangle 11"/>
          <p:cNvSpPr/>
          <p:nvPr/>
        </p:nvSpPr>
        <p:spPr>
          <a:xfrm>
            <a:off x="2023889" y="5074920"/>
            <a:ext cx="134262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Where is the floor?</a:t>
            </a:r>
          </a:p>
        </p:txBody>
      </p:sp>
      <p:sp>
        <p:nvSpPr>
          <p:cNvPr id="13" name="Rounded Rectangle 12"/>
          <p:cNvSpPr/>
          <p:nvPr/>
        </p:nvSpPr>
        <p:spPr>
          <a:xfrm>
            <a:off x="3476243" y="5074920"/>
            <a:ext cx="1609266"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What is a blend made of?</a:t>
            </a:r>
          </a:p>
        </p:txBody>
      </p:sp>
      <p:sp>
        <p:nvSpPr>
          <p:cNvPr id="14" name="Rounded Rectangle 13"/>
          <p:cNvSpPr/>
          <p:nvPr/>
        </p:nvSpPr>
        <p:spPr>
          <a:xfrm>
            <a:off x="5195238" y="5074920"/>
            <a:ext cx="1555938"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step owns a loss?</a:t>
            </a:r>
          </a:p>
        </p:txBody>
      </p:sp>
      <p:sp>
        <p:nvSpPr>
          <p:cNvPr id="15" name="Rounded Rectangle 14"/>
          <p:cNvSpPr/>
          <p:nvPr/>
        </p:nvSpPr>
        <p:spPr>
          <a:xfrm>
            <a:off x="6860904" y="5074920"/>
            <a:ext cx="123596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Who entered when?</a:t>
            </a:r>
          </a:p>
        </p:txBody>
      </p:sp>
      <p:sp>
        <p:nvSpPr>
          <p:cNvPr id="16" name="Rounded Rectangle 15"/>
          <p:cNvSpPr/>
          <p:nvPr/>
        </p:nvSpPr>
        <p:spPr>
          <a:xfrm>
            <a:off x="8206602" y="5074920"/>
            <a:ext cx="1555938"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is the 38 made of?</a:t>
            </a:r>
          </a:p>
        </p:txBody>
      </p:sp>
      <p:sp>
        <p:nvSpPr>
          <p:cNvPr id="17" name="Rounded Rectangle 16"/>
          <p:cNvSpPr/>
          <p:nvPr/>
        </p:nvSpPr>
        <p:spPr>
          <a:xfrm>
            <a:off x="9872268" y="5074920"/>
            <a:ext cx="1715922"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stage owns the loss?</a:t>
            </a:r>
          </a:p>
        </p:txBody>
      </p:sp>
      <p:sp>
        <p:nvSpPr>
          <p:cNvPr id="18" name="TextBox 17"/>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4, Day 4. Cohort and funnel: who is leaving, and at which step?</a:t>
            </a:r>
          </a:p>
        </p:txBody>
      </p:sp>
      <p:sp>
        <p:nvSpPr>
          <p:cNvPr id="19" name="TextBox 1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22 / 73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COHORT AND FUNNEL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Blended numbers: four questions, one dashboard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the answer, and which smaller questions lead to it?</a:t>
            </a:r>
          </a:p>
        </p:txBody>
      </p:sp>
      <p:sp>
        <p:nvSpPr>
          <p:cNvPr id="9" name="Rounded Rectangle 8"/>
          <p:cNvSpPr/>
          <p:nvPr/>
        </p:nvSpPr>
        <p:spPr>
          <a:xfrm>
            <a:off x="530352" y="195681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6248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The gym's owner, who reads one dashboard number each month, the share of members who visited; a flat number read as "nothing changed" leaves a falling cohort with no action.</a:t>
            </a:r>
          </a:p>
        </p:txBody>
      </p:sp>
      <p:sp>
        <p:nvSpPr>
          <p:cNvPr id="12" name="Rounded Rectangle 11"/>
          <p:cNvSpPr/>
          <p:nvPr/>
        </p:nvSpPr>
        <p:spPr>
          <a:xfrm>
            <a:off x="530352" y="2929128"/>
            <a:ext cx="11130991" cy="5410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676656" y="3057144"/>
            <a:ext cx="45720" cy="2849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77824" y="3048000"/>
            <a:ext cx="10564063" cy="358140"/>
          </a:xfrm>
          <a:prstGeom prst="rect">
            <a:avLst/>
          </a:prstGeom>
          <a:noFill/>
        </p:spPr>
        <p:txBody>
          <a:bodyPr wrap="square" anchor="ctr" lIns="0" rIns="0" tIns="0" bIns="0">
            <a:spAutoFit/>
          </a:bodyPr>
          <a:lstStyle/>
          <a:p>
            <a:r>
              <a:rPr sz="1500" b="1">
                <a:solidFill>
                  <a:srgbClr val="5B3FD6"/>
                </a:solidFill>
                <a:latin typeface="Calibri"/>
              </a:rPr>
              <a:t>The questions on the way. </a:t>
            </a:r>
            <a:r>
              <a:rPr sz="1500" b="0" i="0">
                <a:solidFill>
                  <a:srgbClr val="1A1440"/>
                </a:solidFill>
                <a:latin typeface="Calibri"/>
              </a:rPr>
              <a:t>Four, from the dashboard's one number down to the cohorts under it.</a:t>
            </a:r>
          </a:p>
        </p:txBody>
      </p:sp>
      <p:sp>
        <p:nvSpPr>
          <p:cNvPr id="15" name="Rectangle 14"/>
          <p:cNvSpPr/>
          <p:nvPr/>
        </p:nvSpPr>
        <p:spPr>
          <a:xfrm>
            <a:off x="1853145" y="4201668"/>
            <a:ext cx="8485403"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30352" y="3634740"/>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1</a:t>
            </a:r>
          </a:p>
        </p:txBody>
      </p:sp>
      <p:sp>
        <p:nvSpPr>
          <p:cNvPr id="17" name="Oval 16"/>
          <p:cNvSpPr/>
          <p:nvPr/>
        </p:nvSpPr>
        <p:spPr>
          <a:xfrm>
            <a:off x="1752561" y="4110228"/>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530352" y="4521708"/>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94944" y="4668012"/>
            <a:ext cx="2316403" cy="465836"/>
          </a:xfrm>
          <a:prstGeom prst="rect">
            <a:avLst/>
          </a:prstGeom>
          <a:noFill/>
        </p:spPr>
        <p:txBody>
          <a:bodyPr wrap="square" anchor="t" lIns="0" rIns="0" tIns="0" bIns="0">
            <a:spAutoFit/>
          </a:bodyPr>
          <a:lstStyle/>
          <a:p>
            <a:pPr algn="l"/>
            <a:r>
              <a:rPr sz="1300" b="1" i="0">
                <a:solidFill>
                  <a:srgbClr val="1A0F5C"/>
                </a:solidFill>
                <a:latin typeface="Calibri"/>
              </a:rPr>
              <a:t>What does February's dashboard read?</a:t>
            </a:r>
          </a:p>
        </p:txBody>
      </p:sp>
      <p:sp>
        <p:nvSpPr>
          <p:cNvPr id="20" name="TextBox 19"/>
          <p:cNvSpPr txBox="1"/>
          <p:nvPr/>
        </p:nvSpPr>
        <p:spPr>
          <a:xfrm>
            <a:off x="694944" y="5170424"/>
            <a:ext cx="2316403" cy="366776"/>
          </a:xfrm>
          <a:prstGeom prst="rect">
            <a:avLst/>
          </a:prstGeom>
          <a:noFill/>
        </p:spPr>
        <p:txBody>
          <a:bodyPr wrap="square" anchor="t" lIns="0" rIns="0" tIns="0" bIns="0">
            <a:spAutoFit/>
          </a:bodyPr>
          <a:lstStyle/>
          <a:p>
            <a:pPr algn="l"/>
            <a:r>
              <a:rPr sz="1000" b="0" i="0">
                <a:solidFill>
                  <a:srgbClr val="6B6690"/>
                </a:solidFill>
                <a:latin typeface="Calibri"/>
              </a:rPr>
              <a:t>100 older members and 400 January joiners</a:t>
            </a:r>
          </a:p>
        </p:txBody>
      </p:sp>
      <p:sp>
        <p:nvSpPr>
          <p:cNvPr id="21" name="TextBox 20"/>
          <p:cNvSpPr txBox="1"/>
          <p:nvPr/>
        </p:nvSpPr>
        <p:spPr>
          <a:xfrm>
            <a:off x="3358819" y="3634740"/>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2</a:t>
            </a:r>
          </a:p>
        </p:txBody>
      </p:sp>
      <p:sp>
        <p:nvSpPr>
          <p:cNvPr id="22" name="Oval 21"/>
          <p:cNvSpPr/>
          <p:nvPr/>
        </p:nvSpPr>
        <p:spPr>
          <a:xfrm>
            <a:off x="4581029" y="4110228"/>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3358819" y="4521708"/>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3523411" y="4668012"/>
            <a:ext cx="2316403" cy="465836"/>
          </a:xfrm>
          <a:prstGeom prst="rect">
            <a:avLst/>
          </a:prstGeom>
          <a:noFill/>
        </p:spPr>
        <p:txBody>
          <a:bodyPr wrap="square" anchor="t" lIns="0" rIns="0" tIns="0" bIns="0">
            <a:spAutoFit/>
          </a:bodyPr>
          <a:lstStyle/>
          <a:p>
            <a:pPr algn="l"/>
            <a:r>
              <a:rPr sz="1300" b="1" i="0">
                <a:solidFill>
                  <a:srgbClr val="1A0F5C"/>
                </a:solidFill>
                <a:latin typeface="Calibri"/>
              </a:rPr>
              <a:t>What are the cohorts doing under it?</a:t>
            </a:r>
          </a:p>
        </p:txBody>
      </p:sp>
      <p:sp>
        <p:nvSpPr>
          <p:cNvPr id="25" name="TextBox 24"/>
          <p:cNvSpPr txBox="1"/>
          <p:nvPr/>
        </p:nvSpPr>
        <p:spPr>
          <a:xfrm>
            <a:off x="3523411" y="5170424"/>
            <a:ext cx="2316403" cy="201676"/>
          </a:xfrm>
          <a:prstGeom prst="rect">
            <a:avLst/>
          </a:prstGeom>
          <a:noFill/>
        </p:spPr>
        <p:txBody>
          <a:bodyPr wrap="square" anchor="t" lIns="0" rIns="0" tIns="0" bIns="0">
            <a:spAutoFit/>
          </a:bodyPr>
          <a:lstStyle/>
          <a:p>
            <a:pPr algn="l"/>
            <a:r>
              <a:rPr sz="1000" b="0" i="0">
                <a:solidFill>
                  <a:srgbClr val="6B6690"/>
                </a:solidFill>
                <a:latin typeface="Calibri"/>
              </a:rPr>
              <a:t>Each cohort's own rate</a:t>
            </a:r>
          </a:p>
        </p:txBody>
      </p:sp>
      <p:sp>
        <p:nvSpPr>
          <p:cNvPr id="26" name="TextBox 25"/>
          <p:cNvSpPr txBox="1"/>
          <p:nvPr/>
        </p:nvSpPr>
        <p:spPr>
          <a:xfrm>
            <a:off x="6187287" y="3634740"/>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3</a:t>
            </a:r>
          </a:p>
        </p:txBody>
      </p:sp>
      <p:sp>
        <p:nvSpPr>
          <p:cNvPr id="27" name="Oval 26"/>
          <p:cNvSpPr/>
          <p:nvPr/>
        </p:nvSpPr>
        <p:spPr>
          <a:xfrm>
            <a:off x="7409497" y="4110228"/>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6187287" y="4521708"/>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351879" y="4668012"/>
            <a:ext cx="2316403" cy="465836"/>
          </a:xfrm>
          <a:prstGeom prst="rect">
            <a:avLst/>
          </a:prstGeom>
          <a:noFill/>
        </p:spPr>
        <p:txBody>
          <a:bodyPr wrap="square" anchor="t" lIns="0" rIns="0" tIns="0" bIns="0">
            <a:spAutoFit/>
          </a:bodyPr>
          <a:lstStyle/>
          <a:p>
            <a:pPr algn="l"/>
            <a:r>
              <a:rPr sz="1300" b="1" i="0">
                <a:solidFill>
                  <a:srgbClr val="1A0F5C"/>
                </a:solidFill>
                <a:latin typeface="Calibri"/>
              </a:rPr>
              <a:t>What is the dashboard's number made of?</a:t>
            </a:r>
          </a:p>
        </p:txBody>
      </p:sp>
      <p:sp>
        <p:nvSpPr>
          <p:cNvPr id="30" name="TextBox 29"/>
          <p:cNvSpPr txBox="1"/>
          <p:nvPr/>
        </p:nvSpPr>
        <p:spPr>
          <a:xfrm>
            <a:off x="6351879" y="5170424"/>
            <a:ext cx="2316403" cy="201676"/>
          </a:xfrm>
          <a:prstGeom prst="rect">
            <a:avLst/>
          </a:prstGeom>
          <a:noFill/>
        </p:spPr>
        <p:txBody>
          <a:bodyPr wrap="square" anchor="t" lIns="0" rIns="0" tIns="0" bIns="0">
            <a:spAutoFit/>
          </a:bodyPr>
          <a:lstStyle/>
          <a:p>
            <a:pPr algn="l"/>
            <a:r>
              <a:rPr sz="1000" b="0" i="0">
                <a:solidFill>
                  <a:srgbClr val="6B6690"/>
                </a:solidFill>
                <a:latin typeface="Calibri"/>
              </a:rPr>
              <a:t>An average weighted by size</a:t>
            </a:r>
          </a:p>
        </p:txBody>
      </p:sp>
      <p:sp>
        <p:nvSpPr>
          <p:cNvPr id="31" name="TextBox 30"/>
          <p:cNvSpPr txBox="1"/>
          <p:nvPr/>
        </p:nvSpPr>
        <p:spPr>
          <a:xfrm>
            <a:off x="9015755" y="3634740"/>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4</a:t>
            </a:r>
          </a:p>
        </p:txBody>
      </p:sp>
      <p:sp>
        <p:nvSpPr>
          <p:cNvPr id="32" name="Oval 31"/>
          <p:cNvSpPr/>
          <p:nvPr/>
        </p:nvSpPr>
        <p:spPr>
          <a:xfrm>
            <a:off x="10237965" y="4110228"/>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ounded Rectangle 32"/>
          <p:cNvSpPr/>
          <p:nvPr/>
        </p:nvSpPr>
        <p:spPr>
          <a:xfrm>
            <a:off x="9015755" y="4521708"/>
            <a:ext cx="2645587" cy="107696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9180347" y="4668012"/>
            <a:ext cx="2316403" cy="465836"/>
          </a:xfrm>
          <a:prstGeom prst="rect">
            <a:avLst/>
          </a:prstGeom>
          <a:noFill/>
        </p:spPr>
        <p:txBody>
          <a:bodyPr wrap="square" anchor="t" lIns="0" rIns="0" tIns="0" bIns="0">
            <a:spAutoFit/>
          </a:bodyPr>
          <a:lstStyle/>
          <a:p>
            <a:pPr algn="l"/>
            <a:r>
              <a:rPr sz="1300" b="1" i="0">
                <a:solidFill>
                  <a:srgbClr val="FFFFFF"/>
                </a:solidFill>
                <a:latin typeface="Calibri"/>
              </a:rPr>
              <a:t>Which quick average is wrong?</a:t>
            </a:r>
          </a:p>
        </p:txBody>
      </p:sp>
      <p:sp>
        <p:nvSpPr>
          <p:cNvPr id="35" name="TextBox 34"/>
          <p:cNvSpPr txBox="1"/>
          <p:nvPr/>
        </p:nvSpPr>
        <p:spPr>
          <a:xfrm>
            <a:off x="9180347" y="5170424"/>
            <a:ext cx="2316403" cy="201676"/>
          </a:xfrm>
          <a:prstGeom prst="rect">
            <a:avLst/>
          </a:prstGeom>
          <a:noFill/>
        </p:spPr>
        <p:txBody>
          <a:bodyPr wrap="square" anchor="t" lIns="0" rIns="0" tIns="0" bIns="0">
            <a:spAutoFit/>
          </a:bodyPr>
          <a:lstStyle/>
          <a:p>
            <a:pPr algn="l"/>
            <a:r>
              <a:rPr sz="1000" b="0" i="0">
                <a:solidFill>
                  <a:srgbClr val="CFC9EE"/>
                </a:solidFill>
                <a:latin typeface="Calibri"/>
              </a:rPr>
              <a:t>The plain mean of the rates</a:t>
            </a:r>
          </a:p>
        </p:txBody>
      </p:sp>
      <p:sp>
        <p:nvSpPr>
          <p:cNvPr id="36" name="Oval 35"/>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40080" y="6437376"/>
            <a:ext cx="1010412" cy="152146"/>
          </a:xfrm>
          <a:prstGeom prst="rect">
            <a:avLst/>
          </a:prstGeom>
          <a:noFill/>
        </p:spPr>
        <p:txBody>
          <a:bodyPr wrap="square" anchor="t" lIns="0" rIns="0" tIns="0" bIns="0">
            <a:spAutoFit/>
          </a:bodyPr>
          <a:lstStyle/>
          <a:p>
            <a:pPr algn="l"/>
            <a:r>
              <a:rPr sz="700" b="0" i="0">
                <a:solidFill>
                  <a:srgbClr val="6B6690"/>
                </a:solidFill>
                <a:latin typeface="Calibri"/>
              </a:rPr>
              <a:t>Who joined when?</a:t>
            </a:r>
          </a:p>
        </p:txBody>
      </p:sp>
      <p:sp>
        <p:nvSpPr>
          <p:cNvPr id="38" name="Oval 37"/>
          <p:cNvSpPr/>
          <p:nvPr/>
        </p:nvSpPr>
        <p:spPr>
          <a:xfrm>
            <a:off x="174193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185166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Where is the floor?</a:t>
            </a:r>
          </a:p>
        </p:txBody>
      </p:sp>
      <p:sp>
        <p:nvSpPr>
          <p:cNvPr id="40" name="Oval 39"/>
          <p:cNvSpPr/>
          <p:nvPr/>
        </p:nvSpPr>
        <p:spPr>
          <a:xfrm>
            <a:off x="309152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3201257"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is a blend made of?</a:t>
            </a:r>
          </a:p>
        </p:txBody>
      </p:sp>
      <p:sp>
        <p:nvSpPr>
          <p:cNvPr id="42" name="Oval 41"/>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478088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step owns a loss?</a:t>
            </a:r>
          </a:p>
        </p:txBody>
      </p:sp>
      <p:sp>
        <p:nvSpPr>
          <p:cNvPr id="44" name="Oval 43"/>
          <p:cNvSpPr/>
          <p:nvPr/>
        </p:nvSpPr>
        <p:spPr>
          <a:xfrm>
            <a:off x="62047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6314503"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Who entered when?</a:t>
            </a:r>
          </a:p>
        </p:txBody>
      </p:sp>
      <p:sp>
        <p:nvSpPr>
          <p:cNvPr id="46" name="Oval 45"/>
          <p:cNvSpPr/>
          <p:nvPr/>
        </p:nvSpPr>
        <p:spPr>
          <a:xfrm>
            <a:off x="74623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7572089"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the 38 made of?</a:t>
            </a:r>
          </a:p>
        </p:txBody>
      </p:sp>
      <p:sp>
        <p:nvSpPr>
          <p:cNvPr id="48" name="Oval 47"/>
          <p:cNvSpPr/>
          <p:nvPr/>
        </p:nvSpPr>
        <p:spPr>
          <a:xfrm>
            <a:off x="899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910570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stage owns the loss?</a:t>
            </a:r>
          </a:p>
        </p:txBody>
      </p:sp>
      <p:sp>
        <p:nvSpPr>
          <p:cNvPr id="50" name="TextBox 4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S20  ·  23 / 73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COHORT AND FUNNEL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Predict: what does February's dashboard read?</a:t>
            </a:r>
          </a:p>
        </p:txBody>
      </p:sp>
      <p:sp>
        <p:nvSpPr>
          <p:cNvPr id="8" name="TextBox 7"/>
          <p:cNvSpPr txBox="1"/>
          <p:nvPr/>
        </p:nvSpPr>
        <p:spPr>
          <a:xfrm>
            <a:off x="530352" y="1243584"/>
            <a:ext cx="11130991" cy="399796"/>
          </a:xfrm>
          <a:prstGeom prst="rect">
            <a:avLst/>
          </a:prstGeom>
          <a:noFill/>
        </p:spPr>
        <p:txBody>
          <a:bodyPr wrap="square" anchor="t" lIns="0" rIns="0" tIns="0" bIns="0">
            <a:spAutoFit/>
          </a:bodyPr>
          <a:lstStyle/>
          <a:p>
            <a:pPr algn="l"/>
            <a:r>
              <a:rPr sz="1100" b="0" i="0">
                <a:solidFill>
                  <a:srgbClr val="6B6690"/>
                </a:solidFill>
                <a:latin typeface="Calibri"/>
              </a:rPr>
              <a:t>The dashboard counts a member from the month after she joins. January read 50 of 100 older members, 50 percent. In February the older members fall to 40 of 100, and the 400 January joiners, in their month one, visit at 52.5 percent. What does February read?</a:t>
            </a:r>
          </a:p>
        </p:txBody>
      </p:sp>
      <p:graphicFrame>
        <p:nvGraphicFramePr>
          <p:cNvPr id="9" name="Table 8"/>
          <p:cNvGraphicFramePr>
            <a:graphicFrameLocks noGrp="1"/>
          </p:cNvGraphicFramePr>
          <p:nvPr/>
        </p:nvGraphicFramePr>
        <p:xfrm>
          <a:off x="530352" y="1956816"/>
          <a:ext cx="11130989" cy="1109472"/>
        </p:xfrm>
        <a:graphic>
          <a:graphicData uri="http://schemas.openxmlformats.org/drawingml/2006/table">
            <a:tbl>
              <a:tblPr firstRow="0" bandRow="0">
                <a:tableStyleId>{2D5ABB26-0587-4C30-8999-92F81FD0307C}</a:tableStyleId>
              </a:tblPr>
              <a:tblGrid>
                <a:gridCol w="4840171"/>
                <a:gridCol w="4624963"/>
                <a:gridCol w="1665855"/>
              </a:tblGrid>
              <a:tr h="369824">
                <a:tc>
                  <a:txBody>
                    <a:bodyPr/>
                    <a:lstStyle/>
                    <a:p>
                      <a:r>
                        <a:rPr sz="1450" b="1" i="0">
                          <a:solidFill>
                            <a:srgbClr val="FFFFFF"/>
                          </a:solidFill>
                          <a:latin typeface="Calibri"/>
                        </a:rPr>
                        <a:t>The gym's dashboard (invented)</a:t>
                      </a:r>
                    </a:p>
                  </a:txBody>
                  <a:tcPr marL="101600" marR="101600" marT="38100" marB="38100" anchor="ctr">
                    <a:solidFill>
                      <a:srgbClr val="1A0F5C"/>
                    </a:solidFill>
                  </a:tcPr>
                </a:tc>
                <a:tc>
                  <a:txBody>
                    <a:bodyPr/>
                    <a:lstStyle/>
                    <a:p>
                      <a:r>
                        <a:rPr sz="1450" b="1" i="0">
                          <a:solidFill>
                            <a:srgbClr val="FFFFFF"/>
                          </a:solidFill>
                          <a:latin typeface="Calibri"/>
                        </a:rPr>
                        <a:t>January</a:t>
                      </a:r>
                    </a:p>
                  </a:txBody>
                  <a:tcPr marL="101600" marR="101600" marT="38100" marB="38100" anchor="ctr">
                    <a:solidFill>
                      <a:srgbClr val="1A0F5C"/>
                    </a:solidFill>
                  </a:tcPr>
                </a:tc>
                <a:tc>
                  <a:txBody>
                    <a:bodyPr/>
                    <a:lstStyle/>
                    <a:p>
                      <a:r>
                        <a:rPr sz="1450" b="1" i="0">
                          <a:solidFill>
                            <a:srgbClr val="FFFFFF"/>
                          </a:solidFill>
                          <a:latin typeface="Calibri"/>
                        </a:rPr>
                        <a:t>February</a:t>
                      </a:r>
                    </a:p>
                  </a:txBody>
                  <a:tcPr marL="101600" marR="101600" marT="38100" marB="38100" anchor="ctr">
                    <a:solidFill>
                      <a:srgbClr val="1A0F5C"/>
                    </a:solidFill>
                  </a:tcPr>
                </a:tc>
              </a:tr>
              <a:tr h="369824">
                <a:tc>
                  <a:txBody>
                    <a:bodyPr/>
                    <a:lstStyle/>
                    <a:p>
                      <a:r>
                        <a:rPr sz="1400" b="0" i="0">
                          <a:solidFill>
                            <a:srgbClr val="1A1440"/>
                          </a:solidFill>
                          <a:latin typeface="Calibri"/>
                        </a:rPr>
                        <a:t>Older members, joined before 2026</a:t>
                      </a:r>
                    </a:p>
                  </a:txBody>
                  <a:tcPr marL="101600" marR="101600" marT="38100" marB="38100" anchor="ctr">
                    <a:solidFill>
                      <a:srgbClr val="FFFFFF"/>
                    </a:solidFill>
                  </a:tcPr>
                </a:tc>
                <a:tc>
                  <a:txBody>
                    <a:bodyPr/>
                    <a:lstStyle/>
                    <a:p>
                      <a:r>
                        <a:rPr sz="1400" b="0" i="0">
                          <a:solidFill>
                            <a:srgbClr val="1A1440"/>
                          </a:solidFill>
                          <a:latin typeface="Calibri"/>
                        </a:rPr>
                        <a:t>50 of 100</a:t>
                      </a:r>
                    </a:p>
                  </a:txBody>
                  <a:tcPr marL="101600" marR="101600" marT="38100" marB="38100" anchor="ctr">
                    <a:solidFill>
                      <a:srgbClr val="FFFFFF"/>
                    </a:solidFill>
                  </a:tcPr>
                </a:tc>
                <a:tc>
                  <a:txBody>
                    <a:bodyPr/>
                    <a:lstStyle/>
                    <a:p>
                      <a:r>
                        <a:rPr sz="1400" b="0" i="0">
                          <a:solidFill>
                            <a:srgbClr val="1A1440"/>
                          </a:solidFill>
                          <a:latin typeface="Calibri"/>
                        </a:rPr>
                        <a:t>40 of 100</a:t>
                      </a:r>
                    </a:p>
                  </a:txBody>
                  <a:tcPr marL="101600" marR="101600" marT="38100" marB="38100" anchor="ctr">
                    <a:solidFill>
                      <a:srgbClr val="FFFFFF"/>
                    </a:solidFill>
                  </a:tcPr>
                </a:tc>
              </a:tr>
              <a:tr h="369824">
                <a:tc>
                  <a:txBody>
                    <a:bodyPr/>
                    <a:lstStyle/>
                    <a:p>
                      <a:r>
                        <a:rPr sz="1400" b="0" i="0">
                          <a:solidFill>
                            <a:srgbClr val="1A1440"/>
                          </a:solidFill>
                          <a:latin typeface="Calibri"/>
                        </a:rPr>
                        <a:t>January joiners</a:t>
                      </a:r>
                    </a:p>
                  </a:txBody>
                  <a:tcPr marL="101600" marR="101600" marT="38100" marB="38100" anchor="ctr">
                    <a:solidFill>
                      <a:srgbClr val="F4F2FA"/>
                    </a:solidFill>
                  </a:tcPr>
                </a:tc>
                <a:tc>
                  <a:txBody>
                    <a:bodyPr/>
                    <a:lstStyle/>
                    <a:p>
                      <a:r>
                        <a:rPr sz="1400" b="0" i="0">
                          <a:solidFill>
                            <a:srgbClr val="1A1440"/>
                          </a:solidFill>
                          <a:latin typeface="Calibri"/>
                        </a:rPr>
                        <a:t>their joining month, not counted</a:t>
                      </a:r>
                    </a:p>
                  </a:txBody>
                  <a:tcPr marL="101600" marR="101600" marT="38100" marB="38100" anchor="ctr">
                    <a:solidFill>
                      <a:srgbClr val="F4F2FA"/>
                    </a:solidFill>
                  </a:tcPr>
                </a:tc>
                <a:tc>
                  <a:txBody>
                    <a:bodyPr/>
                    <a:lstStyle/>
                    <a:p>
                      <a:r>
                        <a:rPr sz="1400" b="0" i="0">
                          <a:solidFill>
                            <a:srgbClr val="1A1440"/>
                          </a:solidFill>
                          <a:latin typeface="Calibri"/>
                        </a:rPr>
                        <a:t>210 of 400</a:t>
                      </a:r>
                    </a:p>
                  </a:txBody>
                  <a:tcPr marL="101600" marR="101600" marT="38100" marB="38100" anchor="ctr">
                    <a:solidFill>
                      <a:srgbClr val="F4F2FA"/>
                    </a:solidFill>
                  </a:tcPr>
                </a:tc>
              </a:tr>
            </a:tbl>
          </a:graphicData>
        </a:graphic>
      </p:graphicFrame>
      <p:sp>
        <p:nvSpPr>
          <p:cNvPr id="10" name="TextBox 9"/>
          <p:cNvSpPr txBox="1"/>
          <p:nvPr/>
        </p:nvSpPr>
        <p:spPr>
          <a:xfrm>
            <a:off x="530352" y="3322320"/>
            <a:ext cx="11130991" cy="1654048"/>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It falls, because the older members fell</a:t>
            </a:r>
          </a:p>
          <a:p>
            <a:pPr>
              <a:spcAft>
                <a:spcPts val="800"/>
              </a:spcAft>
            </a:pPr>
            <a:r>
              <a:rPr sz="1600" b="0" i="0">
                <a:solidFill>
                  <a:srgbClr val="1A1440"/>
                </a:solidFill>
                <a:latin typeface="Calibri"/>
              </a:rPr>
              <a:t>b) It rises, because 400 members joined</a:t>
            </a:r>
          </a:p>
          <a:p>
            <a:pPr>
              <a:spcAft>
                <a:spcPts val="800"/>
              </a:spcAft>
            </a:pPr>
            <a:r>
              <a:rPr sz="1600" b="0" i="0">
                <a:solidFill>
                  <a:srgbClr val="1A1440"/>
                </a:solidFill>
                <a:latin typeface="Calibri"/>
              </a:rPr>
              <a:t>c) It holds at 50 percent</a:t>
            </a:r>
          </a:p>
          <a:p>
            <a:pPr>
              <a:spcAft>
                <a:spcPts val="800"/>
              </a:spcAft>
            </a:pPr>
            <a:r>
              <a:rPr sz="1600" b="0" i="0">
                <a:solidFill>
                  <a:srgbClr val="1A1440"/>
                </a:solidFill>
                <a:latin typeface="Calibri"/>
              </a:rPr>
              <a:t>d) It cannot be read without more months</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010412" cy="152146"/>
          </a:xfrm>
          <a:prstGeom prst="rect">
            <a:avLst/>
          </a:prstGeom>
          <a:noFill/>
        </p:spPr>
        <p:txBody>
          <a:bodyPr wrap="square" anchor="t" lIns="0" rIns="0" tIns="0" bIns="0">
            <a:spAutoFit/>
          </a:bodyPr>
          <a:lstStyle/>
          <a:p>
            <a:pPr algn="l"/>
            <a:r>
              <a:rPr sz="700" b="0" i="0">
                <a:solidFill>
                  <a:srgbClr val="6B6690"/>
                </a:solidFill>
                <a:latin typeface="Calibri"/>
              </a:rPr>
              <a:t>Who joined when?</a:t>
            </a:r>
          </a:p>
        </p:txBody>
      </p:sp>
      <p:sp>
        <p:nvSpPr>
          <p:cNvPr id="13" name="Oval 12"/>
          <p:cNvSpPr/>
          <p:nvPr/>
        </p:nvSpPr>
        <p:spPr>
          <a:xfrm>
            <a:off x="174193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85166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Where is the floor?</a:t>
            </a:r>
          </a:p>
        </p:txBody>
      </p:sp>
      <p:sp>
        <p:nvSpPr>
          <p:cNvPr id="15" name="Oval 14"/>
          <p:cNvSpPr/>
          <p:nvPr/>
        </p:nvSpPr>
        <p:spPr>
          <a:xfrm>
            <a:off x="309152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201257"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is a blend made of?</a:t>
            </a:r>
          </a:p>
        </p:txBody>
      </p:sp>
      <p:sp>
        <p:nvSpPr>
          <p:cNvPr id="17" name="Oval 16"/>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78088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step owns a loss?</a:t>
            </a:r>
          </a:p>
        </p:txBody>
      </p:sp>
      <p:sp>
        <p:nvSpPr>
          <p:cNvPr id="19" name="Oval 18"/>
          <p:cNvSpPr/>
          <p:nvPr/>
        </p:nvSpPr>
        <p:spPr>
          <a:xfrm>
            <a:off x="62047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314503"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Who entered when?</a:t>
            </a:r>
          </a:p>
        </p:txBody>
      </p:sp>
      <p:sp>
        <p:nvSpPr>
          <p:cNvPr id="21" name="Oval 20"/>
          <p:cNvSpPr/>
          <p:nvPr/>
        </p:nvSpPr>
        <p:spPr>
          <a:xfrm>
            <a:off x="74623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572089"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the 38 made of?</a:t>
            </a:r>
          </a:p>
        </p:txBody>
      </p:sp>
      <p:sp>
        <p:nvSpPr>
          <p:cNvPr id="23" name="Oval 22"/>
          <p:cNvSpPr/>
          <p:nvPr/>
        </p:nvSpPr>
        <p:spPr>
          <a:xfrm>
            <a:off x="899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10570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stage owns the loss?</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S21  ·  24 / 73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COHORT AND FUNNEL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250 of 500, 50 percent, unmoved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can the dashboard stand still while the older members fall ten points?</a:t>
            </a:r>
          </a:p>
        </p:txBody>
      </p:sp>
      <p:pic>
        <p:nvPicPr>
          <p:cNvPr id="9" name="mermaid diagram" descr="C2_W04_D04_gym_dashboard_STUDENT.png"/>
          <p:cNvPicPr>
            <a:picLocks noChangeAspect="1"/>
          </p:cNvPicPr>
          <p:nvPr/>
        </p:nvPicPr>
        <p:blipFill>
          <a:blip r:embed="rId4"/>
          <a:stretch>
            <a:fillRect/>
          </a:stretch>
        </p:blipFill>
        <p:spPr>
          <a:xfrm>
            <a:off x="2959144" y="1664208"/>
            <a:ext cx="6273405" cy="2939288"/>
          </a:xfrm>
          <a:prstGeom prst="rect">
            <a:avLst/>
          </a:prstGeom>
        </p:spPr>
      </p:pic>
      <p:sp>
        <p:nvSpPr>
          <p:cNvPr id="10" name="picture caption"/>
          <p:cNvSpPr txBox="1"/>
          <p:nvPr/>
        </p:nvSpPr>
        <p:spPr>
          <a:xfrm>
            <a:off x="530352" y="4640072"/>
            <a:ext cx="11130991" cy="316992"/>
          </a:xfrm>
          <a:prstGeom prst="rect">
            <a:avLst/>
          </a:prstGeom>
          <a:noFill/>
        </p:spPr>
        <p:txBody>
          <a:bodyPr wrap="square" anchor="t" lIns="0" rIns="0" tIns="0" bIns="0">
            <a:spAutoFit/>
          </a:bodyPr>
          <a:lstStyle/>
          <a:p>
            <a:pPr algn="ctr"/>
            <a:r>
              <a:rPr sz="1200" b="0" i="0">
                <a:solidFill>
                  <a:srgbClr val="6B6690"/>
                </a:solidFill>
                <a:latin typeface="Calibri"/>
              </a:rPr>
              <a:t>The gym's dashboard holds at 50 while the older members fall (invented)</a:t>
            </a:r>
          </a:p>
        </p:txBody>
      </p:sp>
      <p:sp>
        <p:nvSpPr>
          <p:cNvPr id="11" name="TextBox 10"/>
          <p:cNvSpPr txBox="1"/>
          <p:nvPr/>
        </p:nvSpPr>
        <p:spPr>
          <a:xfrm>
            <a:off x="530352" y="4966208"/>
            <a:ext cx="11130991" cy="1233424"/>
          </a:xfrm>
          <a:prstGeom prst="rect">
            <a:avLst/>
          </a:prstGeom>
          <a:noFill/>
        </p:spPr>
        <p:txBody>
          <a:bodyPr wrap="square" anchor="t" lIns="0" rIns="0" tIns="0" bIns="0">
            <a:spAutoFit/>
          </a:bodyPr>
          <a:lstStyle/>
          <a:p>
            <a:r>
              <a:rPr sz="1600" b="0" i="0">
                <a:solidFill>
                  <a:srgbClr val="1A1440"/>
                </a:solidFill>
                <a:latin typeface="Calibri"/>
              </a:rPr>
              <a:t>The answer is c. February counts 40 older members plus 210 January joiners who visited: 250 of 500, 50 percent, the same as January's 50 of 100. The older members fell ten points, from 50 to 40 percent, and the one number over everyone did not move, because 400 joiners at their high early rate now carry four votes in five.</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010412" cy="152146"/>
          </a:xfrm>
          <a:prstGeom prst="rect">
            <a:avLst/>
          </a:prstGeom>
          <a:noFill/>
        </p:spPr>
        <p:txBody>
          <a:bodyPr wrap="square" anchor="t" lIns="0" rIns="0" tIns="0" bIns="0">
            <a:spAutoFit/>
          </a:bodyPr>
          <a:lstStyle/>
          <a:p>
            <a:pPr algn="l"/>
            <a:r>
              <a:rPr sz="700" b="0" i="0">
                <a:solidFill>
                  <a:srgbClr val="6B6690"/>
                </a:solidFill>
                <a:latin typeface="Calibri"/>
              </a:rPr>
              <a:t>Who joined when?</a:t>
            </a:r>
          </a:p>
        </p:txBody>
      </p:sp>
      <p:sp>
        <p:nvSpPr>
          <p:cNvPr id="14" name="Oval 13"/>
          <p:cNvSpPr/>
          <p:nvPr/>
        </p:nvSpPr>
        <p:spPr>
          <a:xfrm>
            <a:off x="174193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85166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Where is the floor?</a:t>
            </a:r>
          </a:p>
        </p:txBody>
      </p:sp>
      <p:sp>
        <p:nvSpPr>
          <p:cNvPr id="16" name="Oval 15"/>
          <p:cNvSpPr/>
          <p:nvPr/>
        </p:nvSpPr>
        <p:spPr>
          <a:xfrm>
            <a:off x="309152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201257"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is a blend made of?</a:t>
            </a:r>
          </a:p>
        </p:txBody>
      </p:sp>
      <p:sp>
        <p:nvSpPr>
          <p:cNvPr id="18" name="Oval 17"/>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78088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step owns a loss?</a:t>
            </a:r>
          </a:p>
        </p:txBody>
      </p:sp>
      <p:sp>
        <p:nvSpPr>
          <p:cNvPr id="20" name="Oval 19"/>
          <p:cNvSpPr/>
          <p:nvPr/>
        </p:nvSpPr>
        <p:spPr>
          <a:xfrm>
            <a:off x="62047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314503"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Who entered when?</a:t>
            </a:r>
          </a:p>
        </p:txBody>
      </p:sp>
      <p:sp>
        <p:nvSpPr>
          <p:cNvPr id="22" name="Oval 21"/>
          <p:cNvSpPr/>
          <p:nvPr/>
        </p:nvSpPr>
        <p:spPr>
          <a:xfrm>
            <a:off x="74623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572089"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the 38 made of?</a:t>
            </a:r>
          </a:p>
        </p:txBody>
      </p:sp>
      <p:sp>
        <p:nvSpPr>
          <p:cNvPr id="24" name="Oval 23"/>
          <p:cNvSpPr/>
          <p:nvPr/>
        </p:nvSpPr>
        <p:spPr>
          <a:xfrm>
            <a:off x="899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10570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stage owns the loss?</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S22  ·  25 / 73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COHORT AND FUNNEL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blend is an average weighted by size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is February's 50 made of, cohort by cohort?</a:t>
            </a:r>
          </a:p>
        </p:txBody>
      </p:sp>
      <p:pic>
        <p:nvPicPr>
          <p:cNvPr id="9" name="mermaid diagram" descr="C2_W04_D04_gym_dashboard_stack_STUDENT.png"/>
          <p:cNvPicPr>
            <a:picLocks noChangeAspect="1"/>
          </p:cNvPicPr>
          <p:nvPr/>
        </p:nvPicPr>
        <p:blipFill>
          <a:blip r:embed="rId4"/>
          <a:stretch>
            <a:fillRect/>
          </a:stretch>
        </p:blipFill>
        <p:spPr>
          <a:xfrm>
            <a:off x="3192823" y="1664208"/>
            <a:ext cx="5806048" cy="2933700"/>
          </a:xfrm>
          <a:prstGeom prst="rect">
            <a:avLst/>
          </a:prstGeom>
        </p:spPr>
      </p:pic>
      <p:sp>
        <p:nvSpPr>
          <p:cNvPr id="10" name="picture caption"/>
          <p:cNvSpPr txBox="1"/>
          <p:nvPr/>
        </p:nvSpPr>
        <p:spPr>
          <a:xfrm>
            <a:off x="530352" y="4634484"/>
            <a:ext cx="11130991" cy="316992"/>
          </a:xfrm>
          <a:prstGeom prst="rect">
            <a:avLst/>
          </a:prstGeom>
          <a:noFill/>
        </p:spPr>
        <p:txBody>
          <a:bodyPr wrap="square" anchor="t" lIns="0" rIns="0" tIns="0" bIns="0">
            <a:spAutoFit/>
          </a:bodyPr>
          <a:lstStyle/>
          <a:p>
            <a:pPr algn="ctr"/>
            <a:r>
              <a:rPr sz="1200" b="0" i="0">
                <a:solidFill>
                  <a:srgbClr val="6B6690"/>
                </a:solidFill>
                <a:latin typeface="Calibri"/>
              </a:rPr>
              <a:t>January and February's counts, stacked by cohort (invented)</a:t>
            </a:r>
          </a:p>
        </p:txBody>
      </p:sp>
      <p:sp>
        <p:nvSpPr>
          <p:cNvPr id="11" name="Rounded Rectangle 10"/>
          <p:cNvSpPr/>
          <p:nvPr/>
        </p:nvSpPr>
        <p:spPr>
          <a:xfrm>
            <a:off x="530352" y="4960620"/>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676656" y="5088636"/>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77824" y="5079492"/>
            <a:ext cx="10564063" cy="891540"/>
          </a:xfrm>
          <a:prstGeom prst="rect">
            <a:avLst/>
          </a:prstGeom>
          <a:noFill/>
        </p:spPr>
        <p:txBody>
          <a:bodyPr wrap="square" anchor="ctr" lIns="0" rIns="0" tIns="0" bIns="0">
            <a:spAutoFit/>
          </a:bodyPr>
          <a:lstStyle/>
          <a:p>
            <a:r>
              <a:rPr sz="1500" b="1">
                <a:solidFill>
                  <a:srgbClr val="5B3FD6"/>
                </a:solidFill>
                <a:latin typeface="Calibri"/>
              </a:rPr>
              <a:t>Named last, the formula: </a:t>
            </a:r>
            <a:r>
              <a:rPr sz="1500" b="0" i="0">
                <a:solidFill>
                  <a:srgbClr val="1A1440"/>
                </a:solidFill>
                <a:latin typeface="Calibri"/>
              </a:rPr>
              <a:t>blend = sum of (cohort size × cohort rate) ÷ sum of cohort sizes = (100 × 0.40 + 400 × 0.525) ÷ 500 = (40 + 210) ÷ 500 = 50 percent. Rebuilt from its cohorts, the blend lands on the direct count, 250 of 500; a rebuild that misses the count has left a cohort out or counted one twice.</a:t>
            </a:r>
          </a:p>
        </p:txBody>
      </p:sp>
      <p:sp>
        <p:nvSpPr>
          <p:cNvPr id="14" name="Oval 13"/>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0080" y="6437376"/>
            <a:ext cx="1010412" cy="152146"/>
          </a:xfrm>
          <a:prstGeom prst="rect">
            <a:avLst/>
          </a:prstGeom>
          <a:noFill/>
        </p:spPr>
        <p:txBody>
          <a:bodyPr wrap="square" anchor="t" lIns="0" rIns="0" tIns="0" bIns="0">
            <a:spAutoFit/>
          </a:bodyPr>
          <a:lstStyle/>
          <a:p>
            <a:pPr algn="l"/>
            <a:r>
              <a:rPr sz="700" b="0" i="0">
                <a:solidFill>
                  <a:srgbClr val="6B6690"/>
                </a:solidFill>
                <a:latin typeface="Calibri"/>
              </a:rPr>
              <a:t>Who joined when?</a:t>
            </a:r>
          </a:p>
        </p:txBody>
      </p:sp>
      <p:sp>
        <p:nvSpPr>
          <p:cNvPr id="16" name="Oval 15"/>
          <p:cNvSpPr/>
          <p:nvPr/>
        </p:nvSpPr>
        <p:spPr>
          <a:xfrm>
            <a:off x="174193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85166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Where is the floor?</a:t>
            </a:r>
          </a:p>
        </p:txBody>
      </p:sp>
      <p:sp>
        <p:nvSpPr>
          <p:cNvPr id="18" name="Oval 17"/>
          <p:cNvSpPr/>
          <p:nvPr/>
        </p:nvSpPr>
        <p:spPr>
          <a:xfrm>
            <a:off x="309152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201257"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is a blend made of?</a:t>
            </a:r>
          </a:p>
        </p:txBody>
      </p:sp>
      <p:sp>
        <p:nvSpPr>
          <p:cNvPr id="20" name="Oval 19"/>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478088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step owns a loss?</a:t>
            </a:r>
          </a:p>
        </p:txBody>
      </p:sp>
      <p:sp>
        <p:nvSpPr>
          <p:cNvPr id="22" name="Oval 21"/>
          <p:cNvSpPr/>
          <p:nvPr/>
        </p:nvSpPr>
        <p:spPr>
          <a:xfrm>
            <a:off x="62047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314503"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Who entered when?</a:t>
            </a:r>
          </a:p>
        </p:txBody>
      </p:sp>
      <p:sp>
        <p:nvSpPr>
          <p:cNvPr id="24" name="Oval 23"/>
          <p:cNvSpPr/>
          <p:nvPr/>
        </p:nvSpPr>
        <p:spPr>
          <a:xfrm>
            <a:off x="74623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572089"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the 38 made of?</a:t>
            </a:r>
          </a:p>
        </p:txBody>
      </p:sp>
      <p:sp>
        <p:nvSpPr>
          <p:cNvPr id="26" name="Oval 25"/>
          <p:cNvSpPr/>
          <p:nvPr/>
        </p:nvSpPr>
        <p:spPr>
          <a:xfrm>
            <a:off x="899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910570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stage owns the loss?</a:t>
            </a:r>
          </a:p>
        </p:txBody>
      </p:sp>
      <p:sp>
        <p:nvSpPr>
          <p:cNvPr id="28" name="TextBox 2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S23  ·  26 / 73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COHORT AND FUNNEL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plain mean of the rates is the wrong number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Why is 46.25 percent wrong, and how does code catch it?</a:t>
            </a:r>
          </a:p>
        </p:txBody>
      </p:sp>
      <p:sp>
        <p:nvSpPr>
          <p:cNvPr id="9" name="Rounded Rectangle 8"/>
          <p:cNvSpPr/>
          <p:nvPr/>
        </p:nvSpPr>
        <p:spPr>
          <a:xfrm>
            <a:off x="530352" y="1956816"/>
            <a:ext cx="11130991" cy="138074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58952" y="241858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bug_39ada6eff46d.png"/>
          <p:cNvPicPr>
            <a:picLocks noChangeAspect="1"/>
          </p:cNvPicPr>
          <p:nvPr/>
        </p:nvPicPr>
        <p:blipFill>
          <a:blip r:embed="rId4"/>
          <a:stretch>
            <a:fillRect/>
          </a:stretch>
        </p:blipFill>
        <p:spPr>
          <a:xfrm>
            <a:off x="868680" y="2528316"/>
            <a:ext cx="237744" cy="237744"/>
          </a:xfrm>
          <a:prstGeom prst="rect">
            <a:avLst/>
          </a:prstGeom>
        </p:spPr>
      </p:pic>
      <p:sp>
        <p:nvSpPr>
          <p:cNvPr id="12" name="TextBox 11"/>
          <p:cNvSpPr txBox="1"/>
          <p:nvPr/>
        </p:nvSpPr>
        <p:spPr>
          <a:xfrm>
            <a:off x="1399031" y="2103120"/>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WHAT BREAKS</a:t>
            </a:r>
          </a:p>
        </p:txBody>
      </p:sp>
      <p:sp>
        <p:nvSpPr>
          <p:cNvPr id="13" name="TextBox 12"/>
          <p:cNvSpPr txBox="1"/>
          <p:nvPr/>
        </p:nvSpPr>
        <p:spPr>
          <a:xfrm>
            <a:off x="1399031" y="2322576"/>
            <a:ext cx="9987991" cy="941832"/>
          </a:xfrm>
          <a:prstGeom prst="rect">
            <a:avLst/>
          </a:prstGeom>
          <a:noFill/>
        </p:spPr>
        <p:txBody>
          <a:bodyPr wrap="square" anchor="t" lIns="0" rIns="0" tIns="0" bIns="0">
            <a:spAutoFit/>
          </a:bodyPr>
          <a:lstStyle/>
          <a:p>
            <a:r>
              <a:rPr sz="1500" b="0" i="0">
                <a:solidFill>
                  <a:srgbClr val="1A1440"/>
                </a:solidFill>
                <a:latin typeface="Calibri"/>
              </a:rPr>
              <a:t>Averaging the two rates, (40 + 52.5) ÷ 2 = 46.25 percent, gives 100 older members the same vote as 400 joiners. It is neither the count, 50 percent, nor the older members' own 40, and a report of "46.25 percent, down 3.75 points" describes no group in the gym.</a:t>
            </a:r>
          </a:p>
        </p:txBody>
      </p:sp>
      <p:sp>
        <p:nvSpPr>
          <p:cNvPr id="14" name="Rounded Rectangle 13"/>
          <p:cNvSpPr/>
          <p:nvPr/>
        </p:nvSpPr>
        <p:spPr>
          <a:xfrm>
            <a:off x="530352" y="3502152"/>
            <a:ext cx="11130991" cy="1719580"/>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713232" y="3630168"/>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868680" y="3630168"/>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1024128" y="3630168"/>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04671" y="3831336"/>
            <a:ext cx="10673791" cy="1317244"/>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feb = dash[(dash["example"] == "gym") &amp; (dash["month"] == "2026-02")]</a:t>
            </a:r>
          </a:p>
          <a:p>
            <a:pPr>
              <a:spcAft>
                <a:spcPts val="200"/>
              </a:spcAft>
            </a:pPr>
            <a:r>
              <a:rPr sz="1400" b="0" i="0">
                <a:solidFill>
                  <a:srgbClr val="E4E1F1"/>
                </a:solidFill>
                <a:latin typeface="Consolas"/>
              </a:rPr>
              <a:t>rate = feb["visited"] / feb["members"]</a:t>
            </a:r>
          </a:p>
          <a:p>
            <a:pPr>
              <a:spcAft>
                <a:spcPts val="200"/>
              </a:spcAft>
            </a:pPr>
            <a:r>
              <a:rPr sz="1400" b="0" i="0">
                <a:solidFill>
                  <a:srgbClr val="E4E1F1"/>
                </a:solidFill>
                <a:latin typeface="Consolas"/>
              </a:rPr>
              <a:t>direct = feb["visited"].sum() / feb["members"].sum()                  # 250 / 500 = 0.50</a:t>
            </a:r>
          </a:p>
          <a:p>
            <a:pPr>
              <a:spcAft>
                <a:spcPts val="200"/>
              </a:spcAft>
            </a:pPr>
            <a:r>
              <a:rPr sz="1400" b="0" i="0">
                <a:solidFill>
                  <a:srgbClr val="E4E1F1"/>
                </a:solidFill>
                <a:latin typeface="Consolas"/>
              </a:rPr>
              <a:t>weighted = (feb["members"] * rate).sum() / feb["members"].sum()      # equals direct</a:t>
            </a:r>
          </a:p>
          <a:p>
            <a:pPr>
              <a:spcAft>
                <a:spcPts val="200"/>
              </a:spcAft>
            </a:pPr>
            <a:r>
              <a:rPr sz="1400" b="0" i="0">
                <a:solidFill>
                  <a:srgbClr val="E4E1F1"/>
                </a:solidFill>
                <a:latin typeface="Consolas"/>
              </a:rPr>
              <a:t>plain = rate.mean()                                                  # 0.4625, one vote each</a:t>
            </a:r>
          </a:p>
        </p:txBody>
      </p:sp>
      <p:sp>
        <p:nvSpPr>
          <p:cNvPr id="19" name="Oval 18"/>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40080" y="6437376"/>
            <a:ext cx="1010412" cy="152146"/>
          </a:xfrm>
          <a:prstGeom prst="rect">
            <a:avLst/>
          </a:prstGeom>
          <a:noFill/>
        </p:spPr>
        <p:txBody>
          <a:bodyPr wrap="square" anchor="t" lIns="0" rIns="0" tIns="0" bIns="0">
            <a:spAutoFit/>
          </a:bodyPr>
          <a:lstStyle/>
          <a:p>
            <a:pPr algn="l"/>
            <a:r>
              <a:rPr sz="700" b="0" i="0">
                <a:solidFill>
                  <a:srgbClr val="6B6690"/>
                </a:solidFill>
                <a:latin typeface="Calibri"/>
              </a:rPr>
              <a:t>Who joined when?</a:t>
            </a:r>
          </a:p>
        </p:txBody>
      </p:sp>
      <p:sp>
        <p:nvSpPr>
          <p:cNvPr id="21" name="Oval 20"/>
          <p:cNvSpPr/>
          <p:nvPr/>
        </p:nvSpPr>
        <p:spPr>
          <a:xfrm>
            <a:off x="174193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185166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Where is the floor?</a:t>
            </a:r>
          </a:p>
        </p:txBody>
      </p:sp>
      <p:sp>
        <p:nvSpPr>
          <p:cNvPr id="23" name="Oval 22"/>
          <p:cNvSpPr/>
          <p:nvPr/>
        </p:nvSpPr>
        <p:spPr>
          <a:xfrm>
            <a:off x="309152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3201257"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is a blend made of?</a:t>
            </a:r>
          </a:p>
        </p:txBody>
      </p:sp>
      <p:sp>
        <p:nvSpPr>
          <p:cNvPr id="25" name="Oval 24"/>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478088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step owns a loss?</a:t>
            </a:r>
          </a:p>
        </p:txBody>
      </p:sp>
      <p:sp>
        <p:nvSpPr>
          <p:cNvPr id="27" name="Oval 26"/>
          <p:cNvSpPr/>
          <p:nvPr/>
        </p:nvSpPr>
        <p:spPr>
          <a:xfrm>
            <a:off x="62047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314503"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Who entered when?</a:t>
            </a:r>
          </a:p>
        </p:txBody>
      </p:sp>
      <p:sp>
        <p:nvSpPr>
          <p:cNvPr id="29" name="Oval 28"/>
          <p:cNvSpPr/>
          <p:nvPr/>
        </p:nvSpPr>
        <p:spPr>
          <a:xfrm>
            <a:off x="74623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7572089"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the 38 made of?</a:t>
            </a:r>
          </a:p>
        </p:txBody>
      </p:sp>
      <p:sp>
        <p:nvSpPr>
          <p:cNvPr id="31" name="Oval 30"/>
          <p:cNvSpPr/>
          <p:nvPr/>
        </p:nvSpPr>
        <p:spPr>
          <a:xfrm>
            <a:off x="899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910570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stage owns the loss?</a:t>
            </a:r>
          </a:p>
        </p:txBody>
      </p:sp>
      <p:sp>
        <p:nvSpPr>
          <p:cNvPr id="33" name="TextBox 3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S24  ·  27 / 73</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COHORT AND FUNNEL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Four rules for a blended number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an analyst do before believing one number over many cohorts?</a:t>
            </a:r>
          </a:p>
        </p:txBody>
      </p:sp>
      <p:sp>
        <p:nvSpPr>
          <p:cNvPr id="9" name="TextBox 8"/>
          <p:cNvSpPr txBox="1"/>
          <p:nvPr/>
        </p:nvSpPr>
        <p:spPr>
          <a:xfrm>
            <a:off x="530352" y="1645920"/>
            <a:ext cx="502920" cy="300735"/>
          </a:xfrm>
          <a:prstGeom prst="rect">
            <a:avLst/>
          </a:prstGeom>
          <a:noFill/>
        </p:spPr>
        <p:txBody>
          <a:bodyPr wrap="square" anchor="t" lIns="0" rIns="0" tIns="0" bIns="0">
            <a:spAutoFit/>
          </a:bodyPr>
          <a:lstStyle/>
          <a:p>
            <a:pPr algn="l"/>
            <a:r>
              <a:rPr sz="1600" b="0" i="0">
                <a:solidFill>
                  <a:srgbClr val="5B3FD6"/>
                </a:solidFill>
                <a:latin typeface="Georgia"/>
              </a:rPr>
              <a:t>01</a:t>
            </a:r>
          </a:p>
        </p:txBody>
      </p:sp>
      <p:sp>
        <p:nvSpPr>
          <p:cNvPr id="10" name="TextBox 9"/>
          <p:cNvSpPr txBox="1"/>
          <p:nvPr/>
        </p:nvSpPr>
        <p:spPr>
          <a:xfrm>
            <a:off x="1097280" y="1682496"/>
            <a:ext cx="10564063" cy="334264"/>
          </a:xfrm>
          <a:prstGeom prst="rect">
            <a:avLst/>
          </a:prstGeom>
          <a:noFill/>
        </p:spPr>
        <p:txBody>
          <a:bodyPr wrap="square" anchor="t" lIns="0" rIns="0" tIns="0" bIns="0">
            <a:spAutoFit/>
          </a:bodyPr>
          <a:lstStyle/>
          <a:p>
            <a:r>
              <a:rPr sz="1300" b="0" i="0">
                <a:solidFill>
                  <a:srgbClr val="1A1440"/>
                </a:solidFill>
                <a:latin typeface="Calibri"/>
              </a:rPr>
              <a:t>A number over several cohorts is their average weighted by cohort size.</a:t>
            </a:r>
          </a:p>
        </p:txBody>
      </p:sp>
      <p:sp>
        <p:nvSpPr>
          <p:cNvPr id="11" name="TextBox 10"/>
          <p:cNvSpPr txBox="1"/>
          <p:nvPr/>
        </p:nvSpPr>
        <p:spPr>
          <a:xfrm>
            <a:off x="530352" y="2053336"/>
            <a:ext cx="502920" cy="300735"/>
          </a:xfrm>
          <a:prstGeom prst="rect">
            <a:avLst/>
          </a:prstGeom>
          <a:noFill/>
        </p:spPr>
        <p:txBody>
          <a:bodyPr wrap="square" anchor="t" lIns="0" rIns="0" tIns="0" bIns="0">
            <a:spAutoFit/>
          </a:bodyPr>
          <a:lstStyle/>
          <a:p>
            <a:pPr algn="l"/>
            <a:r>
              <a:rPr sz="1600" b="0" i="0">
                <a:solidFill>
                  <a:srgbClr val="5B3FD6"/>
                </a:solidFill>
                <a:latin typeface="Georgia"/>
              </a:rPr>
              <a:t>02</a:t>
            </a:r>
          </a:p>
        </p:txBody>
      </p:sp>
      <p:sp>
        <p:nvSpPr>
          <p:cNvPr id="12" name="TextBox 11"/>
          <p:cNvSpPr txBox="1"/>
          <p:nvPr/>
        </p:nvSpPr>
        <p:spPr>
          <a:xfrm>
            <a:off x="1097280" y="2089912"/>
            <a:ext cx="10564063" cy="334264"/>
          </a:xfrm>
          <a:prstGeom prst="rect">
            <a:avLst/>
          </a:prstGeom>
          <a:noFill/>
        </p:spPr>
        <p:txBody>
          <a:bodyPr wrap="square" anchor="t" lIns="0" rIns="0" tIns="0" bIns="0">
            <a:spAutoFit/>
          </a:bodyPr>
          <a:lstStyle/>
          <a:p>
            <a:r>
              <a:rPr sz="1300" b="0" i="0">
                <a:solidFill>
                  <a:srgbClr val="1A1440"/>
                </a:solidFill>
                <a:latin typeface="Calibri"/>
              </a:rPr>
              <a:t>It moves when the mix of young and old cohorts moves, as well as when behaviour does.</a:t>
            </a:r>
          </a:p>
        </p:txBody>
      </p:sp>
      <p:sp>
        <p:nvSpPr>
          <p:cNvPr id="13" name="TextBox 12"/>
          <p:cNvSpPr txBox="1"/>
          <p:nvPr/>
        </p:nvSpPr>
        <p:spPr>
          <a:xfrm>
            <a:off x="530352" y="2460752"/>
            <a:ext cx="502920" cy="300735"/>
          </a:xfrm>
          <a:prstGeom prst="rect">
            <a:avLst/>
          </a:prstGeom>
          <a:noFill/>
        </p:spPr>
        <p:txBody>
          <a:bodyPr wrap="square" anchor="t" lIns="0" rIns="0" tIns="0" bIns="0">
            <a:spAutoFit/>
          </a:bodyPr>
          <a:lstStyle/>
          <a:p>
            <a:pPr algn="l"/>
            <a:r>
              <a:rPr sz="1600" b="0" i="0">
                <a:solidFill>
                  <a:srgbClr val="5B3FD6"/>
                </a:solidFill>
                <a:latin typeface="Georgia"/>
              </a:rPr>
              <a:t>03</a:t>
            </a:r>
          </a:p>
        </p:txBody>
      </p:sp>
      <p:sp>
        <p:nvSpPr>
          <p:cNvPr id="14" name="TextBox 13"/>
          <p:cNvSpPr txBox="1"/>
          <p:nvPr/>
        </p:nvSpPr>
        <p:spPr>
          <a:xfrm>
            <a:off x="1097280" y="2497328"/>
            <a:ext cx="10564063" cy="334264"/>
          </a:xfrm>
          <a:prstGeom prst="rect">
            <a:avLst/>
          </a:prstGeom>
          <a:noFill/>
        </p:spPr>
        <p:txBody>
          <a:bodyPr wrap="square" anchor="t" lIns="0" rIns="0" tIns="0" bIns="0">
            <a:spAutoFit/>
          </a:bodyPr>
          <a:lstStyle/>
          <a:p>
            <a:r>
              <a:rPr sz="1300" b="0" i="0">
                <a:solidFill>
                  <a:srgbClr val="1A1440"/>
                </a:solidFill>
                <a:latin typeface="Calibri"/>
              </a:rPr>
              <a:t>Rebuild it from its cohorts, and check the rebuild equals the direct count, before believing it.</a:t>
            </a:r>
          </a:p>
        </p:txBody>
      </p:sp>
      <p:sp>
        <p:nvSpPr>
          <p:cNvPr id="15" name="TextBox 14"/>
          <p:cNvSpPr txBox="1"/>
          <p:nvPr/>
        </p:nvSpPr>
        <p:spPr>
          <a:xfrm>
            <a:off x="530352" y="2868168"/>
            <a:ext cx="502920" cy="300735"/>
          </a:xfrm>
          <a:prstGeom prst="rect">
            <a:avLst/>
          </a:prstGeom>
          <a:noFill/>
        </p:spPr>
        <p:txBody>
          <a:bodyPr wrap="square" anchor="t" lIns="0" rIns="0" tIns="0" bIns="0">
            <a:spAutoFit/>
          </a:bodyPr>
          <a:lstStyle/>
          <a:p>
            <a:pPr algn="l"/>
            <a:r>
              <a:rPr sz="1600" b="0" i="0">
                <a:solidFill>
                  <a:srgbClr val="5B3FD6"/>
                </a:solidFill>
                <a:latin typeface="Georgia"/>
              </a:rPr>
              <a:t>04</a:t>
            </a:r>
          </a:p>
        </p:txBody>
      </p:sp>
      <p:sp>
        <p:nvSpPr>
          <p:cNvPr id="16" name="TextBox 15"/>
          <p:cNvSpPr txBox="1"/>
          <p:nvPr/>
        </p:nvSpPr>
        <p:spPr>
          <a:xfrm>
            <a:off x="1097280" y="2904744"/>
            <a:ext cx="10564063" cy="558800"/>
          </a:xfrm>
          <a:prstGeom prst="rect">
            <a:avLst/>
          </a:prstGeom>
          <a:noFill/>
        </p:spPr>
        <p:txBody>
          <a:bodyPr wrap="square" anchor="t" lIns="0" rIns="0" tIns="0" bIns="0">
            <a:spAutoFit/>
          </a:bodyPr>
          <a:lstStyle/>
          <a:p>
            <a:r>
              <a:rPr sz="1300" b="0" i="0">
                <a:solidFill>
                  <a:srgbClr val="1A1440"/>
                </a:solidFill>
                <a:latin typeface="Calibri"/>
              </a:rPr>
              <a:t>A plain mean of cohort rates gives each cohort one vote, so it matches the blend only when the cohorts are the same size or read the same rate.</a:t>
            </a:r>
          </a:p>
        </p:txBody>
      </p:sp>
      <p:sp>
        <p:nvSpPr>
          <p:cNvPr id="17" name="Rounded Rectangle 16"/>
          <p:cNvSpPr/>
          <p:nvPr/>
        </p:nvSpPr>
        <p:spPr>
          <a:xfrm>
            <a:off x="530352" y="3646424"/>
            <a:ext cx="11130991" cy="1277112"/>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758952" y="4056380"/>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9" name="Picture 18" descr="mic_caee7398c80d.png"/>
          <p:cNvPicPr>
            <a:picLocks noChangeAspect="1"/>
          </p:cNvPicPr>
          <p:nvPr/>
        </p:nvPicPr>
        <p:blipFill>
          <a:blip r:embed="rId4"/>
          <a:stretch>
            <a:fillRect/>
          </a:stretch>
        </p:blipFill>
        <p:spPr>
          <a:xfrm>
            <a:off x="868680" y="4166108"/>
            <a:ext cx="237744" cy="237744"/>
          </a:xfrm>
          <a:prstGeom prst="rect">
            <a:avLst/>
          </a:prstGeom>
        </p:spPr>
      </p:pic>
      <p:sp>
        <p:nvSpPr>
          <p:cNvPr id="20" name="TextBox 19"/>
          <p:cNvSpPr txBox="1"/>
          <p:nvPr/>
        </p:nvSpPr>
        <p:spPr>
          <a:xfrm>
            <a:off x="1399031" y="3792728"/>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21" name="TextBox 20"/>
          <p:cNvSpPr txBox="1"/>
          <p:nvPr/>
        </p:nvSpPr>
        <p:spPr>
          <a:xfrm>
            <a:off x="1399031" y="4012184"/>
            <a:ext cx="9987991" cy="838200"/>
          </a:xfrm>
          <a:prstGeom prst="rect">
            <a:avLst/>
          </a:prstGeom>
          <a:noFill/>
        </p:spPr>
        <p:txBody>
          <a:bodyPr wrap="square" anchor="t" lIns="0" rIns="0" tIns="0" bIns="0">
            <a:spAutoFit/>
          </a:bodyPr>
          <a:lstStyle/>
          <a:p>
            <a:r>
              <a:rPr sz="1300" b="0" i="0">
                <a:solidFill>
                  <a:srgbClr val="1A1440"/>
                </a:solidFill>
                <a:latin typeface="Calibri"/>
              </a:rPr>
              <a:t>[F] "Blended retention is flat while every cohort declines; how?" A mix shift: a growing young cohort at its high early rate carries more weight each month, so the average holds while each cohort falls; read the cohorts at the same age.</a:t>
            </a:r>
          </a:p>
        </p:txBody>
      </p:sp>
      <p:sp>
        <p:nvSpPr>
          <p:cNvPr id="22" name="TextBox 21"/>
          <p:cNvSpPr txBox="1"/>
          <p:nvPr/>
        </p:nvSpPr>
        <p:spPr>
          <a:xfrm>
            <a:off x="530352" y="5088128"/>
            <a:ext cx="11130991" cy="944880"/>
          </a:xfrm>
          <a:prstGeom prst="rect">
            <a:avLst/>
          </a:prstGeom>
          <a:noFill/>
        </p:spPr>
        <p:txBody>
          <a:bodyPr wrap="square" anchor="t" lIns="0" rIns="0" tIns="0" bIns="0">
            <a:spAutoFit/>
          </a:bodyPr>
          <a:lstStyle/>
          <a:p>
            <a:pPr>
              <a:spcAft>
                <a:spcPts val="700"/>
              </a:spcAft>
            </a:pPr>
            <a:r>
              <a:rPr sz="1400" b="0" i="0">
                <a:solidFill>
                  <a:srgbClr val="1A1440"/>
                </a:solidFill>
                <a:latin typeface="Calibri"/>
              </a:rPr>
              <a:t>Swiggy: users who ordered at least once a month rose 27.4 percent in a year while orders per user fell from 4.13 to 3.87, about 6.3 percent (Swiggy's Q1 FY27 letter, checked 12 October 2026; the 6.3 is our arithmetic). One blended number cannot say whether existing users ordered less or new users ordered little.</a:t>
            </a:r>
          </a:p>
        </p:txBody>
      </p:sp>
      <p:sp>
        <p:nvSpPr>
          <p:cNvPr id="23" name="Oval 2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40080" y="6437376"/>
            <a:ext cx="1010412" cy="152146"/>
          </a:xfrm>
          <a:prstGeom prst="rect">
            <a:avLst/>
          </a:prstGeom>
          <a:noFill/>
        </p:spPr>
        <p:txBody>
          <a:bodyPr wrap="square" anchor="t" lIns="0" rIns="0" tIns="0" bIns="0">
            <a:spAutoFit/>
          </a:bodyPr>
          <a:lstStyle/>
          <a:p>
            <a:pPr algn="l"/>
            <a:r>
              <a:rPr sz="700" b="0" i="0">
                <a:solidFill>
                  <a:srgbClr val="6B6690"/>
                </a:solidFill>
                <a:latin typeface="Calibri"/>
              </a:rPr>
              <a:t>Who joined when?</a:t>
            </a:r>
          </a:p>
        </p:txBody>
      </p:sp>
      <p:sp>
        <p:nvSpPr>
          <p:cNvPr id="25" name="Oval 24"/>
          <p:cNvSpPr/>
          <p:nvPr/>
        </p:nvSpPr>
        <p:spPr>
          <a:xfrm>
            <a:off x="174193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185166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Where is the floor?</a:t>
            </a:r>
          </a:p>
        </p:txBody>
      </p:sp>
      <p:sp>
        <p:nvSpPr>
          <p:cNvPr id="27" name="Oval 26"/>
          <p:cNvSpPr/>
          <p:nvPr/>
        </p:nvSpPr>
        <p:spPr>
          <a:xfrm>
            <a:off x="309152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3201257"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is a blend made of?</a:t>
            </a:r>
          </a:p>
        </p:txBody>
      </p:sp>
      <p:sp>
        <p:nvSpPr>
          <p:cNvPr id="29" name="Oval 28"/>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478088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step owns a loss?</a:t>
            </a:r>
          </a:p>
        </p:txBody>
      </p:sp>
      <p:sp>
        <p:nvSpPr>
          <p:cNvPr id="31" name="Oval 30"/>
          <p:cNvSpPr/>
          <p:nvPr/>
        </p:nvSpPr>
        <p:spPr>
          <a:xfrm>
            <a:off x="62047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314503"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Who entered when?</a:t>
            </a:r>
          </a:p>
        </p:txBody>
      </p:sp>
      <p:sp>
        <p:nvSpPr>
          <p:cNvPr id="33" name="Oval 32"/>
          <p:cNvSpPr/>
          <p:nvPr/>
        </p:nvSpPr>
        <p:spPr>
          <a:xfrm>
            <a:off x="74623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7572089"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the 38 made of?</a:t>
            </a:r>
          </a:p>
        </p:txBody>
      </p:sp>
      <p:sp>
        <p:nvSpPr>
          <p:cNvPr id="35" name="Oval 34"/>
          <p:cNvSpPr/>
          <p:nvPr/>
        </p:nvSpPr>
        <p:spPr>
          <a:xfrm>
            <a:off x="899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910570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stage owns the loss?</a:t>
            </a:r>
          </a:p>
        </p:txBody>
      </p:sp>
      <p:sp>
        <p:nvSpPr>
          <p:cNvPr id="37" name="TextBox 3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S25  ·  28 / 73</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COHORT AND FUNNEL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blend uses Week 1 Thursday's arithmetic</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Where does this topic come from, and which chapters use it next?</a:t>
            </a:r>
          </a:p>
        </p:txBody>
      </p:sp>
      <p:pic>
        <p:nvPicPr>
          <p:cNvPr id="9" name="mermaid diagram" descr="ab32a951257d9e0f.png"/>
          <p:cNvPicPr>
            <a:picLocks noChangeAspect="1"/>
          </p:cNvPicPr>
          <p:nvPr/>
        </p:nvPicPr>
        <p:blipFill>
          <a:blip r:embed="rId5"/>
          <a:stretch>
            <a:fillRect/>
          </a:stretch>
        </p:blipFill>
        <p:spPr>
          <a:xfrm>
            <a:off x="2650595" y="1664208"/>
            <a:ext cx="6890504" cy="3532631"/>
          </a:xfrm>
          <a:prstGeom prst="rect">
            <a:avLst/>
          </a:prstGeom>
        </p:spPr>
      </p:pic>
      <p:sp>
        <p:nvSpPr>
          <p:cNvPr id="10" name="TextBox 9"/>
          <p:cNvSpPr txBox="1"/>
          <p:nvPr/>
        </p:nvSpPr>
        <p:spPr>
          <a:xfrm>
            <a:off x="530352" y="5242560"/>
            <a:ext cx="11130991" cy="957072"/>
          </a:xfrm>
          <a:prstGeom prst="rect">
            <a:avLst/>
          </a:prstGeom>
          <a:noFill/>
        </p:spPr>
        <p:txBody>
          <a:bodyPr wrap="square" anchor="t" lIns="0" rIns="0" tIns="0" bIns="0">
            <a:spAutoFit/>
          </a:bodyPr>
          <a:lstStyle/>
          <a:p>
            <a:r>
              <a:rPr sz="1600" b="0" i="0">
                <a:solidFill>
                  <a:srgbClr val="1A1440"/>
                </a:solidFill>
                <a:latin typeface="Calibri"/>
              </a:rPr>
              <a:t>A total that runs against its parts is called Simpson's paradox, after E. H. Simpson's 1951 paper in the Journal of the Royal Statistical Society. A flat blend over falling cohorts uses the same arithmetic, a weighted average whose weights moved; nothing reverses here, so it is called a mix effect.</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010412" cy="152146"/>
          </a:xfrm>
          <a:prstGeom prst="rect">
            <a:avLst/>
          </a:prstGeom>
          <a:noFill/>
        </p:spPr>
        <p:txBody>
          <a:bodyPr wrap="square" anchor="t" lIns="0" rIns="0" tIns="0" bIns="0">
            <a:spAutoFit/>
          </a:bodyPr>
          <a:lstStyle/>
          <a:p>
            <a:pPr algn="l"/>
            <a:r>
              <a:rPr sz="700" b="0" i="0">
                <a:solidFill>
                  <a:srgbClr val="6B6690"/>
                </a:solidFill>
                <a:latin typeface="Calibri"/>
              </a:rPr>
              <a:t>Who joined when?</a:t>
            </a:r>
          </a:p>
        </p:txBody>
      </p:sp>
      <p:sp>
        <p:nvSpPr>
          <p:cNvPr id="13" name="Oval 12"/>
          <p:cNvSpPr/>
          <p:nvPr/>
        </p:nvSpPr>
        <p:spPr>
          <a:xfrm>
            <a:off x="174193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85166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Where is the floor?</a:t>
            </a:r>
          </a:p>
        </p:txBody>
      </p:sp>
      <p:sp>
        <p:nvSpPr>
          <p:cNvPr id="15" name="Oval 14"/>
          <p:cNvSpPr/>
          <p:nvPr/>
        </p:nvSpPr>
        <p:spPr>
          <a:xfrm>
            <a:off x="309152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201257"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is a blend made of?</a:t>
            </a:r>
          </a:p>
        </p:txBody>
      </p:sp>
      <p:sp>
        <p:nvSpPr>
          <p:cNvPr id="17" name="Oval 16"/>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78088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step owns a loss?</a:t>
            </a:r>
          </a:p>
        </p:txBody>
      </p:sp>
      <p:sp>
        <p:nvSpPr>
          <p:cNvPr id="19" name="Oval 18"/>
          <p:cNvSpPr/>
          <p:nvPr/>
        </p:nvSpPr>
        <p:spPr>
          <a:xfrm>
            <a:off x="62047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314503"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Who entered when?</a:t>
            </a:r>
          </a:p>
        </p:txBody>
      </p:sp>
      <p:sp>
        <p:nvSpPr>
          <p:cNvPr id="21" name="Oval 20"/>
          <p:cNvSpPr/>
          <p:nvPr/>
        </p:nvSpPr>
        <p:spPr>
          <a:xfrm>
            <a:off x="74623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572089"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the 38 made of?</a:t>
            </a:r>
          </a:p>
        </p:txBody>
      </p:sp>
      <p:sp>
        <p:nvSpPr>
          <p:cNvPr id="23" name="Oval 22"/>
          <p:cNvSpPr/>
          <p:nvPr/>
        </p:nvSpPr>
        <p:spPr>
          <a:xfrm>
            <a:off x="899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10570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stage owns the loss?</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S26  ·  29 / 73</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04</a:t>
            </a:r>
          </a:p>
        </p:txBody>
      </p:sp>
      <p:sp>
        <p:nvSpPr>
          <p:cNvPr id="8" name="TextBox 7"/>
          <p:cNvSpPr txBox="1"/>
          <p:nvPr/>
        </p:nvSpPr>
        <p:spPr>
          <a:xfrm>
            <a:off x="731519" y="2542032"/>
            <a:ext cx="10673791" cy="366776"/>
          </a:xfrm>
          <a:prstGeom prst="rect">
            <a:avLst/>
          </a:prstGeom>
          <a:noFill/>
        </p:spPr>
        <p:txBody>
          <a:bodyPr wrap="square" anchor="t" lIns="0" rIns="0" tIns="0" bIns="0">
            <a:spAutoFit/>
          </a:bodyPr>
          <a:lstStyle/>
          <a:p>
            <a:pPr algn="l"/>
            <a:r>
              <a:rPr sz="2000" b="1" i="0">
                <a:solidFill>
                  <a:srgbClr val="D9A7FF"/>
                </a:solidFill>
                <a:latin typeface="Calibri"/>
              </a:rPr>
              <a:t>Funnel stages, drop-off, denominators</a:t>
            </a:r>
          </a:p>
        </p:txBody>
      </p:sp>
      <p:sp>
        <p:nvSpPr>
          <p:cNvPr id="9" name="TextBox 8"/>
          <p:cNvSpPr txBox="1"/>
          <p:nvPr/>
        </p:nvSpPr>
        <p:spPr>
          <a:xfrm>
            <a:off x="731519" y="3017520"/>
            <a:ext cx="10673791" cy="731520"/>
          </a:xfrm>
          <a:prstGeom prst="rect">
            <a:avLst/>
          </a:prstGeom>
          <a:noFill/>
        </p:spPr>
        <p:txBody>
          <a:bodyPr wrap="square" anchor="t" lIns="0" rIns="0" tIns="0" bIns="0">
            <a:spAutoFit/>
          </a:bodyPr>
          <a:lstStyle/>
          <a:p>
            <a:pPr algn="l"/>
            <a:r>
              <a:rPr sz="4000" b="0" i="0">
                <a:solidFill>
                  <a:srgbClr val="FFFFFF"/>
                </a:solidFill>
                <a:latin typeface="Georgia"/>
              </a:rPr>
              <a:t>Which step owns a loss?</a:t>
            </a:r>
          </a:p>
        </p:txBody>
      </p:sp>
      <p:sp>
        <p:nvSpPr>
          <p:cNvPr id="10" name="TextBox 9"/>
          <p:cNvSpPr txBox="1"/>
          <p:nvPr/>
        </p:nvSpPr>
        <p:spPr>
          <a:xfrm>
            <a:off x="731519" y="3931920"/>
            <a:ext cx="9509760" cy="531876"/>
          </a:xfrm>
          <a:prstGeom prst="rect">
            <a:avLst/>
          </a:prstGeom>
          <a:noFill/>
        </p:spPr>
        <p:txBody>
          <a:bodyPr wrap="square" anchor="t" lIns="0" rIns="0" tIns="0" bIns="0">
            <a:spAutoFit/>
          </a:bodyPr>
          <a:lstStyle/>
          <a:p>
            <a:pPr algn="l"/>
            <a:r>
              <a:rPr sz="1500" b="0" i="0">
                <a:solidFill>
                  <a:srgbClr val="E4E1F1"/>
                </a:solidFill>
                <a:latin typeface="Calibri"/>
              </a:rPr>
              <a:t>Divide each step by the step before in one named unit, find the step that moved against its own past, and tell a real loss from a step people can skip, on one college's admissions.</a:t>
            </a:r>
          </a:p>
        </p:txBody>
      </p:sp>
      <p:sp>
        <p:nvSpPr>
          <p:cNvPr id="11" name="Rounded Rectangle 10"/>
          <p:cNvSpPr/>
          <p:nvPr/>
        </p:nvSpPr>
        <p:spPr>
          <a:xfrm>
            <a:off x="731519" y="5074920"/>
            <a:ext cx="118264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Who joined when?</a:t>
            </a:r>
          </a:p>
        </p:txBody>
      </p:sp>
      <p:sp>
        <p:nvSpPr>
          <p:cNvPr id="12" name="Rounded Rectangle 11"/>
          <p:cNvSpPr/>
          <p:nvPr/>
        </p:nvSpPr>
        <p:spPr>
          <a:xfrm>
            <a:off x="2023889" y="5074920"/>
            <a:ext cx="134262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Where is the floor?</a:t>
            </a:r>
          </a:p>
        </p:txBody>
      </p:sp>
      <p:sp>
        <p:nvSpPr>
          <p:cNvPr id="13" name="Rounded Rectangle 12"/>
          <p:cNvSpPr/>
          <p:nvPr/>
        </p:nvSpPr>
        <p:spPr>
          <a:xfrm>
            <a:off x="3476243" y="5074920"/>
            <a:ext cx="1609266"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is a blend made of?</a:t>
            </a:r>
          </a:p>
        </p:txBody>
      </p:sp>
      <p:sp>
        <p:nvSpPr>
          <p:cNvPr id="14" name="Rounded Rectangle 13"/>
          <p:cNvSpPr/>
          <p:nvPr/>
        </p:nvSpPr>
        <p:spPr>
          <a:xfrm>
            <a:off x="5195238" y="5074920"/>
            <a:ext cx="1555938"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Which step owns a loss?</a:t>
            </a:r>
          </a:p>
        </p:txBody>
      </p:sp>
      <p:sp>
        <p:nvSpPr>
          <p:cNvPr id="15" name="Rounded Rectangle 14"/>
          <p:cNvSpPr/>
          <p:nvPr/>
        </p:nvSpPr>
        <p:spPr>
          <a:xfrm>
            <a:off x="6860904" y="5074920"/>
            <a:ext cx="123596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Who entered when?</a:t>
            </a:r>
          </a:p>
        </p:txBody>
      </p:sp>
      <p:sp>
        <p:nvSpPr>
          <p:cNvPr id="16" name="Rounded Rectangle 15"/>
          <p:cNvSpPr/>
          <p:nvPr/>
        </p:nvSpPr>
        <p:spPr>
          <a:xfrm>
            <a:off x="8206602" y="5074920"/>
            <a:ext cx="1555938"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is the 38 made of?</a:t>
            </a:r>
          </a:p>
        </p:txBody>
      </p:sp>
      <p:sp>
        <p:nvSpPr>
          <p:cNvPr id="17" name="Rounded Rectangle 16"/>
          <p:cNvSpPr/>
          <p:nvPr/>
        </p:nvSpPr>
        <p:spPr>
          <a:xfrm>
            <a:off x="9872268" y="5074920"/>
            <a:ext cx="1715922"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stage owns the loss?</a:t>
            </a:r>
          </a:p>
        </p:txBody>
      </p:sp>
      <p:sp>
        <p:nvSpPr>
          <p:cNvPr id="18" name="TextBox 17"/>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4, Day 4. Cohort and funnel: who is leaving, and at which step?</a:t>
            </a:r>
          </a:p>
        </p:txBody>
      </p:sp>
      <p:sp>
        <p:nvSpPr>
          <p:cNvPr id="19" name="TextBox 1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30 / 73</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COHORT AND FUNNEL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funnel: four questions, one college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the answer, and which smaller questions lead to it?</a:t>
            </a:r>
          </a:p>
        </p:txBody>
      </p:sp>
      <p:sp>
        <p:nvSpPr>
          <p:cNvPr id="9" name="Rounded Rectangle 8"/>
          <p:cNvSpPr/>
          <p:nvPr/>
        </p:nvSpPr>
        <p:spPr>
          <a:xfrm>
            <a:off x="530352" y="1939798"/>
            <a:ext cx="11130991" cy="13411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67814"/>
            <a:ext cx="45720" cy="10850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58670"/>
            <a:ext cx="10564063" cy="11582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The dean of a college (invented), who has one admissions team for one fix this year: a step blamed because it is low sends the team to a step that works. A funnel is a chain of steps people pass through, fewer at each, as every learner here passed through one to be admitted: applied, sat a test, shortlisted, accepted an offer, joined.</a:t>
            </a:r>
          </a:p>
        </p:txBody>
      </p:sp>
      <p:sp>
        <p:nvSpPr>
          <p:cNvPr id="12" name="Rounded Rectangle 11"/>
          <p:cNvSpPr/>
          <p:nvPr/>
        </p:nvSpPr>
        <p:spPr>
          <a:xfrm>
            <a:off x="530352" y="3445510"/>
            <a:ext cx="11130991" cy="5410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676656" y="3573526"/>
            <a:ext cx="45720" cy="2849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77824" y="3564382"/>
            <a:ext cx="10564063" cy="358140"/>
          </a:xfrm>
          <a:prstGeom prst="rect">
            <a:avLst/>
          </a:prstGeom>
          <a:noFill/>
        </p:spPr>
        <p:txBody>
          <a:bodyPr wrap="square" anchor="ctr" lIns="0" rIns="0" tIns="0" bIns="0">
            <a:spAutoFit/>
          </a:bodyPr>
          <a:lstStyle/>
          <a:p>
            <a:r>
              <a:rPr sz="1500" b="1">
                <a:solidFill>
                  <a:srgbClr val="5B3FD6"/>
                </a:solidFill>
                <a:latin typeface="Calibri"/>
              </a:rPr>
              <a:t>The questions on the way. </a:t>
            </a:r>
            <a:r>
              <a:rPr sz="1500" b="0" i="0">
                <a:solidFill>
                  <a:srgbClr val="1A1440"/>
                </a:solidFill>
                <a:latin typeface="Calibri"/>
              </a:rPr>
              <a:t>Four, each answered on the college's own counts.</a:t>
            </a:r>
          </a:p>
        </p:txBody>
      </p:sp>
      <p:sp>
        <p:nvSpPr>
          <p:cNvPr id="15" name="Rectangle 14"/>
          <p:cNvSpPr/>
          <p:nvPr/>
        </p:nvSpPr>
        <p:spPr>
          <a:xfrm>
            <a:off x="1853145" y="4718049"/>
            <a:ext cx="8485403"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30352" y="4151121"/>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1</a:t>
            </a:r>
          </a:p>
        </p:txBody>
      </p:sp>
      <p:sp>
        <p:nvSpPr>
          <p:cNvPr id="17" name="Oval 16"/>
          <p:cNvSpPr/>
          <p:nvPr/>
        </p:nvSpPr>
        <p:spPr>
          <a:xfrm>
            <a:off x="1752561" y="4626609"/>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530352" y="5038089"/>
            <a:ext cx="2645587" cy="90424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94944" y="5184393"/>
            <a:ext cx="2316403" cy="465836"/>
          </a:xfrm>
          <a:prstGeom prst="rect">
            <a:avLst/>
          </a:prstGeom>
          <a:noFill/>
        </p:spPr>
        <p:txBody>
          <a:bodyPr wrap="square" anchor="t" lIns="0" rIns="0" tIns="0" bIns="0">
            <a:spAutoFit/>
          </a:bodyPr>
          <a:lstStyle/>
          <a:p>
            <a:pPr algn="l"/>
            <a:r>
              <a:rPr sz="1300" b="1" i="0">
                <a:solidFill>
                  <a:srgbClr val="1A0F5C"/>
                </a:solidFill>
                <a:latin typeface="Calibri"/>
              </a:rPr>
              <a:t>Which step owns this cycle's loss?</a:t>
            </a:r>
          </a:p>
        </p:txBody>
      </p:sp>
      <p:sp>
        <p:nvSpPr>
          <p:cNvPr id="20" name="TextBox 19"/>
          <p:cNvSpPr txBox="1"/>
          <p:nvPr/>
        </p:nvSpPr>
        <p:spPr>
          <a:xfrm>
            <a:off x="694944" y="5686805"/>
            <a:ext cx="2316403" cy="201676"/>
          </a:xfrm>
          <a:prstGeom prst="rect">
            <a:avLst/>
          </a:prstGeom>
          <a:noFill/>
        </p:spPr>
        <p:txBody>
          <a:bodyPr wrap="square" anchor="t" lIns="0" rIns="0" tIns="0" bIns="0">
            <a:spAutoFit/>
          </a:bodyPr>
          <a:lstStyle/>
          <a:p>
            <a:pPr algn="l"/>
            <a:r>
              <a:rPr sz="1000" b="0" i="0">
                <a:solidFill>
                  <a:srgbClr val="6B6690"/>
                </a:solidFill>
                <a:latin typeface="Calibri"/>
              </a:rPr>
              <a:t>Two cycles side by side</a:t>
            </a:r>
          </a:p>
        </p:txBody>
      </p:sp>
      <p:sp>
        <p:nvSpPr>
          <p:cNvPr id="21" name="TextBox 20"/>
          <p:cNvSpPr txBox="1"/>
          <p:nvPr/>
        </p:nvSpPr>
        <p:spPr>
          <a:xfrm>
            <a:off x="3358819" y="4151121"/>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2</a:t>
            </a:r>
          </a:p>
        </p:txBody>
      </p:sp>
      <p:sp>
        <p:nvSpPr>
          <p:cNvPr id="22" name="Oval 21"/>
          <p:cNvSpPr/>
          <p:nvPr/>
        </p:nvSpPr>
        <p:spPr>
          <a:xfrm>
            <a:off x="4581029" y="4626609"/>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3358819" y="5038089"/>
            <a:ext cx="2645587" cy="90424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3523411" y="5184393"/>
            <a:ext cx="2316403" cy="251205"/>
          </a:xfrm>
          <a:prstGeom prst="rect">
            <a:avLst/>
          </a:prstGeom>
          <a:noFill/>
        </p:spPr>
        <p:txBody>
          <a:bodyPr wrap="square" anchor="t" lIns="0" rIns="0" tIns="0" bIns="0">
            <a:spAutoFit/>
          </a:bodyPr>
          <a:lstStyle/>
          <a:p>
            <a:pPr algn="l"/>
            <a:r>
              <a:rPr sz="1300" b="1" i="0">
                <a:solidFill>
                  <a:srgbClr val="1A0F5C"/>
                </a:solidFill>
                <a:latin typeface="Calibri"/>
              </a:rPr>
              <a:t>What does each step read?</a:t>
            </a:r>
          </a:p>
        </p:txBody>
      </p:sp>
      <p:sp>
        <p:nvSpPr>
          <p:cNvPr id="25" name="TextBox 24"/>
          <p:cNvSpPr txBox="1"/>
          <p:nvPr/>
        </p:nvSpPr>
        <p:spPr>
          <a:xfrm>
            <a:off x="3523411" y="5472176"/>
            <a:ext cx="2316403" cy="201676"/>
          </a:xfrm>
          <a:prstGeom prst="rect">
            <a:avLst/>
          </a:prstGeom>
          <a:noFill/>
        </p:spPr>
        <p:txBody>
          <a:bodyPr wrap="square" anchor="t" lIns="0" rIns="0" tIns="0" bIns="0">
            <a:spAutoFit/>
          </a:bodyPr>
          <a:lstStyle/>
          <a:p>
            <a:pPr algn="l"/>
            <a:r>
              <a:rPr sz="1000" b="0" i="0">
                <a:solidFill>
                  <a:srgbClr val="6B6690"/>
                </a:solidFill>
                <a:latin typeface="Calibri"/>
              </a:rPr>
              <a:t>Step rate, drop-off, overall</a:t>
            </a:r>
          </a:p>
        </p:txBody>
      </p:sp>
      <p:sp>
        <p:nvSpPr>
          <p:cNvPr id="26" name="TextBox 25"/>
          <p:cNvSpPr txBox="1"/>
          <p:nvPr/>
        </p:nvSpPr>
        <p:spPr>
          <a:xfrm>
            <a:off x="6187287" y="4151121"/>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3</a:t>
            </a:r>
          </a:p>
        </p:txBody>
      </p:sp>
      <p:sp>
        <p:nvSpPr>
          <p:cNvPr id="27" name="Oval 26"/>
          <p:cNvSpPr/>
          <p:nvPr/>
        </p:nvSpPr>
        <p:spPr>
          <a:xfrm>
            <a:off x="7409497" y="4626609"/>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6187287" y="5038089"/>
            <a:ext cx="2645587" cy="90424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351879" y="5184393"/>
            <a:ext cx="2316403" cy="465836"/>
          </a:xfrm>
          <a:prstGeom prst="rect">
            <a:avLst/>
          </a:prstGeom>
          <a:noFill/>
        </p:spPr>
        <p:txBody>
          <a:bodyPr wrap="square" anchor="t" lIns="0" rIns="0" tIns="0" bIns="0">
            <a:spAutoFit/>
          </a:bodyPr>
          <a:lstStyle/>
          <a:p>
            <a:pPr algn="l"/>
            <a:r>
              <a:rPr sz="1300" b="1" i="0">
                <a:solidFill>
                  <a:srgbClr val="1A0F5C"/>
                </a:solidFill>
                <a:latin typeface="Calibri"/>
              </a:rPr>
              <a:t>Why does one step pass 100 percent?</a:t>
            </a:r>
          </a:p>
        </p:txBody>
      </p:sp>
      <p:sp>
        <p:nvSpPr>
          <p:cNvPr id="30" name="TextBox 29"/>
          <p:cNvSpPr txBox="1"/>
          <p:nvPr/>
        </p:nvSpPr>
        <p:spPr>
          <a:xfrm>
            <a:off x="6351879" y="5686805"/>
            <a:ext cx="2316403" cy="201676"/>
          </a:xfrm>
          <a:prstGeom prst="rect">
            <a:avLst/>
          </a:prstGeom>
          <a:noFill/>
        </p:spPr>
        <p:txBody>
          <a:bodyPr wrap="square" anchor="t" lIns="0" rIns="0" tIns="0" bIns="0">
            <a:spAutoFit/>
          </a:bodyPr>
          <a:lstStyle/>
          <a:p>
            <a:pPr algn="l"/>
            <a:r>
              <a:rPr sz="1000" b="0" i="0">
                <a:solidFill>
                  <a:srgbClr val="6B6690"/>
                </a:solidFill>
                <a:latin typeface="Calibri"/>
              </a:rPr>
              <a:t>A step people can skip</a:t>
            </a:r>
          </a:p>
        </p:txBody>
      </p:sp>
      <p:sp>
        <p:nvSpPr>
          <p:cNvPr id="31" name="TextBox 30"/>
          <p:cNvSpPr txBox="1"/>
          <p:nvPr/>
        </p:nvSpPr>
        <p:spPr>
          <a:xfrm>
            <a:off x="9015755" y="4151121"/>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4</a:t>
            </a:r>
          </a:p>
        </p:txBody>
      </p:sp>
      <p:sp>
        <p:nvSpPr>
          <p:cNvPr id="32" name="Oval 31"/>
          <p:cNvSpPr/>
          <p:nvPr/>
        </p:nvSpPr>
        <p:spPr>
          <a:xfrm>
            <a:off x="10237965" y="4626609"/>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ounded Rectangle 32"/>
          <p:cNvSpPr/>
          <p:nvPr/>
        </p:nvSpPr>
        <p:spPr>
          <a:xfrm>
            <a:off x="9015755" y="5038089"/>
            <a:ext cx="2645587" cy="90424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9180347" y="5184393"/>
            <a:ext cx="2316403" cy="465836"/>
          </a:xfrm>
          <a:prstGeom prst="rect">
            <a:avLst/>
          </a:prstGeom>
          <a:noFill/>
        </p:spPr>
        <p:txBody>
          <a:bodyPr wrap="square" anchor="t" lIns="0" rIns="0" tIns="0" bIns="0">
            <a:spAutoFit/>
          </a:bodyPr>
          <a:lstStyle/>
          <a:p>
            <a:pPr algn="l"/>
            <a:r>
              <a:rPr sz="1300" b="1" i="0">
                <a:solidFill>
                  <a:srgbClr val="FFFFFF"/>
                </a:solidFill>
                <a:latin typeface="Calibri"/>
              </a:rPr>
              <a:t>Per application or per applicant?</a:t>
            </a:r>
          </a:p>
        </p:txBody>
      </p:sp>
      <p:sp>
        <p:nvSpPr>
          <p:cNvPr id="35" name="TextBox 34"/>
          <p:cNvSpPr txBox="1"/>
          <p:nvPr/>
        </p:nvSpPr>
        <p:spPr>
          <a:xfrm>
            <a:off x="9180347" y="5686805"/>
            <a:ext cx="2316403" cy="201676"/>
          </a:xfrm>
          <a:prstGeom prst="rect">
            <a:avLst/>
          </a:prstGeom>
          <a:noFill/>
        </p:spPr>
        <p:txBody>
          <a:bodyPr wrap="square" anchor="t" lIns="0" rIns="0" tIns="0" bIns="0">
            <a:spAutoFit/>
          </a:bodyPr>
          <a:lstStyle/>
          <a:p>
            <a:pPr algn="l"/>
            <a:r>
              <a:rPr sz="1000" b="0" i="0">
                <a:solidFill>
                  <a:srgbClr val="CFC9EE"/>
                </a:solidFill>
                <a:latin typeface="Calibri"/>
              </a:rPr>
              <a:t>The unit, named</a:t>
            </a:r>
          </a:p>
        </p:txBody>
      </p:sp>
      <p:sp>
        <p:nvSpPr>
          <p:cNvPr id="36" name="Oval 35"/>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40080" y="6437376"/>
            <a:ext cx="1010412" cy="152146"/>
          </a:xfrm>
          <a:prstGeom prst="rect">
            <a:avLst/>
          </a:prstGeom>
          <a:noFill/>
        </p:spPr>
        <p:txBody>
          <a:bodyPr wrap="square" anchor="t" lIns="0" rIns="0" tIns="0" bIns="0">
            <a:spAutoFit/>
          </a:bodyPr>
          <a:lstStyle/>
          <a:p>
            <a:pPr algn="l"/>
            <a:r>
              <a:rPr sz="700" b="0" i="0">
                <a:solidFill>
                  <a:srgbClr val="6B6690"/>
                </a:solidFill>
                <a:latin typeface="Calibri"/>
              </a:rPr>
              <a:t>Who joined when?</a:t>
            </a:r>
          </a:p>
        </p:txBody>
      </p:sp>
      <p:sp>
        <p:nvSpPr>
          <p:cNvPr id="38" name="Oval 37"/>
          <p:cNvSpPr/>
          <p:nvPr/>
        </p:nvSpPr>
        <p:spPr>
          <a:xfrm>
            <a:off x="174193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185166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Where is the floor?</a:t>
            </a:r>
          </a:p>
        </p:txBody>
      </p:sp>
      <p:sp>
        <p:nvSpPr>
          <p:cNvPr id="40" name="Oval 39"/>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320125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a blend made of?</a:t>
            </a:r>
          </a:p>
        </p:txBody>
      </p:sp>
      <p:sp>
        <p:nvSpPr>
          <p:cNvPr id="42" name="Oval 41"/>
          <p:cNvSpPr/>
          <p:nvPr/>
        </p:nvSpPr>
        <p:spPr>
          <a:xfrm>
            <a:off x="467115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4780883"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Which step owns a loss?</a:t>
            </a:r>
          </a:p>
        </p:txBody>
      </p:sp>
      <p:sp>
        <p:nvSpPr>
          <p:cNvPr id="44" name="Oval 43"/>
          <p:cNvSpPr/>
          <p:nvPr/>
        </p:nvSpPr>
        <p:spPr>
          <a:xfrm>
            <a:off x="62047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6314503"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Who entered when?</a:t>
            </a:r>
          </a:p>
        </p:txBody>
      </p:sp>
      <p:sp>
        <p:nvSpPr>
          <p:cNvPr id="46" name="Oval 45"/>
          <p:cNvSpPr/>
          <p:nvPr/>
        </p:nvSpPr>
        <p:spPr>
          <a:xfrm>
            <a:off x="74623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7572089"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the 38 made of?</a:t>
            </a:r>
          </a:p>
        </p:txBody>
      </p:sp>
      <p:sp>
        <p:nvSpPr>
          <p:cNvPr id="48" name="Oval 47"/>
          <p:cNvSpPr/>
          <p:nvPr/>
        </p:nvSpPr>
        <p:spPr>
          <a:xfrm>
            <a:off x="899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910570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stage owns the loss?</a:t>
            </a:r>
          </a:p>
        </p:txBody>
      </p:sp>
      <p:sp>
        <p:nvSpPr>
          <p:cNvPr id="50" name="TextBox 4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S27  ·  31 / 73</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COHORT AND FUNNEL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Predict: which step owns this cycle's loss?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Last cycle against this one, at an invented college: which step owns the loss?</a:t>
            </a:r>
          </a:p>
        </p:txBody>
      </p:sp>
      <p:pic>
        <p:nvPicPr>
          <p:cNvPr id="9" name="mermaid diagram" descr="C2_W04_D04_college_funnel_STUDENT.png"/>
          <p:cNvPicPr>
            <a:picLocks noChangeAspect="1"/>
          </p:cNvPicPr>
          <p:nvPr/>
        </p:nvPicPr>
        <p:blipFill>
          <a:blip r:embed="rId4"/>
          <a:stretch>
            <a:fillRect/>
          </a:stretch>
        </p:blipFill>
        <p:spPr>
          <a:xfrm>
            <a:off x="530352" y="2559285"/>
            <a:ext cx="4786326" cy="2239300"/>
          </a:xfrm>
          <a:prstGeom prst="rect">
            <a:avLst/>
          </a:prstGeom>
        </p:spPr>
      </p:pic>
      <p:sp>
        <p:nvSpPr>
          <p:cNvPr id="10" name="picture caption"/>
          <p:cNvSpPr txBox="1"/>
          <p:nvPr/>
        </p:nvSpPr>
        <p:spPr>
          <a:xfrm>
            <a:off x="530352" y="4835162"/>
            <a:ext cx="4786326" cy="524256"/>
          </a:xfrm>
          <a:prstGeom prst="rect">
            <a:avLst/>
          </a:prstGeom>
          <a:noFill/>
        </p:spPr>
        <p:txBody>
          <a:bodyPr wrap="square" anchor="t" lIns="0" rIns="0" tIns="0" bIns="0">
            <a:spAutoFit/>
          </a:bodyPr>
          <a:lstStyle/>
          <a:p>
            <a:pPr algn="ctr"/>
            <a:r>
              <a:rPr sz="1200" b="0" i="0">
                <a:solidFill>
                  <a:srgbClr val="6B6690"/>
                </a:solidFill>
                <a:latin typeface="Calibri"/>
              </a:rPr>
              <a:t>Applications at each stage, last cycle and this cycle (invented)</a:t>
            </a:r>
          </a:p>
        </p:txBody>
      </p:sp>
      <p:sp>
        <p:nvSpPr>
          <p:cNvPr id="11" name="TextBox 10"/>
          <p:cNvSpPr txBox="1"/>
          <p:nvPr/>
        </p:nvSpPr>
        <p:spPr>
          <a:xfrm>
            <a:off x="5761917" y="1956816"/>
            <a:ext cx="5899425" cy="1654048"/>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Shortlisting, the lowest step at 50 percent</a:t>
            </a:r>
          </a:p>
          <a:p>
            <a:pPr>
              <a:spcAft>
                <a:spcPts val="800"/>
              </a:spcAft>
            </a:pPr>
            <a:r>
              <a:rPr sz="1600" b="0" i="0">
                <a:solidFill>
                  <a:srgbClr val="1A1440"/>
                </a:solidFill>
                <a:latin typeface="Calibri"/>
              </a:rPr>
              <a:t>b) Offer acceptance, at 75 percent this cycle</a:t>
            </a:r>
          </a:p>
          <a:p>
            <a:pPr>
              <a:spcAft>
                <a:spcPts val="800"/>
              </a:spcAft>
            </a:pPr>
            <a:r>
              <a:rPr sz="1600" b="0" i="0">
                <a:solidFill>
                  <a:srgbClr val="1A1440"/>
                </a:solidFill>
                <a:latin typeface="Calibri"/>
              </a:rPr>
              <a:t>c) Joining, at 80 percent</a:t>
            </a:r>
          </a:p>
          <a:p>
            <a:pPr>
              <a:spcAft>
                <a:spcPts val="800"/>
              </a:spcAft>
            </a:pPr>
            <a:r>
              <a:rPr sz="1600" b="0" i="0">
                <a:solidFill>
                  <a:srgbClr val="1A1440"/>
                </a:solidFill>
                <a:latin typeface="Calibri"/>
              </a:rPr>
              <a:t>d) The test, which 200 applications never sit</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010412" cy="152146"/>
          </a:xfrm>
          <a:prstGeom prst="rect">
            <a:avLst/>
          </a:prstGeom>
          <a:noFill/>
        </p:spPr>
        <p:txBody>
          <a:bodyPr wrap="square" anchor="t" lIns="0" rIns="0" tIns="0" bIns="0">
            <a:spAutoFit/>
          </a:bodyPr>
          <a:lstStyle/>
          <a:p>
            <a:pPr algn="l"/>
            <a:r>
              <a:rPr sz="700" b="0" i="0">
                <a:solidFill>
                  <a:srgbClr val="6B6690"/>
                </a:solidFill>
                <a:latin typeface="Calibri"/>
              </a:rPr>
              <a:t>Who joined when?</a:t>
            </a:r>
          </a:p>
        </p:txBody>
      </p:sp>
      <p:sp>
        <p:nvSpPr>
          <p:cNvPr id="14" name="Oval 13"/>
          <p:cNvSpPr/>
          <p:nvPr/>
        </p:nvSpPr>
        <p:spPr>
          <a:xfrm>
            <a:off x="174193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85166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Where is the floor?</a:t>
            </a:r>
          </a:p>
        </p:txBody>
      </p:sp>
      <p:sp>
        <p:nvSpPr>
          <p:cNvPr id="16" name="Oval 15"/>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20125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a blend made of?</a:t>
            </a:r>
          </a:p>
        </p:txBody>
      </p:sp>
      <p:sp>
        <p:nvSpPr>
          <p:cNvPr id="18" name="Oval 17"/>
          <p:cNvSpPr/>
          <p:nvPr/>
        </p:nvSpPr>
        <p:spPr>
          <a:xfrm>
            <a:off x="467115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780883"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Which step owns a loss?</a:t>
            </a:r>
          </a:p>
        </p:txBody>
      </p:sp>
      <p:sp>
        <p:nvSpPr>
          <p:cNvPr id="20" name="Oval 19"/>
          <p:cNvSpPr/>
          <p:nvPr/>
        </p:nvSpPr>
        <p:spPr>
          <a:xfrm>
            <a:off x="62047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314503"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Who entered when?</a:t>
            </a:r>
          </a:p>
        </p:txBody>
      </p:sp>
      <p:sp>
        <p:nvSpPr>
          <p:cNvPr id="22" name="Oval 21"/>
          <p:cNvSpPr/>
          <p:nvPr/>
        </p:nvSpPr>
        <p:spPr>
          <a:xfrm>
            <a:off x="74623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572089"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the 38 made of?</a:t>
            </a:r>
          </a:p>
        </p:txBody>
      </p:sp>
      <p:sp>
        <p:nvSpPr>
          <p:cNvPr id="24" name="Oval 23"/>
          <p:cNvSpPr/>
          <p:nvPr/>
        </p:nvSpPr>
        <p:spPr>
          <a:xfrm>
            <a:off x="899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10570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stage owns the loss?</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S28  ·  32 / 73</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COHORT AND FUNNEL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offer acceptance, the step that moved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step changed against its own past, and which only looks low?</a:t>
            </a:r>
          </a:p>
        </p:txBody>
      </p:sp>
      <p:pic>
        <p:nvPicPr>
          <p:cNvPr id="9" name="mermaid diagram" descr="C2_W04_D04_college_steps_STUDENT.png"/>
          <p:cNvPicPr>
            <a:picLocks noChangeAspect="1"/>
          </p:cNvPicPr>
          <p:nvPr/>
        </p:nvPicPr>
        <p:blipFill>
          <a:blip r:embed="rId4"/>
          <a:stretch>
            <a:fillRect/>
          </a:stretch>
        </p:blipFill>
        <p:spPr>
          <a:xfrm>
            <a:off x="2790636" y="1664208"/>
            <a:ext cx="6610423" cy="2939288"/>
          </a:xfrm>
          <a:prstGeom prst="rect">
            <a:avLst/>
          </a:prstGeom>
        </p:spPr>
      </p:pic>
      <p:sp>
        <p:nvSpPr>
          <p:cNvPr id="10" name="picture caption"/>
          <p:cNvSpPr txBox="1"/>
          <p:nvPr/>
        </p:nvSpPr>
        <p:spPr>
          <a:xfrm>
            <a:off x="530352" y="4640072"/>
            <a:ext cx="11130991" cy="316992"/>
          </a:xfrm>
          <a:prstGeom prst="rect">
            <a:avLst/>
          </a:prstGeom>
          <a:noFill/>
        </p:spPr>
        <p:txBody>
          <a:bodyPr wrap="square" anchor="t" lIns="0" rIns="0" tIns="0" bIns="0">
            <a:spAutoFit/>
          </a:bodyPr>
          <a:lstStyle/>
          <a:p>
            <a:pPr algn="ctr"/>
            <a:r>
              <a:rPr sz="1200" b="0" i="0">
                <a:solidFill>
                  <a:srgbClr val="6B6690"/>
                </a:solidFill>
                <a:latin typeface="Calibri"/>
              </a:rPr>
              <a:t>Each step's rate, last cycle and this cycle (invented)</a:t>
            </a:r>
          </a:p>
        </p:txBody>
      </p:sp>
      <p:sp>
        <p:nvSpPr>
          <p:cNvPr id="11" name="TextBox 10"/>
          <p:cNvSpPr txBox="1"/>
          <p:nvPr/>
        </p:nvSpPr>
        <p:spPr>
          <a:xfrm>
            <a:off x="530352" y="4966208"/>
            <a:ext cx="11130991" cy="1233424"/>
          </a:xfrm>
          <a:prstGeom prst="rect">
            <a:avLst/>
          </a:prstGeom>
          <a:noFill/>
        </p:spPr>
        <p:txBody>
          <a:bodyPr wrap="square" anchor="t" lIns="0" rIns="0" tIns="0" bIns="0">
            <a:spAutoFit/>
          </a:bodyPr>
          <a:lstStyle/>
          <a:p>
            <a:r>
              <a:rPr sz="1600" b="0" i="0">
                <a:solidFill>
                  <a:srgbClr val="1A1440"/>
                </a:solidFill>
                <a:latin typeface="Calibri"/>
              </a:rPr>
              <a:t>The answer is b. Offer acceptance fell from 90 to 75 percent of those shortlisted, and every other step read the same in both cycles. Shortlisting reads 50 percent because the college selects half by design, and it did not move: when the overall falls, the step that moved against its own past owns the fall, and a low, steady step is how the process runs.</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010412" cy="152146"/>
          </a:xfrm>
          <a:prstGeom prst="rect">
            <a:avLst/>
          </a:prstGeom>
          <a:noFill/>
        </p:spPr>
        <p:txBody>
          <a:bodyPr wrap="square" anchor="t" lIns="0" rIns="0" tIns="0" bIns="0">
            <a:spAutoFit/>
          </a:bodyPr>
          <a:lstStyle/>
          <a:p>
            <a:pPr algn="l"/>
            <a:r>
              <a:rPr sz="700" b="0" i="0">
                <a:solidFill>
                  <a:srgbClr val="6B6690"/>
                </a:solidFill>
                <a:latin typeface="Calibri"/>
              </a:rPr>
              <a:t>Who joined when?</a:t>
            </a:r>
          </a:p>
        </p:txBody>
      </p:sp>
      <p:sp>
        <p:nvSpPr>
          <p:cNvPr id="14" name="Oval 13"/>
          <p:cNvSpPr/>
          <p:nvPr/>
        </p:nvSpPr>
        <p:spPr>
          <a:xfrm>
            <a:off x="174193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85166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Where is the floor?</a:t>
            </a:r>
          </a:p>
        </p:txBody>
      </p:sp>
      <p:sp>
        <p:nvSpPr>
          <p:cNvPr id="16" name="Oval 15"/>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20125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a blend made of?</a:t>
            </a:r>
          </a:p>
        </p:txBody>
      </p:sp>
      <p:sp>
        <p:nvSpPr>
          <p:cNvPr id="18" name="Oval 17"/>
          <p:cNvSpPr/>
          <p:nvPr/>
        </p:nvSpPr>
        <p:spPr>
          <a:xfrm>
            <a:off x="467115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780883"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Which step owns a loss?</a:t>
            </a:r>
          </a:p>
        </p:txBody>
      </p:sp>
      <p:sp>
        <p:nvSpPr>
          <p:cNvPr id="20" name="Oval 19"/>
          <p:cNvSpPr/>
          <p:nvPr/>
        </p:nvSpPr>
        <p:spPr>
          <a:xfrm>
            <a:off x="62047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314503"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Who entered when?</a:t>
            </a:r>
          </a:p>
        </p:txBody>
      </p:sp>
      <p:sp>
        <p:nvSpPr>
          <p:cNvPr id="22" name="Oval 21"/>
          <p:cNvSpPr/>
          <p:nvPr/>
        </p:nvSpPr>
        <p:spPr>
          <a:xfrm>
            <a:off x="74623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572089"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the 38 made of?</a:t>
            </a:r>
          </a:p>
        </p:txBody>
      </p:sp>
      <p:sp>
        <p:nvSpPr>
          <p:cNvPr id="24" name="Oval 23"/>
          <p:cNvSpPr/>
          <p:nvPr/>
        </p:nvSpPr>
        <p:spPr>
          <a:xfrm>
            <a:off x="899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10570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stage owns the loss?</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S29  ·  33 / 73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COHORT AND FUNNEL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Step rate, drop-off and overall, by hand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each step read this cycle, and how do the steps make the overall?</a:t>
            </a:r>
          </a:p>
        </p:txBody>
      </p:sp>
      <p:graphicFrame>
        <p:nvGraphicFramePr>
          <p:cNvPr id="9" name="Table 8"/>
          <p:cNvGraphicFramePr>
            <a:graphicFrameLocks noGrp="1"/>
          </p:cNvGraphicFramePr>
          <p:nvPr/>
        </p:nvGraphicFramePr>
        <p:xfrm>
          <a:off x="530352" y="1956816"/>
          <a:ext cx="11130989" cy="1341120"/>
        </p:xfrm>
        <a:graphic>
          <a:graphicData uri="http://schemas.openxmlformats.org/drawingml/2006/table">
            <a:tbl>
              <a:tblPr firstRow="0" bandRow="0">
                <a:tableStyleId>{2D5ABB26-0587-4C30-8999-92F81FD0307C}</a:tableStyleId>
              </a:tblPr>
              <a:tblGrid>
                <a:gridCol w="4466668"/>
                <a:gridCol w="914400"/>
                <a:gridCol w="1821424"/>
                <a:gridCol w="1695674"/>
                <a:gridCol w="1318423"/>
                <a:gridCol w="914400"/>
              </a:tblGrid>
              <a:tr h="335280">
                <a:tc>
                  <a:txBody>
                    <a:bodyPr/>
                    <a:lstStyle/>
                    <a:p>
                      <a:r>
                        <a:rPr sz="1250" b="1" i="0">
                          <a:solidFill>
                            <a:srgbClr val="FFFFFF"/>
                          </a:solidFill>
                          <a:latin typeface="Calibri"/>
                        </a:rPr>
                        <a:t>This cycle (invented)</a:t>
                      </a:r>
                    </a:p>
                  </a:txBody>
                  <a:tcPr marL="101600" marR="101600" marT="38100" marB="38100" anchor="ctr">
                    <a:solidFill>
                      <a:srgbClr val="1A0F5C"/>
                    </a:solidFill>
                  </a:tcPr>
                </a:tc>
                <a:tc>
                  <a:txBody>
                    <a:bodyPr/>
                    <a:lstStyle/>
                    <a:p>
                      <a:r>
                        <a:rPr sz="1250" b="1" i="0">
                          <a:solidFill>
                            <a:srgbClr val="FFFFFF"/>
                          </a:solidFill>
                          <a:latin typeface="Calibri"/>
                        </a:rPr>
                        <a:t>Applied</a:t>
                      </a:r>
                    </a:p>
                  </a:txBody>
                  <a:tcPr marL="101600" marR="101600" marT="38100" marB="38100" anchor="ctr">
                    <a:solidFill>
                      <a:srgbClr val="1A0F5C"/>
                    </a:solidFill>
                  </a:tcPr>
                </a:tc>
                <a:tc>
                  <a:txBody>
                    <a:bodyPr/>
                    <a:lstStyle/>
                    <a:p>
                      <a:r>
                        <a:rPr sz="1250" b="1" i="0">
                          <a:solidFill>
                            <a:srgbClr val="FFFFFF"/>
                          </a:solidFill>
                          <a:latin typeface="Calibri"/>
                        </a:rPr>
                        <a:t>Sat the test</a:t>
                      </a:r>
                    </a:p>
                  </a:txBody>
                  <a:tcPr marL="101600" marR="101600" marT="38100" marB="38100" anchor="ctr">
                    <a:solidFill>
                      <a:srgbClr val="1A0F5C"/>
                    </a:solidFill>
                  </a:tcPr>
                </a:tc>
                <a:tc>
                  <a:txBody>
                    <a:bodyPr/>
                    <a:lstStyle/>
                    <a:p>
                      <a:r>
                        <a:rPr sz="1250" b="1" i="0">
                          <a:solidFill>
                            <a:srgbClr val="FFFFFF"/>
                          </a:solidFill>
                          <a:latin typeface="Calibri"/>
                        </a:rPr>
                        <a:t>Shortlisted</a:t>
                      </a:r>
                    </a:p>
                  </a:txBody>
                  <a:tcPr marL="101600" marR="101600" marT="38100" marB="38100" anchor="ctr">
                    <a:solidFill>
                      <a:srgbClr val="1A0F5C"/>
                    </a:solidFill>
                  </a:tcPr>
                </a:tc>
                <a:tc>
                  <a:txBody>
                    <a:bodyPr/>
                    <a:lstStyle/>
                    <a:p>
                      <a:r>
                        <a:rPr sz="1250" b="1" i="0">
                          <a:solidFill>
                            <a:srgbClr val="FFFFFF"/>
                          </a:solidFill>
                          <a:latin typeface="Calibri"/>
                        </a:rPr>
                        <a:t>Accepted</a:t>
                      </a:r>
                    </a:p>
                  </a:txBody>
                  <a:tcPr marL="101600" marR="101600" marT="38100" marB="38100" anchor="ctr">
                    <a:solidFill>
                      <a:srgbClr val="1A0F5C"/>
                    </a:solidFill>
                  </a:tcPr>
                </a:tc>
                <a:tc>
                  <a:txBody>
                    <a:bodyPr/>
                    <a:lstStyle/>
                    <a:p>
                      <a:r>
                        <a:rPr sz="1250" b="1" i="0">
                          <a:solidFill>
                            <a:srgbClr val="FFFFFF"/>
                          </a:solidFill>
                          <a:latin typeface="Calibri"/>
                        </a:rPr>
                        <a:t>Joined</a:t>
                      </a:r>
                    </a:p>
                  </a:txBody>
                  <a:tcPr marL="101600" marR="101600" marT="38100" marB="38100" anchor="ctr">
                    <a:solidFill>
                      <a:srgbClr val="1A0F5C"/>
                    </a:solidFill>
                  </a:tcPr>
                </a:tc>
              </a:tr>
              <a:tr h="335280">
                <a:tc>
                  <a:txBody>
                    <a:bodyPr/>
                    <a:lstStyle/>
                    <a:p>
                      <a:r>
                        <a:rPr sz="1200" b="0" i="0">
                          <a:solidFill>
                            <a:srgbClr val="1A1440"/>
                          </a:solidFill>
                          <a:latin typeface="Calibri"/>
                        </a:rPr>
                        <a:t>Applications</a:t>
                      </a:r>
                    </a:p>
                  </a:txBody>
                  <a:tcPr marL="101600" marR="101600" marT="38100" marB="38100" anchor="ctr">
                    <a:solidFill>
                      <a:srgbClr val="FFFFFF"/>
                    </a:solidFill>
                  </a:tcPr>
                </a:tc>
                <a:tc>
                  <a:txBody>
                    <a:bodyPr/>
                    <a:lstStyle/>
                    <a:p>
                      <a:r>
                        <a:rPr sz="1200" b="0" i="0">
                          <a:solidFill>
                            <a:srgbClr val="1A1440"/>
                          </a:solidFill>
                          <a:latin typeface="Calibri"/>
                        </a:rPr>
                        <a:t>1,000</a:t>
                      </a:r>
                    </a:p>
                  </a:txBody>
                  <a:tcPr marL="101600" marR="101600" marT="38100" marB="38100" anchor="ctr">
                    <a:solidFill>
                      <a:srgbClr val="FFFFFF"/>
                    </a:solidFill>
                  </a:tcPr>
                </a:tc>
                <a:tc>
                  <a:txBody>
                    <a:bodyPr/>
                    <a:lstStyle/>
                    <a:p>
                      <a:r>
                        <a:rPr sz="1200" b="0" i="0">
                          <a:solidFill>
                            <a:srgbClr val="1A1440"/>
                          </a:solidFill>
                          <a:latin typeface="Calibri"/>
                        </a:rPr>
                        <a:t>800</a:t>
                      </a:r>
                    </a:p>
                  </a:txBody>
                  <a:tcPr marL="101600" marR="101600" marT="38100" marB="38100" anchor="ctr">
                    <a:solidFill>
                      <a:srgbClr val="FFFFFF"/>
                    </a:solidFill>
                  </a:tcPr>
                </a:tc>
                <a:tc>
                  <a:txBody>
                    <a:bodyPr/>
                    <a:lstStyle/>
                    <a:p>
                      <a:r>
                        <a:rPr sz="1200" b="0" i="0">
                          <a:solidFill>
                            <a:srgbClr val="1A1440"/>
                          </a:solidFill>
                          <a:latin typeface="Calibri"/>
                        </a:rPr>
                        <a:t>400</a:t>
                      </a:r>
                    </a:p>
                  </a:txBody>
                  <a:tcPr marL="101600" marR="101600" marT="38100" marB="38100" anchor="ctr">
                    <a:solidFill>
                      <a:srgbClr val="FFFFFF"/>
                    </a:solidFill>
                  </a:tcPr>
                </a:tc>
                <a:tc>
                  <a:txBody>
                    <a:bodyPr/>
                    <a:lstStyle/>
                    <a:p>
                      <a:r>
                        <a:rPr sz="1200" b="0" i="0">
                          <a:solidFill>
                            <a:srgbClr val="1A1440"/>
                          </a:solidFill>
                          <a:latin typeface="Calibri"/>
                        </a:rPr>
                        <a:t>300</a:t>
                      </a:r>
                    </a:p>
                  </a:txBody>
                  <a:tcPr marL="101600" marR="101600" marT="38100" marB="38100" anchor="ctr">
                    <a:solidFill>
                      <a:srgbClr val="FFFFFF"/>
                    </a:solidFill>
                  </a:tcPr>
                </a:tc>
                <a:tc>
                  <a:txBody>
                    <a:bodyPr/>
                    <a:lstStyle/>
                    <a:p>
                      <a:r>
                        <a:rPr sz="1200" b="0" i="0">
                          <a:solidFill>
                            <a:srgbClr val="1A1440"/>
                          </a:solidFill>
                          <a:latin typeface="Calibri"/>
                        </a:rPr>
                        <a:t>240</a:t>
                      </a:r>
                    </a:p>
                  </a:txBody>
                  <a:tcPr marL="101600" marR="101600" marT="38100" marB="38100" anchor="ctr">
                    <a:solidFill>
                      <a:srgbClr val="FFFFFF"/>
                    </a:solidFill>
                  </a:tcPr>
                </a:tc>
              </a:tr>
              <a:tr h="335280">
                <a:tc>
                  <a:txBody>
                    <a:bodyPr/>
                    <a:lstStyle/>
                    <a:p>
                      <a:r>
                        <a:rPr sz="1200" b="0" i="0">
                          <a:solidFill>
                            <a:srgbClr val="1A1440"/>
                          </a:solidFill>
                          <a:latin typeface="Calibri"/>
                        </a:rPr>
                        <a:t>Step rate, percent of the step before</a:t>
                      </a:r>
                    </a:p>
                  </a:txBody>
                  <a:tcPr marL="101600" marR="101600" marT="38100" marB="38100" anchor="ctr">
                    <a:solidFill>
                      <a:srgbClr val="F4F2FA"/>
                    </a:solidFill>
                  </a:tcPr>
                </a:tc>
                <a:tc>
                  <a:txBody>
                    <a:bodyPr/>
                    <a:lstStyle/>
                    <a:p/>
                  </a:txBody>
                  <a:tcPr marL="101600" marR="101600" marT="38100" marB="38100" anchor="ctr">
                    <a:solidFill>
                      <a:srgbClr val="F4F2FA"/>
                    </a:solidFill>
                  </a:tcPr>
                </a:tc>
                <a:tc>
                  <a:txBody>
                    <a:bodyPr/>
                    <a:lstStyle/>
                    <a:p>
                      <a:r>
                        <a:rPr sz="1200" b="0" i="0">
                          <a:solidFill>
                            <a:srgbClr val="1A1440"/>
                          </a:solidFill>
                          <a:latin typeface="Calibri"/>
                        </a:rPr>
                        <a:t>80</a:t>
                      </a:r>
                    </a:p>
                  </a:txBody>
                  <a:tcPr marL="101600" marR="101600" marT="38100" marB="38100" anchor="ctr">
                    <a:solidFill>
                      <a:srgbClr val="F4F2FA"/>
                    </a:solidFill>
                  </a:tcPr>
                </a:tc>
                <a:tc>
                  <a:txBody>
                    <a:bodyPr/>
                    <a:lstStyle/>
                    <a:p>
                      <a:r>
                        <a:rPr sz="1200" b="0" i="0">
                          <a:solidFill>
                            <a:srgbClr val="1A1440"/>
                          </a:solidFill>
                          <a:latin typeface="Calibri"/>
                        </a:rPr>
                        <a:t>50</a:t>
                      </a:r>
                    </a:p>
                  </a:txBody>
                  <a:tcPr marL="101600" marR="101600" marT="38100" marB="38100" anchor="ctr">
                    <a:solidFill>
                      <a:srgbClr val="F4F2FA"/>
                    </a:solidFill>
                  </a:tcPr>
                </a:tc>
                <a:tc>
                  <a:txBody>
                    <a:bodyPr/>
                    <a:lstStyle/>
                    <a:p>
                      <a:r>
                        <a:rPr sz="1200" b="0" i="0">
                          <a:solidFill>
                            <a:srgbClr val="1A1440"/>
                          </a:solidFill>
                          <a:latin typeface="Calibri"/>
                        </a:rPr>
                        <a:t>75</a:t>
                      </a:r>
                    </a:p>
                  </a:txBody>
                  <a:tcPr marL="101600" marR="101600" marT="38100" marB="38100" anchor="ctr">
                    <a:solidFill>
                      <a:srgbClr val="F4F2FA"/>
                    </a:solidFill>
                  </a:tcPr>
                </a:tc>
                <a:tc>
                  <a:txBody>
                    <a:bodyPr/>
                    <a:lstStyle/>
                    <a:p>
                      <a:r>
                        <a:rPr sz="1200" b="0" i="0">
                          <a:solidFill>
                            <a:srgbClr val="1A1440"/>
                          </a:solidFill>
                          <a:latin typeface="Calibri"/>
                        </a:rPr>
                        <a:t>80</a:t>
                      </a:r>
                    </a:p>
                  </a:txBody>
                  <a:tcPr marL="101600" marR="101600" marT="38100" marB="38100" anchor="ctr">
                    <a:solidFill>
                      <a:srgbClr val="F4F2FA"/>
                    </a:solidFill>
                  </a:tcPr>
                </a:tc>
              </a:tr>
              <a:tr h="335280">
                <a:tc>
                  <a:txBody>
                    <a:bodyPr/>
                    <a:lstStyle/>
                    <a:p>
                      <a:r>
                        <a:rPr sz="1200" b="0" i="0">
                          <a:solidFill>
                            <a:srgbClr val="1A1440"/>
                          </a:solidFill>
                          <a:latin typeface="Calibri"/>
                        </a:rPr>
                        <a:t>Drop-off, percent</a:t>
                      </a:r>
                    </a:p>
                  </a:txBody>
                  <a:tcPr marL="101600" marR="101600" marT="38100" marB="38100" anchor="ctr">
                    <a:solidFill>
                      <a:srgbClr val="FFFFFF"/>
                    </a:solidFill>
                  </a:tcPr>
                </a:tc>
                <a:tc>
                  <a:txBody>
                    <a:bodyPr/>
                    <a:lstStyle/>
                    <a:p/>
                  </a:txBody>
                  <a:tcPr marL="101600" marR="101600" marT="38100" marB="38100" anchor="ctr">
                    <a:solidFill>
                      <a:srgbClr val="FFFFFF"/>
                    </a:solidFill>
                  </a:tcPr>
                </a:tc>
                <a:tc>
                  <a:txBody>
                    <a:bodyPr/>
                    <a:lstStyle/>
                    <a:p>
                      <a:r>
                        <a:rPr sz="1200" b="0" i="0">
                          <a:solidFill>
                            <a:srgbClr val="1A1440"/>
                          </a:solidFill>
                          <a:latin typeface="Calibri"/>
                        </a:rPr>
                        <a:t>20</a:t>
                      </a:r>
                    </a:p>
                  </a:txBody>
                  <a:tcPr marL="101600" marR="101600" marT="38100" marB="38100" anchor="ctr">
                    <a:solidFill>
                      <a:srgbClr val="FFFFFF"/>
                    </a:solidFill>
                  </a:tcPr>
                </a:tc>
                <a:tc>
                  <a:txBody>
                    <a:bodyPr/>
                    <a:lstStyle/>
                    <a:p>
                      <a:r>
                        <a:rPr sz="1200" b="0" i="0">
                          <a:solidFill>
                            <a:srgbClr val="1A1440"/>
                          </a:solidFill>
                          <a:latin typeface="Calibri"/>
                        </a:rPr>
                        <a:t>50</a:t>
                      </a:r>
                    </a:p>
                  </a:txBody>
                  <a:tcPr marL="101600" marR="101600" marT="38100" marB="38100" anchor="ctr">
                    <a:solidFill>
                      <a:srgbClr val="FFFFFF"/>
                    </a:solidFill>
                  </a:tcPr>
                </a:tc>
                <a:tc>
                  <a:txBody>
                    <a:bodyPr/>
                    <a:lstStyle/>
                    <a:p>
                      <a:r>
                        <a:rPr sz="1200" b="0" i="0">
                          <a:solidFill>
                            <a:srgbClr val="1A1440"/>
                          </a:solidFill>
                          <a:latin typeface="Calibri"/>
                        </a:rPr>
                        <a:t>25</a:t>
                      </a:r>
                    </a:p>
                  </a:txBody>
                  <a:tcPr marL="101600" marR="101600" marT="38100" marB="38100" anchor="ctr">
                    <a:solidFill>
                      <a:srgbClr val="FFFFFF"/>
                    </a:solidFill>
                  </a:tcPr>
                </a:tc>
                <a:tc>
                  <a:txBody>
                    <a:bodyPr/>
                    <a:lstStyle/>
                    <a:p>
                      <a:r>
                        <a:rPr sz="1200" b="0" i="0">
                          <a:solidFill>
                            <a:srgbClr val="1A1440"/>
                          </a:solidFill>
                          <a:latin typeface="Calibri"/>
                        </a:rPr>
                        <a:t>20</a:t>
                      </a:r>
                    </a:p>
                  </a:txBody>
                  <a:tcPr marL="101600" marR="101600" marT="38100" marB="38100" anchor="ctr">
                    <a:solidFill>
                      <a:srgbClr val="FFFFFF"/>
                    </a:solidFill>
                  </a:tcPr>
                </a:tc>
              </a:tr>
            </a:tbl>
          </a:graphicData>
        </a:graphic>
      </p:graphicFrame>
      <p:sp>
        <p:nvSpPr>
          <p:cNvPr id="10" name="Rounded Rectangle 9"/>
          <p:cNvSpPr/>
          <p:nvPr/>
        </p:nvSpPr>
        <p:spPr>
          <a:xfrm>
            <a:off x="530352" y="3553968"/>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3681984"/>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3672840"/>
            <a:ext cx="10564063" cy="891540"/>
          </a:xfrm>
          <a:prstGeom prst="rect">
            <a:avLst/>
          </a:prstGeom>
          <a:noFill/>
        </p:spPr>
        <p:txBody>
          <a:bodyPr wrap="square" anchor="ctr" lIns="0" rIns="0" tIns="0" bIns="0">
            <a:spAutoFit/>
          </a:bodyPr>
          <a:lstStyle/>
          <a:p>
            <a:r>
              <a:rPr sz="1500" b="1">
                <a:solidFill>
                  <a:srgbClr val="5B3FD6"/>
                </a:solidFill>
                <a:latin typeface="Calibri"/>
              </a:rPr>
              <a:t>Named last. </a:t>
            </a:r>
            <a:r>
              <a:rPr sz="1500" b="0" i="0">
                <a:solidFill>
                  <a:srgbClr val="1A1440"/>
                </a:solidFill>
                <a:latin typeface="Calibri"/>
              </a:rPr>
              <a:t>Step rate = those who reached a step ÷ those who reached the step before, in one unit. Drop-off = 100 less the step rate. Overall conversion = the last step ÷ the first: 240 ÷ 1,000 = 24 percent this cycle against 28.8 last cycle, and the step rates multiply to it, 0.80 × 0.50 × 0.75 × 0.80 = 0.24.</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010412" cy="152146"/>
          </a:xfrm>
          <a:prstGeom prst="rect">
            <a:avLst/>
          </a:prstGeom>
          <a:noFill/>
        </p:spPr>
        <p:txBody>
          <a:bodyPr wrap="square" anchor="t" lIns="0" rIns="0" tIns="0" bIns="0">
            <a:spAutoFit/>
          </a:bodyPr>
          <a:lstStyle/>
          <a:p>
            <a:pPr algn="l"/>
            <a:r>
              <a:rPr sz="700" b="0" i="0">
                <a:solidFill>
                  <a:srgbClr val="6B6690"/>
                </a:solidFill>
                <a:latin typeface="Calibri"/>
              </a:rPr>
              <a:t>Who joined when?</a:t>
            </a:r>
          </a:p>
        </p:txBody>
      </p:sp>
      <p:sp>
        <p:nvSpPr>
          <p:cNvPr id="15" name="Oval 14"/>
          <p:cNvSpPr/>
          <p:nvPr/>
        </p:nvSpPr>
        <p:spPr>
          <a:xfrm>
            <a:off x="174193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85166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Where is the floor?</a:t>
            </a:r>
          </a:p>
        </p:txBody>
      </p:sp>
      <p:sp>
        <p:nvSpPr>
          <p:cNvPr id="17" name="Oval 16"/>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20125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a blend made of?</a:t>
            </a:r>
          </a:p>
        </p:txBody>
      </p:sp>
      <p:sp>
        <p:nvSpPr>
          <p:cNvPr id="19" name="Oval 18"/>
          <p:cNvSpPr/>
          <p:nvPr/>
        </p:nvSpPr>
        <p:spPr>
          <a:xfrm>
            <a:off x="467115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780883"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Which step owns a loss?</a:t>
            </a:r>
          </a:p>
        </p:txBody>
      </p:sp>
      <p:sp>
        <p:nvSpPr>
          <p:cNvPr id="21" name="Oval 20"/>
          <p:cNvSpPr/>
          <p:nvPr/>
        </p:nvSpPr>
        <p:spPr>
          <a:xfrm>
            <a:off x="62047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314503"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Who entered when?</a:t>
            </a:r>
          </a:p>
        </p:txBody>
      </p:sp>
      <p:sp>
        <p:nvSpPr>
          <p:cNvPr id="23" name="Oval 22"/>
          <p:cNvSpPr/>
          <p:nvPr/>
        </p:nvSpPr>
        <p:spPr>
          <a:xfrm>
            <a:off x="74623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572089"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the 38 made of?</a:t>
            </a:r>
          </a:p>
        </p:txBody>
      </p:sp>
      <p:sp>
        <p:nvSpPr>
          <p:cNvPr id="25" name="Oval 24"/>
          <p:cNvSpPr/>
          <p:nvPr/>
        </p:nvSpPr>
        <p:spPr>
          <a:xfrm>
            <a:off x="899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910570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stage owns the loss?</a:t>
            </a:r>
          </a:p>
        </p:txBody>
      </p:sp>
      <p:sp>
        <p:nvSpPr>
          <p:cNvPr id="27" name="TextBox 2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S30  ·  34 / 73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COHORT AND FUNNEL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step above 100 percent is one people skip</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Why does the sister programme's test to shortlist read 107 percent, and what does it really read?</a:t>
            </a:r>
          </a:p>
        </p:txBody>
      </p:sp>
      <p:graphicFrame>
        <p:nvGraphicFramePr>
          <p:cNvPr id="9" name="Table 8"/>
          <p:cNvGraphicFramePr>
            <a:graphicFrameLocks noGrp="1"/>
          </p:cNvGraphicFramePr>
          <p:nvPr/>
        </p:nvGraphicFramePr>
        <p:xfrm>
          <a:off x="530352" y="1956816"/>
          <a:ext cx="11130990" cy="1479296"/>
        </p:xfrm>
        <a:graphic>
          <a:graphicData uri="http://schemas.openxmlformats.org/drawingml/2006/table">
            <a:tbl>
              <a:tblPr firstRow="0" bandRow="0">
                <a:tableStyleId>{2D5ABB26-0587-4C30-8999-92F81FD0307C}</a:tableStyleId>
              </a:tblPr>
              <a:tblGrid>
                <a:gridCol w="5311205"/>
                <a:gridCol w="5819785"/>
              </a:tblGrid>
              <a:tr h="369824">
                <a:tc>
                  <a:txBody>
                    <a:bodyPr/>
                    <a:lstStyle/>
                    <a:p>
                      <a:r>
                        <a:rPr sz="1450" b="1" i="0">
                          <a:solidFill>
                            <a:srgbClr val="FFFFFF"/>
                          </a:solidFill>
                          <a:latin typeface="Calibri"/>
                        </a:rPr>
                        <a:t>The sister programme, this cycle (invented)</a:t>
                      </a:r>
                    </a:p>
                  </a:txBody>
                  <a:tcPr marL="101600" marR="101600" marT="38100" marB="38100" anchor="ctr">
                    <a:solidFill>
                      <a:srgbClr val="1A0F5C"/>
                    </a:solidFill>
                  </a:tcPr>
                </a:tc>
                <a:tc>
                  <a:txBody>
                    <a:bodyPr/>
                    <a:lstStyle/>
                    <a:p>
                      <a:r>
                        <a:rPr sz="1450" b="1" i="0">
                          <a:solidFill>
                            <a:srgbClr val="FFFFFF"/>
                          </a:solidFill>
                          <a:latin typeface="Calibri"/>
                        </a:rPr>
                        <a:t>Applications</a:t>
                      </a:r>
                    </a:p>
                  </a:txBody>
                  <a:tcPr marL="101600" marR="101600" marT="38100" marB="38100" anchor="ctr">
                    <a:solidFill>
                      <a:srgbClr val="1A0F5C"/>
                    </a:solidFill>
                  </a:tcPr>
                </a:tc>
              </a:tr>
              <a:tr h="369824">
                <a:tc>
                  <a:txBody>
                    <a:bodyPr/>
                    <a:lstStyle/>
                    <a:p>
                      <a:r>
                        <a:rPr sz="1400" b="0" i="0">
                          <a:solidFill>
                            <a:srgbClr val="1A1440"/>
                          </a:solidFill>
                          <a:latin typeface="Calibri"/>
                        </a:rPr>
                        <a:t>Applied</a:t>
                      </a:r>
                    </a:p>
                  </a:txBody>
                  <a:tcPr marL="101600" marR="101600" marT="38100" marB="38100" anchor="ctr">
                    <a:solidFill>
                      <a:srgbClr val="FFFFFF"/>
                    </a:solidFill>
                  </a:tcPr>
                </a:tc>
                <a:tc>
                  <a:txBody>
                    <a:bodyPr/>
                    <a:lstStyle/>
                    <a:p>
                      <a:r>
                        <a:rPr sz="1400" b="0" i="0">
                          <a:solidFill>
                            <a:srgbClr val="1A1440"/>
                          </a:solidFill>
                          <a:latin typeface="Calibri"/>
                        </a:rPr>
                        <a:t>1,000</a:t>
                      </a:r>
                    </a:p>
                  </a:txBody>
                  <a:tcPr marL="101600" marR="101600" marT="38100" marB="38100" anchor="ctr">
                    <a:solidFill>
                      <a:srgbClr val="FFFFFF"/>
                    </a:solidFill>
                  </a:tcPr>
                </a:tc>
              </a:tr>
              <a:tr h="369824">
                <a:tc>
                  <a:txBody>
                    <a:bodyPr/>
                    <a:lstStyle/>
                    <a:p>
                      <a:r>
                        <a:rPr sz="1400" b="0" i="0">
                          <a:solidFill>
                            <a:srgbClr val="1A1440"/>
                          </a:solidFill>
                          <a:latin typeface="Calibri"/>
                        </a:rPr>
                        <a:t>Sat the optional test</a:t>
                      </a:r>
                    </a:p>
                  </a:txBody>
                  <a:tcPr marL="101600" marR="101600" marT="38100" marB="38100" anchor="ctr">
                    <a:solidFill>
                      <a:srgbClr val="F4F2FA"/>
                    </a:solidFill>
                  </a:tcPr>
                </a:tc>
                <a:tc>
                  <a:txBody>
                    <a:bodyPr/>
                    <a:lstStyle/>
                    <a:p>
                      <a:r>
                        <a:rPr sz="1400" b="0" i="0">
                          <a:solidFill>
                            <a:srgbClr val="1A1440"/>
                          </a:solidFill>
                          <a:latin typeface="Calibri"/>
                        </a:rPr>
                        <a:t>300</a:t>
                      </a:r>
                    </a:p>
                  </a:txBody>
                  <a:tcPr marL="101600" marR="101600" marT="38100" marB="38100" anchor="ctr">
                    <a:solidFill>
                      <a:srgbClr val="F4F2FA"/>
                    </a:solidFill>
                  </a:tcPr>
                </a:tc>
              </a:tr>
              <a:tr h="369824">
                <a:tc>
                  <a:txBody>
                    <a:bodyPr/>
                    <a:lstStyle/>
                    <a:p>
                      <a:r>
                        <a:rPr sz="1400" b="0" i="0">
                          <a:solidFill>
                            <a:srgbClr val="1A1440"/>
                          </a:solidFill>
                          <a:latin typeface="Calibri"/>
                        </a:rPr>
                        <a:t>Shortlisted</a:t>
                      </a:r>
                    </a:p>
                  </a:txBody>
                  <a:tcPr marL="101600" marR="101600" marT="38100" marB="38100" anchor="ctr">
                    <a:solidFill>
                      <a:srgbClr val="FFFFFF"/>
                    </a:solidFill>
                  </a:tcPr>
                </a:tc>
                <a:tc>
                  <a:txBody>
                    <a:bodyPr/>
                    <a:lstStyle/>
                    <a:p>
                      <a:r>
                        <a:rPr sz="1400" b="0" i="0">
                          <a:solidFill>
                            <a:srgbClr val="1A1440"/>
                          </a:solidFill>
                          <a:latin typeface="Calibri"/>
                        </a:rPr>
                        <a:t>320: 230 who sat the test, 90 on school results alone</a:t>
                      </a:r>
                    </a:p>
                  </a:txBody>
                  <a:tcPr marL="101600" marR="101600" marT="38100" marB="38100" anchor="ctr">
                    <a:solidFill>
                      <a:srgbClr val="FFFFFF"/>
                    </a:solidFill>
                  </a:tcPr>
                </a:tc>
              </a:tr>
            </a:tbl>
          </a:graphicData>
        </a:graphic>
      </p:graphicFrame>
      <p:sp>
        <p:nvSpPr>
          <p:cNvPr id="10" name="Rounded Rectangle 9"/>
          <p:cNvSpPr/>
          <p:nvPr/>
        </p:nvSpPr>
        <p:spPr>
          <a:xfrm>
            <a:off x="530352" y="3692144"/>
            <a:ext cx="11130991" cy="189890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4412996"/>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bug_39ada6eff46d.png"/>
          <p:cNvPicPr>
            <a:picLocks noChangeAspect="1"/>
          </p:cNvPicPr>
          <p:nvPr/>
        </p:nvPicPr>
        <p:blipFill>
          <a:blip r:embed="rId4"/>
          <a:stretch>
            <a:fillRect/>
          </a:stretch>
        </p:blipFill>
        <p:spPr>
          <a:xfrm>
            <a:off x="868680" y="4522724"/>
            <a:ext cx="237744" cy="237744"/>
          </a:xfrm>
          <a:prstGeom prst="rect">
            <a:avLst/>
          </a:prstGeom>
        </p:spPr>
      </p:pic>
      <p:sp>
        <p:nvSpPr>
          <p:cNvPr id="13" name="TextBox 12"/>
          <p:cNvSpPr txBox="1"/>
          <p:nvPr/>
        </p:nvSpPr>
        <p:spPr>
          <a:xfrm>
            <a:off x="1399031" y="3838448"/>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WHAT BREAKS</a:t>
            </a:r>
          </a:p>
        </p:txBody>
      </p:sp>
      <p:sp>
        <p:nvSpPr>
          <p:cNvPr id="14" name="TextBox 13"/>
          <p:cNvSpPr txBox="1"/>
          <p:nvPr/>
        </p:nvSpPr>
        <p:spPr>
          <a:xfrm>
            <a:off x="1399031" y="4057904"/>
            <a:ext cx="9987991" cy="1459992"/>
          </a:xfrm>
          <a:prstGeom prst="rect">
            <a:avLst/>
          </a:prstGeom>
          <a:noFill/>
        </p:spPr>
        <p:txBody>
          <a:bodyPr wrap="square" anchor="t" lIns="0" rIns="0" tIns="0" bIns="0">
            <a:spAutoFit/>
          </a:bodyPr>
          <a:lstStyle/>
          <a:p>
            <a:r>
              <a:rPr sz="1500" b="0" i="0">
                <a:solidFill>
                  <a:srgbClr val="1A1440"/>
                </a:solidFill>
                <a:latin typeface="Calibri"/>
              </a:rPr>
              <a:t>"Test to shortlist reads 107 percent, our best step": 320 ÷ 300 puts 90 students who never sat the test over the test-takers. A rate above 100 says the numerator holds people the denominator never had: here, students who skipped the test; elsewhere, a double count, two units or two time windows. The 107 is an </a:t>
            </a:r>
            <a:r>
              <a:rPr sz="1500" b="1" i="0">
                <a:solidFill>
                  <a:srgbClr val="1A1440"/>
                </a:solidFill>
                <a:latin typeface="Calibri"/>
              </a:rPr>
              <a:t>artefact</a:t>
            </a:r>
            <a:r>
              <a:rPr sz="1500" b="0" i="0">
                <a:solidFill>
                  <a:srgbClr val="1A1440"/>
                </a:solidFill>
                <a:latin typeface="Calibri"/>
              </a:rPr>
              <a:t>, a number made by the way the count is taken. </a:t>
            </a:r>
            <a:r>
              <a:rPr sz="1500" b="1" i="0">
                <a:solidFill>
                  <a:srgbClr val="1A1440"/>
                </a:solidFill>
                <a:latin typeface="Calibri"/>
              </a:rPr>
              <a:t>The fix.</a:t>
            </a:r>
            <a:r>
              <a:rPr sz="1500" b="0" i="0">
                <a:solidFill>
                  <a:srgbClr val="1A1440"/>
                </a:solidFill>
                <a:latin typeface="Calibri"/>
              </a:rPr>
              <a:t> Count the shortlist among those who sat the test: 230 ÷ 300 = 77 percent.</a:t>
            </a:r>
          </a:p>
        </p:txBody>
      </p:sp>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010412" cy="152146"/>
          </a:xfrm>
          <a:prstGeom prst="rect">
            <a:avLst/>
          </a:prstGeom>
          <a:noFill/>
        </p:spPr>
        <p:txBody>
          <a:bodyPr wrap="square" anchor="t" lIns="0" rIns="0" tIns="0" bIns="0">
            <a:spAutoFit/>
          </a:bodyPr>
          <a:lstStyle/>
          <a:p>
            <a:pPr algn="l"/>
            <a:r>
              <a:rPr sz="700" b="0" i="0">
                <a:solidFill>
                  <a:srgbClr val="6B6690"/>
                </a:solidFill>
                <a:latin typeface="Calibri"/>
              </a:rPr>
              <a:t>Who joined when?</a:t>
            </a:r>
          </a:p>
        </p:txBody>
      </p:sp>
      <p:sp>
        <p:nvSpPr>
          <p:cNvPr id="17" name="Oval 16"/>
          <p:cNvSpPr/>
          <p:nvPr/>
        </p:nvSpPr>
        <p:spPr>
          <a:xfrm>
            <a:off x="174193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85166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Where is the floor?</a:t>
            </a:r>
          </a:p>
        </p:txBody>
      </p:sp>
      <p:sp>
        <p:nvSpPr>
          <p:cNvPr id="19" name="Oval 18"/>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20125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a blend made of?</a:t>
            </a:r>
          </a:p>
        </p:txBody>
      </p:sp>
      <p:sp>
        <p:nvSpPr>
          <p:cNvPr id="21" name="Oval 20"/>
          <p:cNvSpPr/>
          <p:nvPr/>
        </p:nvSpPr>
        <p:spPr>
          <a:xfrm>
            <a:off x="467115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780883"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Which step owns a loss?</a:t>
            </a:r>
          </a:p>
        </p:txBody>
      </p:sp>
      <p:sp>
        <p:nvSpPr>
          <p:cNvPr id="23" name="Oval 22"/>
          <p:cNvSpPr/>
          <p:nvPr/>
        </p:nvSpPr>
        <p:spPr>
          <a:xfrm>
            <a:off x="62047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314503"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Who entered when?</a:t>
            </a:r>
          </a:p>
        </p:txBody>
      </p:sp>
      <p:sp>
        <p:nvSpPr>
          <p:cNvPr id="25" name="Oval 24"/>
          <p:cNvSpPr/>
          <p:nvPr/>
        </p:nvSpPr>
        <p:spPr>
          <a:xfrm>
            <a:off x="74623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572089"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the 38 made of?</a:t>
            </a:r>
          </a:p>
        </p:txBody>
      </p:sp>
      <p:sp>
        <p:nvSpPr>
          <p:cNvPr id="27" name="Oval 26"/>
          <p:cNvSpPr/>
          <p:nvPr/>
        </p:nvSpPr>
        <p:spPr>
          <a:xfrm>
            <a:off x="899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910570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stage owns the loss?</a:t>
            </a:r>
          </a:p>
        </p:txBody>
      </p:sp>
      <p:sp>
        <p:nvSpPr>
          <p:cNvPr id="29" name="TextBox 2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S31  ·  35 / 73</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COHORT AND FUNNEL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unit: per application or per applicant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the same funnel read counted in people, and how does code read every step?</a:t>
            </a:r>
          </a:p>
        </p:txBody>
      </p:sp>
      <p:sp>
        <p:nvSpPr>
          <p:cNvPr id="9" name="TextBox 8"/>
          <p:cNvSpPr txBox="1"/>
          <p:nvPr/>
        </p:nvSpPr>
        <p:spPr>
          <a:xfrm>
            <a:off x="530352" y="1956816"/>
            <a:ext cx="11130991" cy="1324864"/>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This cycle's 1,000 applications came from 900 applicants, since some applied in two rounds. The same 240 joiners are 24 percent of applications and 26.7 percent of applicants. Each applicant joins at most once, so the overall reads higher per person; a middle step can move either way, so its direction is read from the data, and a chart names its unit.</a:t>
            </a:r>
          </a:p>
        </p:txBody>
      </p:sp>
      <p:sp>
        <p:nvSpPr>
          <p:cNvPr id="10" name="Rounded Rectangle 9"/>
          <p:cNvSpPr/>
          <p:nvPr/>
        </p:nvSpPr>
        <p:spPr>
          <a:xfrm>
            <a:off x="530352" y="3409696"/>
            <a:ext cx="11130991" cy="1719580"/>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13232" y="353771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868680" y="353771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1024128" y="353771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04671" y="3738880"/>
            <a:ext cx="10673791" cy="1317244"/>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STAGES = ["applied", "sat_test", "shortlisted", "accepted", "joined"]</a:t>
            </a:r>
          </a:p>
          <a:p>
            <a:pPr>
              <a:spcAft>
                <a:spcPts val="200"/>
              </a:spcAft>
            </a:pPr>
            <a:r>
              <a:rPr sz="1400" b="0" i="0">
                <a:solidFill>
                  <a:srgbClr val="E4E1F1"/>
                </a:solidFill>
                <a:latin typeface="Consolas"/>
              </a:rPr>
              <a:t>this = adm.query("programme == 'main' and cycle == 2026 and group == 'all'")</a:t>
            </a:r>
          </a:p>
          <a:p>
            <a:pPr>
              <a:spcAft>
                <a:spcPts val="200"/>
              </a:spcAft>
            </a:pPr>
            <a:r>
              <a:rPr sz="1400" b="0" i="0">
                <a:solidFill>
                  <a:srgbClr val="E4E1F1"/>
                </a:solidFill>
                <a:latin typeface="Consolas"/>
              </a:rPr>
              <a:t>for unit, c in this.groupby("unit"):</a:t>
            </a:r>
          </a:p>
          <a:p>
            <a:pPr>
              <a:spcAft>
                <a:spcPts val="200"/>
              </a:spcAft>
            </a:pPr>
            <a:r>
              <a:rPr sz="1400" b="0" i="0">
                <a:solidFill>
                  <a:srgbClr val="E4E1F1"/>
                </a:solidFill>
                <a:latin typeface="Consolas"/>
              </a:rPr>
              <a:t>    c = c.set_index("stage")["count"].reindex(STAGES)</a:t>
            </a:r>
          </a:p>
          <a:p>
            <a:pPr>
              <a:spcAft>
                <a:spcPts val="200"/>
              </a:spcAft>
            </a:pPr>
            <a:r>
              <a:rPr sz="1400" b="0" i="0">
                <a:solidFill>
                  <a:srgbClr val="E4E1F1"/>
                </a:solidFill>
                <a:latin typeface="Consolas"/>
              </a:rPr>
              <a:t>    print(unit, (c / c.shift()).round(3).tolist()[1:], round(c.iloc[-1] / c.iloc[0], 3))</a:t>
            </a:r>
          </a:p>
        </p:txBody>
      </p:sp>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010412" cy="152146"/>
          </a:xfrm>
          <a:prstGeom prst="rect">
            <a:avLst/>
          </a:prstGeom>
          <a:noFill/>
        </p:spPr>
        <p:txBody>
          <a:bodyPr wrap="square" anchor="t" lIns="0" rIns="0" tIns="0" bIns="0">
            <a:spAutoFit/>
          </a:bodyPr>
          <a:lstStyle/>
          <a:p>
            <a:pPr algn="l"/>
            <a:r>
              <a:rPr sz="700" b="0" i="0">
                <a:solidFill>
                  <a:srgbClr val="6B6690"/>
                </a:solidFill>
                <a:latin typeface="Calibri"/>
              </a:rPr>
              <a:t>Who joined when?</a:t>
            </a:r>
          </a:p>
        </p:txBody>
      </p:sp>
      <p:sp>
        <p:nvSpPr>
          <p:cNvPr id="17" name="Oval 16"/>
          <p:cNvSpPr/>
          <p:nvPr/>
        </p:nvSpPr>
        <p:spPr>
          <a:xfrm>
            <a:off x="174193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85166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Where is the floor?</a:t>
            </a:r>
          </a:p>
        </p:txBody>
      </p:sp>
      <p:sp>
        <p:nvSpPr>
          <p:cNvPr id="19" name="Oval 18"/>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20125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a blend made of?</a:t>
            </a:r>
          </a:p>
        </p:txBody>
      </p:sp>
      <p:sp>
        <p:nvSpPr>
          <p:cNvPr id="21" name="Oval 20"/>
          <p:cNvSpPr/>
          <p:nvPr/>
        </p:nvSpPr>
        <p:spPr>
          <a:xfrm>
            <a:off x="467115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780883"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Which step owns a loss?</a:t>
            </a:r>
          </a:p>
        </p:txBody>
      </p:sp>
      <p:sp>
        <p:nvSpPr>
          <p:cNvPr id="23" name="Oval 22"/>
          <p:cNvSpPr/>
          <p:nvPr/>
        </p:nvSpPr>
        <p:spPr>
          <a:xfrm>
            <a:off x="62047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314503"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Who entered when?</a:t>
            </a:r>
          </a:p>
        </p:txBody>
      </p:sp>
      <p:sp>
        <p:nvSpPr>
          <p:cNvPr id="25" name="Oval 24"/>
          <p:cNvSpPr/>
          <p:nvPr/>
        </p:nvSpPr>
        <p:spPr>
          <a:xfrm>
            <a:off x="74623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572089"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the 38 made of?</a:t>
            </a:r>
          </a:p>
        </p:txBody>
      </p:sp>
      <p:sp>
        <p:nvSpPr>
          <p:cNvPr id="27" name="Oval 26"/>
          <p:cNvSpPr/>
          <p:nvPr/>
        </p:nvSpPr>
        <p:spPr>
          <a:xfrm>
            <a:off x="899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910570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stage owns the loss?</a:t>
            </a:r>
          </a:p>
        </p:txBody>
      </p:sp>
      <p:sp>
        <p:nvSpPr>
          <p:cNvPr id="29" name="TextBox 2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S32  ·  36 / 73</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COHORT AND FUNNEL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Four rules for reading a funnel</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an analyst check at every step, and what does an interviewer listen for?</a:t>
            </a:r>
          </a:p>
        </p:txBody>
      </p:sp>
      <p:sp>
        <p:nvSpPr>
          <p:cNvPr id="9" name="TextBox 8"/>
          <p:cNvSpPr txBox="1"/>
          <p:nvPr/>
        </p:nvSpPr>
        <p:spPr>
          <a:xfrm>
            <a:off x="530352" y="1886712"/>
            <a:ext cx="502920" cy="333756"/>
          </a:xfrm>
          <a:prstGeom prst="rect">
            <a:avLst/>
          </a:prstGeom>
          <a:noFill/>
        </p:spPr>
        <p:txBody>
          <a:bodyPr wrap="square" anchor="t" lIns="0" rIns="0" tIns="0" bIns="0">
            <a:spAutoFit/>
          </a:bodyPr>
          <a:lstStyle/>
          <a:p>
            <a:pPr algn="l"/>
            <a:r>
              <a:rPr sz="1800" b="0" i="0">
                <a:solidFill>
                  <a:srgbClr val="5B3FD6"/>
                </a:solidFill>
                <a:latin typeface="Georgia"/>
              </a:rPr>
              <a:t>01</a:t>
            </a:r>
          </a:p>
        </p:txBody>
      </p:sp>
      <p:sp>
        <p:nvSpPr>
          <p:cNvPr id="10" name="TextBox 9"/>
          <p:cNvSpPr txBox="1"/>
          <p:nvPr/>
        </p:nvSpPr>
        <p:spPr>
          <a:xfrm>
            <a:off x="1097280" y="1923288"/>
            <a:ext cx="10564063" cy="368808"/>
          </a:xfrm>
          <a:prstGeom prst="rect">
            <a:avLst/>
          </a:prstGeom>
          <a:noFill/>
        </p:spPr>
        <p:txBody>
          <a:bodyPr wrap="square" anchor="t" lIns="0" rIns="0" tIns="0" bIns="0">
            <a:spAutoFit/>
          </a:bodyPr>
          <a:lstStyle/>
          <a:p>
            <a:r>
              <a:rPr sz="1500" b="0" i="0">
                <a:solidFill>
                  <a:srgbClr val="1A1440"/>
                </a:solidFill>
                <a:latin typeface="Calibri"/>
              </a:rPr>
              <a:t>Each step divides by the step before, in one named unit, and drop-off is 100 less that rate.</a:t>
            </a:r>
          </a:p>
        </p:txBody>
      </p:sp>
      <p:sp>
        <p:nvSpPr>
          <p:cNvPr id="11" name="TextBox 10"/>
          <p:cNvSpPr txBox="1"/>
          <p:nvPr/>
        </p:nvSpPr>
        <p:spPr>
          <a:xfrm>
            <a:off x="530352" y="2328672"/>
            <a:ext cx="502920" cy="333756"/>
          </a:xfrm>
          <a:prstGeom prst="rect">
            <a:avLst/>
          </a:prstGeom>
          <a:noFill/>
        </p:spPr>
        <p:txBody>
          <a:bodyPr wrap="square" anchor="t" lIns="0" rIns="0" tIns="0" bIns="0">
            <a:spAutoFit/>
          </a:bodyPr>
          <a:lstStyle/>
          <a:p>
            <a:pPr algn="l"/>
            <a:r>
              <a:rPr sz="1800" b="0" i="0">
                <a:solidFill>
                  <a:srgbClr val="5B3FD6"/>
                </a:solidFill>
                <a:latin typeface="Georgia"/>
              </a:rPr>
              <a:t>02</a:t>
            </a:r>
          </a:p>
        </p:txBody>
      </p:sp>
      <p:sp>
        <p:nvSpPr>
          <p:cNvPr id="12" name="TextBox 11"/>
          <p:cNvSpPr txBox="1"/>
          <p:nvPr/>
        </p:nvSpPr>
        <p:spPr>
          <a:xfrm>
            <a:off x="1097280" y="2365248"/>
            <a:ext cx="10564063" cy="627888"/>
          </a:xfrm>
          <a:prstGeom prst="rect">
            <a:avLst/>
          </a:prstGeom>
          <a:noFill/>
        </p:spPr>
        <p:txBody>
          <a:bodyPr wrap="square" anchor="t" lIns="0" rIns="0" tIns="0" bIns="0">
            <a:spAutoFit/>
          </a:bodyPr>
          <a:lstStyle/>
          <a:p>
            <a:r>
              <a:rPr sz="1500" b="0" i="0">
                <a:solidFill>
                  <a:srgbClr val="1A1440"/>
                </a:solidFill>
                <a:latin typeface="Calibri"/>
              </a:rPr>
              <a:t>The overall rate divides the last step by the first, and where each stage is a subset of the one before, the step rates multiply to it.</a:t>
            </a:r>
          </a:p>
        </p:txBody>
      </p:sp>
      <p:sp>
        <p:nvSpPr>
          <p:cNvPr id="13" name="TextBox 12"/>
          <p:cNvSpPr txBox="1"/>
          <p:nvPr/>
        </p:nvSpPr>
        <p:spPr>
          <a:xfrm>
            <a:off x="530352" y="3029712"/>
            <a:ext cx="502920" cy="333756"/>
          </a:xfrm>
          <a:prstGeom prst="rect">
            <a:avLst/>
          </a:prstGeom>
          <a:noFill/>
        </p:spPr>
        <p:txBody>
          <a:bodyPr wrap="square" anchor="t" lIns="0" rIns="0" tIns="0" bIns="0">
            <a:spAutoFit/>
          </a:bodyPr>
          <a:lstStyle/>
          <a:p>
            <a:pPr algn="l"/>
            <a:r>
              <a:rPr sz="1800" b="0" i="0">
                <a:solidFill>
                  <a:srgbClr val="5B3FD6"/>
                </a:solidFill>
                <a:latin typeface="Georgia"/>
              </a:rPr>
              <a:t>03</a:t>
            </a:r>
          </a:p>
        </p:txBody>
      </p:sp>
      <p:sp>
        <p:nvSpPr>
          <p:cNvPr id="14" name="TextBox 13"/>
          <p:cNvSpPr txBox="1"/>
          <p:nvPr/>
        </p:nvSpPr>
        <p:spPr>
          <a:xfrm>
            <a:off x="1097280" y="3066288"/>
            <a:ext cx="10564063" cy="627888"/>
          </a:xfrm>
          <a:prstGeom prst="rect">
            <a:avLst/>
          </a:prstGeom>
          <a:noFill/>
        </p:spPr>
        <p:txBody>
          <a:bodyPr wrap="square" anchor="t" lIns="0" rIns="0" tIns="0" bIns="0">
            <a:spAutoFit/>
          </a:bodyPr>
          <a:lstStyle/>
          <a:p>
            <a:r>
              <a:rPr sz="1500" b="0" i="0">
                <a:solidFill>
                  <a:srgbClr val="1A1440"/>
                </a:solidFill>
                <a:latin typeface="Calibri"/>
              </a:rPr>
              <a:t>When the overall falls, the step that moved against its own past owns the fall; a low, steady step is how the process runs, and where to invest is a separate question.</a:t>
            </a:r>
          </a:p>
        </p:txBody>
      </p:sp>
      <p:sp>
        <p:nvSpPr>
          <p:cNvPr id="15" name="TextBox 14"/>
          <p:cNvSpPr txBox="1"/>
          <p:nvPr/>
        </p:nvSpPr>
        <p:spPr>
          <a:xfrm>
            <a:off x="530352" y="3730752"/>
            <a:ext cx="502920" cy="333756"/>
          </a:xfrm>
          <a:prstGeom prst="rect">
            <a:avLst/>
          </a:prstGeom>
          <a:noFill/>
        </p:spPr>
        <p:txBody>
          <a:bodyPr wrap="square" anchor="t" lIns="0" rIns="0" tIns="0" bIns="0">
            <a:spAutoFit/>
          </a:bodyPr>
          <a:lstStyle/>
          <a:p>
            <a:pPr algn="l"/>
            <a:r>
              <a:rPr sz="1800" b="0" i="0">
                <a:solidFill>
                  <a:srgbClr val="5B3FD6"/>
                </a:solidFill>
                <a:latin typeface="Georgia"/>
              </a:rPr>
              <a:t>04</a:t>
            </a:r>
          </a:p>
        </p:txBody>
      </p:sp>
      <p:sp>
        <p:nvSpPr>
          <p:cNvPr id="16" name="TextBox 15"/>
          <p:cNvSpPr txBox="1"/>
          <p:nvPr/>
        </p:nvSpPr>
        <p:spPr>
          <a:xfrm>
            <a:off x="1097280" y="3767328"/>
            <a:ext cx="10564063" cy="627888"/>
          </a:xfrm>
          <a:prstGeom prst="rect">
            <a:avLst/>
          </a:prstGeom>
          <a:noFill/>
        </p:spPr>
        <p:txBody>
          <a:bodyPr wrap="square" anchor="t" lIns="0" rIns="0" tIns="0" bIns="0">
            <a:spAutoFit/>
          </a:bodyPr>
          <a:lstStyle/>
          <a:p>
            <a:r>
              <a:rPr sz="1500" b="0" i="0">
                <a:solidFill>
                  <a:srgbClr val="1A1440"/>
                </a:solidFill>
                <a:latin typeface="Calibri"/>
              </a:rPr>
              <a:t>A rate above 100 percent means the numerator holds people the denominator never had: a skipped step, a double count, or mixed units or windows; count only those who passed the step before.</a:t>
            </a:r>
          </a:p>
        </p:txBody>
      </p:sp>
      <p:sp>
        <p:nvSpPr>
          <p:cNvPr id="17" name="Rounded Rectangle 16"/>
          <p:cNvSpPr/>
          <p:nvPr/>
        </p:nvSpPr>
        <p:spPr>
          <a:xfrm>
            <a:off x="530352" y="4578096"/>
            <a:ext cx="11130991" cy="138074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758952" y="503986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9" name="Picture 18" descr="mic_caee7398c80d.png"/>
          <p:cNvPicPr>
            <a:picLocks noChangeAspect="1"/>
          </p:cNvPicPr>
          <p:nvPr/>
        </p:nvPicPr>
        <p:blipFill>
          <a:blip r:embed="rId4"/>
          <a:stretch>
            <a:fillRect/>
          </a:stretch>
        </p:blipFill>
        <p:spPr>
          <a:xfrm>
            <a:off x="868680" y="5149596"/>
            <a:ext cx="237744" cy="237744"/>
          </a:xfrm>
          <a:prstGeom prst="rect">
            <a:avLst/>
          </a:prstGeom>
        </p:spPr>
      </p:pic>
      <p:sp>
        <p:nvSpPr>
          <p:cNvPr id="20" name="TextBox 19"/>
          <p:cNvSpPr txBox="1"/>
          <p:nvPr/>
        </p:nvSpPr>
        <p:spPr>
          <a:xfrm>
            <a:off x="1399031" y="4724400"/>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21" name="TextBox 20"/>
          <p:cNvSpPr txBox="1"/>
          <p:nvPr/>
        </p:nvSpPr>
        <p:spPr>
          <a:xfrm>
            <a:off x="1399031" y="4943856"/>
            <a:ext cx="9987991" cy="941832"/>
          </a:xfrm>
          <a:prstGeom prst="rect">
            <a:avLst/>
          </a:prstGeom>
          <a:noFill/>
        </p:spPr>
        <p:txBody>
          <a:bodyPr wrap="square" anchor="t" lIns="0" rIns="0" tIns="0" bIns="0">
            <a:spAutoFit/>
          </a:bodyPr>
          <a:lstStyle/>
          <a:p>
            <a:r>
              <a:rPr sz="1500" b="0" i="0">
                <a:solidFill>
                  <a:srgbClr val="1A1440"/>
                </a:solidFill>
                <a:latin typeface="Calibri"/>
              </a:rPr>
              <a:t>[S] "Checkout conversion fell this month; how do you find where?" Check the count first, then read each step over the step before in one named unit against its own past, split by platform, group and date, and name the step that moved beside a step that held.</a:t>
            </a:r>
          </a:p>
        </p:txBody>
      </p:sp>
      <p:sp>
        <p:nvSpPr>
          <p:cNvPr id="22" name="Oval 2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40080" y="6437376"/>
            <a:ext cx="1010412" cy="152146"/>
          </a:xfrm>
          <a:prstGeom prst="rect">
            <a:avLst/>
          </a:prstGeom>
          <a:noFill/>
        </p:spPr>
        <p:txBody>
          <a:bodyPr wrap="square" anchor="t" lIns="0" rIns="0" tIns="0" bIns="0">
            <a:spAutoFit/>
          </a:bodyPr>
          <a:lstStyle/>
          <a:p>
            <a:pPr algn="l"/>
            <a:r>
              <a:rPr sz="700" b="0" i="0">
                <a:solidFill>
                  <a:srgbClr val="6B6690"/>
                </a:solidFill>
                <a:latin typeface="Calibri"/>
              </a:rPr>
              <a:t>Who joined when?</a:t>
            </a:r>
          </a:p>
        </p:txBody>
      </p:sp>
      <p:sp>
        <p:nvSpPr>
          <p:cNvPr id="24" name="Oval 23"/>
          <p:cNvSpPr/>
          <p:nvPr/>
        </p:nvSpPr>
        <p:spPr>
          <a:xfrm>
            <a:off x="174193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185166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Where is the floor?</a:t>
            </a:r>
          </a:p>
        </p:txBody>
      </p:sp>
      <p:sp>
        <p:nvSpPr>
          <p:cNvPr id="26" name="Oval 25"/>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320125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a blend made of?</a:t>
            </a:r>
          </a:p>
        </p:txBody>
      </p:sp>
      <p:sp>
        <p:nvSpPr>
          <p:cNvPr id="28" name="Oval 27"/>
          <p:cNvSpPr/>
          <p:nvPr/>
        </p:nvSpPr>
        <p:spPr>
          <a:xfrm>
            <a:off x="467115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4780883"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Which step owns a loss?</a:t>
            </a:r>
          </a:p>
        </p:txBody>
      </p:sp>
      <p:sp>
        <p:nvSpPr>
          <p:cNvPr id="30" name="Oval 29"/>
          <p:cNvSpPr/>
          <p:nvPr/>
        </p:nvSpPr>
        <p:spPr>
          <a:xfrm>
            <a:off x="62047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314503"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Who entered when?</a:t>
            </a:r>
          </a:p>
        </p:txBody>
      </p:sp>
      <p:sp>
        <p:nvSpPr>
          <p:cNvPr id="32" name="Oval 31"/>
          <p:cNvSpPr/>
          <p:nvPr/>
        </p:nvSpPr>
        <p:spPr>
          <a:xfrm>
            <a:off x="74623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7572089"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the 38 made of?</a:t>
            </a:r>
          </a:p>
        </p:txBody>
      </p:sp>
      <p:sp>
        <p:nvSpPr>
          <p:cNvPr id="34" name="Oval 33"/>
          <p:cNvSpPr/>
          <p:nvPr/>
        </p:nvSpPr>
        <p:spPr>
          <a:xfrm>
            <a:off x="899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910570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stage owns the loss?</a:t>
            </a:r>
          </a:p>
        </p:txBody>
      </p:sp>
      <p:sp>
        <p:nvSpPr>
          <p:cNvPr id="36" name="TextBox 3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S33  ·  37 / 73</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COHORT AND FUNNEL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funnel feeds the case's order flow</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Where does this topic come from, and which chapters use it next?</a:t>
            </a:r>
          </a:p>
        </p:txBody>
      </p:sp>
      <p:pic>
        <p:nvPicPr>
          <p:cNvPr id="9" name="mermaid diagram" descr="8e4283c947686fce.png"/>
          <p:cNvPicPr>
            <a:picLocks noChangeAspect="1"/>
          </p:cNvPicPr>
          <p:nvPr/>
        </p:nvPicPr>
        <p:blipFill>
          <a:blip r:embed="rId5"/>
          <a:stretch>
            <a:fillRect/>
          </a:stretch>
        </p:blipFill>
        <p:spPr>
          <a:xfrm>
            <a:off x="2152497" y="1797050"/>
            <a:ext cx="7886700" cy="3543300"/>
          </a:xfrm>
          <a:prstGeom prst="rect">
            <a:avLst/>
          </a:prstGeom>
        </p:spPr>
      </p:pic>
      <p:sp>
        <p:nvSpPr>
          <p:cNvPr id="10" name="TextBox 9"/>
          <p:cNvSpPr txBox="1"/>
          <p:nvPr/>
        </p:nvSpPr>
        <p:spPr>
          <a:xfrm>
            <a:off x="530352" y="5518912"/>
            <a:ext cx="11130991" cy="680720"/>
          </a:xfrm>
          <a:prstGeom prst="rect">
            <a:avLst/>
          </a:prstGeom>
          <a:noFill/>
        </p:spPr>
        <p:txBody>
          <a:bodyPr wrap="square" anchor="t" lIns="0" rIns="0" tIns="0" bIns="0">
            <a:spAutoFit/>
          </a:bodyPr>
          <a:lstStyle/>
          <a:p>
            <a:r>
              <a:rPr sz="1600" b="0" i="0">
                <a:solidFill>
                  <a:srgbClr val="1A1440"/>
                </a:solidFill>
                <a:latin typeface="Calibri"/>
              </a:rPr>
              <a:t>Four of the five topics are now on the map; SECTIONs 5 to 7 apply them to Zomato Gold in Chennai, and the fifth opens the afternoon.</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010412" cy="152146"/>
          </a:xfrm>
          <a:prstGeom prst="rect">
            <a:avLst/>
          </a:prstGeom>
          <a:noFill/>
        </p:spPr>
        <p:txBody>
          <a:bodyPr wrap="square" anchor="t" lIns="0" rIns="0" tIns="0" bIns="0">
            <a:spAutoFit/>
          </a:bodyPr>
          <a:lstStyle/>
          <a:p>
            <a:pPr algn="l"/>
            <a:r>
              <a:rPr sz="700" b="0" i="0">
                <a:solidFill>
                  <a:srgbClr val="6B6690"/>
                </a:solidFill>
                <a:latin typeface="Calibri"/>
              </a:rPr>
              <a:t>Who joined when?</a:t>
            </a:r>
          </a:p>
        </p:txBody>
      </p:sp>
      <p:sp>
        <p:nvSpPr>
          <p:cNvPr id="13" name="Oval 12"/>
          <p:cNvSpPr/>
          <p:nvPr/>
        </p:nvSpPr>
        <p:spPr>
          <a:xfrm>
            <a:off x="174193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85166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Where is the floor?</a:t>
            </a:r>
          </a:p>
        </p:txBody>
      </p:sp>
      <p:sp>
        <p:nvSpPr>
          <p:cNvPr id="15" name="Oval 14"/>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20125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a blend made of?</a:t>
            </a:r>
          </a:p>
        </p:txBody>
      </p:sp>
      <p:sp>
        <p:nvSpPr>
          <p:cNvPr id="17" name="Oval 16"/>
          <p:cNvSpPr/>
          <p:nvPr/>
        </p:nvSpPr>
        <p:spPr>
          <a:xfrm>
            <a:off x="467115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780883"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Which step owns a loss?</a:t>
            </a:r>
          </a:p>
        </p:txBody>
      </p:sp>
      <p:sp>
        <p:nvSpPr>
          <p:cNvPr id="19" name="Oval 18"/>
          <p:cNvSpPr/>
          <p:nvPr/>
        </p:nvSpPr>
        <p:spPr>
          <a:xfrm>
            <a:off x="62047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314503"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Who entered when?</a:t>
            </a:r>
          </a:p>
        </p:txBody>
      </p:sp>
      <p:sp>
        <p:nvSpPr>
          <p:cNvPr id="21" name="Oval 20"/>
          <p:cNvSpPr/>
          <p:nvPr/>
        </p:nvSpPr>
        <p:spPr>
          <a:xfrm>
            <a:off x="74623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572089"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the 38 made of?</a:t>
            </a:r>
          </a:p>
        </p:txBody>
      </p:sp>
      <p:sp>
        <p:nvSpPr>
          <p:cNvPr id="23" name="Oval 22"/>
          <p:cNvSpPr/>
          <p:nvPr/>
        </p:nvSpPr>
        <p:spPr>
          <a:xfrm>
            <a:off x="899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10570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stage owns the loss?</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S34  ·  38 / 73</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05</a:t>
            </a:r>
          </a:p>
        </p:txBody>
      </p:sp>
      <p:sp>
        <p:nvSpPr>
          <p:cNvPr id="8" name="TextBox 7"/>
          <p:cNvSpPr txBox="1"/>
          <p:nvPr/>
        </p:nvSpPr>
        <p:spPr>
          <a:xfrm>
            <a:off x="731519" y="2542032"/>
            <a:ext cx="10673791" cy="366776"/>
          </a:xfrm>
          <a:prstGeom prst="rect">
            <a:avLst/>
          </a:prstGeom>
          <a:noFill/>
        </p:spPr>
        <p:txBody>
          <a:bodyPr wrap="square" anchor="t" lIns="0" rIns="0" tIns="0" bIns="0">
            <a:spAutoFit/>
          </a:bodyPr>
          <a:lstStyle/>
          <a:p>
            <a:pPr algn="l"/>
            <a:r>
              <a:rPr sz="2000" b="1" i="0">
                <a:solidFill>
                  <a:srgbClr val="D9A7FF"/>
                </a:solidFill>
                <a:latin typeface="Calibri"/>
              </a:rPr>
              <a:t>Cohort construction on twelve Gold members</a:t>
            </a:r>
          </a:p>
        </p:txBody>
      </p:sp>
      <p:sp>
        <p:nvSpPr>
          <p:cNvPr id="9" name="TextBox 8"/>
          <p:cNvSpPr txBox="1"/>
          <p:nvPr/>
        </p:nvSpPr>
        <p:spPr>
          <a:xfrm>
            <a:off x="731519" y="3017520"/>
            <a:ext cx="10673791" cy="731520"/>
          </a:xfrm>
          <a:prstGeom prst="rect">
            <a:avLst/>
          </a:prstGeom>
          <a:noFill/>
        </p:spPr>
        <p:txBody>
          <a:bodyPr wrap="square" anchor="t" lIns="0" rIns="0" tIns="0" bIns="0">
            <a:spAutoFit/>
          </a:bodyPr>
          <a:lstStyle/>
          <a:p>
            <a:pPr algn="l"/>
            <a:r>
              <a:rPr sz="4000" b="0" i="0">
                <a:solidFill>
                  <a:srgbClr val="FFFFFF"/>
                </a:solidFill>
                <a:latin typeface="Georgia"/>
              </a:rPr>
              <a:t>Who entered when?</a:t>
            </a:r>
          </a:p>
        </p:txBody>
      </p:sp>
      <p:sp>
        <p:nvSpPr>
          <p:cNvPr id="10" name="TextBox 9"/>
          <p:cNvSpPr txBox="1"/>
          <p:nvPr/>
        </p:nvSpPr>
        <p:spPr>
          <a:xfrm>
            <a:off x="731519" y="3931920"/>
            <a:ext cx="9509760" cy="531876"/>
          </a:xfrm>
          <a:prstGeom prst="rect">
            <a:avLst/>
          </a:prstGeom>
          <a:noFill/>
        </p:spPr>
        <p:txBody>
          <a:bodyPr wrap="square" anchor="t" lIns="0" rIns="0" tIns="0" bIns="0">
            <a:spAutoFit/>
          </a:bodyPr>
          <a:lstStyle/>
          <a:p>
            <a:pPr algn="l"/>
            <a:r>
              <a:rPr sz="1500" b="0" i="0">
                <a:solidFill>
                  <a:srgbClr val="E4E1F1"/>
                </a:solidFill>
                <a:latin typeface="Calibri"/>
              </a:rPr>
              <a:t>The ticket read in full, the causes listed before any data, and twelve members of the case counted by hand by age, as SECTION 1 counted the gym.</a:t>
            </a:r>
          </a:p>
        </p:txBody>
      </p:sp>
      <p:sp>
        <p:nvSpPr>
          <p:cNvPr id="11" name="Rounded Rectangle 10"/>
          <p:cNvSpPr/>
          <p:nvPr/>
        </p:nvSpPr>
        <p:spPr>
          <a:xfrm>
            <a:off x="731519" y="5074920"/>
            <a:ext cx="118264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Who joined when?</a:t>
            </a:r>
          </a:p>
        </p:txBody>
      </p:sp>
      <p:sp>
        <p:nvSpPr>
          <p:cNvPr id="12" name="Rounded Rectangle 11"/>
          <p:cNvSpPr/>
          <p:nvPr/>
        </p:nvSpPr>
        <p:spPr>
          <a:xfrm>
            <a:off x="2023889" y="5074920"/>
            <a:ext cx="134262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Where is the floor?</a:t>
            </a:r>
          </a:p>
        </p:txBody>
      </p:sp>
      <p:sp>
        <p:nvSpPr>
          <p:cNvPr id="13" name="Rounded Rectangle 12"/>
          <p:cNvSpPr/>
          <p:nvPr/>
        </p:nvSpPr>
        <p:spPr>
          <a:xfrm>
            <a:off x="3476243" y="5074920"/>
            <a:ext cx="1609266"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is a blend made of?</a:t>
            </a:r>
          </a:p>
        </p:txBody>
      </p:sp>
      <p:sp>
        <p:nvSpPr>
          <p:cNvPr id="14" name="Rounded Rectangle 13"/>
          <p:cNvSpPr/>
          <p:nvPr/>
        </p:nvSpPr>
        <p:spPr>
          <a:xfrm>
            <a:off x="5195238" y="5074920"/>
            <a:ext cx="1555938"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step owns a loss?</a:t>
            </a:r>
          </a:p>
        </p:txBody>
      </p:sp>
      <p:sp>
        <p:nvSpPr>
          <p:cNvPr id="15" name="Rounded Rectangle 14"/>
          <p:cNvSpPr/>
          <p:nvPr/>
        </p:nvSpPr>
        <p:spPr>
          <a:xfrm>
            <a:off x="6860904" y="5074920"/>
            <a:ext cx="1235969"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Who entered when?</a:t>
            </a:r>
          </a:p>
        </p:txBody>
      </p:sp>
      <p:sp>
        <p:nvSpPr>
          <p:cNvPr id="16" name="Rounded Rectangle 15"/>
          <p:cNvSpPr/>
          <p:nvPr/>
        </p:nvSpPr>
        <p:spPr>
          <a:xfrm>
            <a:off x="8206602" y="5074920"/>
            <a:ext cx="1555938"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is the 38 made of?</a:t>
            </a:r>
          </a:p>
        </p:txBody>
      </p:sp>
      <p:sp>
        <p:nvSpPr>
          <p:cNvPr id="17" name="Rounded Rectangle 16"/>
          <p:cNvSpPr/>
          <p:nvPr/>
        </p:nvSpPr>
        <p:spPr>
          <a:xfrm>
            <a:off x="9872268" y="5074920"/>
            <a:ext cx="1715922"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stage owns the loss?</a:t>
            </a:r>
          </a:p>
        </p:txBody>
      </p:sp>
      <p:sp>
        <p:nvSpPr>
          <p:cNvPr id="18" name="TextBox 17"/>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4, Day 4. Cohort and funnel: who is leaving, and at which step?</a:t>
            </a:r>
          </a:p>
        </p:txBody>
      </p:sp>
      <p:sp>
        <p:nvSpPr>
          <p:cNvPr id="19" name="TextBox 1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39 / 73</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COHORT AND FUNNEL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Twelve members: the board, then the card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the answer, and which smaller questions lead to it?</a:t>
            </a:r>
          </a:p>
        </p:txBody>
      </p:sp>
      <p:sp>
        <p:nvSpPr>
          <p:cNvPr id="9" name="Rounded Rectangle 8"/>
          <p:cNvSpPr/>
          <p:nvPr/>
        </p:nvSpPr>
        <p:spPr>
          <a:xfrm>
            <a:off x="530352" y="195681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6248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The membership lead, who must say on Friday whether Gold has a cohort problem or an everyone problem. A wrong call sends the fix to the wrong team.</a:t>
            </a:r>
          </a:p>
        </p:txBody>
      </p:sp>
      <p:sp>
        <p:nvSpPr>
          <p:cNvPr id="12" name="TextBox 11"/>
          <p:cNvSpPr txBox="1"/>
          <p:nvPr/>
        </p:nvSpPr>
        <p:spPr>
          <a:xfrm>
            <a:off x="530352" y="2929128"/>
            <a:ext cx="11130991" cy="495807"/>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Applies: Cohort construction (SECTION 1).</a:t>
            </a:r>
          </a:p>
        </p:txBody>
      </p:sp>
      <p:sp>
        <p:nvSpPr>
          <p:cNvPr id="13" name="Rectangle 12"/>
          <p:cNvSpPr/>
          <p:nvPr/>
        </p:nvSpPr>
        <p:spPr>
          <a:xfrm>
            <a:off x="1853145" y="4119880"/>
            <a:ext cx="8485403"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30352" y="3552952"/>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1</a:t>
            </a:r>
          </a:p>
        </p:txBody>
      </p:sp>
      <p:sp>
        <p:nvSpPr>
          <p:cNvPr id="15" name="Oval 14"/>
          <p:cNvSpPr/>
          <p:nvPr/>
        </p:nvSpPr>
        <p:spPr>
          <a:xfrm>
            <a:off x="1752561" y="4028440"/>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530352" y="4439920"/>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94944" y="4586224"/>
            <a:ext cx="2316403" cy="465836"/>
          </a:xfrm>
          <a:prstGeom prst="rect">
            <a:avLst/>
          </a:prstGeom>
          <a:noFill/>
        </p:spPr>
        <p:txBody>
          <a:bodyPr wrap="square" anchor="t" lIns="0" rIns="0" tIns="0" bIns="0">
            <a:spAutoFit/>
          </a:bodyPr>
          <a:lstStyle/>
          <a:p>
            <a:pPr algn="l"/>
            <a:r>
              <a:rPr sz="1300" b="1" i="0">
                <a:solidFill>
                  <a:srgbClr val="1A0F5C"/>
                </a:solidFill>
                <a:latin typeface="Calibri"/>
              </a:rPr>
              <a:t>Which topic does each ticket line need?</a:t>
            </a:r>
          </a:p>
        </p:txBody>
      </p:sp>
      <p:sp>
        <p:nvSpPr>
          <p:cNvPr id="18" name="TextBox 17"/>
          <p:cNvSpPr txBox="1"/>
          <p:nvPr/>
        </p:nvSpPr>
        <p:spPr>
          <a:xfrm>
            <a:off x="694944" y="5088636"/>
            <a:ext cx="2316403" cy="201676"/>
          </a:xfrm>
          <a:prstGeom prst="rect">
            <a:avLst/>
          </a:prstGeom>
          <a:noFill/>
        </p:spPr>
        <p:txBody>
          <a:bodyPr wrap="square" anchor="t" lIns="0" rIns="0" tIns="0" bIns="0">
            <a:spAutoFit/>
          </a:bodyPr>
          <a:lstStyle/>
          <a:p>
            <a:pPr algn="l"/>
            <a:r>
              <a:rPr sz="1000" b="0" i="0">
                <a:solidFill>
                  <a:srgbClr val="6B6690"/>
                </a:solidFill>
                <a:latin typeface="Calibri"/>
              </a:rPr>
              <a:t>The ticket read in full</a:t>
            </a:r>
          </a:p>
        </p:txBody>
      </p:sp>
      <p:sp>
        <p:nvSpPr>
          <p:cNvPr id="19" name="TextBox 18"/>
          <p:cNvSpPr txBox="1"/>
          <p:nvPr/>
        </p:nvSpPr>
        <p:spPr>
          <a:xfrm>
            <a:off x="3358819" y="3552952"/>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2</a:t>
            </a:r>
          </a:p>
        </p:txBody>
      </p:sp>
      <p:sp>
        <p:nvSpPr>
          <p:cNvPr id="20" name="Oval 19"/>
          <p:cNvSpPr/>
          <p:nvPr/>
        </p:nvSpPr>
        <p:spPr>
          <a:xfrm>
            <a:off x="4581029" y="4028440"/>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3358819" y="4439920"/>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3523411" y="4586224"/>
            <a:ext cx="2316403" cy="465836"/>
          </a:xfrm>
          <a:prstGeom prst="rect">
            <a:avLst/>
          </a:prstGeom>
          <a:noFill/>
        </p:spPr>
        <p:txBody>
          <a:bodyPr wrap="square" anchor="t" lIns="0" rIns="0" tIns="0" bIns="0">
            <a:spAutoFit/>
          </a:bodyPr>
          <a:lstStyle/>
          <a:p>
            <a:pPr algn="l"/>
            <a:r>
              <a:rPr sz="1300" b="1" i="0">
                <a:solidFill>
                  <a:srgbClr val="1A0F5C"/>
                </a:solidFill>
                <a:latin typeface="Calibri"/>
              </a:rPr>
              <a:t>Which causes could explain it?</a:t>
            </a:r>
          </a:p>
        </p:txBody>
      </p:sp>
      <p:sp>
        <p:nvSpPr>
          <p:cNvPr id="23" name="TextBox 22"/>
          <p:cNvSpPr txBox="1"/>
          <p:nvPr/>
        </p:nvSpPr>
        <p:spPr>
          <a:xfrm>
            <a:off x="3523411" y="5088636"/>
            <a:ext cx="2316403" cy="201676"/>
          </a:xfrm>
          <a:prstGeom prst="rect">
            <a:avLst/>
          </a:prstGeom>
          <a:noFill/>
        </p:spPr>
        <p:txBody>
          <a:bodyPr wrap="square" anchor="t" lIns="0" rIns="0" tIns="0" bIns="0">
            <a:spAutoFit/>
          </a:bodyPr>
          <a:lstStyle/>
          <a:p>
            <a:pPr algn="l"/>
            <a:r>
              <a:rPr sz="1000" b="0" i="0">
                <a:solidFill>
                  <a:srgbClr val="6B6690"/>
                </a:solidFill>
                <a:latin typeface="Calibri"/>
              </a:rPr>
              <a:t>Five causes, each with its test</a:t>
            </a:r>
          </a:p>
        </p:txBody>
      </p:sp>
      <p:sp>
        <p:nvSpPr>
          <p:cNvPr id="24" name="TextBox 23"/>
          <p:cNvSpPr txBox="1"/>
          <p:nvPr/>
        </p:nvSpPr>
        <p:spPr>
          <a:xfrm>
            <a:off x="6187287" y="3552952"/>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3</a:t>
            </a:r>
          </a:p>
        </p:txBody>
      </p:sp>
      <p:sp>
        <p:nvSpPr>
          <p:cNvPr id="25" name="Oval 24"/>
          <p:cNvSpPr/>
          <p:nvPr/>
        </p:nvSpPr>
        <p:spPr>
          <a:xfrm>
            <a:off x="7409497" y="4028440"/>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6187287" y="4439920"/>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351879" y="4586224"/>
            <a:ext cx="2316403" cy="465836"/>
          </a:xfrm>
          <a:prstGeom prst="rect">
            <a:avLst/>
          </a:prstGeom>
          <a:noFill/>
        </p:spPr>
        <p:txBody>
          <a:bodyPr wrap="square" anchor="t" lIns="0" rIns="0" tIns="0" bIns="0">
            <a:spAutoFit/>
          </a:bodyPr>
          <a:lstStyle/>
          <a:p>
            <a:pPr algn="l"/>
            <a:r>
              <a:rPr sz="1300" b="1" i="0">
                <a:solidFill>
                  <a:srgbClr val="1A0F5C"/>
                </a:solidFill>
                <a:latin typeface="Calibri"/>
              </a:rPr>
              <a:t>What does each group keep, month by month?</a:t>
            </a:r>
          </a:p>
        </p:txBody>
      </p:sp>
      <p:sp>
        <p:nvSpPr>
          <p:cNvPr id="28" name="TextBox 27"/>
          <p:cNvSpPr txBox="1"/>
          <p:nvPr/>
        </p:nvSpPr>
        <p:spPr>
          <a:xfrm>
            <a:off x="6351879" y="5088636"/>
            <a:ext cx="2316403" cy="366776"/>
          </a:xfrm>
          <a:prstGeom prst="rect">
            <a:avLst/>
          </a:prstGeom>
          <a:noFill/>
        </p:spPr>
        <p:txBody>
          <a:bodyPr wrap="square" anchor="t" lIns="0" rIns="0" tIns="0" bIns="0">
            <a:spAutoFit/>
          </a:bodyPr>
          <a:lstStyle/>
          <a:p>
            <a:pPr algn="l"/>
            <a:r>
              <a:rPr sz="1000" b="0" i="0">
                <a:solidFill>
                  <a:srgbClr val="6B6690"/>
                </a:solidFill>
                <a:latin typeface="Calibri"/>
              </a:rPr>
              <a:t>Twelve members of the case data, by age</a:t>
            </a:r>
          </a:p>
        </p:txBody>
      </p:sp>
      <p:sp>
        <p:nvSpPr>
          <p:cNvPr id="29" name="TextBox 28"/>
          <p:cNvSpPr txBox="1"/>
          <p:nvPr/>
        </p:nvSpPr>
        <p:spPr>
          <a:xfrm>
            <a:off x="9015755" y="3552952"/>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4</a:t>
            </a:r>
          </a:p>
        </p:txBody>
      </p:sp>
      <p:sp>
        <p:nvSpPr>
          <p:cNvPr id="30" name="Oval 29"/>
          <p:cNvSpPr/>
          <p:nvPr/>
        </p:nvSpPr>
        <p:spPr>
          <a:xfrm>
            <a:off x="10237965" y="4028440"/>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ounded Rectangle 30"/>
          <p:cNvSpPr/>
          <p:nvPr/>
        </p:nvSpPr>
        <p:spPr>
          <a:xfrm>
            <a:off x="9015755" y="4439920"/>
            <a:ext cx="2645587" cy="107696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9180347" y="4586224"/>
            <a:ext cx="2316403" cy="465836"/>
          </a:xfrm>
          <a:prstGeom prst="rect">
            <a:avLst/>
          </a:prstGeom>
          <a:noFill/>
        </p:spPr>
        <p:txBody>
          <a:bodyPr wrap="square" anchor="t" lIns="0" rIns="0" tIns="0" bIns="0">
            <a:spAutoFit/>
          </a:bodyPr>
          <a:lstStyle/>
          <a:p>
            <a:pPr algn="l"/>
            <a:r>
              <a:rPr sz="1300" b="1" i="0">
                <a:solidFill>
                  <a:srgbClr val="FFFFFF"/>
                </a:solidFill>
                <a:latin typeface="Calibri"/>
              </a:rPr>
              <a:t>What does the dashboard count?</a:t>
            </a:r>
          </a:p>
        </p:txBody>
      </p:sp>
      <p:sp>
        <p:nvSpPr>
          <p:cNvPr id="33" name="TextBox 32"/>
          <p:cNvSpPr txBox="1"/>
          <p:nvPr/>
        </p:nvSpPr>
        <p:spPr>
          <a:xfrm>
            <a:off x="9180347" y="5088636"/>
            <a:ext cx="2316403" cy="366776"/>
          </a:xfrm>
          <a:prstGeom prst="rect">
            <a:avLst/>
          </a:prstGeom>
          <a:noFill/>
        </p:spPr>
        <p:txBody>
          <a:bodyPr wrap="square" anchor="t" lIns="0" rIns="0" tIns="0" bIns="0">
            <a:spAutoFit/>
          </a:bodyPr>
          <a:lstStyle/>
          <a:p>
            <a:pPr algn="l"/>
            <a:r>
              <a:rPr sz="1000" b="0" i="0">
                <a:solidFill>
                  <a:srgbClr val="CFC9EE"/>
                </a:solidFill>
                <a:latin typeface="Calibri"/>
              </a:rPr>
              <a:t>The same twelve, the dashboard's way</a:t>
            </a:r>
          </a:p>
        </p:txBody>
      </p:sp>
      <p:sp>
        <p:nvSpPr>
          <p:cNvPr id="34" name="Oval 33"/>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40080" y="6437376"/>
            <a:ext cx="1010412" cy="152146"/>
          </a:xfrm>
          <a:prstGeom prst="rect">
            <a:avLst/>
          </a:prstGeom>
          <a:noFill/>
        </p:spPr>
        <p:txBody>
          <a:bodyPr wrap="square" anchor="t" lIns="0" rIns="0" tIns="0" bIns="0">
            <a:spAutoFit/>
          </a:bodyPr>
          <a:lstStyle/>
          <a:p>
            <a:pPr algn="l"/>
            <a:r>
              <a:rPr sz="700" b="0" i="0">
                <a:solidFill>
                  <a:srgbClr val="6B6690"/>
                </a:solidFill>
                <a:latin typeface="Calibri"/>
              </a:rPr>
              <a:t>Who joined when?</a:t>
            </a:r>
          </a:p>
        </p:txBody>
      </p:sp>
      <p:sp>
        <p:nvSpPr>
          <p:cNvPr id="36" name="Oval 35"/>
          <p:cNvSpPr/>
          <p:nvPr/>
        </p:nvSpPr>
        <p:spPr>
          <a:xfrm>
            <a:off x="174193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185166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Where is the floor?</a:t>
            </a:r>
          </a:p>
        </p:txBody>
      </p:sp>
      <p:sp>
        <p:nvSpPr>
          <p:cNvPr id="38" name="Oval 37"/>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320125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a blend made of?</a:t>
            </a:r>
          </a:p>
        </p:txBody>
      </p:sp>
      <p:sp>
        <p:nvSpPr>
          <p:cNvPr id="40" name="Oval 39"/>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478088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step owns a loss?</a:t>
            </a:r>
          </a:p>
        </p:txBody>
      </p:sp>
      <p:sp>
        <p:nvSpPr>
          <p:cNvPr id="42" name="Oval 41"/>
          <p:cNvSpPr/>
          <p:nvPr/>
        </p:nvSpPr>
        <p:spPr>
          <a:xfrm>
            <a:off x="620477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6314503" y="6437376"/>
            <a:ext cx="1056417" cy="152146"/>
          </a:xfrm>
          <a:prstGeom prst="rect">
            <a:avLst/>
          </a:prstGeom>
          <a:noFill/>
        </p:spPr>
        <p:txBody>
          <a:bodyPr wrap="square" anchor="t" lIns="0" rIns="0" tIns="0" bIns="0">
            <a:spAutoFit/>
          </a:bodyPr>
          <a:lstStyle/>
          <a:p>
            <a:pPr algn="l"/>
            <a:r>
              <a:rPr sz="700" b="1" i="0">
                <a:solidFill>
                  <a:srgbClr val="5B3FD6"/>
                </a:solidFill>
                <a:latin typeface="Calibri"/>
              </a:rPr>
              <a:t>Who entered when?</a:t>
            </a:r>
          </a:p>
        </p:txBody>
      </p:sp>
      <p:sp>
        <p:nvSpPr>
          <p:cNvPr id="44" name="Oval 43"/>
          <p:cNvSpPr/>
          <p:nvPr/>
        </p:nvSpPr>
        <p:spPr>
          <a:xfrm>
            <a:off x="74623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7572089"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the 38 made of?</a:t>
            </a:r>
          </a:p>
        </p:txBody>
      </p:sp>
      <p:sp>
        <p:nvSpPr>
          <p:cNvPr id="46" name="Oval 45"/>
          <p:cNvSpPr/>
          <p:nvPr/>
        </p:nvSpPr>
        <p:spPr>
          <a:xfrm>
            <a:off x="899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910570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stage owns the loss?</a:t>
            </a:r>
          </a:p>
        </p:txBody>
      </p:sp>
      <p:sp>
        <p:nvSpPr>
          <p:cNvPr id="48" name="TextBox 4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S35  ·  40 / 73</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COHORT AND FUNNEL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ticket read in full: each line and its topic</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of the five topics does each line of the ticket need, and where is it answered?</a:t>
            </a:r>
          </a:p>
        </p:txBody>
      </p:sp>
      <p:graphicFrame>
        <p:nvGraphicFramePr>
          <p:cNvPr id="9" name="Table 8"/>
          <p:cNvGraphicFramePr>
            <a:graphicFrameLocks noGrp="1"/>
          </p:cNvGraphicFramePr>
          <p:nvPr/>
        </p:nvGraphicFramePr>
        <p:xfrm>
          <a:off x="530352" y="1956816"/>
          <a:ext cx="11130990" cy="3427984"/>
        </p:xfrm>
        <a:graphic>
          <a:graphicData uri="http://schemas.openxmlformats.org/drawingml/2006/table">
            <a:tbl>
              <a:tblPr firstRow="0" bandRow="0">
                <a:tableStyleId>{2D5ABB26-0587-4C30-8999-92F81FD0307C}</a:tableStyleId>
              </a:tblPr>
              <a:tblGrid>
                <a:gridCol w="4977776"/>
                <a:gridCol w="4640213"/>
                <a:gridCol w="1513001"/>
              </a:tblGrid>
              <a:tr h="369824">
                <a:tc>
                  <a:txBody>
                    <a:bodyPr/>
                    <a:lstStyle/>
                    <a:p>
                      <a:r>
                        <a:rPr sz="1450" b="1" i="0">
                          <a:solidFill>
                            <a:srgbClr val="FFFFFF"/>
                          </a:solidFill>
                          <a:latin typeface="Calibri"/>
                        </a:rPr>
                        <a:t>The ticket says</a:t>
                      </a:r>
                    </a:p>
                  </a:txBody>
                  <a:tcPr marL="101600" marR="101600" marT="38100" marB="38100" anchor="ctr">
                    <a:solidFill>
                      <a:srgbClr val="1A0F5C"/>
                    </a:solidFill>
                  </a:tcPr>
                </a:tc>
                <a:tc>
                  <a:txBody>
                    <a:bodyPr/>
                    <a:lstStyle/>
                    <a:p>
                      <a:r>
                        <a:rPr sz="1450" b="1" i="0">
                          <a:solidFill>
                            <a:srgbClr val="FFFFFF"/>
                          </a:solidFill>
                          <a:latin typeface="Calibri"/>
                        </a:rPr>
                        <a:t>The topic that reads it</a:t>
                      </a:r>
                    </a:p>
                  </a:txBody>
                  <a:tcPr marL="101600" marR="101600" marT="38100" marB="38100" anchor="ctr">
                    <a:solidFill>
                      <a:srgbClr val="1A0F5C"/>
                    </a:solidFill>
                  </a:tcPr>
                </a:tc>
                <a:tc>
                  <a:txBody>
                    <a:bodyPr/>
                    <a:lstStyle/>
                    <a:p>
                      <a:r>
                        <a:rPr sz="1450" b="1" i="0">
                          <a:solidFill>
                            <a:srgbClr val="FFFFFF"/>
                          </a:solidFill>
                          <a:latin typeface="Calibri"/>
                        </a:rPr>
                        <a:t>Answered in</a:t>
                      </a:r>
                    </a:p>
                  </a:txBody>
                  <a:tcPr marL="101600" marR="101600" marT="38100" marB="38100" anchor="ctr">
                    <a:solidFill>
                      <a:srgbClr val="1A0F5C"/>
                    </a:solidFill>
                  </a:tcPr>
                </a:tc>
              </a:tr>
              <a:tr h="611632">
                <a:tc>
                  <a:txBody>
                    <a:bodyPr/>
                    <a:lstStyle/>
                    <a:p>
                      <a:r>
                        <a:rPr sz="1400" b="0" i="0">
                          <a:solidFill>
                            <a:srgbClr val="1A1440"/>
                          </a:solidFill>
                          <a:latin typeface="Calibri"/>
                        </a:rPr>
                        <a:t>Month-two retention flat at 38 percent, June to September</a:t>
                      </a:r>
                    </a:p>
                  </a:txBody>
                  <a:tcPr marL="101600" marR="101600" marT="38100" marB="38100" anchor="ctr">
                    <a:solidFill>
                      <a:srgbClr val="FFFFFF"/>
                    </a:solidFill>
                  </a:tcPr>
                </a:tc>
                <a:tc>
                  <a:txBody>
                    <a:bodyPr/>
                    <a:lstStyle/>
                    <a:p>
                      <a:r>
                        <a:rPr sz="1400" b="0" i="0">
                          <a:solidFill>
                            <a:srgbClr val="1A1440"/>
                          </a:solidFill>
                          <a:latin typeface="Calibri"/>
                        </a:rPr>
                        <a:t>Blended numbers against cohort truth</a:t>
                      </a:r>
                    </a:p>
                  </a:txBody>
                  <a:tcPr marL="101600" marR="101600" marT="38100" marB="38100" anchor="ctr">
                    <a:solidFill>
                      <a:srgbClr val="FFFFFF"/>
                    </a:solidFill>
                  </a:tcPr>
                </a:tc>
                <a:tc>
                  <a:txBody>
                    <a:bodyPr/>
                    <a:lstStyle/>
                    <a:p>
                      <a:r>
                        <a:rPr sz="1400" b="0" i="0">
                          <a:solidFill>
                            <a:srgbClr val="1A1440"/>
                          </a:solidFill>
                          <a:latin typeface="Calibri"/>
                        </a:rPr>
                        <a:t>SECTION 6</a:t>
                      </a:r>
                    </a:p>
                  </a:txBody>
                  <a:tcPr marL="101600" marR="101600" marT="38100" marB="38100" anchor="ctr">
                    <a:solidFill>
                      <a:srgbClr val="FFFFFF"/>
                    </a:solidFill>
                  </a:tcPr>
                </a:tc>
              </a:tr>
              <a:tr h="611632">
                <a:tc>
                  <a:txBody>
                    <a:bodyPr/>
                    <a:lstStyle/>
                    <a:p>
                      <a:r>
                        <a:rPr sz="1400" b="0" i="0">
                          <a:solidFill>
                            <a:srgbClr val="1A1440"/>
                          </a:solidFill>
                          <a:latin typeface="Calibri"/>
                        </a:rPr>
                        <a:t>Month one 58, 56, 55, 53, 52, 50, 49, then 31 percent</a:t>
                      </a:r>
                    </a:p>
                  </a:txBody>
                  <a:tcPr marL="101600" marR="101600" marT="38100" marB="38100" anchor="ctr">
                    <a:solidFill>
                      <a:srgbClr val="F4F2FA"/>
                    </a:solidFill>
                  </a:tcPr>
                </a:tc>
                <a:tc>
                  <a:txBody>
                    <a:bodyPr/>
                    <a:lstStyle/>
                    <a:p>
                      <a:r>
                        <a:rPr sz="1400" b="0" i="0">
                          <a:solidFill>
                            <a:srgbClr val="1A1440"/>
                          </a:solidFill>
                          <a:latin typeface="Calibri"/>
                        </a:rPr>
                        <a:t>Cohort construction; retention curves: shape and floor</a:t>
                      </a:r>
                    </a:p>
                  </a:txBody>
                  <a:tcPr marL="101600" marR="101600" marT="38100" marB="38100" anchor="ctr">
                    <a:solidFill>
                      <a:srgbClr val="F4F2FA"/>
                    </a:solidFill>
                  </a:tcPr>
                </a:tc>
                <a:tc>
                  <a:txBody>
                    <a:bodyPr/>
                    <a:lstStyle/>
                    <a:p>
                      <a:r>
                        <a:rPr sz="1400" b="0" i="0">
                          <a:solidFill>
                            <a:srgbClr val="1A1440"/>
                          </a:solidFill>
                          <a:latin typeface="Calibri"/>
                        </a:rPr>
                        <a:t>SECTIONs 5 and 6</a:t>
                      </a:r>
                    </a:p>
                  </a:txBody>
                  <a:tcPr marL="101600" marR="101600" marT="38100" marB="38100" anchor="ctr">
                    <a:solidFill>
                      <a:srgbClr val="F4F2FA"/>
                    </a:solidFill>
                  </a:tcPr>
                </a:tc>
              </a:tr>
              <a:tr h="611632">
                <a:tc>
                  <a:txBody>
                    <a:bodyPr/>
                    <a:lstStyle/>
                    <a:p>
                      <a:r>
                        <a:rPr sz="1400" b="0" i="0">
                          <a:solidFill>
                            <a:srgbClr val="1A1440"/>
                          </a:solidFill>
                          <a:latin typeface="Calibri"/>
                        </a:rPr>
                        <a:t>Members' add-to-cart to order on Android, 58 to 44 percent after 14 September</a:t>
                      </a:r>
                    </a:p>
                  </a:txBody>
                  <a:tcPr marL="101600" marR="101600" marT="38100" marB="38100" anchor="ctr">
                    <a:solidFill>
                      <a:srgbClr val="FFFFFF"/>
                    </a:solidFill>
                  </a:tcPr>
                </a:tc>
                <a:tc>
                  <a:txBody>
                    <a:bodyPr/>
                    <a:lstStyle/>
                    <a:p>
                      <a:r>
                        <a:rPr sz="1400" b="0" i="0">
                          <a:solidFill>
                            <a:srgbClr val="1A1440"/>
                          </a:solidFill>
                          <a:latin typeface="Calibri"/>
                        </a:rPr>
                        <a:t>Funnel stages, drop-off, denominators</a:t>
                      </a:r>
                    </a:p>
                  </a:txBody>
                  <a:tcPr marL="101600" marR="101600" marT="38100" marB="38100" anchor="ctr">
                    <a:solidFill>
                      <a:srgbClr val="FFFFFF"/>
                    </a:solidFill>
                  </a:tcPr>
                </a:tc>
                <a:tc>
                  <a:txBody>
                    <a:bodyPr/>
                    <a:lstStyle/>
                    <a:p>
                      <a:r>
                        <a:rPr sz="1400" b="0" i="0">
                          <a:solidFill>
                            <a:srgbClr val="1A1440"/>
                          </a:solidFill>
                          <a:latin typeface="Calibri"/>
                        </a:rPr>
                        <a:t>SECTION 7</a:t>
                      </a:r>
                    </a:p>
                  </a:txBody>
                  <a:tcPr marL="101600" marR="101600" marT="38100" marB="38100" anchor="ctr">
                    <a:solidFill>
                      <a:srgbClr val="FFFFFF"/>
                    </a:solidFill>
                  </a:tcPr>
                </a:tc>
              </a:tr>
              <a:tr h="611632">
                <a:tc>
                  <a:txBody>
                    <a:bodyPr/>
                    <a:lstStyle/>
                    <a:p>
                      <a:r>
                        <a:rPr sz="1400" b="0" i="0">
                          <a:solidFill>
                            <a:srgbClr val="1A1440"/>
                          </a:solidFill>
                          <a:latin typeface="Calibri"/>
                        </a:rPr>
                        <a:t>Search to menu view 118 percent; menu view to add-to-cart 34 percent, per session</a:t>
                      </a:r>
                    </a:p>
                  </a:txBody>
                  <a:tcPr marL="101600" marR="101600" marT="38100" marB="38100" anchor="ctr">
                    <a:solidFill>
                      <a:srgbClr val="F4F2FA"/>
                    </a:solidFill>
                  </a:tcPr>
                </a:tc>
                <a:tc>
                  <a:txBody>
                    <a:bodyPr/>
                    <a:lstStyle/>
                    <a:p>
                      <a:r>
                        <a:rPr sz="1400" b="0" i="0">
                          <a:solidFill>
                            <a:srgbClr val="1A1440"/>
                          </a:solidFill>
                          <a:latin typeface="Calibri"/>
                        </a:rPr>
                        <a:t>Funnel stages, drop-off, denominators</a:t>
                      </a:r>
                    </a:p>
                  </a:txBody>
                  <a:tcPr marL="101600" marR="101600" marT="38100" marB="38100" anchor="ctr">
                    <a:solidFill>
                      <a:srgbClr val="F4F2FA"/>
                    </a:solidFill>
                  </a:tcPr>
                </a:tc>
                <a:tc>
                  <a:txBody>
                    <a:bodyPr/>
                    <a:lstStyle/>
                    <a:p>
                      <a:r>
                        <a:rPr sz="1400" b="0" i="0">
                          <a:solidFill>
                            <a:srgbClr val="1A1440"/>
                          </a:solidFill>
                          <a:latin typeface="Calibri"/>
                        </a:rPr>
                        <a:t>SECTION 7</a:t>
                      </a:r>
                    </a:p>
                  </a:txBody>
                  <a:tcPr marL="101600" marR="101600" marT="38100" marB="38100" anchor="ctr">
                    <a:solidFill>
                      <a:srgbClr val="F4F2FA"/>
                    </a:solidFill>
                  </a:tcPr>
                </a:tc>
              </a:tr>
              <a:tr h="611632">
                <a:tc>
                  <a:txBody>
                    <a:bodyPr/>
                    <a:lstStyle/>
                    <a:p>
                      <a:r>
                        <a:rPr sz="1400" b="0" i="0">
                          <a:solidFill>
                            <a:srgbClr val="1A1440"/>
                          </a:solidFill>
                          <a:latin typeface="Calibri"/>
                        </a:rPr>
                        <a:t>The ask: cohort or everyone, which stage, what first</a:t>
                      </a:r>
                    </a:p>
                  </a:txBody>
                  <a:tcPr marL="101600" marR="101600" marT="38100" marB="38100" anchor="ctr">
                    <a:solidFill>
                      <a:srgbClr val="FFFFFF"/>
                    </a:solidFill>
                  </a:tcPr>
                </a:tc>
                <a:tc>
                  <a:txBody>
                    <a:bodyPr/>
                    <a:lstStyle/>
                    <a:p>
                      <a:r>
                        <a:rPr sz="1400" b="0" i="0">
                          <a:solidFill>
                            <a:srgbClr val="1A1440"/>
                          </a:solidFill>
                          <a:latin typeface="Calibri"/>
                        </a:rPr>
                        <a:t>The fix-first decision and its evidence</a:t>
                      </a:r>
                    </a:p>
                  </a:txBody>
                  <a:tcPr marL="101600" marR="101600" marT="38100" marB="38100" anchor="ctr">
                    <a:solidFill>
                      <a:srgbClr val="FFFFFF"/>
                    </a:solidFill>
                  </a:tcPr>
                </a:tc>
                <a:tc>
                  <a:txBody>
                    <a:bodyPr/>
                    <a:lstStyle/>
                    <a:p>
                      <a:r>
                        <a:rPr sz="1400" b="0" i="0">
                          <a:solidFill>
                            <a:srgbClr val="1A1440"/>
                          </a:solidFill>
                          <a:latin typeface="Calibri"/>
                        </a:rPr>
                        <a:t>SECTIONs 8 and 9</a:t>
                      </a:r>
                    </a:p>
                  </a:txBody>
                  <a:tcPr marL="101600" marR="101600" marT="38100" marB="38100" anchor="ctr">
                    <a:solidFill>
                      <a:srgbClr val="FFFFFF"/>
                    </a:solidFill>
                  </a:tcPr>
                </a:tc>
              </a:tr>
            </a:tbl>
          </a:graphicData>
        </a:graphic>
      </p:graphicFrame>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010412" cy="152146"/>
          </a:xfrm>
          <a:prstGeom prst="rect">
            <a:avLst/>
          </a:prstGeom>
          <a:noFill/>
        </p:spPr>
        <p:txBody>
          <a:bodyPr wrap="square" anchor="t" lIns="0" rIns="0" tIns="0" bIns="0">
            <a:spAutoFit/>
          </a:bodyPr>
          <a:lstStyle/>
          <a:p>
            <a:pPr algn="l"/>
            <a:r>
              <a:rPr sz="700" b="0" i="0">
                <a:solidFill>
                  <a:srgbClr val="6B6690"/>
                </a:solidFill>
                <a:latin typeface="Calibri"/>
              </a:rPr>
              <a:t>Who joined when?</a:t>
            </a:r>
          </a:p>
        </p:txBody>
      </p:sp>
      <p:sp>
        <p:nvSpPr>
          <p:cNvPr id="12" name="Oval 11"/>
          <p:cNvSpPr/>
          <p:nvPr/>
        </p:nvSpPr>
        <p:spPr>
          <a:xfrm>
            <a:off x="174193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85166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Where is the floor?</a:t>
            </a:r>
          </a:p>
        </p:txBody>
      </p:sp>
      <p:sp>
        <p:nvSpPr>
          <p:cNvPr id="14" name="Oval 13"/>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20125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a blend made of?</a:t>
            </a:r>
          </a:p>
        </p:txBody>
      </p:sp>
      <p:sp>
        <p:nvSpPr>
          <p:cNvPr id="16" name="Oval 15"/>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78088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step owns a loss?</a:t>
            </a:r>
          </a:p>
        </p:txBody>
      </p:sp>
      <p:sp>
        <p:nvSpPr>
          <p:cNvPr id="18" name="Oval 17"/>
          <p:cNvSpPr/>
          <p:nvPr/>
        </p:nvSpPr>
        <p:spPr>
          <a:xfrm>
            <a:off x="620477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314503" y="6437376"/>
            <a:ext cx="1056417" cy="152146"/>
          </a:xfrm>
          <a:prstGeom prst="rect">
            <a:avLst/>
          </a:prstGeom>
          <a:noFill/>
        </p:spPr>
        <p:txBody>
          <a:bodyPr wrap="square" anchor="t" lIns="0" rIns="0" tIns="0" bIns="0">
            <a:spAutoFit/>
          </a:bodyPr>
          <a:lstStyle/>
          <a:p>
            <a:pPr algn="l"/>
            <a:r>
              <a:rPr sz="700" b="1" i="0">
                <a:solidFill>
                  <a:srgbClr val="5B3FD6"/>
                </a:solidFill>
                <a:latin typeface="Calibri"/>
              </a:rPr>
              <a:t>Who entered when?</a:t>
            </a:r>
          </a:p>
        </p:txBody>
      </p:sp>
      <p:sp>
        <p:nvSpPr>
          <p:cNvPr id="20" name="Oval 19"/>
          <p:cNvSpPr/>
          <p:nvPr/>
        </p:nvSpPr>
        <p:spPr>
          <a:xfrm>
            <a:off x="74623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572089"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the 38 made of?</a:t>
            </a:r>
          </a:p>
        </p:txBody>
      </p:sp>
      <p:sp>
        <p:nvSpPr>
          <p:cNvPr id="22" name="Oval 21"/>
          <p:cNvSpPr/>
          <p:nvPr/>
        </p:nvSpPr>
        <p:spPr>
          <a:xfrm>
            <a:off x="899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10570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stage owns the loss?</a:t>
            </a:r>
          </a:p>
        </p:txBody>
      </p:sp>
      <p:sp>
        <p:nvSpPr>
          <p:cNvPr id="24" name="TextBox 2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S36  ·  41 / 73</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COHORT AND FUNNEL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Where today ends: one sentence with blanks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sentence will the membership lead carry out of the room?</a:t>
            </a:r>
          </a:p>
        </p:txBody>
      </p:sp>
      <p:sp>
        <p:nvSpPr>
          <p:cNvPr id="9" name="Rounded Rectangle 8"/>
          <p:cNvSpPr/>
          <p:nvPr/>
        </p:nvSpPr>
        <p:spPr>
          <a:xfrm>
            <a:off x="530352" y="1956816"/>
            <a:ext cx="45720" cy="1320799"/>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86384" y="1956816"/>
            <a:ext cx="10820095" cy="1320799"/>
          </a:xfrm>
          <a:prstGeom prst="rect">
            <a:avLst/>
          </a:prstGeom>
          <a:noFill/>
        </p:spPr>
        <p:txBody>
          <a:bodyPr wrap="square" anchor="t" lIns="0" rIns="0" tIns="0" bIns="0">
            <a:spAutoFit/>
          </a:bodyPr>
          <a:lstStyle/>
          <a:p>
            <a:r>
              <a:rPr sz="1600" b="0" i="1">
                <a:solidFill>
                  <a:srgbClr val="1A0F5C"/>
                </a:solidFill>
                <a:latin typeface="Georgia"/>
              </a:rPr>
              <a:t>"It is ______: a cohort problem, an everyone problem, or both. Retention: the dashboard starts counting at month ______, so it never sees ______, and it has not yet counted ______. Orders: members of every signup month on ______ lose orders at one step, ______, from ______. Fix ______ first; before buying another sale, work out ______."</a:t>
            </a:r>
          </a:p>
        </p:txBody>
      </p:sp>
      <p:sp>
        <p:nvSpPr>
          <p:cNvPr id="11" name="Rounded Rectangle 10"/>
          <p:cNvSpPr/>
          <p:nvPr/>
        </p:nvSpPr>
        <p:spPr>
          <a:xfrm>
            <a:off x="530352" y="3423920"/>
            <a:ext cx="11130991" cy="13411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676656" y="3551936"/>
            <a:ext cx="45720" cy="10850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77824" y="3542792"/>
            <a:ext cx="10564063" cy="1158240"/>
          </a:xfrm>
          <a:prstGeom prst="rect">
            <a:avLst/>
          </a:prstGeom>
          <a:noFill/>
        </p:spPr>
        <p:txBody>
          <a:bodyPr wrap="square" anchor="ctr" lIns="0" rIns="0" tIns="0" bIns="0">
            <a:spAutoFit/>
          </a:bodyPr>
          <a:lstStyle/>
          <a:p>
            <a:r>
              <a:rPr sz="1500" b="1">
                <a:solidFill>
                  <a:srgbClr val="5B3FD6"/>
                </a:solidFill>
                <a:latin typeface="Calibri"/>
              </a:rPr>
              <a:t>The words. </a:t>
            </a:r>
            <a:r>
              <a:rPr sz="1500" b="0" i="0">
                <a:solidFill>
                  <a:srgbClr val="1A1440"/>
                </a:solidFill>
                <a:latin typeface="Calibri"/>
              </a:rPr>
              <a:t>Month-two retention is the dashboard's name for the share of members two or more months past their signup month who ordered in the month; a member with no order in a month is not retained that month, and she is still a member. A cohort problem sits in some signup months; an everyone problem hits members of every signup month at once.</a:t>
            </a:r>
          </a:p>
        </p:txBody>
      </p:sp>
      <p:sp>
        <p:nvSpPr>
          <p:cNvPr id="14" name="TextBox 13"/>
          <p:cNvSpPr txBox="1"/>
          <p:nvPr/>
        </p:nvSpPr>
        <p:spPr>
          <a:xfrm>
            <a:off x="530352" y="4929632"/>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Each blank is filled in order: by hand on twelve members, on all 53,089, then on 1,386,235 app events, and SECTION 9 writes the sentence whole.</a:t>
            </a:r>
          </a:p>
        </p:txBody>
      </p:sp>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010412" cy="152146"/>
          </a:xfrm>
          <a:prstGeom prst="rect">
            <a:avLst/>
          </a:prstGeom>
          <a:noFill/>
        </p:spPr>
        <p:txBody>
          <a:bodyPr wrap="square" anchor="t" lIns="0" rIns="0" tIns="0" bIns="0">
            <a:spAutoFit/>
          </a:bodyPr>
          <a:lstStyle/>
          <a:p>
            <a:pPr algn="l"/>
            <a:r>
              <a:rPr sz="700" b="0" i="0">
                <a:solidFill>
                  <a:srgbClr val="6B6690"/>
                </a:solidFill>
                <a:latin typeface="Calibri"/>
              </a:rPr>
              <a:t>Who joined when?</a:t>
            </a:r>
          </a:p>
        </p:txBody>
      </p:sp>
      <p:sp>
        <p:nvSpPr>
          <p:cNvPr id="17" name="Oval 16"/>
          <p:cNvSpPr/>
          <p:nvPr/>
        </p:nvSpPr>
        <p:spPr>
          <a:xfrm>
            <a:off x="174193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85166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Where is the floor?</a:t>
            </a:r>
          </a:p>
        </p:txBody>
      </p:sp>
      <p:sp>
        <p:nvSpPr>
          <p:cNvPr id="19" name="Oval 18"/>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20125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a blend made of?</a:t>
            </a:r>
          </a:p>
        </p:txBody>
      </p:sp>
      <p:sp>
        <p:nvSpPr>
          <p:cNvPr id="21" name="Oval 20"/>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78088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step owns a loss?</a:t>
            </a:r>
          </a:p>
        </p:txBody>
      </p:sp>
      <p:sp>
        <p:nvSpPr>
          <p:cNvPr id="23" name="Oval 22"/>
          <p:cNvSpPr/>
          <p:nvPr/>
        </p:nvSpPr>
        <p:spPr>
          <a:xfrm>
            <a:off x="620477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314503" y="6437376"/>
            <a:ext cx="1056417" cy="152146"/>
          </a:xfrm>
          <a:prstGeom prst="rect">
            <a:avLst/>
          </a:prstGeom>
          <a:noFill/>
        </p:spPr>
        <p:txBody>
          <a:bodyPr wrap="square" anchor="t" lIns="0" rIns="0" tIns="0" bIns="0">
            <a:spAutoFit/>
          </a:bodyPr>
          <a:lstStyle/>
          <a:p>
            <a:pPr algn="l"/>
            <a:r>
              <a:rPr sz="700" b="1" i="0">
                <a:solidFill>
                  <a:srgbClr val="5B3FD6"/>
                </a:solidFill>
                <a:latin typeface="Calibri"/>
              </a:rPr>
              <a:t>Who entered when?</a:t>
            </a:r>
          </a:p>
        </p:txBody>
      </p:sp>
      <p:sp>
        <p:nvSpPr>
          <p:cNvPr id="25" name="Oval 24"/>
          <p:cNvSpPr/>
          <p:nvPr/>
        </p:nvSpPr>
        <p:spPr>
          <a:xfrm>
            <a:off x="74623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572089"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the 38 made of?</a:t>
            </a:r>
          </a:p>
        </p:txBody>
      </p:sp>
      <p:sp>
        <p:nvSpPr>
          <p:cNvPr id="27" name="Oval 26"/>
          <p:cNvSpPr/>
          <p:nvPr/>
        </p:nvSpPr>
        <p:spPr>
          <a:xfrm>
            <a:off x="899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910570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stage owns the loss?</a:t>
            </a:r>
          </a:p>
        </p:txBody>
      </p:sp>
      <p:sp>
        <p:nvSpPr>
          <p:cNvPr id="29" name="TextBox 2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S37  ·  42 / 73</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COHORT AND FUNNEL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Five causes on the board, each with its test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Before any chart, which causes could explain the ticket, and what would test each?</a:t>
            </a:r>
          </a:p>
        </p:txBody>
      </p:sp>
      <p:pic>
        <p:nvPicPr>
          <p:cNvPr id="9" name="mermaid diagram" descr="014ba7b686b01944.png"/>
          <p:cNvPicPr>
            <a:picLocks noChangeAspect="1"/>
          </p:cNvPicPr>
          <p:nvPr/>
        </p:nvPicPr>
        <p:blipFill>
          <a:blip r:embed="rId5"/>
          <a:stretch>
            <a:fillRect/>
          </a:stretch>
        </p:blipFill>
        <p:spPr>
          <a:xfrm>
            <a:off x="530352" y="1956816"/>
            <a:ext cx="11130991" cy="1331913"/>
          </a:xfrm>
          <a:prstGeom prst="rect">
            <a:avLst/>
          </a:prstGeom>
        </p:spPr>
      </p:pic>
      <p:graphicFrame>
        <p:nvGraphicFramePr>
          <p:cNvPr id="10" name="Table 9"/>
          <p:cNvGraphicFramePr>
            <a:graphicFrameLocks noGrp="1"/>
          </p:cNvGraphicFramePr>
          <p:nvPr/>
        </p:nvGraphicFramePr>
        <p:xfrm>
          <a:off x="530352" y="3435033"/>
          <a:ext cx="11130991" cy="2218944"/>
        </p:xfrm>
        <a:graphic>
          <a:graphicData uri="http://schemas.openxmlformats.org/drawingml/2006/table">
            <a:tbl>
              <a:tblPr firstRow="0" bandRow="0">
                <a:tableStyleId>{2D5ABB26-0587-4C30-8999-92F81FD0307C}</a:tableStyleId>
              </a:tblPr>
              <a:tblGrid>
                <a:gridCol w="2257107"/>
                <a:gridCol w="8873884"/>
              </a:tblGrid>
              <a:tr h="369824">
                <a:tc>
                  <a:txBody>
                    <a:bodyPr/>
                    <a:lstStyle/>
                    <a:p>
                      <a:r>
                        <a:rPr sz="1450" b="1" i="0">
                          <a:solidFill>
                            <a:srgbClr val="FFFFFF"/>
                          </a:solidFill>
                          <a:latin typeface="Calibri"/>
                        </a:rPr>
                        <a:t>Cause</a:t>
                      </a:r>
                    </a:p>
                  </a:txBody>
                  <a:tcPr marL="101600" marR="101600" marT="38100" marB="38100" anchor="ctr">
                    <a:solidFill>
                      <a:srgbClr val="1A0F5C"/>
                    </a:solidFill>
                  </a:tcPr>
                </a:tc>
                <a:tc>
                  <a:txBody>
                    <a:bodyPr/>
                    <a:lstStyle/>
                    <a:p>
                      <a:r>
                        <a:rPr sz="1450" b="1" i="0">
                          <a:solidFill>
                            <a:srgbClr val="FFFFFF"/>
                          </a:solidFill>
                          <a:latin typeface="Calibri"/>
                        </a:rPr>
                        <a:t>The test that settles it</a:t>
                      </a:r>
                    </a:p>
                  </a:txBody>
                  <a:tcPr marL="101600" marR="101600" marT="38100" marB="38100" anchor="ctr">
                    <a:solidFill>
                      <a:srgbClr val="1A0F5C"/>
                    </a:solidFill>
                  </a:tcPr>
                </a:tc>
              </a:tr>
              <a:tr h="369824">
                <a:tc>
                  <a:txBody>
                    <a:bodyPr/>
                    <a:lstStyle/>
                    <a:p>
                      <a:r>
                        <a:rPr sz="1400" b="0" i="0">
                          <a:solidFill>
                            <a:srgbClr val="1A1440"/>
                          </a:solidFill>
                          <a:latin typeface="Calibri"/>
                        </a:rPr>
                        <a:t>1. Tracking</a:t>
                      </a:r>
                    </a:p>
                  </a:txBody>
                  <a:tcPr marL="101600" marR="101600" marT="38100" marB="38100" anchor="ctr">
                    <a:solidFill>
                      <a:srgbClr val="FFFFFF"/>
                    </a:solidFill>
                  </a:tcPr>
                </a:tc>
                <a:tc>
                  <a:txBody>
                    <a:bodyPr/>
                    <a:lstStyle/>
                    <a:p>
                      <a:r>
                        <a:rPr sz="1400" b="0" i="0">
                          <a:solidFill>
                            <a:srgbClr val="1A1440"/>
                          </a:solidFill>
                          <a:latin typeface="Calibri"/>
                        </a:rPr>
                        <a:t>The orders counted a second way, in the order records, against the app's event log</a:t>
                      </a:r>
                    </a:p>
                  </a:txBody>
                  <a:tcPr marL="101600" marR="101600" marT="38100" marB="38100" anchor="ctr">
                    <a:solidFill>
                      <a:srgbClr val="FFFFFF"/>
                    </a:solidFill>
                  </a:tcPr>
                </a:tc>
              </a:tr>
              <a:tr h="369824">
                <a:tc>
                  <a:txBody>
                    <a:bodyPr/>
                    <a:lstStyle/>
                    <a:p>
                      <a:r>
                        <a:rPr sz="1400" b="0" i="0">
                          <a:solidFill>
                            <a:srgbClr val="1A1440"/>
                          </a:solidFill>
                          <a:latin typeface="Calibri"/>
                        </a:rPr>
                        <a:t>2. Definition</a:t>
                      </a:r>
                    </a:p>
                  </a:txBody>
                  <a:tcPr marL="101600" marR="101600" marT="38100" marB="38100" anchor="ctr">
                    <a:solidFill>
                      <a:srgbClr val="F4F2FA"/>
                    </a:solidFill>
                  </a:tcPr>
                </a:tc>
                <a:tc>
                  <a:txBody>
                    <a:bodyPr/>
                    <a:lstStyle/>
                    <a:p>
                      <a:r>
                        <a:rPr sz="1400" b="0" i="0">
                          <a:solidFill>
                            <a:srgbClr val="1A1440"/>
                          </a:solidFill>
                          <a:latin typeface="Calibri"/>
                        </a:rPr>
                        <a:t>The dashboard's written rule: who is counted, from which month</a:t>
                      </a:r>
                    </a:p>
                  </a:txBody>
                  <a:tcPr marL="101600" marR="101600" marT="38100" marB="38100" anchor="ctr">
                    <a:solidFill>
                      <a:srgbClr val="F4F2FA"/>
                    </a:solidFill>
                  </a:tcPr>
                </a:tc>
              </a:tr>
              <a:tr h="369824">
                <a:tc>
                  <a:txBody>
                    <a:bodyPr/>
                    <a:lstStyle/>
                    <a:p>
                      <a:r>
                        <a:rPr sz="1400" b="0" i="0">
                          <a:solidFill>
                            <a:srgbClr val="1A1440"/>
                          </a:solidFill>
                          <a:latin typeface="Calibri"/>
                        </a:rPr>
                        <a:t>3. Cohorts</a:t>
                      </a:r>
                    </a:p>
                  </a:txBody>
                  <a:tcPr marL="101600" marR="101600" marT="38100" marB="38100" anchor="ctr">
                    <a:solidFill>
                      <a:srgbClr val="FFFFFF"/>
                    </a:solidFill>
                  </a:tcPr>
                </a:tc>
                <a:tc>
                  <a:txBody>
                    <a:bodyPr/>
                    <a:lstStyle/>
                    <a:p>
                      <a:r>
                        <a:rPr sz="1400" b="0" i="0">
                          <a:solidFill>
                            <a:srgbClr val="1A1440"/>
                          </a:solidFill>
                          <a:latin typeface="Calibri"/>
                        </a:rPr>
                        <a:t>The cohort table, each signup month read at the same age</a:t>
                      </a:r>
                    </a:p>
                  </a:txBody>
                  <a:tcPr marL="101600" marR="101600" marT="38100" marB="38100" anchor="ctr">
                    <a:solidFill>
                      <a:srgbClr val="FFFFFF"/>
                    </a:solidFill>
                  </a:tcPr>
                </a:tc>
              </a:tr>
              <a:tr h="369824">
                <a:tc>
                  <a:txBody>
                    <a:bodyPr/>
                    <a:lstStyle/>
                    <a:p>
                      <a:r>
                        <a:rPr sz="1400" b="0" i="0">
                          <a:solidFill>
                            <a:srgbClr val="1A1440"/>
                          </a:solidFill>
                          <a:latin typeface="Calibri"/>
                        </a:rPr>
                        <a:t>4. Everyone</a:t>
                      </a:r>
                    </a:p>
                  </a:txBody>
                  <a:tcPr marL="101600" marR="101600" marT="38100" marB="38100" anchor="ctr">
                    <a:solidFill>
                      <a:srgbClr val="F4F2FA"/>
                    </a:solidFill>
                  </a:tcPr>
                </a:tc>
                <a:tc>
                  <a:txBody>
                    <a:bodyPr/>
                    <a:lstStyle/>
                    <a:p>
                      <a:r>
                        <a:rPr sz="1400" b="0" i="0">
                          <a:solidFill>
                            <a:srgbClr val="1A1440"/>
                          </a:solidFill>
                          <a:latin typeface="Calibri"/>
                        </a:rPr>
                        <a:t>One calendar month read across every cohort: did all of them move at once, on one platform?</a:t>
                      </a:r>
                    </a:p>
                  </a:txBody>
                  <a:tcPr marL="101600" marR="101600" marT="38100" marB="38100" anchor="ctr">
                    <a:solidFill>
                      <a:srgbClr val="F4F2FA"/>
                    </a:solidFill>
                  </a:tcPr>
                </a:tc>
              </a:tr>
              <a:tr h="369824">
                <a:tc>
                  <a:txBody>
                    <a:bodyPr/>
                    <a:lstStyle/>
                    <a:p>
                      <a:r>
                        <a:rPr sz="1400" b="0" i="0">
                          <a:solidFill>
                            <a:srgbClr val="1A1440"/>
                          </a:solidFill>
                          <a:latin typeface="Calibri"/>
                        </a:rPr>
                        <a:t>5. A stage</a:t>
                      </a:r>
                    </a:p>
                  </a:txBody>
                  <a:tcPr marL="101600" marR="101600" marT="38100" marB="38100" anchor="ctr">
                    <a:solidFill>
                      <a:srgbClr val="FFFFFF"/>
                    </a:solidFill>
                  </a:tcPr>
                </a:tc>
                <a:tc>
                  <a:txBody>
                    <a:bodyPr/>
                    <a:lstStyle/>
                    <a:p>
                      <a:r>
                        <a:rPr sz="1400" b="0" i="0">
                          <a:solidFill>
                            <a:srgbClr val="1A1440"/>
                          </a:solidFill>
                          <a:latin typeface="Calibri"/>
                        </a:rPr>
                        <a:t>Each step over the step before, by unit, platform and date</a:t>
                      </a:r>
                    </a:p>
                  </a:txBody>
                  <a:tcPr marL="101600" marR="101600" marT="38100" marB="38100" anchor="ctr">
                    <a:solidFill>
                      <a:srgbClr val="FFFFFF"/>
                    </a:solidFill>
                  </a:tcPr>
                </a:tc>
              </a:tr>
            </a:tbl>
          </a:graphicData>
        </a:graphic>
      </p:graphicFrame>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010412" cy="152146"/>
          </a:xfrm>
          <a:prstGeom prst="rect">
            <a:avLst/>
          </a:prstGeom>
          <a:noFill/>
        </p:spPr>
        <p:txBody>
          <a:bodyPr wrap="square" anchor="t" lIns="0" rIns="0" tIns="0" bIns="0">
            <a:spAutoFit/>
          </a:bodyPr>
          <a:lstStyle/>
          <a:p>
            <a:pPr algn="l"/>
            <a:r>
              <a:rPr sz="700" b="0" i="0">
                <a:solidFill>
                  <a:srgbClr val="6B6690"/>
                </a:solidFill>
                <a:latin typeface="Calibri"/>
              </a:rPr>
              <a:t>Who joined when?</a:t>
            </a:r>
          </a:p>
        </p:txBody>
      </p:sp>
      <p:sp>
        <p:nvSpPr>
          <p:cNvPr id="13" name="Oval 12"/>
          <p:cNvSpPr/>
          <p:nvPr/>
        </p:nvSpPr>
        <p:spPr>
          <a:xfrm>
            <a:off x="174193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85166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Where is the floor?</a:t>
            </a:r>
          </a:p>
        </p:txBody>
      </p:sp>
      <p:sp>
        <p:nvSpPr>
          <p:cNvPr id="15" name="Oval 14"/>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20125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a blend made of?</a:t>
            </a:r>
          </a:p>
        </p:txBody>
      </p:sp>
      <p:sp>
        <p:nvSpPr>
          <p:cNvPr id="17" name="Oval 16"/>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78088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step owns a loss?</a:t>
            </a:r>
          </a:p>
        </p:txBody>
      </p:sp>
      <p:sp>
        <p:nvSpPr>
          <p:cNvPr id="19" name="Oval 18"/>
          <p:cNvSpPr/>
          <p:nvPr/>
        </p:nvSpPr>
        <p:spPr>
          <a:xfrm>
            <a:off x="620477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314503" y="6437376"/>
            <a:ext cx="1056417" cy="152146"/>
          </a:xfrm>
          <a:prstGeom prst="rect">
            <a:avLst/>
          </a:prstGeom>
          <a:noFill/>
        </p:spPr>
        <p:txBody>
          <a:bodyPr wrap="square" anchor="t" lIns="0" rIns="0" tIns="0" bIns="0">
            <a:spAutoFit/>
          </a:bodyPr>
          <a:lstStyle/>
          <a:p>
            <a:pPr algn="l"/>
            <a:r>
              <a:rPr sz="700" b="1" i="0">
                <a:solidFill>
                  <a:srgbClr val="5B3FD6"/>
                </a:solidFill>
                <a:latin typeface="Calibri"/>
              </a:rPr>
              <a:t>Who entered when?</a:t>
            </a:r>
          </a:p>
        </p:txBody>
      </p:sp>
      <p:sp>
        <p:nvSpPr>
          <p:cNvPr id="21" name="Oval 20"/>
          <p:cNvSpPr/>
          <p:nvPr/>
        </p:nvSpPr>
        <p:spPr>
          <a:xfrm>
            <a:off x="74623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572089"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the 38 made of?</a:t>
            </a:r>
          </a:p>
        </p:txBody>
      </p:sp>
      <p:sp>
        <p:nvSpPr>
          <p:cNvPr id="23" name="Oval 22"/>
          <p:cNvSpPr/>
          <p:nvPr/>
        </p:nvSpPr>
        <p:spPr>
          <a:xfrm>
            <a:off x="899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10570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stage owns the loss?</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S38  ·  43 / 73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COHORT AND FUNNEL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card: twelve members, four months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of the twelve ordered in each month after joining?</a:t>
            </a:r>
          </a:p>
        </p:txBody>
      </p:sp>
      <p:graphicFrame>
        <p:nvGraphicFramePr>
          <p:cNvPr id="9" name="Table 8"/>
          <p:cNvGraphicFramePr>
            <a:graphicFrameLocks noGrp="1"/>
          </p:cNvGraphicFramePr>
          <p:nvPr/>
        </p:nvGraphicFramePr>
        <p:xfrm>
          <a:off x="530352" y="1682496"/>
          <a:ext cx="11130991" cy="3017520"/>
        </p:xfrm>
        <a:graphic>
          <a:graphicData uri="http://schemas.openxmlformats.org/drawingml/2006/table">
            <a:tbl>
              <a:tblPr firstRow="0" bandRow="0">
                <a:tableStyleId>{2D5ABB26-0587-4C30-8999-92F81FD0307C}</a:tableStyleId>
              </a:tblPr>
              <a:tblGrid>
                <a:gridCol w="5644591"/>
                <a:gridCol w="914400"/>
                <a:gridCol w="914400"/>
                <a:gridCol w="914400"/>
                <a:gridCol w="914400"/>
                <a:gridCol w="914400"/>
                <a:gridCol w="914400"/>
              </a:tblGrid>
              <a:tr h="335280">
                <a:tc>
                  <a:txBody>
                    <a:bodyPr/>
                    <a:lstStyle/>
                    <a:p>
                      <a:r>
                        <a:rPr sz="1250" b="1" i="0">
                          <a:solidFill>
                            <a:srgbClr val="FFFFFF"/>
                          </a:solidFill>
                          <a:latin typeface="Calibri"/>
                        </a:rPr>
                        <a:t>Member</a:t>
                      </a:r>
                    </a:p>
                  </a:txBody>
                  <a:tcPr marL="101600" marR="101600" marT="38100" marB="38100" anchor="ctr">
                    <a:solidFill>
                      <a:srgbClr val="1A0F5C"/>
                    </a:solidFill>
                  </a:tcPr>
                </a:tc>
                <a:tc>
                  <a:txBody>
                    <a:bodyPr/>
                    <a:lstStyle/>
                    <a:p>
                      <a:r>
                        <a:rPr sz="1250" b="1" i="0">
                          <a:solidFill>
                            <a:srgbClr val="FFFFFF"/>
                          </a:solidFill>
                          <a:latin typeface="Calibri"/>
                        </a:rPr>
                        <a:t>Joined</a:t>
                      </a:r>
                    </a:p>
                  </a:txBody>
                  <a:tcPr marL="101600" marR="101600" marT="38100" marB="38100" anchor="ctr">
                    <a:solidFill>
                      <a:srgbClr val="1A0F5C"/>
                    </a:solidFill>
                  </a:tcPr>
                </a:tc>
                <a:tc>
                  <a:txBody>
                    <a:bodyPr/>
                    <a:lstStyle/>
                    <a:p>
                      <a:r>
                        <a:rPr sz="1250" b="1" i="0">
                          <a:solidFill>
                            <a:srgbClr val="FFFFFF"/>
                          </a:solidFill>
                          <a:latin typeface="Calibri"/>
                        </a:rPr>
                        <a:t>Channel</a:t>
                      </a:r>
                    </a:p>
                  </a:txBody>
                  <a:tcPr marL="101600" marR="101600" marT="38100" marB="38100" anchor="ctr">
                    <a:solidFill>
                      <a:srgbClr val="1A0F5C"/>
                    </a:solidFill>
                  </a:tcPr>
                </a:tc>
                <a:tc>
                  <a:txBody>
                    <a:bodyPr/>
                    <a:lstStyle/>
                    <a:p>
                      <a:r>
                        <a:rPr sz="1250" b="1" i="0">
                          <a:solidFill>
                            <a:srgbClr val="FFFFFF"/>
                          </a:solidFill>
                          <a:latin typeface="Calibri"/>
                        </a:rPr>
                        <a:t>Jun</a:t>
                      </a:r>
                    </a:p>
                  </a:txBody>
                  <a:tcPr marL="101600" marR="101600" marT="38100" marB="38100" anchor="ctr">
                    <a:solidFill>
                      <a:srgbClr val="1A0F5C"/>
                    </a:solidFill>
                  </a:tcPr>
                </a:tc>
                <a:tc>
                  <a:txBody>
                    <a:bodyPr/>
                    <a:lstStyle/>
                    <a:p>
                      <a:r>
                        <a:rPr sz="1250" b="1" i="0">
                          <a:solidFill>
                            <a:srgbClr val="FFFFFF"/>
                          </a:solidFill>
                          <a:latin typeface="Calibri"/>
                        </a:rPr>
                        <a:t>Jul</a:t>
                      </a:r>
                    </a:p>
                  </a:txBody>
                  <a:tcPr marL="101600" marR="101600" marT="38100" marB="38100" anchor="ctr">
                    <a:solidFill>
                      <a:srgbClr val="1A0F5C"/>
                    </a:solidFill>
                  </a:tcPr>
                </a:tc>
                <a:tc>
                  <a:txBody>
                    <a:bodyPr/>
                    <a:lstStyle/>
                    <a:p>
                      <a:r>
                        <a:rPr sz="1250" b="1" i="0">
                          <a:solidFill>
                            <a:srgbClr val="FFFFFF"/>
                          </a:solidFill>
                          <a:latin typeface="Calibri"/>
                        </a:rPr>
                        <a:t>Aug</a:t>
                      </a:r>
                    </a:p>
                  </a:txBody>
                  <a:tcPr marL="101600" marR="101600" marT="38100" marB="38100" anchor="ctr">
                    <a:solidFill>
                      <a:srgbClr val="1A0F5C"/>
                    </a:solidFill>
                  </a:tcPr>
                </a:tc>
                <a:tc>
                  <a:txBody>
                    <a:bodyPr/>
                    <a:lstStyle/>
                    <a:p>
                      <a:r>
                        <a:rPr sz="1250" b="1" i="0">
                          <a:solidFill>
                            <a:srgbClr val="FFFFFF"/>
                          </a:solidFill>
                          <a:latin typeface="Calibri"/>
                        </a:rPr>
                        <a:t>Sep</a:t>
                      </a:r>
                    </a:p>
                  </a:txBody>
                  <a:tcPr marL="101600" marR="101600" marT="38100" marB="38100" anchor="ctr">
                    <a:solidFill>
                      <a:srgbClr val="1A0F5C"/>
                    </a:solidFill>
                  </a:tcPr>
                </a:tc>
              </a:tr>
              <a:tr h="335280">
                <a:tc>
                  <a:txBody>
                    <a:bodyPr/>
                    <a:lstStyle/>
                    <a:p>
                      <a:r>
                        <a:rPr sz="1200" b="0" i="0">
                          <a:solidFill>
                            <a:srgbClr val="1A1440"/>
                          </a:solidFill>
                          <a:latin typeface="Calibri"/>
                        </a:rPr>
                        <a:t>ZG20844</a:t>
                      </a:r>
                    </a:p>
                  </a:txBody>
                  <a:tcPr marL="101600" marR="101600" marT="38100" marB="38100" anchor="ctr">
                    <a:solidFill>
                      <a:srgbClr val="FFFFFF"/>
                    </a:solidFill>
                  </a:tcPr>
                </a:tc>
                <a:tc>
                  <a:txBody>
                    <a:bodyPr/>
                    <a:lstStyle/>
                    <a:p>
                      <a:r>
                        <a:rPr sz="1200" b="0" i="0">
                          <a:solidFill>
                            <a:srgbClr val="1A1440"/>
                          </a:solidFill>
                          <a:latin typeface="Calibri"/>
                        </a:rPr>
                        <a:t>May</a:t>
                      </a:r>
                    </a:p>
                  </a:txBody>
                  <a:tcPr marL="101600" marR="101600" marT="38100" marB="38100" anchor="ctr">
                    <a:solidFill>
                      <a:srgbClr val="FFFFFF"/>
                    </a:solidFill>
                  </a:tcPr>
                </a:tc>
                <a:tc>
                  <a:txBody>
                    <a:bodyPr/>
                    <a:lstStyle/>
                    <a:p>
                      <a:r>
                        <a:rPr sz="1200" b="0" i="0">
                          <a:solidFill>
                            <a:srgbClr val="1A1440"/>
                          </a:solidFill>
                          <a:latin typeface="Calibri"/>
                        </a:rPr>
                        <a:t>organic</a:t>
                      </a:r>
                    </a:p>
                  </a:txBody>
                  <a:tcPr marL="101600" marR="101600" marT="38100" marB="38100" anchor="ctr">
                    <a:solidFill>
                      <a:srgbClr val="FFFFFF"/>
                    </a:solidFill>
                  </a:tcPr>
                </a:tc>
                <a:tc>
                  <a:txBody>
                    <a:bodyPr/>
                    <a:lstStyle/>
                    <a:p>
                      <a:r>
                        <a:rPr sz="1200" b="0" i="0">
                          <a:solidFill>
                            <a:srgbClr val="1A1440"/>
                          </a:solidFill>
                          <a:latin typeface="Calibri"/>
                        </a:rPr>
                        <a:t>1</a:t>
                      </a:r>
                    </a:p>
                  </a:txBody>
                  <a:tcPr marL="101600" marR="101600" marT="38100" marB="38100" anchor="ctr">
                    <a:solidFill>
                      <a:srgbClr val="FFFFFF"/>
                    </a:solidFill>
                  </a:tcPr>
                </a:tc>
                <a:tc>
                  <a:txBody>
                    <a:bodyPr/>
                    <a:lstStyle/>
                    <a:p>
                      <a:r>
                        <a:rPr sz="1200" b="0" i="0">
                          <a:solidFill>
                            <a:srgbClr val="1A1440"/>
                          </a:solidFill>
                          <a:latin typeface="Calibri"/>
                        </a:rPr>
                        <a:t>1</a:t>
                      </a:r>
                    </a:p>
                  </a:txBody>
                  <a:tcPr marL="101600" marR="101600" marT="38100" marB="38100" anchor="ctr">
                    <a:solidFill>
                      <a:srgbClr val="FFFFFF"/>
                    </a:solidFill>
                  </a:tcPr>
                </a:tc>
                <a:tc>
                  <a:txBody>
                    <a:bodyPr/>
                    <a:lstStyle/>
                    <a:p>
                      <a:r>
                        <a:rPr sz="1200" b="0" i="0">
                          <a:solidFill>
                            <a:srgbClr val="1A1440"/>
                          </a:solidFill>
                          <a:latin typeface="Calibri"/>
                        </a:rPr>
                        <a:t>1</a:t>
                      </a:r>
                    </a:p>
                  </a:txBody>
                  <a:tcPr marL="101600" marR="101600" marT="38100" marB="38100" anchor="ctr">
                    <a:solidFill>
                      <a:srgbClr val="FFFFFF"/>
                    </a:solidFill>
                  </a:tcPr>
                </a:tc>
                <a:tc>
                  <a:txBody>
                    <a:bodyPr/>
                    <a:lstStyle/>
                    <a:p>
                      <a:r>
                        <a:rPr sz="1200" b="0" i="0">
                          <a:solidFill>
                            <a:srgbClr val="1A1440"/>
                          </a:solidFill>
                          <a:latin typeface="Calibri"/>
                        </a:rPr>
                        <a:t>1</a:t>
                      </a:r>
                    </a:p>
                  </a:txBody>
                  <a:tcPr marL="101600" marR="101600" marT="38100" marB="38100" anchor="ctr">
                    <a:solidFill>
                      <a:srgbClr val="FFFFFF"/>
                    </a:solidFill>
                  </a:tcPr>
                </a:tc>
              </a:tr>
              <a:tr h="335280">
                <a:tc>
                  <a:txBody>
                    <a:bodyPr/>
                    <a:lstStyle/>
                    <a:p>
                      <a:r>
                        <a:rPr sz="1200" b="0" i="0">
                          <a:solidFill>
                            <a:srgbClr val="1A1440"/>
                          </a:solidFill>
                          <a:latin typeface="Calibri"/>
                        </a:rPr>
                        <a:t>ZG21052</a:t>
                      </a:r>
                    </a:p>
                  </a:txBody>
                  <a:tcPr marL="101600" marR="101600" marT="38100" marB="38100" anchor="ctr">
                    <a:solidFill>
                      <a:srgbClr val="F4F2FA"/>
                    </a:solidFill>
                  </a:tcPr>
                </a:tc>
                <a:tc>
                  <a:txBody>
                    <a:bodyPr/>
                    <a:lstStyle/>
                    <a:p>
                      <a:r>
                        <a:rPr sz="1200" b="0" i="0">
                          <a:solidFill>
                            <a:srgbClr val="1A1440"/>
                          </a:solidFill>
                          <a:latin typeface="Calibri"/>
                        </a:rPr>
                        <a:t>May</a:t>
                      </a:r>
                    </a:p>
                  </a:txBody>
                  <a:tcPr marL="101600" marR="101600" marT="38100" marB="38100" anchor="ctr">
                    <a:solidFill>
                      <a:srgbClr val="F4F2FA"/>
                    </a:solidFill>
                  </a:tcPr>
                </a:tc>
                <a:tc>
                  <a:txBody>
                    <a:bodyPr/>
                    <a:lstStyle/>
                    <a:p>
                      <a:r>
                        <a:rPr sz="1200" b="0" i="0">
                          <a:solidFill>
                            <a:srgbClr val="1A1440"/>
                          </a:solidFill>
                          <a:latin typeface="Calibri"/>
                        </a:rPr>
                        <a:t>organic</a:t>
                      </a:r>
                    </a:p>
                  </a:txBody>
                  <a:tcPr marL="101600" marR="101600" marT="38100" marB="38100" anchor="ctr">
                    <a:solidFill>
                      <a:srgbClr val="F4F2FA"/>
                    </a:solidFill>
                  </a:tcPr>
                </a:tc>
                <a:tc>
                  <a:txBody>
                    <a:bodyPr/>
                    <a:lstStyle/>
                    <a:p>
                      <a:r>
                        <a:rPr sz="1200" b="0" i="0">
                          <a:solidFill>
                            <a:srgbClr val="1A1440"/>
                          </a:solidFill>
                          <a:latin typeface="Calibri"/>
                        </a:rPr>
                        <a:t>1</a:t>
                      </a:r>
                    </a:p>
                  </a:txBody>
                  <a:tcPr marL="101600" marR="101600" marT="38100" marB="38100" anchor="ctr">
                    <a:solidFill>
                      <a:srgbClr val="F4F2FA"/>
                    </a:solidFill>
                  </a:tcPr>
                </a:tc>
                <a:tc>
                  <a:txBody>
                    <a:bodyPr/>
                    <a:lstStyle/>
                    <a:p>
                      <a:r>
                        <a:rPr sz="1200" b="0" i="0">
                          <a:solidFill>
                            <a:srgbClr val="1A1440"/>
                          </a:solidFill>
                          <a:latin typeface="Calibri"/>
                        </a:rPr>
                        <a:t>1</a:t>
                      </a:r>
                    </a:p>
                  </a:txBody>
                  <a:tcPr marL="101600" marR="101600" marT="38100" marB="38100" anchor="ctr">
                    <a:solidFill>
                      <a:srgbClr val="F4F2FA"/>
                    </a:solidFill>
                  </a:tcPr>
                </a:tc>
                <a:tc>
                  <a:txBody>
                    <a:bodyPr/>
                    <a:lstStyle/>
                    <a:p>
                      <a:r>
                        <a:rPr sz="1200" b="0" i="0">
                          <a:solidFill>
                            <a:srgbClr val="1A1440"/>
                          </a:solidFill>
                          <a:latin typeface="Calibri"/>
                        </a:rPr>
                        <a:t>0</a:t>
                      </a:r>
                    </a:p>
                  </a:txBody>
                  <a:tcPr marL="101600" marR="101600" marT="38100" marB="38100" anchor="ctr">
                    <a:solidFill>
                      <a:srgbClr val="F4F2FA"/>
                    </a:solidFill>
                  </a:tcPr>
                </a:tc>
                <a:tc>
                  <a:txBody>
                    <a:bodyPr/>
                    <a:lstStyle/>
                    <a:p>
                      <a:r>
                        <a:rPr sz="1200" b="0" i="0">
                          <a:solidFill>
                            <a:srgbClr val="1A1440"/>
                          </a:solidFill>
                          <a:latin typeface="Calibri"/>
                        </a:rPr>
                        <a:t>0</a:t>
                      </a:r>
                    </a:p>
                  </a:txBody>
                  <a:tcPr marL="101600" marR="101600" marT="38100" marB="38100" anchor="ctr">
                    <a:solidFill>
                      <a:srgbClr val="F4F2FA"/>
                    </a:solidFill>
                  </a:tcPr>
                </a:tc>
              </a:tr>
              <a:tr h="335280">
                <a:tc>
                  <a:txBody>
                    <a:bodyPr/>
                    <a:lstStyle/>
                    <a:p>
                      <a:r>
                        <a:rPr sz="1200" b="0" i="0">
                          <a:solidFill>
                            <a:srgbClr val="1A1440"/>
                          </a:solidFill>
                          <a:latin typeface="Calibri"/>
                        </a:rPr>
                        <a:t>ZG22010</a:t>
                      </a:r>
                    </a:p>
                  </a:txBody>
                  <a:tcPr marL="101600" marR="101600" marT="38100" marB="38100" anchor="ctr">
                    <a:solidFill>
                      <a:srgbClr val="FFFFFF"/>
                    </a:solidFill>
                  </a:tcPr>
                </a:tc>
                <a:tc>
                  <a:txBody>
                    <a:bodyPr/>
                    <a:lstStyle/>
                    <a:p>
                      <a:r>
                        <a:rPr sz="1200" b="0" i="0">
                          <a:solidFill>
                            <a:srgbClr val="1A1440"/>
                          </a:solidFill>
                          <a:latin typeface="Calibri"/>
                        </a:rPr>
                        <a:t>May</a:t>
                      </a:r>
                    </a:p>
                  </a:txBody>
                  <a:tcPr marL="101600" marR="101600" marT="38100" marB="38100" anchor="ctr">
                    <a:solidFill>
                      <a:srgbClr val="FFFFFF"/>
                    </a:solidFill>
                  </a:tcPr>
                </a:tc>
                <a:tc>
                  <a:txBody>
                    <a:bodyPr/>
                    <a:lstStyle/>
                    <a:p>
                      <a:r>
                        <a:rPr sz="1200" b="0" i="0">
                          <a:solidFill>
                            <a:srgbClr val="1A1440"/>
                          </a:solidFill>
                          <a:latin typeface="Calibri"/>
                        </a:rPr>
                        <a:t>organic</a:t>
                      </a:r>
                    </a:p>
                  </a:txBody>
                  <a:tcPr marL="101600" marR="101600" marT="38100" marB="38100" anchor="ctr">
                    <a:solidFill>
                      <a:srgbClr val="FFFFFF"/>
                    </a:solidFill>
                  </a:tcPr>
                </a:tc>
                <a:tc>
                  <a:txBody>
                    <a:bodyPr/>
                    <a:lstStyle/>
                    <a:p>
                      <a:r>
                        <a:rPr sz="1200" b="0" i="0">
                          <a:solidFill>
                            <a:srgbClr val="1A1440"/>
                          </a:solidFill>
                          <a:latin typeface="Calibri"/>
                        </a:rPr>
                        <a:t>1</a:t>
                      </a:r>
                    </a:p>
                  </a:txBody>
                  <a:tcPr marL="101600" marR="101600" marT="38100" marB="38100" anchor="ctr">
                    <a:solidFill>
                      <a:srgbClr val="FFFFFF"/>
                    </a:solidFill>
                  </a:tcPr>
                </a:tc>
                <a:tc>
                  <a:txBody>
                    <a:bodyPr/>
                    <a:lstStyle/>
                    <a:p>
                      <a:r>
                        <a:rPr sz="1200" b="0" i="0">
                          <a:solidFill>
                            <a:srgbClr val="1A1440"/>
                          </a:solidFill>
                          <a:latin typeface="Calibri"/>
                        </a:rPr>
                        <a:t>0</a:t>
                      </a:r>
                    </a:p>
                  </a:txBody>
                  <a:tcPr marL="101600" marR="101600" marT="38100" marB="38100" anchor="ctr">
                    <a:solidFill>
                      <a:srgbClr val="FFFFFF"/>
                    </a:solidFill>
                  </a:tcPr>
                </a:tc>
                <a:tc>
                  <a:txBody>
                    <a:bodyPr/>
                    <a:lstStyle/>
                    <a:p>
                      <a:r>
                        <a:rPr sz="1200" b="0" i="0">
                          <a:solidFill>
                            <a:srgbClr val="1A1440"/>
                          </a:solidFill>
                          <a:latin typeface="Calibri"/>
                        </a:rPr>
                        <a:t>0</a:t>
                      </a:r>
                    </a:p>
                  </a:txBody>
                  <a:tcPr marL="101600" marR="101600" marT="38100" marB="38100" anchor="ctr">
                    <a:solidFill>
                      <a:srgbClr val="FFFFFF"/>
                    </a:solidFill>
                  </a:tcPr>
                </a:tc>
                <a:tc>
                  <a:txBody>
                    <a:bodyPr/>
                    <a:lstStyle/>
                    <a:p>
                      <a:r>
                        <a:rPr sz="1200" b="0" i="0">
                          <a:solidFill>
                            <a:srgbClr val="1A1440"/>
                          </a:solidFill>
                          <a:latin typeface="Calibri"/>
                        </a:rPr>
                        <a:t>0</a:t>
                      </a:r>
                    </a:p>
                  </a:txBody>
                  <a:tcPr marL="101600" marR="101600" marT="38100" marB="38100" anchor="ctr">
                    <a:solidFill>
                      <a:srgbClr val="FFFFFF"/>
                    </a:solidFill>
                  </a:tcPr>
                </a:tc>
              </a:tr>
              <a:tr h="335280">
                <a:tc>
                  <a:txBody>
                    <a:bodyPr/>
                    <a:lstStyle/>
                    <a:p>
                      <a:r>
                        <a:rPr sz="1200" b="0" i="0">
                          <a:solidFill>
                            <a:srgbClr val="1A1440"/>
                          </a:solidFill>
                          <a:latin typeface="Calibri"/>
                        </a:rPr>
                        <a:t>ZG22634</a:t>
                      </a:r>
                    </a:p>
                  </a:txBody>
                  <a:tcPr marL="101600" marR="101600" marT="38100" marB="38100" anchor="ctr">
                    <a:solidFill>
                      <a:srgbClr val="F4F2FA"/>
                    </a:solidFill>
                  </a:tcPr>
                </a:tc>
                <a:tc>
                  <a:txBody>
                    <a:bodyPr/>
                    <a:lstStyle/>
                    <a:p>
                      <a:r>
                        <a:rPr sz="1200" b="0" i="0">
                          <a:solidFill>
                            <a:srgbClr val="1A1440"/>
                          </a:solidFill>
                          <a:latin typeface="Calibri"/>
                        </a:rPr>
                        <a:t>May</a:t>
                      </a:r>
                    </a:p>
                  </a:txBody>
                  <a:tcPr marL="101600" marR="101600" marT="38100" marB="38100" anchor="ctr">
                    <a:solidFill>
                      <a:srgbClr val="F4F2FA"/>
                    </a:solidFill>
                  </a:tcPr>
                </a:tc>
                <a:tc>
                  <a:txBody>
                    <a:bodyPr/>
                    <a:lstStyle/>
                    <a:p>
                      <a:r>
                        <a:rPr sz="1200" b="0" i="0">
                          <a:solidFill>
                            <a:srgbClr val="1A1440"/>
                          </a:solidFill>
                          <a:latin typeface="Calibri"/>
                        </a:rPr>
                        <a:t>organic</a:t>
                      </a:r>
                    </a:p>
                  </a:txBody>
                  <a:tcPr marL="101600" marR="101600" marT="38100" marB="38100" anchor="ctr">
                    <a:solidFill>
                      <a:srgbClr val="F4F2FA"/>
                    </a:solidFill>
                  </a:tcPr>
                </a:tc>
                <a:tc>
                  <a:txBody>
                    <a:bodyPr/>
                    <a:lstStyle/>
                    <a:p>
                      <a:r>
                        <a:rPr sz="1200" b="0" i="0">
                          <a:solidFill>
                            <a:srgbClr val="1A1440"/>
                          </a:solidFill>
                          <a:latin typeface="Calibri"/>
                        </a:rPr>
                        <a:t>0</a:t>
                      </a:r>
                    </a:p>
                  </a:txBody>
                  <a:tcPr marL="101600" marR="101600" marT="38100" marB="38100" anchor="ctr">
                    <a:solidFill>
                      <a:srgbClr val="F4F2FA"/>
                    </a:solidFill>
                  </a:tcPr>
                </a:tc>
                <a:tc>
                  <a:txBody>
                    <a:bodyPr/>
                    <a:lstStyle/>
                    <a:p>
                      <a:r>
                        <a:rPr sz="1200" b="0" i="0">
                          <a:solidFill>
                            <a:srgbClr val="1A1440"/>
                          </a:solidFill>
                          <a:latin typeface="Calibri"/>
                        </a:rPr>
                        <a:t>0</a:t>
                      </a:r>
                    </a:p>
                  </a:txBody>
                  <a:tcPr marL="101600" marR="101600" marT="38100" marB="38100" anchor="ctr">
                    <a:solidFill>
                      <a:srgbClr val="F4F2FA"/>
                    </a:solidFill>
                  </a:tcPr>
                </a:tc>
                <a:tc>
                  <a:txBody>
                    <a:bodyPr/>
                    <a:lstStyle/>
                    <a:p>
                      <a:r>
                        <a:rPr sz="1200" b="0" i="0">
                          <a:solidFill>
                            <a:srgbClr val="1A1440"/>
                          </a:solidFill>
                          <a:latin typeface="Calibri"/>
                        </a:rPr>
                        <a:t>0</a:t>
                      </a:r>
                    </a:p>
                  </a:txBody>
                  <a:tcPr marL="101600" marR="101600" marT="38100" marB="38100" anchor="ctr">
                    <a:solidFill>
                      <a:srgbClr val="F4F2FA"/>
                    </a:solidFill>
                  </a:tcPr>
                </a:tc>
                <a:tc>
                  <a:txBody>
                    <a:bodyPr/>
                    <a:lstStyle/>
                    <a:p>
                      <a:r>
                        <a:rPr sz="1200" b="0" i="0">
                          <a:solidFill>
                            <a:srgbClr val="1A1440"/>
                          </a:solidFill>
                          <a:latin typeface="Calibri"/>
                        </a:rPr>
                        <a:t>0</a:t>
                      </a:r>
                    </a:p>
                  </a:txBody>
                  <a:tcPr marL="101600" marR="101600" marT="38100" marB="38100" anchor="ctr">
                    <a:solidFill>
                      <a:srgbClr val="F4F2FA"/>
                    </a:solidFill>
                  </a:tcPr>
                </a:tc>
              </a:tr>
              <a:tr h="335280">
                <a:tc>
                  <a:txBody>
                    <a:bodyPr/>
                    <a:lstStyle/>
                    <a:p>
                      <a:r>
                        <a:rPr sz="1200" b="0" i="0">
                          <a:solidFill>
                            <a:srgbClr val="1A1440"/>
                          </a:solidFill>
                          <a:latin typeface="Calibri"/>
                        </a:rPr>
                        <a:t>ZG25312</a:t>
                      </a:r>
                    </a:p>
                  </a:txBody>
                  <a:tcPr marL="101600" marR="101600" marT="38100" marB="38100" anchor="ctr">
                    <a:solidFill>
                      <a:srgbClr val="FFFFFF"/>
                    </a:solidFill>
                  </a:tcPr>
                </a:tc>
                <a:tc>
                  <a:txBody>
                    <a:bodyPr/>
                    <a:lstStyle/>
                    <a:p>
                      <a:r>
                        <a:rPr sz="1200" b="0" i="0">
                          <a:solidFill>
                            <a:srgbClr val="1A1440"/>
                          </a:solidFill>
                          <a:latin typeface="Calibri"/>
                        </a:rPr>
                        <a:t>Jun</a:t>
                      </a:r>
                    </a:p>
                  </a:txBody>
                  <a:tcPr marL="101600" marR="101600" marT="38100" marB="38100" anchor="ctr">
                    <a:solidFill>
                      <a:srgbClr val="FFFFFF"/>
                    </a:solidFill>
                  </a:tcPr>
                </a:tc>
                <a:tc>
                  <a:txBody>
                    <a:bodyPr/>
                    <a:lstStyle/>
                    <a:p>
                      <a:r>
                        <a:rPr sz="1200" b="0" i="0">
                          <a:solidFill>
                            <a:srgbClr val="1A1440"/>
                          </a:solidFill>
                          <a:latin typeface="Calibri"/>
                        </a:rPr>
                        <a:t>organic</a:t>
                      </a:r>
                    </a:p>
                  </a:txBody>
                  <a:tcPr marL="101600" marR="101600" marT="38100" marB="38100" anchor="ctr">
                    <a:solidFill>
                      <a:srgbClr val="FFFFFF"/>
                    </a:solidFill>
                  </a:tcPr>
                </a:tc>
                <a:tc>
                  <a:txBody>
                    <a:bodyPr/>
                    <a:lstStyle/>
                    <a:p>
                      <a:r>
                        <a:rPr sz="1200" b="0" i="0">
                          <a:solidFill>
                            <a:srgbClr val="1A1440"/>
                          </a:solidFill>
                          <a:latin typeface="Calibri"/>
                        </a:rPr>
                        <a:t>joined</a:t>
                      </a:r>
                    </a:p>
                  </a:txBody>
                  <a:tcPr marL="101600" marR="101600" marT="38100" marB="38100" anchor="ctr">
                    <a:solidFill>
                      <a:srgbClr val="FFFFFF"/>
                    </a:solidFill>
                  </a:tcPr>
                </a:tc>
                <a:tc>
                  <a:txBody>
                    <a:bodyPr/>
                    <a:lstStyle/>
                    <a:p>
                      <a:r>
                        <a:rPr sz="1200" b="0" i="0">
                          <a:solidFill>
                            <a:srgbClr val="1A1440"/>
                          </a:solidFill>
                          <a:latin typeface="Calibri"/>
                        </a:rPr>
                        <a:t>1</a:t>
                      </a:r>
                    </a:p>
                  </a:txBody>
                  <a:tcPr marL="101600" marR="101600" marT="38100" marB="38100" anchor="ctr">
                    <a:solidFill>
                      <a:srgbClr val="FFFFFF"/>
                    </a:solidFill>
                  </a:tcPr>
                </a:tc>
                <a:tc>
                  <a:txBody>
                    <a:bodyPr/>
                    <a:lstStyle/>
                    <a:p>
                      <a:r>
                        <a:rPr sz="1200" b="0" i="0">
                          <a:solidFill>
                            <a:srgbClr val="1A1440"/>
                          </a:solidFill>
                          <a:latin typeface="Calibri"/>
                        </a:rPr>
                        <a:t>1</a:t>
                      </a:r>
                    </a:p>
                  </a:txBody>
                  <a:tcPr marL="101600" marR="101600" marT="38100" marB="38100" anchor="ctr">
                    <a:solidFill>
                      <a:srgbClr val="FFFFFF"/>
                    </a:solidFill>
                  </a:tcPr>
                </a:tc>
                <a:tc>
                  <a:txBody>
                    <a:bodyPr/>
                    <a:lstStyle/>
                    <a:p>
                      <a:r>
                        <a:rPr sz="1200" b="0" i="0">
                          <a:solidFill>
                            <a:srgbClr val="1A1440"/>
                          </a:solidFill>
                          <a:latin typeface="Calibri"/>
                        </a:rPr>
                        <a:t>1</a:t>
                      </a:r>
                    </a:p>
                  </a:txBody>
                  <a:tcPr marL="101600" marR="101600" marT="38100" marB="38100" anchor="ctr">
                    <a:solidFill>
                      <a:srgbClr val="FFFFFF"/>
                    </a:solidFill>
                  </a:tcPr>
                </a:tc>
              </a:tr>
              <a:tr h="335280">
                <a:tc>
                  <a:txBody>
                    <a:bodyPr/>
                    <a:lstStyle/>
                    <a:p>
                      <a:r>
                        <a:rPr sz="1200" b="0" i="0">
                          <a:solidFill>
                            <a:srgbClr val="1A1440"/>
                          </a:solidFill>
                          <a:latin typeface="Calibri"/>
                        </a:rPr>
                        <a:t>ZG27475</a:t>
                      </a:r>
                    </a:p>
                  </a:txBody>
                  <a:tcPr marL="101600" marR="101600" marT="38100" marB="38100" anchor="ctr">
                    <a:solidFill>
                      <a:srgbClr val="F4F2FA"/>
                    </a:solidFill>
                  </a:tcPr>
                </a:tc>
                <a:tc>
                  <a:txBody>
                    <a:bodyPr/>
                    <a:lstStyle/>
                    <a:p>
                      <a:r>
                        <a:rPr sz="1200" b="0" i="0">
                          <a:solidFill>
                            <a:srgbClr val="1A1440"/>
                          </a:solidFill>
                          <a:latin typeface="Calibri"/>
                        </a:rPr>
                        <a:t>Jun</a:t>
                      </a:r>
                    </a:p>
                  </a:txBody>
                  <a:tcPr marL="101600" marR="101600" marT="38100" marB="38100" anchor="ctr">
                    <a:solidFill>
                      <a:srgbClr val="F4F2FA"/>
                    </a:solidFill>
                  </a:tcPr>
                </a:tc>
                <a:tc>
                  <a:txBody>
                    <a:bodyPr/>
                    <a:lstStyle/>
                    <a:p>
                      <a:r>
                        <a:rPr sz="1200" b="0" i="0">
                          <a:solidFill>
                            <a:srgbClr val="1A1440"/>
                          </a:solidFill>
                          <a:latin typeface="Calibri"/>
                        </a:rPr>
                        <a:t>organic</a:t>
                      </a:r>
                    </a:p>
                  </a:txBody>
                  <a:tcPr marL="101600" marR="101600" marT="38100" marB="38100" anchor="ctr">
                    <a:solidFill>
                      <a:srgbClr val="F4F2FA"/>
                    </a:solidFill>
                  </a:tcPr>
                </a:tc>
                <a:tc>
                  <a:txBody>
                    <a:bodyPr/>
                    <a:lstStyle/>
                    <a:p>
                      <a:r>
                        <a:rPr sz="1200" b="0" i="0">
                          <a:solidFill>
                            <a:srgbClr val="1A1440"/>
                          </a:solidFill>
                          <a:latin typeface="Calibri"/>
                        </a:rPr>
                        <a:t>joined</a:t>
                      </a:r>
                    </a:p>
                  </a:txBody>
                  <a:tcPr marL="101600" marR="101600" marT="38100" marB="38100" anchor="ctr">
                    <a:solidFill>
                      <a:srgbClr val="F4F2FA"/>
                    </a:solidFill>
                  </a:tcPr>
                </a:tc>
                <a:tc>
                  <a:txBody>
                    <a:bodyPr/>
                    <a:lstStyle/>
                    <a:p>
                      <a:r>
                        <a:rPr sz="1200" b="0" i="0">
                          <a:solidFill>
                            <a:srgbClr val="1A1440"/>
                          </a:solidFill>
                          <a:latin typeface="Calibri"/>
                        </a:rPr>
                        <a:t>1</a:t>
                      </a:r>
                    </a:p>
                  </a:txBody>
                  <a:tcPr marL="101600" marR="101600" marT="38100" marB="38100" anchor="ctr">
                    <a:solidFill>
                      <a:srgbClr val="F4F2FA"/>
                    </a:solidFill>
                  </a:tcPr>
                </a:tc>
                <a:tc>
                  <a:txBody>
                    <a:bodyPr/>
                    <a:lstStyle/>
                    <a:p>
                      <a:r>
                        <a:rPr sz="1200" b="0" i="0">
                          <a:solidFill>
                            <a:srgbClr val="1A1440"/>
                          </a:solidFill>
                          <a:latin typeface="Calibri"/>
                        </a:rPr>
                        <a:t>0</a:t>
                      </a:r>
                    </a:p>
                  </a:txBody>
                  <a:tcPr marL="101600" marR="101600" marT="38100" marB="38100" anchor="ctr">
                    <a:solidFill>
                      <a:srgbClr val="F4F2FA"/>
                    </a:solidFill>
                  </a:tcPr>
                </a:tc>
                <a:tc>
                  <a:txBody>
                    <a:bodyPr/>
                    <a:lstStyle/>
                    <a:p>
                      <a:r>
                        <a:rPr sz="1200" b="0" i="0">
                          <a:solidFill>
                            <a:srgbClr val="1A1440"/>
                          </a:solidFill>
                          <a:latin typeface="Calibri"/>
                        </a:rPr>
                        <a:t>0</a:t>
                      </a:r>
                    </a:p>
                  </a:txBody>
                  <a:tcPr marL="101600" marR="101600" marT="38100" marB="38100" anchor="ctr">
                    <a:solidFill>
                      <a:srgbClr val="F4F2FA"/>
                    </a:solidFill>
                  </a:tcPr>
                </a:tc>
              </a:tr>
              <a:tr h="335280">
                <a:tc>
                  <a:txBody>
                    <a:bodyPr/>
                    <a:lstStyle/>
                    <a:p>
                      <a:r>
                        <a:rPr sz="1200" b="0" i="0">
                          <a:solidFill>
                            <a:srgbClr val="1A1440"/>
                          </a:solidFill>
                          <a:latin typeface="Calibri"/>
                        </a:rPr>
                        <a:t>ZG28603</a:t>
                      </a:r>
                    </a:p>
                  </a:txBody>
                  <a:tcPr marL="101600" marR="101600" marT="38100" marB="38100" anchor="ctr">
                    <a:solidFill>
                      <a:srgbClr val="FFFFFF"/>
                    </a:solidFill>
                  </a:tcPr>
                </a:tc>
                <a:tc>
                  <a:txBody>
                    <a:bodyPr/>
                    <a:lstStyle/>
                    <a:p>
                      <a:r>
                        <a:rPr sz="1200" b="0" i="0">
                          <a:solidFill>
                            <a:srgbClr val="1A1440"/>
                          </a:solidFill>
                          <a:latin typeface="Calibri"/>
                        </a:rPr>
                        <a:t>Jun</a:t>
                      </a:r>
                    </a:p>
                  </a:txBody>
                  <a:tcPr marL="101600" marR="101600" marT="38100" marB="38100" anchor="ctr">
                    <a:solidFill>
                      <a:srgbClr val="FFFFFF"/>
                    </a:solidFill>
                  </a:tcPr>
                </a:tc>
                <a:tc>
                  <a:txBody>
                    <a:bodyPr/>
                    <a:lstStyle/>
                    <a:p>
                      <a:r>
                        <a:rPr sz="1200" b="0" i="0">
                          <a:solidFill>
                            <a:srgbClr val="1A1440"/>
                          </a:solidFill>
                          <a:latin typeface="Calibri"/>
                        </a:rPr>
                        <a:t>organic</a:t>
                      </a:r>
                    </a:p>
                  </a:txBody>
                  <a:tcPr marL="101600" marR="101600" marT="38100" marB="38100" anchor="ctr">
                    <a:solidFill>
                      <a:srgbClr val="FFFFFF"/>
                    </a:solidFill>
                  </a:tcPr>
                </a:tc>
                <a:tc>
                  <a:txBody>
                    <a:bodyPr/>
                    <a:lstStyle/>
                    <a:p>
                      <a:r>
                        <a:rPr sz="1200" b="0" i="0">
                          <a:solidFill>
                            <a:srgbClr val="1A1440"/>
                          </a:solidFill>
                          <a:latin typeface="Calibri"/>
                        </a:rPr>
                        <a:t>joined</a:t>
                      </a:r>
                    </a:p>
                  </a:txBody>
                  <a:tcPr marL="101600" marR="101600" marT="38100" marB="38100" anchor="ctr">
                    <a:solidFill>
                      <a:srgbClr val="FFFFFF"/>
                    </a:solidFill>
                  </a:tcPr>
                </a:tc>
                <a:tc>
                  <a:txBody>
                    <a:bodyPr/>
                    <a:lstStyle/>
                    <a:p>
                      <a:r>
                        <a:rPr sz="1200" b="0" i="0">
                          <a:solidFill>
                            <a:srgbClr val="1A1440"/>
                          </a:solidFill>
                          <a:latin typeface="Calibri"/>
                        </a:rPr>
                        <a:t>0</a:t>
                      </a:r>
                    </a:p>
                  </a:txBody>
                  <a:tcPr marL="101600" marR="101600" marT="38100" marB="38100" anchor="ctr">
                    <a:solidFill>
                      <a:srgbClr val="FFFFFF"/>
                    </a:solidFill>
                  </a:tcPr>
                </a:tc>
                <a:tc>
                  <a:txBody>
                    <a:bodyPr/>
                    <a:lstStyle/>
                    <a:p>
                      <a:r>
                        <a:rPr sz="1200" b="0" i="0">
                          <a:solidFill>
                            <a:srgbClr val="1A1440"/>
                          </a:solidFill>
                          <a:latin typeface="Calibri"/>
                        </a:rPr>
                        <a:t>0</a:t>
                      </a:r>
                    </a:p>
                  </a:txBody>
                  <a:tcPr marL="101600" marR="101600" marT="38100" marB="38100" anchor="ctr">
                    <a:solidFill>
                      <a:srgbClr val="FFFFFF"/>
                    </a:solidFill>
                  </a:tcPr>
                </a:tc>
                <a:tc>
                  <a:txBody>
                    <a:bodyPr/>
                    <a:lstStyle/>
                    <a:p>
                      <a:r>
                        <a:rPr sz="1200" b="0" i="0">
                          <a:solidFill>
                            <a:srgbClr val="1A1440"/>
                          </a:solidFill>
                          <a:latin typeface="Calibri"/>
                        </a:rPr>
                        <a:t>0</a:t>
                      </a:r>
                    </a:p>
                  </a:txBody>
                  <a:tcPr marL="101600" marR="101600" marT="38100" marB="38100" anchor="ctr">
                    <a:solidFill>
                      <a:srgbClr val="FFFFFF"/>
                    </a:solidFill>
                  </a:tcPr>
                </a:tc>
              </a:tr>
              <a:tr h="335280">
                <a:tc>
                  <a:txBody>
                    <a:bodyPr/>
                    <a:lstStyle/>
                    <a:p>
                      <a:r>
                        <a:rPr sz="1200" b="0" i="0">
                          <a:solidFill>
                            <a:srgbClr val="1A1440"/>
                          </a:solidFill>
                          <a:latin typeface="Calibri"/>
                        </a:rPr>
                        <a:t>ZG39559, ZG40539, ZG41000, ZG41529, ZG42328</a:t>
                      </a:r>
                    </a:p>
                  </a:txBody>
                  <a:tcPr marL="101600" marR="101600" marT="38100" marB="38100" anchor="ctr">
                    <a:solidFill>
                      <a:srgbClr val="F4F2FA"/>
                    </a:solidFill>
                  </a:tcPr>
                </a:tc>
                <a:tc>
                  <a:txBody>
                    <a:bodyPr/>
                    <a:lstStyle/>
                    <a:p>
                      <a:r>
                        <a:rPr sz="1200" b="0" i="0">
                          <a:solidFill>
                            <a:srgbClr val="1A1440"/>
                          </a:solidFill>
                          <a:latin typeface="Calibri"/>
                        </a:rPr>
                        <a:t>Aug</a:t>
                      </a:r>
                    </a:p>
                  </a:txBody>
                  <a:tcPr marL="101600" marR="101600" marT="38100" marB="38100" anchor="ctr">
                    <a:solidFill>
                      <a:srgbClr val="F4F2FA"/>
                    </a:solidFill>
                  </a:tcPr>
                </a:tc>
                <a:tc>
                  <a:txBody>
                    <a:bodyPr/>
                    <a:lstStyle/>
                    <a:p>
                      <a:r>
                        <a:rPr sz="1200" b="0" i="0">
                          <a:solidFill>
                            <a:srgbClr val="1A1440"/>
                          </a:solidFill>
                          <a:latin typeface="Calibri"/>
                        </a:rPr>
                        <a:t>sale</a:t>
                      </a:r>
                    </a:p>
                  </a:txBody>
                  <a:tcPr marL="101600" marR="101600" marT="38100" marB="38100" anchor="ctr">
                    <a:solidFill>
                      <a:srgbClr val="F4F2FA"/>
                    </a:solidFill>
                  </a:tcPr>
                </a:tc>
                <a:tc>
                  <a:txBody>
                    <a:bodyPr/>
                    <a:lstStyle/>
                    <a:p/>
                  </a:txBody>
                  <a:tcPr marL="101600" marR="101600" marT="38100" marB="38100" anchor="ctr">
                    <a:solidFill>
                      <a:srgbClr val="F4F2FA"/>
                    </a:solidFill>
                  </a:tcPr>
                </a:tc>
                <a:tc>
                  <a:txBody>
                    <a:bodyPr/>
                    <a:lstStyle/>
                    <a:p/>
                  </a:txBody>
                  <a:tcPr marL="101600" marR="101600" marT="38100" marB="38100" anchor="ctr">
                    <a:solidFill>
                      <a:srgbClr val="F4F2FA"/>
                    </a:solidFill>
                  </a:tcPr>
                </a:tc>
                <a:tc>
                  <a:txBody>
                    <a:bodyPr/>
                    <a:lstStyle/>
                    <a:p>
                      <a:r>
                        <a:rPr sz="1200" b="0" i="0">
                          <a:solidFill>
                            <a:srgbClr val="1A1440"/>
                          </a:solidFill>
                          <a:latin typeface="Calibri"/>
                        </a:rPr>
                        <a:t>joined</a:t>
                      </a:r>
                    </a:p>
                  </a:txBody>
                  <a:tcPr marL="101600" marR="101600" marT="38100" marB="38100" anchor="ctr">
                    <a:solidFill>
                      <a:srgbClr val="F4F2FA"/>
                    </a:solidFill>
                  </a:tcPr>
                </a:tc>
                <a:tc>
                  <a:txBody>
                    <a:bodyPr/>
                    <a:lstStyle/>
                    <a:p>
                      <a:r>
                        <a:rPr sz="1200" b="0" i="0">
                          <a:solidFill>
                            <a:srgbClr val="1A1440"/>
                          </a:solidFill>
                          <a:latin typeface="Calibri"/>
                        </a:rPr>
                        <a:t>0 each</a:t>
                      </a:r>
                    </a:p>
                  </a:txBody>
                  <a:tcPr marL="101600" marR="101600" marT="38100" marB="38100" anchor="ctr">
                    <a:solidFill>
                      <a:srgbClr val="F4F2FA"/>
                    </a:solidFill>
                  </a:tcPr>
                </a:tc>
              </a:tr>
            </a:tbl>
          </a:graphicData>
        </a:graphic>
      </p:graphicFrame>
      <p:sp>
        <p:nvSpPr>
          <p:cNvPr id="10" name="TextBox 9"/>
          <p:cNvSpPr txBox="1"/>
          <p:nvPr/>
        </p:nvSpPr>
        <p:spPr>
          <a:xfrm>
            <a:off x="530352" y="4956048"/>
            <a:ext cx="11130991" cy="1048512"/>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1 means she placed at least one order that month. </a:t>
            </a:r>
            <a:r>
              <a:rPr sz="1600" b="1" i="0">
                <a:solidFill>
                  <a:srgbClr val="1A1440"/>
                </a:solidFill>
                <a:latin typeface="Calibri"/>
              </a:rPr>
              <a:t>Month one</a:t>
            </a:r>
            <a:r>
              <a:rPr sz="1600" b="0" i="0">
                <a:solidFill>
                  <a:srgbClr val="1A1440"/>
                </a:solidFill>
                <a:latin typeface="Calibri"/>
              </a:rPr>
              <a:t> is the first full calendar month after joining, so May's is June and August's is September; the joining month is month zero and is never counted, as Cohort construction (SECTION 1) set out on the gym.</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010412" cy="152146"/>
          </a:xfrm>
          <a:prstGeom prst="rect">
            <a:avLst/>
          </a:prstGeom>
          <a:noFill/>
        </p:spPr>
        <p:txBody>
          <a:bodyPr wrap="square" anchor="t" lIns="0" rIns="0" tIns="0" bIns="0">
            <a:spAutoFit/>
          </a:bodyPr>
          <a:lstStyle/>
          <a:p>
            <a:pPr algn="l"/>
            <a:r>
              <a:rPr sz="700" b="0" i="0">
                <a:solidFill>
                  <a:srgbClr val="6B6690"/>
                </a:solidFill>
                <a:latin typeface="Calibri"/>
              </a:rPr>
              <a:t>Who joined when?</a:t>
            </a:r>
          </a:p>
        </p:txBody>
      </p:sp>
      <p:sp>
        <p:nvSpPr>
          <p:cNvPr id="13" name="Oval 12"/>
          <p:cNvSpPr/>
          <p:nvPr/>
        </p:nvSpPr>
        <p:spPr>
          <a:xfrm>
            <a:off x="174193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85166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Where is the floor?</a:t>
            </a:r>
          </a:p>
        </p:txBody>
      </p:sp>
      <p:sp>
        <p:nvSpPr>
          <p:cNvPr id="15" name="Oval 14"/>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20125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a blend made of?</a:t>
            </a:r>
          </a:p>
        </p:txBody>
      </p:sp>
      <p:sp>
        <p:nvSpPr>
          <p:cNvPr id="17" name="Oval 16"/>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78088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step owns a loss?</a:t>
            </a:r>
          </a:p>
        </p:txBody>
      </p:sp>
      <p:sp>
        <p:nvSpPr>
          <p:cNvPr id="19" name="Oval 18"/>
          <p:cNvSpPr/>
          <p:nvPr/>
        </p:nvSpPr>
        <p:spPr>
          <a:xfrm>
            <a:off x="620477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314503" y="6437376"/>
            <a:ext cx="1056417" cy="152146"/>
          </a:xfrm>
          <a:prstGeom prst="rect">
            <a:avLst/>
          </a:prstGeom>
          <a:noFill/>
        </p:spPr>
        <p:txBody>
          <a:bodyPr wrap="square" anchor="t" lIns="0" rIns="0" tIns="0" bIns="0">
            <a:spAutoFit/>
          </a:bodyPr>
          <a:lstStyle/>
          <a:p>
            <a:pPr algn="l"/>
            <a:r>
              <a:rPr sz="700" b="1" i="0">
                <a:solidFill>
                  <a:srgbClr val="5B3FD6"/>
                </a:solidFill>
                <a:latin typeface="Calibri"/>
              </a:rPr>
              <a:t>Who entered when?</a:t>
            </a:r>
          </a:p>
        </p:txBody>
      </p:sp>
      <p:sp>
        <p:nvSpPr>
          <p:cNvPr id="21" name="Oval 20"/>
          <p:cNvSpPr/>
          <p:nvPr/>
        </p:nvSpPr>
        <p:spPr>
          <a:xfrm>
            <a:off x="74623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572089"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the 38 made of?</a:t>
            </a:r>
          </a:p>
        </p:txBody>
      </p:sp>
      <p:sp>
        <p:nvSpPr>
          <p:cNvPr id="23" name="Oval 22"/>
          <p:cNvSpPr/>
          <p:nvPr/>
        </p:nvSpPr>
        <p:spPr>
          <a:xfrm>
            <a:off x="899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10570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stage owns the loss?</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S39  ·  44 / 73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COHORT AND FUNNEL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Predict: which group keeps the most in month one?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Counted by months since joining, which group keeps the largest share in its own month one?</a:t>
            </a:r>
          </a:p>
        </p:txBody>
      </p:sp>
      <p:sp>
        <p:nvSpPr>
          <p:cNvPr id="9" name="TextBox 8"/>
          <p:cNvSpPr txBox="1"/>
          <p:nvPr/>
        </p:nvSpPr>
        <p:spPr>
          <a:xfrm>
            <a:off x="530352" y="1956816"/>
            <a:ext cx="11130991" cy="1654048"/>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The four May members</a:t>
            </a:r>
          </a:p>
          <a:p>
            <a:pPr>
              <a:spcAft>
                <a:spcPts val="800"/>
              </a:spcAft>
            </a:pPr>
            <a:r>
              <a:rPr sz="1600" b="0" i="0">
                <a:solidFill>
                  <a:srgbClr val="1A1440"/>
                </a:solidFill>
                <a:latin typeface="Calibri"/>
              </a:rPr>
              <a:t>b) The three June members</a:t>
            </a:r>
          </a:p>
          <a:p>
            <a:pPr>
              <a:spcAft>
                <a:spcPts val="800"/>
              </a:spcAft>
            </a:pPr>
            <a:r>
              <a:rPr sz="1600" b="0" i="0">
                <a:solidFill>
                  <a:srgbClr val="1A1440"/>
                </a:solidFill>
                <a:latin typeface="Calibri"/>
              </a:rPr>
              <a:t>c) The five August sale-week members</a:t>
            </a:r>
          </a:p>
          <a:p>
            <a:pPr>
              <a:spcAft>
                <a:spcPts val="800"/>
              </a:spcAft>
            </a:pPr>
            <a:r>
              <a:rPr sz="1600" b="0" i="0">
                <a:solidFill>
                  <a:srgbClr val="1A1440"/>
                </a:solidFill>
                <a:latin typeface="Calibri"/>
              </a:rPr>
              <a:t>d) All three keep the same share</a:t>
            </a:r>
          </a:p>
        </p:txBody>
      </p:sp>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010412" cy="152146"/>
          </a:xfrm>
          <a:prstGeom prst="rect">
            <a:avLst/>
          </a:prstGeom>
          <a:noFill/>
        </p:spPr>
        <p:txBody>
          <a:bodyPr wrap="square" anchor="t" lIns="0" rIns="0" tIns="0" bIns="0">
            <a:spAutoFit/>
          </a:bodyPr>
          <a:lstStyle/>
          <a:p>
            <a:pPr algn="l"/>
            <a:r>
              <a:rPr sz="700" b="0" i="0">
                <a:solidFill>
                  <a:srgbClr val="6B6690"/>
                </a:solidFill>
                <a:latin typeface="Calibri"/>
              </a:rPr>
              <a:t>Who joined when?</a:t>
            </a:r>
          </a:p>
        </p:txBody>
      </p:sp>
      <p:sp>
        <p:nvSpPr>
          <p:cNvPr id="12" name="Oval 11"/>
          <p:cNvSpPr/>
          <p:nvPr/>
        </p:nvSpPr>
        <p:spPr>
          <a:xfrm>
            <a:off x="174193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85166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Where is the floor?</a:t>
            </a:r>
          </a:p>
        </p:txBody>
      </p:sp>
      <p:sp>
        <p:nvSpPr>
          <p:cNvPr id="14" name="Oval 13"/>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20125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a blend made of?</a:t>
            </a:r>
          </a:p>
        </p:txBody>
      </p:sp>
      <p:sp>
        <p:nvSpPr>
          <p:cNvPr id="16" name="Oval 15"/>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78088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step owns a loss?</a:t>
            </a:r>
          </a:p>
        </p:txBody>
      </p:sp>
      <p:sp>
        <p:nvSpPr>
          <p:cNvPr id="18" name="Oval 17"/>
          <p:cNvSpPr/>
          <p:nvPr/>
        </p:nvSpPr>
        <p:spPr>
          <a:xfrm>
            <a:off x="620477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314503" y="6437376"/>
            <a:ext cx="1056417" cy="152146"/>
          </a:xfrm>
          <a:prstGeom prst="rect">
            <a:avLst/>
          </a:prstGeom>
          <a:noFill/>
        </p:spPr>
        <p:txBody>
          <a:bodyPr wrap="square" anchor="t" lIns="0" rIns="0" tIns="0" bIns="0">
            <a:spAutoFit/>
          </a:bodyPr>
          <a:lstStyle/>
          <a:p>
            <a:pPr algn="l"/>
            <a:r>
              <a:rPr sz="700" b="1" i="0">
                <a:solidFill>
                  <a:srgbClr val="5B3FD6"/>
                </a:solidFill>
                <a:latin typeface="Calibri"/>
              </a:rPr>
              <a:t>Who entered when?</a:t>
            </a:r>
          </a:p>
        </p:txBody>
      </p:sp>
      <p:sp>
        <p:nvSpPr>
          <p:cNvPr id="20" name="Oval 19"/>
          <p:cNvSpPr/>
          <p:nvPr/>
        </p:nvSpPr>
        <p:spPr>
          <a:xfrm>
            <a:off x="74623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572089"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the 38 made of?</a:t>
            </a:r>
          </a:p>
        </p:txBody>
      </p:sp>
      <p:sp>
        <p:nvSpPr>
          <p:cNvPr id="22" name="Oval 21"/>
          <p:cNvSpPr/>
          <p:nvPr/>
        </p:nvSpPr>
        <p:spPr>
          <a:xfrm>
            <a:off x="899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10570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stage owns the loss?</a:t>
            </a:r>
          </a:p>
        </p:txBody>
      </p:sp>
      <p:sp>
        <p:nvSpPr>
          <p:cNvPr id="24" name="TextBox 2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S40  ·  45 / 73</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COHORT AND FUNNEL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May 3 of 4, June 2 of 3, sale 0 of 5</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each group keep at each age, and what does that show?</a:t>
            </a:r>
          </a:p>
        </p:txBody>
      </p:sp>
      <p:graphicFrame>
        <p:nvGraphicFramePr>
          <p:cNvPr id="9" name="Table 8"/>
          <p:cNvGraphicFramePr>
            <a:graphicFrameLocks noGrp="1"/>
          </p:cNvGraphicFramePr>
          <p:nvPr/>
        </p:nvGraphicFramePr>
        <p:xfrm>
          <a:off x="530352" y="1956816"/>
          <a:ext cx="11130988" cy="1341120"/>
        </p:xfrm>
        <a:graphic>
          <a:graphicData uri="http://schemas.openxmlformats.org/drawingml/2006/table">
            <a:tbl>
              <a:tblPr firstRow="0" bandRow="0">
                <a:tableStyleId>{2D5ABB26-0587-4C30-8999-92F81FD0307C}</a:tableStyleId>
              </a:tblPr>
              <a:tblGrid>
                <a:gridCol w="3268244"/>
                <a:gridCol w="1845185"/>
                <a:gridCol w="1845185"/>
                <a:gridCol w="2166521"/>
                <a:gridCol w="2005853"/>
              </a:tblGrid>
              <a:tr h="335280">
                <a:tc>
                  <a:txBody>
                    <a:bodyPr/>
                    <a:lstStyle/>
                    <a:p>
                      <a:r>
                        <a:rPr sz="1250" b="1" i="0">
                          <a:solidFill>
                            <a:srgbClr val="FFFFFF"/>
                          </a:solidFill>
                          <a:latin typeface="Calibri"/>
                        </a:rPr>
                        <a:t>Joined</a:t>
                      </a:r>
                    </a:p>
                  </a:txBody>
                  <a:tcPr marL="101600" marR="101600" marT="38100" marB="38100" anchor="ctr">
                    <a:solidFill>
                      <a:srgbClr val="1A0F5C"/>
                    </a:solidFill>
                  </a:tcPr>
                </a:tc>
                <a:tc>
                  <a:txBody>
                    <a:bodyPr/>
                    <a:lstStyle/>
                    <a:p>
                      <a:r>
                        <a:rPr sz="1250" b="1" i="0">
                          <a:solidFill>
                            <a:srgbClr val="FFFFFF"/>
                          </a:solidFill>
                          <a:latin typeface="Calibri"/>
                        </a:rPr>
                        <a:t>Month one</a:t>
                      </a:r>
                    </a:p>
                  </a:txBody>
                  <a:tcPr marL="101600" marR="101600" marT="38100" marB="38100" anchor="ctr">
                    <a:solidFill>
                      <a:srgbClr val="1A0F5C"/>
                    </a:solidFill>
                  </a:tcPr>
                </a:tc>
                <a:tc>
                  <a:txBody>
                    <a:bodyPr/>
                    <a:lstStyle/>
                    <a:p>
                      <a:r>
                        <a:rPr sz="1250" b="1" i="0">
                          <a:solidFill>
                            <a:srgbClr val="FFFFFF"/>
                          </a:solidFill>
                          <a:latin typeface="Calibri"/>
                        </a:rPr>
                        <a:t>Month two</a:t>
                      </a:r>
                    </a:p>
                  </a:txBody>
                  <a:tcPr marL="101600" marR="101600" marT="38100" marB="38100" anchor="ctr">
                    <a:solidFill>
                      <a:srgbClr val="1A0F5C"/>
                    </a:solidFill>
                  </a:tcPr>
                </a:tc>
                <a:tc>
                  <a:txBody>
                    <a:bodyPr/>
                    <a:lstStyle/>
                    <a:p>
                      <a:r>
                        <a:rPr sz="1250" b="1" i="0">
                          <a:solidFill>
                            <a:srgbClr val="FFFFFF"/>
                          </a:solidFill>
                          <a:latin typeface="Calibri"/>
                        </a:rPr>
                        <a:t>Month three</a:t>
                      </a:r>
                    </a:p>
                  </a:txBody>
                  <a:tcPr marL="101600" marR="101600" marT="38100" marB="38100" anchor="ctr">
                    <a:solidFill>
                      <a:srgbClr val="1A0F5C"/>
                    </a:solidFill>
                  </a:tcPr>
                </a:tc>
                <a:tc>
                  <a:txBody>
                    <a:bodyPr/>
                    <a:lstStyle/>
                    <a:p>
                      <a:r>
                        <a:rPr sz="1250" b="1" i="0">
                          <a:solidFill>
                            <a:srgbClr val="FFFFFF"/>
                          </a:solidFill>
                          <a:latin typeface="Calibri"/>
                        </a:rPr>
                        <a:t>Month four</a:t>
                      </a:r>
                    </a:p>
                  </a:txBody>
                  <a:tcPr marL="101600" marR="101600" marT="38100" marB="38100" anchor="ctr">
                    <a:solidFill>
                      <a:srgbClr val="1A0F5C"/>
                    </a:solidFill>
                  </a:tcPr>
                </a:tc>
              </a:tr>
              <a:tr h="335280">
                <a:tc>
                  <a:txBody>
                    <a:bodyPr/>
                    <a:lstStyle/>
                    <a:p>
                      <a:r>
                        <a:rPr sz="1200" b="0" i="0">
                          <a:solidFill>
                            <a:srgbClr val="1A1440"/>
                          </a:solidFill>
                          <a:latin typeface="Calibri"/>
                        </a:rPr>
                        <a:t>May (4)</a:t>
                      </a:r>
                    </a:p>
                  </a:txBody>
                  <a:tcPr marL="101600" marR="101600" marT="38100" marB="38100" anchor="ctr">
                    <a:solidFill>
                      <a:srgbClr val="FFFFFF"/>
                    </a:solidFill>
                  </a:tcPr>
                </a:tc>
                <a:tc>
                  <a:txBody>
                    <a:bodyPr/>
                    <a:lstStyle/>
                    <a:p>
                      <a:r>
                        <a:rPr sz="1200" b="0" i="0">
                          <a:solidFill>
                            <a:srgbClr val="1A1440"/>
                          </a:solidFill>
                          <a:latin typeface="Calibri"/>
                        </a:rPr>
                        <a:t>3 of 4</a:t>
                      </a:r>
                    </a:p>
                  </a:txBody>
                  <a:tcPr marL="101600" marR="101600" marT="38100" marB="38100" anchor="ctr">
                    <a:solidFill>
                      <a:srgbClr val="FFFFFF"/>
                    </a:solidFill>
                  </a:tcPr>
                </a:tc>
                <a:tc>
                  <a:txBody>
                    <a:bodyPr/>
                    <a:lstStyle/>
                    <a:p>
                      <a:r>
                        <a:rPr sz="1200" b="0" i="0">
                          <a:solidFill>
                            <a:srgbClr val="1A1440"/>
                          </a:solidFill>
                          <a:latin typeface="Calibri"/>
                        </a:rPr>
                        <a:t>2 of 4</a:t>
                      </a:r>
                    </a:p>
                  </a:txBody>
                  <a:tcPr marL="101600" marR="101600" marT="38100" marB="38100" anchor="ctr">
                    <a:solidFill>
                      <a:srgbClr val="FFFFFF"/>
                    </a:solidFill>
                  </a:tcPr>
                </a:tc>
                <a:tc>
                  <a:txBody>
                    <a:bodyPr/>
                    <a:lstStyle/>
                    <a:p>
                      <a:r>
                        <a:rPr sz="1200" b="0" i="0">
                          <a:solidFill>
                            <a:srgbClr val="1A1440"/>
                          </a:solidFill>
                          <a:latin typeface="Calibri"/>
                        </a:rPr>
                        <a:t>1 of 4</a:t>
                      </a:r>
                    </a:p>
                  </a:txBody>
                  <a:tcPr marL="101600" marR="101600" marT="38100" marB="38100" anchor="ctr">
                    <a:solidFill>
                      <a:srgbClr val="FFFFFF"/>
                    </a:solidFill>
                  </a:tcPr>
                </a:tc>
                <a:tc>
                  <a:txBody>
                    <a:bodyPr/>
                    <a:lstStyle/>
                    <a:p>
                      <a:r>
                        <a:rPr sz="1200" b="0" i="0">
                          <a:solidFill>
                            <a:srgbClr val="1A1440"/>
                          </a:solidFill>
                          <a:latin typeface="Calibri"/>
                        </a:rPr>
                        <a:t>1 of 4</a:t>
                      </a:r>
                    </a:p>
                  </a:txBody>
                  <a:tcPr marL="101600" marR="101600" marT="38100" marB="38100" anchor="ctr">
                    <a:solidFill>
                      <a:srgbClr val="FFFFFF"/>
                    </a:solidFill>
                  </a:tcPr>
                </a:tc>
              </a:tr>
              <a:tr h="335280">
                <a:tc>
                  <a:txBody>
                    <a:bodyPr/>
                    <a:lstStyle/>
                    <a:p>
                      <a:r>
                        <a:rPr sz="1200" b="0" i="0">
                          <a:solidFill>
                            <a:srgbClr val="1A1440"/>
                          </a:solidFill>
                          <a:latin typeface="Calibri"/>
                        </a:rPr>
                        <a:t>June (3)</a:t>
                      </a:r>
                    </a:p>
                  </a:txBody>
                  <a:tcPr marL="101600" marR="101600" marT="38100" marB="38100" anchor="ctr">
                    <a:solidFill>
                      <a:srgbClr val="F4F2FA"/>
                    </a:solidFill>
                  </a:tcPr>
                </a:tc>
                <a:tc>
                  <a:txBody>
                    <a:bodyPr/>
                    <a:lstStyle/>
                    <a:p>
                      <a:r>
                        <a:rPr sz="1200" b="0" i="0">
                          <a:solidFill>
                            <a:srgbClr val="1A1440"/>
                          </a:solidFill>
                          <a:latin typeface="Calibri"/>
                        </a:rPr>
                        <a:t>2 of 3</a:t>
                      </a:r>
                    </a:p>
                  </a:txBody>
                  <a:tcPr marL="101600" marR="101600" marT="38100" marB="38100" anchor="ctr">
                    <a:solidFill>
                      <a:srgbClr val="F4F2FA"/>
                    </a:solidFill>
                  </a:tcPr>
                </a:tc>
                <a:tc>
                  <a:txBody>
                    <a:bodyPr/>
                    <a:lstStyle/>
                    <a:p>
                      <a:r>
                        <a:rPr sz="1200" b="0" i="0">
                          <a:solidFill>
                            <a:srgbClr val="1A1440"/>
                          </a:solidFill>
                          <a:latin typeface="Calibri"/>
                        </a:rPr>
                        <a:t>1 of 3</a:t>
                      </a:r>
                    </a:p>
                  </a:txBody>
                  <a:tcPr marL="101600" marR="101600" marT="38100" marB="38100" anchor="ctr">
                    <a:solidFill>
                      <a:srgbClr val="F4F2FA"/>
                    </a:solidFill>
                  </a:tcPr>
                </a:tc>
                <a:tc>
                  <a:txBody>
                    <a:bodyPr/>
                    <a:lstStyle/>
                    <a:p>
                      <a:r>
                        <a:rPr sz="1200" b="0" i="0">
                          <a:solidFill>
                            <a:srgbClr val="1A1440"/>
                          </a:solidFill>
                          <a:latin typeface="Calibri"/>
                        </a:rPr>
                        <a:t>1 of 3</a:t>
                      </a:r>
                    </a:p>
                  </a:txBody>
                  <a:tcPr marL="101600" marR="101600" marT="38100" marB="38100" anchor="ctr">
                    <a:solidFill>
                      <a:srgbClr val="F4F2FA"/>
                    </a:solidFill>
                  </a:tcPr>
                </a:tc>
                <a:tc>
                  <a:txBody>
                    <a:bodyPr/>
                    <a:lstStyle/>
                    <a:p/>
                  </a:txBody>
                  <a:tcPr marL="101600" marR="101600" marT="38100" marB="38100" anchor="ctr">
                    <a:solidFill>
                      <a:srgbClr val="F4F2FA"/>
                    </a:solidFill>
                  </a:tcPr>
                </a:tc>
              </a:tr>
              <a:tr h="335280">
                <a:tc>
                  <a:txBody>
                    <a:bodyPr/>
                    <a:lstStyle/>
                    <a:p>
                      <a:r>
                        <a:rPr sz="1200" b="0" i="0">
                          <a:solidFill>
                            <a:srgbClr val="1A1440"/>
                          </a:solidFill>
                          <a:latin typeface="Calibri"/>
                        </a:rPr>
                        <a:t>August sale week (5)</a:t>
                      </a:r>
                    </a:p>
                  </a:txBody>
                  <a:tcPr marL="101600" marR="101600" marT="38100" marB="38100" anchor="ctr">
                    <a:solidFill>
                      <a:srgbClr val="FFFFFF"/>
                    </a:solidFill>
                  </a:tcPr>
                </a:tc>
                <a:tc>
                  <a:txBody>
                    <a:bodyPr/>
                    <a:lstStyle/>
                    <a:p>
                      <a:r>
                        <a:rPr sz="1200" b="0" i="0">
                          <a:solidFill>
                            <a:srgbClr val="1A1440"/>
                          </a:solidFill>
                          <a:latin typeface="Calibri"/>
                        </a:rPr>
                        <a:t>0 of 5</a:t>
                      </a:r>
                    </a:p>
                  </a:txBody>
                  <a:tcPr marL="101600" marR="101600" marT="38100" marB="38100" anchor="ctr">
                    <a:solidFill>
                      <a:srgbClr val="FFFFFF"/>
                    </a:solidFill>
                  </a:tcPr>
                </a:tc>
                <a:tc>
                  <a:txBody>
                    <a:bodyPr/>
                    <a:lstStyle/>
                    <a:p/>
                  </a:txBody>
                  <a:tcPr marL="101600" marR="101600" marT="38100" marB="38100" anchor="ctr">
                    <a:solidFill>
                      <a:srgbClr val="FFFFFF"/>
                    </a:solidFill>
                  </a:tcPr>
                </a:tc>
                <a:tc>
                  <a:txBody>
                    <a:bodyPr/>
                    <a:lstStyle/>
                    <a:p/>
                  </a:txBody>
                  <a:tcPr marL="101600" marR="101600" marT="38100" marB="38100" anchor="ctr">
                    <a:solidFill>
                      <a:srgbClr val="FFFFFF"/>
                    </a:solidFill>
                  </a:tcPr>
                </a:tc>
                <a:tc>
                  <a:txBody>
                    <a:bodyPr/>
                    <a:lstStyle/>
                    <a:p/>
                  </a:txBody>
                  <a:tcPr marL="101600" marR="101600" marT="38100" marB="38100" anchor="ctr">
                    <a:solidFill>
                      <a:srgbClr val="FFFFFF"/>
                    </a:solidFill>
                  </a:tcPr>
                </a:tc>
              </a:tr>
            </a:tbl>
          </a:graphicData>
        </a:graphic>
      </p:graphicFrame>
      <p:sp>
        <p:nvSpPr>
          <p:cNvPr id="10" name="TextBox 9"/>
          <p:cNvSpPr txBox="1"/>
          <p:nvPr/>
        </p:nvSpPr>
        <p:spPr>
          <a:xfrm>
            <a:off x="530352" y="3553968"/>
            <a:ext cx="11130991" cy="1324864"/>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answer is a. Each group falls as it ages, and each later group starts lower: 75, 67 and then 0 percent in month one. Only read by age, as Cohort construction (SECTION 1) read the gym, can the three groups be compared at all. The twelve were picked to show the pattern on one card: on all 53,089, May's month one is 52 percent and June's 50.</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010412" cy="152146"/>
          </a:xfrm>
          <a:prstGeom prst="rect">
            <a:avLst/>
          </a:prstGeom>
          <a:noFill/>
        </p:spPr>
        <p:txBody>
          <a:bodyPr wrap="square" anchor="t" lIns="0" rIns="0" tIns="0" bIns="0">
            <a:spAutoFit/>
          </a:bodyPr>
          <a:lstStyle/>
          <a:p>
            <a:pPr algn="l"/>
            <a:r>
              <a:rPr sz="700" b="0" i="0">
                <a:solidFill>
                  <a:srgbClr val="6B6690"/>
                </a:solidFill>
                <a:latin typeface="Calibri"/>
              </a:rPr>
              <a:t>Who joined when?</a:t>
            </a:r>
          </a:p>
        </p:txBody>
      </p:sp>
      <p:sp>
        <p:nvSpPr>
          <p:cNvPr id="13" name="Oval 12"/>
          <p:cNvSpPr/>
          <p:nvPr/>
        </p:nvSpPr>
        <p:spPr>
          <a:xfrm>
            <a:off x="174193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85166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Where is the floor?</a:t>
            </a:r>
          </a:p>
        </p:txBody>
      </p:sp>
      <p:sp>
        <p:nvSpPr>
          <p:cNvPr id="15" name="Oval 14"/>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20125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a blend made of?</a:t>
            </a:r>
          </a:p>
        </p:txBody>
      </p:sp>
      <p:sp>
        <p:nvSpPr>
          <p:cNvPr id="17" name="Oval 16"/>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78088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step owns a loss?</a:t>
            </a:r>
          </a:p>
        </p:txBody>
      </p:sp>
      <p:sp>
        <p:nvSpPr>
          <p:cNvPr id="19" name="Oval 18"/>
          <p:cNvSpPr/>
          <p:nvPr/>
        </p:nvSpPr>
        <p:spPr>
          <a:xfrm>
            <a:off x="620477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314503" y="6437376"/>
            <a:ext cx="1056417" cy="152146"/>
          </a:xfrm>
          <a:prstGeom prst="rect">
            <a:avLst/>
          </a:prstGeom>
          <a:noFill/>
        </p:spPr>
        <p:txBody>
          <a:bodyPr wrap="square" anchor="t" lIns="0" rIns="0" tIns="0" bIns="0">
            <a:spAutoFit/>
          </a:bodyPr>
          <a:lstStyle/>
          <a:p>
            <a:pPr algn="l"/>
            <a:r>
              <a:rPr sz="700" b="1" i="0">
                <a:solidFill>
                  <a:srgbClr val="5B3FD6"/>
                </a:solidFill>
                <a:latin typeface="Calibri"/>
              </a:rPr>
              <a:t>Who entered when?</a:t>
            </a:r>
          </a:p>
        </p:txBody>
      </p:sp>
      <p:sp>
        <p:nvSpPr>
          <p:cNvPr id="21" name="Oval 20"/>
          <p:cNvSpPr/>
          <p:nvPr/>
        </p:nvSpPr>
        <p:spPr>
          <a:xfrm>
            <a:off x="74623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572089"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the 38 made of?</a:t>
            </a:r>
          </a:p>
        </p:txBody>
      </p:sp>
      <p:sp>
        <p:nvSpPr>
          <p:cNvPr id="23" name="Oval 22"/>
          <p:cNvSpPr/>
          <p:nvPr/>
        </p:nvSpPr>
        <p:spPr>
          <a:xfrm>
            <a:off x="899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10570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stage owns the loss?</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S41  ·  46 / 73</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COHORT AND FUNNEL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Predict: what does the dashboard's way read?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dashboard counts a member from her second month after joining. On the card, what does it read in August and September?</a:t>
            </a:r>
          </a:p>
        </p:txBody>
      </p:sp>
      <p:sp>
        <p:nvSpPr>
          <p:cNvPr id="9" name="TextBox 8"/>
          <p:cNvSpPr txBox="1"/>
          <p:nvPr/>
        </p:nvSpPr>
        <p:spPr>
          <a:xfrm>
            <a:off x="530352" y="1956816"/>
            <a:ext cx="11130991" cy="1654048"/>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A fall from August to September, because the sale-week members ordered so little</a:t>
            </a:r>
          </a:p>
          <a:p>
            <a:pPr>
              <a:spcAft>
                <a:spcPts val="800"/>
              </a:spcAft>
            </a:pPr>
            <a:r>
              <a:rPr sz="1600" b="0" i="0">
                <a:solidFill>
                  <a:srgbClr val="1A1440"/>
                </a:solidFill>
                <a:latin typeface="Calibri"/>
              </a:rPr>
              <a:t>b) 2 of 7 in both months, with the five sale-week members outside the count</a:t>
            </a:r>
          </a:p>
          <a:p>
            <a:pPr>
              <a:spcAft>
                <a:spcPts val="800"/>
              </a:spcAft>
            </a:pPr>
            <a:r>
              <a:rPr sz="1600" b="0" i="0">
                <a:solidFill>
                  <a:srgbClr val="1A1440"/>
                </a:solidFill>
                <a:latin typeface="Calibri"/>
              </a:rPr>
              <a:t>c) A rise, because new members joined</a:t>
            </a:r>
          </a:p>
          <a:p>
            <a:pPr>
              <a:spcAft>
                <a:spcPts val="800"/>
              </a:spcAft>
            </a:pPr>
            <a:r>
              <a:rPr sz="1600" b="0" i="0">
                <a:solidFill>
                  <a:srgbClr val="1A1440"/>
                </a:solidFill>
                <a:latin typeface="Calibri"/>
              </a:rPr>
              <a:t>d) 2 of 12 in both months</a:t>
            </a:r>
          </a:p>
        </p:txBody>
      </p:sp>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010412" cy="152146"/>
          </a:xfrm>
          <a:prstGeom prst="rect">
            <a:avLst/>
          </a:prstGeom>
          <a:noFill/>
        </p:spPr>
        <p:txBody>
          <a:bodyPr wrap="square" anchor="t" lIns="0" rIns="0" tIns="0" bIns="0">
            <a:spAutoFit/>
          </a:bodyPr>
          <a:lstStyle/>
          <a:p>
            <a:pPr algn="l"/>
            <a:r>
              <a:rPr sz="700" b="0" i="0">
                <a:solidFill>
                  <a:srgbClr val="6B6690"/>
                </a:solidFill>
                <a:latin typeface="Calibri"/>
              </a:rPr>
              <a:t>Who joined when?</a:t>
            </a:r>
          </a:p>
        </p:txBody>
      </p:sp>
      <p:sp>
        <p:nvSpPr>
          <p:cNvPr id="12" name="Oval 11"/>
          <p:cNvSpPr/>
          <p:nvPr/>
        </p:nvSpPr>
        <p:spPr>
          <a:xfrm>
            <a:off x="174193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85166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Where is the floor?</a:t>
            </a:r>
          </a:p>
        </p:txBody>
      </p:sp>
      <p:sp>
        <p:nvSpPr>
          <p:cNvPr id="14" name="Oval 13"/>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20125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a blend made of?</a:t>
            </a:r>
          </a:p>
        </p:txBody>
      </p:sp>
      <p:sp>
        <p:nvSpPr>
          <p:cNvPr id="16" name="Oval 15"/>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78088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step owns a loss?</a:t>
            </a:r>
          </a:p>
        </p:txBody>
      </p:sp>
      <p:sp>
        <p:nvSpPr>
          <p:cNvPr id="18" name="Oval 17"/>
          <p:cNvSpPr/>
          <p:nvPr/>
        </p:nvSpPr>
        <p:spPr>
          <a:xfrm>
            <a:off x="620477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314503" y="6437376"/>
            <a:ext cx="1056417" cy="152146"/>
          </a:xfrm>
          <a:prstGeom prst="rect">
            <a:avLst/>
          </a:prstGeom>
          <a:noFill/>
        </p:spPr>
        <p:txBody>
          <a:bodyPr wrap="square" anchor="t" lIns="0" rIns="0" tIns="0" bIns="0">
            <a:spAutoFit/>
          </a:bodyPr>
          <a:lstStyle/>
          <a:p>
            <a:pPr algn="l"/>
            <a:r>
              <a:rPr sz="700" b="1" i="0">
                <a:solidFill>
                  <a:srgbClr val="5B3FD6"/>
                </a:solidFill>
                <a:latin typeface="Calibri"/>
              </a:rPr>
              <a:t>Who entered when?</a:t>
            </a:r>
          </a:p>
        </p:txBody>
      </p:sp>
      <p:sp>
        <p:nvSpPr>
          <p:cNvPr id="20" name="Oval 19"/>
          <p:cNvSpPr/>
          <p:nvPr/>
        </p:nvSpPr>
        <p:spPr>
          <a:xfrm>
            <a:off x="74623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572089"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the 38 made of?</a:t>
            </a:r>
          </a:p>
        </p:txBody>
      </p:sp>
      <p:sp>
        <p:nvSpPr>
          <p:cNvPr id="22" name="Oval 21"/>
          <p:cNvSpPr/>
          <p:nvPr/>
        </p:nvSpPr>
        <p:spPr>
          <a:xfrm>
            <a:off x="899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10570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stage owns the loss?</a:t>
            </a:r>
          </a:p>
        </p:txBody>
      </p:sp>
      <p:sp>
        <p:nvSpPr>
          <p:cNvPr id="24" name="TextBox 2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S42  ·  47 / 73</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COHORT AND FUNNEL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2 of 7 in August, 2 of 7 in September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the card say counted the dashboard's way, and counted for everyone?</a:t>
            </a:r>
          </a:p>
        </p:txBody>
      </p:sp>
      <p:graphicFrame>
        <p:nvGraphicFramePr>
          <p:cNvPr id="9" name="Table 8"/>
          <p:cNvGraphicFramePr>
            <a:graphicFrameLocks noGrp="1"/>
          </p:cNvGraphicFramePr>
          <p:nvPr/>
        </p:nvGraphicFramePr>
        <p:xfrm>
          <a:off x="530352" y="1956816"/>
          <a:ext cx="11130990" cy="1005840"/>
        </p:xfrm>
        <a:graphic>
          <a:graphicData uri="http://schemas.openxmlformats.org/drawingml/2006/table">
            <a:tbl>
              <a:tblPr firstRow="0" bandRow="0">
                <a:tableStyleId>{2D5ABB26-0587-4C30-8999-92F81FD0307C}</a:tableStyleId>
              </a:tblPr>
              <a:tblGrid>
                <a:gridCol w="7720459"/>
                <a:gridCol w="914400"/>
                <a:gridCol w="914400"/>
                <a:gridCol w="1581731"/>
              </a:tblGrid>
              <a:tr h="335280">
                <a:tc>
                  <a:txBody>
                    <a:bodyPr/>
                    <a:lstStyle/>
                    <a:p>
                      <a:r>
                        <a:rPr sz="1250" b="1" i="0">
                          <a:solidFill>
                            <a:srgbClr val="FFFFFF"/>
                          </a:solidFill>
                          <a:latin typeface="Calibri"/>
                        </a:rPr>
                        <a:t>Reporting month</a:t>
                      </a:r>
                    </a:p>
                  </a:txBody>
                  <a:tcPr marL="101600" marR="101600" marT="38100" marB="38100" anchor="ctr">
                    <a:solidFill>
                      <a:srgbClr val="1A0F5C"/>
                    </a:solidFill>
                  </a:tcPr>
                </a:tc>
                <a:tc>
                  <a:txBody>
                    <a:bodyPr/>
                    <a:lstStyle/>
                    <a:p>
                      <a:r>
                        <a:rPr sz="1250" b="1" i="0">
                          <a:solidFill>
                            <a:srgbClr val="FFFFFF"/>
                          </a:solidFill>
                          <a:latin typeface="Calibri"/>
                        </a:rPr>
                        <a:t>July</a:t>
                      </a:r>
                    </a:p>
                  </a:txBody>
                  <a:tcPr marL="101600" marR="101600" marT="38100" marB="38100" anchor="ctr">
                    <a:solidFill>
                      <a:srgbClr val="1A0F5C"/>
                    </a:solidFill>
                  </a:tcPr>
                </a:tc>
                <a:tc>
                  <a:txBody>
                    <a:bodyPr/>
                    <a:lstStyle/>
                    <a:p>
                      <a:r>
                        <a:rPr sz="1250" b="1" i="0">
                          <a:solidFill>
                            <a:srgbClr val="FFFFFF"/>
                          </a:solidFill>
                          <a:latin typeface="Calibri"/>
                        </a:rPr>
                        <a:t>August</a:t>
                      </a:r>
                    </a:p>
                  </a:txBody>
                  <a:tcPr marL="101600" marR="101600" marT="38100" marB="38100" anchor="ctr">
                    <a:solidFill>
                      <a:srgbClr val="1A0F5C"/>
                    </a:solidFill>
                  </a:tcPr>
                </a:tc>
                <a:tc>
                  <a:txBody>
                    <a:bodyPr/>
                    <a:lstStyle/>
                    <a:p>
                      <a:r>
                        <a:rPr sz="1250" b="1" i="0">
                          <a:solidFill>
                            <a:srgbClr val="FFFFFF"/>
                          </a:solidFill>
                          <a:latin typeface="Calibri"/>
                        </a:rPr>
                        <a:t>September</a:t>
                      </a:r>
                    </a:p>
                  </a:txBody>
                  <a:tcPr marL="101600" marR="101600" marT="38100" marB="38100" anchor="ctr">
                    <a:solidFill>
                      <a:srgbClr val="1A0F5C"/>
                    </a:solidFill>
                  </a:tcPr>
                </a:tc>
              </a:tr>
              <a:tr h="335280">
                <a:tc>
                  <a:txBody>
                    <a:bodyPr/>
                    <a:lstStyle/>
                    <a:p>
                      <a:r>
                        <a:rPr sz="1200" b="0" i="0">
                          <a:solidFill>
                            <a:srgbClr val="1A1440"/>
                          </a:solidFill>
                          <a:latin typeface="Calibri"/>
                        </a:rPr>
                        <a:t>The dashboard's way: members two or more months past joining</a:t>
                      </a:r>
                    </a:p>
                  </a:txBody>
                  <a:tcPr marL="101600" marR="101600" marT="38100" marB="38100" anchor="ctr">
                    <a:solidFill>
                      <a:srgbClr val="FFFFFF"/>
                    </a:solidFill>
                  </a:tcPr>
                </a:tc>
                <a:tc>
                  <a:txBody>
                    <a:bodyPr/>
                    <a:lstStyle/>
                    <a:p>
                      <a:r>
                        <a:rPr sz="1200" b="0" i="0">
                          <a:solidFill>
                            <a:srgbClr val="1A1440"/>
                          </a:solidFill>
                          <a:latin typeface="Calibri"/>
                        </a:rPr>
                        <a:t>2 of 4</a:t>
                      </a:r>
                    </a:p>
                  </a:txBody>
                  <a:tcPr marL="101600" marR="101600" marT="38100" marB="38100" anchor="ctr">
                    <a:solidFill>
                      <a:srgbClr val="FFFFFF"/>
                    </a:solidFill>
                  </a:tcPr>
                </a:tc>
                <a:tc>
                  <a:txBody>
                    <a:bodyPr/>
                    <a:lstStyle/>
                    <a:p>
                      <a:r>
                        <a:rPr sz="1200" b="0" i="0">
                          <a:solidFill>
                            <a:srgbClr val="1A1440"/>
                          </a:solidFill>
                          <a:latin typeface="Calibri"/>
                        </a:rPr>
                        <a:t>2 of 7</a:t>
                      </a:r>
                    </a:p>
                  </a:txBody>
                  <a:tcPr marL="101600" marR="101600" marT="38100" marB="38100" anchor="ctr">
                    <a:solidFill>
                      <a:srgbClr val="FFFFFF"/>
                    </a:solidFill>
                  </a:tcPr>
                </a:tc>
                <a:tc>
                  <a:txBody>
                    <a:bodyPr/>
                    <a:lstStyle/>
                    <a:p>
                      <a:r>
                        <a:rPr sz="1200" b="0" i="0">
                          <a:solidFill>
                            <a:srgbClr val="1A1440"/>
                          </a:solidFill>
                          <a:latin typeface="Calibri"/>
                        </a:rPr>
                        <a:t>2 of 7</a:t>
                      </a:r>
                    </a:p>
                  </a:txBody>
                  <a:tcPr marL="101600" marR="101600" marT="38100" marB="38100" anchor="ctr">
                    <a:solidFill>
                      <a:srgbClr val="FFFFFF"/>
                    </a:solidFill>
                  </a:tcPr>
                </a:tc>
              </a:tr>
              <a:tr h="335280">
                <a:tc>
                  <a:txBody>
                    <a:bodyPr/>
                    <a:lstStyle/>
                    <a:p>
                      <a:r>
                        <a:rPr sz="1200" b="0" i="0">
                          <a:solidFill>
                            <a:srgbClr val="1A1440"/>
                          </a:solidFill>
                          <a:latin typeface="Calibri"/>
                        </a:rPr>
                        <a:t>Everyone who joined before the month</a:t>
                      </a:r>
                    </a:p>
                  </a:txBody>
                  <a:tcPr marL="101600" marR="101600" marT="38100" marB="38100" anchor="ctr">
                    <a:solidFill>
                      <a:srgbClr val="F4F2FA"/>
                    </a:solidFill>
                  </a:tcPr>
                </a:tc>
                <a:tc>
                  <a:txBody>
                    <a:bodyPr/>
                    <a:lstStyle/>
                    <a:p>
                      <a:r>
                        <a:rPr sz="1200" b="0" i="0">
                          <a:solidFill>
                            <a:srgbClr val="1A1440"/>
                          </a:solidFill>
                          <a:latin typeface="Calibri"/>
                        </a:rPr>
                        <a:t>4 of 7</a:t>
                      </a:r>
                    </a:p>
                  </a:txBody>
                  <a:tcPr marL="101600" marR="101600" marT="38100" marB="38100" anchor="ctr">
                    <a:solidFill>
                      <a:srgbClr val="F4F2FA"/>
                    </a:solidFill>
                  </a:tcPr>
                </a:tc>
                <a:tc>
                  <a:txBody>
                    <a:bodyPr/>
                    <a:lstStyle/>
                    <a:p>
                      <a:r>
                        <a:rPr sz="1200" b="0" i="0">
                          <a:solidFill>
                            <a:srgbClr val="1A1440"/>
                          </a:solidFill>
                          <a:latin typeface="Calibri"/>
                        </a:rPr>
                        <a:t>2 of 7</a:t>
                      </a:r>
                    </a:p>
                  </a:txBody>
                  <a:tcPr marL="101600" marR="101600" marT="38100" marB="38100" anchor="ctr">
                    <a:solidFill>
                      <a:srgbClr val="F4F2FA"/>
                    </a:solidFill>
                  </a:tcPr>
                </a:tc>
                <a:tc>
                  <a:txBody>
                    <a:bodyPr/>
                    <a:lstStyle/>
                    <a:p>
                      <a:r>
                        <a:rPr sz="1200" b="0" i="0">
                          <a:solidFill>
                            <a:srgbClr val="1A1440"/>
                          </a:solidFill>
                          <a:latin typeface="Calibri"/>
                        </a:rPr>
                        <a:t>2 of 12</a:t>
                      </a:r>
                    </a:p>
                  </a:txBody>
                  <a:tcPr marL="101600" marR="101600" marT="38100" marB="38100" anchor="ctr">
                    <a:solidFill>
                      <a:srgbClr val="F4F2FA"/>
                    </a:solidFill>
                  </a:tcPr>
                </a:tc>
              </a:tr>
            </a:tbl>
          </a:graphicData>
        </a:graphic>
      </p:graphicFrame>
      <p:sp>
        <p:nvSpPr>
          <p:cNvPr id="10" name="TextBox 9"/>
          <p:cNvSpPr txBox="1"/>
          <p:nvPr/>
        </p:nvSpPr>
        <p:spPr>
          <a:xfrm>
            <a:off x="530352" y="3218688"/>
            <a:ext cx="11130991" cy="1048512"/>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answer is b. The dashboard's way did not move from August to September, though five members joined in the sale week and none of them ordered: they are outside its count until October. Counted for everyone, September reads 2 of 12.</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010412" cy="152146"/>
          </a:xfrm>
          <a:prstGeom prst="rect">
            <a:avLst/>
          </a:prstGeom>
          <a:noFill/>
        </p:spPr>
        <p:txBody>
          <a:bodyPr wrap="square" anchor="t" lIns="0" rIns="0" tIns="0" bIns="0">
            <a:spAutoFit/>
          </a:bodyPr>
          <a:lstStyle/>
          <a:p>
            <a:pPr algn="l"/>
            <a:r>
              <a:rPr sz="700" b="0" i="0">
                <a:solidFill>
                  <a:srgbClr val="6B6690"/>
                </a:solidFill>
                <a:latin typeface="Calibri"/>
              </a:rPr>
              <a:t>Who joined when?</a:t>
            </a:r>
          </a:p>
        </p:txBody>
      </p:sp>
      <p:sp>
        <p:nvSpPr>
          <p:cNvPr id="13" name="Oval 12"/>
          <p:cNvSpPr/>
          <p:nvPr/>
        </p:nvSpPr>
        <p:spPr>
          <a:xfrm>
            <a:off x="174193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85166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Where is the floor?</a:t>
            </a:r>
          </a:p>
        </p:txBody>
      </p:sp>
      <p:sp>
        <p:nvSpPr>
          <p:cNvPr id="15" name="Oval 14"/>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20125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a blend made of?</a:t>
            </a:r>
          </a:p>
        </p:txBody>
      </p:sp>
      <p:sp>
        <p:nvSpPr>
          <p:cNvPr id="17" name="Oval 16"/>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78088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step owns a loss?</a:t>
            </a:r>
          </a:p>
        </p:txBody>
      </p:sp>
      <p:sp>
        <p:nvSpPr>
          <p:cNvPr id="19" name="Oval 18"/>
          <p:cNvSpPr/>
          <p:nvPr/>
        </p:nvSpPr>
        <p:spPr>
          <a:xfrm>
            <a:off x="620477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314503" y="6437376"/>
            <a:ext cx="1056417" cy="152146"/>
          </a:xfrm>
          <a:prstGeom prst="rect">
            <a:avLst/>
          </a:prstGeom>
          <a:noFill/>
        </p:spPr>
        <p:txBody>
          <a:bodyPr wrap="square" anchor="t" lIns="0" rIns="0" tIns="0" bIns="0">
            <a:spAutoFit/>
          </a:bodyPr>
          <a:lstStyle/>
          <a:p>
            <a:pPr algn="l"/>
            <a:r>
              <a:rPr sz="700" b="1" i="0">
                <a:solidFill>
                  <a:srgbClr val="5B3FD6"/>
                </a:solidFill>
                <a:latin typeface="Calibri"/>
              </a:rPr>
              <a:t>Who entered when?</a:t>
            </a:r>
          </a:p>
        </p:txBody>
      </p:sp>
      <p:sp>
        <p:nvSpPr>
          <p:cNvPr id="21" name="Oval 20"/>
          <p:cNvSpPr/>
          <p:nvPr/>
        </p:nvSpPr>
        <p:spPr>
          <a:xfrm>
            <a:off x="74623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572089"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the 38 made of?</a:t>
            </a:r>
          </a:p>
        </p:txBody>
      </p:sp>
      <p:sp>
        <p:nvSpPr>
          <p:cNvPr id="23" name="Oval 22"/>
          <p:cNvSpPr/>
          <p:nvPr/>
        </p:nvSpPr>
        <p:spPr>
          <a:xfrm>
            <a:off x="899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10570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stage owns the loss?</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S43  ·  48 / 73</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COHORT AND FUNNEL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What the card showed: fix the entry month</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has the card answered, and what is still open?</a:t>
            </a:r>
          </a:p>
        </p:txBody>
      </p:sp>
      <p:pic>
        <p:nvPicPr>
          <p:cNvPr id="9" name="mermaid diagram" descr="22d0f0149a691e4b.png"/>
          <p:cNvPicPr>
            <a:picLocks noChangeAspect="1"/>
          </p:cNvPicPr>
          <p:nvPr/>
        </p:nvPicPr>
        <p:blipFill>
          <a:blip r:embed="rId7"/>
          <a:stretch>
            <a:fillRect/>
          </a:stretch>
        </p:blipFill>
        <p:spPr>
          <a:xfrm>
            <a:off x="780897" y="1883092"/>
            <a:ext cx="10629900" cy="1857375"/>
          </a:xfrm>
          <a:prstGeom prst="rect">
            <a:avLst/>
          </a:prstGeom>
        </p:spPr>
      </p:pic>
      <p:sp>
        <p:nvSpPr>
          <p:cNvPr id="10" name="Rounded Rectangle 9"/>
          <p:cNvSpPr/>
          <p:nvPr/>
        </p:nvSpPr>
        <p:spPr>
          <a:xfrm>
            <a:off x="530352" y="4005072"/>
            <a:ext cx="11130991" cy="86258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420776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list-checks_bd88901d2a37.png"/>
          <p:cNvPicPr>
            <a:picLocks noChangeAspect="1"/>
          </p:cNvPicPr>
          <p:nvPr/>
        </p:nvPicPr>
        <p:blipFill>
          <a:blip r:embed="rId5"/>
          <a:stretch>
            <a:fillRect/>
          </a:stretch>
        </p:blipFill>
        <p:spPr>
          <a:xfrm>
            <a:off x="868680" y="4317492"/>
            <a:ext cx="237744" cy="237744"/>
          </a:xfrm>
          <a:prstGeom prst="rect">
            <a:avLst/>
          </a:prstGeom>
        </p:spPr>
      </p:pic>
      <p:sp>
        <p:nvSpPr>
          <p:cNvPr id="13" name="TextBox 12"/>
          <p:cNvSpPr txBox="1"/>
          <p:nvPr/>
        </p:nvSpPr>
        <p:spPr>
          <a:xfrm>
            <a:off x="1399031" y="4151376"/>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THE RULE</a:t>
            </a:r>
          </a:p>
        </p:txBody>
      </p:sp>
      <p:sp>
        <p:nvSpPr>
          <p:cNvPr id="14" name="TextBox 13"/>
          <p:cNvSpPr txBox="1"/>
          <p:nvPr/>
        </p:nvSpPr>
        <p:spPr>
          <a:xfrm>
            <a:off x="1399031" y="4370832"/>
            <a:ext cx="9987991" cy="423672"/>
          </a:xfrm>
          <a:prstGeom prst="rect">
            <a:avLst/>
          </a:prstGeom>
          <a:noFill/>
        </p:spPr>
        <p:txBody>
          <a:bodyPr wrap="square" anchor="t" lIns="0" rIns="0" tIns="0" bIns="0">
            <a:spAutoFit/>
          </a:bodyPr>
          <a:lstStyle/>
          <a:p>
            <a:r>
              <a:rPr sz="1500" b="0" i="0">
                <a:solidFill>
                  <a:srgbClr val="1A1440"/>
                </a:solidFill>
                <a:latin typeface="Calibri"/>
              </a:rPr>
              <a:t>Before reading any retention number, ask which members it counts and from which month.</a:t>
            </a:r>
          </a:p>
        </p:txBody>
      </p:sp>
      <p:sp>
        <p:nvSpPr>
          <p:cNvPr id="15" name="Rounded Rectangle 14"/>
          <p:cNvSpPr/>
          <p:nvPr/>
        </p:nvSpPr>
        <p:spPr>
          <a:xfrm>
            <a:off x="530352" y="5032248"/>
            <a:ext cx="11130991" cy="138074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758952" y="5494020"/>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mic_caee7398c80d.png"/>
          <p:cNvPicPr>
            <a:picLocks noChangeAspect="1"/>
          </p:cNvPicPr>
          <p:nvPr/>
        </p:nvPicPr>
        <p:blipFill>
          <a:blip r:embed="rId6"/>
          <a:stretch>
            <a:fillRect/>
          </a:stretch>
        </p:blipFill>
        <p:spPr>
          <a:xfrm>
            <a:off x="868680" y="5603748"/>
            <a:ext cx="237744" cy="237744"/>
          </a:xfrm>
          <a:prstGeom prst="rect">
            <a:avLst/>
          </a:prstGeom>
        </p:spPr>
      </p:pic>
      <p:sp>
        <p:nvSpPr>
          <p:cNvPr id="18" name="TextBox 17"/>
          <p:cNvSpPr txBox="1"/>
          <p:nvPr/>
        </p:nvSpPr>
        <p:spPr>
          <a:xfrm>
            <a:off x="1399031" y="5178552"/>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19" name="TextBox 18"/>
          <p:cNvSpPr txBox="1"/>
          <p:nvPr/>
        </p:nvSpPr>
        <p:spPr>
          <a:xfrm>
            <a:off x="1399031" y="5398008"/>
            <a:ext cx="9987991" cy="941832"/>
          </a:xfrm>
          <a:prstGeom prst="rect">
            <a:avLst/>
          </a:prstGeom>
          <a:noFill/>
        </p:spPr>
        <p:txBody>
          <a:bodyPr wrap="square" anchor="t" lIns="0" rIns="0" tIns="0" bIns="0">
            <a:spAutoFit/>
          </a:bodyPr>
          <a:lstStyle/>
          <a:p>
            <a:r>
              <a:rPr sz="1500" b="0" i="0">
                <a:solidFill>
                  <a:srgbClr val="1A1440"/>
                </a:solidFill>
                <a:latin typeface="Calibri"/>
              </a:rPr>
              <a:t>[F], frequent in GCC (global capability centre) and product-company screens: blended retention is flat while every cohort declines; how? The mix, each cohort's share of the count, changes under the average.</a:t>
            </a:r>
          </a:p>
        </p:txBody>
      </p:sp>
      <p:sp>
        <p:nvSpPr>
          <p:cNvPr id="20" name="Oval 1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40080" y="6437376"/>
            <a:ext cx="1010412" cy="152146"/>
          </a:xfrm>
          <a:prstGeom prst="rect">
            <a:avLst/>
          </a:prstGeom>
          <a:noFill/>
        </p:spPr>
        <p:txBody>
          <a:bodyPr wrap="square" anchor="t" lIns="0" rIns="0" tIns="0" bIns="0">
            <a:spAutoFit/>
          </a:bodyPr>
          <a:lstStyle/>
          <a:p>
            <a:pPr algn="l"/>
            <a:r>
              <a:rPr sz="700" b="0" i="0">
                <a:solidFill>
                  <a:srgbClr val="6B6690"/>
                </a:solidFill>
                <a:latin typeface="Calibri"/>
              </a:rPr>
              <a:t>Who joined when?</a:t>
            </a:r>
          </a:p>
        </p:txBody>
      </p:sp>
      <p:sp>
        <p:nvSpPr>
          <p:cNvPr id="22" name="Oval 21"/>
          <p:cNvSpPr/>
          <p:nvPr/>
        </p:nvSpPr>
        <p:spPr>
          <a:xfrm>
            <a:off x="174193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185166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Where is the floor?</a:t>
            </a:r>
          </a:p>
        </p:txBody>
      </p:sp>
      <p:sp>
        <p:nvSpPr>
          <p:cNvPr id="24" name="Oval 23"/>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20125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a blend made of?</a:t>
            </a:r>
          </a:p>
        </p:txBody>
      </p:sp>
      <p:sp>
        <p:nvSpPr>
          <p:cNvPr id="26" name="Oval 25"/>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478088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step owns a loss?</a:t>
            </a:r>
          </a:p>
        </p:txBody>
      </p:sp>
      <p:sp>
        <p:nvSpPr>
          <p:cNvPr id="28" name="Oval 27"/>
          <p:cNvSpPr/>
          <p:nvPr/>
        </p:nvSpPr>
        <p:spPr>
          <a:xfrm>
            <a:off x="620477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314503" y="6437376"/>
            <a:ext cx="1056417" cy="152146"/>
          </a:xfrm>
          <a:prstGeom prst="rect">
            <a:avLst/>
          </a:prstGeom>
          <a:noFill/>
        </p:spPr>
        <p:txBody>
          <a:bodyPr wrap="square" anchor="t" lIns="0" rIns="0" tIns="0" bIns="0">
            <a:spAutoFit/>
          </a:bodyPr>
          <a:lstStyle/>
          <a:p>
            <a:pPr algn="l"/>
            <a:r>
              <a:rPr sz="700" b="1" i="0">
                <a:solidFill>
                  <a:srgbClr val="5B3FD6"/>
                </a:solidFill>
                <a:latin typeface="Calibri"/>
              </a:rPr>
              <a:t>Who entered when?</a:t>
            </a:r>
          </a:p>
        </p:txBody>
      </p:sp>
      <p:sp>
        <p:nvSpPr>
          <p:cNvPr id="30" name="Oval 29"/>
          <p:cNvSpPr/>
          <p:nvPr/>
        </p:nvSpPr>
        <p:spPr>
          <a:xfrm>
            <a:off x="74623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7572089"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the 38 made of?</a:t>
            </a:r>
          </a:p>
        </p:txBody>
      </p:sp>
      <p:sp>
        <p:nvSpPr>
          <p:cNvPr id="32" name="Oval 31"/>
          <p:cNvSpPr/>
          <p:nvPr/>
        </p:nvSpPr>
        <p:spPr>
          <a:xfrm>
            <a:off x="899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910570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stage owns the loss?</a:t>
            </a:r>
          </a:p>
        </p:txBody>
      </p:sp>
      <p:sp>
        <p:nvSpPr>
          <p:cNvPr id="34" name="TextBox 3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S44  ·  49 / 73</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06</a:t>
            </a:r>
          </a:p>
        </p:txBody>
      </p:sp>
      <p:sp>
        <p:nvSpPr>
          <p:cNvPr id="8" name="TextBox 7"/>
          <p:cNvSpPr txBox="1"/>
          <p:nvPr/>
        </p:nvSpPr>
        <p:spPr>
          <a:xfrm>
            <a:off x="731519" y="2542032"/>
            <a:ext cx="10673791" cy="366776"/>
          </a:xfrm>
          <a:prstGeom prst="rect">
            <a:avLst/>
          </a:prstGeom>
          <a:noFill/>
        </p:spPr>
        <p:txBody>
          <a:bodyPr wrap="square" anchor="t" lIns="0" rIns="0" tIns="0" bIns="0">
            <a:spAutoFit/>
          </a:bodyPr>
          <a:lstStyle/>
          <a:p>
            <a:pPr algn="l"/>
            <a:r>
              <a:rPr sz="2000" b="1" i="0">
                <a:solidFill>
                  <a:srgbClr val="D9A7FF"/>
                </a:solidFill>
                <a:latin typeface="Calibri"/>
              </a:rPr>
              <a:t>Retention curves and blended numbers on 53,089 members</a:t>
            </a:r>
          </a:p>
        </p:txBody>
      </p:sp>
      <p:sp>
        <p:nvSpPr>
          <p:cNvPr id="9" name="TextBox 8"/>
          <p:cNvSpPr txBox="1"/>
          <p:nvPr/>
        </p:nvSpPr>
        <p:spPr>
          <a:xfrm>
            <a:off x="731519" y="3017520"/>
            <a:ext cx="10673791" cy="731520"/>
          </a:xfrm>
          <a:prstGeom prst="rect">
            <a:avLst/>
          </a:prstGeom>
          <a:noFill/>
        </p:spPr>
        <p:txBody>
          <a:bodyPr wrap="square" anchor="t" lIns="0" rIns="0" tIns="0" bIns="0">
            <a:spAutoFit/>
          </a:bodyPr>
          <a:lstStyle/>
          <a:p>
            <a:pPr algn="l"/>
            <a:r>
              <a:rPr sz="4000" b="0" i="0">
                <a:solidFill>
                  <a:srgbClr val="FFFFFF"/>
                </a:solidFill>
                <a:latin typeface="Georgia"/>
              </a:rPr>
              <a:t>What is the 38 made of?</a:t>
            </a:r>
          </a:p>
        </p:txBody>
      </p:sp>
      <p:sp>
        <p:nvSpPr>
          <p:cNvPr id="10" name="TextBox 9"/>
          <p:cNvSpPr txBox="1"/>
          <p:nvPr/>
        </p:nvSpPr>
        <p:spPr>
          <a:xfrm>
            <a:off x="731519" y="3931920"/>
            <a:ext cx="9509760" cy="531876"/>
          </a:xfrm>
          <a:prstGeom prst="rect">
            <a:avLst/>
          </a:prstGeom>
          <a:noFill/>
        </p:spPr>
        <p:txBody>
          <a:bodyPr wrap="square" anchor="t" lIns="0" rIns="0" tIns="0" bIns="0">
            <a:spAutoFit/>
          </a:bodyPr>
          <a:lstStyle/>
          <a:p>
            <a:pPr algn="l"/>
            <a:r>
              <a:rPr sz="1500" b="0" i="0">
                <a:solidFill>
                  <a:srgbClr val="E4E1F1"/>
                </a:solidFill>
                <a:latin typeface="Calibri"/>
              </a:rPr>
              <a:t>Every cohort's curve on the full data, the dashboard's flat 38 rebuilt from its cohorts, and the cohort the count leaves out, as SECTIONs 2 and 3 read the gym.</a:t>
            </a:r>
          </a:p>
        </p:txBody>
      </p:sp>
      <p:sp>
        <p:nvSpPr>
          <p:cNvPr id="11" name="Rounded Rectangle 10"/>
          <p:cNvSpPr/>
          <p:nvPr/>
        </p:nvSpPr>
        <p:spPr>
          <a:xfrm>
            <a:off x="731519" y="5074920"/>
            <a:ext cx="118264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Who joined when?</a:t>
            </a:r>
          </a:p>
        </p:txBody>
      </p:sp>
      <p:sp>
        <p:nvSpPr>
          <p:cNvPr id="12" name="Rounded Rectangle 11"/>
          <p:cNvSpPr/>
          <p:nvPr/>
        </p:nvSpPr>
        <p:spPr>
          <a:xfrm>
            <a:off x="2023889" y="5074920"/>
            <a:ext cx="134262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Where is the floor?</a:t>
            </a:r>
          </a:p>
        </p:txBody>
      </p:sp>
      <p:sp>
        <p:nvSpPr>
          <p:cNvPr id="13" name="Rounded Rectangle 12"/>
          <p:cNvSpPr/>
          <p:nvPr/>
        </p:nvSpPr>
        <p:spPr>
          <a:xfrm>
            <a:off x="3476243" y="5074920"/>
            <a:ext cx="1609266"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is a blend made of?</a:t>
            </a:r>
          </a:p>
        </p:txBody>
      </p:sp>
      <p:sp>
        <p:nvSpPr>
          <p:cNvPr id="14" name="Rounded Rectangle 13"/>
          <p:cNvSpPr/>
          <p:nvPr/>
        </p:nvSpPr>
        <p:spPr>
          <a:xfrm>
            <a:off x="5195238" y="5074920"/>
            <a:ext cx="1555938"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step owns a loss?</a:t>
            </a:r>
          </a:p>
        </p:txBody>
      </p:sp>
      <p:sp>
        <p:nvSpPr>
          <p:cNvPr id="15" name="Rounded Rectangle 14"/>
          <p:cNvSpPr/>
          <p:nvPr/>
        </p:nvSpPr>
        <p:spPr>
          <a:xfrm>
            <a:off x="6860904" y="5074920"/>
            <a:ext cx="123596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Who entered when?</a:t>
            </a:r>
          </a:p>
        </p:txBody>
      </p:sp>
      <p:sp>
        <p:nvSpPr>
          <p:cNvPr id="16" name="Rounded Rectangle 15"/>
          <p:cNvSpPr/>
          <p:nvPr/>
        </p:nvSpPr>
        <p:spPr>
          <a:xfrm>
            <a:off x="8206602" y="5074920"/>
            <a:ext cx="1555938"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What is the 38 made of?</a:t>
            </a:r>
          </a:p>
        </p:txBody>
      </p:sp>
      <p:sp>
        <p:nvSpPr>
          <p:cNvPr id="17" name="Rounded Rectangle 16"/>
          <p:cNvSpPr/>
          <p:nvPr/>
        </p:nvSpPr>
        <p:spPr>
          <a:xfrm>
            <a:off x="9872268" y="5074920"/>
            <a:ext cx="1715922"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stage owns the loss?</a:t>
            </a:r>
          </a:p>
        </p:txBody>
      </p:sp>
      <p:sp>
        <p:nvSpPr>
          <p:cNvPr id="18" name="TextBox 17"/>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4, Day 4. Cohort and funnel: who is leaving, and at which step?</a:t>
            </a:r>
          </a:p>
        </p:txBody>
      </p:sp>
      <p:sp>
        <p:nvSpPr>
          <p:cNvPr id="19" name="TextBox 1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50 / 73</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COHORT AND FUNNEL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From twelve members to 53,089</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the answer, and which smaller questions lead to it?</a:t>
            </a:r>
          </a:p>
        </p:txBody>
      </p:sp>
      <p:sp>
        <p:nvSpPr>
          <p:cNvPr id="9" name="Rounded Rectangle 8"/>
          <p:cNvSpPr/>
          <p:nvPr/>
        </p:nvSpPr>
        <p:spPr>
          <a:xfrm>
            <a:off x="530352" y="195681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6248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The membership lead, about to report "nothing changed" because the number is flat. If the flat number hides falling cohorts and a weak August cohort, the fix waits a month too long.</a:t>
            </a:r>
          </a:p>
        </p:txBody>
      </p:sp>
      <p:sp>
        <p:nvSpPr>
          <p:cNvPr id="12" name="TextBox 11"/>
          <p:cNvSpPr txBox="1"/>
          <p:nvPr/>
        </p:nvSpPr>
        <p:spPr>
          <a:xfrm>
            <a:off x="530352" y="2929128"/>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Applies: Cohort construction (SECTION 1); Retention curves: shape and floor (SECTION 2); Blended numbers against cohort truth (SECTION 3).</a:t>
            </a:r>
          </a:p>
        </p:txBody>
      </p:sp>
      <p:sp>
        <p:nvSpPr>
          <p:cNvPr id="13" name="Rectangle 12"/>
          <p:cNvSpPr/>
          <p:nvPr/>
        </p:nvSpPr>
        <p:spPr>
          <a:xfrm>
            <a:off x="1853145" y="4396232"/>
            <a:ext cx="8485403"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30352" y="3829304"/>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1</a:t>
            </a:r>
          </a:p>
        </p:txBody>
      </p:sp>
      <p:sp>
        <p:nvSpPr>
          <p:cNvPr id="15" name="Oval 14"/>
          <p:cNvSpPr/>
          <p:nvPr/>
        </p:nvSpPr>
        <p:spPr>
          <a:xfrm>
            <a:off x="1752561" y="4304792"/>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530352" y="4716272"/>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94944" y="4862576"/>
            <a:ext cx="2316403" cy="465836"/>
          </a:xfrm>
          <a:prstGeom prst="rect">
            <a:avLst/>
          </a:prstGeom>
          <a:noFill/>
        </p:spPr>
        <p:txBody>
          <a:bodyPr wrap="square" anchor="t" lIns="0" rIns="0" tIns="0" bIns="0">
            <a:spAutoFit/>
          </a:bodyPr>
          <a:lstStyle/>
          <a:p>
            <a:pPr algn="l"/>
            <a:r>
              <a:rPr sz="1300" b="1" i="0">
                <a:solidFill>
                  <a:srgbClr val="1A0F5C"/>
                </a:solidFill>
                <a:latin typeface="Calibri"/>
              </a:rPr>
              <a:t>What does each cohort keep, month by month?</a:t>
            </a:r>
          </a:p>
        </p:txBody>
      </p:sp>
      <p:sp>
        <p:nvSpPr>
          <p:cNvPr id="18" name="TextBox 17"/>
          <p:cNvSpPr txBox="1"/>
          <p:nvPr/>
        </p:nvSpPr>
        <p:spPr>
          <a:xfrm>
            <a:off x="694944" y="5364988"/>
            <a:ext cx="2316403" cy="201676"/>
          </a:xfrm>
          <a:prstGeom prst="rect">
            <a:avLst/>
          </a:prstGeom>
          <a:noFill/>
        </p:spPr>
        <p:txBody>
          <a:bodyPr wrap="square" anchor="t" lIns="0" rIns="0" tIns="0" bIns="0">
            <a:spAutoFit/>
          </a:bodyPr>
          <a:lstStyle/>
          <a:p>
            <a:pPr algn="l"/>
            <a:r>
              <a:rPr sz="1000" b="0" i="0">
                <a:solidFill>
                  <a:srgbClr val="6B6690"/>
                </a:solidFill>
                <a:latin typeface="Calibri"/>
              </a:rPr>
              <a:t>One pivot_table on member_months</a:t>
            </a:r>
          </a:p>
        </p:txBody>
      </p:sp>
      <p:sp>
        <p:nvSpPr>
          <p:cNvPr id="19" name="TextBox 18"/>
          <p:cNvSpPr txBox="1"/>
          <p:nvPr/>
        </p:nvSpPr>
        <p:spPr>
          <a:xfrm>
            <a:off x="3358819" y="3829304"/>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2</a:t>
            </a:r>
          </a:p>
        </p:txBody>
      </p:sp>
      <p:sp>
        <p:nvSpPr>
          <p:cNvPr id="20" name="Oval 19"/>
          <p:cNvSpPr/>
          <p:nvPr/>
        </p:nvSpPr>
        <p:spPr>
          <a:xfrm>
            <a:off x="4581029" y="4304792"/>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3358819" y="4716272"/>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3523411" y="4862576"/>
            <a:ext cx="2316403" cy="465836"/>
          </a:xfrm>
          <a:prstGeom prst="rect">
            <a:avLst/>
          </a:prstGeom>
          <a:noFill/>
        </p:spPr>
        <p:txBody>
          <a:bodyPr wrap="square" anchor="t" lIns="0" rIns="0" tIns="0" bIns="0">
            <a:spAutoFit/>
          </a:bodyPr>
          <a:lstStyle/>
          <a:p>
            <a:pPr algn="l"/>
            <a:r>
              <a:rPr sz="1300" b="1" i="0">
                <a:solidFill>
                  <a:srgbClr val="1A0F5C"/>
                </a:solidFill>
                <a:latin typeface="Calibri"/>
              </a:rPr>
              <a:t>What does the dashboard print, and why does it hold?</a:t>
            </a:r>
          </a:p>
        </p:txBody>
      </p:sp>
      <p:sp>
        <p:nvSpPr>
          <p:cNvPr id="23" name="TextBox 22"/>
          <p:cNvSpPr txBox="1"/>
          <p:nvPr/>
        </p:nvSpPr>
        <p:spPr>
          <a:xfrm>
            <a:off x="3523411" y="5364988"/>
            <a:ext cx="2316403" cy="201676"/>
          </a:xfrm>
          <a:prstGeom prst="rect">
            <a:avLst/>
          </a:prstGeom>
          <a:noFill/>
        </p:spPr>
        <p:txBody>
          <a:bodyPr wrap="square" anchor="t" lIns="0" rIns="0" tIns="0" bIns="0">
            <a:spAutoFit/>
          </a:bodyPr>
          <a:lstStyle/>
          <a:p>
            <a:pPr algn="l"/>
            <a:r>
              <a:rPr sz="1000" b="0" i="0">
                <a:solidFill>
                  <a:srgbClr val="6B6690"/>
                </a:solidFill>
                <a:latin typeface="Calibri"/>
              </a:rPr>
              <a:t>June to September</a:t>
            </a:r>
          </a:p>
        </p:txBody>
      </p:sp>
      <p:sp>
        <p:nvSpPr>
          <p:cNvPr id="24" name="TextBox 23"/>
          <p:cNvSpPr txBox="1"/>
          <p:nvPr/>
        </p:nvSpPr>
        <p:spPr>
          <a:xfrm>
            <a:off x="6187287" y="3829304"/>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3</a:t>
            </a:r>
          </a:p>
        </p:txBody>
      </p:sp>
      <p:sp>
        <p:nvSpPr>
          <p:cNvPr id="25" name="Oval 24"/>
          <p:cNvSpPr/>
          <p:nvPr/>
        </p:nvSpPr>
        <p:spPr>
          <a:xfrm>
            <a:off x="7409497" y="4304792"/>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6187287" y="4716272"/>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351879" y="4862576"/>
            <a:ext cx="2316403" cy="465836"/>
          </a:xfrm>
          <a:prstGeom prst="rect">
            <a:avLst/>
          </a:prstGeom>
          <a:noFill/>
        </p:spPr>
        <p:txBody>
          <a:bodyPr wrap="square" anchor="t" lIns="0" rIns="0" tIns="0" bIns="0">
            <a:spAutoFit/>
          </a:bodyPr>
          <a:lstStyle/>
          <a:p>
            <a:pPr algn="l"/>
            <a:r>
              <a:rPr sz="1300" b="1" i="0">
                <a:solidFill>
                  <a:srgbClr val="1A0F5C"/>
                </a:solidFill>
                <a:latin typeface="Calibri"/>
              </a:rPr>
              <a:t>What is September's 38 made of?</a:t>
            </a:r>
          </a:p>
        </p:txBody>
      </p:sp>
      <p:sp>
        <p:nvSpPr>
          <p:cNvPr id="28" name="TextBox 27"/>
          <p:cNvSpPr txBox="1"/>
          <p:nvPr/>
        </p:nvSpPr>
        <p:spPr>
          <a:xfrm>
            <a:off x="6351879" y="5364988"/>
            <a:ext cx="2316403" cy="366776"/>
          </a:xfrm>
          <a:prstGeom prst="rect">
            <a:avLst/>
          </a:prstGeom>
          <a:noFill/>
        </p:spPr>
        <p:txBody>
          <a:bodyPr wrap="square" anchor="t" lIns="0" rIns="0" tIns="0" bIns="0">
            <a:spAutoFit/>
          </a:bodyPr>
          <a:lstStyle/>
          <a:p>
            <a:pPr algn="l"/>
            <a:r>
              <a:rPr sz="1000" b="0" i="0">
                <a:solidFill>
                  <a:srgbClr val="6B6690"/>
                </a:solidFill>
                <a:latin typeface="Calibri"/>
              </a:rPr>
              <a:t>The weighted average, cohort by cohort</a:t>
            </a:r>
          </a:p>
        </p:txBody>
      </p:sp>
      <p:sp>
        <p:nvSpPr>
          <p:cNvPr id="29" name="TextBox 28"/>
          <p:cNvSpPr txBox="1"/>
          <p:nvPr/>
        </p:nvSpPr>
        <p:spPr>
          <a:xfrm>
            <a:off x="9015755" y="3829304"/>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4</a:t>
            </a:r>
          </a:p>
        </p:txBody>
      </p:sp>
      <p:sp>
        <p:nvSpPr>
          <p:cNvPr id="30" name="Oval 29"/>
          <p:cNvSpPr/>
          <p:nvPr/>
        </p:nvSpPr>
        <p:spPr>
          <a:xfrm>
            <a:off x="10237965" y="4304792"/>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ounded Rectangle 30"/>
          <p:cNvSpPr/>
          <p:nvPr/>
        </p:nvSpPr>
        <p:spPr>
          <a:xfrm>
            <a:off x="9015755" y="4716272"/>
            <a:ext cx="2645587" cy="107696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9180347" y="4862576"/>
            <a:ext cx="2316403" cy="251205"/>
          </a:xfrm>
          <a:prstGeom prst="rect">
            <a:avLst/>
          </a:prstGeom>
          <a:noFill/>
        </p:spPr>
        <p:txBody>
          <a:bodyPr wrap="square" anchor="t" lIns="0" rIns="0" tIns="0" bIns="0">
            <a:spAutoFit/>
          </a:bodyPr>
          <a:lstStyle/>
          <a:p>
            <a:pPr algn="l"/>
            <a:r>
              <a:rPr sz="1300" b="1" i="0">
                <a:solidFill>
                  <a:srgbClr val="FFFFFF"/>
                </a:solidFill>
                <a:latin typeface="Calibri"/>
              </a:rPr>
              <a:t>What is outside the count?</a:t>
            </a:r>
          </a:p>
        </p:txBody>
      </p:sp>
      <p:sp>
        <p:nvSpPr>
          <p:cNvPr id="33" name="TextBox 32"/>
          <p:cNvSpPr txBox="1"/>
          <p:nvPr/>
        </p:nvSpPr>
        <p:spPr>
          <a:xfrm>
            <a:off x="9180347" y="5150358"/>
            <a:ext cx="2316403" cy="201676"/>
          </a:xfrm>
          <a:prstGeom prst="rect">
            <a:avLst/>
          </a:prstGeom>
          <a:noFill/>
        </p:spPr>
        <p:txBody>
          <a:bodyPr wrap="square" anchor="t" lIns="0" rIns="0" tIns="0" bIns="0">
            <a:spAutoFit/>
          </a:bodyPr>
          <a:lstStyle/>
          <a:p>
            <a:pPr algn="l"/>
            <a:r>
              <a:rPr sz="1000" b="0" i="0">
                <a:solidFill>
                  <a:srgbClr val="CFC9EE"/>
                </a:solidFill>
                <a:latin typeface="Calibri"/>
              </a:rPr>
              <a:t>The August cohort</a:t>
            </a:r>
          </a:p>
        </p:txBody>
      </p:sp>
      <p:sp>
        <p:nvSpPr>
          <p:cNvPr id="34" name="Oval 33"/>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40080" y="6437376"/>
            <a:ext cx="1010412" cy="152146"/>
          </a:xfrm>
          <a:prstGeom prst="rect">
            <a:avLst/>
          </a:prstGeom>
          <a:noFill/>
        </p:spPr>
        <p:txBody>
          <a:bodyPr wrap="square" anchor="t" lIns="0" rIns="0" tIns="0" bIns="0">
            <a:spAutoFit/>
          </a:bodyPr>
          <a:lstStyle/>
          <a:p>
            <a:pPr algn="l"/>
            <a:r>
              <a:rPr sz="700" b="0" i="0">
                <a:solidFill>
                  <a:srgbClr val="6B6690"/>
                </a:solidFill>
                <a:latin typeface="Calibri"/>
              </a:rPr>
              <a:t>Who joined when?</a:t>
            </a:r>
          </a:p>
        </p:txBody>
      </p:sp>
      <p:sp>
        <p:nvSpPr>
          <p:cNvPr id="36" name="Oval 35"/>
          <p:cNvSpPr/>
          <p:nvPr/>
        </p:nvSpPr>
        <p:spPr>
          <a:xfrm>
            <a:off x="174193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185166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Where is the floor?</a:t>
            </a:r>
          </a:p>
        </p:txBody>
      </p:sp>
      <p:sp>
        <p:nvSpPr>
          <p:cNvPr id="38" name="Oval 37"/>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320125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a blend made of?</a:t>
            </a:r>
          </a:p>
        </p:txBody>
      </p:sp>
      <p:sp>
        <p:nvSpPr>
          <p:cNvPr id="40" name="Oval 39"/>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478088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step owns a loss?</a:t>
            </a:r>
          </a:p>
        </p:txBody>
      </p:sp>
      <p:sp>
        <p:nvSpPr>
          <p:cNvPr id="42" name="Oval 41"/>
          <p:cNvSpPr/>
          <p:nvPr/>
        </p:nvSpPr>
        <p:spPr>
          <a:xfrm>
            <a:off x="62047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6314503"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Who entered when?</a:t>
            </a:r>
          </a:p>
        </p:txBody>
      </p:sp>
      <p:sp>
        <p:nvSpPr>
          <p:cNvPr id="44" name="Oval 43"/>
          <p:cNvSpPr/>
          <p:nvPr/>
        </p:nvSpPr>
        <p:spPr>
          <a:xfrm>
            <a:off x="7462361"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7572089"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is the 38 made of?</a:t>
            </a:r>
          </a:p>
        </p:txBody>
      </p:sp>
      <p:sp>
        <p:nvSpPr>
          <p:cNvPr id="46" name="Oval 45"/>
          <p:cNvSpPr/>
          <p:nvPr/>
        </p:nvSpPr>
        <p:spPr>
          <a:xfrm>
            <a:off x="899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910570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stage owns the loss?</a:t>
            </a:r>
          </a:p>
        </p:txBody>
      </p:sp>
      <p:sp>
        <p:nvSpPr>
          <p:cNvPr id="48" name="TextBox 4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S45  ·  51 / 73</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COHORT AND FUNNEL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Predict: which way does each cohort's row run?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Once age is computed, one pivot_table builds the table, as SECTION 1 built the gym's. After month one, which way does each row run?</a:t>
            </a:r>
          </a:p>
        </p:txBody>
      </p:sp>
      <p:sp>
        <p:nvSpPr>
          <p:cNvPr id="9" name="Rounded Rectangle 8"/>
          <p:cNvSpPr/>
          <p:nvPr/>
        </p:nvSpPr>
        <p:spPr>
          <a:xfrm>
            <a:off x="530352" y="1793240"/>
            <a:ext cx="11130991" cy="2477008"/>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1921256"/>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1921256"/>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1921256"/>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122424"/>
            <a:ext cx="10673791" cy="2074671"/>
          </a:xfrm>
          <a:prstGeom prst="rect">
            <a:avLst/>
          </a:prstGeom>
          <a:noFill/>
        </p:spPr>
        <p:txBody>
          <a:bodyPr wrap="square" anchor="t" lIns="0" rIns="0" tIns="0" bIns="0">
            <a:spAutoFit/>
          </a:bodyPr>
          <a:lstStyle/>
          <a:p>
            <a:pPr>
              <a:spcAft>
                <a:spcPts val="200"/>
              </a:spcAft>
            </a:pPr>
            <a:r>
              <a:rPr sz="1400" b="0" i="0">
                <a:solidFill>
                  <a:srgbClr val="A9A3D2"/>
                </a:solidFill>
                <a:latin typeface="Consolas"/>
              </a:rPr>
              <a:t># mm: member_months joined to members for cohort_month; active = orders &gt; 0</a:t>
            </a:r>
          </a:p>
          <a:p>
            <a:pPr>
              <a:spcAft>
                <a:spcPts val="200"/>
              </a:spcAft>
            </a:pPr>
            <a:r>
              <a:rPr sz="1400" b="0" i="0">
                <a:solidFill>
                  <a:srgbClr val="A9A3D2"/>
                </a:solidFill>
                <a:latin typeface="Consolas"/>
              </a:rPr>
              <a:t># year x 12 + month is a running count, so 2026-09 minus 2026-07 is 2</a:t>
            </a:r>
          </a:p>
          <a:p>
            <a:pPr>
              <a:spcAft>
                <a:spcPts val="200"/>
              </a:spcAft>
            </a:pPr>
            <a:r>
              <a:rPr sz="1400" b="0" i="0">
                <a:solidFill>
                  <a:srgbClr val="E4E1F1"/>
                </a:solidFill>
                <a:latin typeface="Consolas"/>
              </a:rPr>
              <a:t>month_n = mm["month"].str[:4].astype(int) * 12 + mm["month"].str[5:].astype(int)</a:t>
            </a:r>
          </a:p>
          <a:p>
            <a:pPr>
              <a:spcAft>
                <a:spcPts val="200"/>
              </a:spcAft>
            </a:pPr>
            <a:r>
              <a:rPr sz="1400" b="0" i="0">
                <a:solidFill>
                  <a:srgbClr val="E4E1F1"/>
                </a:solidFill>
                <a:latin typeface="Consolas"/>
              </a:rPr>
              <a:t>cohort_n = mm["cohort_month"].str[:4].astype(int) * 12 + mm["cohort_month"].str[5:].astype(int)</a:t>
            </a:r>
          </a:p>
          <a:p>
            <a:pPr>
              <a:spcAft>
                <a:spcPts val="200"/>
              </a:spcAft>
            </a:pPr>
            <a:r>
              <a:rPr sz="1400" b="0" i="0">
                <a:solidFill>
                  <a:srgbClr val="E4E1F1"/>
                </a:solidFill>
                <a:latin typeface="Consolas"/>
              </a:rPr>
              <a:t>mm["age"] = month_n - cohort_n          # month zero is the joining month</a:t>
            </a:r>
          </a:p>
          <a:p>
            <a:pPr>
              <a:spcAft>
                <a:spcPts val="200"/>
              </a:spcAft>
            </a:pPr>
            <a:r>
              <a:rPr sz="1400" b="0" i="0">
                <a:solidFill>
                  <a:srgbClr val="A9A3D2"/>
                </a:solidFill>
                <a:latin typeface="Consolas"/>
              </a:rPr>
              <a:t># active is True or False, so a cell's mean is a share</a:t>
            </a:r>
          </a:p>
          <a:p>
            <a:pPr>
              <a:spcAft>
                <a:spcPts val="200"/>
              </a:spcAft>
            </a:pPr>
            <a:r>
              <a:rPr sz="1400" b="0" i="0">
                <a:solidFill>
                  <a:srgbClr val="E4E1F1"/>
                </a:solidFill>
                <a:latin typeface="Consolas"/>
              </a:rPr>
              <a:t>tri = mm[mm["age"] &gt;= 1].pivot_table(index="cohort_month", columns="age",</a:t>
            </a:r>
          </a:p>
          <a:p>
            <a:pPr>
              <a:spcAft>
                <a:spcPts val="200"/>
              </a:spcAft>
            </a:pPr>
            <a:r>
              <a:rPr sz="1400" b="0" i="0">
                <a:solidFill>
                  <a:srgbClr val="E4E1F1"/>
                </a:solidFill>
                <a:latin typeface="Consolas"/>
              </a:rPr>
              <a:t>                                     values="active", aggfunc="mean")</a:t>
            </a:r>
          </a:p>
        </p:txBody>
      </p:sp>
      <p:sp>
        <p:nvSpPr>
          <p:cNvPr id="14" name="TextBox 13"/>
          <p:cNvSpPr txBox="1"/>
          <p:nvPr/>
        </p:nvSpPr>
        <p:spPr>
          <a:xfrm>
            <a:off x="530352" y="4434839"/>
            <a:ext cx="11130991" cy="1654048"/>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Up, as members settle into a habit</a:t>
            </a:r>
          </a:p>
          <a:p>
            <a:pPr>
              <a:spcAft>
                <a:spcPts val="800"/>
              </a:spcAft>
            </a:pPr>
            <a:r>
              <a:rPr sz="1600" b="0" i="0">
                <a:solidFill>
                  <a:srgbClr val="1A1440"/>
                </a:solidFill>
                <a:latin typeface="Calibri"/>
              </a:rPr>
              <a:t>b) Flat, which is why the dashboard is flat</a:t>
            </a:r>
          </a:p>
          <a:p>
            <a:pPr>
              <a:spcAft>
                <a:spcPts val="800"/>
              </a:spcAft>
            </a:pPr>
            <a:r>
              <a:rPr sz="1600" b="0" i="0">
                <a:solidFill>
                  <a:srgbClr val="1A1440"/>
                </a:solidFill>
                <a:latin typeface="Calibri"/>
              </a:rPr>
              <a:t>c) Down: a big step after month one, then a slow slide</a:t>
            </a:r>
          </a:p>
          <a:p>
            <a:pPr>
              <a:spcAft>
                <a:spcPts val="800"/>
              </a:spcAft>
            </a:pPr>
            <a:r>
              <a:rPr sz="1600" b="0" i="0">
                <a:solidFill>
                  <a:srgbClr val="1A1440"/>
                </a:solidFill>
                <a:latin typeface="Calibri"/>
              </a:rPr>
              <a:t>d) Up, then down</a:t>
            </a:r>
          </a:p>
        </p:txBody>
      </p:sp>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010412" cy="152146"/>
          </a:xfrm>
          <a:prstGeom prst="rect">
            <a:avLst/>
          </a:prstGeom>
          <a:noFill/>
        </p:spPr>
        <p:txBody>
          <a:bodyPr wrap="square" anchor="t" lIns="0" rIns="0" tIns="0" bIns="0">
            <a:spAutoFit/>
          </a:bodyPr>
          <a:lstStyle/>
          <a:p>
            <a:pPr algn="l"/>
            <a:r>
              <a:rPr sz="700" b="0" i="0">
                <a:solidFill>
                  <a:srgbClr val="6B6690"/>
                </a:solidFill>
                <a:latin typeface="Calibri"/>
              </a:rPr>
              <a:t>Who joined when?</a:t>
            </a:r>
          </a:p>
        </p:txBody>
      </p:sp>
      <p:sp>
        <p:nvSpPr>
          <p:cNvPr id="17" name="Oval 16"/>
          <p:cNvSpPr/>
          <p:nvPr/>
        </p:nvSpPr>
        <p:spPr>
          <a:xfrm>
            <a:off x="174193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85166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Where is the floor?</a:t>
            </a:r>
          </a:p>
        </p:txBody>
      </p:sp>
      <p:sp>
        <p:nvSpPr>
          <p:cNvPr id="19" name="Oval 18"/>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20125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a blend made of?</a:t>
            </a:r>
          </a:p>
        </p:txBody>
      </p:sp>
      <p:sp>
        <p:nvSpPr>
          <p:cNvPr id="21" name="Oval 20"/>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78088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step owns a loss?</a:t>
            </a:r>
          </a:p>
        </p:txBody>
      </p:sp>
      <p:sp>
        <p:nvSpPr>
          <p:cNvPr id="23" name="Oval 22"/>
          <p:cNvSpPr/>
          <p:nvPr/>
        </p:nvSpPr>
        <p:spPr>
          <a:xfrm>
            <a:off x="62047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314503"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Who entered when?</a:t>
            </a:r>
          </a:p>
        </p:txBody>
      </p:sp>
      <p:sp>
        <p:nvSpPr>
          <p:cNvPr id="25" name="Oval 24"/>
          <p:cNvSpPr/>
          <p:nvPr/>
        </p:nvSpPr>
        <p:spPr>
          <a:xfrm>
            <a:off x="7462361"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572089"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is the 38 made of?</a:t>
            </a:r>
          </a:p>
        </p:txBody>
      </p:sp>
      <p:sp>
        <p:nvSpPr>
          <p:cNvPr id="27" name="Oval 26"/>
          <p:cNvSpPr/>
          <p:nvPr/>
        </p:nvSpPr>
        <p:spPr>
          <a:xfrm>
            <a:off x="899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910570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stage owns the loss?</a:t>
            </a:r>
          </a:p>
        </p:txBody>
      </p:sp>
      <p:sp>
        <p:nvSpPr>
          <p:cNvPr id="29" name="TextBox 2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S46  ·  52 / 73</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COHORT AND FUNNEL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every row falls, and each starts lower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the full table show, cohort by cohort?</a:t>
            </a:r>
          </a:p>
        </p:txBody>
      </p:sp>
      <p:pic>
        <p:nvPicPr>
          <p:cNvPr id="9" name="mermaid diagram" descr="C2_W04_D04_cohort_triangle_STUDENT.png"/>
          <p:cNvPicPr>
            <a:picLocks noChangeAspect="1"/>
          </p:cNvPicPr>
          <p:nvPr/>
        </p:nvPicPr>
        <p:blipFill>
          <a:blip r:embed="rId4"/>
          <a:stretch>
            <a:fillRect/>
          </a:stretch>
        </p:blipFill>
        <p:spPr>
          <a:xfrm>
            <a:off x="3043912" y="1664208"/>
            <a:ext cx="6103869" cy="2835656"/>
          </a:xfrm>
          <a:prstGeom prst="rect">
            <a:avLst/>
          </a:prstGeom>
        </p:spPr>
      </p:pic>
      <p:sp>
        <p:nvSpPr>
          <p:cNvPr id="10" name="picture caption"/>
          <p:cNvSpPr txBox="1"/>
          <p:nvPr/>
        </p:nvSpPr>
        <p:spPr>
          <a:xfrm>
            <a:off x="530352" y="4536440"/>
            <a:ext cx="11130991" cy="316992"/>
          </a:xfrm>
          <a:prstGeom prst="rect">
            <a:avLst/>
          </a:prstGeom>
          <a:noFill/>
        </p:spPr>
        <p:txBody>
          <a:bodyPr wrap="square" anchor="t" lIns="0" rIns="0" tIns="0" bIns="0">
            <a:spAutoFit/>
          </a:bodyPr>
          <a:lstStyle/>
          <a:p>
            <a:pPr algn="ctr"/>
            <a:r>
              <a:rPr sz="1200" b="0" i="0">
                <a:solidFill>
                  <a:srgbClr val="6B6690"/>
                </a:solidFill>
                <a:latin typeface="Calibri"/>
              </a:rPr>
              <a:t>Every cohort falls with age, and each new cohort starts lower</a:t>
            </a:r>
          </a:p>
        </p:txBody>
      </p:sp>
      <p:sp>
        <p:nvSpPr>
          <p:cNvPr id="11" name="TextBox 10"/>
          <p:cNvSpPr txBox="1"/>
          <p:nvPr/>
        </p:nvSpPr>
        <p:spPr>
          <a:xfrm>
            <a:off x="530352" y="4862576"/>
            <a:ext cx="11130991" cy="1337056"/>
          </a:xfrm>
          <a:prstGeom prst="rect">
            <a:avLst/>
          </a:prstGeom>
          <a:noFill/>
        </p:spPr>
        <p:txBody>
          <a:bodyPr wrap="square" anchor="t" lIns="0" rIns="0" tIns="0" bIns="0">
            <a:spAutoFit/>
          </a:bodyPr>
          <a:lstStyle/>
          <a:p>
            <a:r>
              <a:rPr sz="1400" b="0" i="0">
                <a:solidFill>
                  <a:srgbClr val="1A1440"/>
                </a:solidFill>
                <a:latin typeface="Calibri"/>
              </a:rPr>
              <a:t>The answer is c. Each cohort drops from its month one to about 38.5 percent in month two, then slides about 0.3 points a month. Read as in SECTION 2, that is a cliff after month one; ages two and three agree within a point, so by our rule each row old enough to show it reaches its floor at month two, and the floor then erodes slowly. What changes from cohort to cohort is month one: 58 percent for January down to 49 for July, and 31 for the 13,000-member August cohort. The dashboard starts at month two, so it never sees the weaker start.</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010412" cy="152146"/>
          </a:xfrm>
          <a:prstGeom prst="rect">
            <a:avLst/>
          </a:prstGeom>
          <a:noFill/>
        </p:spPr>
        <p:txBody>
          <a:bodyPr wrap="square" anchor="t" lIns="0" rIns="0" tIns="0" bIns="0">
            <a:spAutoFit/>
          </a:bodyPr>
          <a:lstStyle/>
          <a:p>
            <a:pPr algn="l"/>
            <a:r>
              <a:rPr sz="700" b="0" i="0">
                <a:solidFill>
                  <a:srgbClr val="6B6690"/>
                </a:solidFill>
                <a:latin typeface="Calibri"/>
              </a:rPr>
              <a:t>Who joined when?</a:t>
            </a:r>
          </a:p>
        </p:txBody>
      </p:sp>
      <p:sp>
        <p:nvSpPr>
          <p:cNvPr id="14" name="Oval 13"/>
          <p:cNvSpPr/>
          <p:nvPr/>
        </p:nvSpPr>
        <p:spPr>
          <a:xfrm>
            <a:off x="174193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85166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Where is the floor?</a:t>
            </a:r>
          </a:p>
        </p:txBody>
      </p:sp>
      <p:sp>
        <p:nvSpPr>
          <p:cNvPr id="16" name="Oval 15"/>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20125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a blend made of?</a:t>
            </a:r>
          </a:p>
        </p:txBody>
      </p:sp>
      <p:sp>
        <p:nvSpPr>
          <p:cNvPr id="18" name="Oval 17"/>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78088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step owns a loss?</a:t>
            </a:r>
          </a:p>
        </p:txBody>
      </p:sp>
      <p:sp>
        <p:nvSpPr>
          <p:cNvPr id="20" name="Oval 19"/>
          <p:cNvSpPr/>
          <p:nvPr/>
        </p:nvSpPr>
        <p:spPr>
          <a:xfrm>
            <a:off x="62047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314503"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Who entered when?</a:t>
            </a:r>
          </a:p>
        </p:txBody>
      </p:sp>
      <p:sp>
        <p:nvSpPr>
          <p:cNvPr id="22" name="Oval 21"/>
          <p:cNvSpPr/>
          <p:nvPr/>
        </p:nvSpPr>
        <p:spPr>
          <a:xfrm>
            <a:off x="7462361"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572089"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is the 38 made of?</a:t>
            </a:r>
          </a:p>
        </p:txBody>
      </p:sp>
      <p:sp>
        <p:nvSpPr>
          <p:cNvPr id="24" name="Oval 23"/>
          <p:cNvSpPr/>
          <p:nvPr/>
        </p:nvSpPr>
        <p:spPr>
          <a:xfrm>
            <a:off x="899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10570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stage owns the loss?</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S47  ·  53 / 73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COHORT AND FUNNEL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Predict: why does the dashboard hold near 38?</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Every cohort's row falls, yet month-two retention printed 38 percent from June to September. Which reason holds?</a:t>
            </a:r>
          </a:p>
        </p:txBody>
      </p:sp>
      <p:sp>
        <p:nvSpPr>
          <p:cNvPr id="9" name="TextBox 8"/>
          <p:cNvSpPr txBox="1"/>
          <p:nvPr/>
        </p:nvSpPr>
        <p:spPr>
          <a:xfrm>
            <a:off x="530352" y="1956816"/>
            <a:ext cx="11130991" cy="1654048"/>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Members who stopped ordering came back the next month, so the share held</a:t>
            </a:r>
          </a:p>
          <a:p>
            <a:pPr>
              <a:spcAft>
                <a:spcPts val="800"/>
              </a:spcAft>
            </a:pPr>
            <a:r>
              <a:rPr sz="1600" b="0" i="0">
                <a:solidFill>
                  <a:srgbClr val="1A1440"/>
                </a:solidFill>
                <a:latin typeface="Calibri"/>
              </a:rPr>
              <a:t>b) After month two, rows slide 0.3 a month and each new cohort enters near 38.5</a:t>
            </a:r>
          </a:p>
          <a:p>
            <a:pPr>
              <a:spcAft>
                <a:spcPts val="800"/>
              </a:spcAft>
            </a:pPr>
            <a:r>
              <a:rPr sz="1600" b="0" i="0">
                <a:solidFill>
                  <a:srgbClr val="1A1440"/>
                </a:solidFill>
                <a:latin typeface="Calibri"/>
              </a:rPr>
              <a:t>c) The dashboard averages the seven cohorts' rates without weighting by size</a:t>
            </a:r>
          </a:p>
          <a:p>
            <a:pPr>
              <a:spcAft>
                <a:spcPts val="800"/>
              </a:spcAft>
            </a:pPr>
            <a:r>
              <a:rPr sz="1600" b="0" i="0">
                <a:solidFill>
                  <a:srgbClr val="1A1440"/>
                </a:solidFill>
                <a:latin typeface="Calibri"/>
              </a:rPr>
              <a:t>d) The 13,000-member August cohort, counted from September, holds the share up</a:t>
            </a:r>
          </a:p>
        </p:txBody>
      </p:sp>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010412" cy="152146"/>
          </a:xfrm>
          <a:prstGeom prst="rect">
            <a:avLst/>
          </a:prstGeom>
          <a:noFill/>
        </p:spPr>
        <p:txBody>
          <a:bodyPr wrap="square" anchor="t" lIns="0" rIns="0" tIns="0" bIns="0">
            <a:spAutoFit/>
          </a:bodyPr>
          <a:lstStyle/>
          <a:p>
            <a:pPr algn="l"/>
            <a:r>
              <a:rPr sz="700" b="0" i="0">
                <a:solidFill>
                  <a:srgbClr val="6B6690"/>
                </a:solidFill>
                <a:latin typeface="Calibri"/>
              </a:rPr>
              <a:t>Who joined when?</a:t>
            </a:r>
          </a:p>
        </p:txBody>
      </p:sp>
      <p:sp>
        <p:nvSpPr>
          <p:cNvPr id="12" name="Oval 11"/>
          <p:cNvSpPr/>
          <p:nvPr/>
        </p:nvSpPr>
        <p:spPr>
          <a:xfrm>
            <a:off x="174193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85166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Where is the floor?</a:t>
            </a:r>
          </a:p>
        </p:txBody>
      </p:sp>
      <p:sp>
        <p:nvSpPr>
          <p:cNvPr id="14" name="Oval 13"/>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20125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a blend made of?</a:t>
            </a:r>
          </a:p>
        </p:txBody>
      </p:sp>
      <p:sp>
        <p:nvSpPr>
          <p:cNvPr id="16" name="Oval 15"/>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78088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step owns a loss?</a:t>
            </a:r>
          </a:p>
        </p:txBody>
      </p:sp>
      <p:sp>
        <p:nvSpPr>
          <p:cNvPr id="18" name="Oval 17"/>
          <p:cNvSpPr/>
          <p:nvPr/>
        </p:nvSpPr>
        <p:spPr>
          <a:xfrm>
            <a:off x="62047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314503"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Who entered when?</a:t>
            </a:r>
          </a:p>
        </p:txBody>
      </p:sp>
      <p:sp>
        <p:nvSpPr>
          <p:cNvPr id="20" name="Oval 19"/>
          <p:cNvSpPr/>
          <p:nvPr/>
        </p:nvSpPr>
        <p:spPr>
          <a:xfrm>
            <a:off x="7462361"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572089"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is the 38 made of?</a:t>
            </a:r>
          </a:p>
        </p:txBody>
      </p:sp>
      <p:sp>
        <p:nvSpPr>
          <p:cNvPr id="22" name="Oval 21"/>
          <p:cNvSpPr/>
          <p:nvPr/>
        </p:nvSpPr>
        <p:spPr>
          <a:xfrm>
            <a:off x="899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10570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stage owns the loss?</a:t>
            </a:r>
          </a:p>
        </p:txBody>
      </p:sp>
      <p:sp>
        <p:nvSpPr>
          <p:cNvPr id="24" name="TextBox 2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S48  ·  54 / 73</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COHORT AND FUNNEL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a slow slide, refilled each month</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the dashboard print, counted directly, and what holds it near 38?</a:t>
            </a:r>
          </a:p>
        </p:txBody>
      </p:sp>
      <p:sp>
        <p:nvSpPr>
          <p:cNvPr id="9" name="TextBox 8"/>
          <p:cNvSpPr txBox="1"/>
          <p:nvPr/>
        </p:nvSpPr>
        <p:spPr>
          <a:xfrm>
            <a:off x="530352" y="1956816"/>
            <a:ext cx="2577007" cy="698500"/>
          </a:xfrm>
          <a:prstGeom prst="rect">
            <a:avLst/>
          </a:prstGeom>
          <a:noFill/>
        </p:spPr>
        <p:txBody>
          <a:bodyPr wrap="square" anchor="t" lIns="0" rIns="0" tIns="0" bIns="0">
            <a:spAutoFit/>
          </a:bodyPr>
          <a:lstStyle/>
          <a:p>
            <a:pPr algn="l"/>
            <a:r>
              <a:rPr sz="4400" b="0" i="0">
                <a:solidFill>
                  <a:srgbClr val="5B3FD6"/>
                </a:solidFill>
                <a:latin typeface="Georgia"/>
              </a:rPr>
              <a:t>38.2</a:t>
            </a:r>
          </a:p>
        </p:txBody>
      </p:sp>
      <p:sp>
        <p:nvSpPr>
          <p:cNvPr id="10" name="TextBox 9"/>
          <p:cNvSpPr txBox="1"/>
          <p:nvPr/>
        </p:nvSpPr>
        <p:spPr>
          <a:xfrm>
            <a:off x="530352" y="2691892"/>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JUNE</a:t>
            </a:r>
          </a:p>
        </p:txBody>
      </p:sp>
      <p:sp>
        <p:nvSpPr>
          <p:cNvPr id="11" name="TextBox 10"/>
          <p:cNvSpPr txBox="1"/>
          <p:nvPr/>
        </p:nvSpPr>
        <p:spPr>
          <a:xfrm>
            <a:off x="530352" y="2893060"/>
            <a:ext cx="2577007" cy="193421"/>
          </a:xfrm>
          <a:prstGeom prst="rect">
            <a:avLst/>
          </a:prstGeom>
          <a:noFill/>
        </p:spPr>
        <p:txBody>
          <a:bodyPr wrap="square" anchor="t" lIns="0" rIns="0" tIns="0" bIns="0">
            <a:spAutoFit/>
          </a:bodyPr>
          <a:lstStyle/>
          <a:p>
            <a:pPr algn="l"/>
            <a:r>
              <a:rPr sz="950" b="0" i="0">
                <a:solidFill>
                  <a:srgbClr val="6B6690"/>
                </a:solidFill>
                <a:latin typeface="Calibri"/>
              </a:rPr>
              <a:t>7,722 of 20,217 members</a:t>
            </a:r>
          </a:p>
        </p:txBody>
      </p:sp>
      <p:sp>
        <p:nvSpPr>
          <p:cNvPr id="12" name="Rectangle 11"/>
          <p:cNvSpPr/>
          <p:nvPr/>
        </p:nvSpPr>
        <p:spPr>
          <a:xfrm>
            <a:off x="530352" y="3145536"/>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381679" y="1956816"/>
            <a:ext cx="2577007" cy="698500"/>
          </a:xfrm>
          <a:prstGeom prst="rect">
            <a:avLst/>
          </a:prstGeom>
          <a:noFill/>
        </p:spPr>
        <p:txBody>
          <a:bodyPr wrap="square" anchor="t" lIns="0" rIns="0" tIns="0" bIns="0">
            <a:spAutoFit/>
          </a:bodyPr>
          <a:lstStyle/>
          <a:p>
            <a:pPr algn="l"/>
            <a:r>
              <a:rPr sz="4400" b="0" i="0">
                <a:solidFill>
                  <a:srgbClr val="5B3FD6"/>
                </a:solidFill>
                <a:latin typeface="Georgia"/>
              </a:rPr>
              <a:t>38.0</a:t>
            </a:r>
          </a:p>
        </p:txBody>
      </p:sp>
      <p:sp>
        <p:nvSpPr>
          <p:cNvPr id="14" name="TextBox 13"/>
          <p:cNvSpPr txBox="1"/>
          <p:nvPr/>
        </p:nvSpPr>
        <p:spPr>
          <a:xfrm>
            <a:off x="3381679" y="2691892"/>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JULY</a:t>
            </a:r>
          </a:p>
        </p:txBody>
      </p:sp>
      <p:sp>
        <p:nvSpPr>
          <p:cNvPr id="15" name="TextBox 14"/>
          <p:cNvSpPr txBox="1"/>
          <p:nvPr/>
        </p:nvSpPr>
        <p:spPr>
          <a:xfrm>
            <a:off x="3381679" y="2893060"/>
            <a:ext cx="2577007" cy="193421"/>
          </a:xfrm>
          <a:prstGeom prst="rect">
            <a:avLst/>
          </a:prstGeom>
          <a:noFill/>
        </p:spPr>
        <p:txBody>
          <a:bodyPr wrap="square" anchor="t" lIns="0" rIns="0" tIns="0" bIns="0">
            <a:spAutoFit/>
          </a:bodyPr>
          <a:lstStyle/>
          <a:p>
            <a:pPr algn="l"/>
            <a:r>
              <a:rPr sz="950" b="0" i="0">
                <a:solidFill>
                  <a:srgbClr val="6B6690"/>
                </a:solidFill>
                <a:latin typeface="Calibri"/>
              </a:rPr>
              <a:t>9,558 of 25,122</a:t>
            </a:r>
          </a:p>
        </p:txBody>
      </p:sp>
      <p:sp>
        <p:nvSpPr>
          <p:cNvPr id="16" name="Rectangle 15"/>
          <p:cNvSpPr/>
          <p:nvPr/>
        </p:nvSpPr>
        <p:spPr>
          <a:xfrm>
            <a:off x="3381679" y="3145536"/>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233007" y="1956816"/>
            <a:ext cx="2577007" cy="698500"/>
          </a:xfrm>
          <a:prstGeom prst="rect">
            <a:avLst/>
          </a:prstGeom>
          <a:noFill/>
        </p:spPr>
        <p:txBody>
          <a:bodyPr wrap="square" anchor="t" lIns="0" rIns="0" tIns="0" bIns="0">
            <a:spAutoFit/>
          </a:bodyPr>
          <a:lstStyle/>
          <a:p>
            <a:pPr algn="l"/>
            <a:r>
              <a:rPr sz="4400" b="0" i="0">
                <a:solidFill>
                  <a:srgbClr val="5B3FD6"/>
                </a:solidFill>
                <a:latin typeface="Georgia"/>
              </a:rPr>
              <a:t>37.9</a:t>
            </a:r>
          </a:p>
        </p:txBody>
      </p:sp>
      <p:sp>
        <p:nvSpPr>
          <p:cNvPr id="18" name="TextBox 17"/>
          <p:cNvSpPr txBox="1"/>
          <p:nvPr/>
        </p:nvSpPr>
        <p:spPr>
          <a:xfrm>
            <a:off x="6233007" y="2691892"/>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AUGUST</a:t>
            </a:r>
          </a:p>
        </p:txBody>
      </p:sp>
      <p:sp>
        <p:nvSpPr>
          <p:cNvPr id="19" name="TextBox 18"/>
          <p:cNvSpPr txBox="1"/>
          <p:nvPr/>
        </p:nvSpPr>
        <p:spPr>
          <a:xfrm>
            <a:off x="6233007" y="2893060"/>
            <a:ext cx="2577007" cy="193421"/>
          </a:xfrm>
          <a:prstGeom prst="rect">
            <a:avLst/>
          </a:prstGeom>
          <a:noFill/>
        </p:spPr>
        <p:txBody>
          <a:bodyPr wrap="square" anchor="t" lIns="0" rIns="0" tIns="0" bIns="0">
            <a:spAutoFit/>
          </a:bodyPr>
          <a:lstStyle/>
          <a:p>
            <a:pPr algn="l"/>
            <a:r>
              <a:rPr sz="950" b="0" i="0">
                <a:solidFill>
                  <a:srgbClr val="6B6690"/>
                </a:solidFill>
                <a:latin typeface="Calibri"/>
              </a:rPr>
              <a:t>11,359 of 29,943</a:t>
            </a:r>
          </a:p>
        </p:txBody>
      </p:sp>
      <p:sp>
        <p:nvSpPr>
          <p:cNvPr id="20" name="Rectangle 19"/>
          <p:cNvSpPr/>
          <p:nvPr/>
        </p:nvSpPr>
        <p:spPr>
          <a:xfrm>
            <a:off x="6233007" y="3145536"/>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9084335" y="1956816"/>
            <a:ext cx="2577007" cy="698500"/>
          </a:xfrm>
          <a:prstGeom prst="rect">
            <a:avLst/>
          </a:prstGeom>
          <a:noFill/>
        </p:spPr>
        <p:txBody>
          <a:bodyPr wrap="square" anchor="t" lIns="0" rIns="0" tIns="0" bIns="0">
            <a:spAutoFit/>
          </a:bodyPr>
          <a:lstStyle/>
          <a:p>
            <a:pPr algn="l"/>
            <a:r>
              <a:rPr sz="4400" b="0" i="0">
                <a:solidFill>
                  <a:srgbClr val="5B3FD6"/>
                </a:solidFill>
                <a:latin typeface="Georgia"/>
              </a:rPr>
              <a:t>37.8</a:t>
            </a:r>
          </a:p>
        </p:txBody>
      </p:sp>
      <p:sp>
        <p:nvSpPr>
          <p:cNvPr id="22" name="TextBox 21"/>
          <p:cNvSpPr txBox="1"/>
          <p:nvPr/>
        </p:nvSpPr>
        <p:spPr>
          <a:xfrm>
            <a:off x="9084335" y="2691892"/>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SEPTEMBER</a:t>
            </a:r>
          </a:p>
        </p:txBody>
      </p:sp>
      <p:sp>
        <p:nvSpPr>
          <p:cNvPr id="23" name="TextBox 22"/>
          <p:cNvSpPr txBox="1"/>
          <p:nvPr/>
        </p:nvSpPr>
        <p:spPr>
          <a:xfrm>
            <a:off x="9084335" y="2893060"/>
            <a:ext cx="2577007" cy="193421"/>
          </a:xfrm>
          <a:prstGeom prst="rect">
            <a:avLst/>
          </a:prstGeom>
          <a:noFill/>
        </p:spPr>
        <p:txBody>
          <a:bodyPr wrap="square" anchor="t" lIns="0" rIns="0" tIns="0" bIns="0">
            <a:spAutoFit/>
          </a:bodyPr>
          <a:lstStyle/>
          <a:p>
            <a:pPr algn="l"/>
            <a:r>
              <a:rPr sz="950" b="0" i="0">
                <a:solidFill>
                  <a:srgbClr val="6B6690"/>
                </a:solidFill>
                <a:latin typeface="Calibri"/>
              </a:rPr>
              <a:t>13,218 of 35,000</a:t>
            </a:r>
          </a:p>
        </p:txBody>
      </p:sp>
      <p:sp>
        <p:nvSpPr>
          <p:cNvPr id="24" name="Rectangle 23"/>
          <p:cNvSpPr/>
          <p:nvPr/>
        </p:nvSpPr>
        <p:spPr>
          <a:xfrm>
            <a:off x="9084335" y="3145536"/>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530352" y="3419856"/>
            <a:ext cx="11130991" cy="1324864"/>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answer is b. After month two each row slides only about 0.3 points a month, and each month a new cohort enters the count near 38.5, which props September by about half a point: held to June's four cohorts, it reads 37.3. The weak starts sit in month one, which the dashboard never counts, since it counts every member aged two or more.</a:t>
            </a:r>
          </a:p>
        </p:txBody>
      </p:sp>
      <p:sp>
        <p:nvSpPr>
          <p:cNvPr id="26" name="Oval 25"/>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40080" y="6437376"/>
            <a:ext cx="1010412" cy="152146"/>
          </a:xfrm>
          <a:prstGeom prst="rect">
            <a:avLst/>
          </a:prstGeom>
          <a:noFill/>
        </p:spPr>
        <p:txBody>
          <a:bodyPr wrap="square" anchor="t" lIns="0" rIns="0" tIns="0" bIns="0">
            <a:spAutoFit/>
          </a:bodyPr>
          <a:lstStyle/>
          <a:p>
            <a:pPr algn="l"/>
            <a:r>
              <a:rPr sz="700" b="0" i="0">
                <a:solidFill>
                  <a:srgbClr val="6B6690"/>
                </a:solidFill>
                <a:latin typeface="Calibri"/>
              </a:rPr>
              <a:t>Who joined when?</a:t>
            </a:r>
          </a:p>
        </p:txBody>
      </p:sp>
      <p:sp>
        <p:nvSpPr>
          <p:cNvPr id="28" name="Oval 27"/>
          <p:cNvSpPr/>
          <p:nvPr/>
        </p:nvSpPr>
        <p:spPr>
          <a:xfrm>
            <a:off x="174193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185166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Where is the floor?</a:t>
            </a:r>
          </a:p>
        </p:txBody>
      </p:sp>
      <p:sp>
        <p:nvSpPr>
          <p:cNvPr id="30" name="Oval 29"/>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320125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a blend made of?</a:t>
            </a:r>
          </a:p>
        </p:txBody>
      </p:sp>
      <p:sp>
        <p:nvSpPr>
          <p:cNvPr id="32" name="Oval 31"/>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478088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step owns a loss?</a:t>
            </a:r>
          </a:p>
        </p:txBody>
      </p:sp>
      <p:sp>
        <p:nvSpPr>
          <p:cNvPr id="34" name="Oval 33"/>
          <p:cNvSpPr/>
          <p:nvPr/>
        </p:nvSpPr>
        <p:spPr>
          <a:xfrm>
            <a:off x="62047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314503"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Who entered when?</a:t>
            </a:r>
          </a:p>
        </p:txBody>
      </p:sp>
      <p:sp>
        <p:nvSpPr>
          <p:cNvPr id="36" name="Oval 35"/>
          <p:cNvSpPr/>
          <p:nvPr/>
        </p:nvSpPr>
        <p:spPr>
          <a:xfrm>
            <a:off x="7462361"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7572089"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is the 38 made of?</a:t>
            </a:r>
          </a:p>
        </p:txBody>
      </p:sp>
      <p:sp>
        <p:nvSpPr>
          <p:cNvPr id="38" name="Oval 37"/>
          <p:cNvSpPr/>
          <p:nvPr/>
        </p:nvSpPr>
        <p:spPr>
          <a:xfrm>
            <a:off x="899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910570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stage owns the loss?</a:t>
            </a:r>
          </a:p>
        </p:txBody>
      </p:sp>
      <p:sp>
        <p:nvSpPr>
          <p:cNvPr id="40" name="TextBox 3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S49  ·  55 / 73</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COHORT AND FUNNEL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wrong call: "38 and flat, nothing changed"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would a hurried analyst conclude from four flat months, and what would it cost?</a:t>
            </a:r>
          </a:p>
        </p:txBody>
      </p:sp>
      <p:sp>
        <p:nvSpPr>
          <p:cNvPr id="9" name="Rounded Rectangle 8"/>
          <p:cNvSpPr/>
          <p:nvPr/>
        </p:nvSpPr>
        <p:spPr>
          <a:xfrm>
            <a:off x="530352" y="1682496"/>
            <a:ext cx="5291175" cy="163982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58952" y="227380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bug_39ada6eff46d.png"/>
          <p:cNvPicPr>
            <a:picLocks noChangeAspect="1"/>
          </p:cNvPicPr>
          <p:nvPr/>
        </p:nvPicPr>
        <p:blipFill>
          <a:blip r:embed="rId4"/>
          <a:stretch>
            <a:fillRect/>
          </a:stretch>
        </p:blipFill>
        <p:spPr>
          <a:xfrm>
            <a:off x="868680" y="2383536"/>
            <a:ext cx="237744" cy="237744"/>
          </a:xfrm>
          <a:prstGeom prst="rect">
            <a:avLst/>
          </a:prstGeom>
        </p:spPr>
      </p:pic>
      <p:sp>
        <p:nvSpPr>
          <p:cNvPr id="12" name="TextBox 11"/>
          <p:cNvSpPr txBox="1"/>
          <p:nvPr/>
        </p:nvSpPr>
        <p:spPr>
          <a:xfrm>
            <a:off x="1399031" y="1828800"/>
            <a:ext cx="4148175" cy="160401"/>
          </a:xfrm>
          <a:prstGeom prst="rect">
            <a:avLst/>
          </a:prstGeom>
          <a:noFill/>
        </p:spPr>
        <p:txBody>
          <a:bodyPr wrap="square" anchor="t" lIns="0" rIns="0" tIns="0" bIns="0">
            <a:spAutoFit/>
          </a:bodyPr>
          <a:lstStyle/>
          <a:p>
            <a:pPr algn="l"/>
            <a:r>
              <a:rPr sz="750" b="1" i="0" spc="250">
                <a:solidFill>
                  <a:srgbClr val="5B3FD6"/>
                </a:solidFill>
                <a:latin typeface="Calibri"/>
              </a:rPr>
              <a:t>WHAT BREAKS</a:t>
            </a:r>
          </a:p>
        </p:txBody>
      </p:sp>
      <p:sp>
        <p:nvSpPr>
          <p:cNvPr id="13" name="TextBox 12"/>
          <p:cNvSpPr txBox="1"/>
          <p:nvPr/>
        </p:nvSpPr>
        <p:spPr>
          <a:xfrm>
            <a:off x="1399031" y="2048256"/>
            <a:ext cx="4148175" cy="1200912"/>
          </a:xfrm>
          <a:prstGeom prst="rect">
            <a:avLst/>
          </a:prstGeom>
          <a:noFill/>
        </p:spPr>
        <p:txBody>
          <a:bodyPr wrap="square" anchor="t" lIns="0" rIns="0" tIns="0" bIns="0">
            <a:spAutoFit/>
          </a:bodyPr>
          <a:lstStyle/>
          <a:p>
            <a:r>
              <a:rPr sz="1500" b="0" i="0">
                <a:solidFill>
                  <a:srgbClr val="1A1440"/>
                </a:solidFill>
                <a:latin typeface="Calibri"/>
              </a:rPr>
              <a:t>"Month-two retention is 38 percent and flat, so nothing changed": the August cohort gets no action, and October's drop arrives as a surprise.</a:t>
            </a:r>
          </a:p>
        </p:txBody>
      </p:sp>
      <p:pic>
        <p:nvPicPr>
          <p:cNvPr id="14" name="mermaid diagram" descr="C2_W04_D04_blend_decomposition_STUDENT.png"/>
          <p:cNvPicPr>
            <a:picLocks noChangeAspect="1"/>
          </p:cNvPicPr>
          <p:nvPr/>
        </p:nvPicPr>
        <p:blipFill>
          <a:blip r:embed="rId5"/>
          <a:stretch>
            <a:fillRect/>
          </a:stretch>
        </p:blipFill>
        <p:spPr>
          <a:xfrm>
            <a:off x="530352" y="3486912"/>
            <a:ext cx="5291175" cy="2346967"/>
          </a:xfrm>
          <a:prstGeom prst="rect">
            <a:avLst/>
          </a:prstGeom>
        </p:spPr>
      </p:pic>
      <p:sp>
        <p:nvSpPr>
          <p:cNvPr id="15" name="picture caption"/>
          <p:cNvSpPr txBox="1"/>
          <p:nvPr/>
        </p:nvSpPr>
        <p:spPr>
          <a:xfrm>
            <a:off x="530352" y="5870455"/>
            <a:ext cx="5291175" cy="316992"/>
          </a:xfrm>
          <a:prstGeom prst="rect">
            <a:avLst/>
          </a:prstGeom>
          <a:noFill/>
        </p:spPr>
        <p:txBody>
          <a:bodyPr wrap="square" anchor="t" lIns="0" rIns="0" tIns="0" bIns="0">
            <a:spAutoFit/>
          </a:bodyPr>
          <a:lstStyle/>
          <a:p>
            <a:pPr algn="ctr"/>
            <a:r>
              <a:rPr sz="1200" b="0" i="0">
                <a:solidFill>
                  <a:srgbClr val="6B6690"/>
                </a:solidFill>
                <a:latin typeface="Calibri"/>
              </a:rPr>
              <a:t>Each month's 38 percent: a new cohort enters, every older one falls</a:t>
            </a:r>
          </a:p>
        </p:txBody>
      </p:sp>
      <p:sp>
        <p:nvSpPr>
          <p:cNvPr id="16" name="Rounded Rectangle 15"/>
          <p:cNvSpPr/>
          <p:nvPr/>
        </p:nvSpPr>
        <p:spPr>
          <a:xfrm>
            <a:off x="6370167" y="1682496"/>
            <a:ext cx="5291175" cy="21412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6516471" y="1810512"/>
            <a:ext cx="45720" cy="1885187"/>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717639" y="1801368"/>
            <a:ext cx="4724247" cy="1958340"/>
          </a:xfrm>
          <a:prstGeom prst="rect">
            <a:avLst/>
          </a:prstGeom>
          <a:noFill/>
        </p:spPr>
        <p:txBody>
          <a:bodyPr wrap="square" anchor="ctr" lIns="0" rIns="0" tIns="0" bIns="0">
            <a:spAutoFit/>
          </a:bodyPr>
          <a:lstStyle/>
          <a:p>
            <a:r>
              <a:rPr sz="1500" b="1">
                <a:solidFill>
                  <a:srgbClr val="5B3FD6"/>
                </a:solidFill>
                <a:latin typeface="Calibri"/>
              </a:rPr>
              <a:t>Why it is wrong. </a:t>
            </a:r>
            <a:r>
              <a:rPr sz="1500" b="0" i="0">
                <a:solidFill>
                  <a:srgbClr val="1A1440"/>
                </a:solidFill>
                <a:latin typeface="Calibri"/>
              </a:rPr>
              <a:t>The 38 is a blend weighted by cohort size, as Blended numbers against cohort truth (SECTION 3) showed on the gym, and it counts a member only from her second month: each month a new cohort enters at the top while every older one shrinks, and the hatched August cohort is outside the count.</a:t>
            </a:r>
          </a:p>
        </p:txBody>
      </p:sp>
      <p:sp>
        <p:nvSpPr>
          <p:cNvPr id="19" name="Oval 18"/>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40080" y="6437376"/>
            <a:ext cx="1010412" cy="152146"/>
          </a:xfrm>
          <a:prstGeom prst="rect">
            <a:avLst/>
          </a:prstGeom>
          <a:noFill/>
        </p:spPr>
        <p:txBody>
          <a:bodyPr wrap="square" anchor="t" lIns="0" rIns="0" tIns="0" bIns="0">
            <a:spAutoFit/>
          </a:bodyPr>
          <a:lstStyle/>
          <a:p>
            <a:pPr algn="l"/>
            <a:r>
              <a:rPr sz="700" b="0" i="0">
                <a:solidFill>
                  <a:srgbClr val="6B6690"/>
                </a:solidFill>
                <a:latin typeface="Calibri"/>
              </a:rPr>
              <a:t>Who joined when?</a:t>
            </a:r>
          </a:p>
        </p:txBody>
      </p:sp>
      <p:sp>
        <p:nvSpPr>
          <p:cNvPr id="21" name="Oval 20"/>
          <p:cNvSpPr/>
          <p:nvPr/>
        </p:nvSpPr>
        <p:spPr>
          <a:xfrm>
            <a:off x="174193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185166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Where is the floor?</a:t>
            </a:r>
          </a:p>
        </p:txBody>
      </p:sp>
      <p:sp>
        <p:nvSpPr>
          <p:cNvPr id="23" name="Oval 22"/>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320125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a blend made of?</a:t>
            </a:r>
          </a:p>
        </p:txBody>
      </p:sp>
      <p:sp>
        <p:nvSpPr>
          <p:cNvPr id="25" name="Oval 24"/>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478088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step owns a loss?</a:t>
            </a:r>
          </a:p>
        </p:txBody>
      </p:sp>
      <p:sp>
        <p:nvSpPr>
          <p:cNvPr id="27" name="Oval 26"/>
          <p:cNvSpPr/>
          <p:nvPr/>
        </p:nvSpPr>
        <p:spPr>
          <a:xfrm>
            <a:off x="62047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314503"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Who entered when?</a:t>
            </a:r>
          </a:p>
        </p:txBody>
      </p:sp>
      <p:sp>
        <p:nvSpPr>
          <p:cNvPr id="29" name="Oval 28"/>
          <p:cNvSpPr/>
          <p:nvPr/>
        </p:nvSpPr>
        <p:spPr>
          <a:xfrm>
            <a:off x="7462361"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7572089"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is the 38 made of?</a:t>
            </a:r>
          </a:p>
        </p:txBody>
      </p:sp>
      <p:sp>
        <p:nvSpPr>
          <p:cNvPr id="31" name="Oval 30"/>
          <p:cNvSpPr/>
          <p:nvPr/>
        </p:nvSpPr>
        <p:spPr>
          <a:xfrm>
            <a:off x="899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910570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stage owns the loss?</a:t>
            </a:r>
          </a:p>
        </p:txBody>
      </p:sp>
      <p:sp>
        <p:nvSpPr>
          <p:cNvPr id="33" name="TextBox 3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S50  ·  56 / 73</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COHORT AND FUNNEL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Second route: 13,218 of 35,000, both ways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Does September's 38, rebuilt as a weighted average of its cohorts, equal the direct count?</a:t>
            </a:r>
          </a:p>
        </p:txBody>
      </p:sp>
      <p:graphicFrame>
        <p:nvGraphicFramePr>
          <p:cNvPr id="9" name="Table 8"/>
          <p:cNvGraphicFramePr>
            <a:graphicFrameLocks noGrp="1"/>
          </p:cNvGraphicFramePr>
          <p:nvPr/>
        </p:nvGraphicFramePr>
        <p:xfrm>
          <a:off x="530352" y="1809496"/>
          <a:ext cx="11130990" cy="2958592"/>
        </p:xfrm>
        <a:graphic>
          <a:graphicData uri="http://schemas.openxmlformats.org/drawingml/2006/table">
            <a:tbl>
              <a:tblPr firstRow="0" bandRow="0">
                <a:tableStyleId>{2D5ABB26-0587-4C30-8999-92F81FD0307C}</a:tableStyleId>
              </a:tblPr>
              <a:tblGrid>
                <a:gridCol w="2546440"/>
                <a:gridCol w="2507208"/>
                <a:gridCol w="6077342"/>
              </a:tblGrid>
              <a:tr h="369824">
                <a:tc>
                  <a:txBody>
                    <a:bodyPr/>
                    <a:lstStyle/>
                    <a:p>
                      <a:r>
                        <a:rPr sz="1450" b="1" i="0">
                          <a:solidFill>
                            <a:srgbClr val="FFFFFF"/>
                          </a:solidFill>
                          <a:latin typeface="Calibri"/>
                        </a:rPr>
                        <a:t>Cohort</a:t>
                      </a:r>
                    </a:p>
                  </a:txBody>
                  <a:tcPr marL="101600" marR="101600" marT="38100" marB="38100" anchor="ctr">
                    <a:solidFill>
                      <a:srgbClr val="1A0F5C"/>
                    </a:solidFill>
                  </a:tcPr>
                </a:tc>
                <a:tc>
                  <a:txBody>
                    <a:bodyPr/>
                    <a:lstStyle/>
                    <a:p>
                      <a:r>
                        <a:rPr sz="1450" b="1" i="0">
                          <a:solidFill>
                            <a:srgbClr val="FFFFFF"/>
                          </a:solidFill>
                          <a:latin typeface="Calibri"/>
                        </a:rPr>
                        <a:t>Members</a:t>
                      </a:r>
                    </a:p>
                  </a:txBody>
                  <a:tcPr marL="101600" marR="101600" marT="38100" marB="38100" anchor="ctr">
                    <a:solidFill>
                      <a:srgbClr val="1A0F5C"/>
                    </a:solidFill>
                  </a:tcPr>
                </a:tc>
                <a:tc>
                  <a:txBody>
                    <a:bodyPr/>
                    <a:lstStyle/>
                    <a:p>
                      <a:r>
                        <a:rPr sz="1450" b="1" i="0">
                          <a:solidFill>
                            <a:srgbClr val="FFFFFF"/>
                          </a:solidFill>
                          <a:latin typeface="Calibri"/>
                        </a:rPr>
                        <a:t>Ordered in September</a:t>
                      </a:r>
                    </a:p>
                  </a:txBody>
                  <a:tcPr marL="101600" marR="101600" marT="38100" marB="38100" anchor="ctr">
                    <a:solidFill>
                      <a:srgbClr val="1A0F5C"/>
                    </a:solidFill>
                  </a:tcPr>
                </a:tc>
              </a:tr>
              <a:tr h="369824">
                <a:tc>
                  <a:txBody>
                    <a:bodyPr/>
                    <a:lstStyle/>
                    <a:p>
                      <a:r>
                        <a:rPr sz="1400" b="0" i="0">
                          <a:solidFill>
                            <a:srgbClr val="1A1440"/>
                          </a:solidFill>
                          <a:latin typeface="Calibri"/>
                        </a:rPr>
                        <a:t>January</a:t>
                      </a:r>
                    </a:p>
                  </a:txBody>
                  <a:tcPr marL="101600" marR="101600" marT="38100" marB="38100" anchor="ctr">
                    <a:solidFill>
                      <a:srgbClr val="FFFFFF"/>
                    </a:solidFill>
                  </a:tcPr>
                </a:tc>
                <a:tc>
                  <a:txBody>
                    <a:bodyPr/>
                    <a:lstStyle/>
                    <a:p>
                      <a:r>
                        <a:rPr sz="1400" b="0" i="0">
                          <a:solidFill>
                            <a:srgbClr val="1A1440"/>
                          </a:solidFill>
                          <a:latin typeface="Calibri"/>
                        </a:rPr>
                        <a:t>4,854</a:t>
                      </a:r>
                    </a:p>
                  </a:txBody>
                  <a:tcPr marL="101600" marR="101600" marT="38100" marB="38100" anchor="ctr">
                    <a:solidFill>
                      <a:srgbClr val="FFFFFF"/>
                    </a:solidFill>
                  </a:tcPr>
                </a:tc>
                <a:tc>
                  <a:txBody>
                    <a:bodyPr/>
                    <a:lstStyle/>
                    <a:p>
                      <a:r>
                        <a:rPr sz="1400" b="0" i="0">
                          <a:solidFill>
                            <a:srgbClr val="1A1440"/>
                          </a:solidFill>
                          <a:latin typeface="Calibri"/>
                        </a:rPr>
                        <a:t>36.9 percent</a:t>
                      </a:r>
                    </a:p>
                  </a:txBody>
                  <a:tcPr marL="101600" marR="101600" marT="38100" marB="38100" anchor="ctr">
                    <a:solidFill>
                      <a:srgbClr val="FFFFFF"/>
                    </a:solidFill>
                  </a:tcPr>
                </a:tc>
              </a:tr>
              <a:tr h="369824">
                <a:tc>
                  <a:txBody>
                    <a:bodyPr/>
                    <a:lstStyle/>
                    <a:p>
                      <a:r>
                        <a:rPr sz="1400" b="0" i="0">
                          <a:solidFill>
                            <a:srgbClr val="1A1440"/>
                          </a:solidFill>
                          <a:latin typeface="Calibri"/>
                        </a:rPr>
                        <a:t>February</a:t>
                      </a:r>
                    </a:p>
                  </a:txBody>
                  <a:tcPr marL="101600" marR="101600" marT="38100" marB="38100" anchor="ctr">
                    <a:solidFill>
                      <a:srgbClr val="F4F2FA"/>
                    </a:solidFill>
                  </a:tcPr>
                </a:tc>
                <a:tc>
                  <a:txBody>
                    <a:bodyPr/>
                    <a:lstStyle/>
                    <a:p>
                      <a:r>
                        <a:rPr sz="1400" b="0" i="0">
                          <a:solidFill>
                            <a:srgbClr val="1A1440"/>
                          </a:solidFill>
                          <a:latin typeface="Calibri"/>
                        </a:rPr>
                        <a:t>5,055</a:t>
                      </a:r>
                    </a:p>
                  </a:txBody>
                  <a:tcPr marL="101600" marR="101600" marT="38100" marB="38100" anchor="ctr">
                    <a:solidFill>
                      <a:srgbClr val="F4F2FA"/>
                    </a:solidFill>
                  </a:tcPr>
                </a:tc>
                <a:tc>
                  <a:txBody>
                    <a:bodyPr/>
                    <a:lstStyle/>
                    <a:p>
                      <a:r>
                        <a:rPr sz="1400" b="0" i="0">
                          <a:solidFill>
                            <a:srgbClr val="1A1440"/>
                          </a:solidFill>
                          <a:latin typeface="Calibri"/>
                        </a:rPr>
                        <a:t>37.1 percent</a:t>
                      </a:r>
                    </a:p>
                  </a:txBody>
                  <a:tcPr marL="101600" marR="101600" marT="38100" marB="38100" anchor="ctr">
                    <a:solidFill>
                      <a:srgbClr val="F4F2FA"/>
                    </a:solidFill>
                  </a:tcPr>
                </a:tc>
              </a:tr>
              <a:tr h="369824">
                <a:tc>
                  <a:txBody>
                    <a:bodyPr/>
                    <a:lstStyle/>
                    <a:p>
                      <a:r>
                        <a:rPr sz="1400" b="0" i="0">
                          <a:solidFill>
                            <a:srgbClr val="1A1440"/>
                          </a:solidFill>
                          <a:latin typeface="Calibri"/>
                        </a:rPr>
                        <a:t>March</a:t>
                      </a:r>
                    </a:p>
                  </a:txBody>
                  <a:tcPr marL="101600" marR="101600" marT="38100" marB="38100" anchor="ctr">
                    <a:solidFill>
                      <a:srgbClr val="FFFFFF"/>
                    </a:solidFill>
                  </a:tcPr>
                </a:tc>
                <a:tc>
                  <a:txBody>
                    <a:bodyPr/>
                    <a:lstStyle/>
                    <a:p>
                      <a:r>
                        <a:rPr sz="1400" b="0" i="0">
                          <a:solidFill>
                            <a:srgbClr val="1A1440"/>
                          </a:solidFill>
                          <a:latin typeface="Calibri"/>
                        </a:rPr>
                        <a:t>5,449</a:t>
                      </a:r>
                    </a:p>
                  </a:txBody>
                  <a:tcPr marL="101600" marR="101600" marT="38100" marB="38100" anchor="ctr">
                    <a:solidFill>
                      <a:srgbClr val="FFFFFF"/>
                    </a:solidFill>
                  </a:tcPr>
                </a:tc>
                <a:tc>
                  <a:txBody>
                    <a:bodyPr/>
                    <a:lstStyle/>
                    <a:p>
                      <a:r>
                        <a:rPr sz="1400" b="0" i="0">
                          <a:solidFill>
                            <a:srgbClr val="1A1440"/>
                          </a:solidFill>
                          <a:latin typeface="Calibri"/>
                        </a:rPr>
                        <a:t>37.5 percent</a:t>
                      </a:r>
                    </a:p>
                  </a:txBody>
                  <a:tcPr marL="101600" marR="101600" marT="38100" marB="38100" anchor="ctr">
                    <a:solidFill>
                      <a:srgbClr val="FFFFFF"/>
                    </a:solidFill>
                  </a:tcPr>
                </a:tc>
              </a:tr>
              <a:tr h="369824">
                <a:tc>
                  <a:txBody>
                    <a:bodyPr/>
                    <a:lstStyle/>
                    <a:p>
                      <a:r>
                        <a:rPr sz="1400" b="0" i="0">
                          <a:solidFill>
                            <a:srgbClr val="1A1440"/>
                          </a:solidFill>
                          <a:latin typeface="Calibri"/>
                        </a:rPr>
                        <a:t>April</a:t>
                      </a:r>
                    </a:p>
                  </a:txBody>
                  <a:tcPr marL="101600" marR="101600" marT="38100" marB="38100" anchor="ctr">
                    <a:solidFill>
                      <a:srgbClr val="F4F2FA"/>
                    </a:solidFill>
                  </a:tcPr>
                </a:tc>
                <a:tc>
                  <a:txBody>
                    <a:bodyPr/>
                    <a:lstStyle/>
                    <a:p>
                      <a:r>
                        <a:rPr sz="1400" b="0" i="0">
                          <a:solidFill>
                            <a:srgbClr val="1A1440"/>
                          </a:solidFill>
                          <a:latin typeface="Calibri"/>
                        </a:rPr>
                        <a:t>4,859</a:t>
                      </a:r>
                    </a:p>
                  </a:txBody>
                  <a:tcPr marL="101600" marR="101600" marT="38100" marB="38100" anchor="ctr">
                    <a:solidFill>
                      <a:srgbClr val="F4F2FA"/>
                    </a:solidFill>
                  </a:tcPr>
                </a:tc>
                <a:tc>
                  <a:txBody>
                    <a:bodyPr/>
                    <a:lstStyle/>
                    <a:p>
                      <a:r>
                        <a:rPr sz="1400" b="0" i="0">
                          <a:solidFill>
                            <a:srgbClr val="1A1440"/>
                          </a:solidFill>
                          <a:latin typeface="Calibri"/>
                        </a:rPr>
                        <a:t>37.7 percent</a:t>
                      </a:r>
                    </a:p>
                  </a:txBody>
                  <a:tcPr marL="101600" marR="101600" marT="38100" marB="38100" anchor="ctr">
                    <a:solidFill>
                      <a:srgbClr val="F4F2FA"/>
                    </a:solidFill>
                  </a:tcPr>
                </a:tc>
              </a:tr>
              <a:tr h="369824">
                <a:tc>
                  <a:txBody>
                    <a:bodyPr/>
                    <a:lstStyle/>
                    <a:p>
                      <a:r>
                        <a:rPr sz="1400" b="0" i="0">
                          <a:solidFill>
                            <a:srgbClr val="1A1440"/>
                          </a:solidFill>
                          <a:latin typeface="Calibri"/>
                        </a:rPr>
                        <a:t>May</a:t>
                      </a:r>
                    </a:p>
                  </a:txBody>
                  <a:tcPr marL="101600" marR="101600" marT="38100" marB="38100" anchor="ctr">
                    <a:solidFill>
                      <a:srgbClr val="FFFFFF"/>
                    </a:solidFill>
                  </a:tcPr>
                </a:tc>
                <a:tc>
                  <a:txBody>
                    <a:bodyPr/>
                    <a:lstStyle/>
                    <a:p>
                      <a:r>
                        <a:rPr sz="1400" b="0" i="0">
                          <a:solidFill>
                            <a:srgbClr val="1A1440"/>
                          </a:solidFill>
                          <a:latin typeface="Calibri"/>
                        </a:rPr>
                        <a:t>4,905</a:t>
                      </a:r>
                    </a:p>
                  </a:txBody>
                  <a:tcPr marL="101600" marR="101600" marT="38100" marB="38100" anchor="ctr">
                    <a:solidFill>
                      <a:srgbClr val="FFFFFF"/>
                    </a:solidFill>
                  </a:tcPr>
                </a:tc>
                <a:tc>
                  <a:txBody>
                    <a:bodyPr/>
                    <a:lstStyle/>
                    <a:p>
                      <a:r>
                        <a:rPr sz="1400" b="0" i="0">
                          <a:solidFill>
                            <a:srgbClr val="1A1440"/>
                          </a:solidFill>
                          <a:latin typeface="Calibri"/>
                        </a:rPr>
                        <a:t>38.1 percent</a:t>
                      </a:r>
                    </a:p>
                  </a:txBody>
                  <a:tcPr marL="101600" marR="101600" marT="38100" marB="38100" anchor="ctr">
                    <a:solidFill>
                      <a:srgbClr val="FFFFFF"/>
                    </a:solidFill>
                  </a:tcPr>
                </a:tc>
              </a:tr>
              <a:tr h="369824">
                <a:tc>
                  <a:txBody>
                    <a:bodyPr/>
                    <a:lstStyle/>
                    <a:p>
                      <a:r>
                        <a:rPr sz="1400" b="0" i="0">
                          <a:solidFill>
                            <a:srgbClr val="1A1440"/>
                          </a:solidFill>
                          <a:latin typeface="Calibri"/>
                        </a:rPr>
                        <a:t>June</a:t>
                      </a:r>
                    </a:p>
                  </a:txBody>
                  <a:tcPr marL="101600" marR="101600" marT="38100" marB="38100" anchor="ctr">
                    <a:solidFill>
                      <a:srgbClr val="F4F2FA"/>
                    </a:solidFill>
                  </a:tcPr>
                </a:tc>
                <a:tc>
                  <a:txBody>
                    <a:bodyPr/>
                    <a:lstStyle/>
                    <a:p>
                      <a:r>
                        <a:rPr sz="1400" b="0" i="0">
                          <a:solidFill>
                            <a:srgbClr val="1A1440"/>
                          </a:solidFill>
                          <a:latin typeface="Calibri"/>
                        </a:rPr>
                        <a:t>4,821</a:t>
                      </a:r>
                    </a:p>
                  </a:txBody>
                  <a:tcPr marL="101600" marR="101600" marT="38100" marB="38100" anchor="ctr">
                    <a:solidFill>
                      <a:srgbClr val="F4F2FA"/>
                    </a:solidFill>
                  </a:tcPr>
                </a:tc>
                <a:tc>
                  <a:txBody>
                    <a:bodyPr/>
                    <a:lstStyle/>
                    <a:p>
                      <a:r>
                        <a:rPr sz="1400" b="0" i="0">
                          <a:solidFill>
                            <a:srgbClr val="1A1440"/>
                          </a:solidFill>
                          <a:latin typeface="Calibri"/>
                        </a:rPr>
                        <a:t>38.6 percent</a:t>
                      </a:r>
                    </a:p>
                  </a:txBody>
                  <a:tcPr marL="101600" marR="101600" marT="38100" marB="38100" anchor="ctr">
                    <a:solidFill>
                      <a:srgbClr val="F4F2FA"/>
                    </a:solidFill>
                  </a:tcPr>
                </a:tc>
              </a:tr>
              <a:tr h="369824">
                <a:tc>
                  <a:txBody>
                    <a:bodyPr/>
                    <a:lstStyle/>
                    <a:p>
                      <a:r>
                        <a:rPr sz="1400" b="0" i="0">
                          <a:solidFill>
                            <a:srgbClr val="1A1440"/>
                          </a:solidFill>
                          <a:latin typeface="Calibri"/>
                        </a:rPr>
                        <a:t>July</a:t>
                      </a:r>
                    </a:p>
                  </a:txBody>
                  <a:tcPr marL="101600" marR="101600" marT="38100" marB="38100" anchor="ctr">
                    <a:solidFill>
                      <a:srgbClr val="FFFFFF"/>
                    </a:solidFill>
                  </a:tcPr>
                </a:tc>
                <a:tc>
                  <a:txBody>
                    <a:bodyPr/>
                    <a:lstStyle/>
                    <a:p>
                      <a:r>
                        <a:rPr sz="1400" b="0" i="0">
                          <a:solidFill>
                            <a:srgbClr val="1A1440"/>
                          </a:solidFill>
                          <a:latin typeface="Calibri"/>
                        </a:rPr>
                        <a:t>5,057</a:t>
                      </a:r>
                    </a:p>
                  </a:txBody>
                  <a:tcPr marL="101600" marR="101600" marT="38100" marB="38100" anchor="ctr">
                    <a:solidFill>
                      <a:srgbClr val="FFFFFF"/>
                    </a:solidFill>
                  </a:tcPr>
                </a:tc>
                <a:tc>
                  <a:txBody>
                    <a:bodyPr/>
                    <a:lstStyle/>
                    <a:p>
                      <a:r>
                        <a:rPr sz="1400" b="0" i="0">
                          <a:solidFill>
                            <a:srgbClr val="1A1440"/>
                          </a:solidFill>
                          <a:latin typeface="Calibri"/>
                        </a:rPr>
                        <a:t>38.5 percent</a:t>
                      </a:r>
                    </a:p>
                  </a:txBody>
                  <a:tcPr marL="101600" marR="101600" marT="38100" marB="38100" anchor="ctr">
                    <a:solidFill>
                      <a:srgbClr val="FFFFFF"/>
                    </a:solidFill>
                  </a:tcPr>
                </a:tc>
              </a:tr>
            </a:tbl>
          </a:graphicData>
        </a:graphic>
      </p:graphicFrame>
      <p:sp>
        <p:nvSpPr>
          <p:cNvPr id="10" name="TextBox 9"/>
          <p:cNvSpPr txBox="1"/>
          <p:nvPr/>
        </p:nvSpPr>
        <p:spPr>
          <a:xfrm>
            <a:off x="530352" y="5024120"/>
            <a:ext cx="11130991" cy="1048512"/>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Sum of (members × rate) over the seven cohorts = 13,218 orderers; 13,218 / 35,000 = 37.8 percent, the same to the last digit as the direct count. The rates rise with youth, from January's 36.9 to June's 38.6 and July's 38.5, so the younger cohorts prop the average, by about half a point in September.</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010412" cy="152146"/>
          </a:xfrm>
          <a:prstGeom prst="rect">
            <a:avLst/>
          </a:prstGeom>
          <a:noFill/>
        </p:spPr>
        <p:txBody>
          <a:bodyPr wrap="square" anchor="t" lIns="0" rIns="0" tIns="0" bIns="0">
            <a:spAutoFit/>
          </a:bodyPr>
          <a:lstStyle/>
          <a:p>
            <a:pPr algn="l"/>
            <a:r>
              <a:rPr sz="700" b="0" i="0">
                <a:solidFill>
                  <a:srgbClr val="6B6690"/>
                </a:solidFill>
                <a:latin typeface="Calibri"/>
              </a:rPr>
              <a:t>Who joined when?</a:t>
            </a:r>
          </a:p>
        </p:txBody>
      </p:sp>
      <p:sp>
        <p:nvSpPr>
          <p:cNvPr id="13" name="Oval 12"/>
          <p:cNvSpPr/>
          <p:nvPr/>
        </p:nvSpPr>
        <p:spPr>
          <a:xfrm>
            <a:off x="174193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85166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Where is the floor?</a:t>
            </a:r>
          </a:p>
        </p:txBody>
      </p:sp>
      <p:sp>
        <p:nvSpPr>
          <p:cNvPr id="15" name="Oval 14"/>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20125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a blend made of?</a:t>
            </a:r>
          </a:p>
        </p:txBody>
      </p:sp>
      <p:sp>
        <p:nvSpPr>
          <p:cNvPr id="17" name="Oval 16"/>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78088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step owns a loss?</a:t>
            </a:r>
          </a:p>
        </p:txBody>
      </p:sp>
      <p:sp>
        <p:nvSpPr>
          <p:cNvPr id="19" name="Oval 18"/>
          <p:cNvSpPr/>
          <p:nvPr/>
        </p:nvSpPr>
        <p:spPr>
          <a:xfrm>
            <a:off x="62047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314503"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Who entered when?</a:t>
            </a:r>
          </a:p>
        </p:txBody>
      </p:sp>
      <p:sp>
        <p:nvSpPr>
          <p:cNvPr id="21" name="Oval 20"/>
          <p:cNvSpPr/>
          <p:nvPr/>
        </p:nvSpPr>
        <p:spPr>
          <a:xfrm>
            <a:off x="7462361"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572089"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is the 38 made of?</a:t>
            </a:r>
          </a:p>
        </p:txBody>
      </p:sp>
      <p:sp>
        <p:nvSpPr>
          <p:cNvPr id="23" name="Oval 22"/>
          <p:cNvSpPr/>
          <p:nvPr/>
        </p:nvSpPr>
        <p:spPr>
          <a:xfrm>
            <a:off x="899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10570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stage owns the loss?</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S51  ·  57 / 73</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COHORT AND FUNNEL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Predict: counting everyone, what is September?</a:t>
            </a:r>
          </a:p>
        </p:txBody>
      </p:sp>
      <p:sp>
        <p:nvSpPr>
          <p:cNvPr id="8" name="TextBox 7"/>
          <p:cNvSpPr txBox="1"/>
          <p:nvPr/>
        </p:nvSpPr>
        <p:spPr>
          <a:xfrm>
            <a:off x="530352" y="1243584"/>
            <a:ext cx="11130991" cy="399796"/>
          </a:xfrm>
          <a:prstGeom prst="rect">
            <a:avLst/>
          </a:prstGeom>
          <a:noFill/>
        </p:spPr>
        <p:txBody>
          <a:bodyPr wrap="square" anchor="t" lIns="0" rIns="0" tIns="0" bIns="0">
            <a:spAutoFit/>
          </a:bodyPr>
          <a:lstStyle/>
          <a:p>
            <a:pPr algn="l"/>
            <a:r>
              <a:rPr sz="1100" b="0" i="0">
                <a:solidFill>
                  <a:srgbClr val="6B6690"/>
                </a:solidFill>
                <a:latin typeface="Calibri"/>
              </a:rPr>
              <a:t>In September, 13,000 August members are in their month one and outside the dashboard. Counting everyone who joined before September, what does September read?</a:t>
            </a:r>
          </a:p>
        </p:txBody>
      </p:sp>
      <p:sp>
        <p:nvSpPr>
          <p:cNvPr id="9" name="TextBox 8"/>
          <p:cNvSpPr txBox="1"/>
          <p:nvPr/>
        </p:nvSpPr>
        <p:spPr>
          <a:xfrm>
            <a:off x="530352" y="1956816"/>
            <a:ext cx="11130991" cy="1654048"/>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Still 38 percent</a:t>
            </a:r>
          </a:p>
          <a:p>
            <a:pPr>
              <a:spcAft>
                <a:spcPts val="800"/>
              </a:spcAft>
            </a:pPr>
            <a:r>
              <a:rPr sz="1600" b="0" i="0">
                <a:solidFill>
                  <a:srgbClr val="1A1440"/>
                </a:solidFill>
                <a:latin typeface="Calibri"/>
              </a:rPr>
              <a:t>b) About 36 percent</a:t>
            </a:r>
          </a:p>
          <a:p>
            <a:pPr>
              <a:spcAft>
                <a:spcPts val="800"/>
              </a:spcAft>
            </a:pPr>
            <a:r>
              <a:rPr sz="1600" b="0" i="0">
                <a:solidFill>
                  <a:srgbClr val="1A1440"/>
                </a:solidFill>
                <a:latin typeface="Calibri"/>
              </a:rPr>
              <a:t>c) About 31 percent, August's rate</a:t>
            </a:r>
          </a:p>
          <a:p>
            <a:pPr>
              <a:spcAft>
                <a:spcPts val="800"/>
              </a:spcAft>
            </a:pPr>
            <a:r>
              <a:rPr sz="1600" b="0" i="0">
                <a:solidFill>
                  <a:srgbClr val="1A1440"/>
                </a:solidFill>
                <a:latin typeface="Calibri"/>
              </a:rPr>
              <a:t>d) About 49 percent, the July cohort's month-one rate</a:t>
            </a:r>
          </a:p>
        </p:txBody>
      </p:sp>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010412" cy="152146"/>
          </a:xfrm>
          <a:prstGeom prst="rect">
            <a:avLst/>
          </a:prstGeom>
          <a:noFill/>
        </p:spPr>
        <p:txBody>
          <a:bodyPr wrap="square" anchor="t" lIns="0" rIns="0" tIns="0" bIns="0">
            <a:spAutoFit/>
          </a:bodyPr>
          <a:lstStyle/>
          <a:p>
            <a:pPr algn="l"/>
            <a:r>
              <a:rPr sz="700" b="0" i="0">
                <a:solidFill>
                  <a:srgbClr val="6B6690"/>
                </a:solidFill>
                <a:latin typeface="Calibri"/>
              </a:rPr>
              <a:t>Who joined when?</a:t>
            </a:r>
          </a:p>
        </p:txBody>
      </p:sp>
      <p:sp>
        <p:nvSpPr>
          <p:cNvPr id="12" name="Oval 11"/>
          <p:cNvSpPr/>
          <p:nvPr/>
        </p:nvSpPr>
        <p:spPr>
          <a:xfrm>
            <a:off x="174193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85166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Where is the floor?</a:t>
            </a:r>
          </a:p>
        </p:txBody>
      </p:sp>
      <p:sp>
        <p:nvSpPr>
          <p:cNvPr id="14" name="Oval 13"/>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20125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a blend made of?</a:t>
            </a:r>
          </a:p>
        </p:txBody>
      </p:sp>
      <p:sp>
        <p:nvSpPr>
          <p:cNvPr id="16" name="Oval 15"/>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78088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step owns a loss?</a:t>
            </a:r>
          </a:p>
        </p:txBody>
      </p:sp>
      <p:sp>
        <p:nvSpPr>
          <p:cNvPr id="18" name="Oval 17"/>
          <p:cNvSpPr/>
          <p:nvPr/>
        </p:nvSpPr>
        <p:spPr>
          <a:xfrm>
            <a:off x="62047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314503"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Who entered when?</a:t>
            </a:r>
          </a:p>
        </p:txBody>
      </p:sp>
      <p:sp>
        <p:nvSpPr>
          <p:cNvPr id="20" name="Oval 19"/>
          <p:cNvSpPr/>
          <p:nvPr/>
        </p:nvSpPr>
        <p:spPr>
          <a:xfrm>
            <a:off x="7462361"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572089"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is the 38 made of?</a:t>
            </a:r>
          </a:p>
        </p:txBody>
      </p:sp>
      <p:sp>
        <p:nvSpPr>
          <p:cNvPr id="22" name="Oval 21"/>
          <p:cNvSpPr/>
          <p:nvPr/>
        </p:nvSpPr>
        <p:spPr>
          <a:xfrm>
            <a:off x="899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10570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stage owns the loss?</a:t>
            </a:r>
          </a:p>
        </p:txBody>
      </p:sp>
      <p:sp>
        <p:nvSpPr>
          <p:cNvPr id="24" name="TextBox 2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S52  ·  58 / 73</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COHORT AND FUNNEL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36 percent, and the sale week is the gap</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September read with the August cohort counted, and which of its members sit low?</a:t>
            </a:r>
          </a:p>
        </p:txBody>
      </p:sp>
      <p:pic>
        <p:nvPicPr>
          <p:cNvPr id="9" name="mermaid diagram" descr="C2_W04_D04_sale_vs_organic_STUDENT.png"/>
          <p:cNvPicPr>
            <a:picLocks noChangeAspect="1"/>
          </p:cNvPicPr>
          <p:nvPr/>
        </p:nvPicPr>
        <p:blipFill>
          <a:blip r:embed="rId4"/>
          <a:stretch>
            <a:fillRect/>
          </a:stretch>
        </p:blipFill>
        <p:spPr>
          <a:xfrm>
            <a:off x="2873698" y="1664208"/>
            <a:ext cx="6444299" cy="2386583"/>
          </a:xfrm>
          <a:prstGeom prst="rect">
            <a:avLst/>
          </a:prstGeom>
        </p:spPr>
      </p:pic>
      <p:sp>
        <p:nvSpPr>
          <p:cNvPr id="10" name="picture caption"/>
          <p:cNvSpPr txBox="1"/>
          <p:nvPr/>
        </p:nvSpPr>
        <p:spPr>
          <a:xfrm>
            <a:off x="530352" y="4087368"/>
            <a:ext cx="11130991" cy="316992"/>
          </a:xfrm>
          <a:prstGeom prst="rect">
            <a:avLst/>
          </a:prstGeom>
          <a:noFill/>
        </p:spPr>
        <p:txBody>
          <a:bodyPr wrap="square" anchor="t" lIns="0" rIns="0" tIns="0" bIns="0">
            <a:spAutoFit/>
          </a:bodyPr>
          <a:lstStyle/>
          <a:p>
            <a:pPr algn="ctr"/>
            <a:r>
              <a:rPr sz="1200" b="0" i="0">
                <a:solidFill>
                  <a:srgbClr val="6B6690"/>
                </a:solidFill>
                <a:latin typeface="Calibri"/>
              </a:rPr>
              <a:t>The sale-week members, not August, sit low</a:t>
            </a:r>
          </a:p>
        </p:txBody>
      </p:sp>
      <p:sp>
        <p:nvSpPr>
          <p:cNvPr id="11" name="TextBox 10"/>
          <p:cNvSpPr txBox="1"/>
          <p:nvPr/>
        </p:nvSpPr>
        <p:spPr>
          <a:xfrm>
            <a:off x="530352" y="4413504"/>
            <a:ext cx="11130991" cy="1786128"/>
          </a:xfrm>
          <a:prstGeom prst="rect">
            <a:avLst/>
          </a:prstGeom>
          <a:noFill/>
        </p:spPr>
        <p:txBody>
          <a:bodyPr wrap="square" anchor="t" lIns="0" rIns="0" tIns="0" bIns="0">
            <a:spAutoFit/>
          </a:bodyPr>
          <a:lstStyle/>
          <a:p>
            <a:r>
              <a:rPr sz="1600" b="0" i="0">
                <a:solidFill>
                  <a:srgbClr val="1A1440"/>
                </a:solidFill>
                <a:latin typeface="Calibri"/>
              </a:rPr>
              <a:t>The answer is b: 17,248 of 48,000, 35.9 percent; the 5,089 who joined in September are in their month zero and in neither count. Counted this way, everyone who joined before the month, the four months read 40.9, 40.0, 39.5 and 35.9: the drop the dashboard hides. Split by how they joined, the 4,973 organic August members kept 49 percent in month one, July's rate; the 8,027 sale-week members kept 20. In October the August cohort enters the dashboard, which, on the assumption the next slide sets out, drops to about 33 percent.</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010412" cy="152146"/>
          </a:xfrm>
          <a:prstGeom prst="rect">
            <a:avLst/>
          </a:prstGeom>
          <a:noFill/>
        </p:spPr>
        <p:txBody>
          <a:bodyPr wrap="square" anchor="t" lIns="0" rIns="0" tIns="0" bIns="0">
            <a:spAutoFit/>
          </a:bodyPr>
          <a:lstStyle/>
          <a:p>
            <a:pPr algn="l"/>
            <a:r>
              <a:rPr sz="700" b="0" i="0">
                <a:solidFill>
                  <a:srgbClr val="6B6690"/>
                </a:solidFill>
                <a:latin typeface="Calibri"/>
              </a:rPr>
              <a:t>Who joined when?</a:t>
            </a:r>
          </a:p>
        </p:txBody>
      </p:sp>
      <p:sp>
        <p:nvSpPr>
          <p:cNvPr id="14" name="Oval 13"/>
          <p:cNvSpPr/>
          <p:nvPr/>
        </p:nvSpPr>
        <p:spPr>
          <a:xfrm>
            <a:off x="174193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85166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Where is the floor?</a:t>
            </a:r>
          </a:p>
        </p:txBody>
      </p:sp>
      <p:sp>
        <p:nvSpPr>
          <p:cNvPr id="16" name="Oval 15"/>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20125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a blend made of?</a:t>
            </a:r>
          </a:p>
        </p:txBody>
      </p:sp>
      <p:sp>
        <p:nvSpPr>
          <p:cNvPr id="18" name="Oval 17"/>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78088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step owns a loss?</a:t>
            </a:r>
          </a:p>
        </p:txBody>
      </p:sp>
      <p:sp>
        <p:nvSpPr>
          <p:cNvPr id="20" name="Oval 19"/>
          <p:cNvSpPr/>
          <p:nvPr/>
        </p:nvSpPr>
        <p:spPr>
          <a:xfrm>
            <a:off x="62047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314503"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Who entered when?</a:t>
            </a:r>
          </a:p>
        </p:txBody>
      </p:sp>
      <p:sp>
        <p:nvSpPr>
          <p:cNvPr id="22" name="Oval 21"/>
          <p:cNvSpPr/>
          <p:nvPr/>
        </p:nvSpPr>
        <p:spPr>
          <a:xfrm>
            <a:off x="7462361"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572089"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is the 38 made of?</a:t>
            </a:r>
          </a:p>
        </p:txBody>
      </p:sp>
      <p:sp>
        <p:nvSpPr>
          <p:cNvPr id="24" name="Oval 23"/>
          <p:cNvSpPr/>
          <p:nvPr/>
        </p:nvSpPr>
        <p:spPr>
          <a:xfrm>
            <a:off x="899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10570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stage owns the loss?</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S53  ·  59 / 73</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COHORT AND FUNNEL</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October's dashboard: about 33 percent, worked</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Why does the dashboard drop to about 33 in October, and what does that estimate assume?</a:t>
            </a:r>
          </a:p>
        </p:txBody>
      </p:sp>
      <p:graphicFrame>
        <p:nvGraphicFramePr>
          <p:cNvPr id="10" name="Table 9"/>
          <p:cNvGraphicFramePr>
            <a:graphicFrameLocks noGrp="1"/>
          </p:cNvGraphicFramePr>
          <p:nvPr/>
        </p:nvGraphicFramePr>
        <p:xfrm>
          <a:off x="530352" y="1956816"/>
          <a:ext cx="11130990" cy="2460752"/>
        </p:xfrm>
        <a:graphic>
          <a:graphicData uri="http://schemas.openxmlformats.org/drawingml/2006/table">
            <a:tbl>
              <a:tblPr firstRow="0" bandRow="0">
                <a:tableStyleId>{2D5ABB26-0587-4C30-8999-92F81FD0307C}</a:tableStyleId>
              </a:tblPr>
              <a:tblGrid>
                <a:gridCol w="4321384"/>
                <a:gridCol w="6809606"/>
              </a:tblGrid>
              <a:tr h="369824">
                <a:tc>
                  <a:txBody>
                    <a:bodyPr/>
                    <a:lstStyle/>
                    <a:p>
                      <a:r>
                        <a:rPr sz="1450" b="1" i="0">
                          <a:solidFill>
                            <a:srgbClr val="FFFFFF"/>
                          </a:solidFill>
                          <a:latin typeface="Calibri"/>
                        </a:rPr>
                        <a:t>Step</a:t>
                      </a:r>
                    </a:p>
                  </a:txBody>
                  <a:tcPr marL="101600" marR="101600" marT="38100" marB="38100" anchor="ctr">
                    <a:solidFill>
                      <a:srgbClr val="1A0F5C"/>
                    </a:solidFill>
                  </a:tcPr>
                </a:tc>
                <a:tc>
                  <a:txBody>
                    <a:bodyPr/>
                    <a:lstStyle/>
                    <a:p>
                      <a:r>
                        <a:rPr sz="1450" b="1" i="0">
                          <a:solidFill>
                            <a:srgbClr val="FFFFFF"/>
                          </a:solidFill>
                          <a:latin typeface="Calibri"/>
                        </a:rPr>
                        <a:t>The working</a:t>
                      </a:r>
                    </a:p>
                  </a:txBody>
                  <a:tcPr marL="101600" marR="101600" marT="38100" marB="38100" anchor="ctr">
                    <a:solidFill>
                      <a:srgbClr val="1A0F5C"/>
                    </a:solidFill>
                  </a:tcPr>
                </a:tc>
              </a:tr>
              <a:tr h="611632">
                <a:tc>
                  <a:txBody>
                    <a:bodyPr/>
                    <a:lstStyle/>
                    <a:p>
                      <a:r>
                        <a:rPr sz="1400" b="0" i="0">
                          <a:solidFill>
                            <a:srgbClr val="1A1440"/>
                          </a:solidFill>
                          <a:latin typeface="Calibri"/>
                        </a:rPr>
                        <a:t>The assumption</a:t>
                      </a:r>
                    </a:p>
                  </a:txBody>
                  <a:tcPr marL="101600" marR="101600" marT="38100" marB="38100" anchor="ctr">
                    <a:solidFill>
                      <a:srgbClr val="FFFFFF"/>
                    </a:solidFill>
                  </a:tcPr>
                </a:tc>
                <a:tc>
                  <a:txBody>
                    <a:bodyPr/>
                    <a:lstStyle/>
                    <a:p>
                      <a:r>
                        <a:rPr sz="1400" b="0" i="0">
                          <a:solidFill>
                            <a:srgbClr val="1A1440"/>
                          </a:solidFill>
                          <a:latin typeface="Calibri"/>
                        </a:rPr>
                        <a:t>The August cohort loses the same 10.5 points from month one to month two that July's lost (49 to 38.5)</a:t>
                      </a:r>
                    </a:p>
                  </a:txBody>
                  <a:tcPr marL="101600" marR="101600" marT="38100" marB="38100" anchor="ctr">
                    <a:solidFill>
                      <a:srgbClr val="FFFFFF"/>
                    </a:solidFill>
                  </a:tcPr>
                </a:tc>
              </a:tr>
              <a:tr h="369824">
                <a:tc>
                  <a:txBody>
                    <a:bodyPr/>
                    <a:lstStyle/>
                    <a:p>
                      <a:r>
                        <a:rPr sz="1400" b="0" i="0">
                          <a:solidFill>
                            <a:srgbClr val="1A1440"/>
                          </a:solidFill>
                          <a:latin typeface="Calibri"/>
                        </a:rPr>
                        <a:t>August at month two</a:t>
                      </a:r>
                    </a:p>
                  </a:txBody>
                  <a:tcPr marL="101600" marR="101600" marT="38100" marB="38100" anchor="ctr">
                    <a:solidFill>
                      <a:srgbClr val="F4F2FA"/>
                    </a:solidFill>
                  </a:tcPr>
                </a:tc>
                <a:tc>
                  <a:txBody>
                    <a:bodyPr/>
                    <a:lstStyle/>
                    <a:p>
                      <a:r>
                        <a:rPr sz="1400" b="0" i="0">
                          <a:solidFill>
                            <a:srgbClr val="1A1440"/>
                          </a:solidFill>
                          <a:latin typeface="Calibri"/>
                        </a:rPr>
                        <a:t>31 less 10.5 is about 20.5 percent</a:t>
                      </a:r>
                    </a:p>
                  </a:txBody>
                  <a:tcPr marL="101600" marR="101600" marT="38100" marB="38100" anchor="ctr">
                    <a:solidFill>
                      <a:srgbClr val="F4F2FA"/>
                    </a:solidFill>
                  </a:tcPr>
                </a:tc>
              </a:tr>
              <a:tr h="369824">
                <a:tc>
                  <a:txBody>
                    <a:bodyPr/>
                    <a:lstStyle/>
                    <a:p>
                      <a:r>
                        <a:rPr sz="1400" b="0" i="0">
                          <a:solidFill>
                            <a:srgbClr val="1A1440"/>
                          </a:solidFill>
                          <a:latin typeface="Calibri"/>
                        </a:rPr>
                        <a:t>The older cohorts</a:t>
                      </a:r>
                    </a:p>
                  </a:txBody>
                  <a:tcPr marL="101600" marR="101600" marT="38100" marB="38100" anchor="ctr">
                    <a:solidFill>
                      <a:srgbClr val="FFFFFF"/>
                    </a:solidFill>
                  </a:tcPr>
                </a:tc>
                <a:tc>
                  <a:txBody>
                    <a:bodyPr/>
                    <a:lstStyle/>
                    <a:p>
                      <a:r>
                        <a:rPr sz="1400" b="0" i="0">
                          <a:solidFill>
                            <a:srgbClr val="1A1440"/>
                          </a:solidFill>
                          <a:latin typeface="Calibri"/>
                        </a:rPr>
                        <a:t>Each slides one month further, about 0.3 points</a:t>
                      </a:r>
                    </a:p>
                  </a:txBody>
                  <a:tcPr marL="101600" marR="101600" marT="38100" marB="38100" anchor="ctr">
                    <a:solidFill>
                      <a:srgbClr val="FFFFFF"/>
                    </a:solidFill>
                  </a:tcPr>
                </a:tc>
              </a:tr>
              <a:tr h="369824">
                <a:tc>
                  <a:txBody>
                    <a:bodyPr/>
                    <a:lstStyle/>
                    <a:p>
                      <a:r>
                        <a:rPr sz="1400" b="0" i="0">
                          <a:solidFill>
                            <a:srgbClr val="1A1440"/>
                          </a:solidFill>
                          <a:latin typeface="Calibri"/>
                        </a:rPr>
                        <a:t>October, counted the dashboard's way</a:t>
                      </a:r>
                    </a:p>
                  </a:txBody>
                  <a:tcPr marL="101600" marR="101600" marT="38100" marB="38100" anchor="ctr">
                    <a:solidFill>
                      <a:srgbClr val="F4F2FA"/>
                    </a:solidFill>
                  </a:tcPr>
                </a:tc>
                <a:tc>
                  <a:txBody>
                    <a:bodyPr/>
                    <a:lstStyle/>
                    <a:p>
                      <a:r>
                        <a:rPr sz="1400" b="0" i="0">
                          <a:solidFill>
                            <a:srgbClr val="1A1440"/>
                          </a:solidFill>
                          <a:latin typeface="Calibri"/>
                        </a:rPr>
                        <a:t>About 33 percent, against the 38 printed since June</a:t>
                      </a:r>
                    </a:p>
                  </a:txBody>
                  <a:tcPr marL="101600" marR="101600" marT="38100" marB="38100" anchor="ctr">
                    <a:solidFill>
                      <a:srgbClr val="F4F2FA"/>
                    </a:solidFill>
                  </a:tcPr>
                </a:tc>
              </a:tr>
              <a:tr h="369824">
                <a:tc>
                  <a:txBody>
                    <a:bodyPr/>
                    <a:lstStyle/>
                    <a:p>
                      <a:r>
                        <a:rPr sz="1400" b="0" i="0">
                          <a:solidFill>
                            <a:srgbClr val="1A1440"/>
                          </a:solidFill>
                          <a:latin typeface="Calibri"/>
                        </a:rPr>
                        <a:t>The range</a:t>
                      </a:r>
                    </a:p>
                  </a:txBody>
                  <a:tcPr marL="101600" marR="101600" marT="38100" marB="38100" anchor="ctr">
                    <a:solidFill>
                      <a:srgbClr val="FFFFFF"/>
                    </a:solidFill>
                  </a:tcPr>
                </a:tc>
                <a:tc>
                  <a:txBody>
                    <a:bodyPr/>
                    <a:lstStyle/>
                    <a:p>
                      <a:r>
                        <a:rPr sz="1400" b="0" i="0">
                          <a:solidFill>
                            <a:srgbClr val="1A1440"/>
                          </a:solidFill>
                          <a:latin typeface="Calibri"/>
                        </a:rPr>
                        <a:t>32 to 34 percent for an August month two anywhere from 17 to 24 percent</a:t>
                      </a:r>
                    </a:p>
                  </a:txBody>
                  <a:tcPr marL="101600" marR="101600" marT="38100" marB="38100" anchor="ctr">
                    <a:solidFill>
                      <a:srgbClr val="FFFFFF"/>
                    </a:solidFill>
                  </a:tcPr>
                </a:tc>
              </a:tr>
            </a:tbl>
          </a:graphicData>
        </a:graphic>
      </p:graphicFrame>
      <p:sp>
        <p:nvSpPr>
          <p:cNvPr id="11" name="TextBox 10"/>
          <p:cNvSpPr txBox="1"/>
          <p:nvPr/>
        </p:nvSpPr>
        <p:spPr>
          <a:xfrm>
            <a:off x="530352" y="4673600"/>
            <a:ext cx="11130991" cy="1048512"/>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drop comes from who enters the count; no member has to change what she does in October for it to happen. The assumption is the weak point: the sale-week members may not lose the same 10.5 points as July's organic members, which is why the range is printed.</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010412" cy="152146"/>
          </a:xfrm>
          <a:prstGeom prst="rect">
            <a:avLst/>
          </a:prstGeom>
          <a:noFill/>
        </p:spPr>
        <p:txBody>
          <a:bodyPr wrap="square" anchor="t" lIns="0" rIns="0" tIns="0" bIns="0">
            <a:spAutoFit/>
          </a:bodyPr>
          <a:lstStyle/>
          <a:p>
            <a:pPr algn="l"/>
            <a:r>
              <a:rPr sz="700" b="0" i="0">
                <a:solidFill>
                  <a:srgbClr val="6B6690"/>
                </a:solidFill>
                <a:latin typeface="Calibri"/>
              </a:rPr>
              <a:t>Who joined when?</a:t>
            </a:r>
          </a:p>
        </p:txBody>
      </p:sp>
      <p:sp>
        <p:nvSpPr>
          <p:cNvPr id="14" name="Oval 13"/>
          <p:cNvSpPr/>
          <p:nvPr/>
        </p:nvSpPr>
        <p:spPr>
          <a:xfrm>
            <a:off x="174193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85166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Where is the floor?</a:t>
            </a:r>
          </a:p>
        </p:txBody>
      </p:sp>
      <p:sp>
        <p:nvSpPr>
          <p:cNvPr id="16" name="Oval 15"/>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20125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a blend made of?</a:t>
            </a:r>
          </a:p>
        </p:txBody>
      </p:sp>
      <p:sp>
        <p:nvSpPr>
          <p:cNvPr id="18" name="Oval 17"/>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78088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step owns a loss?</a:t>
            </a:r>
          </a:p>
        </p:txBody>
      </p:sp>
      <p:sp>
        <p:nvSpPr>
          <p:cNvPr id="20" name="Oval 19"/>
          <p:cNvSpPr/>
          <p:nvPr/>
        </p:nvSpPr>
        <p:spPr>
          <a:xfrm>
            <a:off x="62047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314503"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Who entered when?</a:t>
            </a:r>
          </a:p>
        </p:txBody>
      </p:sp>
      <p:sp>
        <p:nvSpPr>
          <p:cNvPr id="22" name="Oval 21"/>
          <p:cNvSpPr/>
          <p:nvPr/>
        </p:nvSpPr>
        <p:spPr>
          <a:xfrm>
            <a:off x="7462361"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572089"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is the 38 made of?</a:t>
            </a:r>
          </a:p>
        </p:txBody>
      </p:sp>
      <p:sp>
        <p:nvSpPr>
          <p:cNvPr id="24" name="Oval 23"/>
          <p:cNvSpPr/>
          <p:nvPr/>
        </p:nvSpPr>
        <p:spPr>
          <a:xfrm>
            <a:off x="899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10570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stage owns the loss?</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D1  ·  60 / 73</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COHORT AND FUNNEL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Gold's 38 is a weighted average of falling cohorts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has the full table answered, and what is still open?</a:t>
            </a:r>
          </a:p>
        </p:txBody>
      </p:sp>
      <p:pic>
        <p:nvPicPr>
          <p:cNvPr id="9" name="mermaid diagram" descr="5376e803c0ae8a18.png"/>
          <p:cNvPicPr>
            <a:picLocks noChangeAspect="1"/>
          </p:cNvPicPr>
          <p:nvPr/>
        </p:nvPicPr>
        <p:blipFill>
          <a:blip r:embed="rId7"/>
          <a:stretch>
            <a:fillRect/>
          </a:stretch>
        </p:blipFill>
        <p:spPr>
          <a:xfrm>
            <a:off x="1826879" y="1664208"/>
            <a:ext cx="8537935" cy="2295144"/>
          </a:xfrm>
          <a:prstGeom prst="rect">
            <a:avLst/>
          </a:prstGeom>
        </p:spPr>
      </p:pic>
      <p:sp>
        <p:nvSpPr>
          <p:cNvPr id="10" name="Rounded Rectangle 9"/>
          <p:cNvSpPr/>
          <p:nvPr/>
        </p:nvSpPr>
        <p:spPr>
          <a:xfrm>
            <a:off x="530352" y="4005072"/>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433730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list-checks_bd88901d2a37.png"/>
          <p:cNvPicPr>
            <a:picLocks noChangeAspect="1"/>
          </p:cNvPicPr>
          <p:nvPr/>
        </p:nvPicPr>
        <p:blipFill>
          <a:blip r:embed="rId5"/>
          <a:stretch>
            <a:fillRect/>
          </a:stretch>
        </p:blipFill>
        <p:spPr>
          <a:xfrm>
            <a:off x="868680" y="4447032"/>
            <a:ext cx="237744" cy="237744"/>
          </a:xfrm>
          <a:prstGeom prst="rect">
            <a:avLst/>
          </a:prstGeom>
        </p:spPr>
      </p:pic>
      <p:sp>
        <p:nvSpPr>
          <p:cNvPr id="13" name="TextBox 12"/>
          <p:cNvSpPr txBox="1"/>
          <p:nvPr/>
        </p:nvSpPr>
        <p:spPr>
          <a:xfrm>
            <a:off x="1399031" y="4151376"/>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THE RULE</a:t>
            </a:r>
          </a:p>
        </p:txBody>
      </p:sp>
      <p:sp>
        <p:nvSpPr>
          <p:cNvPr id="14" name="TextBox 13"/>
          <p:cNvSpPr txBox="1"/>
          <p:nvPr/>
        </p:nvSpPr>
        <p:spPr>
          <a:xfrm>
            <a:off x="1399031" y="4370832"/>
            <a:ext cx="9987991" cy="682752"/>
          </a:xfrm>
          <a:prstGeom prst="rect">
            <a:avLst/>
          </a:prstGeom>
          <a:noFill/>
        </p:spPr>
        <p:txBody>
          <a:bodyPr wrap="square" anchor="t" lIns="0" rIns="0" tIns="0" bIns="0">
            <a:spAutoFit/>
          </a:bodyPr>
          <a:lstStyle/>
          <a:p>
            <a:r>
              <a:rPr sz="1500" b="0" i="0">
                <a:solidFill>
                  <a:srgbClr val="1A1440"/>
                </a:solidFill>
                <a:latin typeface="Calibri"/>
              </a:rPr>
              <a:t>A flat retention number is a size-weighted average of cohorts at different ages; rebuild it from its cohorts, check the rebuild matches, and read what the count leaves out.</a:t>
            </a:r>
          </a:p>
        </p:txBody>
      </p:sp>
      <p:sp>
        <p:nvSpPr>
          <p:cNvPr id="15" name="Rounded Rectangle 14"/>
          <p:cNvSpPr/>
          <p:nvPr/>
        </p:nvSpPr>
        <p:spPr>
          <a:xfrm>
            <a:off x="530352" y="5291328"/>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758952" y="5623560"/>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mic_caee7398c80d.png"/>
          <p:cNvPicPr>
            <a:picLocks noChangeAspect="1"/>
          </p:cNvPicPr>
          <p:nvPr/>
        </p:nvPicPr>
        <p:blipFill>
          <a:blip r:embed="rId6"/>
          <a:stretch>
            <a:fillRect/>
          </a:stretch>
        </p:blipFill>
        <p:spPr>
          <a:xfrm>
            <a:off x="868680" y="5733288"/>
            <a:ext cx="237744" cy="237744"/>
          </a:xfrm>
          <a:prstGeom prst="rect">
            <a:avLst/>
          </a:prstGeom>
        </p:spPr>
      </p:pic>
      <p:sp>
        <p:nvSpPr>
          <p:cNvPr id="18" name="TextBox 17"/>
          <p:cNvSpPr txBox="1"/>
          <p:nvPr/>
        </p:nvSpPr>
        <p:spPr>
          <a:xfrm>
            <a:off x="1399031" y="5437632"/>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19" name="TextBox 18"/>
          <p:cNvSpPr txBox="1"/>
          <p:nvPr/>
        </p:nvSpPr>
        <p:spPr>
          <a:xfrm>
            <a:off x="1399031" y="5657088"/>
            <a:ext cx="9987991" cy="682752"/>
          </a:xfrm>
          <a:prstGeom prst="rect">
            <a:avLst/>
          </a:prstGeom>
          <a:noFill/>
        </p:spPr>
        <p:txBody>
          <a:bodyPr wrap="square" anchor="t" lIns="0" rIns="0" tIns="0" bIns="0">
            <a:spAutoFit/>
          </a:bodyPr>
          <a:lstStyle/>
          <a:p>
            <a:r>
              <a:rPr sz="1500" b="0" i="0">
                <a:solidFill>
                  <a:srgbClr val="1A1440"/>
                </a:solidFill>
                <a:latin typeface="Calibri"/>
              </a:rPr>
              <a:t>[F] How would you use cohort analysis to find a retention issue? Fix the entry month, build the table, read rows for decay and columns for each cohort's start, then rebuild the blend from it.</a:t>
            </a:r>
          </a:p>
        </p:txBody>
      </p:sp>
      <p:sp>
        <p:nvSpPr>
          <p:cNvPr id="20" name="Oval 1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40080" y="6437376"/>
            <a:ext cx="1010412" cy="152146"/>
          </a:xfrm>
          <a:prstGeom prst="rect">
            <a:avLst/>
          </a:prstGeom>
          <a:noFill/>
        </p:spPr>
        <p:txBody>
          <a:bodyPr wrap="square" anchor="t" lIns="0" rIns="0" tIns="0" bIns="0">
            <a:spAutoFit/>
          </a:bodyPr>
          <a:lstStyle/>
          <a:p>
            <a:pPr algn="l"/>
            <a:r>
              <a:rPr sz="700" b="0" i="0">
                <a:solidFill>
                  <a:srgbClr val="6B6690"/>
                </a:solidFill>
                <a:latin typeface="Calibri"/>
              </a:rPr>
              <a:t>Who joined when?</a:t>
            </a:r>
          </a:p>
        </p:txBody>
      </p:sp>
      <p:sp>
        <p:nvSpPr>
          <p:cNvPr id="22" name="Oval 21"/>
          <p:cNvSpPr/>
          <p:nvPr/>
        </p:nvSpPr>
        <p:spPr>
          <a:xfrm>
            <a:off x="174193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185166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Where is the floor?</a:t>
            </a:r>
          </a:p>
        </p:txBody>
      </p:sp>
      <p:sp>
        <p:nvSpPr>
          <p:cNvPr id="24" name="Oval 23"/>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20125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a blend made of?</a:t>
            </a:r>
          </a:p>
        </p:txBody>
      </p:sp>
      <p:sp>
        <p:nvSpPr>
          <p:cNvPr id="26" name="Oval 25"/>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478088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step owns a loss?</a:t>
            </a:r>
          </a:p>
        </p:txBody>
      </p:sp>
      <p:sp>
        <p:nvSpPr>
          <p:cNvPr id="28" name="Oval 27"/>
          <p:cNvSpPr/>
          <p:nvPr/>
        </p:nvSpPr>
        <p:spPr>
          <a:xfrm>
            <a:off x="62047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314503"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Who entered when?</a:t>
            </a:r>
          </a:p>
        </p:txBody>
      </p:sp>
      <p:sp>
        <p:nvSpPr>
          <p:cNvPr id="30" name="Oval 29"/>
          <p:cNvSpPr/>
          <p:nvPr/>
        </p:nvSpPr>
        <p:spPr>
          <a:xfrm>
            <a:off x="7462361"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7572089"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is the 38 made of?</a:t>
            </a:r>
          </a:p>
        </p:txBody>
      </p:sp>
      <p:sp>
        <p:nvSpPr>
          <p:cNvPr id="32" name="Oval 31"/>
          <p:cNvSpPr/>
          <p:nvPr/>
        </p:nvSpPr>
        <p:spPr>
          <a:xfrm>
            <a:off x="89959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910570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stage owns the loss?</a:t>
            </a:r>
          </a:p>
        </p:txBody>
      </p:sp>
      <p:sp>
        <p:nvSpPr>
          <p:cNvPr id="34" name="TextBox 3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S54  ·  61 / 73</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07</a:t>
            </a:r>
          </a:p>
        </p:txBody>
      </p:sp>
      <p:sp>
        <p:nvSpPr>
          <p:cNvPr id="8" name="TextBox 7"/>
          <p:cNvSpPr txBox="1"/>
          <p:nvPr/>
        </p:nvSpPr>
        <p:spPr>
          <a:xfrm>
            <a:off x="731519" y="2542032"/>
            <a:ext cx="10673791" cy="366776"/>
          </a:xfrm>
          <a:prstGeom prst="rect">
            <a:avLst/>
          </a:prstGeom>
          <a:noFill/>
        </p:spPr>
        <p:txBody>
          <a:bodyPr wrap="square" anchor="t" lIns="0" rIns="0" tIns="0" bIns="0">
            <a:spAutoFit/>
          </a:bodyPr>
          <a:lstStyle/>
          <a:p>
            <a:pPr algn="l"/>
            <a:r>
              <a:rPr sz="2000" b="1" i="0">
                <a:solidFill>
                  <a:srgbClr val="D9A7FF"/>
                </a:solidFill>
                <a:latin typeface="Calibri"/>
              </a:rPr>
              <a:t>Funnel stages, drop-off, denominators on the event log</a:t>
            </a:r>
          </a:p>
        </p:txBody>
      </p:sp>
      <p:sp>
        <p:nvSpPr>
          <p:cNvPr id="9" name="TextBox 8"/>
          <p:cNvSpPr txBox="1"/>
          <p:nvPr/>
        </p:nvSpPr>
        <p:spPr>
          <a:xfrm>
            <a:off x="731519" y="3017520"/>
            <a:ext cx="10673791" cy="731520"/>
          </a:xfrm>
          <a:prstGeom prst="rect">
            <a:avLst/>
          </a:prstGeom>
          <a:noFill/>
        </p:spPr>
        <p:txBody>
          <a:bodyPr wrap="square" anchor="t" lIns="0" rIns="0" tIns="0" bIns="0">
            <a:spAutoFit/>
          </a:bodyPr>
          <a:lstStyle/>
          <a:p>
            <a:pPr algn="l"/>
            <a:r>
              <a:rPr sz="4000" b="0" i="0">
                <a:solidFill>
                  <a:srgbClr val="FFFFFF"/>
                </a:solidFill>
                <a:latin typeface="Georgia"/>
              </a:rPr>
              <a:t>Which stage owns the loss?</a:t>
            </a:r>
          </a:p>
        </p:txBody>
      </p:sp>
      <p:sp>
        <p:nvSpPr>
          <p:cNvPr id="10" name="TextBox 9"/>
          <p:cNvSpPr txBox="1"/>
          <p:nvPr/>
        </p:nvSpPr>
        <p:spPr>
          <a:xfrm>
            <a:off x="731519" y="3931920"/>
            <a:ext cx="9509760" cy="531876"/>
          </a:xfrm>
          <a:prstGeom prst="rect">
            <a:avLst/>
          </a:prstGeom>
          <a:noFill/>
        </p:spPr>
        <p:txBody>
          <a:bodyPr wrap="square" anchor="t" lIns="0" rIns="0" tIns="0" bIns="0">
            <a:spAutoFit/>
          </a:bodyPr>
          <a:lstStyle/>
          <a:p>
            <a:pPr algn="l"/>
            <a:r>
              <a:rPr sz="1500" b="0" i="0">
                <a:solidFill>
                  <a:srgbClr val="E4E1F1"/>
                </a:solidFill>
                <a:latin typeface="Calibri"/>
              </a:rPr>
              <a:t>Gold's order flow read step over step in a named unit, the step that passes 100 percent, and the fall split by membership, platform and date, as SECTION 4 read the college.</a:t>
            </a:r>
          </a:p>
        </p:txBody>
      </p:sp>
      <p:sp>
        <p:nvSpPr>
          <p:cNvPr id="11" name="Rounded Rectangle 10"/>
          <p:cNvSpPr/>
          <p:nvPr/>
        </p:nvSpPr>
        <p:spPr>
          <a:xfrm>
            <a:off x="731519" y="5074920"/>
            <a:ext cx="118264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Who joined when?</a:t>
            </a:r>
          </a:p>
        </p:txBody>
      </p:sp>
      <p:sp>
        <p:nvSpPr>
          <p:cNvPr id="12" name="Rounded Rectangle 11"/>
          <p:cNvSpPr/>
          <p:nvPr/>
        </p:nvSpPr>
        <p:spPr>
          <a:xfrm>
            <a:off x="2023889" y="5074920"/>
            <a:ext cx="134262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Where is the floor?</a:t>
            </a:r>
          </a:p>
        </p:txBody>
      </p:sp>
      <p:sp>
        <p:nvSpPr>
          <p:cNvPr id="13" name="Rounded Rectangle 12"/>
          <p:cNvSpPr/>
          <p:nvPr/>
        </p:nvSpPr>
        <p:spPr>
          <a:xfrm>
            <a:off x="3476243" y="5074920"/>
            <a:ext cx="1609266"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is a blend made of?</a:t>
            </a:r>
          </a:p>
        </p:txBody>
      </p:sp>
      <p:sp>
        <p:nvSpPr>
          <p:cNvPr id="14" name="Rounded Rectangle 13"/>
          <p:cNvSpPr/>
          <p:nvPr/>
        </p:nvSpPr>
        <p:spPr>
          <a:xfrm>
            <a:off x="5195238" y="5074920"/>
            <a:ext cx="1555938"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step owns a loss?</a:t>
            </a:r>
          </a:p>
        </p:txBody>
      </p:sp>
      <p:sp>
        <p:nvSpPr>
          <p:cNvPr id="15" name="Rounded Rectangle 14"/>
          <p:cNvSpPr/>
          <p:nvPr/>
        </p:nvSpPr>
        <p:spPr>
          <a:xfrm>
            <a:off x="6860904" y="5074920"/>
            <a:ext cx="123596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Who entered when?</a:t>
            </a:r>
          </a:p>
        </p:txBody>
      </p:sp>
      <p:sp>
        <p:nvSpPr>
          <p:cNvPr id="16" name="Rounded Rectangle 15"/>
          <p:cNvSpPr/>
          <p:nvPr/>
        </p:nvSpPr>
        <p:spPr>
          <a:xfrm>
            <a:off x="8206602" y="5074920"/>
            <a:ext cx="1555938"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is the 38 made of?</a:t>
            </a:r>
          </a:p>
        </p:txBody>
      </p:sp>
      <p:sp>
        <p:nvSpPr>
          <p:cNvPr id="17" name="Rounded Rectangle 16"/>
          <p:cNvSpPr/>
          <p:nvPr/>
        </p:nvSpPr>
        <p:spPr>
          <a:xfrm>
            <a:off x="9872268" y="5074920"/>
            <a:ext cx="1715922"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Which stage owns the loss?</a:t>
            </a:r>
          </a:p>
        </p:txBody>
      </p:sp>
      <p:sp>
        <p:nvSpPr>
          <p:cNvPr id="18" name="TextBox 17"/>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4, Day 4. Cohort and funnel: who is leaving, and at which step?</a:t>
            </a:r>
          </a:p>
        </p:txBody>
      </p:sp>
      <p:sp>
        <p:nvSpPr>
          <p:cNvPr id="19" name="TextBox 1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62 / 73</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COHORT AND FUNNEL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funnel, its units and the release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the answer, and which smaller questions lead to it?</a:t>
            </a:r>
          </a:p>
        </p:txBody>
      </p:sp>
      <p:sp>
        <p:nvSpPr>
          <p:cNvPr id="9" name="Rounded Rectangle 8"/>
          <p:cNvSpPr/>
          <p:nvPr/>
        </p:nvSpPr>
        <p:spPr>
          <a:xfrm>
            <a:off x="530352" y="195681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6248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The membership lead and the app team's lead, who will say the stage the room blames is fine. Blaming the wrong step sends engineers to fix one that works.</a:t>
            </a:r>
          </a:p>
        </p:txBody>
      </p:sp>
      <p:sp>
        <p:nvSpPr>
          <p:cNvPr id="12" name="TextBox 11"/>
          <p:cNvSpPr txBox="1"/>
          <p:nvPr/>
        </p:nvSpPr>
        <p:spPr>
          <a:xfrm>
            <a:off x="530352" y="2929128"/>
            <a:ext cx="11130991" cy="495807"/>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Applies: Funnel stages, drop-off, denominators (SECTION 4).</a:t>
            </a:r>
          </a:p>
        </p:txBody>
      </p:sp>
      <p:sp>
        <p:nvSpPr>
          <p:cNvPr id="13" name="Rectangle 12"/>
          <p:cNvSpPr/>
          <p:nvPr/>
        </p:nvSpPr>
        <p:spPr>
          <a:xfrm>
            <a:off x="1570299" y="4119880"/>
            <a:ext cx="9051096"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30352" y="3552952"/>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1</a:t>
            </a:r>
          </a:p>
        </p:txBody>
      </p:sp>
      <p:sp>
        <p:nvSpPr>
          <p:cNvPr id="15" name="Oval 14"/>
          <p:cNvSpPr/>
          <p:nvPr/>
        </p:nvSpPr>
        <p:spPr>
          <a:xfrm>
            <a:off x="1469715" y="4028440"/>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530352" y="4439920"/>
            <a:ext cx="2079894"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94944" y="4586224"/>
            <a:ext cx="1750710" cy="465836"/>
          </a:xfrm>
          <a:prstGeom prst="rect">
            <a:avLst/>
          </a:prstGeom>
          <a:noFill/>
        </p:spPr>
        <p:txBody>
          <a:bodyPr wrap="square" anchor="t" lIns="0" rIns="0" tIns="0" bIns="0">
            <a:spAutoFit/>
          </a:bodyPr>
          <a:lstStyle/>
          <a:p>
            <a:pPr algn="l"/>
            <a:r>
              <a:rPr sz="1300" b="1" i="0">
                <a:solidFill>
                  <a:srgbClr val="1A0F5C"/>
                </a:solidFill>
                <a:latin typeface="Calibri"/>
              </a:rPr>
              <a:t>Which step owns the loss?</a:t>
            </a:r>
          </a:p>
        </p:txBody>
      </p:sp>
      <p:sp>
        <p:nvSpPr>
          <p:cNvPr id="18" name="TextBox 17"/>
          <p:cNvSpPr txBox="1"/>
          <p:nvPr/>
        </p:nvSpPr>
        <p:spPr>
          <a:xfrm>
            <a:off x="694944" y="5088636"/>
            <a:ext cx="1750710" cy="366776"/>
          </a:xfrm>
          <a:prstGeom prst="rect">
            <a:avLst/>
          </a:prstGeom>
          <a:noFill/>
        </p:spPr>
        <p:txBody>
          <a:bodyPr wrap="square" anchor="t" lIns="0" rIns="0" tIns="0" bIns="0">
            <a:spAutoFit/>
          </a:bodyPr>
          <a:lstStyle/>
          <a:p>
            <a:pPr algn="l"/>
            <a:r>
              <a:rPr sz="1000" b="0" i="0">
                <a:solidFill>
                  <a:srgbClr val="6B6690"/>
                </a:solidFill>
                <a:latin typeface="Calibri"/>
              </a:rPr>
              <a:t>Five rates, before any split</a:t>
            </a:r>
          </a:p>
        </p:txBody>
      </p:sp>
      <p:sp>
        <p:nvSpPr>
          <p:cNvPr id="19" name="TextBox 18"/>
          <p:cNvSpPr txBox="1"/>
          <p:nvPr/>
        </p:nvSpPr>
        <p:spPr>
          <a:xfrm>
            <a:off x="2793126" y="3552952"/>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2</a:t>
            </a:r>
          </a:p>
        </p:txBody>
      </p:sp>
      <p:sp>
        <p:nvSpPr>
          <p:cNvPr id="20" name="Oval 19"/>
          <p:cNvSpPr/>
          <p:nvPr/>
        </p:nvSpPr>
        <p:spPr>
          <a:xfrm>
            <a:off x="3732489" y="4028440"/>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2793126" y="4439920"/>
            <a:ext cx="2079894"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2957718" y="4586224"/>
            <a:ext cx="1750710" cy="465836"/>
          </a:xfrm>
          <a:prstGeom prst="rect">
            <a:avLst/>
          </a:prstGeom>
          <a:noFill/>
        </p:spPr>
        <p:txBody>
          <a:bodyPr wrap="square" anchor="t" lIns="0" rIns="0" tIns="0" bIns="0">
            <a:spAutoFit/>
          </a:bodyPr>
          <a:lstStyle/>
          <a:p>
            <a:pPr algn="l"/>
            <a:r>
              <a:rPr sz="1300" b="1" i="0">
                <a:solidFill>
                  <a:srgbClr val="1A0F5C"/>
                </a:solidFill>
                <a:latin typeface="Calibri"/>
              </a:rPr>
              <a:t>Why does one step pass 100 percent?</a:t>
            </a:r>
          </a:p>
        </p:txBody>
      </p:sp>
      <p:sp>
        <p:nvSpPr>
          <p:cNvPr id="23" name="TextBox 22"/>
          <p:cNvSpPr txBox="1"/>
          <p:nvPr/>
        </p:nvSpPr>
        <p:spPr>
          <a:xfrm>
            <a:off x="2957718" y="5088636"/>
            <a:ext cx="1750710" cy="201676"/>
          </a:xfrm>
          <a:prstGeom prst="rect">
            <a:avLst/>
          </a:prstGeom>
          <a:noFill/>
        </p:spPr>
        <p:txBody>
          <a:bodyPr wrap="square" anchor="t" lIns="0" rIns="0" tIns="0" bIns="0">
            <a:spAutoFit/>
          </a:bodyPr>
          <a:lstStyle/>
          <a:p>
            <a:pPr algn="l"/>
            <a:r>
              <a:rPr sz="1000" b="0" i="0">
                <a:solidFill>
                  <a:srgbClr val="6B6690"/>
                </a:solidFill>
                <a:latin typeface="Calibri"/>
              </a:rPr>
              <a:t>A step members can skip</a:t>
            </a:r>
          </a:p>
        </p:txBody>
      </p:sp>
      <p:sp>
        <p:nvSpPr>
          <p:cNvPr id="24" name="TextBox 23"/>
          <p:cNvSpPr txBox="1"/>
          <p:nvPr/>
        </p:nvSpPr>
        <p:spPr>
          <a:xfrm>
            <a:off x="5055900" y="3552952"/>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3</a:t>
            </a:r>
          </a:p>
        </p:txBody>
      </p:sp>
      <p:sp>
        <p:nvSpPr>
          <p:cNvPr id="25" name="Oval 24"/>
          <p:cNvSpPr/>
          <p:nvPr/>
        </p:nvSpPr>
        <p:spPr>
          <a:xfrm>
            <a:off x="5995263" y="4028440"/>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5055900" y="4439920"/>
            <a:ext cx="2079894"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5220492" y="4586224"/>
            <a:ext cx="1750710" cy="465836"/>
          </a:xfrm>
          <a:prstGeom prst="rect">
            <a:avLst/>
          </a:prstGeom>
          <a:noFill/>
        </p:spPr>
        <p:txBody>
          <a:bodyPr wrap="square" anchor="t" lIns="0" rIns="0" tIns="0" bIns="0">
            <a:spAutoFit/>
          </a:bodyPr>
          <a:lstStyle/>
          <a:p>
            <a:pPr algn="l"/>
            <a:r>
              <a:rPr sz="1300" b="1" i="0">
                <a:solidFill>
                  <a:srgbClr val="1A0F5C"/>
                </a:solidFill>
                <a:latin typeface="Calibri"/>
              </a:rPr>
              <a:t>Per session or per member?</a:t>
            </a:r>
          </a:p>
        </p:txBody>
      </p:sp>
      <p:sp>
        <p:nvSpPr>
          <p:cNvPr id="28" name="TextBox 27"/>
          <p:cNvSpPr txBox="1"/>
          <p:nvPr/>
        </p:nvSpPr>
        <p:spPr>
          <a:xfrm>
            <a:off x="5220492" y="5088636"/>
            <a:ext cx="1750710" cy="201676"/>
          </a:xfrm>
          <a:prstGeom prst="rect">
            <a:avLst/>
          </a:prstGeom>
          <a:noFill/>
        </p:spPr>
        <p:txBody>
          <a:bodyPr wrap="square" anchor="t" lIns="0" rIns="0" tIns="0" bIns="0">
            <a:spAutoFit/>
          </a:bodyPr>
          <a:lstStyle/>
          <a:p>
            <a:pPr algn="l"/>
            <a:r>
              <a:rPr sz="1000" b="0" i="0">
                <a:solidFill>
                  <a:srgbClr val="6B6690"/>
                </a:solidFill>
                <a:latin typeface="Calibri"/>
              </a:rPr>
              <a:t>Two units, two questions</a:t>
            </a:r>
          </a:p>
        </p:txBody>
      </p:sp>
      <p:sp>
        <p:nvSpPr>
          <p:cNvPr id="29" name="TextBox 28"/>
          <p:cNvSpPr txBox="1"/>
          <p:nvPr/>
        </p:nvSpPr>
        <p:spPr>
          <a:xfrm>
            <a:off x="7318674" y="3552952"/>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4</a:t>
            </a:r>
          </a:p>
        </p:txBody>
      </p:sp>
      <p:sp>
        <p:nvSpPr>
          <p:cNvPr id="30" name="Oval 29"/>
          <p:cNvSpPr/>
          <p:nvPr/>
        </p:nvSpPr>
        <p:spPr>
          <a:xfrm>
            <a:off x="8258037" y="4028440"/>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ounded Rectangle 30"/>
          <p:cNvSpPr/>
          <p:nvPr/>
        </p:nvSpPr>
        <p:spPr>
          <a:xfrm>
            <a:off x="7318674" y="4439920"/>
            <a:ext cx="2079894"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7483266" y="4586224"/>
            <a:ext cx="1750710" cy="680466"/>
          </a:xfrm>
          <a:prstGeom prst="rect">
            <a:avLst/>
          </a:prstGeom>
          <a:noFill/>
        </p:spPr>
        <p:txBody>
          <a:bodyPr wrap="square" anchor="t" lIns="0" rIns="0" tIns="0" bIns="0">
            <a:spAutoFit/>
          </a:bodyPr>
          <a:lstStyle/>
          <a:p>
            <a:pPr algn="l"/>
            <a:r>
              <a:rPr sz="1300" b="1" i="0">
                <a:solidFill>
                  <a:srgbClr val="1A0F5C"/>
                </a:solidFill>
                <a:latin typeface="Calibri"/>
              </a:rPr>
              <a:t>When did the Android rate break, and where?</a:t>
            </a:r>
          </a:p>
        </p:txBody>
      </p:sp>
      <p:sp>
        <p:nvSpPr>
          <p:cNvPr id="33" name="TextBox 32"/>
          <p:cNvSpPr txBox="1"/>
          <p:nvPr/>
        </p:nvSpPr>
        <p:spPr>
          <a:xfrm>
            <a:off x="7483266" y="5303266"/>
            <a:ext cx="1750710" cy="366776"/>
          </a:xfrm>
          <a:prstGeom prst="rect">
            <a:avLst/>
          </a:prstGeom>
          <a:noFill/>
        </p:spPr>
        <p:txBody>
          <a:bodyPr wrap="square" anchor="t" lIns="0" rIns="0" tIns="0" bIns="0">
            <a:spAutoFit/>
          </a:bodyPr>
          <a:lstStyle/>
          <a:p>
            <a:pPr algn="l"/>
            <a:r>
              <a:rPr sz="1000" b="0" i="0">
                <a:solidFill>
                  <a:srgbClr val="6B6690"/>
                </a:solidFill>
                <a:latin typeface="Calibri"/>
              </a:rPr>
              <a:t>Platform, membership, date, then the size</a:t>
            </a:r>
          </a:p>
        </p:txBody>
      </p:sp>
      <p:sp>
        <p:nvSpPr>
          <p:cNvPr id="34" name="TextBox 33"/>
          <p:cNvSpPr txBox="1"/>
          <p:nvPr/>
        </p:nvSpPr>
        <p:spPr>
          <a:xfrm>
            <a:off x="9581448" y="3552952"/>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5</a:t>
            </a:r>
          </a:p>
        </p:txBody>
      </p:sp>
      <p:sp>
        <p:nvSpPr>
          <p:cNvPr id="35" name="Oval 34"/>
          <p:cNvSpPr/>
          <p:nvPr/>
        </p:nvSpPr>
        <p:spPr>
          <a:xfrm>
            <a:off x="10520812" y="4028440"/>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ounded Rectangle 35"/>
          <p:cNvSpPr/>
          <p:nvPr/>
        </p:nvSpPr>
        <p:spPr>
          <a:xfrm>
            <a:off x="9581448" y="4439920"/>
            <a:ext cx="2079894" cy="107696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9746040" y="4586224"/>
            <a:ext cx="1750710" cy="465836"/>
          </a:xfrm>
          <a:prstGeom prst="rect">
            <a:avLst/>
          </a:prstGeom>
          <a:noFill/>
        </p:spPr>
        <p:txBody>
          <a:bodyPr wrap="square" anchor="t" lIns="0" rIns="0" tIns="0" bIns="0">
            <a:spAutoFit/>
          </a:bodyPr>
          <a:lstStyle/>
          <a:p>
            <a:pPr algn="l"/>
            <a:r>
              <a:rPr sz="1300" b="1" i="0">
                <a:solidFill>
                  <a:srgbClr val="FFFFFF"/>
                </a:solidFill>
                <a:latin typeface="Calibri"/>
              </a:rPr>
              <a:t>What can the data not show?</a:t>
            </a:r>
          </a:p>
        </p:txBody>
      </p:sp>
      <p:sp>
        <p:nvSpPr>
          <p:cNvPr id="38" name="TextBox 37"/>
          <p:cNvSpPr txBox="1"/>
          <p:nvPr/>
        </p:nvSpPr>
        <p:spPr>
          <a:xfrm>
            <a:off x="9746040" y="5088636"/>
            <a:ext cx="1750710" cy="366776"/>
          </a:xfrm>
          <a:prstGeom prst="rect">
            <a:avLst/>
          </a:prstGeom>
          <a:noFill/>
        </p:spPr>
        <p:txBody>
          <a:bodyPr wrap="square" anchor="t" lIns="0" rIns="0" tIns="0" bIns="0">
            <a:spAutoFit/>
          </a:bodyPr>
          <a:lstStyle/>
          <a:p>
            <a:pPr algn="l"/>
            <a:r>
              <a:rPr sz="1000" b="0" i="0">
                <a:solidFill>
                  <a:srgbClr val="CFC9EE"/>
                </a:solidFill>
                <a:latin typeface="Calibri"/>
              </a:rPr>
              <a:t>Seven doubts, each with its check</a:t>
            </a:r>
          </a:p>
        </p:txBody>
      </p:sp>
      <p:sp>
        <p:nvSpPr>
          <p:cNvPr id="39" name="Oval 38"/>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640080" y="6437376"/>
            <a:ext cx="1010412" cy="152146"/>
          </a:xfrm>
          <a:prstGeom prst="rect">
            <a:avLst/>
          </a:prstGeom>
          <a:noFill/>
        </p:spPr>
        <p:txBody>
          <a:bodyPr wrap="square" anchor="t" lIns="0" rIns="0" tIns="0" bIns="0">
            <a:spAutoFit/>
          </a:bodyPr>
          <a:lstStyle/>
          <a:p>
            <a:pPr algn="l"/>
            <a:r>
              <a:rPr sz="700" b="0" i="0">
                <a:solidFill>
                  <a:srgbClr val="6B6690"/>
                </a:solidFill>
                <a:latin typeface="Calibri"/>
              </a:rPr>
              <a:t>Who joined when?</a:t>
            </a:r>
          </a:p>
        </p:txBody>
      </p:sp>
      <p:sp>
        <p:nvSpPr>
          <p:cNvPr id="41" name="Oval 40"/>
          <p:cNvSpPr/>
          <p:nvPr/>
        </p:nvSpPr>
        <p:spPr>
          <a:xfrm>
            <a:off x="174193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185166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Where is the floor?</a:t>
            </a:r>
          </a:p>
        </p:txBody>
      </p:sp>
      <p:sp>
        <p:nvSpPr>
          <p:cNvPr id="43" name="Oval 42"/>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320125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a blend made of?</a:t>
            </a:r>
          </a:p>
        </p:txBody>
      </p:sp>
      <p:sp>
        <p:nvSpPr>
          <p:cNvPr id="45" name="Oval 44"/>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478088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step owns a loss?</a:t>
            </a:r>
          </a:p>
        </p:txBody>
      </p:sp>
      <p:sp>
        <p:nvSpPr>
          <p:cNvPr id="47" name="Oval 46"/>
          <p:cNvSpPr/>
          <p:nvPr/>
        </p:nvSpPr>
        <p:spPr>
          <a:xfrm>
            <a:off x="62047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6314503"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Who entered when?</a:t>
            </a:r>
          </a:p>
        </p:txBody>
      </p:sp>
      <p:sp>
        <p:nvSpPr>
          <p:cNvPr id="49" name="Oval 48"/>
          <p:cNvSpPr/>
          <p:nvPr/>
        </p:nvSpPr>
        <p:spPr>
          <a:xfrm>
            <a:off x="74623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7572089"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the 38 made of?</a:t>
            </a:r>
          </a:p>
        </p:txBody>
      </p:sp>
      <p:sp>
        <p:nvSpPr>
          <p:cNvPr id="51" name="Oval 50"/>
          <p:cNvSpPr/>
          <p:nvPr/>
        </p:nvSpPr>
        <p:spPr>
          <a:xfrm>
            <a:off x="8995981"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9105709" y="6437376"/>
            <a:ext cx="1470469" cy="152146"/>
          </a:xfrm>
          <a:prstGeom prst="rect">
            <a:avLst/>
          </a:prstGeom>
          <a:noFill/>
        </p:spPr>
        <p:txBody>
          <a:bodyPr wrap="square" anchor="t" lIns="0" rIns="0" tIns="0" bIns="0">
            <a:spAutoFit/>
          </a:bodyPr>
          <a:lstStyle/>
          <a:p>
            <a:pPr algn="l"/>
            <a:r>
              <a:rPr sz="700" b="1" i="0">
                <a:solidFill>
                  <a:srgbClr val="5B3FD6"/>
                </a:solidFill>
                <a:latin typeface="Calibri"/>
              </a:rPr>
              <a:t>Which stage owns the loss?</a:t>
            </a:r>
          </a:p>
        </p:txBody>
      </p:sp>
      <p:sp>
        <p:nvSpPr>
          <p:cNvPr id="53" name="TextBox 5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S55  ·  63 / 73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COHORT AND FUNNEL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Question: which step owns the loss?</a:t>
            </a:r>
          </a:p>
        </p:txBody>
      </p:sp>
      <p:sp>
        <p:nvSpPr>
          <p:cNvPr id="8" name="TextBox 7"/>
          <p:cNvSpPr txBox="1"/>
          <p:nvPr/>
        </p:nvSpPr>
        <p:spPr>
          <a:xfrm>
            <a:off x="530352" y="1243584"/>
            <a:ext cx="11130991" cy="399796"/>
          </a:xfrm>
          <a:prstGeom prst="rect">
            <a:avLst/>
          </a:prstGeom>
          <a:noFill/>
        </p:spPr>
        <p:txBody>
          <a:bodyPr wrap="square" anchor="t" lIns="0" rIns="0" tIns="0" bIns="0">
            <a:spAutoFit/>
          </a:bodyPr>
          <a:lstStyle/>
          <a:p>
            <a:pPr algn="l"/>
            <a:r>
              <a:rPr sz="1100" b="0" i="0">
                <a:solidFill>
                  <a:srgbClr val="6B6690"/>
                </a:solidFill>
                <a:latin typeface="Calibri"/>
              </a:rPr>
              <a:t>September, Gold members, per session: open to search 68, search to menu view 118, menu view to cart 34, cart to checkout 80, checkout to order 64 percent. Which step owns the loss?</a:t>
            </a:r>
          </a:p>
        </p:txBody>
      </p:sp>
      <p:sp>
        <p:nvSpPr>
          <p:cNvPr id="9" name="TextBox 8"/>
          <p:cNvSpPr txBox="1"/>
          <p:nvPr/>
        </p:nvSpPr>
        <p:spPr>
          <a:xfrm>
            <a:off x="530352" y="1956816"/>
            <a:ext cx="11130991" cy="1654048"/>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Search to menu view, the one step above 100 percent</a:t>
            </a:r>
          </a:p>
          <a:p>
            <a:pPr>
              <a:spcAft>
                <a:spcPts val="800"/>
              </a:spcAft>
            </a:pPr>
            <a:r>
              <a:rPr sz="1600" b="0" i="0">
                <a:solidFill>
                  <a:srgbClr val="1A1440"/>
                </a:solidFill>
                <a:latin typeface="Calibri"/>
              </a:rPr>
              <a:t>b) Menu view to add-to-cart, the lowest rate on the page</a:t>
            </a:r>
          </a:p>
          <a:p>
            <a:pPr>
              <a:spcAft>
                <a:spcPts val="800"/>
              </a:spcAft>
            </a:pPr>
            <a:r>
              <a:rPr sz="1600" b="0" i="0">
                <a:solidFill>
                  <a:srgbClr val="1A1440"/>
                </a:solidFill>
                <a:latin typeface="Calibri"/>
              </a:rPr>
              <a:t>c) Open to search, the first step of every session</a:t>
            </a:r>
          </a:p>
          <a:p>
            <a:pPr>
              <a:spcAft>
                <a:spcPts val="800"/>
              </a:spcAft>
            </a:pPr>
            <a:r>
              <a:rPr sz="1600" b="0" i="0">
                <a:solidFill>
                  <a:srgbClr val="1A1440"/>
                </a:solidFill>
                <a:latin typeface="Calibri"/>
              </a:rPr>
              <a:t>d) None yet: each must be split and set against its past</a:t>
            </a:r>
          </a:p>
        </p:txBody>
      </p:sp>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010412" cy="152146"/>
          </a:xfrm>
          <a:prstGeom prst="rect">
            <a:avLst/>
          </a:prstGeom>
          <a:noFill/>
        </p:spPr>
        <p:txBody>
          <a:bodyPr wrap="square" anchor="t" lIns="0" rIns="0" tIns="0" bIns="0">
            <a:spAutoFit/>
          </a:bodyPr>
          <a:lstStyle/>
          <a:p>
            <a:pPr algn="l"/>
            <a:r>
              <a:rPr sz="700" b="0" i="0">
                <a:solidFill>
                  <a:srgbClr val="6B6690"/>
                </a:solidFill>
                <a:latin typeface="Calibri"/>
              </a:rPr>
              <a:t>Who joined when?</a:t>
            </a:r>
          </a:p>
        </p:txBody>
      </p:sp>
      <p:sp>
        <p:nvSpPr>
          <p:cNvPr id="12" name="Oval 11"/>
          <p:cNvSpPr/>
          <p:nvPr/>
        </p:nvSpPr>
        <p:spPr>
          <a:xfrm>
            <a:off x="174193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85166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Where is the floor?</a:t>
            </a:r>
          </a:p>
        </p:txBody>
      </p:sp>
      <p:sp>
        <p:nvSpPr>
          <p:cNvPr id="14" name="Oval 13"/>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20125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a blend made of?</a:t>
            </a:r>
          </a:p>
        </p:txBody>
      </p:sp>
      <p:sp>
        <p:nvSpPr>
          <p:cNvPr id="16" name="Oval 15"/>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78088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step owns a loss?</a:t>
            </a:r>
          </a:p>
        </p:txBody>
      </p:sp>
      <p:sp>
        <p:nvSpPr>
          <p:cNvPr id="18" name="Oval 17"/>
          <p:cNvSpPr/>
          <p:nvPr/>
        </p:nvSpPr>
        <p:spPr>
          <a:xfrm>
            <a:off x="62047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314503"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Who entered when?</a:t>
            </a:r>
          </a:p>
        </p:txBody>
      </p:sp>
      <p:sp>
        <p:nvSpPr>
          <p:cNvPr id="20" name="Oval 19"/>
          <p:cNvSpPr/>
          <p:nvPr/>
        </p:nvSpPr>
        <p:spPr>
          <a:xfrm>
            <a:off x="74623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572089"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the 38 made of?</a:t>
            </a:r>
          </a:p>
        </p:txBody>
      </p:sp>
      <p:sp>
        <p:nvSpPr>
          <p:cNvPr id="22" name="Oval 21"/>
          <p:cNvSpPr/>
          <p:nvPr/>
        </p:nvSpPr>
        <p:spPr>
          <a:xfrm>
            <a:off x="8995981"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105709" y="6437376"/>
            <a:ext cx="1470469" cy="152146"/>
          </a:xfrm>
          <a:prstGeom prst="rect">
            <a:avLst/>
          </a:prstGeom>
          <a:noFill/>
        </p:spPr>
        <p:txBody>
          <a:bodyPr wrap="square" anchor="t" lIns="0" rIns="0" tIns="0" bIns="0">
            <a:spAutoFit/>
          </a:bodyPr>
          <a:lstStyle/>
          <a:p>
            <a:pPr algn="l"/>
            <a:r>
              <a:rPr sz="700" b="1" i="0">
                <a:solidFill>
                  <a:srgbClr val="5B3FD6"/>
                </a:solidFill>
                <a:latin typeface="Calibri"/>
              </a:rPr>
              <a:t>Which stage owns the loss?</a:t>
            </a:r>
          </a:p>
        </p:txBody>
      </p:sp>
      <p:sp>
        <p:nvSpPr>
          <p:cNvPr id="24" name="TextBox 2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S56  ·  64 / 73</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COHORT AND FUNNEL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no step owns it until it is split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step owns the loss before any split by who, where and when?</a:t>
            </a:r>
          </a:p>
        </p:txBody>
      </p:sp>
      <p:pic>
        <p:nvPicPr>
          <p:cNvPr id="9" name="mermaid diagram" descr="5b5947bd6600826e.png"/>
          <p:cNvPicPr>
            <a:picLocks noChangeAspect="1"/>
          </p:cNvPicPr>
          <p:nvPr/>
        </p:nvPicPr>
        <p:blipFill>
          <a:blip r:embed="rId5"/>
          <a:stretch>
            <a:fillRect/>
          </a:stretch>
        </p:blipFill>
        <p:spPr>
          <a:xfrm>
            <a:off x="965188" y="1664208"/>
            <a:ext cx="10261317" cy="2979928"/>
          </a:xfrm>
          <a:prstGeom prst="rect">
            <a:avLst/>
          </a:prstGeom>
        </p:spPr>
      </p:pic>
      <p:sp>
        <p:nvSpPr>
          <p:cNvPr id="10" name="TextBox 9"/>
          <p:cNvSpPr txBox="1"/>
          <p:nvPr/>
        </p:nvSpPr>
        <p:spPr>
          <a:xfrm>
            <a:off x="530352" y="4689856"/>
            <a:ext cx="11130991" cy="1509775"/>
          </a:xfrm>
          <a:prstGeom prst="rect">
            <a:avLst/>
          </a:prstGeom>
          <a:noFill/>
        </p:spPr>
        <p:txBody>
          <a:bodyPr wrap="square" anchor="t" lIns="0" rIns="0" tIns="0" bIns="0">
            <a:spAutoFit/>
          </a:bodyPr>
          <a:lstStyle/>
          <a:p>
            <a:r>
              <a:rPr sz="1600" b="0" i="0">
                <a:solidFill>
                  <a:srgbClr val="1A1440"/>
                </a:solidFill>
                <a:latin typeface="Calibri"/>
              </a:rPr>
              <a:t>The answer is d. When the overall falls, the step that moved against its own past owns the fall, as Funnel stages, drop-off, denominators (SECTION 4) found on the college, where shortlisting read 50 percent in both cycles. Menu view to add-to-cart, at 34 percent, is the lowest step and may be low by design; search to menu view, at 118, is a step members can skip. The loss shows only once a step is split by membership, platform and date.</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010412" cy="152146"/>
          </a:xfrm>
          <a:prstGeom prst="rect">
            <a:avLst/>
          </a:prstGeom>
          <a:noFill/>
        </p:spPr>
        <p:txBody>
          <a:bodyPr wrap="square" anchor="t" lIns="0" rIns="0" tIns="0" bIns="0">
            <a:spAutoFit/>
          </a:bodyPr>
          <a:lstStyle/>
          <a:p>
            <a:pPr algn="l"/>
            <a:r>
              <a:rPr sz="700" b="0" i="0">
                <a:solidFill>
                  <a:srgbClr val="6B6690"/>
                </a:solidFill>
                <a:latin typeface="Calibri"/>
              </a:rPr>
              <a:t>Who joined when?</a:t>
            </a:r>
          </a:p>
        </p:txBody>
      </p:sp>
      <p:sp>
        <p:nvSpPr>
          <p:cNvPr id="13" name="Oval 12"/>
          <p:cNvSpPr/>
          <p:nvPr/>
        </p:nvSpPr>
        <p:spPr>
          <a:xfrm>
            <a:off x="174193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85166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Where is the floor?</a:t>
            </a:r>
          </a:p>
        </p:txBody>
      </p:sp>
      <p:sp>
        <p:nvSpPr>
          <p:cNvPr id="15" name="Oval 14"/>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20125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a blend made of?</a:t>
            </a:r>
          </a:p>
        </p:txBody>
      </p:sp>
      <p:sp>
        <p:nvSpPr>
          <p:cNvPr id="17" name="Oval 16"/>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78088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step owns a loss?</a:t>
            </a:r>
          </a:p>
        </p:txBody>
      </p:sp>
      <p:sp>
        <p:nvSpPr>
          <p:cNvPr id="19" name="Oval 18"/>
          <p:cNvSpPr/>
          <p:nvPr/>
        </p:nvSpPr>
        <p:spPr>
          <a:xfrm>
            <a:off x="62047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314503"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Who entered when?</a:t>
            </a:r>
          </a:p>
        </p:txBody>
      </p:sp>
      <p:sp>
        <p:nvSpPr>
          <p:cNvPr id="21" name="Oval 20"/>
          <p:cNvSpPr/>
          <p:nvPr/>
        </p:nvSpPr>
        <p:spPr>
          <a:xfrm>
            <a:off x="74623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572089"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the 38 made of?</a:t>
            </a:r>
          </a:p>
        </p:txBody>
      </p:sp>
      <p:sp>
        <p:nvSpPr>
          <p:cNvPr id="23" name="Oval 22"/>
          <p:cNvSpPr/>
          <p:nvPr/>
        </p:nvSpPr>
        <p:spPr>
          <a:xfrm>
            <a:off x="8995981"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105709" y="6437376"/>
            <a:ext cx="1470469" cy="152146"/>
          </a:xfrm>
          <a:prstGeom prst="rect">
            <a:avLst/>
          </a:prstGeom>
          <a:noFill/>
        </p:spPr>
        <p:txBody>
          <a:bodyPr wrap="square" anchor="t" lIns="0" rIns="0" tIns="0" bIns="0">
            <a:spAutoFit/>
          </a:bodyPr>
          <a:lstStyle/>
          <a:p>
            <a:pPr algn="l"/>
            <a:r>
              <a:rPr sz="700" b="1" i="0">
                <a:solidFill>
                  <a:srgbClr val="5B3FD6"/>
                </a:solidFill>
                <a:latin typeface="Calibri"/>
              </a:rPr>
              <a:t>Which stage owns the loss?</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S57  ·  65 / 73</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COHORT AND FUNNEL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118 percent: the carousel skips search</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Why does search to menu view read 118 percent, and what does it really read?</a:t>
            </a:r>
          </a:p>
        </p:txBody>
      </p:sp>
      <p:graphicFrame>
        <p:nvGraphicFramePr>
          <p:cNvPr id="9" name="Table 8"/>
          <p:cNvGraphicFramePr>
            <a:graphicFrameLocks noGrp="1"/>
          </p:cNvGraphicFramePr>
          <p:nvPr/>
        </p:nvGraphicFramePr>
        <p:xfrm>
          <a:off x="530352" y="1939036"/>
          <a:ext cx="11130990" cy="1849120"/>
        </p:xfrm>
        <a:graphic>
          <a:graphicData uri="http://schemas.openxmlformats.org/drawingml/2006/table">
            <a:tbl>
              <a:tblPr firstRow="0" bandRow="0">
                <a:tableStyleId>{2D5ABB26-0587-4C30-8999-92F81FD0307C}</a:tableStyleId>
              </a:tblPr>
              <a:tblGrid>
                <a:gridCol w="6604546"/>
                <a:gridCol w="4526444"/>
              </a:tblGrid>
              <a:tr h="369824">
                <a:tc>
                  <a:txBody>
                    <a:bodyPr/>
                    <a:lstStyle/>
                    <a:p>
                      <a:r>
                        <a:rPr sz="1450" b="1" i="0">
                          <a:solidFill>
                            <a:srgbClr val="FFFFFF"/>
                          </a:solidFill>
                          <a:latin typeface="Calibri"/>
                        </a:rPr>
                        <a:t>September, member sessions</a:t>
                      </a:r>
                    </a:p>
                  </a:txBody>
                  <a:tcPr marL="101600" marR="101600" marT="38100" marB="38100" anchor="ctr">
                    <a:solidFill>
                      <a:srgbClr val="1A0F5C"/>
                    </a:solidFill>
                  </a:tcPr>
                </a:tc>
                <a:tc>
                  <a:txBody>
                    <a:bodyPr/>
                    <a:lstStyle/>
                    <a:p>
                      <a:r>
                        <a:rPr sz="1450" b="1" i="0">
                          <a:solidFill>
                            <a:srgbClr val="FFFFFF"/>
                          </a:solidFill>
                          <a:latin typeface="Calibri"/>
                        </a:rPr>
                        <a:t>Count</a:t>
                      </a:r>
                    </a:p>
                  </a:txBody>
                  <a:tcPr marL="101600" marR="101600" marT="38100" marB="38100" anchor="ctr">
                    <a:solidFill>
                      <a:srgbClr val="1A0F5C"/>
                    </a:solidFill>
                  </a:tcPr>
                </a:tc>
              </a:tr>
              <a:tr h="369824">
                <a:tc>
                  <a:txBody>
                    <a:bodyPr/>
                    <a:lstStyle/>
                    <a:p>
                      <a:r>
                        <a:rPr sz="1400" b="0" i="0">
                          <a:solidFill>
                            <a:srgbClr val="1A1440"/>
                          </a:solidFill>
                          <a:latin typeface="Calibri"/>
                        </a:rPr>
                        <a:t>Sessions with a search</a:t>
                      </a:r>
                    </a:p>
                  </a:txBody>
                  <a:tcPr marL="101600" marR="101600" marT="38100" marB="38100" anchor="ctr">
                    <a:solidFill>
                      <a:srgbClr val="FFFFFF"/>
                    </a:solidFill>
                  </a:tcPr>
                </a:tc>
                <a:tc>
                  <a:txBody>
                    <a:bodyPr/>
                    <a:lstStyle/>
                    <a:p>
                      <a:r>
                        <a:rPr sz="1400" b="0" i="0">
                          <a:solidFill>
                            <a:srgbClr val="1A1440"/>
                          </a:solidFill>
                          <a:latin typeface="Calibri"/>
                        </a:rPr>
                        <a:t>131,974</a:t>
                      </a:r>
                    </a:p>
                  </a:txBody>
                  <a:tcPr marL="101600" marR="101600" marT="38100" marB="38100" anchor="ctr">
                    <a:solidFill>
                      <a:srgbClr val="FFFFFF"/>
                    </a:solidFill>
                  </a:tcPr>
                </a:tc>
              </a:tr>
              <a:tr h="369824">
                <a:tc>
                  <a:txBody>
                    <a:bodyPr/>
                    <a:lstStyle/>
                    <a:p>
                      <a:r>
                        <a:rPr sz="1400" b="0" i="0">
                          <a:solidFill>
                            <a:srgbClr val="1A1440"/>
                          </a:solidFill>
                          <a:latin typeface="Calibri"/>
                        </a:rPr>
                        <a:t>Sessions with a menu view</a:t>
                      </a:r>
                    </a:p>
                  </a:txBody>
                  <a:tcPr marL="101600" marR="101600" marT="38100" marB="38100" anchor="ctr">
                    <a:solidFill>
                      <a:srgbClr val="F4F2FA"/>
                    </a:solidFill>
                  </a:tcPr>
                </a:tc>
                <a:tc>
                  <a:txBody>
                    <a:bodyPr/>
                    <a:lstStyle/>
                    <a:p>
                      <a:r>
                        <a:rPr sz="1400" b="0" i="0">
                          <a:solidFill>
                            <a:srgbClr val="1A1440"/>
                          </a:solidFill>
                          <a:latin typeface="Calibri"/>
                        </a:rPr>
                        <a:t>155,729</a:t>
                      </a:r>
                    </a:p>
                  </a:txBody>
                  <a:tcPr marL="101600" marR="101600" marT="38100" marB="38100" anchor="ctr">
                    <a:solidFill>
                      <a:srgbClr val="F4F2FA"/>
                    </a:solidFill>
                  </a:tcPr>
                </a:tc>
              </a:tr>
              <a:tr h="369824">
                <a:tc>
                  <a:txBody>
                    <a:bodyPr/>
                    <a:lstStyle/>
                    <a:p>
                      <a:r>
                        <a:rPr sz="1400" b="0" i="0">
                          <a:solidFill>
                            <a:srgbClr val="1A1440"/>
                          </a:solidFill>
                          <a:latin typeface="Calibri"/>
                        </a:rPr>
                        <a:t>Sessions with a menu view and no search: the home carousel</a:t>
                      </a:r>
                    </a:p>
                  </a:txBody>
                  <a:tcPr marL="101600" marR="101600" marT="38100" marB="38100" anchor="ctr">
                    <a:solidFill>
                      <a:srgbClr val="FFFFFF"/>
                    </a:solidFill>
                  </a:tcPr>
                </a:tc>
                <a:tc>
                  <a:txBody>
                    <a:bodyPr/>
                    <a:lstStyle/>
                    <a:p>
                      <a:r>
                        <a:rPr sz="1400" b="0" i="0">
                          <a:solidFill>
                            <a:srgbClr val="1A1440"/>
                          </a:solidFill>
                          <a:latin typeface="Calibri"/>
                        </a:rPr>
                        <a:t>38,932</a:t>
                      </a:r>
                    </a:p>
                  </a:txBody>
                  <a:tcPr marL="101600" marR="101600" marT="38100" marB="38100" anchor="ctr">
                    <a:solidFill>
                      <a:srgbClr val="FFFFFF"/>
                    </a:solidFill>
                  </a:tcPr>
                </a:tc>
              </a:tr>
              <a:tr h="369824">
                <a:tc>
                  <a:txBody>
                    <a:bodyPr/>
                    <a:lstStyle/>
                    <a:p>
                      <a:r>
                        <a:rPr sz="1400" b="0" i="0">
                          <a:solidFill>
                            <a:srgbClr val="1A1440"/>
                          </a:solidFill>
                          <a:latin typeface="Calibri"/>
                        </a:rPr>
                        <a:t>Sessions with a search and a menu view</a:t>
                      </a:r>
                    </a:p>
                  </a:txBody>
                  <a:tcPr marL="101600" marR="101600" marT="38100" marB="38100" anchor="ctr">
                    <a:solidFill>
                      <a:srgbClr val="F4F2FA"/>
                    </a:solidFill>
                  </a:tcPr>
                </a:tc>
                <a:tc>
                  <a:txBody>
                    <a:bodyPr/>
                    <a:lstStyle/>
                    <a:p>
                      <a:r>
                        <a:rPr sz="1400" b="0" i="0">
                          <a:solidFill>
                            <a:srgbClr val="1A1440"/>
                          </a:solidFill>
                          <a:latin typeface="Calibri"/>
                        </a:rPr>
                        <a:t>116,797, which is 89 percent of 131,974</a:t>
                      </a:r>
                    </a:p>
                  </a:txBody>
                  <a:tcPr marL="101600" marR="101600" marT="38100" marB="38100" anchor="ctr">
                    <a:solidFill>
                      <a:srgbClr val="F4F2FA"/>
                    </a:solidFill>
                  </a:tcPr>
                </a:tc>
              </a:tr>
            </a:tbl>
          </a:graphicData>
        </a:graphic>
      </p:graphicFrame>
      <p:sp>
        <p:nvSpPr>
          <p:cNvPr id="10" name="Rounded Rectangle 9"/>
          <p:cNvSpPr/>
          <p:nvPr/>
        </p:nvSpPr>
        <p:spPr>
          <a:xfrm>
            <a:off x="530352" y="4044188"/>
            <a:ext cx="11130991" cy="189890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4765040"/>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bug_39ada6eff46d.png"/>
          <p:cNvPicPr>
            <a:picLocks noChangeAspect="1"/>
          </p:cNvPicPr>
          <p:nvPr/>
        </p:nvPicPr>
        <p:blipFill>
          <a:blip r:embed="rId4"/>
          <a:stretch>
            <a:fillRect/>
          </a:stretch>
        </p:blipFill>
        <p:spPr>
          <a:xfrm>
            <a:off x="868680" y="4874768"/>
            <a:ext cx="237744" cy="237744"/>
          </a:xfrm>
          <a:prstGeom prst="rect">
            <a:avLst/>
          </a:prstGeom>
        </p:spPr>
      </p:pic>
      <p:sp>
        <p:nvSpPr>
          <p:cNvPr id="13" name="TextBox 12"/>
          <p:cNvSpPr txBox="1"/>
          <p:nvPr/>
        </p:nvSpPr>
        <p:spPr>
          <a:xfrm>
            <a:off x="1399031" y="4190492"/>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WHAT BREAKS</a:t>
            </a:r>
          </a:p>
        </p:txBody>
      </p:sp>
      <p:sp>
        <p:nvSpPr>
          <p:cNvPr id="14" name="TextBox 13"/>
          <p:cNvSpPr txBox="1"/>
          <p:nvPr/>
        </p:nvSpPr>
        <p:spPr>
          <a:xfrm>
            <a:off x="1399031" y="4409948"/>
            <a:ext cx="9987991" cy="1459992"/>
          </a:xfrm>
          <a:prstGeom prst="rect">
            <a:avLst/>
          </a:prstGeom>
          <a:noFill/>
        </p:spPr>
        <p:txBody>
          <a:bodyPr wrap="square" anchor="t" lIns="0" rIns="0" tIns="0" bIns="0">
            <a:spAutoFit/>
          </a:bodyPr>
          <a:lstStyle/>
          <a:p>
            <a:r>
              <a:rPr sz="1500" b="0" i="0">
                <a:solidFill>
                  <a:srgbClr val="1A1440"/>
                </a:solidFill>
                <a:latin typeface="Calibri"/>
              </a:rPr>
              <a:t>"Search to menu view is 118 percent, our best step." The home carousel opens a restaurant's menu without a search, so the ratio divides two counts of different sessions: search is a step members can skip, as the sister programme's optional test was in SECTION 4, and the 118 is an artefact, a number made by the way the count is taken. </a:t>
            </a:r>
            <a:r>
              <a:rPr sz="1500" b="1" i="0">
                <a:solidFill>
                  <a:srgbClr val="1A1440"/>
                </a:solidFill>
                <a:latin typeface="Calibri"/>
              </a:rPr>
              <a:t>The fix.</a:t>
            </a:r>
            <a:r>
              <a:rPr sz="1500" b="0" i="0">
                <a:solidFill>
                  <a:srgbClr val="1A1440"/>
                </a:solidFill>
                <a:latin typeface="Calibri"/>
              </a:rPr>
              <a:t> Count menu views only among sessions that searched: 89 percent.</a:t>
            </a:r>
          </a:p>
        </p:txBody>
      </p:sp>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010412" cy="152146"/>
          </a:xfrm>
          <a:prstGeom prst="rect">
            <a:avLst/>
          </a:prstGeom>
          <a:noFill/>
        </p:spPr>
        <p:txBody>
          <a:bodyPr wrap="square" anchor="t" lIns="0" rIns="0" tIns="0" bIns="0">
            <a:spAutoFit/>
          </a:bodyPr>
          <a:lstStyle/>
          <a:p>
            <a:pPr algn="l"/>
            <a:r>
              <a:rPr sz="700" b="0" i="0">
                <a:solidFill>
                  <a:srgbClr val="6B6690"/>
                </a:solidFill>
                <a:latin typeface="Calibri"/>
              </a:rPr>
              <a:t>Who joined when?</a:t>
            </a:r>
          </a:p>
        </p:txBody>
      </p:sp>
      <p:sp>
        <p:nvSpPr>
          <p:cNvPr id="17" name="Oval 16"/>
          <p:cNvSpPr/>
          <p:nvPr/>
        </p:nvSpPr>
        <p:spPr>
          <a:xfrm>
            <a:off x="174193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85166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Where is the floor?</a:t>
            </a:r>
          </a:p>
        </p:txBody>
      </p:sp>
      <p:sp>
        <p:nvSpPr>
          <p:cNvPr id="19" name="Oval 18"/>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20125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a blend made of?</a:t>
            </a:r>
          </a:p>
        </p:txBody>
      </p:sp>
      <p:sp>
        <p:nvSpPr>
          <p:cNvPr id="21" name="Oval 20"/>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78088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step owns a loss?</a:t>
            </a:r>
          </a:p>
        </p:txBody>
      </p:sp>
      <p:sp>
        <p:nvSpPr>
          <p:cNvPr id="23" name="Oval 22"/>
          <p:cNvSpPr/>
          <p:nvPr/>
        </p:nvSpPr>
        <p:spPr>
          <a:xfrm>
            <a:off x="62047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314503"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Who entered when?</a:t>
            </a:r>
          </a:p>
        </p:txBody>
      </p:sp>
      <p:sp>
        <p:nvSpPr>
          <p:cNvPr id="25" name="Oval 24"/>
          <p:cNvSpPr/>
          <p:nvPr/>
        </p:nvSpPr>
        <p:spPr>
          <a:xfrm>
            <a:off x="74623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572089"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the 38 made of?</a:t>
            </a:r>
          </a:p>
        </p:txBody>
      </p:sp>
      <p:sp>
        <p:nvSpPr>
          <p:cNvPr id="27" name="Oval 26"/>
          <p:cNvSpPr/>
          <p:nvPr/>
        </p:nvSpPr>
        <p:spPr>
          <a:xfrm>
            <a:off x="8995981"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9105709" y="6437376"/>
            <a:ext cx="1470469" cy="152146"/>
          </a:xfrm>
          <a:prstGeom prst="rect">
            <a:avLst/>
          </a:prstGeom>
          <a:noFill/>
        </p:spPr>
        <p:txBody>
          <a:bodyPr wrap="square" anchor="t" lIns="0" rIns="0" tIns="0" bIns="0">
            <a:spAutoFit/>
          </a:bodyPr>
          <a:lstStyle/>
          <a:p>
            <a:pPr algn="l"/>
            <a:r>
              <a:rPr sz="700" b="1" i="0">
                <a:solidFill>
                  <a:srgbClr val="5B3FD6"/>
                </a:solidFill>
                <a:latin typeface="Calibri"/>
              </a:rPr>
              <a:t>Which stage owns the loss?</a:t>
            </a:r>
          </a:p>
        </p:txBody>
      </p:sp>
      <p:sp>
        <p:nvSpPr>
          <p:cNvPr id="29" name="TextBox 2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S58  ·  66 / 73</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COHORT AND FUNNEL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Predict: per member, what does menu to cart read?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Menu view to add-to-cart reads 34 percent per session. Counted per member, what does it read?</a:t>
            </a:r>
          </a:p>
        </p:txBody>
      </p:sp>
      <p:sp>
        <p:nvSpPr>
          <p:cNvPr id="9" name="TextBox 8"/>
          <p:cNvSpPr txBox="1"/>
          <p:nvPr/>
        </p:nvSpPr>
        <p:spPr>
          <a:xfrm>
            <a:off x="530352" y="1956816"/>
            <a:ext cx="11130991" cy="1654048"/>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The same, 34 percent</a:t>
            </a:r>
          </a:p>
          <a:p>
            <a:pPr>
              <a:spcAft>
                <a:spcPts val="800"/>
              </a:spcAft>
            </a:pPr>
            <a:r>
              <a:rPr sz="1600" b="0" i="0">
                <a:solidFill>
                  <a:srgbClr val="1A1440"/>
                </a:solidFill>
                <a:latin typeface="Calibri"/>
              </a:rPr>
              <a:t>b) Lower, because members browse many times</a:t>
            </a:r>
          </a:p>
          <a:p>
            <a:pPr>
              <a:spcAft>
                <a:spcPts val="800"/>
              </a:spcAft>
            </a:pPr>
            <a:r>
              <a:rPr sz="1600" b="0" i="0">
                <a:solidFill>
                  <a:srgbClr val="1A1440"/>
                </a:solidFill>
                <a:latin typeface="Calibri"/>
              </a:rPr>
              <a:t>c) Higher, because a member who browses five times and buys once counts once</a:t>
            </a:r>
          </a:p>
          <a:p>
            <a:pPr>
              <a:spcAft>
                <a:spcPts val="800"/>
              </a:spcAft>
            </a:pPr>
            <a:r>
              <a:rPr sz="1600" b="0" i="0">
                <a:solidFill>
                  <a:srgbClr val="1A1440"/>
                </a:solidFill>
                <a:latin typeface="Calibri"/>
              </a:rPr>
              <a:t>d) Above 100 percent</a:t>
            </a:r>
          </a:p>
        </p:txBody>
      </p:sp>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010412" cy="152146"/>
          </a:xfrm>
          <a:prstGeom prst="rect">
            <a:avLst/>
          </a:prstGeom>
          <a:noFill/>
        </p:spPr>
        <p:txBody>
          <a:bodyPr wrap="square" anchor="t" lIns="0" rIns="0" tIns="0" bIns="0">
            <a:spAutoFit/>
          </a:bodyPr>
          <a:lstStyle/>
          <a:p>
            <a:pPr algn="l"/>
            <a:r>
              <a:rPr sz="700" b="0" i="0">
                <a:solidFill>
                  <a:srgbClr val="6B6690"/>
                </a:solidFill>
                <a:latin typeface="Calibri"/>
              </a:rPr>
              <a:t>Who joined when?</a:t>
            </a:r>
          </a:p>
        </p:txBody>
      </p:sp>
      <p:sp>
        <p:nvSpPr>
          <p:cNvPr id="12" name="Oval 11"/>
          <p:cNvSpPr/>
          <p:nvPr/>
        </p:nvSpPr>
        <p:spPr>
          <a:xfrm>
            <a:off x="174193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85166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Where is the floor?</a:t>
            </a:r>
          </a:p>
        </p:txBody>
      </p:sp>
      <p:sp>
        <p:nvSpPr>
          <p:cNvPr id="14" name="Oval 13"/>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20125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a blend made of?</a:t>
            </a:r>
          </a:p>
        </p:txBody>
      </p:sp>
      <p:sp>
        <p:nvSpPr>
          <p:cNvPr id="16" name="Oval 15"/>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78088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step owns a loss?</a:t>
            </a:r>
          </a:p>
        </p:txBody>
      </p:sp>
      <p:sp>
        <p:nvSpPr>
          <p:cNvPr id="18" name="Oval 17"/>
          <p:cNvSpPr/>
          <p:nvPr/>
        </p:nvSpPr>
        <p:spPr>
          <a:xfrm>
            <a:off x="62047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314503"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Who entered when?</a:t>
            </a:r>
          </a:p>
        </p:txBody>
      </p:sp>
      <p:sp>
        <p:nvSpPr>
          <p:cNvPr id="20" name="Oval 19"/>
          <p:cNvSpPr/>
          <p:nvPr/>
        </p:nvSpPr>
        <p:spPr>
          <a:xfrm>
            <a:off x="74623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572089"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the 38 made of?</a:t>
            </a:r>
          </a:p>
        </p:txBody>
      </p:sp>
      <p:sp>
        <p:nvSpPr>
          <p:cNvPr id="22" name="Oval 21"/>
          <p:cNvSpPr/>
          <p:nvPr/>
        </p:nvSpPr>
        <p:spPr>
          <a:xfrm>
            <a:off x="8995981"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105709" y="6437376"/>
            <a:ext cx="1470469" cy="152146"/>
          </a:xfrm>
          <a:prstGeom prst="rect">
            <a:avLst/>
          </a:prstGeom>
          <a:noFill/>
        </p:spPr>
        <p:txBody>
          <a:bodyPr wrap="square" anchor="t" lIns="0" rIns="0" tIns="0" bIns="0">
            <a:spAutoFit/>
          </a:bodyPr>
          <a:lstStyle/>
          <a:p>
            <a:pPr algn="l"/>
            <a:r>
              <a:rPr sz="700" b="1" i="0">
                <a:solidFill>
                  <a:srgbClr val="5B3FD6"/>
                </a:solidFill>
                <a:latin typeface="Calibri"/>
              </a:rPr>
              <a:t>Which stage owns the loss?</a:t>
            </a:r>
          </a:p>
        </p:txBody>
      </p:sp>
      <p:sp>
        <p:nvSpPr>
          <p:cNvPr id="24" name="TextBox 2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S59  ·  67 / 73</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COHORT AND FUNNEL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61 per member, 34 per session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each unit answer, and which does the chart name?</a:t>
            </a:r>
          </a:p>
        </p:txBody>
      </p:sp>
      <p:pic>
        <p:nvPicPr>
          <p:cNvPr id="9" name="mermaid diagram" descr="C2_W04_D04_funnel_two_units_STUDENT.png"/>
          <p:cNvPicPr>
            <a:picLocks noChangeAspect="1"/>
          </p:cNvPicPr>
          <p:nvPr/>
        </p:nvPicPr>
        <p:blipFill>
          <a:blip r:embed="rId4"/>
          <a:stretch>
            <a:fillRect/>
          </a:stretch>
        </p:blipFill>
        <p:spPr>
          <a:xfrm>
            <a:off x="2204139" y="1664208"/>
            <a:ext cx="7783415" cy="3008376"/>
          </a:xfrm>
          <a:prstGeom prst="rect">
            <a:avLst/>
          </a:prstGeom>
        </p:spPr>
      </p:pic>
      <p:sp>
        <p:nvSpPr>
          <p:cNvPr id="10" name="picture caption"/>
          <p:cNvSpPr txBox="1"/>
          <p:nvPr/>
        </p:nvSpPr>
        <p:spPr>
          <a:xfrm>
            <a:off x="530352" y="4709160"/>
            <a:ext cx="11130991" cy="316992"/>
          </a:xfrm>
          <a:prstGeom prst="rect">
            <a:avLst/>
          </a:prstGeom>
          <a:noFill/>
        </p:spPr>
        <p:txBody>
          <a:bodyPr wrap="square" anchor="t" lIns="0" rIns="0" tIns="0" bIns="0">
            <a:spAutoFit/>
          </a:bodyPr>
          <a:lstStyle/>
          <a:p>
            <a:pPr algn="ctr"/>
            <a:r>
              <a:rPr sz="1200" b="0" i="0">
                <a:solidFill>
                  <a:srgbClr val="6B6690"/>
                </a:solidFill>
                <a:latin typeface="Calibri"/>
              </a:rPr>
              <a:t>September, Gold members: one funnel, two units</a:t>
            </a:r>
          </a:p>
        </p:txBody>
      </p:sp>
      <p:sp>
        <p:nvSpPr>
          <p:cNvPr id="11" name="TextBox 10"/>
          <p:cNvSpPr txBox="1"/>
          <p:nvPr/>
        </p:nvSpPr>
        <p:spPr>
          <a:xfrm>
            <a:off x="530352" y="5035296"/>
            <a:ext cx="11130991" cy="1164336"/>
          </a:xfrm>
          <a:prstGeom prst="rect">
            <a:avLst/>
          </a:prstGeom>
          <a:noFill/>
        </p:spPr>
        <p:txBody>
          <a:bodyPr wrap="square" anchor="t" lIns="0" rIns="0" tIns="0" bIns="0">
            <a:spAutoFit/>
          </a:bodyPr>
          <a:lstStyle/>
          <a:p>
            <a:r>
              <a:rPr sz="1200" b="0" i="0">
                <a:solidFill>
                  <a:srgbClr val="1A1440"/>
                </a:solidFill>
                <a:latin typeface="Calibri"/>
              </a:rPr>
              <a:t>The answer is c. Per session asks how often a menu visit becomes a cart; per member asks how many members who browsed ever added to a cart that month. Neither is wrong, and a chart that does not name its unit invites the wrong one. Here every step except search to menu view reads higher per member, 118 to 101, since a member who fails in one session can succeed in another; a member who orders in many sessions can pull a per-member rate lower, so the direction is read from the data. This chart pools every platform and all of September, so neither panel shows the ticket's loss: the split by platform and date does.</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010412" cy="152146"/>
          </a:xfrm>
          <a:prstGeom prst="rect">
            <a:avLst/>
          </a:prstGeom>
          <a:noFill/>
        </p:spPr>
        <p:txBody>
          <a:bodyPr wrap="square" anchor="t" lIns="0" rIns="0" tIns="0" bIns="0">
            <a:spAutoFit/>
          </a:bodyPr>
          <a:lstStyle/>
          <a:p>
            <a:pPr algn="l"/>
            <a:r>
              <a:rPr sz="700" b="0" i="0">
                <a:solidFill>
                  <a:srgbClr val="6B6690"/>
                </a:solidFill>
                <a:latin typeface="Calibri"/>
              </a:rPr>
              <a:t>Who joined when?</a:t>
            </a:r>
          </a:p>
        </p:txBody>
      </p:sp>
      <p:sp>
        <p:nvSpPr>
          <p:cNvPr id="14" name="Oval 13"/>
          <p:cNvSpPr/>
          <p:nvPr/>
        </p:nvSpPr>
        <p:spPr>
          <a:xfrm>
            <a:off x="174193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85166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Where is the floor?</a:t>
            </a:r>
          </a:p>
        </p:txBody>
      </p:sp>
      <p:sp>
        <p:nvSpPr>
          <p:cNvPr id="16" name="Oval 15"/>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20125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a blend made of?</a:t>
            </a:r>
          </a:p>
        </p:txBody>
      </p:sp>
      <p:sp>
        <p:nvSpPr>
          <p:cNvPr id="18" name="Oval 17"/>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78088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step owns a loss?</a:t>
            </a:r>
          </a:p>
        </p:txBody>
      </p:sp>
      <p:sp>
        <p:nvSpPr>
          <p:cNvPr id="20" name="Oval 19"/>
          <p:cNvSpPr/>
          <p:nvPr/>
        </p:nvSpPr>
        <p:spPr>
          <a:xfrm>
            <a:off x="62047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314503"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Who entered when?</a:t>
            </a:r>
          </a:p>
        </p:txBody>
      </p:sp>
      <p:sp>
        <p:nvSpPr>
          <p:cNvPr id="22" name="Oval 21"/>
          <p:cNvSpPr/>
          <p:nvPr/>
        </p:nvSpPr>
        <p:spPr>
          <a:xfrm>
            <a:off x="74623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572089"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the 38 made of?</a:t>
            </a:r>
          </a:p>
        </p:txBody>
      </p:sp>
      <p:sp>
        <p:nvSpPr>
          <p:cNvPr id="24" name="Oval 23"/>
          <p:cNvSpPr/>
          <p:nvPr/>
        </p:nvSpPr>
        <p:spPr>
          <a:xfrm>
            <a:off x="8995981"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105709" y="6437376"/>
            <a:ext cx="1470469" cy="152146"/>
          </a:xfrm>
          <a:prstGeom prst="rect">
            <a:avLst/>
          </a:prstGeom>
          <a:noFill/>
        </p:spPr>
        <p:txBody>
          <a:bodyPr wrap="square" anchor="t" lIns="0" rIns="0" tIns="0" bIns="0">
            <a:spAutoFit/>
          </a:bodyPr>
          <a:lstStyle/>
          <a:p>
            <a:pPr algn="l"/>
            <a:r>
              <a:rPr sz="700" b="1" i="0">
                <a:solidFill>
                  <a:srgbClr val="5B3FD6"/>
                </a:solidFill>
                <a:latin typeface="Calibri"/>
              </a:rPr>
              <a:t>Which stage owns the loss?</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S60  ·  68 / 73</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COHORT AND FUNNEL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Predict: when did members' Android rate break?</a:t>
            </a:r>
          </a:p>
        </p:txBody>
      </p:sp>
      <p:sp>
        <p:nvSpPr>
          <p:cNvPr id="8" name="TextBox 7"/>
          <p:cNvSpPr txBox="1"/>
          <p:nvPr/>
        </p:nvSpPr>
        <p:spPr>
          <a:xfrm>
            <a:off x="530352" y="1243584"/>
            <a:ext cx="11130991" cy="399796"/>
          </a:xfrm>
          <a:prstGeom prst="rect">
            <a:avLst/>
          </a:prstGeom>
          <a:noFill/>
        </p:spPr>
        <p:txBody>
          <a:bodyPr wrap="square" anchor="t" lIns="0" rIns="0" tIns="0" bIns="0">
            <a:spAutoFit/>
          </a:bodyPr>
          <a:lstStyle/>
          <a:p>
            <a:pPr algn="l"/>
            <a:r>
              <a:rPr sz="1100" b="0" i="0">
                <a:solidFill>
                  <a:srgbClr val="6B6690"/>
                </a:solidFill>
                <a:latin typeface="Calibri"/>
              </a:rPr>
              <a:t>Members' add-to-cart to order on Android read 58 percent from 1 August to 13 September and 44 from 14 to 30 September. Week by week, what does the line look like?</a:t>
            </a:r>
          </a:p>
        </p:txBody>
      </p:sp>
      <p:sp>
        <p:nvSpPr>
          <p:cNvPr id="9" name="TextBox 8"/>
          <p:cNvSpPr txBox="1"/>
          <p:nvPr/>
        </p:nvSpPr>
        <p:spPr>
          <a:xfrm>
            <a:off x="530352" y="1956816"/>
            <a:ext cx="11130991" cy="1654048"/>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A slow slide across August and September</a:t>
            </a:r>
          </a:p>
          <a:p>
            <a:pPr>
              <a:spcAft>
                <a:spcPts val="800"/>
              </a:spcAft>
            </a:pPr>
            <a:r>
              <a:rPr sz="1600" b="0" i="0">
                <a:solidFill>
                  <a:srgbClr val="1A1440"/>
                </a:solidFill>
                <a:latin typeface="Calibri"/>
              </a:rPr>
              <a:t>b) Flat near 58 for seven weeks, then a break in the release week</a:t>
            </a:r>
          </a:p>
          <a:p>
            <a:pPr>
              <a:spcAft>
                <a:spcPts val="800"/>
              </a:spcAft>
            </a:pPr>
            <a:r>
              <a:rPr sz="1600" b="0" i="0">
                <a:solidFill>
                  <a:srgbClr val="1A1440"/>
                </a:solidFill>
                <a:latin typeface="Calibri"/>
              </a:rPr>
              <a:t>c) A fall that started a week before the release</a:t>
            </a:r>
          </a:p>
          <a:p>
            <a:pPr>
              <a:spcAft>
                <a:spcPts val="800"/>
              </a:spcAft>
            </a:pPr>
            <a:r>
              <a:rPr sz="1600" b="0" i="0">
                <a:solidFill>
                  <a:srgbClr val="1A1440"/>
                </a:solidFill>
                <a:latin typeface="Calibri"/>
              </a:rPr>
              <a:t>d) A dip in the release week that recovered by the month's end</a:t>
            </a:r>
          </a:p>
        </p:txBody>
      </p:sp>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010412" cy="152146"/>
          </a:xfrm>
          <a:prstGeom prst="rect">
            <a:avLst/>
          </a:prstGeom>
          <a:noFill/>
        </p:spPr>
        <p:txBody>
          <a:bodyPr wrap="square" anchor="t" lIns="0" rIns="0" tIns="0" bIns="0">
            <a:spAutoFit/>
          </a:bodyPr>
          <a:lstStyle/>
          <a:p>
            <a:pPr algn="l"/>
            <a:r>
              <a:rPr sz="700" b="0" i="0">
                <a:solidFill>
                  <a:srgbClr val="6B6690"/>
                </a:solidFill>
                <a:latin typeface="Calibri"/>
              </a:rPr>
              <a:t>Who joined when?</a:t>
            </a:r>
          </a:p>
        </p:txBody>
      </p:sp>
      <p:sp>
        <p:nvSpPr>
          <p:cNvPr id="12" name="Oval 11"/>
          <p:cNvSpPr/>
          <p:nvPr/>
        </p:nvSpPr>
        <p:spPr>
          <a:xfrm>
            <a:off x="174193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85166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Where is the floor?</a:t>
            </a:r>
          </a:p>
        </p:txBody>
      </p:sp>
      <p:sp>
        <p:nvSpPr>
          <p:cNvPr id="14" name="Oval 13"/>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20125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a blend made of?</a:t>
            </a:r>
          </a:p>
        </p:txBody>
      </p:sp>
      <p:sp>
        <p:nvSpPr>
          <p:cNvPr id="16" name="Oval 15"/>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78088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step owns a loss?</a:t>
            </a:r>
          </a:p>
        </p:txBody>
      </p:sp>
      <p:sp>
        <p:nvSpPr>
          <p:cNvPr id="18" name="Oval 17"/>
          <p:cNvSpPr/>
          <p:nvPr/>
        </p:nvSpPr>
        <p:spPr>
          <a:xfrm>
            <a:off x="62047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314503"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Who entered when?</a:t>
            </a:r>
          </a:p>
        </p:txBody>
      </p:sp>
      <p:sp>
        <p:nvSpPr>
          <p:cNvPr id="20" name="Oval 19"/>
          <p:cNvSpPr/>
          <p:nvPr/>
        </p:nvSpPr>
        <p:spPr>
          <a:xfrm>
            <a:off x="74623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572089"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the 38 made of?</a:t>
            </a:r>
          </a:p>
        </p:txBody>
      </p:sp>
      <p:sp>
        <p:nvSpPr>
          <p:cNvPr id="22" name="Oval 21"/>
          <p:cNvSpPr/>
          <p:nvPr/>
        </p:nvSpPr>
        <p:spPr>
          <a:xfrm>
            <a:off x="8995981"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105709" y="6437376"/>
            <a:ext cx="1470469" cy="152146"/>
          </a:xfrm>
          <a:prstGeom prst="rect">
            <a:avLst/>
          </a:prstGeom>
          <a:noFill/>
        </p:spPr>
        <p:txBody>
          <a:bodyPr wrap="square" anchor="t" lIns="0" rIns="0" tIns="0" bIns="0">
            <a:spAutoFit/>
          </a:bodyPr>
          <a:lstStyle/>
          <a:p>
            <a:pPr algn="l"/>
            <a:r>
              <a:rPr sz="700" b="1" i="0">
                <a:solidFill>
                  <a:srgbClr val="5B3FD6"/>
                </a:solidFill>
                <a:latin typeface="Calibri"/>
              </a:rPr>
              <a:t>Which stage owns the loss?</a:t>
            </a:r>
          </a:p>
        </p:txBody>
      </p:sp>
      <p:sp>
        <p:nvSpPr>
          <p:cNvPr id="24" name="TextBox 2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S61  ·  69 / 73</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COHORT AND FUNNEL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flat, then a break in the release week</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does add-to-cart to order move by membership, platform and week?</a:t>
            </a:r>
          </a:p>
        </p:txBody>
      </p:sp>
      <p:pic>
        <p:nvPicPr>
          <p:cNvPr id="9" name="mermaid diagram" descr="C2_W04_D04_release_split_STUDENT.png"/>
          <p:cNvPicPr>
            <a:picLocks noChangeAspect="1"/>
          </p:cNvPicPr>
          <p:nvPr/>
        </p:nvPicPr>
        <p:blipFill>
          <a:blip r:embed="rId4"/>
          <a:stretch>
            <a:fillRect/>
          </a:stretch>
        </p:blipFill>
        <p:spPr>
          <a:xfrm>
            <a:off x="3035838" y="1664208"/>
            <a:ext cx="6120017" cy="2939288"/>
          </a:xfrm>
          <a:prstGeom prst="rect">
            <a:avLst/>
          </a:prstGeom>
        </p:spPr>
      </p:pic>
      <p:sp>
        <p:nvSpPr>
          <p:cNvPr id="10" name="picture caption"/>
          <p:cNvSpPr txBox="1"/>
          <p:nvPr/>
        </p:nvSpPr>
        <p:spPr>
          <a:xfrm>
            <a:off x="530352" y="4640072"/>
            <a:ext cx="11130991" cy="316992"/>
          </a:xfrm>
          <a:prstGeom prst="rect">
            <a:avLst/>
          </a:prstGeom>
          <a:noFill/>
        </p:spPr>
        <p:txBody>
          <a:bodyPr wrap="square" anchor="t" lIns="0" rIns="0" tIns="0" bIns="0">
            <a:spAutoFit/>
          </a:bodyPr>
          <a:lstStyle/>
          <a:p>
            <a:pPr algn="ctr"/>
            <a:r>
              <a:rPr sz="1200" b="0" i="0">
                <a:solidFill>
                  <a:srgbClr val="6B6690"/>
                </a:solidFill>
                <a:latin typeface="Calibri"/>
              </a:rPr>
              <a:t>Only members on Android fall, and only from the release week</a:t>
            </a:r>
          </a:p>
        </p:txBody>
      </p:sp>
      <p:sp>
        <p:nvSpPr>
          <p:cNvPr id="11" name="TextBox 10"/>
          <p:cNvSpPr txBox="1"/>
          <p:nvPr/>
        </p:nvSpPr>
        <p:spPr>
          <a:xfrm>
            <a:off x="530352" y="4966208"/>
            <a:ext cx="11130991" cy="1233424"/>
          </a:xfrm>
          <a:prstGeom prst="rect">
            <a:avLst/>
          </a:prstGeom>
          <a:noFill/>
        </p:spPr>
        <p:txBody>
          <a:bodyPr wrap="square" anchor="t" lIns="0" rIns="0" tIns="0" bIns="0">
            <a:spAutoFit/>
          </a:bodyPr>
          <a:lstStyle/>
          <a:p>
            <a:r>
              <a:rPr sz="1600" b="0" i="0">
                <a:solidFill>
                  <a:srgbClr val="1A1440"/>
                </a:solidFill>
                <a:latin typeface="Calibri"/>
              </a:rPr>
              <a:t>The answer is b. Members on Android: 58 to 44 percent, about 58 in each of the seven weeks before the release, then 45, 43 and 44. Members on iOS: 57 to 56. Non-members on Android: 52 to 51. Moving the cut a week either way keeps the fall, 58 to 47 with the cut on 7 September and 56 to 43 on 21 September, so the fall does not depend on where the line is drawn.</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010412" cy="152146"/>
          </a:xfrm>
          <a:prstGeom prst="rect">
            <a:avLst/>
          </a:prstGeom>
          <a:noFill/>
        </p:spPr>
        <p:txBody>
          <a:bodyPr wrap="square" anchor="t" lIns="0" rIns="0" tIns="0" bIns="0">
            <a:spAutoFit/>
          </a:bodyPr>
          <a:lstStyle/>
          <a:p>
            <a:pPr algn="l"/>
            <a:r>
              <a:rPr sz="700" b="0" i="0">
                <a:solidFill>
                  <a:srgbClr val="6B6690"/>
                </a:solidFill>
                <a:latin typeface="Calibri"/>
              </a:rPr>
              <a:t>Who joined when?</a:t>
            </a:r>
          </a:p>
        </p:txBody>
      </p:sp>
      <p:sp>
        <p:nvSpPr>
          <p:cNvPr id="14" name="Oval 13"/>
          <p:cNvSpPr/>
          <p:nvPr/>
        </p:nvSpPr>
        <p:spPr>
          <a:xfrm>
            <a:off x="174193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85166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Where is the floor?</a:t>
            </a:r>
          </a:p>
        </p:txBody>
      </p:sp>
      <p:sp>
        <p:nvSpPr>
          <p:cNvPr id="16" name="Oval 15"/>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20125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a blend made of?</a:t>
            </a:r>
          </a:p>
        </p:txBody>
      </p:sp>
      <p:sp>
        <p:nvSpPr>
          <p:cNvPr id="18" name="Oval 17"/>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78088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step owns a loss?</a:t>
            </a:r>
          </a:p>
        </p:txBody>
      </p:sp>
      <p:sp>
        <p:nvSpPr>
          <p:cNvPr id="20" name="Oval 19"/>
          <p:cNvSpPr/>
          <p:nvPr/>
        </p:nvSpPr>
        <p:spPr>
          <a:xfrm>
            <a:off x="62047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314503"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Who entered when?</a:t>
            </a:r>
          </a:p>
        </p:txBody>
      </p:sp>
      <p:sp>
        <p:nvSpPr>
          <p:cNvPr id="22" name="Oval 21"/>
          <p:cNvSpPr/>
          <p:nvPr/>
        </p:nvSpPr>
        <p:spPr>
          <a:xfrm>
            <a:off x="74623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572089"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the 38 made of?</a:t>
            </a:r>
          </a:p>
        </p:txBody>
      </p:sp>
      <p:sp>
        <p:nvSpPr>
          <p:cNvPr id="24" name="Oval 23"/>
          <p:cNvSpPr/>
          <p:nvPr/>
        </p:nvSpPr>
        <p:spPr>
          <a:xfrm>
            <a:off x="8995981"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105709" y="6437376"/>
            <a:ext cx="1470469" cy="152146"/>
          </a:xfrm>
          <a:prstGeom prst="rect">
            <a:avLst/>
          </a:prstGeom>
          <a:noFill/>
        </p:spPr>
        <p:txBody>
          <a:bodyPr wrap="square" anchor="t" lIns="0" rIns="0" tIns="0" bIns="0">
            <a:spAutoFit/>
          </a:bodyPr>
          <a:lstStyle/>
          <a:p>
            <a:pPr algn="l"/>
            <a:r>
              <a:rPr sz="700" b="1" i="0">
                <a:solidFill>
                  <a:srgbClr val="5B3FD6"/>
                </a:solidFill>
                <a:latin typeface="Calibri"/>
              </a:rPr>
              <a:t>Which stage owns the loss?</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S62  ·  70 / 73</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COHORT AND FUNNEL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step that broke: checkout start to order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of the two steps inside the checkout changed, and is the app team's chart wrong?</a:t>
            </a:r>
          </a:p>
        </p:txBody>
      </p:sp>
      <p:pic>
        <p:nvPicPr>
          <p:cNvPr id="9" name="mermaid diagram" descr="C2_W04_D04_stage_split_STUDENT.png"/>
          <p:cNvPicPr>
            <a:picLocks noChangeAspect="1"/>
          </p:cNvPicPr>
          <p:nvPr/>
        </p:nvPicPr>
        <p:blipFill>
          <a:blip r:embed="rId4"/>
          <a:stretch>
            <a:fillRect/>
          </a:stretch>
        </p:blipFill>
        <p:spPr>
          <a:xfrm>
            <a:off x="3144426" y="1664208"/>
            <a:ext cx="5902841" cy="2662936"/>
          </a:xfrm>
          <a:prstGeom prst="rect">
            <a:avLst/>
          </a:prstGeom>
        </p:spPr>
      </p:pic>
      <p:sp>
        <p:nvSpPr>
          <p:cNvPr id="10" name="picture caption"/>
          <p:cNvSpPr txBox="1"/>
          <p:nvPr/>
        </p:nvSpPr>
        <p:spPr>
          <a:xfrm>
            <a:off x="530352" y="4363720"/>
            <a:ext cx="11130991" cy="316992"/>
          </a:xfrm>
          <a:prstGeom prst="rect">
            <a:avLst/>
          </a:prstGeom>
          <a:noFill/>
        </p:spPr>
        <p:txBody>
          <a:bodyPr wrap="square" anchor="t" lIns="0" rIns="0" tIns="0" bIns="0">
            <a:spAutoFit/>
          </a:bodyPr>
          <a:lstStyle/>
          <a:p>
            <a:pPr algn="ctr"/>
            <a:r>
              <a:rPr sz="1200" b="0" i="0">
                <a:solidFill>
                  <a:srgbClr val="6B6690"/>
                </a:solidFill>
                <a:latin typeface="Calibri"/>
              </a:rPr>
              <a:t>Android members: the step that changed is checkout to order</a:t>
            </a:r>
          </a:p>
        </p:txBody>
      </p:sp>
      <p:sp>
        <p:nvSpPr>
          <p:cNvPr id="11" name="TextBox 10"/>
          <p:cNvSpPr txBox="1"/>
          <p:nvPr/>
        </p:nvSpPr>
        <p:spPr>
          <a:xfrm>
            <a:off x="530352" y="4689856"/>
            <a:ext cx="11130991" cy="1509775"/>
          </a:xfrm>
          <a:prstGeom prst="rect">
            <a:avLst/>
          </a:prstGeom>
          <a:noFill/>
        </p:spPr>
        <p:txBody>
          <a:bodyPr wrap="square" anchor="t" lIns="0" rIns="0" tIns="0" bIns="0">
            <a:spAutoFit/>
          </a:bodyPr>
          <a:lstStyle/>
          <a:p>
            <a:r>
              <a:rPr sz="1600" b="0" i="0">
                <a:solidFill>
                  <a:srgbClr val="1A1440"/>
                </a:solidFill>
                <a:latin typeface="Calibri"/>
              </a:rPr>
              <a:t>Android members still start checkout from 80 percent of carts, before and after. Completing the order once checkout has started fell from 72.5 to 55 percent, and the two steps multiply to the ticket's numbers: 0.80 × 72.5 = 58, 0.80 × 55 = 44. On this same step, iOS members went from 71 to 70 and non-members on Android from 65 to 64. The app team's chart, carts that start checkout, reads 80 percent flat: true, and it measures the step that did not break.</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010412" cy="152146"/>
          </a:xfrm>
          <a:prstGeom prst="rect">
            <a:avLst/>
          </a:prstGeom>
          <a:noFill/>
        </p:spPr>
        <p:txBody>
          <a:bodyPr wrap="square" anchor="t" lIns="0" rIns="0" tIns="0" bIns="0">
            <a:spAutoFit/>
          </a:bodyPr>
          <a:lstStyle/>
          <a:p>
            <a:pPr algn="l"/>
            <a:r>
              <a:rPr sz="700" b="0" i="0">
                <a:solidFill>
                  <a:srgbClr val="6B6690"/>
                </a:solidFill>
                <a:latin typeface="Calibri"/>
              </a:rPr>
              <a:t>Who joined when?</a:t>
            </a:r>
          </a:p>
        </p:txBody>
      </p:sp>
      <p:sp>
        <p:nvSpPr>
          <p:cNvPr id="14" name="Oval 13"/>
          <p:cNvSpPr/>
          <p:nvPr/>
        </p:nvSpPr>
        <p:spPr>
          <a:xfrm>
            <a:off x="174193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85166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Where is the floor?</a:t>
            </a:r>
          </a:p>
        </p:txBody>
      </p:sp>
      <p:sp>
        <p:nvSpPr>
          <p:cNvPr id="16" name="Oval 15"/>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20125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a blend made of?</a:t>
            </a:r>
          </a:p>
        </p:txBody>
      </p:sp>
      <p:sp>
        <p:nvSpPr>
          <p:cNvPr id="18" name="Oval 17"/>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78088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step owns a loss?</a:t>
            </a:r>
          </a:p>
        </p:txBody>
      </p:sp>
      <p:sp>
        <p:nvSpPr>
          <p:cNvPr id="20" name="Oval 19"/>
          <p:cNvSpPr/>
          <p:nvPr/>
        </p:nvSpPr>
        <p:spPr>
          <a:xfrm>
            <a:off x="62047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314503"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Who entered when?</a:t>
            </a:r>
          </a:p>
        </p:txBody>
      </p:sp>
      <p:sp>
        <p:nvSpPr>
          <p:cNvPr id="22" name="Oval 21"/>
          <p:cNvSpPr/>
          <p:nvPr/>
        </p:nvSpPr>
        <p:spPr>
          <a:xfrm>
            <a:off x="74623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572089"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the 38 made of?</a:t>
            </a:r>
          </a:p>
        </p:txBody>
      </p:sp>
      <p:sp>
        <p:nvSpPr>
          <p:cNvPr id="24" name="Oval 23"/>
          <p:cNvSpPr/>
          <p:nvPr/>
        </p:nvSpPr>
        <p:spPr>
          <a:xfrm>
            <a:off x="8995981"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105709" y="6437376"/>
            <a:ext cx="1470469" cy="152146"/>
          </a:xfrm>
          <a:prstGeom prst="rect">
            <a:avLst/>
          </a:prstGeom>
          <a:noFill/>
        </p:spPr>
        <p:txBody>
          <a:bodyPr wrap="square" anchor="t" lIns="0" rIns="0" tIns="0" bIns="0">
            <a:spAutoFit/>
          </a:bodyPr>
          <a:lstStyle/>
          <a:p>
            <a:pPr algn="l"/>
            <a:r>
              <a:rPr sz="700" b="1" i="0">
                <a:solidFill>
                  <a:srgbClr val="5B3FD6"/>
                </a:solidFill>
                <a:latin typeface="Calibri"/>
              </a:rPr>
              <a:t>Which stage owns the loss?</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S63  ·  71 / 73</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COHORT AND FUNNEL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Seven checks before the call</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could still make the call wrong, and which check settles each?</a:t>
            </a:r>
          </a:p>
        </p:txBody>
      </p:sp>
      <p:graphicFrame>
        <p:nvGraphicFramePr>
          <p:cNvPr id="9" name="Table 8"/>
          <p:cNvGraphicFramePr>
            <a:graphicFrameLocks noGrp="1"/>
          </p:cNvGraphicFramePr>
          <p:nvPr/>
        </p:nvGraphicFramePr>
        <p:xfrm>
          <a:off x="530352" y="1682496"/>
          <a:ext cx="11130990" cy="3462528"/>
        </p:xfrm>
        <a:graphic>
          <a:graphicData uri="http://schemas.openxmlformats.org/drawingml/2006/table">
            <a:tbl>
              <a:tblPr firstRow="0" bandRow="0">
                <a:tableStyleId>{2D5ABB26-0587-4C30-8999-92F81FD0307C}</a:tableStyleId>
              </a:tblPr>
              <a:tblGrid>
                <a:gridCol w="3575224"/>
                <a:gridCol w="3777883"/>
                <a:gridCol w="3777883"/>
              </a:tblGrid>
              <a:tr h="310896">
                <a:tc>
                  <a:txBody>
                    <a:bodyPr/>
                    <a:lstStyle/>
                    <a:p>
                      <a:r>
                        <a:rPr sz="1050" b="1" i="0">
                          <a:solidFill>
                            <a:srgbClr val="FFFFFF"/>
                          </a:solidFill>
                          <a:latin typeface="Calibri"/>
                        </a:rPr>
                        <a:t>Caveat</a:t>
                      </a:r>
                    </a:p>
                  </a:txBody>
                  <a:tcPr marL="101600" marR="101600" marT="38100" marB="38100" anchor="ctr">
                    <a:solidFill>
                      <a:srgbClr val="1A0F5C"/>
                    </a:solidFill>
                  </a:tcPr>
                </a:tc>
                <a:tc>
                  <a:txBody>
                    <a:bodyPr/>
                    <a:lstStyle/>
                    <a:p>
                      <a:r>
                        <a:rPr sz="1050" b="1" i="0">
                          <a:solidFill>
                            <a:srgbClr val="FFFFFF"/>
                          </a:solidFill>
                          <a:latin typeface="Calibri"/>
                        </a:rPr>
                        <a:t>The check</a:t>
                      </a:r>
                    </a:p>
                  </a:txBody>
                  <a:tcPr marL="101600" marR="101600" marT="38100" marB="38100" anchor="ctr">
                    <a:solidFill>
                      <a:srgbClr val="1A0F5C"/>
                    </a:solidFill>
                  </a:tcPr>
                </a:tc>
                <a:tc>
                  <a:txBody>
                    <a:bodyPr/>
                    <a:lstStyle/>
                    <a:p>
                      <a:r>
                        <a:rPr sz="1050" b="1" i="0">
                          <a:solidFill>
                            <a:srgbClr val="FFFFFF"/>
                          </a:solidFill>
                          <a:latin typeface="Calibri"/>
                        </a:rPr>
                        <a:t>What it found</a:t>
                      </a:r>
                    </a:p>
                  </a:txBody>
                  <a:tcPr marL="101600" marR="101600" marT="38100" marB="38100" anchor="ctr">
                    <a:solidFill>
                      <a:srgbClr val="1A0F5C"/>
                    </a:solidFill>
                  </a:tcPr>
                </a:tc>
              </a:tr>
              <a:tr h="473456">
                <a:tc>
                  <a:txBody>
                    <a:bodyPr/>
                    <a:lstStyle/>
                    <a:p>
                      <a:r>
                        <a:rPr sz="1000" b="0" i="0">
                          <a:solidFill>
                            <a:srgbClr val="1A1440"/>
                          </a:solidFill>
                          <a:latin typeface="Calibri"/>
                        </a:rPr>
                        <a:t>Selection: the sale-week members were bought on a discount</a:t>
                      </a:r>
                    </a:p>
                  </a:txBody>
                  <a:tcPr marL="101600" marR="101600" marT="38100" marB="38100" anchor="ctr">
                    <a:solidFill>
                      <a:srgbClr val="FFFFFF"/>
                    </a:solidFill>
                  </a:tcPr>
                </a:tc>
                <a:tc>
                  <a:txBody>
                    <a:bodyPr/>
                    <a:lstStyle/>
                    <a:p>
                      <a:r>
                        <a:rPr sz="1000" b="0" i="0">
                          <a:solidFill>
                            <a:srgbClr val="1A1440"/>
                          </a:solidFill>
                          <a:latin typeface="Calibri"/>
                        </a:rPr>
                        <a:t>The August cohort's organic members beside July's cohort</a:t>
                      </a:r>
                    </a:p>
                  </a:txBody>
                  <a:tcPr marL="101600" marR="101600" marT="38100" marB="38100" anchor="ctr">
                    <a:solidFill>
                      <a:srgbClr val="FFFFFF"/>
                    </a:solidFill>
                  </a:tcPr>
                </a:tc>
                <a:tc>
                  <a:txBody>
                    <a:bodyPr/>
                    <a:lstStyle/>
                    <a:p>
                      <a:r>
                        <a:rPr sz="1000" b="0" i="0">
                          <a:solidFill>
                            <a:srgbClr val="1A1440"/>
                          </a:solidFill>
                          <a:latin typeface="Calibri"/>
                        </a:rPr>
                        <a:t>49 against 49 percent; the sale-week members alone sit at 20</a:t>
                      </a:r>
                    </a:p>
                  </a:txBody>
                  <a:tcPr marL="101600" marR="101600" marT="38100" marB="38100" anchor="ctr">
                    <a:solidFill>
                      <a:srgbClr val="FFFFFF"/>
                    </a:solidFill>
                  </a:tcPr>
                </a:tc>
              </a:tr>
              <a:tr h="473456">
                <a:tc>
                  <a:txBody>
                    <a:bodyPr/>
                    <a:lstStyle/>
                    <a:p>
                      <a:r>
                        <a:rPr sz="1000" b="0" i="0">
                          <a:solidFill>
                            <a:srgbClr val="1A1440"/>
                          </a:solidFill>
                          <a:latin typeface="Calibri"/>
                        </a:rPr>
                        <a:t>Censoring: the newest cohorts have few months on record</a:t>
                      </a:r>
                    </a:p>
                  </a:txBody>
                  <a:tcPr marL="101600" marR="101600" marT="38100" marB="38100" anchor="ctr">
                    <a:solidFill>
                      <a:srgbClr val="F4F2FA"/>
                    </a:solidFill>
                  </a:tcPr>
                </a:tc>
                <a:tc>
                  <a:txBody>
                    <a:bodyPr/>
                    <a:lstStyle/>
                    <a:p>
                      <a:r>
                        <a:rPr sz="1000" b="0" i="0">
                          <a:solidFill>
                            <a:srgbClr val="1A1440"/>
                          </a:solidFill>
                          <a:latin typeface="Calibri"/>
                        </a:rPr>
                        <a:t>Compare cohorts only at ages all have reached; an empty cell is a month not yet lived</a:t>
                      </a:r>
                    </a:p>
                  </a:txBody>
                  <a:tcPr marL="101600" marR="101600" marT="38100" marB="38100" anchor="ctr">
                    <a:solidFill>
                      <a:srgbClr val="F4F2FA"/>
                    </a:solidFill>
                  </a:tcPr>
                </a:tc>
                <a:tc>
                  <a:txBody>
                    <a:bodyPr/>
                    <a:lstStyle/>
                    <a:p>
                      <a:r>
                        <a:rPr sz="1000" b="0" i="0">
                          <a:solidFill>
                            <a:srgbClr val="1A1440"/>
                          </a:solidFill>
                          <a:latin typeface="Calibri"/>
                        </a:rPr>
                        <a:t>Named here; the IITGN faculty session W4-3 (tentative) takes it up</a:t>
                      </a:r>
                    </a:p>
                  </a:txBody>
                  <a:tcPr marL="101600" marR="101600" marT="38100" marB="38100" anchor="ctr">
                    <a:solidFill>
                      <a:srgbClr val="F4F2FA"/>
                    </a:solidFill>
                  </a:tcPr>
                </a:tc>
              </a:tr>
              <a:tr h="473456">
                <a:tc>
                  <a:txBody>
                    <a:bodyPr/>
                    <a:lstStyle/>
                    <a:p>
                      <a:r>
                        <a:rPr sz="1000" b="0" i="0">
                          <a:solidFill>
                            <a:srgbClr val="1A1440"/>
                          </a:solidFill>
                          <a:latin typeface="Calibri"/>
                        </a:rPr>
                        <a:t>Seasonality: exam months in a student-heavy zone (hypothetical)</a:t>
                      </a:r>
                    </a:p>
                  </a:txBody>
                  <a:tcPr marL="101600" marR="101600" marT="38100" marB="38100" anchor="ctr">
                    <a:solidFill>
                      <a:srgbClr val="FFFFFF"/>
                    </a:solidFill>
                  </a:tcPr>
                </a:tc>
                <a:tc>
                  <a:txBody>
                    <a:bodyPr/>
                    <a:lstStyle/>
                    <a:p>
                      <a:r>
                        <a:rPr sz="1000" b="0" i="0">
                          <a:solidFill>
                            <a:srgbClr val="1A1440"/>
                          </a:solidFill>
                          <a:latin typeface="Calibri"/>
                        </a:rPr>
                        <a:t>September split by zone (notebook 06)</a:t>
                      </a:r>
                    </a:p>
                  </a:txBody>
                  <a:tcPr marL="101600" marR="101600" marT="38100" marB="38100" anchor="ctr">
                    <a:solidFill>
                      <a:srgbClr val="FFFFFF"/>
                    </a:solidFill>
                  </a:tcPr>
                </a:tc>
                <a:tc>
                  <a:txBody>
                    <a:bodyPr/>
                    <a:lstStyle/>
                    <a:p>
                      <a:r>
                        <a:rPr sz="1000" b="0" i="0">
                          <a:solidFill>
                            <a:srgbClr val="1A1440"/>
                          </a:solidFill>
                          <a:latin typeface="Calibri"/>
                        </a:rPr>
                        <a:t>No zone more than 0.9 points from the city</a:t>
                      </a:r>
                    </a:p>
                  </a:txBody>
                  <a:tcPr marL="101600" marR="101600" marT="38100" marB="38100" anchor="ctr">
                    <a:solidFill>
                      <a:srgbClr val="FFFFFF"/>
                    </a:solidFill>
                  </a:tcPr>
                </a:tc>
              </a:tr>
              <a:tr h="473456">
                <a:tc>
                  <a:txBody>
                    <a:bodyPr/>
                    <a:lstStyle/>
                    <a:p>
                      <a:r>
                        <a:rPr sz="1000" b="0" i="0">
                          <a:solidFill>
                            <a:srgbClr val="1A1440"/>
                          </a:solidFill>
                          <a:latin typeface="Calibri"/>
                        </a:rPr>
                        <a:t>Tracking: the release renamed an Android event</a:t>
                      </a:r>
                    </a:p>
                  </a:txBody>
                  <a:tcPr marL="101600" marR="101600" marT="38100" marB="38100" anchor="ctr">
                    <a:solidFill>
                      <a:srgbClr val="F4F2FA"/>
                    </a:solidFill>
                  </a:tcPr>
                </a:tc>
                <a:tc>
                  <a:txBody>
                    <a:bodyPr/>
                    <a:lstStyle/>
                    <a:p>
                      <a:r>
                        <a:rPr sz="1000" b="0" i="0">
                          <a:solidFill>
                            <a:srgbClr val="1A1440"/>
                          </a:solidFill>
                          <a:latin typeface="Calibri"/>
                        </a:rPr>
                        <a:t>Orders in member_months, which event names do not touch, against the event log</a:t>
                      </a:r>
                    </a:p>
                  </a:txBody>
                  <a:tcPr marL="101600" marR="101600" marT="38100" marB="38100" anchor="ctr">
                    <a:solidFill>
                      <a:srgbClr val="F4F2FA"/>
                    </a:solidFill>
                  </a:tcPr>
                </a:tc>
                <a:tc>
                  <a:txBody>
                    <a:bodyPr/>
                    <a:lstStyle/>
                    <a:p>
                      <a:r>
                        <a:rPr sz="1000" b="0" i="0">
                          <a:solidFill>
                            <a:srgbClr val="1A1440"/>
                          </a:solidFill>
                          <a:latin typeface="Calibri"/>
                        </a:rPr>
                        <a:t>The same 27,212 member orders in September: none went missing</a:t>
                      </a:r>
                    </a:p>
                  </a:txBody>
                  <a:tcPr marL="101600" marR="101600" marT="38100" marB="38100" anchor="ctr">
                    <a:solidFill>
                      <a:srgbClr val="F4F2FA"/>
                    </a:solidFill>
                  </a:tcPr>
                </a:tc>
              </a:tr>
              <a:tr h="473456">
                <a:tc>
                  <a:txBody>
                    <a:bodyPr/>
                    <a:lstStyle/>
                    <a:p>
                      <a:r>
                        <a:rPr sz="1000" b="0" i="0">
                          <a:solidFill>
                            <a:srgbClr val="1A1440"/>
                          </a:solidFill>
                          <a:latin typeface="Calibri"/>
                        </a:rPr>
                        <a:t>Mix inside the split: the August cohort aged across 14 September</a:t>
                      </a:r>
                    </a:p>
                  </a:txBody>
                  <a:tcPr marL="101600" marR="101600" marT="38100" marB="38100" anchor="ctr">
                    <a:solidFill>
                      <a:srgbClr val="FFFFFF"/>
                    </a:solidFill>
                  </a:tcPr>
                </a:tc>
                <a:tc>
                  <a:txBody>
                    <a:bodyPr/>
                    <a:lstStyle/>
                    <a:p>
                      <a:r>
                        <a:rPr sz="1000" b="0" i="0">
                          <a:solidFill>
                            <a:srgbClr val="1A1440"/>
                          </a:solidFill>
                          <a:latin typeface="Calibri"/>
                        </a:rPr>
                        <a:t>Members who joined before August, on the same step</a:t>
                      </a:r>
                    </a:p>
                  </a:txBody>
                  <a:tcPr marL="101600" marR="101600" marT="38100" marB="38100" anchor="ctr">
                    <a:solidFill>
                      <a:srgbClr val="FFFFFF"/>
                    </a:solidFill>
                  </a:tcPr>
                </a:tc>
                <a:tc>
                  <a:txBody>
                    <a:bodyPr/>
                    <a:lstStyle/>
                    <a:p>
                      <a:r>
                        <a:rPr sz="1000" b="0" i="0">
                          <a:solidFill>
                            <a:srgbClr val="1A1440"/>
                          </a:solidFill>
                          <a:latin typeface="Calibri"/>
                        </a:rPr>
                        <a:t>Android 70.3 to 53.6; iOS 68.6 to 69.3</a:t>
                      </a:r>
                    </a:p>
                  </a:txBody>
                  <a:tcPr marL="101600" marR="101600" marT="38100" marB="38100" anchor="ctr">
                    <a:solidFill>
                      <a:srgbClr val="FFFFFF"/>
                    </a:solidFill>
                  </a:tcPr>
                </a:tc>
              </a:tr>
              <a:tr h="310896">
                <a:tc>
                  <a:txBody>
                    <a:bodyPr/>
                    <a:lstStyle/>
                    <a:p>
                      <a:r>
                        <a:rPr sz="1000" b="0" i="0">
                          <a:solidFill>
                            <a:srgbClr val="1A1440"/>
                          </a:solidFill>
                          <a:latin typeface="Calibri"/>
                        </a:rPr>
                        <a:t>Sessions against members</a:t>
                      </a:r>
                    </a:p>
                  </a:txBody>
                  <a:tcPr marL="101600" marR="101600" marT="38100" marB="38100" anchor="ctr">
                    <a:solidFill>
                      <a:srgbClr val="F4F2FA"/>
                    </a:solidFill>
                  </a:tcPr>
                </a:tc>
                <a:tc>
                  <a:txBody>
                    <a:bodyPr/>
                    <a:lstStyle/>
                    <a:p>
                      <a:r>
                        <a:rPr sz="1000" b="0" i="0">
                          <a:solidFill>
                            <a:srgbClr val="1A1440"/>
                          </a:solidFill>
                          <a:latin typeface="Calibri"/>
                        </a:rPr>
                        <a:t>The unit named on every chart</a:t>
                      </a:r>
                    </a:p>
                  </a:txBody>
                  <a:tcPr marL="101600" marR="101600" marT="38100" marB="38100" anchor="ctr">
                    <a:solidFill>
                      <a:srgbClr val="F4F2FA"/>
                    </a:solidFill>
                  </a:tcPr>
                </a:tc>
                <a:tc>
                  <a:txBody>
                    <a:bodyPr/>
                    <a:lstStyle/>
                    <a:p>
                      <a:r>
                        <a:rPr sz="1000" b="0" i="0">
                          <a:solidFill>
                            <a:srgbClr val="1A1440"/>
                          </a:solidFill>
                          <a:latin typeface="Calibri"/>
                        </a:rPr>
                        <a:t>34 per session, 61 per member, both true</a:t>
                      </a:r>
                    </a:p>
                  </a:txBody>
                  <a:tcPr marL="101600" marR="101600" marT="38100" marB="38100" anchor="ctr">
                    <a:solidFill>
                      <a:srgbClr val="F4F2FA"/>
                    </a:solidFill>
                  </a:tcPr>
                </a:tc>
              </a:tr>
              <a:tr h="473456">
                <a:tc>
                  <a:txBody>
                    <a:bodyPr/>
                    <a:lstStyle/>
                    <a:p>
                      <a:r>
                        <a:rPr sz="1000" b="0" i="0">
                          <a:solidFill>
                            <a:srgbClr val="1A1440"/>
                          </a:solidFill>
                          <a:latin typeface="Calibri"/>
                        </a:rPr>
                        <a:t>Joiners' orders rising after they join</a:t>
                      </a:r>
                    </a:p>
                  </a:txBody>
                  <a:tcPr marL="101600" marR="101600" marT="38100" marB="38100" anchor="ctr">
                    <a:solidFill>
                      <a:srgbClr val="FFFFFF"/>
                    </a:solidFill>
                  </a:tcPr>
                </a:tc>
                <a:tc>
                  <a:txBody>
                    <a:bodyPr/>
                    <a:lstStyle/>
                    <a:p>
                      <a:r>
                        <a:rPr sz="1000" b="0" i="0">
                          <a:solidFill>
                            <a:srgbClr val="1A1440"/>
                          </a:solidFill>
                          <a:latin typeface="Calibri"/>
                        </a:rPr>
                        <a:t>Zomato Gold's frequency rose about 60 percent after joining</a:t>
                      </a:r>
                    </a:p>
                  </a:txBody>
                  <a:tcPr marL="101600" marR="101600" marT="38100" marB="38100" anchor="ctr">
                    <a:solidFill>
                      <a:srgbClr val="FFFFFF"/>
                    </a:solidFill>
                  </a:tcPr>
                </a:tc>
                <a:tc>
                  <a:txBody>
                    <a:bodyPr/>
                    <a:lstStyle/>
                    <a:p>
                      <a:r>
                        <a:rPr sz="1000" b="0" i="0">
                          <a:solidFill>
                            <a:srgbClr val="1A1440"/>
                          </a:solidFill>
                          <a:latin typeface="Calibri"/>
                        </a:rPr>
                        <a:t>Members join when they expect to order more; the release split has a comparison, this has none</a:t>
                      </a:r>
                    </a:p>
                  </a:txBody>
                  <a:tcPr marL="101600" marR="101600" marT="38100" marB="38100" anchor="ctr">
                    <a:solidFill>
                      <a:srgbClr val="FFFFFF"/>
                    </a:solidFill>
                  </a:tcPr>
                </a:tc>
              </a:tr>
            </a:tbl>
          </a:graphicData>
        </a:graphic>
      </p:graphicFrame>
      <p:sp>
        <p:nvSpPr>
          <p:cNvPr id="10" name="TextBox 9"/>
          <p:cNvSpPr txBox="1"/>
          <p:nvPr/>
        </p:nvSpPr>
        <p:spPr>
          <a:xfrm>
            <a:off x="530352" y="5401056"/>
            <a:ext cx="11130991" cy="703072"/>
          </a:xfrm>
          <a:prstGeom prst="rect">
            <a:avLst/>
          </a:prstGeom>
          <a:noFill/>
        </p:spPr>
        <p:txBody>
          <a:bodyPr wrap="square" anchor="t" lIns="0" rIns="0" tIns="0" bIns="0">
            <a:spAutoFit/>
          </a:bodyPr>
          <a:lstStyle/>
          <a:p>
            <a:pPr>
              <a:spcAft>
                <a:spcPts val="700"/>
              </a:spcAft>
            </a:pPr>
            <a:r>
              <a:rPr sz="1400" b="0" i="0">
                <a:solidFill>
                  <a:srgbClr val="1A1440"/>
                </a:solidFill>
                <a:latin typeface="Calibri"/>
              </a:rPr>
              <a:t>Zomato's 60 percent comes from its shareholder letter of 19 May 2023 (checked 12 October 2026); it describes members, and says nothing about what Gold caused.</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010412" cy="152146"/>
          </a:xfrm>
          <a:prstGeom prst="rect">
            <a:avLst/>
          </a:prstGeom>
          <a:noFill/>
        </p:spPr>
        <p:txBody>
          <a:bodyPr wrap="square" anchor="t" lIns="0" rIns="0" tIns="0" bIns="0">
            <a:spAutoFit/>
          </a:bodyPr>
          <a:lstStyle/>
          <a:p>
            <a:pPr algn="l"/>
            <a:r>
              <a:rPr sz="700" b="0" i="0">
                <a:solidFill>
                  <a:srgbClr val="6B6690"/>
                </a:solidFill>
                <a:latin typeface="Calibri"/>
              </a:rPr>
              <a:t>Who joined when?</a:t>
            </a:r>
          </a:p>
        </p:txBody>
      </p:sp>
      <p:sp>
        <p:nvSpPr>
          <p:cNvPr id="13" name="Oval 12"/>
          <p:cNvSpPr/>
          <p:nvPr/>
        </p:nvSpPr>
        <p:spPr>
          <a:xfrm>
            <a:off x="174193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85166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Where is the floor?</a:t>
            </a:r>
          </a:p>
        </p:txBody>
      </p:sp>
      <p:sp>
        <p:nvSpPr>
          <p:cNvPr id="15" name="Oval 14"/>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20125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a blend made of?</a:t>
            </a:r>
          </a:p>
        </p:txBody>
      </p:sp>
      <p:sp>
        <p:nvSpPr>
          <p:cNvPr id="17" name="Oval 16"/>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78088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step owns a loss?</a:t>
            </a:r>
          </a:p>
        </p:txBody>
      </p:sp>
      <p:sp>
        <p:nvSpPr>
          <p:cNvPr id="19" name="Oval 18"/>
          <p:cNvSpPr/>
          <p:nvPr/>
        </p:nvSpPr>
        <p:spPr>
          <a:xfrm>
            <a:off x="62047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314503"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Who entered when?</a:t>
            </a:r>
          </a:p>
        </p:txBody>
      </p:sp>
      <p:sp>
        <p:nvSpPr>
          <p:cNvPr id="21" name="Oval 20"/>
          <p:cNvSpPr/>
          <p:nvPr/>
        </p:nvSpPr>
        <p:spPr>
          <a:xfrm>
            <a:off x="74623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572089"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the 38 made of?</a:t>
            </a:r>
          </a:p>
        </p:txBody>
      </p:sp>
      <p:sp>
        <p:nvSpPr>
          <p:cNvPr id="23" name="Oval 22"/>
          <p:cNvSpPr/>
          <p:nvPr/>
        </p:nvSpPr>
        <p:spPr>
          <a:xfrm>
            <a:off x="8995981"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105709" y="6437376"/>
            <a:ext cx="1470469" cy="152146"/>
          </a:xfrm>
          <a:prstGeom prst="rect">
            <a:avLst/>
          </a:prstGeom>
          <a:noFill/>
        </p:spPr>
        <p:txBody>
          <a:bodyPr wrap="square" anchor="t" lIns="0" rIns="0" tIns="0" bIns="0">
            <a:spAutoFit/>
          </a:bodyPr>
          <a:lstStyle/>
          <a:p>
            <a:pPr algn="l"/>
            <a:r>
              <a:rPr sz="700" b="1" i="0">
                <a:solidFill>
                  <a:srgbClr val="5B3FD6"/>
                </a:solidFill>
                <a:latin typeface="Calibri"/>
              </a:rPr>
              <a:t>Which stage owns the loss?</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S64  ·  72 / 73</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COHORT AND FUNNEL</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One step, one platform, one date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stage owns the loss, for whom, since when, and how big is it?</a:t>
            </a:r>
          </a:p>
        </p:txBody>
      </p:sp>
      <p:pic>
        <p:nvPicPr>
          <p:cNvPr id="9" name="mermaid diagram" descr="221ecc7b46c0c823.png"/>
          <p:cNvPicPr>
            <a:picLocks noChangeAspect="1"/>
          </p:cNvPicPr>
          <p:nvPr/>
        </p:nvPicPr>
        <p:blipFill>
          <a:blip r:embed="rId6"/>
          <a:stretch>
            <a:fillRect/>
          </a:stretch>
        </p:blipFill>
        <p:spPr>
          <a:xfrm>
            <a:off x="530352" y="1830683"/>
            <a:ext cx="11130991" cy="1962193"/>
          </a:xfrm>
          <a:prstGeom prst="rect">
            <a:avLst/>
          </a:prstGeom>
        </p:spPr>
      </p:pic>
      <p:sp>
        <p:nvSpPr>
          <p:cNvPr id="10" name="Rounded Rectangle 9"/>
          <p:cNvSpPr/>
          <p:nvPr/>
        </p:nvSpPr>
        <p:spPr>
          <a:xfrm>
            <a:off x="530352" y="4005072"/>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133088"/>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123944"/>
            <a:ext cx="10564063" cy="891540"/>
          </a:xfrm>
          <a:prstGeom prst="rect">
            <a:avLst/>
          </a:prstGeom>
          <a:noFill/>
        </p:spPr>
        <p:txBody>
          <a:bodyPr wrap="square" anchor="ctr" lIns="0" rIns="0" tIns="0" bIns="0">
            <a:spAutoFit/>
          </a:bodyPr>
          <a:lstStyle/>
          <a:p>
            <a:r>
              <a:rPr sz="1500" b="1">
                <a:solidFill>
                  <a:srgbClr val="5B3FD6"/>
                </a:solidFill>
                <a:latin typeface="Calibri"/>
              </a:rPr>
              <a:t>The size. </a:t>
            </a:r>
            <a:r>
              <a:rPr sz="1500" b="0" i="0">
                <a:solidFill>
                  <a:srgbClr val="1A1440"/>
                </a:solidFill>
                <a:latin typeface="Calibri"/>
              </a:rPr>
              <a:t>0.14 × 22,841 carts is about 3,198 orders in 17 days, 1,317 a week if none came back; counted in orders placed, 1,133 to 1,266 a week, about a quarter of the 5,064 orders a week Android members placed before the release. At Rs 300 to Rs 500 an order (an assumption), Rs 3.4 to 6.6 lakh of order value a week.</a:t>
            </a:r>
          </a:p>
        </p:txBody>
      </p:sp>
      <p:sp>
        <p:nvSpPr>
          <p:cNvPr id="13" name="Rounded Rectangle 12"/>
          <p:cNvSpPr/>
          <p:nvPr/>
        </p:nvSpPr>
        <p:spPr>
          <a:xfrm>
            <a:off x="530352" y="5244084"/>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Oval 13"/>
          <p:cNvSpPr/>
          <p:nvPr/>
        </p:nvSpPr>
        <p:spPr>
          <a:xfrm>
            <a:off x="758952" y="5576316"/>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5" name="Picture 14" descr="list-checks_bd88901d2a37.png"/>
          <p:cNvPicPr>
            <a:picLocks noChangeAspect="1"/>
          </p:cNvPicPr>
          <p:nvPr/>
        </p:nvPicPr>
        <p:blipFill>
          <a:blip r:embed="rId5"/>
          <a:stretch>
            <a:fillRect/>
          </a:stretch>
        </p:blipFill>
        <p:spPr>
          <a:xfrm>
            <a:off x="868680" y="5686044"/>
            <a:ext cx="237744" cy="237744"/>
          </a:xfrm>
          <a:prstGeom prst="rect">
            <a:avLst/>
          </a:prstGeom>
        </p:spPr>
      </p:pic>
      <p:sp>
        <p:nvSpPr>
          <p:cNvPr id="16" name="TextBox 15"/>
          <p:cNvSpPr txBox="1"/>
          <p:nvPr/>
        </p:nvSpPr>
        <p:spPr>
          <a:xfrm>
            <a:off x="1399031" y="5390388"/>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THE RULE</a:t>
            </a:r>
          </a:p>
        </p:txBody>
      </p:sp>
      <p:sp>
        <p:nvSpPr>
          <p:cNvPr id="17" name="TextBox 16"/>
          <p:cNvSpPr txBox="1"/>
          <p:nvPr/>
        </p:nvSpPr>
        <p:spPr>
          <a:xfrm>
            <a:off x="1399031" y="5609844"/>
            <a:ext cx="9987991" cy="682752"/>
          </a:xfrm>
          <a:prstGeom prst="rect">
            <a:avLst/>
          </a:prstGeom>
          <a:noFill/>
        </p:spPr>
        <p:txBody>
          <a:bodyPr wrap="square" anchor="t" lIns="0" rIns="0" tIns="0" bIns="0">
            <a:spAutoFit/>
          </a:bodyPr>
          <a:lstStyle/>
          <a:p>
            <a:r>
              <a:rPr sz="1500" b="0" i="0">
                <a:solidFill>
                  <a:srgbClr val="1A1440"/>
                </a:solidFill>
                <a:latin typeface="Calibri"/>
              </a:rPr>
              <a:t>Name the unit, split by who, where and when, and find the step that changed before blaming the step that is low.</a:t>
            </a:r>
          </a:p>
        </p:txBody>
      </p:sp>
      <p:sp>
        <p:nvSpPr>
          <p:cNvPr id="18" name="Oval 17"/>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40080" y="6437376"/>
            <a:ext cx="1010412" cy="152146"/>
          </a:xfrm>
          <a:prstGeom prst="rect">
            <a:avLst/>
          </a:prstGeom>
          <a:noFill/>
        </p:spPr>
        <p:txBody>
          <a:bodyPr wrap="square" anchor="t" lIns="0" rIns="0" tIns="0" bIns="0">
            <a:spAutoFit/>
          </a:bodyPr>
          <a:lstStyle/>
          <a:p>
            <a:pPr algn="l"/>
            <a:r>
              <a:rPr sz="700" b="0" i="0">
                <a:solidFill>
                  <a:srgbClr val="6B6690"/>
                </a:solidFill>
                <a:latin typeface="Calibri"/>
              </a:rPr>
              <a:t>Who joined when?</a:t>
            </a:r>
          </a:p>
        </p:txBody>
      </p:sp>
      <p:sp>
        <p:nvSpPr>
          <p:cNvPr id="20" name="Oval 19"/>
          <p:cNvSpPr/>
          <p:nvPr/>
        </p:nvSpPr>
        <p:spPr>
          <a:xfrm>
            <a:off x="174193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185166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Where is the floor?</a:t>
            </a:r>
          </a:p>
        </p:txBody>
      </p:sp>
      <p:sp>
        <p:nvSpPr>
          <p:cNvPr id="22" name="Oval 21"/>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320125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a blend made of?</a:t>
            </a:r>
          </a:p>
        </p:txBody>
      </p:sp>
      <p:sp>
        <p:nvSpPr>
          <p:cNvPr id="24" name="Oval 23"/>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478088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step owns a loss?</a:t>
            </a:r>
          </a:p>
        </p:txBody>
      </p:sp>
      <p:sp>
        <p:nvSpPr>
          <p:cNvPr id="26" name="Oval 25"/>
          <p:cNvSpPr/>
          <p:nvPr/>
        </p:nvSpPr>
        <p:spPr>
          <a:xfrm>
            <a:off x="62047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314503"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Who entered when?</a:t>
            </a:r>
          </a:p>
        </p:txBody>
      </p:sp>
      <p:sp>
        <p:nvSpPr>
          <p:cNvPr id="28" name="Oval 27"/>
          <p:cNvSpPr/>
          <p:nvPr/>
        </p:nvSpPr>
        <p:spPr>
          <a:xfrm>
            <a:off x="746236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7572089"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is the 38 made of?</a:t>
            </a:r>
          </a:p>
        </p:txBody>
      </p:sp>
      <p:sp>
        <p:nvSpPr>
          <p:cNvPr id="30" name="Oval 29"/>
          <p:cNvSpPr/>
          <p:nvPr/>
        </p:nvSpPr>
        <p:spPr>
          <a:xfrm>
            <a:off x="8995981"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9105709" y="6437376"/>
            <a:ext cx="1470469" cy="152146"/>
          </a:xfrm>
          <a:prstGeom prst="rect">
            <a:avLst/>
          </a:prstGeom>
          <a:noFill/>
        </p:spPr>
        <p:txBody>
          <a:bodyPr wrap="square" anchor="t" lIns="0" rIns="0" tIns="0" bIns="0">
            <a:spAutoFit/>
          </a:bodyPr>
          <a:lstStyle/>
          <a:p>
            <a:pPr algn="l"/>
            <a:r>
              <a:rPr sz="700" b="1" i="0">
                <a:solidFill>
                  <a:srgbClr val="5B3FD6"/>
                </a:solidFill>
                <a:latin typeface="Calibri"/>
              </a:rPr>
              <a:t>Which stage owns the loss?</a:t>
            </a:r>
          </a:p>
        </p:txBody>
      </p:sp>
      <p:sp>
        <p:nvSpPr>
          <p:cNvPr id="32" name="TextBox 3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S65  ·  73 / 73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