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label line aloud first: the company is real, the situation and the data are</a:t>
            </a:r>
          </a:p>
          <a:p>
            <a:r>
              <a:t>synthetic. The morning climbs three chapters: who joined when (counted by hand), what the</a:t>
            </a:r>
          </a:p>
          <a:p>
            <a:r>
              <a:t>dashboard's 38 is made of (all 53,089 members), and which step owns the loss; the afternoon's first</a:t>
            </a:r>
          </a:p>
          <a:p>
            <a:r>
              <a:t>60 minutes make the fix-first call and read the interview.</a:t>
            </a:r>
          </a:p>
          <a:p>
            <a:r>
              <a:t>Read the table top to bottom. Define month-two retention in one breath: the share</a:t>
            </a:r>
          </a:p>
          <a:p>
            <a:r>
              <a:t>of members two or more months past their signup month who ordered in the month. Point at the gap:</a:t>
            </a:r>
          </a:p>
          <a:p>
            <a:r>
              <a:t>the dashboard is flat, every cohort's month one is lower than the one before, and August's 31 sits</a:t>
            </a:r>
          </a:p>
          <a:p>
            <a:r>
              <a:t>far below. Ask which number the membership lead would put on Monday's slide; most say the 38.</a:t>
            </a:r>
          </a:p>
          <a:p>
            <a:r>
              <a:t>Transition: where Thursday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paid for trips, Tuesday put one denominator on one slide, Wednesday judged</a:t>
            </a:r>
          </a:p>
          <a:p>
            <a:r>
              <a:t>a pair against chance. Thursday judges a cohort against the blend. Friday stays dashed. The</a:t>
            </a:r>
          </a:p>
          <a:p>
            <a:r>
              <a:t>explorer's home screen draws the same map (day control: Thu).</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once and move on; nothing to write. The room earns each clause in order.</a:t>
            </a:r>
          </a:p>
          <a:p>
            <a:r>
              <a:t>Transition: the hypothesis board, before any data opens.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groups write their own ordered list first, with the test each cause needs,</a:t>
            </a:r>
          </a:p>
          <a:p>
            <a:r>
              <a:t>on the hypothesis board template; then show this ladder. It runs in the order a careful analyst</a:t>
            </a:r>
          </a:p>
          <a:p>
            <a:r>
              <a:t>checks: the count, the rule, the cohorts, everyone, then the stage. The order is Aced's (T2): rule</a:t>
            </a:r>
          </a:p>
          <a:p>
            <a:r>
              <a:t>out data issues first, then the definition, then segments. Each chapter's reveal strikes or confirms</a:t>
            </a:r>
          </a:p>
          <a:p>
            <a:r>
              <a:t>a line; keep the board up all morning.</a:t>
            </a:r>
          </a:p>
          <a:p>
            <a:r>
              <a:t>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Laptops closed until the end of the chapter; the twelve-row card is on every</a:t>
            </a:r>
          </a:p>
          <a:p>
            <a:r>
              <a:t>table. Styles: Brilliant (a question before the explanation), StatQuest (tiny counts aloud),</a:t>
            </a:r>
          </a:p>
          <a:p>
            <a:r>
              <a:t>Veritasium (predict, then reveal), the case method (Blinkit's and Swiggy's own cohort charts).</a:t>
            </a:r>
          </a:p>
          <a:p>
            <a:r>
              <a:t>Explorer scenes Th2 and Th1. Notebook 01 reproduces every count.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is answered with a count before the next is asked.</a:t>
            </a:r>
          </a:p>
          <a:p>
            <a:r>
              <a:t>Transition: the first toy.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 the dots aloud: six, four, ten of twenty. Ask: if the centre only ever</a:t>
            </a:r>
          </a:p>
          <a:p>
            <a:r>
              <a:t>printed "50 percent", which batch would it worry about? Neither, because the average names neither.</a:t>
            </a:r>
          </a:p>
          <a:p>
            <a:r>
              <a:t>The toy is invented (R1); say so.</a:t>
            </a:r>
          </a:p>
          <a:p>
            <a:r>
              <a:t>Transition: twelve real members of the case.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Hand out the card if it is not on the tables. Read one row aloud: ZG21052 joined</a:t>
            </a:r>
          </a:p>
          <a:p>
            <a:r>
              <a:t>in May, ordered in June and July, then stopped. The last line folds four sale-week members who did</a:t>
            </a:r>
          </a:p>
          <a:p>
            <a:r>
              <a:t>not order in September. Ask each table to rewrite the card by months since joining instead of by</a:t>
            </a:r>
          </a:p>
          <a:p>
            <a:r>
              <a:t>calendar month before the next slide.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in writing, then pairs argue for one minute and vote again (peer</a:t>
            </a:r>
          </a:p>
          <a:p>
            <a:r>
              <a:t>instruction). Expect some c from tables that read September's column, where August's month one</a:t>
            </a:r>
          </a:p>
          <a:p>
            <a:r>
              <a:t>sits beside May's month four.</a:t>
            </a:r>
          </a:p>
          <a:p>
            <a:r>
              <a:t>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May's row aloud: three ordered in month one, two in month two, one in three</a:t>
            </a:r>
          </a:p>
          <a:p>
            <a:r>
              <a:t>and four. Then June's, then August's. Say the definition of a cohort only now, after the room has</a:t>
            </a:r>
          </a:p>
          <a:p>
            <a:r>
              <a:t>built one. Watch for anyone comparing groups in the same calendar month: in September, the sale</a:t>
            </a:r>
          </a:p>
          <a:p>
            <a:r>
              <a:t>member's month one sits beside May's month four, which is why the age column, not the calendar</a:t>
            </a:r>
          </a:p>
          <a:p>
            <a:r>
              <a:t>column, is the fair comparison.</a:t>
            </a:r>
          </a:p>
          <a:p>
            <a:r>
              <a:t>Transition: what the dashboard does with the same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Remind the rule: in a reporting month, count every member two or more months past</a:t>
            </a:r>
          </a:p>
          <a:p>
            <a:r>
              <a:t>her joining month, and ask what share ordered. Vote, argue, vote again.</a:t>
            </a:r>
          </a:p>
          <a:p>
            <a:r>
              <a:t>Transition: the count, both ways.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Ring the two 2-of-7 cells. Then the August column of the sale-week members: they</a:t>
            </a:r>
          </a:p>
          <a:p>
            <a:r>
              <a:t>joined in August, so August is their month zero, and September is their month one, which the</a:t>
            </a:r>
          </a:p>
          <a:p>
            <a:r>
              <a:t>dashboard skips. Chapter 2 finds the same two readings on all 53,089 members.</a:t>
            </a:r>
          </a:p>
          <a:p>
            <a:r>
              <a:t>Transition: why a big new group holds an average 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Explorer scene Th2 lets a learner slide batch B's size; on the projector, vote</a:t>
            </a:r>
          </a:p>
          <a:p>
            <a:r>
              <a:t>first. Expect b from most of the room.</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two stacks, then the formula last, as the shorthand for what the bars</a:t>
            </a:r>
          </a:p>
          <a:p>
            <a:r>
              <a:t>already showed (3Blue1Brown). Next month batch B ages too, and unless another large batch arrives,</a:t>
            </a:r>
          </a:p>
          <a:p>
            <a:r>
              <a:t>the blend falls. Ask: on the Gold dashboard, what plays the part of batch B?</a:t>
            </a:r>
          </a:p>
          <a:p>
            <a:r>
              <a:t>Transition: a real company that publishes its cohorts.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https://www.eternal.com/blog/q1fy27/ (checked 12 October 2026), which links the letter itself:</a:t>
            </a:r>
          </a:p>
          <a:p>
            <a:r>
              <a:t>https://drive.google.com/file/d/1jb9KWd4Ap4RTKHFHxzEOO7jgQqVZEGcd/view (checked 12 October 2026)</a:t>
            </a:r>
          </a:p>
          <a:p>
            <a:r>
              <a:t>https://www.swiggy.com/corporate/wp-content/uploads/2025/10/Q2-FY2026-Shareholder-letter.pdf (checked 12 October 2026)</a:t>
            </a:r>
          </a:p>
          <a:p>
            <a:r>
              <a:t>LIVE, 6 minutes. Two decisions to read. Eternal shows the customer number and the spend number side</a:t>
            </a:r>
          </a:p>
          <a:p>
            <a:r>
              <a:t>by side, and they disagree by a factor of three because the denominators differ: 150 percent is</a:t>
            </a:r>
          </a:p>
          <a:p>
            <a:r>
              <a:t>possible because survivors spend more. Swiggy weaned away weak users, which lifts every later column</a:t>
            </a:r>
          </a:p>
          <a:p>
            <a:r>
              <a:t>of its table with no change in anyone's behaviour. Ask: before trusting either chart, what do you</a:t>
            </a:r>
          </a:p>
          <a:p>
            <a:r>
              <a:t>ask for? The denominator.</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board's first region; Q2 and Q3 stay dashed. Strike or confirm on the</a:t>
            </a:r>
          </a:p>
          <a:p>
            <a:r>
              <a:t>hypothesis board: "a cohort problem" is now likely; the test was the card.</a:t>
            </a:r>
          </a:p>
          <a:p>
            <a:r>
              <a:t>Transition: chapter 2 and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Laptops open; notebook 02. Styles: Krish Naik (one pivot_table, line by line),</a:t>
            </a:r>
          </a:p>
          <a:p>
            <a:r>
              <a:t>Veritasium (two predictions), 3Blue1Brown (the triangle, then the formula last), StatQuest (the</a:t>
            </a:r>
          </a:p>
          <a:p>
            <a:r>
              <a:t>weighted average on seven numbers). Explorer scene Th1.</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Say what chapter 1 found, with its numbers, so the room</a:t>
            </a:r>
          </a:p>
          <a:p>
            <a:r>
              <a:t>carries it in: each group fell with age, the sale-week members kept 1 of 5, and the dashboard's way</a:t>
            </a:r>
          </a:p>
          <a:p>
            <a:r>
              <a:t>read 2 of 7 two months running.</a:t>
            </a:r>
          </a:p>
          <a:p>
            <a:r>
              <a:t>Transition: the code that builds the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code a line at a time: each year-month as one count of months, age as</a:t>
            </a:r>
          </a:p>
          <a:p>
            <a:r>
              <a:t>the gap between the two, then one pivot_table with cohorts on the rows and ages on the columns;</a:t>
            </a:r>
          </a:p>
          <a:p>
            <a:r>
              <a:t>active (at least one order) was set when the table loaded, and each cell is a mean of True and</a:t>
            </a:r>
          </a:p>
          <a:p>
            <a:r>
              <a:t>False, so it is a share. Vote before the cell runs.</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one row (January: 58, then 38.7 and down to 36.9 by month eight) and one</a:t>
            </a:r>
          </a:p>
          <a:p>
            <a:r>
              <a:t>column (month one: 58 down to 49, then 31). If the room wants the motion, open</a:t>
            </a:r>
          </a:p>
          <a:p>
            <a:r>
              <a:t>whiteboards/C2_W04_D04_cohort_fill_STUDENT.gif, which fills the triangle one month at a time with</a:t>
            </a:r>
          </a:p>
          <a:p>
            <a:r>
              <a:t>the dashboard drawn beside it, or explorer scene Th1, which adds a "next month" button.</a:t>
            </a:r>
          </a:p>
          <a:p>
            <a:r>
              <a:t>Transition: what the dashboard prints over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d voters are thinking well: they expect the August cohort to show up. Ask</a:t>
            </a:r>
          </a:p>
          <a:p>
            <a:r>
              <a:t>them to hold that thought for four slides.</a:t>
            </a:r>
          </a:p>
          <a:p>
            <a:r>
              <a:t>Transition: the direct count.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counts. Point at the denominators growing by about 5,000 a month:</a:t>
            </a:r>
          </a:p>
          <a:p>
            <a:r>
              <a:t>one new cohort a month enters the count. Then say what the room is about to be tempted to say.</a:t>
            </a:r>
          </a:p>
          <a:p>
            <a:r>
              <a:t>Transition: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https://nsearchives.nseindia.com/corporate/SWIGGY_30072026154100_Covering_Letter_Letter_to_Shareholders_-_signed.pdf (checked 12 October 2026)</a:t>
            </a:r>
          </a:p>
          <a:p>
            <a:r>
              <a:t>LIVE, 3 minutes. Read the wrong sentence exactly as a hurried analyst would say it. Ask for the</a:t>
            </a:r>
          </a:p>
          <a:p>
            <a:r>
              <a:t>decision it would drive. Then the check, which the room runs in the notebook's empty your-turn cell</a:t>
            </a:r>
          </a:p>
          <a:p>
            <a:r>
              <a:t>before the next slide.</a:t>
            </a:r>
          </a:p>
          <a:p>
            <a:r>
              <a:t>Transition: the decomposition.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September's stack: seven cohorts, January at the bottom, July at the</a:t>
            </a:r>
          </a:p>
          <a:p>
            <a:r>
              <a:t>top. Then the hatched bar beside it: 13,000 members the dashboard does not count yet. Explorer</a:t>
            </a:r>
          </a:p>
          <a:p>
            <a:r>
              <a:t>scene Th1's size slider shows what a 2.6-times cohort does when it does enter.</a:t>
            </a:r>
          </a:p>
          <a:p>
            <a:r>
              <a:t>Transition: the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Have one table read its weighted average aloud; it must match 37.8. Unweighted,</a:t>
            </a:r>
          </a:p>
          <a:p>
            <a:r>
              <a:t>the seven rates also average 37.8, because the seven cohorts are about the same size. Add the</a:t>
            </a:r>
          </a:p>
          <a:p>
            <a:r>
              <a:t>13,000-member August cohort and the unweighted mean (36.9) drifts a point from the true 35.9: weights</a:t>
            </a:r>
          </a:p>
          <a:p>
            <a:r>
              <a:t>matter when sizes differ, which is the trap from Week 1 and Monday.</a:t>
            </a:r>
          </a:p>
          <a:p>
            <a:r>
              <a:t>Transition: what the count leaves 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August cohort's month one is 31 percent, below the 38.</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Two readings of the same month differ only by who is counted. Then the split:</a:t>
            </a:r>
          </a:p>
          <a:p>
            <a:r>
              <a:t>the problem is the sale week, not the month. The October estimate rests on an assumption (the</a:t>
            </a:r>
          </a:p>
          <a:p>
            <a:r>
              <a:t>August cohort falls as July's did); name it as one. Strike on the hypothesis board: a cohort</a:t>
            </a:r>
          </a:p>
          <a:p>
            <a:r>
              <a:t>problem, confirmed; the cohort is the sale week's.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cohort axis, months since joining, is the time axis Friday's forecast runs on.</a:t>
            </a:r>
          </a:p>
          <a:p>
            <a:r>
              <a:t>Break follows: 10 minutes.</a:t>
            </a:r>
          </a:p>
          <a:p>
            <a:r>
              <a:t>Transition: after the break, chapter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Notebook 03. Styles: Brilliant (the four rates before any explanation),</a:t>
            </a:r>
          </a:p>
          <a:p>
            <a:r>
              <a:t>Veritasium (three predictions), the case method (the app team's partly-right chart), Krish Naik</a:t>
            </a:r>
          </a:p>
          <a:p>
            <a:r>
              <a:t>(the release split built line by line). Explorer scene Th3.</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what chapter 2 found, with its numbers: 38 is a weighted average of falling</a:t>
            </a:r>
          </a:p>
          <a:p>
            <a:r>
              <a:t>cohorts, and the sale-week members kept 20 percent in month one.</a:t>
            </a:r>
          </a:p>
          <a:p>
            <a:r>
              <a:t>Transition: the four rates.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Brilliant's move: the numbers first, the explanation after. Vote, argue, vote.</a:t>
            </a:r>
          </a:p>
          <a:p>
            <a:r>
              <a:t>Expect b from most of the room; the lowest rate looks like the loss.</a:t>
            </a:r>
          </a:p>
          <a:p>
            <a:r>
              <a:t>Transition: how a funnel reads.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toy aloud (R1's numbers). Then the two units on the same checkouts.</a:t>
            </a:r>
          </a:p>
          <a:p>
            <a:r>
              <a:t>Then the rule for the chapter: find the step that changed, for whom, since when.</a:t>
            </a:r>
          </a:p>
          <a:p>
            <a:r>
              <a:t>Transition: the step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artefact: a rate above 100 percent says the numerator holds people who never</a:t>
            </a:r>
          </a:p>
          <a:p>
            <a:r>
              <a:t>passed the denominator's step. Explorer scene Th3 toggles the carousel entries in and out. Strike</a:t>
            </a:r>
          </a:p>
          <a:p>
            <a:r>
              <a:t>on the hypothesis board: the funnel's first steps are not the loss.</a:t>
            </a:r>
          </a:p>
          <a:p>
            <a:r>
              <a:t>Transition: the second unit.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Ask one table to explain its letter in a sentence.</a:t>
            </a:r>
          </a:p>
          <a:p>
            <a:r>
              <a:t>Transition: the two units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same step in both panels: 34 and 61. Then at the 101: the skippable</a:t>
            </a:r>
          </a:p>
          <a:p>
            <a:r>
              <a:t>step, not the unit, makes the number pass 100.</a:t>
            </a:r>
          </a:p>
          <a:p>
            <a:r>
              <a:t>Transition: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Remind the app team's lead will say the checkout works.</a:t>
            </a:r>
          </a:p>
          <a:p>
            <a:r>
              <a:t>Transition: the split by membership, platform and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three lines. Then the tracking check from the hypothesis board: the</a:t>
            </a:r>
          </a:p>
          <a:p>
            <a:r>
              <a:t>release renamed one Android event and the app team mapped it, and the fall holds with the date</a:t>
            </a:r>
          </a:p>
          <a:p>
            <a:r>
              <a:t>moved a week either way, so it is behaviour, not counting. The tracking cause is struck.</a:t>
            </a:r>
          </a:p>
          <a:p>
            <a:r>
              <a:t>Transition: which step inside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The case method: the app team is partly right, so find the part. Concede that</a:t>
            </a:r>
          </a:p>
          <a:p>
            <a:r>
              <a:t>checkout starts held; bring the split that shows completion fell, for members, on Android, from</a:t>
            </a:r>
          </a:p>
          <a:p>
            <a:r>
              <a:t>the release. The afternoon's role card replays this dispute.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12 minutes. One caveat at a time, each with the fact that settles it (L4). Strike the last</a:t>
            </a:r>
          </a:p>
          <a:p>
            <a:r>
              <a:t>lines of the hypothesis board: tracking is ruled out, the definition explained, a cohort problem</a:t>
            </a:r>
          </a:p>
          <a:p>
            <a:r>
              <a:t>confirmed, and an everyone-on-Android problem in one step. Name censoring for the faculty block (tentative)</a:t>
            </a:r>
          </a:p>
          <a:p>
            <a:r>
              <a:t>and park any "are these curves different by chance" question there.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https://www.amplitude.com/blog/7-percent-retention-rule (checked 12 October 2026)</a:t>
            </a:r>
          </a:p>
          <a:p>
            <a:r>
              <a:t>LIVE, 5 minutes. Say the morning's sentence: the dashboard was flat because of who it counts;</a:t>
            </a:r>
          </a:p>
          <a:p>
            <a:r>
              <a:t>every cohort fell; one step, on one platform, after one date, drove the order loss. Board complete.</a:t>
            </a:r>
          </a:p>
          <a:p>
            <a:r>
              <a:t>The afternoon names what the data cannot show, makes the call and reads the interview.</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1.png"/><Relationship Id="rId6"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a flat 38 and a release on Android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ticket say, with its numbers, its data and its ask?</a:t>
            </a:r>
          </a:p>
        </p:txBody>
      </p:sp>
      <p:graphicFrame>
        <p:nvGraphicFramePr>
          <p:cNvPr id="9" name="Table 8"/>
          <p:cNvGraphicFramePr>
            <a:graphicFrameLocks noGrp="1"/>
          </p:cNvGraphicFramePr>
          <p:nvPr/>
        </p:nvGraphicFramePr>
        <p:xfrm>
          <a:off x="530352" y="1834896"/>
          <a:ext cx="11130990" cy="2176272"/>
        </p:xfrm>
        <a:graphic>
          <a:graphicData uri="http://schemas.openxmlformats.org/drawingml/2006/table">
            <a:tbl>
              <a:tblPr firstRow="0" bandRow="0">
                <a:tableStyleId>{2D5ABB26-0587-4C30-8999-92F81FD0307C}</a:tableStyleId>
              </a:tblPr>
              <a:tblGrid>
                <a:gridCol w="6553928"/>
                <a:gridCol w="4577062"/>
              </a:tblGrid>
              <a:tr h="310896">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Value</a:t>
                      </a:r>
                    </a:p>
                  </a:txBody>
                  <a:tcPr marL="101600" marR="101600" marT="38100" marB="38100" anchor="ctr">
                    <a:solidFill>
                      <a:srgbClr val="1A0F5C"/>
                    </a:solidFill>
                  </a:tcPr>
                </a:tc>
              </a:tr>
              <a:tr h="310896">
                <a:tc>
                  <a:txBody>
                    <a:bodyPr/>
                    <a:lstStyle/>
                    <a:p>
                      <a:r>
                        <a:rPr sz="900" b="0" i="0">
                          <a:solidFill>
                            <a:srgbClr val="1A1440"/>
                          </a:solidFill>
                          <a:latin typeface="Calibri"/>
                        </a:rPr>
                        <a:t>Month-two retention on the dashboard, June to September 2026</a:t>
                      </a:r>
                    </a:p>
                  </a:txBody>
                  <a:tcPr marL="101600" marR="101600" marT="38100" marB="38100" anchor="ctr">
                    <a:solidFill>
                      <a:srgbClr val="FFFFFF"/>
                    </a:solidFill>
                  </a:tcPr>
                </a:tc>
                <a:tc>
                  <a:txBody>
                    <a:bodyPr/>
                    <a:lstStyle/>
                    <a:p>
                      <a:r>
                        <a:rPr sz="900" b="0" i="0">
                          <a:solidFill>
                            <a:srgbClr val="1A1440"/>
                          </a:solidFill>
                          <a:latin typeface="Calibri"/>
                        </a:rPr>
                        <a:t>38 percent each month</a:t>
                      </a:r>
                    </a:p>
                  </a:txBody>
                  <a:tcPr marL="101600" marR="101600" marT="38100" marB="38100" anchor="ctr">
                    <a:solidFill>
                      <a:srgbClr val="FFFFFF"/>
                    </a:solidFill>
                  </a:tcPr>
                </a:tc>
              </a:tr>
              <a:tr h="310896">
                <a:tc>
                  <a:txBody>
                    <a:bodyPr/>
                    <a:lstStyle/>
                    <a:p>
                      <a:r>
                        <a:rPr sz="900" b="0" i="0">
                          <a:solidFill>
                            <a:srgbClr val="1A1440"/>
                          </a:solidFill>
                          <a:latin typeface="Calibri"/>
                        </a:rPr>
                        <a:t>Month one by cohort, January to August</a:t>
                      </a:r>
                    </a:p>
                  </a:txBody>
                  <a:tcPr marL="101600" marR="101600" marT="38100" marB="38100" anchor="ctr">
                    <a:solidFill>
                      <a:srgbClr val="F4F2FA"/>
                    </a:solidFill>
                  </a:tcPr>
                </a:tc>
                <a:tc>
                  <a:txBody>
                    <a:bodyPr/>
                    <a:lstStyle/>
                    <a:p>
                      <a:r>
                        <a:rPr sz="900" b="0" i="0">
                          <a:solidFill>
                            <a:srgbClr val="1A1440"/>
                          </a:solidFill>
                          <a:latin typeface="Calibri"/>
                        </a:rPr>
                        <a:t>58, 56, 55, 53, 52, 50, 49, 31 percent</a:t>
                      </a:r>
                    </a:p>
                  </a:txBody>
                  <a:tcPr marL="101600" marR="101600" marT="38100" marB="38100" anchor="ctr">
                    <a:solidFill>
                      <a:srgbClr val="F4F2FA"/>
                    </a:solidFill>
                  </a:tcPr>
                </a:tc>
              </a:tr>
              <a:tr h="310896">
                <a:tc>
                  <a:txBody>
                    <a:bodyPr/>
                    <a:lstStyle/>
                    <a:p>
                      <a:r>
                        <a:rPr sz="900" b="0" i="0">
                          <a:solidFill>
                            <a:srgbClr val="1A1440"/>
                          </a:solidFill>
                          <a:latin typeface="Calibri"/>
                        </a:rPr>
                        <a:t>The August cohort, grown by a sale week</a:t>
                      </a:r>
                    </a:p>
                  </a:txBody>
                  <a:tcPr marL="101600" marR="101600" marT="38100" marB="38100" anchor="ctr">
                    <a:solidFill>
                      <a:srgbClr val="FFFFFF"/>
                    </a:solidFill>
                  </a:tcPr>
                </a:tc>
                <a:tc>
                  <a:txBody>
                    <a:bodyPr/>
                    <a:lstStyle/>
                    <a:p>
                      <a:r>
                        <a:rPr sz="900" b="0" i="0">
                          <a:solidFill>
                            <a:srgbClr val="1A1440"/>
                          </a:solidFill>
                          <a:latin typeface="Calibri"/>
                        </a:rPr>
                        <a:t>13,000 members, 2.6 times the 5,000 a month of January to July</a:t>
                      </a:r>
                    </a:p>
                  </a:txBody>
                  <a:tcPr marL="101600" marR="101600" marT="38100" marB="38100" anchor="ctr">
                    <a:solidFill>
                      <a:srgbClr val="FFFFFF"/>
                    </a:solidFill>
                  </a:tcPr>
                </a:tc>
              </a:tr>
              <a:tr h="310896">
                <a:tc>
                  <a:txBody>
                    <a:bodyPr/>
                    <a:lstStyle/>
                    <a:p>
                      <a:r>
                        <a:rPr sz="900" b="0" i="0">
                          <a:solidFill>
                            <a:srgbClr val="1A1440"/>
                          </a:solidFill>
                          <a:latin typeface="Calibri"/>
                        </a:rPr>
                        <a:t>Members on Android, add-to-cart to order, before and after 14 September</a:t>
                      </a:r>
                    </a:p>
                  </a:txBody>
                  <a:tcPr marL="101600" marR="101600" marT="38100" marB="38100" anchor="ctr">
                    <a:solidFill>
                      <a:srgbClr val="F4F2FA"/>
                    </a:solidFill>
                  </a:tcPr>
                </a:tc>
                <a:tc>
                  <a:txBody>
                    <a:bodyPr/>
                    <a:lstStyle/>
                    <a:p>
                      <a:r>
                        <a:rPr sz="900" b="0" i="0">
                          <a:solidFill>
                            <a:srgbClr val="1A1440"/>
                          </a:solidFill>
                          <a:latin typeface="Calibri"/>
                        </a:rPr>
                        <a:t>58 to 44 percent</a:t>
                      </a:r>
                    </a:p>
                  </a:txBody>
                  <a:tcPr marL="101600" marR="101600" marT="38100" marB="38100" anchor="ctr">
                    <a:solidFill>
                      <a:srgbClr val="F4F2FA"/>
                    </a:solidFill>
                  </a:tcPr>
                </a:tc>
              </a:tr>
              <a:tr h="310896">
                <a:tc>
                  <a:txBody>
                    <a:bodyPr/>
                    <a:lstStyle/>
                    <a:p>
                      <a:r>
                        <a:rPr sz="900" b="0" i="0">
                          <a:solidFill>
                            <a:srgbClr val="1A1440"/>
                          </a:solidFill>
                          <a:latin typeface="Calibri"/>
                        </a:rPr>
                        <a:t>Members on iOS; non-members on Android</a:t>
                      </a:r>
                    </a:p>
                  </a:txBody>
                  <a:tcPr marL="101600" marR="101600" marT="38100" marB="38100" anchor="ctr">
                    <a:solidFill>
                      <a:srgbClr val="FFFFFF"/>
                    </a:solidFill>
                  </a:tcPr>
                </a:tc>
                <a:tc>
                  <a:txBody>
                    <a:bodyPr/>
                    <a:lstStyle/>
                    <a:p>
                      <a:r>
                        <a:rPr sz="900" b="0" i="0">
                          <a:solidFill>
                            <a:srgbClr val="1A1440"/>
                          </a:solidFill>
                          <a:latin typeface="Calibri"/>
                        </a:rPr>
                        <a:t>57 to 56 percent; 52 to 51 percent</a:t>
                      </a:r>
                    </a:p>
                  </a:txBody>
                  <a:tcPr marL="101600" marR="101600" marT="38100" marB="38100" anchor="ctr">
                    <a:solidFill>
                      <a:srgbClr val="FFFFFF"/>
                    </a:solidFill>
                  </a:tcPr>
                </a:tc>
              </a:tr>
              <a:tr h="310896">
                <a:tc>
                  <a:txBody>
                    <a:bodyPr/>
                    <a:lstStyle/>
                    <a:p>
                      <a:r>
                        <a:rPr sz="900" b="0" i="0">
                          <a:solidFill>
                            <a:srgbClr val="1A1440"/>
                          </a:solidFill>
                          <a:latin typeface="Calibri"/>
                        </a:rPr>
                        <a:t>Search to menu view per session; menu view to add-to-cart per session and per member, September</a:t>
                      </a:r>
                    </a:p>
                  </a:txBody>
                  <a:tcPr marL="101600" marR="101600" marT="38100" marB="38100" anchor="ctr">
                    <a:solidFill>
                      <a:srgbClr val="F4F2FA"/>
                    </a:solidFill>
                  </a:tcPr>
                </a:tc>
                <a:tc>
                  <a:txBody>
                    <a:bodyPr/>
                    <a:lstStyle/>
                    <a:p>
                      <a:r>
                        <a:rPr sz="900" b="0" i="0">
                          <a:solidFill>
                            <a:srgbClr val="1A1440"/>
                          </a:solidFill>
                          <a:latin typeface="Calibri"/>
                        </a:rPr>
                        <a:t>118 percent; 34 and 61 percent</a:t>
                      </a:r>
                    </a:p>
                  </a:txBody>
                  <a:tcPr marL="101600" marR="101600" marT="38100" marB="38100" anchor="ctr">
                    <a:solidFill>
                      <a:srgbClr val="F4F2FA"/>
                    </a:solidFill>
                  </a:tcPr>
                </a:tc>
              </a:tr>
            </a:tbl>
          </a:graphicData>
        </a:graphic>
      </p:graphicFrame>
      <p:sp>
        <p:nvSpPr>
          <p:cNvPr id="10" name="Rounded Rectangle 9"/>
          <p:cNvSpPr/>
          <p:nvPr/>
        </p:nvSpPr>
        <p:spPr>
          <a:xfrm>
            <a:off x="530352" y="4267200"/>
            <a:ext cx="11130991"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95216"/>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86072"/>
            <a:ext cx="10564063" cy="980440"/>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members (53,089 rows: signup date, cohort month, signup channel, zone), member_months (orders per member per month since joining), events (every app session in August and September, one row per stage, with platform and checkout version; Gold members and 4,000 non-members for comparison). </a:t>
            </a:r>
            <a:r>
              <a:rPr sz="1000" b="1" i="0">
                <a:solidFill>
                  <a:srgbClr val="1A1440"/>
                </a:solidFill>
                <a:latin typeface="Calibri"/>
              </a:rPr>
              <a:t>The ask, due Friday.</a:t>
            </a:r>
            <a:r>
              <a:rPr sz="1000" b="0" i="0">
                <a:solidFill>
                  <a:srgbClr val="1A1440"/>
                </a:solidFill>
                <a:latin typeface="Calibri"/>
              </a:rPr>
              <a:t> Cohort problem or everyone problem; which funnel stage owns the loss; what to fix first, with the evidence. </a:t>
            </a:r>
            <a:r>
              <a:rPr sz="1000" b="1" i="0">
                <a:solidFill>
                  <a:srgbClr val="1A1440"/>
                </a:solidFill>
                <a:latin typeface="Calibri"/>
              </a:rPr>
              <a:t>Known caveats.</a:t>
            </a:r>
            <a:r>
              <a:rPr sz="1000" b="0" i="0">
                <a:solidFill>
                  <a:srgbClr val="1A1440"/>
                </a:solidFill>
                <a:latin typeface="Calibri"/>
              </a:rPr>
              <a:t> The home carousel opens a menu without a search; sessions and members are different units; the August cohort was bought on a discount; the release renamed one Android event, which the app team has mapped.</a:t>
            </a:r>
          </a:p>
        </p:txBody>
      </p:sp>
      <p:sp>
        <p:nvSpPr>
          <p:cNvPr id="13" name="Rounded Rectangle 12"/>
          <p:cNvSpPr/>
          <p:nvPr/>
        </p:nvSpPr>
        <p:spPr>
          <a:xfrm>
            <a:off x="530352" y="5595112"/>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723127"/>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713984"/>
            <a:ext cx="10564063" cy="269240"/>
          </a:xfrm>
          <a:prstGeom prst="rect">
            <a:avLst/>
          </a:prstGeom>
          <a:noFill/>
        </p:spPr>
        <p:txBody>
          <a:bodyPr wrap="square" anchor="ctr" lIns="0" rIns="0" tIns="0" bIns="0">
            <a:spAutoFit/>
          </a:bodyPr>
          <a:lstStyle/>
          <a:p>
            <a:r>
              <a:rPr sz="1000" b="1">
                <a:solidFill>
                  <a:srgbClr val="5B3FD6"/>
                </a:solidFill>
                <a:latin typeface="Calibri"/>
              </a:rPr>
              <a:t>Illustrative case. </a:t>
            </a:r>
            <a:r>
              <a:rPr sz="1000" b="0" i="0">
                <a:solidFill>
                  <a:srgbClr val="1A1440"/>
                </a:solidFill>
                <a:latin typeface="Calibri"/>
              </a:rPr>
              <a:t>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8" name="Oval 17"/>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0" name="Oval 1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the days before it find?</a:t>
            </a:r>
          </a:p>
        </p:txBody>
      </p:sp>
      <p:pic>
        <p:nvPicPr>
          <p:cNvPr id="9" name="mermaid diagram" descr="aa40ab7e0a74e288.png"/>
          <p:cNvPicPr>
            <a:picLocks noChangeAspect="1"/>
          </p:cNvPicPr>
          <p:nvPr/>
        </p:nvPicPr>
        <p:blipFill>
          <a:blip r:embed="rId5"/>
          <a:stretch>
            <a:fillRect/>
          </a:stretch>
        </p:blipFill>
        <p:spPr>
          <a:xfrm>
            <a:off x="1189523" y="1682496"/>
            <a:ext cx="9812648"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two problems, two fixes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membership lead carry out of the room?</a:t>
            </a:r>
          </a:p>
        </p:txBody>
      </p:sp>
      <p:sp>
        <p:nvSpPr>
          <p:cNvPr id="9" name="Rounded Rectangle 8"/>
          <p:cNvSpPr/>
          <p:nvPr/>
        </p:nvSpPr>
        <p:spPr>
          <a:xfrm>
            <a:off x="530352" y="195681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89759"/>
          </a:xfrm>
          <a:prstGeom prst="rect">
            <a:avLst/>
          </a:prstGeom>
          <a:noFill/>
        </p:spPr>
        <p:txBody>
          <a:bodyPr wrap="square" anchor="t" lIns="0" rIns="0" tIns="0" bIns="0">
            <a:spAutoFit/>
          </a:bodyPr>
          <a:lstStyle/>
          <a:p>
            <a:r>
              <a:rPr sz="1600" b="0" i="1">
                <a:solidFill>
                  <a:srgbClr val="1A0F5C"/>
                </a:solidFill>
                <a:latin typeface="Georgia"/>
              </a:rPr>
              <a:t>"It is both, and they need different fixes. The dashboard reads 38 because it averages cohorts on a slow slide and has not yet counted the 13,000-member August cohort, whose sale-week members kept 20 percent in month one; when that cohort enters in October, the dashboard drops to about 33. The order loss sits in one step, checkout start to order placed, for members on Android since the 14 September release: 72.5 to 55 percent, about 1,317 orders a week. Fix the Android checkout first, and judge the next sale's members on their own curve before buying another sale."</a:t>
            </a:r>
          </a:p>
        </p:txBody>
      </p:sp>
      <p:sp>
        <p:nvSpPr>
          <p:cNvPr id="11" name="TextBox 10"/>
          <p:cNvSpPr txBox="1"/>
          <p:nvPr/>
        </p:nvSpPr>
        <p:spPr>
          <a:xfrm>
            <a:off x="530352" y="399288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number in that sentence is earned in order: by hand on twelve members, on all 53,089, then on 1,386,235 app events.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causes on the board, each with its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chart, which causes could explain the ticket, and what would test each?</a:t>
            </a:r>
          </a:p>
        </p:txBody>
      </p:sp>
      <p:pic>
        <p:nvPicPr>
          <p:cNvPr id="9" name="mermaid diagram" descr="6c03ae8eaa64889d.png"/>
          <p:cNvPicPr>
            <a:picLocks noChangeAspect="1"/>
          </p:cNvPicPr>
          <p:nvPr/>
        </p:nvPicPr>
        <p:blipFill>
          <a:blip r:embed="rId5"/>
          <a:stretch>
            <a:fillRect/>
          </a:stretch>
        </p:blipFill>
        <p:spPr>
          <a:xfrm>
            <a:off x="530352" y="1956816"/>
            <a:ext cx="11130991" cy="1023688"/>
          </a:xfrm>
          <a:prstGeom prst="rect">
            <a:avLst/>
          </a:prstGeom>
        </p:spPr>
      </p:pic>
      <p:graphicFrame>
        <p:nvGraphicFramePr>
          <p:cNvPr id="10" name="Table 9"/>
          <p:cNvGraphicFramePr>
            <a:graphicFrameLocks noGrp="1"/>
          </p:cNvGraphicFramePr>
          <p:nvPr/>
        </p:nvGraphicFramePr>
        <p:xfrm>
          <a:off x="530352" y="3126808"/>
          <a:ext cx="11130991" cy="2218944"/>
        </p:xfrm>
        <a:graphic>
          <a:graphicData uri="http://schemas.openxmlformats.org/drawingml/2006/table">
            <a:tbl>
              <a:tblPr firstRow="0" bandRow="0">
                <a:tableStyleId>{2D5ABB26-0587-4C30-8999-92F81FD0307C}</a:tableStyleId>
              </a:tblPr>
              <a:tblGrid>
                <a:gridCol w="2257107"/>
                <a:gridCol w="8873884"/>
              </a:tblGrid>
              <a:tr h="369824">
                <a:tc>
                  <a:txBody>
                    <a:bodyPr/>
                    <a:lstStyle/>
                    <a:p>
                      <a:r>
                        <a:rPr sz="1450" b="1" i="0">
                          <a:solidFill>
                            <a:srgbClr val="FFFFFF"/>
                          </a:solidFill>
                          <a:latin typeface="Calibri"/>
                        </a:rPr>
                        <a:t>Cause</a:t>
                      </a:r>
                    </a:p>
                  </a:txBody>
                  <a:tcPr marL="101600" marR="101600" marT="38100" marB="38100" anchor="ctr">
                    <a:solidFill>
                      <a:srgbClr val="1A0F5C"/>
                    </a:solidFill>
                  </a:tcPr>
                </a:tc>
                <a:tc>
                  <a:txBody>
                    <a:bodyPr/>
                    <a:lstStyle/>
                    <a:p>
                      <a:r>
                        <a:rPr sz="1450" b="1" i="0">
                          <a:solidFill>
                            <a:srgbClr val="FFFFFF"/>
                          </a:solidFill>
                          <a:latin typeface="Calibri"/>
                        </a:rPr>
                        <a:t>The test that settles it</a:t>
                      </a:r>
                    </a:p>
                  </a:txBody>
                  <a:tcPr marL="101600" marR="101600" marT="38100" marB="38100" anchor="ctr">
                    <a:solidFill>
                      <a:srgbClr val="1A0F5C"/>
                    </a:solidFill>
                  </a:tcPr>
                </a:tc>
              </a:tr>
              <a:tr h="369824">
                <a:tc>
                  <a:txBody>
                    <a:bodyPr/>
                    <a:lstStyle/>
                    <a:p>
                      <a:r>
                        <a:rPr sz="1400" b="0" i="0">
                          <a:solidFill>
                            <a:srgbClr val="1A1440"/>
                          </a:solidFill>
                          <a:latin typeface="Calibri"/>
                        </a:rPr>
                        <a:t>1. Tracking</a:t>
                      </a:r>
                    </a:p>
                  </a:txBody>
                  <a:tcPr marL="101600" marR="101600" marT="38100" marB="38100" anchor="ctr">
                    <a:solidFill>
                      <a:srgbClr val="FFFFFF"/>
                    </a:solidFill>
                  </a:tcPr>
                </a:tc>
                <a:tc>
                  <a:txBody>
                    <a:bodyPr/>
                    <a:lstStyle/>
                    <a:p>
                      <a:r>
                        <a:rPr sz="1400" b="0" i="0">
                          <a:solidFill>
                            <a:srgbClr val="1A1440"/>
                          </a:solidFill>
                          <a:latin typeface="Calibri"/>
                        </a:rPr>
                        <a:t>The app team's event mapping, and the release date moved a week either way</a:t>
                      </a:r>
                    </a:p>
                  </a:txBody>
                  <a:tcPr marL="101600" marR="101600" marT="38100" marB="38100" anchor="ctr">
                    <a:solidFill>
                      <a:srgbClr val="FFFFFF"/>
                    </a:solidFill>
                  </a:tcPr>
                </a:tc>
              </a:tr>
              <a:tr h="369824">
                <a:tc>
                  <a:txBody>
                    <a:bodyPr/>
                    <a:lstStyle/>
                    <a:p>
                      <a:r>
                        <a:rPr sz="1400" b="0" i="0">
                          <a:solidFill>
                            <a:srgbClr val="1A1440"/>
                          </a:solidFill>
                          <a:latin typeface="Calibri"/>
                        </a:rPr>
                        <a:t>2. Definition</a:t>
                      </a:r>
                    </a:p>
                  </a:txBody>
                  <a:tcPr marL="101600" marR="101600" marT="38100" marB="38100" anchor="ctr">
                    <a:solidFill>
                      <a:srgbClr val="F4F2FA"/>
                    </a:solidFill>
                  </a:tcPr>
                </a:tc>
                <a:tc>
                  <a:txBody>
                    <a:bodyPr/>
                    <a:lstStyle/>
                    <a:p>
                      <a:r>
                        <a:rPr sz="1400" b="0" i="0">
                          <a:solidFill>
                            <a:srgbClr val="1A1440"/>
                          </a:solidFill>
                          <a:latin typeface="Calibri"/>
                        </a:rPr>
                        <a:t>The dashboard's written rule: who is counted, from which month</a:t>
                      </a:r>
                    </a:p>
                  </a:txBody>
                  <a:tcPr marL="101600" marR="101600" marT="38100" marB="38100" anchor="ctr">
                    <a:solidFill>
                      <a:srgbClr val="F4F2FA"/>
                    </a:solidFill>
                  </a:tcPr>
                </a:tc>
              </a:tr>
              <a:tr h="369824">
                <a:tc>
                  <a:txBody>
                    <a:bodyPr/>
                    <a:lstStyle/>
                    <a:p>
                      <a:r>
                        <a:rPr sz="1400" b="0" i="0">
                          <a:solidFill>
                            <a:srgbClr val="1A1440"/>
                          </a:solidFill>
                          <a:latin typeface="Calibri"/>
                        </a:rPr>
                        <a:t>3. Cohorts</a:t>
                      </a:r>
                    </a:p>
                  </a:txBody>
                  <a:tcPr marL="101600" marR="101600" marT="38100" marB="38100" anchor="ctr">
                    <a:solidFill>
                      <a:srgbClr val="FFFFFF"/>
                    </a:solidFill>
                  </a:tcPr>
                </a:tc>
                <a:tc>
                  <a:txBody>
                    <a:bodyPr/>
                    <a:lstStyle/>
                    <a:p>
                      <a:r>
                        <a:rPr sz="1400" b="0" i="0">
                          <a:solidFill>
                            <a:srgbClr val="1A1440"/>
                          </a:solidFill>
                          <a:latin typeface="Calibri"/>
                        </a:rPr>
                        <a:t>The cohort table, each signup month at each age</a:t>
                      </a:r>
                    </a:p>
                  </a:txBody>
                  <a:tcPr marL="101600" marR="101600" marT="38100" marB="38100" anchor="ctr">
                    <a:solidFill>
                      <a:srgbClr val="FFFFFF"/>
                    </a:solidFill>
                  </a:tcPr>
                </a:tc>
              </a:tr>
              <a:tr h="369824">
                <a:tc>
                  <a:txBody>
                    <a:bodyPr/>
                    <a:lstStyle/>
                    <a:p>
                      <a:r>
                        <a:rPr sz="1400" b="0" i="0">
                          <a:solidFill>
                            <a:srgbClr val="1A1440"/>
                          </a:solidFill>
                          <a:latin typeface="Calibri"/>
                        </a:rPr>
                        <a:t>4. Everyone</a:t>
                      </a:r>
                    </a:p>
                  </a:txBody>
                  <a:tcPr marL="101600" marR="101600" marT="38100" marB="38100" anchor="ctr">
                    <a:solidFill>
                      <a:srgbClr val="F4F2FA"/>
                    </a:solidFill>
                  </a:tcPr>
                </a:tc>
                <a:tc>
                  <a:txBody>
                    <a:bodyPr/>
                    <a:lstStyle/>
                    <a:p>
                      <a:r>
                        <a:rPr sz="1400" b="0" i="0">
                          <a:solidFill>
                            <a:srgbClr val="1A1440"/>
                          </a:solidFill>
                          <a:latin typeface="Calibri"/>
                        </a:rPr>
                        <a:t>Every cohort in the same calendar month, split by platform</a:t>
                      </a:r>
                    </a:p>
                  </a:txBody>
                  <a:tcPr marL="101600" marR="101600" marT="38100" marB="38100" anchor="ctr">
                    <a:solidFill>
                      <a:srgbClr val="F4F2FA"/>
                    </a:solidFill>
                  </a:tcPr>
                </a:tc>
              </a:tr>
              <a:tr h="369824">
                <a:tc>
                  <a:txBody>
                    <a:bodyPr/>
                    <a:lstStyle/>
                    <a:p>
                      <a:r>
                        <a:rPr sz="1400" b="0" i="0">
                          <a:solidFill>
                            <a:srgbClr val="1A1440"/>
                          </a:solidFill>
                          <a:latin typeface="Calibri"/>
                        </a:rPr>
                        <a:t>5. A stage</a:t>
                      </a:r>
                    </a:p>
                  </a:txBody>
                  <a:tcPr marL="101600" marR="101600" marT="38100" marB="38100" anchor="ctr">
                    <a:solidFill>
                      <a:srgbClr val="FFFFFF"/>
                    </a:solidFill>
                  </a:tcPr>
                </a:tc>
                <a:tc>
                  <a:txBody>
                    <a:bodyPr/>
                    <a:lstStyle/>
                    <a:p>
                      <a:r>
                        <a:rPr sz="1400" b="0" i="0">
                          <a:solidFill>
                            <a:srgbClr val="1A1440"/>
                          </a:solidFill>
                          <a:latin typeface="Calibri"/>
                        </a:rPr>
                        <a:t>Each step over the step before, by unit, platform and date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can a flat average hide falling groups, and what does each group keep month by month, counted by hand on twelve members before any code?</a:t>
            </a:r>
          </a:p>
        </p:txBody>
      </p:sp>
      <p:sp>
        <p:nvSpPr>
          <p:cNvPr id="10" name="Rounded Rectangle 9"/>
          <p:cNvSpPr/>
          <p:nvPr/>
        </p:nvSpPr>
        <p:spPr>
          <a:xfrm>
            <a:off x="731519"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four questions, one card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must say on Friday whether Gold has a cohort problem or an everyone problem. A wrong call sends the fix to the wrong team.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can one average hide two groups?</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Two coaching batches, ten members each, invented</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group keep, month by month?</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Twelve real members, counted by age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count?</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same twelve, the dashboard's way</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FFFFFF"/>
                </a:solidFill>
                <a:latin typeface="Calibri"/>
              </a:rPr>
              <a:t>How does a big new group hold an average up?</a:t>
            </a:r>
          </a:p>
        </p:txBody>
      </p:sp>
      <p:sp>
        <p:nvSpPr>
          <p:cNvPr id="32" name="TextBox 31"/>
          <p:cNvSpPr txBox="1"/>
          <p:nvPr/>
        </p:nvSpPr>
        <p:spPr>
          <a:xfrm>
            <a:off x="9180347" y="4464812"/>
            <a:ext cx="2316403" cy="366776"/>
          </a:xfrm>
          <a:prstGeom prst="rect">
            <a:avLst/>
          </a:prstGeom>
          <a:noFill/>
        </p:spPr>
        <p:txBody>
          <a:bodyPr wrap="square" anchor="t" lIns="0" rIns="0" tIns="0" bIns="0">
            <a:spAutoFit/>
          </a:bodyPr>
          <a:lstStyle/>
          <a:p>
            <a:pPr algn="l"/>
            <a:r>
              <a:rPr sz="1000" b="0" i="0">
                <a:solidFill>
                  <a:srgbClr val="CFC9EE"/>
                </a:solidFill>
                <a:latin typeface="Calibri"/>
              </a:rPr>
              <a:t>Two more batches, then a real company's chart</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35" name="Oval 3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batches, one average that names neither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an average over two groups hide what each did?</a:t>
            </a:r>
          </a:p>
        </p:txBody>
      </p:sp>
      <p:pic>
        <p:nvPicPr>
          <p:cNvPr id="9" name="mermaid diagram" descr="C2_W04_D04_toy_batches_STUDENT.png"/>
          <p:cNvPicPr>
            <a:picLocks noChangeAspect="1"/>
          </p:cNvPicPr>
          <p:nvPr/>
        </p:nvPicPr>
        <p:blipFill>
          <a:blip r:embed="rId4"/>
          <a:stretch>
            <a:fillRect/>
          </a:stretch>
        </p:blipFill>
        <p:spPr>
          <a:xfrm>
            <a:off x="1976816" y="1956816"/>
            <a:ext cx="8238062" cy="1490348"/>
          </a:xfrm>
          <a:prstGeom prst="rect">
            <a:avLst/>
          </a:prstGeom>
        </p:spPr>
      </p:pic>
      <p:sp>
        <p:nvSpPr>
          <p:cNvPr id="10" name="picture caption"/>
          <p:cNvSpPr txBox="1"/>
          <p:nvPr/>
        </p:nvSpPr>
        <p:spPr>
          <a:xfrm>
            <a:off x="530352" y="34837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coaching batches in month two (invented)</a:t>
            </a:r>
          </a:p>
        </p:txBody>
      </p:sp>
      <p:sp>
        <p:nvSpPr>
          <p:cNvPr id="11" name="TextBox 10"/>
          <p:cNvSpPr txBox="1"/>
          <p:nvPr/>
        </p:nvSpPr>
        <p:spPr>
          <a:xfrm>
            <a:off x="530352" y="391046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coaching centre (invented numbers) takes 10 students in June and 10 in July. In each batch's second month, 6 of June's and 4 of July's come back: 60 and 40 percent. Together, 10 of 20 came back, 50 percent, which is neither batch's 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twelve real members, four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twelve ordered in each month after joining?</a:t>
            </a:r>
          </a:p>
        </p:txBody>
      </p:sp>
      <p:graphicFrame>
        <p:nvGraphicFramePr>
          <p:cNvPr id="9" name="Table 8"/>
          <p:cNvGraphicFramePr>
            <a:graphicFrameLocks noGrp="1"/>
          </p:cNvGraphicFramePr>
          <p:nvPr/>
        </p:nvGraphicFramePr>
        <p:xfrm>
          <a:off x="530352" y="1682496"/>
          <a:ext cx="11130991" cy="3352800"/>
        </p:xfrm>
        <a:graphic>
          <a:graphicData uri="http://schemas.openxmlformats.org/drawingml/2006/table">
            <a:tbl>
              <a:tblPr firstRow="0" bandRow="0">
                <a:tableStyleId>{2D5ABB26-0587-4C30-8999-92F81FD0307C}</a:tableStyleId>
              </a:tblPr>
              <a:tblGrid>
                <a:gridCol w="3943645"/>
                <a:gridCol w="914400"/>
                <a:gridCol w="2615346"/>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ZG20844</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ZG21052</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ZG22010</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ZG22634</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ZG25312</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ZG27475</a:t>
                      </a:r>
                    </a:p>
                  </a:txBody>
                  <a:tcPr marL="101600" marR="101600" marT="38100" marB="38100" anchor="ctr">
                    <a:solidFill>
                      <a:srgbClr val="F4F2FA"/>
                    </a:solidFill>
                  </a:tcPr>
                </a:tc>
                <a:tc>
                  <a:txBody>
                    <a:bodyPr/>
                    <a:lstStyle/>
                    <a:p>
                      <a:r>
                        <a:rPr sz="1200" b="0" i="0">
                          <a:solidFill>
                            <a:srgbClr val="1A1440"/>
                          </a:solidFill>
                          <a:latin typeface="Calibri"/>
                        </a:rPr>
                        <a:t>Jun</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ZG28603</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ZG38681</a:t>
                      </a:r>
                    </a:p>
                  </a:txBody>
                  <a:tcPr marL="101600" marR="101600" marT="38100" marB="38100" anchor="ctr">
                    <a:solidFill>
                      <a:srgbClr val="F4F2FA"/>
                    </a:solidFill>
                  </a:tcPr>
                </a:tc>
                <a:tc>
                  <a:txBody>
                    <a:bodyPr/>
                    <a:lstStyle/>
                    <a:p>
                      <a:r>
                        <a:rPr sz="1200" b="0" i="0">
                          <a:solidFill>
                            <a:srgbClr val="1A1440"/>
                          </a:solidFill>
                          <a:latin typeface="Calibri"/>
                        </a:rPr>
                        <a:t>Aug</a:t>
                      </a:r>
                    </a:p>
                  </a:txBody>
                  <a:tcPr marL="101600" marR="101600" marT="38100" marB="38100" anchor="ctr">
                    <a:solidFill>
                      <a:srgbClr val="F4F2FA"/>
                    </a:solidFill>
                  </a:tcPr>
                </a:tc>
                <a:tc>
                  <a:txBody>
                    <a:bodyPr/>
                    <a:lstStyle/>
                    <a:p>
                      <a:r>
                        <a:rPr sz="1200" b="0" i="0">
                          <a:solidFill>
                            <a:srgbClr val="1A1440"/>
                          </a:solidFill>
                          <a:latin typeface="Calibri"/>
                        </a:rPr>
                        <a:t>sale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335280">
                <a:tc>
                  <a:txBody>
                    <a:bodyPr/>
                    <a:lstStyle/>
                    <a:p>
                      <a:r>
                        <a:rPr sz="1200" b="0" i="0">
                          <a:solidFill>
                            <a:srgbClr val="1A1440"/>
                          </a:solidFill>
                          <a:latin typeface="Calibri"/>
                        </a:rPr>
                        <a:t>ZG40539 to ZG42328</a:t>
                      </a:r>
                    </a:p>
                  </a:txBody>
                  <a:tcPr marL="101600" marR="101600" marT="38100" marB="38100" anchor="ctr">
                    <a:solidFill>
                      <a:srgbClr val="FFFFFF"/>
                    </a:solidFill>
                  </a:tcPr>
                </a:tc>
                <a:tc>
                  <a:txBody>
                    <a:bodyPr/>
                    <a:lstStyle/>
                    <a:p>
                      <a:r>
                        <a:rPr sz="1200" b="0" i="0">
                          <a:solidFill>
                            <a:srgbClr val="1A1440"/>
                          </a:solidFill>
                          <a:latin typeface="Calibri"/>
                        </a:rPr>
                        <a:t>Aug</a:t>
                      </a:r>
                    </a:p>
                  </a:txBody>
                  <a:tcPr marL="101600" marR="101600" marT="38100" marB="38100" anchor="ctr">
                    <a:solidFill>
                      <a:srgbClr val="FFFFFF"/>
                    </a:solidFill>
                  </a:tcPr>
                </a:tc>
                <a:tc>
                  <a:txBody>
                    <a:bodyPr/>
                    <a:lstStyle/>
                    <a:p>
                      <a:r>
                        <a:rPr sz="1200" b="0" i="0">
                          <a:solidFill>
                            <a:srgbClr val="1A1440"/>
                          </a:solidFill>
                          <a:latin typeface="Calibri"/>
                        </a:rPr>
                        <a:t>sale (four)</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TextBox 9"/>
          <p:cNvSpPr txBox="1"/>
          <p:nvPr/>
        </p:nvSpPr>
        <p:spPr>
          <a:xfrm>
            <a:off x="530352" y="52913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 means she placed at least one order that month. </a:t>
            </a:r>
            <a:r>
              <a:rPr sz="1600" b="1" i="0">
                <a:solidFill>
                  <a:srgbClr val="1A1440"/>
                </a:solidFill>
                <a:latin typeface="Calibri"/>
              </a:rPr>
              <a:t>Month one</a:t>
            </a:r>
            <a:r>
              <a:rPr sz="1600" b="0" i="0">
                <a:solidFill>
                  <a:srgbClr val="1A1440"/>
                </a:solidFill>
                <a:latin typeface="Calibri"/>
              </a:rPr>
              <a:t> is the first full calendar month after joining, so May's is June and August's is September; the joining month is month zero and is never counted.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group keeps the most in month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Counted by months since joining, which group keeps the largest share in its own month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four May members</a:t>
            </a:r>
          </a:p>
          <a:p>
            <a:pPr>
              <a:spcAft>
                <a:spcPts val="800"/>
              </a:spcAft>
            </a:pPr>
            <a:r>
              <a:rPr sz="1600" b="0" i="0">
                <a:solidFill>
                  <a:srgbClr val="1A1440"/>
                </a:solidFill>
                <a:latin typeface="Calibri"/>
              </a:rPr>
              <a:t>b) The three June members</a:t>
            </a:r>
          </a:p>
          <a:p>
            <a:pPr>
              <a:spcAft>
                <a:spcPts val="800"/>
              </a:spcAft>
            </a:pPr>
            <a:r>
              <a:rPr sz="1600" b="0" i="0">
                <a:solidFill>
                  <a:srgbClr val="1A1440"/>
                </a:solidFill>
                <a:latin typeface="Calibri"/>
              </a:rPr>
              <a:t>c) The five August sale-week members</a:t>
            </a:r>
          </a:p>
          <a:p>
            <a:pPr>
              <a:spcAft>
                <a:spcPts val="800"/>
              </a:spcAft>
            </a:pPr>
            <a:r>
              <a:rPr sz="1600" b="0" i="0">
                <a:solidFill>
                  <a:srgbClr val="1A1440"/>
                </a:solidFill>
                <a:latin typeface="Calibri"/>
              </a:rPr>
              <a:t>d) All three keep the same share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May 3 of 4, June 2 of 3, sale 1 of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keep at each age, and what does that show?</a:t>
            </a:r>
          </a:p>
        </p:txBody>
      </p:sp>
      <p:graphicFrame>
        <p:nvGraphicFramePr>
          <p:cNvPr id="9" name="Table 8"/>
          <p:cNvGraphicFramePr>
            <a:graphicFrameLocks noGrp="1"/>
          </p:cNvGraphicFramePr>
          <p:nvPr/>
        </p:nvGraphicFramePr>
        <p:xfrm>
          <a:off x="530352" y="1956816"/>
          <a:ext cx="11130988" cy="1341120"/>
        </p:xfrm>
        <a:graphic>
          <a:graphicData uri="http://schemas.openxmlformats.org/drawingml/2006/table">
            <a:tbl>
              <a:tblPr firstRow="0" bandRow="0">
                <a:tableStyleId>{2D5ABB26-0587-4C30-8999-92F81FD0307C}</a:tableStyleId>
              </a:tblPr>
              <a:tblGrid>
                <a:gridCol w="3268244"/>
                <a:gridCol w="1845185"/>
                <a:gridCol w="1845185"/>
                <a:gridCol w="2166521"/>
                <a:gridCol w="2005853"/>
              </a:tblGrid>
              <a:tr h="335280">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a:t>
                      </a:r>
                    </a:p>
                  </a:txBody>
                  <a:tcPr marL="101600" marR="101600" marT="38100" marB="38100" anchor="ctr">
                    <a:solidFill>
                      <a:srgbClr val="1A0F5C"/>
                    </a:solidFill>
                  </a:tcPr>
                </a:tc>
              </a:tr>
              <a:tr h="335280">
                <a:tc>
                  <a:txBody>
                    <a:bodyPr/>
                    <a:lstStyle/>
                    <a:p>
                      <a:r>
                        <a:rPr sz="1200" b="0" i="0">
                          <a:solidFill>
                            <a:srgbClr val="1A1440"/>
                          </a:solidFill>
                          <a:latin typeface="Calibri"/>
                        </a:rPr>
                        <a:t>May (4)</a:t>
                      </a:r>
                    </a:p>
                  </a:txBody>
                  <a:tcPr marL="101600" marR="101600" marT="38100" marB="38100" anchor="ctr">
                    <a:solidFill>
                      <a:srgbClr val="FFFFFF"/>
                    </a:solidFill>
                  </a:tcPr>
                </a:tc>
                <a:tc>
                  <a:txBody>
                    <a:bodyPr/>
                    <a:lstStyle/>
                    <a:p>
                      <a:r>
                        <a:rPr sz="1200" b="0" i="0">
                          <a:solidFill>
                            <a:srgbClr val="1A1440"/>
                          </a:solidFill>
                          <a:latin typeface="Calibri"/>
                        </a:rPr>
                        <a:t>3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r>
              <a:tr h="335280">
                <a:tc>
                  <a:txBody>
                    <a:bodyPr/>
                    <a:lstStyle/>
                    <a:p>
                      <a:r>
                        <a:rPr sz="1200" b="0" i="0">
                          <a:solidFill>
                            <a:srgbClr val="1A1440"/>
                          </a:solidFill>
                          <a:latin typeface="Calibri"/>
                        </a:rPr>
                        <a:t>June (3)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August sale week (5)</a:t>
                      </a:r>
                    </a:p>
                  </a:txBody>
                  <a:tcPr marL="101600" marR="101600" marT="38100" marB="38100" anchor="ctr">
                    <a:solidFill>
                      <a:srgbClr val="FFFFFF"/>
                    </a:solidFill>
                  </a:tcPr>
                </a:tc>
                <a:tc>
                  <a:txBody>
                    <a:bodyPr/>
                    <a:lstStyle/>
                    <a:p>
                      <a:r>
                        <a:rPr sz="1200" b="0" i="0">
                          <a:solidFill>
                            <a:srgbClr val="1A1440"/>
                          </a:solidFill>
                          <a:latin typeface="Calibri"/>
                        </a:rPr>
                        <a:t>1 of 5</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Each group falls as it ages, and each later group starts lower: 75, 67 and then 20 percent in month one. A </a:t>
            </a:r>
            <a:r>
              <a:rPr sz="1600" b="1" i="0">
                <a:solidFill>
                  <a:srgbClr val="1A1440"/>
                </a:solidFill>
                <a:latin typeface="Calibri"/>
              </a:rPr>
              <a:t>cohort</a:t>
            </a:r>
            <a:r>
              <a:rPr sz="1600" b="0" i="0">
                <a:solidFill>
                  <a:srgbClr val="1A1440"/>
                </a:solidFill>
                <a:latin typeface="Calibri"/>
              </a:rPr>
              <a:t> is a group that joined in the same month; fixing the entry moment is what makes the three comparable at all.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dashboard's way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dashboard counts a member from her second month after joining. On the card, what does it read in August and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from August to September, because the sale-week members ordered so little</a:t>
            </a:r>
          </a:p>
          <a:p>
            <a:pPr>
              <a:spcAft>
                <a:spcPts val="800"/>
              </a:spcAft>
            </a:pPr>
            <a:r>
              <a:rPr sz="1600" b="0" i="0">
                <a:solidFill>
                  <a:srgbClr val="1A1440"/>
                </a:solidFill>
                <a:latin typeface="Calibri"/>
              </a:rPr>
              <a:t>b) 2 of 7 in both months, with the five sale-week members outside the count</a:t>
            </a:r>
          </a:p>
          <a:p>
            <a:pPr>
              <a:spcAft>
                <a:spcPts val="800"/>
              </a:spcAft>
            </a:pPr>
            <a:r>
              <a:rPr sz="1600" b="0" i="0">
                <a:solidFill>
                  <a:srgbClr val="1A1440"/>
                </a:solidFill>
                <a:latin typeface="Calibri"/>
              </a:rPr>
              <a:t>c) A rise, because new members joined</a:t>
            </a:r>
          </a:p>
          <a:p>
            <a:pPr>
              <a:spcAft>
                <a:spcPts val="800"/>
              </a:spcAft>
            </a:pPr>
            <a:r>
              <a:rPr sz="1600" b="0" i="0">
                <a:solidFill>
                  <a:srgbClr val="1A1440"/>
                </a:solidFill>
                <a:latin typeface="Calibri"/>
              </a:rPr>
              <a:t>d) 3 of 12 in both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of 7 in August, 2 of 7 in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counted the dashboard's way, and counted for everyone?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7720459"/>
                <a:gridCol w="914400"/>
                <a:gridCol w="914400"/>
                <a:gridCol w="1581731"/>
              </a:tblGrid>
              <a:tr h="335280">
                <a:tc>
                  <a:txBody>
                    <a:bodyPr/>
                    <a:lstStyle/>
                    <a:p>
                      <a:r>
                        <a:rPr sz="1250" b="1" i="0">
                          <a:solidFill>
                            <a:srgbClr val="FFFFFF"/>
                          </a:solidFill>
                          <a:latin typeface="Calibri"/>
                        </a:rPr>
                        <a:t>Reporting month</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The dashboard's way: members two or more months past joining</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r>
              <a:tr h="335280">
                <a:tc>
                  <a:txBody>
                    <a:bodyPr/>
                    <a:lstStyle/>
                    <a:p>
                      <a:r>
                        <a:rPr sz="1200" b="0" i="0">
                          <a:solidFill>
                            <a:srgbClr val="1A1440"/>
                          </a:solidFill>
                          <a:latin typeface="Calibri"/>
                        </a:rPr>
                        <a:t>Everyone who joined before the month</a:t>
                      </a:r>
                    </a:p>
                  </a:txBody>
                  <a:tcPr marL="101600" marR="101600" marT="38100" marB="38100" anchor="ctr">
                    <a:solidFill>
                      <a:srgbClr val="F4F2FA"/>
                    </a:solidFill>
                  </a:tcPr>
                </a:tc>
                <a:tc>
                  <a:txBody>
                    <a:bodyPr/>
                    <a:lstStyle/>
                    <a:p>
                      <a:r>
                        <a:rPr sz="1200" b="0" i="0">
                          <a:solidFill>
                            <a:srgbClr val="1A1440"/>
                          </a:solidFill>
                          <a:latin typeface="Calibri"/>
                        </a:rPr>
                        <a:t>4 of 7</a:t>
                      </a:r>
                    </a:p>
                  </a:txBody>
                  <a:tcPr marL="101600" marR="101600" marT="38100" marB="38100" anchor="ctr">
                    <a:solidFill>
                      <a:srgbClr val="F4F2FA"/>
                    </a:solidFill>
                  </a:tcPr>
                </a:tc>
                <a:tc>
                  <a:txBody>
                    <a:bodyPr/>
                    <a:lstStyle/>
                    <a:p>
                      <a:r>
                        <a:rPr sz="1200" b="0" i="0">
                          <a:solidFill>
                            <a:srgbClr val="1A1440"/>
                          </a:solidFill>
                          <a:latin typeface="Calibri"/>
                        </a:rPr>
                        <a:t>2 of 7</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dashboard's way did not move from August to September, though five members joined in the sale week and four of them did not order: they are outside its count until October. Counted for everyone, September reads 3 of 12.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the blend rise, fall or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Batch A of 100 stood at 50 percent; now A is at 40 and a new batch B of 400 arrives at 52.5 percent. What does the blend do (invented)?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It rises, because batch B is bigger</a:t>
            </a:r>
          </a:p>
          <a:p>
            <a:pPr>
              <a:spcAft>
                <a:spcPts val="800"/>
              </a:spcAft>
            </a:pPr>
            <a:r>
              <a:rPr sz="1600" b="0" i="0">
                <a:solidFill>
                  <a:srgbClr val="1A1440"/>
                </a:solidFill>
                <a:latin typeface="Calibri"/>
              </a:rPr>
              <a:t>b) It falls, because batch A fell</a:t>
            </a:r>
          </a:p>
          <a:p>
            <a:pPr>
              <a:spcAft>
                <a:spcPts val="800"/>
              </a:spcAft>
            </a:pPr>
            <a:r>
              <a:rPr sz="1600" b="0" i="0">
                <a:solidFill>
                  <a:srgbClr val="1A1440"/>
                </a:solidFill>
                <a:latin typeface="Calibri"/>
              </a:rPr>
              <a:t>c) It holds at 50 percent</a:t>
            </a:r>
          </a:p>
          <a:p>
            <a:pPr>
              <a:spcAft>
                <a:spcPts val="800"/>
              </a:spcAft>
            </a:pPr>
            <a:r>
              <a:rPr sz="1600" b="0" i="0">
                <a:solidFill>
                  <a:srgbClr val="1A1440"/>
                </a:solidFill>
                <a:latin typeface="Calibri"/>
              </a:rPr>
              <a:t>d) It cannot be read without more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holds at 50 while batch A falls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stand still while every batch shrinks?</a:t>
            </a:r>
          </a:p>
        </p:txBody>
      </p:sp>
      <p:pic>
        <p:nvPicPr>
          <p:cNvPr id="9" name="mermaid diagram" descr="C2_W04_D04_toy_blend_STUDENT.png"/>
          <p:cNvPicPr>
            <a:picLocks noChangeAspect="1"/>
          </p:cNvPicPr>
          <p:nvPr/>
        </p:nvPicPr>
        <p:blipFill>
          <a:blip r:embed="rId4"/>
          <a:stretch>
            <a:fillRect/>
          </a:stretch>
        </p:blipFill>
        <p:spPr>
          <a:xfrm>
            <a:off x="2627327" y="1664208"/>
            <a:ext cx="6937040"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flat average while batch A falls (invented)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c: (100 × 0.40 + 400 × 0.525) / 500 = 250 / 500 = 50 percent. A blend is an average weighted by size: blend = sum of (cohort size × cohort rate) / sum of cohort sizes. A large young batch at a high early rate props it up while every batch falls with age.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Swiggy publish cohorts, not one blend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Indian companies report retention, and what does each figure count?</a:t>
            </a:r>
          </a:p>
        </p:txBody>
      </p:sp>
      <p:sp>
        <p:nvSpPr>
          <p:cNvPr id="9" name="Rounded Rectangle 8"/>
          <p:cNvSpPr/>
          <p:nvPr/>
        </p:nvSpPr>
        <p:spPr>
          <a:xfrm>
            <a:off x="530352"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ETERNAL, BLINKIT</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46 percent of customers, 150 percent of spend</a:t>
            </a:r>
          </a:p>
        </p:txBody>
      </p:sp>
      <p:sp>
        <p:nvSpPr>
          <p:cNvPr id="14" name="TextBox 13"/>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6B6690"/>
                </a:solidFill>
                <a:latin typeface="Calibri"/>
              </a:rPr>
              <a:t>Q4 retention averaged 46 percent across cohorts and every successive cohort improved; NOV retention, the net value of a cohort's orders against its first quarter, was 150 percent at Q4 and 279 percent at Q12, because the customers who stay spend more</a:t>
            </a:r>
          </a:p>
        </p:txBody>
      </p:sp>
      <p:sp>
        <p:nvSpPr>
          <p:cNvPr id="15" name="Rounded Rectangle 14"/>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able_e38a0cea5ee5.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SWIGGY INSTAMART</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A cohort table, indexed to one cohort</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Spend by cohort indexed to the Q4 FY24 cohort's first quarter; Swiggy says it weaned away users with low expected lifetime value, so ask whether a column is per acquired user or per user who stayed</a:t>
            </a:r>
          </a:p>
        </p:txBody>
      </p:sp>
      <p:sp>
        <p:nvSpPr>
          <p:cNvPr id="21" name="TextBox 20"/>
          <p:cNvSpPr txBox="1"/>
          <p:nvPr/>
        </p:nvSpPr>
        <p:spPr>
          <a:xfrm>
            <a:off x="530352" y="44841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Eternal's Q1 FY27 shareholder letter of 22 July 2026 and Swiggy's Q2 FY26 shareholder letter, each checked 12 October 2026.</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close: fix the entry moment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card answered, and what is still open?</a:t>
            </a:r>
          </a:p>
        </p:txBody>
      </p:sp>
      <p:pic>
        <p:nvPicPr>
          <p:cNvPr id="9" name="mermaid diagram" descr="5b72f46379a9e272.png"/>
          <p:cNvPicPr>
            <a:picLocks noChangeAspect="1"/>
          </p:cNvPicPr>
          <p:nvPr/>
        </p:nvPicPr>
        <p:blipFill>
          <a:blip r:embed="rId7"/>
          <a:stretch>
            <a:fillRect/>
          </a:stretch>
        </p:blipFill>
        <p:spPr>
          <a:xfrm>
            <a:off x="530352" y="1912424"/>
            <a:ext cx="11130991" cy="1243975"/>
          </a:xfrm>
          <a:prstGeom prst="rect">
            <a:avLst/>
          </a:prstGeom>
        </p:spPr>
      </p:pic>
      <p:sp>
        <p:nvSpPr>
          <p:cNvPr id="10" name="Rounded Rectangle 9"/>
          <p:cNvSpPr/>
          <p:nvPr/>
        </p:nvSpPr>
        <p:spPr>
          <a:xfrm>
            <a:off x="530352" y="3302703"/>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6447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874203"/>
            <a:ext cx="237744" cy="237744"/>
          </a:xfrm>
          <a:prstGeom prst="rect">
            <a:avLst/>
          </a:prstGeom>
        </p:spPr>
      </p:pic>
      <p:sp>
        <p:nvSpPr>
          <p:cNvPr id="13" name="TextBox 12"/>
          <p:cNvSpPr txBox="1"/>
          <p:nvPr/>
        </p:nvSpPr>
        <p:spPr>
          <a:xfrm>
            <a:off x="1399031" y="344900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668463"/>
            <a:ext cx="9987991" cy="941832"/>
          </a:xfrm>
          <a:prstGeom prst="rect">
            <a:avLst/>
          </a:prstGeom>
          <a:noFill/>
        </p:spPr>
        <p:txBody>
          <a:bodyPr wrap="square" anchor="t" lIns="0" rIns="0" tIns="0" bIns="0">
            <a:spAutoFit/>
          </a:bodyPr>
          <a:lstStyle/>
          <a:p>
            <a:r>
              <a:rPr sz="1500" b="0" i="0">
                <a:solidFill>
                  <a:srgbClr val="1A1440"/>
                </a:solidFill>
                <a:latin typeface="Calibri"/>
              </a:rPr>
              <a:t>Before reading any retention number, ask which members it counts and from which month: a group that joined in a sale and a group that joined last spring are different groups, and one average over both names neither.</a:t>
            </a:r>
          </a:p>
        </p:txBody>
      </p:sp>
      <p:sp>
        <p:nvSpPr>
          <p:cNvPr id="15" name="Rounded Rectangle 14"/>
          <p:cNvSpPr/>
          <p:nvPr/>
        </p:nvSpPr>
        <p:spPr>
          <a:xfrm>
            <a:off x="530352" y="484803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8027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89999"/>
            <a:ext cx="237744" cy="237744"/>
          </a:xfrm>
          <a:prstGeom prst="rect">
            <a:avLst/>
          </a:prstGeom>
        </p:spPr>
      </p:pic>
      <p:sp>
        <p:nvSpPr>
          <p:cNvPr id="18" name="TextBox 17"/>
          <p:cNvSpPr txBox="1"/>
          <p:nvPr/>
        </p:nvSpPr>
        <p:spPr>
          <a:xfrm>
            <a:off x="1399031" y="4994343"/>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13799"/>
            <a:ext cx="9987991" cy="682752"/>
          </a:xfrm>
          <a:prstGeom prst="rect">
            <a:avLst/>
          </a:prstGeom>
          <a:noFill/>
        </p:spPr>
        <p:txBody>
          <a:bodyPr wrap="square" anchor="t" lIns="0" rIns="0" tIns="0" bIns="0">
            <a:spAutoFit/>
          </a:bodyPr>
          <a:lstStyle/>
          <a:p>
            <a:r>
              <a:rPr sz="1500" b="0" i="0">
                <a:solidFill>
                  <a:srgbClr val="1A1440"/>
                </a:solidFill>
                <a:latin typeface="Calibri"/>
              </a:rPr>
              <a:t>[F] Blended retention is flat while every cohort declines; how? The mix changes under the average, and the average counts who it counts.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38 made of?</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every cohort's curve look like on 53,089 members, and how can the dashboard stay at 38 while each one falls?</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from twelve members to 53,089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about to report "nothing changed" because the number is flat. If the flat number hides falling cohorts and a weak August cohort, the fix waits a month too long.</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cohort keep, month by month?</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One pivot_table on member_months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print, counted directly?</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June to September</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September's 38 made of?</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weighted average, cohort by cohort</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is outside the count?</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The August cohort, and what it will do in October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5" name="Oval 3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cohort's row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age is computed, one pivot_table builds the table. After month one, which way does each row run?</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month_n = mm["month"].str[:4].astype(int) * 12 + mm["month"].str[5:].astype(int)</a:t>
            </a:r>
          </a:p>
          <a:p>
            <a:pPr>
              <a:spcAft>
                <a:spcPts val="200"/>
              </a:spcAft>
            </a:pPr>
            <a:r>
              <a:rPr sz="1400" b="0" i="0">
                <a:solidFill>
                  <a:srgbClr val="E4E1F1"/>
                </a:solidFill>
                <a:latin typeface="Consolas"/>
              </a:rPr>
              <a:t>cohort_n = mm["cohort_month"].str[:4].astype(int) * 12 + mm["cohort_month"].str[5:].astype(int)</a:t>
            </a:r>
          </a:p>
          <a:p>
            <a:pPr>
              <a:spcAft>
                <a:spcPts val="200"/>
              </a:spcAft>
            </a:pPr>
            <a:r>
              <a:rPr sz="1400" b="0" i="0">
                <a:solidFill>
                  <a:srgbClr val="E4E1F1"/>
                </a:solidFill>
                <a:latin typeface="Consolas"/>
              </a:rPr>
              <a:t>mm["age"] = month_n - cohort_n          # month zero is the joining month</a:t>
            </a:r>
          </a:p>
          <a:p>
            <a:pPr>
              <a:spcAft>
                <a:spcPts val="200"/>
              </a:spcAft>
            </a:pPr>
            <a:r>
              <a:rPr sz="1400" b="0" i="0">
                <a:solidFill>
                  <a:srgbClr val="E4E1F1"/>
                </a:solidFill>
                <a:latin typeface="Consolas"/>
              </a:rPr>
              <a:t>tri = mm[mm["age"] &gt;= 1].pivot_table(index="cohort_month", columns="age",</a:t>
            </a:r>
          </a:p>
          <a:p>
            <a:pPr>
              <a:spcAft>
                <a:spcPts val="200"/>
              </a:spcAft>
            </a:pPr>
            <a:r>
              <a:rPr sz="1400" b="0" i="0">
                <a:solidFill>
                  <a:srgbClr val="E4E1F1"/>
                </a:solidFill>
                <a:latin typeface="Consolas"/>
              </a:rPr>
              <a:t>                                     values="active", aggfunc="mean")</a:t>
            </a:r>
          </a:p>
        </p:txBody>
      </p:sp>
      <p:sp>
        <p:nvSpPr>
          <p:cNvPr id="14" name="TextBox 13"/>
          <p:cNvSpPr txBox="1"/>
          <p:nvPr/>
        </p:nvSpPr>
        <p:spPr>
          <a:xfrm>
            <a:off x="530352" y="384098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Up, as members settle into a habit</a:t>
            </a:r>
          </a:p>
          <a:p>
            <a:pPr>
              <a:spcAft>
                <a:spcPts val="800"/>
              </a:spcAft>
            </a:pPr>
            <a:r>
              <a:rPr sz="1600" b="0" i="0">
                <a:solidFill>
                  <a:srgbClr val="1A1440"/>
                </a:solidFill>
                <a:latin typeface="Calibri"/>
              </a:rPr>
              <a:t>b) Flat, which is why the dashboard is flat</a:t>
            </a:r>
          </a:p>
          <a:p>
            <a:pPr>
              <a:spcAft>
                <a:spcPts val="800"/>
              </a:spcAft>
            </a:pPr>
            <a:r>
              <a:rPr sz="1600" b="0" i="0">
                <a:solidFill>
                  <a:srgbClr val="1A1440"/>
                </a:solidFill>
                <a:latin typeface="Calibri"/>
              </a:rPr>
              <a:t>c) Down: a big step after month one, then a slow slide</a:t>
            </a:r>
          </a:p>
          <a:p>
            <a:pPr>
              <a:spcAft>
                <a:spcPts val="800"/>
              </a:spcAft>
            </a:pPr>
            <a:r>
              <a:rPr sz="1600" b="0" i="0">
                <a:solidFill>
                  <a:srgbClr val="1A1440"/>
                </a:solidFill>
                <a:latin typeface="Calibri"/>
              </a:rPr>
              <a:t>d) Up, then down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row falls, and each starts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full table show, cohort by cohort?</a:t>
            </a:r>
          </a:p>
        </p:txBody>
      </p:sp>
      <p:pic>
        <p:nvPicPr>
          <p:cNvPr id="9" name="mermaid diagram" descr="C2_W04_D04_cohort_triangle_STUDENT.png"/>
          <p:cNvPicPr>
            <a:picLocks noChangeAspect="1"/>
          </p:cNvPicPr>
          <p:nvPr/>
        </p:nvPicPr>
        <p:blipFill>
          <a:blip r:embed="rId4"/>
          <a:stretch>
            <a:fillRect/>
          </a:stretch>
        </p:blipFill>
        <p:spPr>
          <a:xfrm>
            <a:off x="2398769" y="1664208"/>
            <a:ext cx="739415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cohort falls with age, and each new cohort starts lower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c. Each cohort drops from its month one to about 38.5 percent in month two and slides about 0.3 points a month after. Month one falls from 58 percent for January to 49 for July, and the 13,000-member August cohort sits at 31.</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cohort falling, what does month-two retention print from June to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of two or three points a month</a:t>
            </a:r>
          </a:p>
          <a:p>
            <a:pPr>
              <a:spcAft>
                <a:spcPts val="800"/>
              </a:spcAft>
            </a:pPr>
            <a:r>
              <a:rPr sz="1600" b="0" i="0">
                <a:solidFill>
                  <a:srgbClr val="1A1440"/>
                </a:solidFill>
                <a:latin typeface="Calibri"/>
              </a:rPr>
              <a:t>b) About 38 percent every month</a:t>
            </a:r>
          </a:p>
          <a:p>
            <a:pPr>
              <a:spcAft>
                <a:spcPts val="800"/>
              </a:spcAft>
            </a:pPr>
            <a:r>
              <a:rPr sz="1600" b="0" i="0">
                <a:solidFill>
                  <a:srgbClr val="1A1440"/>
                </a:solidFill>
                <a:latin typeface="Calibri"/>
              </a:rPr>
              <a:t>c) A rise, because new cohorts keep joining</a:t>
            </a:r>
          </a:p>
          <a:p>
            <a:pPr>
              <a:spcAft>
                <a:spcPts val="800"/>
              </a:spcAft>
            </a:pPr>
            <a:r>
              <a:rPr sz="1600" b="0" i="0">
                <a:solidFill>
                  <a:srgbClr val="1A1440"/>
                </a:solidFill>
                <a:latin typeface="Calibri"/>
              </a:rPr>
              <a:t>d) Flat until September, then a drop when the August cohort arrives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38.2, 38.0, 37.9, 37.8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 print, counted directly from member_months?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7,722 of 20,217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9,558 of 25,122</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37.9</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11,359 of 29,943</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37.8</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13,218 of 35,000</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 prints 38 every month. Each month one more cohort enters the count at about 38.5 percent, just above the older cohorts' slow slide, so the average holds while every cohort falls.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call: "38 and flat,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a hurried analyst conclude from four flat months, and what would it cost?</a:t>
            </a:r>
          </a:p>
        </p:txBody>
      </p:sp>
      <p:sp>
        <p:nvSpPr>
          <p:cNvPr id="9" name="Rounded Rectangle 8"/>
          <p:cNvSpPr/>
          <p:nvPr/>
        </p:nvSpPr>
        <p:spPr>
          <a:xfrm>
            <a:off x="530352" y="1878330"/>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34010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449830"/>
            <a:ext cx="237744" cy="237744"/>
          </a:xfrm>
          <a:prstGeom prst="rect">
            <a:avLst/>
          </a:prstGeom>
        </p:spPr>
      </p:pic>
      <p:sp>
        <p:nvSpPr>
          <p:cNvPr id="12" name="TextBox 11"/>
          <p:cNvSpPr txBox="1"/>
          <p:nvPr/>
        </p:nvSpPr>
        <p:spPr>
          <a:xfrm>
            <a:off x="1399031" y="202463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244090"/>
            <a:ext cx="9987991" cy="941832"/>
          </a:xfrm>
          <a:prstGeom prst="rect">
            <a:avLst/>
          </a:prstGeom>
          <a:noFill/>
        </p:spPr>
        <p:txBody>
          <a:bodyPr wrap="square" anchor="t" lIns="0" rIns="0" tIns="0" bIns="0">
            <a:spAutoFit/>
          </a:bodyPr>
          <a:lstStyle/>
          <a:p>
            <a:r>
              <a:rPr sz="1500" b="0" i="0">
                <a:solidFill>
                  <a:srgbClr val="1A1440"/>
                </a:solidFill>
                <a:latin typeface="Calibri"/>
              </a:rPr>
              <a:t>"Month-two retention is 38 percent and flat, so nothing changed." The decision it would mislead: the August cohort gets no action, the dashboard stays the month's headline, and October's drop arrives as a surprise.</a:t>
            </a:r>
          </a:p>
        </p:txBody>
      </p:sp>
      <p:sp>
        <p:nvSpPr>
          <p:cNvPr id="14" name="Rounded Rectangle 13"/>
          <p:cNvSpPr/>
          <p:nvPr/>
        </p:nvSpPr>
        <p:spPr>
          <a:xfrm>
            <a:off x="530352" y="342366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55168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542538"/>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38 is an average over cohorts of different ages, weighted by their sizes, and it only counts a member from her second month. A flat average can sit on top of every cohort falling, as batch A fell under batch B on the toy.</a:t>
            </a:r>
          </a:p>
        </p:txBody>
      </p:sp>
      <p:sp>
        <p:nvSpPr>
          <p:cNvPr id="17" name="Rounded Rectangle 16"/>
          <p:cNvSpPr/>
          <p:nvPr/>
        </p:nvSpPr>
        <p:spPr>
          <a:xfrm>
            <a:off x="530352" y="466267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790693"/>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781550"/>
            <a:ext cx="10564063"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Take the number apart, cohort by cohort, and compare each piece with the direct count. Swiggy's own tables show why: monthly transacting users rose 27.4 percent while orders per user fell 6.3 percent, from 4.13 to 3.87, and the blend cannot say whether existing users ordered less or new users ordered little (Swiggy's Q1 FY27 letter of 30 July 2026, checked 12 October 2026; the 6.3 is our arithmetic).</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month's 38: a new cohort enters, old ones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each month's number made of?</a:t>
            </a:r>
          </a:p>
        </p:txBody>
      </p:sp>
      <p:pic>
        <p:nvPicPr>
          <p:cNvPr id="9" name="mermaid diagram" descr="C2_W04_D04_blend_decomposition_STUDENT.png"/>
          <p:cNvPicPr>
            <a:picLocks noChangeAspect="1"/>
          </p:cNvPicPr>
          <p:nvPr/>
        </p:nvPicPr>
        <p:blipFill>
          <a:blip r:embed="rId4"/>
          <a:stretch>
            <a:fillRect/>
          </a:stretch>
        </p:blipFill>
        <p:spPr>
          <a:xfrm>
            <a:off x="2367657" y="1664208"/>
            <a:ext cx="745637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month's 38 percent: a new cohort enters, every older one falls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Each stack is the dashboard's count for one month; the dark part ordered. Every older cohort's dark share shrinks a little each month, and one new cohort enters at the top. The hatched bar is the August cohort, outside the count in September.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13,218 of 35,000,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September's 38, rebuilt as a weighted average of its cohorts, equal the direct count?</a:t>
            </a:r>
          </a:p>
        </p:txBody>
      </p:sp>
      <p:graphicFrame>
        <p:nvGraphicFramePr>
          <p:cNvPr id="9" name="Table 8"/>
          <p:cNvGraphicFramePr>
            <a:graphicFrameLocks noGrp="1"/>
          </p:cNvGraphicFramePr>
          <p:nvPr/>
        </p:nvGraphicFramePr>
        <p:xfrm>
          <a:off x="530352" y="1809496"/>
          <a:ext cx="11130990" cy="2958592"/>
        </p:xfrm>
        <a:graphic>
          <a:graphicData uri="http://schemas.openxmlformats.org/drawingml/2006/table">
            <a:tbl>
              <a:tblPr firstRow="0" bandRow="0">
                <a:tableStyleId>{2D5ABB26-0587-4C30-8999-92F81FD0307C}</a:tableStyleId>
              </a:tblPr>
              <a:tblGrid>
                <a:gridCol w="2546440"/>
                <a:gridCol w="2507208"/>
                <a:gridCol w="6077342"/>
              </a:tblGrid>
              <a:tr h="369824">
                <a:tc>
                  <a:txBody>
                    <a:bodyPr/>
                    <a:lstStyle/>
                    <a:p>
                      <a:r>
                        <a:rPr sz="1450" b="1" i="0">
                          <a:solidFill>
                            <a:srgbClr val="FFFFFF"/>
                          </a:solidFill>
                          <a:latin typeface="Calibri"/>
                        </a:rPr>
                        <a:t>Cohort</a:t>
                      </a:r>
                    </a:p>
                  </a:txBody>
                  <a:tcPr marL="101600" marR="101600" marT="38100" marB="38100" anchor="ctr">
                    <a:solidFill>
                      <a:srgbClr val="1A0F5C"/>
                    </a:solidFill>
                  </a:tcPr>
                </a:tc>
                <a:tc>
                  <a:txBody>
                    <a:bodyPr/>
                    <a:lstStyle/>
                    <a:p>
                      <a:r>
                        <a:rPr sz="1450" b="1" i="0">
                          <a:solidFill>
                            <a:srgbClr val="FFFFFF"/>
                          </a:solidFill>
                          <a:latin typeface="Calibri"/>
                        </a:rPr>
                        <a:t>Members</a:t>
                      </a:r>
                    </a:p>
                  </a:txBody>
                  <a:tcPr marL="101600" marR="101600" marT="38100" marB="38100" anchor="ctr">
                    <a:solidFill>
                      <a:srgbClr val="1A0F5C"/>
                    </a:solidFill>
                  </a:tcPr>
                </a:tc>
                <a:tc>
                  <a:txBody>
                    <a:bodyPr/>
                    <a:lstStyle/>
                    <a:p>
                      <a:r>
                        <a:rPr sz="1450" b="1" i="0">
                          <a:solidFill>
                            <a:srgbClr val="FFFFFF"/>
                          </a:solidFill>
                          <a:latin typeface="Calibri"/>
                        </a:rPr>
                        <a:t>Ordered in September</a:t>
                      </a:r>
                    </a:p>
                  </a:txBody>
                  <a:tcPr marL="101600" marR="101600" marT="38100" marB="38100" anchor="ctr">
                    <a:solidFill>
                      <a:srgbClr val="1A0F5C"/>
                    </a:solidFill>
                  </a:tcPr>
                </a:tc>
              </a:tr>
              <a:tr h="369824">
                <a:tc>
                  <a:txBody>
                    <a:bodyPr/>
                    <a:lstStyle/>
                    <a:p>
                      <a:r>
                        <a:rPr sz="1400" b="0" i="0">
                          <a:solidFill>
                            <a:srgbClr val="1A1440"/>
                          </a:solidFill>
                          <a:latin typeface="Calibri"/>
                        </a:rPr>
                        <a:t>January</a:t>
                      </a:r>
                    </a:p>
                  </a:txBody>
                  <a:tcPr marL="101600" marR="101600" marT="38100" marB="38100" anchor="ctr">
                    <a:solidFill>
                      <a:srgbClr val="FFFFFF"/>
                    </a:solidFill>
                  </a:tcPr>
                </a:tc>
                <a:tc>
                  <a:txBody>
                    <a:bodyPr/>
                    <a:lstStyle/>
                    <a:p>
                      <a:r>
                        <a:rPr sz="1400" b="0" i="0">
                          <a:solidFill>
                            <a:srgbClr val="1A1440"/>
                          </a:solidFill>
                          <a:latin typeface="Calibri"/>
                        </a:rPr>
                        <a:t>4,854</a:t>
                      </a:r>
                    </a:p>
                  </a:txBody>
                  <a:tcPr marL="101600" marR="101600" marT="38100" marB="38100" anchor="ctr">
                    <a:solidFill>
                      <a:srgbClr val="FFFFFF"/>
                    </a:solidFill>
                  </a:tcPr>
                </a:tc>
                <a:tc>
                  <a:txBody>
                    <a:bodyPr/>
                    <a:lstStyle/>
                    <a:p>
                      <a:r>
                        <a:rPr sz="1400" b="0" i="0">
                          <a:solidFill>
                            <a:srgbClr val="1A1440"/>
                          </a:solidFill>
                          <a:latin typeface="Calibri"/>
                        </a:rPr>
                        <a:t>36.9 percent</a:t>
                      </a:r>
                    </a:p>
                  </a:txBody>
                  <a:tcPr marL="101600" marR="101600" marT="38100" marB="38100" anchor="ctr">
                    <a:solidFill>
                      <a:srgbClr val="FFFFFF"/>
                    </a:solidFill>
                  </a:tcPr>
                </a:tc>
              </a:tr>
              <a:tr h="369824">
                <a:tc>
                  <a:txBody>
                    <a:bodyPr/>
                    <a:lstStyle/>
                    <a:p>
                      <a:r>
                        <a:rPr sz="1400" b="0" i="0">
                          <a:solidFill>
                            <a:srgbClr val="1A1440"/>
                          </a:solidFill>
                          <a:latin typeface="Calibri"/>
                        </a:rPr>
                        <a:t>February</a:t>
                      </a:r>
                    </a:p>
                  </a:txBody>
                  <a:tcPr marL="101600" marR="101600" marT="38100" marB="38100" anchor="ctr">
                    <a:solidFill>
                      <a:srgbClr val="F4F2FA"/>
                    </a:solidFill>
                  </a:tcPr>
                </a:tc>
                <a:tc>
                  <a:txBody>
                    <a:bodyPr/>
                    <a:lstStyle/>
                    <a:p>
                      <a:r>
                        <a:rPr sz="1400" b="0" i="0">
                          <a:solidFill>
                            <a:srgbClr val="1A1440"/>
                          </a:solidFill>
                          <a:latin typeface="Calibri"/>
                        </a:rPr>
                        <a:t>5,055</a:t>
                      </a:r>
                    </a:p>
                  </a:txBody>
                  <a:tcPr marL="101600" marR="101600" marT="38100" marB="38100" anchor="ctr">
                    <a:solidFill>
                      <a:srgbClr val="F4F2FA"/>
                    </a:solidFill>
                  </a:tcPr>
                </a:tc>
                <a:tc>
                  <a:txBody>
                    <a:bodyPr/>
                    <a:lstStyle/>
                    <a:p>
                      <a:r>
                        <a:rPr sz="1400" b="0" i="0">
                          <a:solidFill>
                            <a:srgbClr val="1A1440"/>
                          </a:solidFill>
                          <a:latin typeface="Calibri"/>
                        </a:rPr>
                        <a:t>37.1 percent</a:t>
                      </a:r>
                    </a:p>
                  </a:txBody>
                  <a:tcPr marL="101600" marR="101600" marT="38100" marB="38100" anchor="ctr">
                    <a:solidFill>
                      <a:srgbClr val="F4F2FA"/>
                    </a:solidFill>
                  </a:tcPr>
                </a:tc>
              </a:tr>
              <a:tr h="369824">
                <a:tc>
                  <a:txBody>
                    <a:bodyPr/>
                    <a:lstStyle/>
                    <a:p>
                      <a:r>
                        <a:rPr sz="1400" b="0" i="0">
                          <a:solidFill>
                            <a:srgbClr val="1A1440"/>
                          </a:solidFill>
                          <a:latin typeface="Calibri"/>
                        </a:rPr>
                        <a:t>March</a:t>
                      </a:r>
                    </a:p>
                  </a:txBody>
                  <a:tcPr marL="101600" marR="101600" marT="38100" marB="38100" anchor="ctr">
                    <a:solidFill>
                      <a:srgbClr val="FFFFFF"/>
                    </a:solidFill>
                  </a:tcPr>
                </a:tc>
                <a:tc>
                  <a:txBody>
                    <a:bodyPr/>
                    <a:lstStyle/>
                    <a:p>
                      <a:r>
                        <a:rPr sz="1400" b="0" i="0">
                          <a:solidFill>
                            <a:srgbClr val="1A1440"/>
                          </a:solidFill>
                          <a:latin typeface="Calibri"/>
                        </a:rPr>
                        <a:t>5,449</a:t>
                      </a:r>
                    </a:p>
                  </a:txBody>
                  <a:tcPr marL="101600" marR="101600" marT="38100" marB="38100" anchor="ctr">
                    <a:solidFill>
                      <a:srgbClr val="FFFFFF"/>
                    </a:solidFill>
                  </a:tcPr>
                </a:tc>
                <a:tc>
                  <a:txBody>
                    <a:bodyPr/>
                    <a:lstStyle/>
                    <a:p>
                      <a:r>
                        <a:rPr sz="1400" b="0" i="0">
                          <a:solidFill>
                            <a:srgbClr val="1A1440"/>
                          </a:solidFill>
                          <a:latin typeface="Calibri"/>
                        </a:rPr>
                        <a:t>37.5 percent</a:t>
                      </a:r>
                    </a:p>
                  </a:txBody>
                  <a:tcPr marL="101600" marR="101600" marT="38100" marB="38100" anchor="ctr">
                    <a:solidFill>
                      <a:srgbClr val="FFFFFF"/>
                    </a:solidFill>
                  </a:tcPr>
                </a:tc>
              </a:tr>
              <a:tr h="369824">
                <a:tc>
                  <a:txBody>
                    <a:bodyPr/>
                    <a:lstStyle/>
                    <a:p>
                      <a:r>
                        <a:rPr sz="1400" b="0" i="0">
                          <a:solidFill>
                            <a:srgbClr val="1A1440"/>
                          </a:solidFill>
                          <a:latin typeface="Calibri"/>
                        </a:rPr>
                        <a:t>April</a:t>
                      </a:r>
                    </a:p>
                  </a:txBody>
                  <a:tcPr marL="101600" marR="101600" marT="38100" marB="38100" anchor="ctr">
                    <a:solidFill>
                      <a:srgbClr val="F4F2FA"/>
                    </a:solidFill>
                  </a:tcPr>
                </a:tc>
                <a:tc>
                  <a:txBody>
                    <a:bodyPr/>
                    <a:lstStyle/>
                    <a:p>
                      <a:r>
                        <a:rPr sz="1400" b="0" i="0">
                          <a:solidFill>
                            <a:srgbClr val="1A1440"/>
                          </a:solidFill>
                          <a:latin typeface="Calibri"/>
                        </a:rPr>
                        <a:t>4,859</a:t>
                      </a:r>
                    </a:p>
                  </a:txBody>
                  <a:tcPr marL="101600" marR="101600" marT="38100" marB="38100" anchor="ctr">
                    <a:solidFill>
                      <a:srgbClr val="F4F2FA"/>
                    </a:solidFill>
                  </a:tcPr>
                </a:tc>
                <a:tc>
                  <a:txBody>
                    <a:bodyPr/>
                    <a:lstStyle/>
                    <a:p>
                      <a:r>
                        <a:rPr sz="1400" b="0" i="0">
                          <a:solidFill>
                            <a:srgbClr val="1A1440"/>
                          </a:solidFill>
                          <a:latin typeface="Calibri"/>
                        </a:rPr>
                        <a:t>37.7 percent</a:t>
                      </a:r>
                    </a:p>
                  </a:txBody>
                  <a:tcPr marL="101600" marR="101600" marT="38100" marB="38100" anchor="ctr">
                    <a:solidFill>
                      <a:srgbClr val="F4F2FA"/>
                    </a:solidFill>
                  </a:tcPr>
                </a:tc>
              </a:tr>
              <a:tr h="369824">
                <a:tc>
                  <a:txBody>
                    <a:bodyPr/>
                    <a:lstStyle/>
                    <a:p>
                      <a:r>
                        <a:rPr sz="1400" b="0" i="0">
                          <a:solidFill>
                            <a:srgbClr val="1A1440"/>
                          </a:solidFill>
                          <a:latin typeface="Calibri"/>
                        </a:rPr>
                        <a:t>May</a:t>
                      </a:r>
                    </a:p>
                  </a:txBody>
                  <a:tcPr marL="101600" marR="101600" marT="38100" marB="38100" anchor="ctr">
                    <a:solidFill>
                      <a:srgbClr val="FFFFFF"/>
                    </a:solidFill>
                  </a:tcPr>
                </a:tc>
                <a:tc>
                  <a:txBody>
                    <a:bodyPr/>
                    <a:lstStyle/>
                    <a:p>
                      <a:r>
                        <a:rPr sz="1400" b="0" i="0">
                          <a:solidFill>
                            <a:srgbClr val="1A1440"/>
                          </a:solidFill>
                          <a:latin typeface="Calibri"/>
                        </a:rPr>
                        <a:t>4,905</a:t>
                      </a:r>
                    </a:p>
                  </a:txBody>
                  <a:tcPr marL="101600" marR="101600" marT="38100" marB="38100" anchor="ctr">
                    <a:solidFill>
                      <a:srgbClr val="FFFFFF"/>
                    </a:solidFill>
                  </a:tcPr>
                </a:tc>
                <a:tc>
                  <a:txBody>
                    <a:bodyPr/>
                    <a:lstStyle/>
                    <a:p>
                      <a:r>
                        <a:rPr sz="1400" b="0" i="0">
                          <a:solidFill>
                            <a:srgbClr val="1A1440"/>
                          </a:solidFill>
                          <a:latin typeface="Calibri"/>
                        </a:rPr>
                        <a:t>38.1 percent</a:t>
                      </a:r>
                    </a:p>
                  </a:txBody>
                  <a:tcPr marL="101600" marR="101600" marT="38100" marB="38100" anchor="ctr">
                    <a:solidFill>
                      <a:srgbClr val="FFFFFF"/>
                    </a:solidFill>
                  </a:tcPr>
                </a:tc>
              </a:tr>
              <a:tr h="369824">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4,821</a:t>
                      </a:r>
                    </a:p>
                  </a:txBody>
                  <a:tcPr marL="101600" marR="101600" marT="38100" marB="38100" anchor="ctr">
                    <a:solidFill>
                      <a:srgbClr val="F4F2FA"/>
                    </a:solidFill>
                  </a:tcPr>
                </a:tc>
                <a:tc>
                  <a:txBody>
                    <a:bodyPr/>
                    <a:lstStyle/>
                    <a:p>
                      <a:r>
                        <a:rPr sz="1400" b="0" i="0">
                          <a:solidFill>
                            <a:srgbClr val="1A1440"/>
                          </a:solidFill>
                          <a:latin typeface="Calibri"/>
                        </a:rPr>
                        <a:t>38.6 percent</a:t>
                      </a:r>
                    </a:p>
                  </a:txBody>
                  <a:tcPr marL="101600" marR="101600" marT="38100" marB="38100" anchor="ctr">
                    <a:solidFill>
                      <a:srgbClr val="F4F2FA"/>
                    </a:solidFill>
                  </a:tcPr>
                </a:tc>
              </a:tr>
              <a:tr h="369824">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5,057</a:t>
                      </a:r>
                    </a:p>
                  </a:txBody>
                  <a:tcPr marL="101600" marR="101600" marT="38100" marB="38100" anchor="ctr">
                    <a:solidFill>
                      <a:srgbClr val="FFFFFF"/>
                    </a:solidFill>
                  </a:tcPr>
                </a:tc>
                <a:tc>
                  <a:txBody>
                    <a:bodyPr/>
                    <a:lstStyle/>
                    <a:p>
                      <a:r>
                        <a:rPr sz="1400" b="0" i="0">
                          <a:solidFill>
                            <a:srgbClr val="1A1440"/>
                          </a:solidFill>
                          <a:latin typeface="Calibri"/>
                        </a:rPr>
                        <a:t>38.5 percent</a:t>
                      </a:r>
                    </a:p>
                  </a:txBody>
                  <a:tcPr marL="101600" marR="101600" marT="38100" marB="38100" anchor="ctr">
                    <a:solidFill>
                      <a:srgbClr val="FFFFFF"/>
                    </a:solidFill>
                  </a:tcPr>
                </a:tc>
              </a:tr>
            </a:tbl>
          </a:graphicData>
        </a:graphic>
      </p:graphicFrame>
      <p:sp>
        <p:nvSpPr>
          <p:cNvPr id="10" name="TextBox 9"/>
          <p:cNvSpPr txBox="1"/>
          <p:nvPr/>
        </p:nvSpPr>
        <p:spPr>
          <a:xfrm>
            <a:off x="530352" y="5024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 of (members × rate) over the seven cohorts = 13,218 orderers; 13,218 / 35,000 = 37.8 percent, the same to the last digit as the direct count. The newest cohorts sit highest and the oldest lowest: the youngest prop the average.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counting everyone, what is September?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September, 13,000 August members are in their month one and outside the dashboard. Counting everyone who joined before September, what does September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Still 38 percent</a:t>
            </a:r>
          </a:p>
          <a:p>
            <a:pPr>
              <a:spcAft>
                <a:spcPts val="800"/>
              </a:spcAft>
            </a:pPr>
            <a:r>
              <a:rPr sz="1600" b="0" i="0">
                <a:solidFill>
                  <a:srgbClr val="1A1440"/>
                </a:solidFill>
                <a:latin typeface="Calibri"/>
              </a:rPr>
              <a:t>b) About 36 percent</a:t>
            </a:r>
          </a:p>
          <a:p>
            <a:pPr>
              <a:spcAft>
                <a:spcPts val="800"/>
              </a:spcAft>
            </a:pPr>
            <a:r>
              <a:rPr sz="1600" b="0" i="0">
                <a:solidFill>
                  <a:srgbClr val="1A1440"/>
                </a:solidFill>
                <a:latin typeface="Calibri"/>
              </a:rPr>
              <a:t>c) About 31 percent, August's rate</a:t>
            </a:r>
          </a:p>
          <a:p>
            <a:pPr>
              <a:spcAft>
                <a:spcPts val="800"/>
              </a:spcAft>
            </a:pPr>
            <a:r>
              <a:rPr sz="1600" b="0" i="0">
                <a:solidFill>
                  <a:srgbClr val="1A1440"/>
                </a:solidFill>
                <a:latin typeface="Calibri"/>
              </a:rPr>
              <a:t>d) About 49 percent, the organic August members' rate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36 percent, and the sale week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September read with the August cohort counted, and which of its members sit low?</a:t>
            </a:r>
          </a:p>
        </p:txBody>
      </p:sp>
      <p:pic>
        <p:nvPicPr>
          <p:cNvPr id="9" name="mermaid diagram" descr="C2_W04_D04_sale_vs_organic_STUDENT.png"/>
          <p:cNvPicPr>
            <a:picLocks noChangeAspect="1"/>
          </p:cNvPicPr>
          <p:nvPr/>
        </p:nvPicPr>
        <p:blipFill>
          <a:blip r:embed="rId4"/>
          <a:stretch>
            <a:fillRect/>
          </a:stretch>
        </p:blipFill>
        <p:spPr>
          <a:xfrm>
            <a:off x="2127487" y="1664208"/>
            <a:ext cx="793672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sale-week members, not August, sit low</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b: 17,248 of 48,000, 35.9 percent. Split by how they joined, the 4,973 organic August members kept 49 percent in month one, July's rate; the 8,027 sale-week members kept 20. In October the whole August cohort enters the dashboard; if it falls from month one to month two as July's did, 31 to about 20.5 percent, the dashboard drops to about 33 percent (32 to 34 if it enters anywhere from 17 to 24).</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close: 38 is a weighted average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full table answered, and what is still open?</a:t>
            </a:r>
          </a:p>
        </p:txBody>
      </p:sp>
      <p:pic>
        <p:nvPicPr>
          <p:cNvPr id="9" name="mermaid diagram" descr="49d81dc46918aa92.png"/>
          <p:cNvPicPr>
            <a:picLocks noChangeAspect="1"/>
          </p:cNvPicPr>
          <p:nvPr/>
        </p:nvPicPr>
        <p:blipFill>
          <a:blip r:embed="rId7"/>
          <a:stretch>
            <a:fillRect/>
          </a:stretch>
        </p:blipFill>
        <p:spPr>
          <a:xfrm>
            <a:off x="530351" y="1937186"/>
            <a:ext cx="11130991" cy="1453531"/>
          </a:xfrm>
          <a:prstGeom prst="rect">
            <a:avLst/>
          </a:prstGeom>
        </p:spPr>
      </p:pic>
      <p:sp>
        <p:nvSpPr>
          <p:cNvPr id="10" name="Rounded Rectangle 9"/>
          <p:cNvSpPr/>
          <p:nvPr/>
        </p:nvSpPr>
        <p:spPr>
          <a:xfrm>
            <a:off x="530352" y="353702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6925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978981"/>
            <a:ext cx="237744" cy="237744"/>
          </a:xfrm>
          <a:prstGeom prst="rect">
            <a:avLst/>
          </a:prstGeom>
        </p:spPr>
      </p:pic>
      <p:sp>
        <p:nvSpPr>
          <p:cNvPr id="13" name="TextBox 12"/>
          <p:cNvSpPr txBox="1"/>
          <p:nvPr/>
        </p:nvSpPr>
        <p:spPr>
          <a:xfrm>
            <a:off x="1399031" y="368332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02781"/>
            <a:ext cx="9987991" cy="682752"/>
          </a:xfrm>
          <a:prstGeom prst="rect">
            <a:avLst/>
          </a:prstGeom>
          <a:noFill/>
        </p:spPr>
        <p:txBody>
          <a:bodyPr wrap="square" anchor="t" lIns="0" rIns="0" tIns="0" bIns="0">
            <a:spAutoFit/>
          </a:bodyPr>
          <a:lstStyle/>
          <a:p>
            <a:r>
              <a:rPr sz="1500" b="0" i="0">
                <a:solidFill>
                  <a:srgbClr val="1A1440"/>
                </a:solidFill>
                <a:latin typeface="Calibri"/>
              </a:rPr>
              <a:t>A flat retention number is a size-weighted average of cohorts at different ages; rebuild it from its cohorts, check the rebuild matches, and read what the count leaves out.</a:t>
            </a:r>
          </a:p>
        </p:txBody>
      </p:sp>
      <p:sp>
        <p:nvSpPr>
          <p:cNvPr id="15" name="Rounded Rectangle 14"/>
          <p:cNvSpPr/>
          <p:nvPr/>
        </p:nvSpPr>
        <p:spPr>
          <a:xfrm>
            <a:off x="530352" y="482327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5550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65237"/>
            <a:ext cx="237744" cy="237744"/>
          </a:xfrm>
          <a:prstGeom prst="rect">
            <a:avLst/>
          </a:prstGeom>
        </p:spPr>
      </p:pic>
      <p:sp>
        <p:nvSpPr>
          <p:cNvPr id="18" name="TextBox 17"/>
          <p:cNvSpPr txBox="1"/>
          <p:nvPr/>
        </p:nvSpPr>
        <p:spPr>
          <a:xfrm>
            <a:off x="1399031" y="496958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89037"/>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use cohort analysis to find a retention issue? Fix the entry month, build the table, read rows for decay and columns for each cohort's start, then rebuild the blend from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in the order flow did members stop, counted in which unit, for whom and since when?</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the funnel, its units and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and the app team's lead, who will say the stage the room blames is fine. Blaming the wrong step sends engineers to fix one that works.</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funnel read?</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step over the step before</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22" name="TextBox 21"/>
          <p:cNvSpPr txBox="1"/>
          <p:nvPr/>
        </p:nvSpPr>
        <p:spPr>
          <a:xfrm>
            <a:off x="2957718"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A step members can skip</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Per session or per member?</a:t>
            </a:r>
          </a:p>
        </p:txBody>
      </p:sp>
      <p:sp>
        <p:nvSpPr>
          <p:cNvPr id="27" name="TextBox 26"/>
          <p:cNvSpPr txBox="1"/>
          <p:nvPr/>
        </p:nvSpPr>
        <p:spPr>
          <a:xfrm>
            <a:off x="5220492"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Two units, two questions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680466"/>
          </a:xfrm>
          <a:prstGeom prst="rect">
            <a:avLst/>
          </a:prstGeom>
          <a:noFill/>
        </p:spPr>
        <p:txBody>
          <a:bodyPr wrap="square" anchor="t" lIns="0" rIns="0" tIns="0" bIns="0">
            <a:spAutoFit/>
          </a:bodyPr>
          <a:lstStyle/>
          <a:p>
            <a:pPr algn="l"/>
            <a:r>
              <a:rPr sz="1300" b="1" i="0">
                <a:solidFill>
                  <a:srgbClr val="1A0F5C"/>
                </a:solidFill>
                <a:latin typeface="Calibri"/>
              </a:rPr>
              <a:t>Whose conversion fell, and where inside the checkout?</a:t>
            </a:r>
          </a:p>
        </p:txBody>
      </p:sp>
      <p:sp>
        <p:nvSpPr>
          <p:cNvPr id="32" name="TextBox 31"/>
          <p:cNvSpPr txBox="1"/>
          <p:nvPr/>
        </p:nvSpPr>
        <p:spPr>
          <a:xfrm>
            <a:off x="7483266" y="4679442"/>
            <a:ext cx="1750710" cy="366776"/>
          </a:xfrm>
          <a:prstGeom prst="rect">
            <a:avLst/>
          </a:prstGeom>
          <a:noFill/>
        </p:spPr>
        <p:txBody>
          <a:bodyPr wrap="square" anchor="t" lIns="0" rIns="0" tIns="0" bIns="0">
            <a:spAutoFit/>
          </a:bodyPr>
          <a:lstStyle/>
          <a:p>
            <a:pPr algn="l"/>
            <a:r>
              <a:rPr sz="1000" b="0" i="0">
                <a:solidFill>
                  <a:srgbClr val="6B6690"/>
                </a:solidFill>
                <a:latin typeface="Calibri"/>
              </a:rPr>
              <a:t>Platform, membership, date, then the size</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7" name="TextBox 36"/>
          <p:cNvSpPr txBox="1"/>
          <p:nvPr/>
        </p:nvSpPr>
        <p:spPr>
          <a:xfrm>
            <a:off x="9746040" y="4464812"/>
            <a:ext cx="1750710" cy="366776"/>
          </a:xfrm>
          <a:prstGeom prst="rect">
            <a:avLst/>
          </a:prstGeom>
          <a:noFill/>
        </p:spPr>
        <p:txBody>
          <a:bodyPr wrap="square" anchor="t" lIns="0" rIns="0" tIns="0" bIns="0">
            <a:spAutoFit/>
          </a:bodyPr>
          <a:lstStyle/>
          <a:p>
            <a:pPr algn="l"/>
            <a:r>
              <a:rPr sz="1000" b="0" i="0">
                <a:solidFill>
                  <a:srgbClr val="CFC9EE"/>
                </a:solidFill>
                <a:latin typeface="Calibri"/>
              </a:rPr>
              <a:t>Six caveats, each with its check</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0" name="Oval 3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2" name="Oval 4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owns the loss?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September, Gold members, per session: open to search 68, search to menu view 118, menu view to cart 34, cart to checkout 80, checkout to order 64 percent. Which step owns the loss?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Search to menu view, the one above 100 percent</a:t>
            </a:r>
          </a:p>
          <a:p>
            <a:pPr>
              <a:spcAft>
                <a:spcPts val="800"/>
              </a:spcAft>
            </a:pPr>
            <a:r>
              <a:rPr sz="1600" b="0" i="0">
                <a:solidFill>
                  <a:srgbClr val="1A1440"/>
                </a:solidFill>
                <a:latin typeface="Calibri"/>
              </a:rPr>
              <a:t>b) Menu view to add-to-cart, the lowest rate</a:t>
            </a:r>
          </a:p>
          <a:p>
            <a:pPr>
              <a:spcAft>
                <a:spcPts val="800"/>
              </a:spcAft>
            </a:pPr>
            <a:r>
              <a:rPr sz="1600" b="0" i="0">
                <a:solidFill>
                  <a:srgbClr val="1A1440"/>
                </a:solidFill>
                <a:latin typeface="Calibri"/>
              </a:rPr>
              <a:t>c) Checkout to order, the last step</a:t>
            </a:r>
          </a:p>
          <a:p>
            <a:pPr>
              <a:spcAft>
                <a:spcPts val="800"/>
              </a:spcAft>
            </a:pPr>
            <a:r>
              <a:rPr sz="1600" b="0" i="0">
                <a:solidFill>
                  <a:srgbClr val="1A1440"/>
                </a:solidFill>
                <a:latin typeface="Calibri"/>
              </a:rPr>
              <a:t>d) None can be named until each step is read in one unit and split by platform and date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low step is not a loss until it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funnel read, on numbers small enough to hold?</a:t>
            </a:r>
          </a:p>
        </p:txBody>
      </p:sp>
      <p:pic>
        <p:nvPicPr>
          <p:cNvPr id="9" name="mermaid diagram" descr="4b4cc8b3531b7148.png"/>
          <p:cNvPicPr>
            <a:picLocks noChangeAspect="1"/>
          </p:cNvPicPr>
          <p:nvPr/>
        </p:nvPicPr>
        <p:blipFill>
          <a:blip r:embed="rId5"/>
          <a:stretch>
            <a:fillRect/>
          </a:stretch>
        </p:blipFill>
        <p:spPr>
          <a:xfrm>
            <a:off x="530352" y="1956816"/>
            <a:ext cx="11130991" cy="759497"/>
          </a:xfrm>
          <a:prstGeom prst="rect">
            <a:avLst/>
          </a:prstGeom>
        </p:spPr>
      </p:pic>
      <p:sp>
        <p:nvSpPr>
          <p:cNvPr id="10" name="TextBox 9"/>
          <p:cNvSpPr txBox="1"/>
          <p:nvPr/>
        </p:nvSpPr>
        <p:spPr>
          <a:xfrm>
            <a:off x="530352" y="286261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Each step's rate divides it by the step before, in one unit (a toy, invented). If those 10 checkouts came from 50 sessions of 20 people, checkout is 10 of 50 per session and 10 of 20 per person. A step that is always low, such as browsing menus, is normal; a loss is a step that changed.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118 percent: the carousel skips search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118 percent, and what does it really read?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9239204"/>
                <a:gridCol w="1891786"/>
              </a:tblGrid>
              <a:tr h="369824">
                <a:tc>
                  <a:txBody>
                    <a:bodyPr/>
                    <a:lstStyle/>
                    <a:p>
                      <a:r>
                        <a:rPr sz="1450" b="1" i="0">
                          <a:solidFill>
                            <a:srgbClr val="FFFFFF"/>
                          </a:solidFill>
                          <a:latin typeface="Calibri"/>
                        </a:rPr>
                        <a:t>September, member sessions</a:t>
                      </a:r>
                    </a:p>
                  </a:txBody>
                  <a:tcPr marL="101600" marR="101600" marT="38100" marB="38100" anchor="ctr">
                    <a:solidFill>
                      <a:srgbClr val="1A0F5C"/>
                    </a:solidFill>
                  </a:tcPr>
                </a:tc>
                <a:tc>
                  <a:txBody>
                    <a:bodyPr/>
                    <a:lstStyle/>
                    <a:p>
                      <a:r>
                        <a:rPr sz="1450" b="1" i="0">
                          <a:solidFill>
                            <a:srgbClr val="FFFFFF"/>
                          </a:solidFill>
                          <a:latin typeface="Calibri"/>
                        </a:rPr>
                        <a:t>Count</a:t>
                      </a:r>
                    </a:p>
                  </a:txBody>
                  <a:tcPr marL="101600" marR="101600" marT="38100" marB="38100" anchor="ctr">
                    <a:solidFill>
                      <a:srgbClr val="1A0F5C"/>
                    </a:solidFill>
                  </a:tcPr>
                </a:tc>
              </a:tr>
              <a:tr h="369824">
                <a:tc>
                  <a:txBody>
                    <a:bodyPr/>
                    <a:lstStyle/>
                    <a:p>
                      <a:r>
                        <a:rPr sz="1400" b="0" i="0">
                          <a:solidFill>
                            <a:srgbClr val="1A1440"/>
                          </a:solidFill>
                          <a:latin typeface="Calibri"/>
                        </a:rPr>
                        <a:t>Sessions with a search</a:t>
                      </a:r>
                    </a:p>
                  </a:txBody>
                  <a:tcPr marL="101600" marR="101600" marT="38100" marB="38100" anchor="ctr">
                    <a:solidFill>
                      <a:srgbClr val="FFFFFF"/>
                    </a:solidFill>
                  </a:tcPr>
                </a:tc>
                <a:tc>
                  <a:txBody>
                    <a:bodyPr/>
                    <a:lstStyle/>
                    <a:p>
                      <a:r>
                        <a:rPr sz="1400" b="0" i="0">
                          <a:solidFill>
                            <a:srgbClr val="1A1440"/>
                          </a:solidFill>
                          <a:latin typeface="Calibri"/>
                        </a:rPr>
                        <a:t>131,974</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menu view</a:t>
                      </a:r>
                    </a:p>
                  </a:txBody>
                  <a:tcPr marL="101600" marR="101600" marT="38100" marB="38100" anchor="ctr">
                    <a:solidFill>
                      <a:srgbClr val="F4F2FA"/>
                    </a:solidFill>
                  </a:tcPr>
                </a:tc>
                <a:tc>
                  <a:txBody>
                    <a:bodyPr/>
                    <a:lstStyle/>
                    <a:p>
                      <a:r>
                        <a:rPr sz="1400" b="0" i="0">
                          <a:solidFill>
                            <a:srgbClr val="1A1440"/>
                          </a:solidFill>
                          <a:latin typeface="Calibri"/>
                        </a:rPr>
                        <a:t>155,729</a:t>
                      </a:r>
                    </a:p>
                  </a:txBody>
                  <a:tcPr marL="101600" marR="101600" marT="38100" marB="38100" anchor="ctr">
                    <a:solidFill>
                      <a:srgbClr val="F4F2FA"/>
                    </a:solidFill>
                  </a:tcPr>
                </a:tc>
              </a:tr>
              <a:tr h="369824">
                <a:tc>
                  <a:txBody>
                    <a:bodyPr/>
                    <a:lstStyle/>
                    <a:p>
                      <a:r>
                        <a:rPr sz="1400" b="0" i="0">
                          <a:solidFill>
                            <a:srgbClr val="1A1440"/>
                          </a:solidFill>
                          <a:latin typeface="Calibri"/>
                        </a:rPr>
                        <a:t>Menu views with no search: the home carousel</a:t>
                      </a:r>
                    </a:p>
                  </a:txBody>
                  <a:tcPr marL="101600" marR="101600" marT="38100" marB="38100" anchor="ctr">
                    <a:solidFill>
                      <a:srgbClr val="FFFFFF"/>
                    </a:solidFill>
                  </a:tcPr>
                </a:tc>
                <a:tc>
                  <a:txBody>
                    <a:bodyPr/>
                    <a:lstStyle/>
                    <a:p>
                      <a:r>
                        <a:rPr sz="1400" b="0" i="0">
                          <a:solidFill>
                            <a:srgbClr val="1A1440"/>
                          </a:solidFill>
                          <a:latin typeface="Calibri"/>
                        </a:rPr>
                        <a:t>38,932</a:t>
                      </a:r>
                    </a:p>
                  </a:txBody>
                  <a:tcPr marL="101600" marR="101600" marT="38100" marB="38100" anchor="ctr">
                    <a:solidFill>
                      <a:srgbClr val="FFFFFF"/>
                    </a:solidFill>
                  </a:tcPr>
                </a:tc>
              </a:tr>
              <a:tr h="369824">
                <a:tc>
                  <a:txBody>
                    <a:bodyPr/>
                    <a:lstStyle/>
                    <a:p>
                      <a:r>
                        <a:rPr sz="1400" b="0" i="0">
                          <a:solidFill>
                            <a:srgbClr val="1A1440"/>
                          </a:solidFill>
                          <a:latin typeface="Calibri"/>
                        </a:rPr>
                        <a:t>Of the sessions that searched, the share that opened a menu</a:t>
                      </a:r>
                    </a:p>
                  </a:txBody>
                  <a:tcPr marL="101600" marR="101600" marT="38100" marB="38100" anchor="ctr">
                    <a:solidFill>
                      <a:srgbClr val="F4F2FA"/>
                    </a:solidFill>
                  </a:tcPr>
                </a:tc>
                <a:tc>
                  <a:txBody>
                    <a:bodyPr/>
                    <a:lstStyle/>
                    <a:p>
                      <a:r>
                        <a:rPr sz="1400" b="0" i="0">
                          <a:solidFill>
                            <a:srgbClr val="1A1440"/>
                          </a:solidFill>
                          <a:latin typeface="Calibri"/>
                        </a:rPr>
                        <a:t>89 percent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"Search to menu view is 118 percent, our best step." The home carousel opens a restaurant's menu without a search, so the ratio divides two counts of different sessions: search is a step members can skip. </a:t>
            </a:r>
            <a:r>
              <a:rPr sz="1500" b="1" i="0">
                <a:solidFill>
                  <a:srgbClr val="1A1440"/>
                </a:solidFill>
                <a:latin typeface="Calibri"/>
              </a:rPr>
              <a:t>The fix.</a:t>
            </a:r>
            <a:r>
              <a:rPr sz="1500" b="0" i="0">
                <a:solidFill>
                  <a:srgbClr val="1A1440"/>
                </a:solidFill>
                <a:latin typeface="Calibri"/>
              </a:rPr>
              <a:t> Count menu views only among sessions that searched: 89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per member, what does menu to cart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Menu view to add-to-cart reads 34 percent per session. Counted per member, what does it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same, 34 percent</a:t>
            </a:r>
          </a:p>
          <a:p>
            <a:pPr>
              <a:spcAft>
                <a:spcPts val="800"/>
              </a:spcAft>
            </a:pPr>
            <a:r>
              <a:rPr sz="1600" b="0" i="0">
                <a:solidFill>
                  <a:srgbClr val="1A1440"/>
                </a:solidFill>
                <a:latin typeface="Calibri"/>
              </a:rPr>
              <a:t>b) Lower, because members browse many times</a:t>
            </a:r>
          </a:p>
          <a:p>
            <a:pPr>
              <a:spcAft>
                <a:spcPts val="800"/>
              </a:spcAft>
            </a:pPr>
            <a:r>
              <a:rPr sz="1600" b="0" i="0">
                <a:solidFill>
                  <a:srgbClr val="1A1440"/>
                </a:solidFill>
                <a:latin typeface="Calibri"/>
              </a:rPr>
              <a:t>c) Higher, because a member who browses five times and buys once counts once</a:t>
            </a:r>
          </a:p>
          <a:p>
            <a:pPr>
              <a:spcAft>
                <a:spcPts val="800"/>
              </a:spcAft>
            </a:pPr>
            <a:r>
              <a:rPr sz="1600" b="0" i="0">
                <a:solidFill>
                  <a:srgbClr val="1A1440"/>
                </a:solidFill>
                <a:latin typeface="Calibri"/>
              </a:rPr>
              <a:t>d) Above 100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 member, 34 per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unit answer, and which does the chart name?</a:t>
            </a:r>
          </a:p>
        </p:txBody>
      </p:sp>
      <p:pic>
        <p:nvPicPr>
          <p:cNvPr id="9" name="mermaid diagram" descr="C2_W04_D04_funnel_two_units_STUDENT.png"/>
          <p:cNvPicPr>
            <a:picLocks noChangeAspect="1"/>
          </p:cNvPicPr>
          <p:nvPr/>
        </p:nvPicPr>
        <p:blipFill>
          <a:blip r:embed="rId4"/>
          <a:stretch>
            <a:fillRect/>
          </a:stretch>
        </p:blipFill>
        <p:spPr>
          <a:xfrm>
            <a:off x="2351950" y="1664208"/>
            <a:ext cx="7487795"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September, Gold members: one funnel, two units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Per session asks how often a menu visit becomes a cart; per member asks how many members who browsed ever added to a cart that month. Neither is wrong, and a chart that does not name its unit invites the wrong one. Per member, search to menu view still reads 101 percent: counting members shrinks the artefact and leaves it in place.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whose conversion fell after 14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Add-to-cart to order: before is 1 August to 13 September, after is 14 to 30 September. Whose rate fell?</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Everyone's, on every platform</a:t>
            </a:r>
          </a:p>
          <a:p>
            <a:pPr>
              <a:spcAft>
                <a:spcPts val="800"/>
              </a:spcAft>
            </a:pPr>
            <a:r>
              <a:rPr sz="1600" b="0" i="0">
                <a:solidFill>
                  <a:srgbClr val="1A1440"/>
                </a:solidFill>
                <a:latin typeface="Calibri"/>
              </a:rPr>
              <a:t>b) Members', on every platform</a:t>
            </a:r>
          </a:p>
          <a:p>
            <a:pPr>
              <a:spcAft>
                <a:spcPts val="800"/>
              </a:spcAft>
            </a:pPr>
            <a:r>
              <a:rPr sz="1600" b="0" i="0">
                <a:solidFill>
                  <a:srgbClr val="1A1440"/>
                </a:solidFill>
                <a:latin typeface="Calibri"/>
              </a:rPr>
              <a:t>c) Members' on Android</a:t>
            </a:r>
          </a:p>
          <a:p>
            <a:pPr>
              <a:spcAft>
                <a:spcPts val="800"/>
              </a:spcAft>
            </a:pPr>
            <a:r>
              <a:rPr sz="1600" b="0" i="0">
                <a:solidFill>
                  <a:srgbClr val="1A1440"/>
                </a:solidFill>
                <a:latin typeface="Calibri"/>
              </a:rPr>
              <a:t>d) Non-members' on Android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members on Android, from the release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by membership, platform and week?</a:t>
            </a:r>
          </a:p>
        </p:txBody>
      </p:sp>
      <p:pic>
        <p:nvPicPr>
          <p:cNvPr id="9" name="mermaid diagram" descr="C2_W04_D04_release_split_STUDENT.png"/>
          <p:cNvPicPr>
            <a:picLocks noChangeAspect="1"/>
          </p:cNvPicPr>
          <p:nvPr/>
        </p:nvPicPr>
        <p:blipFill>
          <a:blip r:embed="rId4"/>
          <a:stretch>
            <a:fillRect/>
          </a:stretch>
        </p:blipFill>
        <p:spPr>
          <a:xfrm>
            <a:off x="2753878" y="1664208"/>
            <a:ext cx="668393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Only members on Android fall, and only from the release week</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c. Members on Android: 58 to 44 percent, breaking in the release week and in no week before it. Members on iOS: 57 to 56. Non-members on Android: 52 to 51. Moving the cut a week either way keeps the fall: 58 to 47 with the cut on 7 September, 56 to 43 with it on 21 September.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that broke: checkout start to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two steps inside the checkout changed, and is the app team's chart wrong?</a:t>
            </a:r>
          </a:p>
        </p:txBody>
      </p:sp>
      <p:pic>
        <p:nvPicPr>
          <p:cNvPr id="9" name="mermaid diagram" descr="C2_W04_D04_stage_split_STUDENT.png"/>
          <p:cNvPicPr>
            <a:picLocks noChangeAspect="1"/>
          </p:cNvPicPr>
          <p:nvPr/>
        </p:nvPicPr>
        <p:blipFill>
          <a:blip r:embed="rId4"/>
          <a:stretch>
            <a:fillRect/>
          </a:stretch>
        </p:blipFill>
        <p:spPr>
          <a:xfrm>
            <a:off x="2838136" y="1664208"/>
            <a:ext cx="651542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Android members still start checkout from 80 percent of carts, before and after. Completing the order once checkout has started fell from 72.5 to 55 percent. The app team's chart, carts that start checkout on every platform, reads 80 percent flat: true, and it measures the step that did not break. Only members fell, so the place to look is something in the new flow that only members see.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things the data cannot show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still make the call wrong, and which check settles each?</a:t>
            </a:r>
          </a:p>
        </p:txBody>
      </p:sp>
      <p:graphicFrame>
        <p:nvGraphicFramePr>
          <p:cNvPr id="9" name="Table 8"/>
          <p:cNvGraphicFramePr>
            <a:graphicFrameLocks noGrp="1"/>
          </p:cNvGraphicFramePr>
          <p:nvPr/>
        </p:nvGraphicFramePr>
        <p:xfrm>
          <a:off x="530352" y="1682496"/>
          <a:ext cx="11130990" cy="3383280"/>
        </p:xfrm>
        <a:graphic>
          <a:graphicData uri="http://schemas.openxmlformats.org/drawingml/2006/table">
            <a:tbl>
              <a:tblPr firstRow="0" bandRow="0">
                <a:tableStyleId>{2D5ABB26-0587-4C30-8999-92F81FD0307C}</a:tableStyleId>
              </a:tblPr>
              <a:tblGrid>
                <a:gridCol w="3710330"/>
                <a:gridCol w="3710330"/>
                <a:gridCol w="3710330"/>
              </a:tblGrid>
              <a:tr h="335280">
                <a:tc>
                  <a:txBody>
                    <a:bodyPr/>
                    <a:lstStyle/>
                    <a:p>
                      <a:r>
                        <a:rPr sz="1250" b="1" i="0">
                          <a:solidFill>
                            <a:srgbClr val="FFFFFF"/>
                          </a:solidFill>
                          <a:latin typeface="Calibri"/>
                        </a:rPr>
                        <a:t>Caveat</a:t>
                      </a:r>
                    </a:p>
                  </a:txBody>
                  <a:tcPr marL="101600" marR="101600" marT="38100" marB="38100" anchor="ctr">
                    <a:solidFill>
                      <a:srgbClr val="1A0F5C"/>
                    </a:solidFill>
                  </a:tcPr>
                </a:tc>
                <a:tc>
                  <a:txBody>
                    <a:bodyPr/>
                    <a:lstStyle/>
                    <a:p>
                      <a:r>
                        <a:rPr sz="1250" b="1" i="0">
                          <a:solidFill>
                            <a:srgbClr val="FFFFFF"/>
                          </a:solidFill>
                          <a:latin typeface="Calibri"/>
                        </a:rPr>
                        <a:t>The check</a:t>
                      </a:r>
                    </a:p>
                  </a:txBody>
                  <a:tcPr marL="101600" marR="101600" marT="38100" marB="38100" anchor="ctr">
                    <a:solidFill>
                      <a:srgbClr val="1A0F5C"/>
                    </a:solidFill>
                  </a:tcPr>
                </a:tc>
                <a:tc>
                  <a:txBody>
                    <a:bodyPr/>
                    <a:lstStyle/>
                    <a:p>
                      <a:r>
                        <a:rPr sz="1250" b="1" i="0">
                          <a:solidFill>
                            <a:srgbClr val="FFFFFF"/>
                          </a:solidFill>
                          <a:latin typeface="Calibri"/>
                        </a:rPr>
                        <a:t>What it found</a:t>
                      </a:r>
                    </a:p>
                  </a:txBody>
                  <a:tcPr marL="101600" marR="101600" marT="38100" marB="38100" anchor="ctr">
                    <a:solidFill>
                      <a:srgbClr val="1A0F5C"/>
                    </a:solidFill>
                  </a:tcPr>
                </a:tc>
              </a:tr>
              <a:tr h="542544">
                <a:tc>
                  <a:txBody>
                    <a:bodyPr/>
                    <a:lstStyle/>
                    <a:p>
                      <a:r>
                        <a:rPr sz="1200" b="0" i="0">
                          <a:solidFill>
                            <a:srgbClr val="1A1440"/>
                          </a:solidFill>
                          <a:latin typeface="Calibri"/>
                        </a:rPr>
                        <a:t>Selection: the sale-week members were bought on a discount</a:t>
                      </a:r>
                    </a:p>
                  </a:txBody>
                  <a:tcPr marL="101600" marR="101600" marT="38100" marB="38100" anchor="ctr">
                    <a:solidFill>
                      <a:srgbClr val="FFFFFF"/>
                    </a:solidFill>
                  </a:tcPr>
                </a:tc>
                <a:tc>
                  <a:txBody>
                    <a:bodyPr/>
                    <a:lstStyle/>
                    <a:p>
                      <a:r>
                        <a:rPr sz="1200" b="0" i="0">
                          <a:solidFill>
                            <a:srgbClr val="1A1440"/>
                          </a:solidFill>
                          <a:latin typeface="Calibri"/>
                        </a:rPr>
                        <a:t>Its organic members beside July's cohort</a:t>
                      </a:r>
                    </a:p>
                  </a:txBody>
                  <a:tcPr marL="101600" marR="101600" marT="38100" marB="38100" anchor="ctr">
                    <a:solidFill>
                      <a:srgbClr val="FFFFFF"/>
                    </a:solidFill>
                  </a:tcPr>
                </a:tc>
                <a:tc>
                  <a:txBody>
                    <a:bodyPr/>
                    <a:lstStyle/>
                    <a:p>
                      <a:r>
                        <a:rPr sz="1200" b="0" i="0">
                          <a:solidFill>
                            <a:srgbClr val="1A1440"/>
                          </a:solidFill>
                          <a:latin typeface="Calibri"/>
                        </a:rPr>
                        <a:t>49 against 49 percent; the sale-week members alone sit at 20</a:t>
                      </a:r>
                    </a:p>
                  </a:txBody>
                  <a:tcPr marL="101600" marR="101600" marT="38100" marB="38100" anchor="ctr">
                    <a:solidFill>
                      <a:srgbClr val="FFFFFF"/>
                    </a:solidFill>
                  </a:tcPr>
                </a:tc>
              </a:tr>
              <a:tr h="542544">
                <a:tc>
                  <a:txBody>
                    <a:bodyPr/>
                    <a:lstStyle/>
                    <a:p>
                      <a:r>
                        <a:rPr sz="1200" b="0" i="0">
                          <a:solidFill>
                            <a:srgbClr val="1A1440"/>
                          </a:solidFill>
                          <a:latin typeface="Calibri"/>
                        </a:rPr>
                        <a:t>Censoring: the newest cohorts are young</a:t>
                      </a:r>
                    </a:p>
                  </a:txBody>
                  <a:tcPr marL="101600" marR="101600" marT="38100" marB="38100" anchor="ctr">
                    <a:solidFill>
                      <a:srgbClr val="F4F2FA"/>
                    </a:solidFill>
                  </a:tcPr>
                </a:tc>
                <a:tc>
                  <a:txBody>
                    <a:bodyPr/>
                    <a:lstStyle/>
                    <a:p>
                      <a:r>
                        <a:rPr sz="1200" b="0" i="0">
                          <a:solidFill>
                            <a:srgbClr val="1A1440"/>
                          </a:solidFill>
                          <a:latin typeface="Calibri"/>
                        </a:rPr>
                        <a:t>A member who has not left yet is not retained for ever</a:t>
                      </a:r>
                    </a:p>
                  </a:txBody>
                  <a:tcPr marL="101600" marR="101600" marT="38100" marB="38100" anchor="ctr">
                    <a:solidFill>
                      <a:srgbClr val="F4F2FA"/>
                    </a:solidFill>
                  </a:tcPr>
                </a:tc>
                <a:tc>
                  <a:txBody>
                    <a:bodyPr/>
                    <a:lstStyle/>
                    <a:p>
                      <a:r>
                        <a:rPr sz="1200" b="0" i="0">
                          <a:solidFill>
                            <a:srgbClr val="1A1440"/>
                          </a:solidFill>
                          <a:latin typeface="Calibri"/>
                        </a:rPr>
                        <a:t>Named here; the IITGN faculty session W4-3 (tentative) takes it up</a:t>
                      </a:r>
                    </a:p>
                  </a:txBody>
                  <a:tcPr marL="101600" marR="101600" marT="38100" marB="38100" anchor="ctr">
                    <a:solidFill>
                      <a:srgbClr val="F4F2FA"/>
                    </a:solidFill>
                  </a:tcPr>
                </a:tc>
              </a:tr>
              <a:tr h="542544">
                <a:tc>
                  <a:txBody>
                    <a:bodyPr/>
                    <a:lstStyle/>
                    <a:p>
                      <a:r>
                        <a:rPr sz="1200" b="0" i="0">
                          <a:solidFill>
                            <a:srgbClr val="1A1440"/>
                          </a:solidFill>
                          <a:latin typeface="Calibri"/>
                        </a:rPr>
                        <a:t>Seasonality: exam months in a student-heavy zone (hypothetical)</a:t>
                      </a:r>
                    </a:p>
                  </a:txBody>
                  <a:tcPr marL="101600" marR="101600" marT="38100" marB="38100" anchor="ctr">
                    <a:solidFill>
                      <a:srgbClr val="FFFFFF"/>
                    </a:solidFill>
                  </a:tcPr>
                </a:tc>
                <a:tc>
                  <a:txBody>
                    <a:bodyPr/>
                    <a:lstStyle/>
                    <a:p>
                      <a:r>
                        <a:rPr sz="1200" b="0" i="0">
                          <a:solidFill>
                            <a:srgbClr val="1A1440"/>
                          </a:solidFill>
                          <a:latin typeface="Calibri"/>
                        </a:rPr>
                        <a:t>September split by zone</a:t>
                      </a:r>
                    </a:p>
                  </a:txBody>
                  <a:tcPr marL="101600" marR="101600" marT="38100" marB="38100" anchor="ctr">
                    <a:solidFill>
                      <a:srgbClr val="FFFFFF"/>
                    </a:solidFill>
                  </a:tcPr>
                </a:tc>
                <a:tc>
                  <a:txBody>
                    <a:bodyPr/>
                    <a:lstStyle/>
                    <a:p>
                      <a:r>
                        <a:rPr sz="1200" b="0" i="0">
                          <a:solidFill>
                            <a:srgbClr val="1A1440"/>
                          </a:solidFill>
                          <a:latin typeface="Calibri"/>
                        </a:rPr>
                        <a:t>No zone more than 0.9 points from the city</a:t>
                      </a:r>
                    </a:p>
                  </a:txBody>
                  <a:tcPr marL="101600" marR="101600" marT="38100" marB="38100" anchor="ctr">
                    <a:solidFill>
                      <a:srgbClr val="FFFFFF"/>
                    </a:solidFill>
                  </a:tcPr>
                </a:tc>
              </a:tr>
              <a:tr h="542544">
                <a:tc>
                  <a:txBody>
                    <a:bodyPr/>
                    <a:lstStyle/>
                    <a:p>
                      <a:r>
                        <a:rPr sz="1200" b="0" i="0">
                          <a:solidFill>
                            <a:srgbClr val="1A1440"/>
                          </a:solidFill>
                          <a:latin typeface="Calibri"/>
                        </a:rPr>
                        <a:t>Tracking: the release renamed an Android event</a:t>
                      </a:r>
                    </a:p>
                  </a:txBody>
                  <a:tcPr marL="101600" marR="101600" marT="38100" marB="38100" anchor="ctr">
                    <a:solidFill>
                      <a:srgbClr val="F4F2FA"/>
                    </a:solidFill>
                  </a:tcPr>
                </a:tc>
                <a:tc>
                  <a:txBody>
                    <a:bodyPr/>
                    <a:lstStyle/>
                    <a:p>
                      <a:r>
                        <a:rPr sz="1200" b="0" i="0">
                          <a:solidFill>
                            <a:srgbClr val="1A1440"/>
                          </a:solidFill>
                          <a:latin typeface="Calibri"/>
                        </a:rPr>
                        <a:t>The app team's mapping; the cut moved a week</a:t>
                      </a:r>
                    </a:p>
                  </a:txBody>
                  <a:tcPr marL="101600" marR="101600" marT="38100" marB="38100" anchor="ctr">
                    <a:solidFill>
                      <a:srgbClr val="F4F2FA"/>
                    </a:solidFill>
                  </a:tcPr>
                </a:tc>
                <a:tc>
                  <a:txBody>
                    <a:bodyPr/>
                    <a:lstStyle/>
                    <a:p>
                      <a:r>
                        <a:rPr sz="1200" b="0" i="0">
                          <a:solidFill>
                            <a:srgbClr val="1A1440"/>
                          </a:solidFill>
                          <a:latin typeface="Calibri"/>
                        </a:rPr>
                        <a:t>58 to 47, and 56 to 43: the fall holds</a:t>
                      </a:r>
                    </a:p>
                  </a:txBody>
                  <a:tcPr marL="101600" marR="101600" marT="38100" marB="38100" anchor="ctr">
                    <a:solidFill>
                      <a:srgbClr val="F4F2FA"/>
                    </a:solidFill>
                  </a:tcPr>
                </a:tc>
              </a:tr>
              <a:tr h="335280">
                <a:tc>
                  <a:txBody>
                    <a:bodyPr/>
                    <a:lstStyle/>
                    <a:p>
                      <a:r>
                        <a:rPr sz="1200" b="0" i="0">
                          <a:solidFill>
                            <a:srgbClr val="1A1440"/>
                          </a:solidFill>
                          <a:latin typeface="Calibri"/>
                        </a:rPr>
                        <a:t>Sessions against members</a:t>
                      </a:r>
                    </a:p>
                  </a:txBody>
                  <a:tcPr marL="101600" marR="101600" marT="38100" marB="38100" anchor="ctr">
                    <a:solidFill>
                      <a:srgbClr val="FFFFFF"/>
                    </a:solidFill>
                  </a:tcPr>
                </a:tc>
                <a:tc>
                  <a:txBody>
                    <a:bodyPr/>
                    <a:lstStyle/>
                    <a:p>
                      <a:r>
                        <a:rPr sz="1200" b="0" i="0">
                          <a:solidFill>
                            <a:srgbClr val="1A1440"/>
                          </a:solidFill>
                          <a:latin typeface="Calibri"/>
                        </a:rPr>
                        <a:t>The unit named on every chart</a:t>
                      </a:r>
                    </a:p>
                  </a:txBody>
                  <a:tcPr marL="101600" marR="101600" marT="38100" marB="38100" anchor="ctr">
                    <a:solidFill>
                      <a:srgbClr val="FFFFFF"/>
                    </a:solidFill>
                  </a:tcPr>
                </a:tc>
                <a:tc>
                  <a:txBody>
                    <a:bodyPr/>
                    <a:lstStyle/>
                    <a:p>
                      <a:r>
                        <a:rPr sz="1200" b="0" i="0">
                          <a:solidFill>
                            <a:srgbClr val="1A1440"/>
                          </a:solidFill>
                          <a:latin typeface="Calibri"/>
                        </a:rPr>
                        <a:t>34 per session, 61 per member, both true</a:t>
                      </a:r>
                    </a:p>
                  </a:txBody>
                  <a:tcPr marL="101600" marR="101600" marT="38100" marB="38100" anchor="ctr">
                    <a:solidFill>
                      <a:srgbClr val="FFFFFF"/>
                    </a:solidFill>
                  </a:tcPr>
                </a:tc>
              </a:tr>
              <a:tr h="542544">
                <a:tc>
                  <a:txBody>
                    <a:bodyPr/>
                    <a:lstStyle/>
                    <a:p>
                      <a:r>
                        <a:rPr sz="1200" b="0" i="0">
                          <a:solidFill>
                            <a:srgbClr val="1A1440"/>
                          </a:solidFill>
                          <a:latin typeface="Calibri"/>
                        </a:rPr>
                        <a:t>Before and after is not cause</a:t>
                      </a:r>
                    </a:p>
                  </a:txBody>
                  <a:tcPr marL="101600" marR="101600" marT="38100" marB="38100" anchor="ctr">
                    <a:solidFill>
                      <a:srgbClr val="F4F2FA"/>
                    </a:solidFill>
                  </a:tcPr>
                </a:tc>
                <a:tc>
                  <a:txBody>
                    <a:bodyPr/>
                    <a:lstStyle/>
                    <a:p>
                      <a:r>
                        <a:rPr sz="1200" b="0" i="0">
                          <a:solidFill>
                            <a:srgbClr val="1A1440"/>
                          </a:solidFill>
                          <a:latin typeface="Calibri"/>
                        </a:rPr>
                        <a:t>Zomato Gold's frequency rose about 60 percent after joining</a:t>
                      </a:r>
                    </a:p>
                  </a:txBody>
                  <a:tcPr marL="101600" marR="101600" marT="38100" marB="38100" anchor="ctr">
                    <a:solidFill>
                      <a:srgbClr val="F4F2FA"/>
                    </a:solidFill>
                  </a:tcPr>
                </a:tc>
                <a:tc>
                  <a:txBody>
                    <a:bodyPr/>
                    <a:lstStyle/>
                    <a:p>
                      <a:r>
                        <a:rPr sz="1200" b="0" i="0">
                          <a:solidFill>
                            <a:srgbClr val="1A1440"/>
                          </a:solidFill>
                          <a:latin typeface="Calibri"/>
                        </a:rPr>
                        <a:t>Members choose to join when they expect to order more</a:t>
                      </a:r>
                    </a:p>
                  </a:txBody>
                  <a:tcPr marL="101600" marR="101600" marT="38100" marB="38100" anchor="ctr">
                    <a:solidFill>
                      <a:srgbClr val="F4F2FA"/>
                    </a:solidFill>
                  </a:tcPr>
                </a:tc>
              </a:tr>
            </a:tbl>
          </a:graphicData>
        </a:graphic>
      </p:graphicFrame>
      <p:sp>
        <p:nvSpPr>
          <p:cNvPr id="10" name="TextBox 9"/>
          <p:cNvSpPr txBox="1"/>
          <p:nvPr/>
        </p:nvSpPr>
        <p:spPr>
          <a:xfrm>
            <a:off x="530352" y="5321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Zomato's 60 percent comes from its shareholder letter of 19 May 2023 (checked 12 October 2026); it describes members, and says nothing about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close: one step, one platform, one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owns the loss, for whom, since when, and how big is it?</a:t>
            </a:r>
          </a:p>
        </p:txBody>
      </p:sp>
      <p:pic>
        <p:nvPicPr>
          <p:cNvPr id="9" name="mermaid diagram" descr="963f09591e2cafb8.png"/>
          <p:cNvPicPr>
            <a:picLocks noChangeAspect="1"/>
          </p:cNvPicPr>
          <p:nvPr/>
        </p:nvPicPr>
        <p:blipFill>
          <a:blip r:embed="rId6"/>
          <a:stretch>
            <a:fillRect/>
          </a:stretch>
        </p:blipFill>
        <p:spPr>
          <a:xfrm>
            <a:off x="530352" y="1956816"/>
            <a:ext cx="11130991" cy="1165227"/>
          </a:xfrm>
          <a:prstGeom prst="rect">
            <a:avLst/>
          </a:prstGeom>
        </p:spPr>
      </p:pic>
      <p:sp>
        <p:nvSpPr>
          <p:cNvPr id="10" name="Rounded Rectangle 9"/>
          <p:cNvSpPr/>
          <p:nvPr/>
        </p:nvSpPr>
        <p:spPr>
          <a:xfrm>
            <a:off x="530352" y="326834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963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87219"/>
            <a:ext cx="10564063" cy="624840"/>
          </a:xfrm>
          <a:prstGeom prst="rect">
            <a:avLst/>
          </a:prstGeom>
          <a:noFill/>
        </p:spPr>
        <p:txBody>
          <a:bodyPr wrap="square" anchor="ctr" lIns="0" rIns="0" tIns="0" bIns="0">
            <a:spAutoFit/>
          </a:bodyPr>
          <a:lstStyle/>
          <a:p>
            <a:r>
              <a:rPr sz="1500" b="1">
                <a:solidFill>
                  <a:srgbClr val="5B3FD6"/>
                </a:solidFill>
                <a:latin typeface="Calibri"/>
              </a:rPr>
              <a:t>The size. </a:t>
            </a:r>
            <a:r>
              <a:rPr sz="1500" b="0" i="0">
                <a:solidFill>
                  <a:srgbClr val="1A1440"/>
                </a:solidFill>
                <a:latin typeface="Calibri"/>
              </a:rPr>
              <a:t>22,841 Android member carts in the 17 days after the release; at the old 58 percent, about 1,317 more orders a week, about Rs 5.3 lakh of orders at Rs 400 an order (an assumption, Rs 300 to Rs 500).</a:t>
            </a:r>
          </a:p>
        </p:txBody>
      </p:sp>
      <p:sp>
        <p:nvSpPr>
          <p:cNvPr id="13" name="Rounded Rectangle 12"/>
          <p:cNvSpPr/>
          <p:nvPr/>
        </p:nvSpPr>
        <p:spPr>
          <a:xfrm>
            <a:off x="530352" y="4240659"/>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470243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checks_bd88901d2a37.png"/>
          <p:cNvPicPr>
            <a:picLocks noChangeAspect="1"/>
          </p:cNvPicPr>
          <p:nvPr/>
        </p:nvPicPr>
        <p:blipFill>
          <a:blip r:embed="rId5"/>
          <a:stretch>
            <a:fillRect/>
          </a:stretch>
        </p:blipFill>
        <p:spPr>
          <a:xfrm>
            <a:off x="868680" y="4812159"/>
            <a:ext cx="237744" cy="237744"/>
          </a:xfrm>
          <a:prstGeom prst="rect">
            <a:avLst/>
          </a:prstGeom>
        </p:spPr>
      </p:pic>
      <p:sp>
        <p:nvSpPr>
          <p:cNvPr id="16" name="TextBox 15"/>
          <p:cNvSpPr txBox="1"/>
          <p:nvPr/>
        </p:nvSpPr>
        <p:spPr>
          <a:xfrm>
            <a:off x="1399031" y="4386963"/>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1399031" y="4606419"/>
            <a:ext cx="9987991" cy="941832"/>
          </a:xfrm>
          <a:prstGeom prst="rect">
            <a:avLst/>
          </a:prstGeom>
          <a:noFill/>
        </p:spPr>
        <p:txBody>
          <a:bodyPr wrap="square" anchor="t" lIns="0" rIns="0" tIns="0" bIns="0">
            <a:spAutoFit/>
          </a:bodyPr>
          <a:lstStyle/>
          <a:p>
            <a:r>
              <a:rPr sz="1500" b="0" i="0">
                <a:solidFill>
                  <a:srgbClr val="1A1440"/>
                </a:solidFill>
                <a:latin typeface="Calibri"/>
              </a:rPr>
              <a:t>Name the unit, split by who, where and when, and find the step that changed before blaming the step that is low. A "good" retention number does not exist without its definition: Amplitude's 7 percent on day seven is a vendor's top-quarter mark (its blog, checked 12 October 2026).</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