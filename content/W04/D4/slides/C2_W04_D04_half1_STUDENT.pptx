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ticket aloud and leave it up while the room settles. Say the label line</a:t>
            </a:r>
          </a:p>
          <a:p>
            <a:r>
              <a:t>so no learner leaves thinking Zomato did this. The day climbs one case in three chapters: who</a:t>
            </a:r>
          </a:p>
          <a:p>
            <a:r>
              <a:t>entered when, which stage owns the loss, and what fixes first. The twelve rows are the morning</a:t>
            </a:r>
          </a:p>
          <a:p>
            <a:r>
              <a:t>anchor; the full data finishes each question a second way; the lab after lunch re-runs the method</a:t>
            </a:r>
          </a:p>
          <a:p>
            <a:r>
              <a:t>on Kalpa.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line of the ticket is a fact the deck tracks all morning. The eye should</a:t>
            </a:r>
          </a:p>
          <a:p>
            <a:r>
              <a:t>catch the August 31: a cohort four times smaller than its neighbours could be ignored, a cohort</a:t>
            </a:r>
          </a:p>
          <a:p>
            <a:r>
              <a:t>2.6 times bigger cannot. Then the thread.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Monday to Wednesday are complete and their numbers sit on the nodes. Today lights</a:t>
            </a:r>
          </a:p>
          <a:p>
            <a:r>
              <a:t>Zomato Gold. Friday is Flipkart's forecast and stays dashed.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Three chapters, each one level up: L1 by hand, L2 on all 60,000, L3 the funnel.</a:t>
            </a:r>
          </a:p>
          <a:p>
            <a:r>
              <a:t>Afternoon owns L4 to L6: the caveats, the fix-first call, and the transcript. Then the hypothesis</a:t>
            </a:r>
          </a:p>
          <a:p>
            <a:r>
              <a:t>board opens before any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room writes its ordered list before any chart arrives, with the test each</a:t>
            </a:r>
          </a:p>
          <a:p>
            <a:r>
              <a:t>cause needs. This is the Yammer habit from R1: start from a hypothesis and ask what would prove it</a:t>
            </a:r>
          </a:p>
          <a:p>
            <a:r>
              <a:t>wrong. The reveals in chapters 1 to 3 strike or confirm each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Define cohort before counting: a cohort is the set of members whose membership</a:t>
            </a:r>
          </a:p>
          <a:p>
            <a:r>
              <a:t>started in the same calendar month. Retention in month k means she placed at least one order in</a:t>
            </a:r>
          </a:p>
          <a:p>
            <a:r>
              <a:t>the k-th calendar month after her signup month. The blend for a reporting month is the share of</a:t>
            </a:r>
          </a:p>
          <a:p>
            <a:r>
              <a:t>members signed up before that month who placed at least one order in it. Then the toy.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toy aloud with the picture. Draw out the point: averaging across batches</a:t>
            </a:r>
          </a:p>
          <a:p>
            <a:r>
              <a:t>hides what each batch did. This is the shape the full data will carry at scale.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in pairs before the next slide shows the count. Expect a 25 answer from</a:t>
            </a:r>
          </a:p>
          <a:p>
            <a:r>
              <a:t>anyone who conflates the m1 count with the September reading. The reveal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every row aloud. The point is that the hand count already shows the mix:</a:t>
            </a:r>
          </a:p>
          <a:p>
            <a:r>
              <a:t>Augusts recent and low, Mays older and still returning. The 0.50 on twelve rows is the first</a:t>
            </a:r>
          </a:p>
          <a:p>
            <a:r>
              <a:t>version of the September number; the next chapter does it on 60,000.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 columns look like different stories, which is the point. The dashboard</a:t>
            </a:r>
          </a:p>
          <a:p>
            <a:r>
              <a:t>is right about what it computes; it is the wrong number to act on. Then why the dashboard looks</a:t>
            </a:r>
          </a:p>
          <a:p>
            <a:r>
              <a:t>flat.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Say the numbers out loud with the picture. The teaching move is StatQuest: tiny</a:t>
            </a:r>
          </a:p>
          <a:p>
            <a:r>
              <a:t>numbers you can hold in your head, then the full data on the next chapter. Chapter 1 closes on</a:t>
            </a:r>
          </a:p>
          <a:p>
            <a:r>
              <a:t>one claim: the dashboard's 38 is a mix, not a floor.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cell is a mean of zero-or-one orders flags, so the value is a share. The</a:t>
            </a:r>
          </a:p>
          <a:p>
            <a:r>
              <a:t>code is the full chapter in one call; the picture on the next slide shows what it draws.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one row aloud: Jan at 58, drops to the floor by month four, floor near 37</a:t>
            </a:r>
          </a:p>
          <a:p>
            <a:r>
              <a:t>across months 4 to 8. Walk one column: at month one, cohorts step from 58 down to 31. Then the</a:t>
            </a:r>
          </a:p>
          <a:p>
            <a:r>
              <a:t>GIF, or still if the GIF cannot play: the triangle filling, the blend barely moving.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still frame is here on the deck; the fill GIF plays on the explorer scene</a:t>
            </a:r>
          </a:p>
          <a:p>
            <a:r>
              <a:t>Th1 if the room wants the animation. Then the predict step before the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Then run the division on the board: 7 cohorts at 5,000 members at</a:t>
            </a:r>
          </a:p>
          <a:p>
            <a:r>
              <a:t>average 0.37, plus one cohort at 13,000 members at 0.31. Total members 48,000. Total active about</a:t>
            </a:r>
          </a:p>
          <a:p>
            <a:r>
              <a:t>7 x 5000 x 0.37 + 13000 x 0.31 which lands near 17,000. 17,000 of 48,000 is near 0.35. The</a:t>
            </a:r>
          </a:p>
          <a:p>
            <a:r>
              <a:t>answer is b; the dashboard's 38 is close but is dragged under on September.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amber line is what the dashboard prints; the stack is what the room must act</a:t>
            </a:r>
          </a:p>
          <a:p>
            <a:r>
              <a:t>on. Point at the August stack segment: biggest and lowest, and it is what pulls September down a</a:t>
            </a:r>
          </a:p>
          <a:p>
            <a:r>
              <a:t>few points. Chapter 2 closes on the formula.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equation is the StatQuest formula arriving last. The teaching rule from</a:t>
            </a:r>
          </a:p>
          <a:p>
            <a:r>
              <a:t>3Blue1Brown holds here: the picture is the mechanism, the formula is the shorthand. Then</a:t>
            </a:r>
          </a:p>
          <a:p>
            <a:r>
              <a:t>chapter 3's opening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Expect b from pattern-matchers and c from last week's funnel practice. The</a:t>
            </a:r>
          </a:p>
          <a:p>
            <a:r>
              <a:t>hire-grade answer is d: a rate above 100 percent means a sessions-over-sessions ratio where the</a:t>
            </a:r>
          </a:p>
          <a:p>
            <a:r>
              <a:t>numerator entered through a different route, so the stage reads as an artefact until the unit is</a:t>
            </a:r>
          </a:p>
          <a:p>
            <a:r>
              <a:t>named. Then the toy.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toy is R1's. Walk the two columns: per step before shows the fall, per total</a:t>
            </a:r>
          </a:p>
          <a:p>
            <a:r>
              <a:t>shows the depth. Then the artefact: when a step counts from a different source, the ratio can</a:t>
            </a:r>
          </a:p>
          <a:p>
            <a:r>
              <a:t>exceed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Pause here. Define the artefact carefully. A per-member funnel does not have</a:t>
            </a:r>
          </a:p>
          <a:p>
            <a:r>
              <a:t>this problem, because a member who viewed a menu is counted once whether she searched or not. The</a:t>
            </a:r>
          </a:p>
          <a:p>
            <a:r>
              <a:t>unit is the number, not an aside.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search-to-menu-view bar on the per-session chart. Point at the same</a:t>
            </a:r>
          </a:p>
          <a:p>
            <a:r>
              <a:t>step on the per-member chart. Different unit, same room, same month: the only reading that acts</a:t>
            </a:r>
          </a:p>
          <a:p>
            <a:r>
              <a:t>on the right thing is the one that names which unit the chart is 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anyone who trusts the app team's chart (overall conversion stays</a:t>
            </a:r>
          </a:p>
          <a:p>
            <a:r>
              <a:t>flat because iOS and web prop it up). Then the reveal: the release split by platform.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three lines aloud: Android down 14 points, iOS flat, web flat. The app</a:t>
            </a:r>
          </a:p>
          <a:p>
            <a:r>
              <a:t>team is partly right that other platforms are fine; the question was about members on Android.</a:t>
            </a:r>
          </a:p>
          <a:p>
            <a:r>
              <a:t>The dispute's answer is the split by platform and date, nothing less.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closes the morning. The afternoon owns L4 (the caveats), L5 (the fix-first</a:t>
            </a:r>
          </a:p>
          <a:p>
            <a:r>
              <a:t>call and its cost), and L6 (the transcript and the AI variant). Pre-read for Friday is Flipkart</a:t>
            </a:r>
          </a:p>
          <a:p>
            <a:r>
              <a:t>Lucknow; terms only (baseline, trend, seasonality, hold-out, error).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sentence twice. The afternoon reads the transcript in Aced's order and</a:t>
            </a:r>
          </a:p>
          <a:p>
            <a:r>
              <a:t>closes on the fix-first call. Kahoot has the return question from Wednesday: lift 0.97 at</a:t>
            </a:r>
          </a:p>
          <a:p>
            <a:r>
              <a:t>confidence 0.82; the verdict in one breath (the pair is a one-off, confidence is popularity).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THURSDAY  ·  MORNING</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Zomato Gold in Chennai: who is leaving, and at which step?</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“Our dashboard says 38 percent retention and holds there. Every cohort chart I draw tells me the opposite. And the app team says their new checkout works. Which number should I believe?”</a:t>
            </a:r>
          </a:p>
        </p:txBody>
      </p:sp>
      <p:sp>
        <p:nvSpPr>
          <p:cNvPr id="10" name="TextBox 9"/>
          <p:cNvSpPr txBox="1"/>
          <p:nvPr/>
        </p:nvSpPr>
        <p:spPr>
          <a:xfrm>
            <a:off x="621792" y="5295646"/>
            <a:ext cx="10033711" cy="399796"/>
          </a:xfrm>
          <a:prstGeom prst="rect">
            <a:avLst/>
          </a:prstGeom>
          <a:noFill/>
        </p:spPr>
        <p:txBody>
          <a:bodyPr wrap="square" anchor="t" lIns="0" rIns="0" tIns="0" bIns="0">
            <a:spAutoFit/>
          </a:bodyPr>
          <a:lstStyle/>
          <a:p>
            <a:pPr algn="l"/>
            <a:r>
              <a:rPr sz="1100" b="0" i="0">
                <a:solidFill>
                  <a:srgbClr val="CFC9EE"/>
                </a:solidFill>
                <a:latin typeface="Calibri"/>
              </a:rPr>
              <a:t>The head of Gold, Chennai, Zomato, to the analyst. Illustrative case: the company is real, the situation and the data are synthetic, built for this class.</a:t>
            </a:r>
          </a:p>
        </p:txBody>
      </p:sp>
      <p:sp>
        <p:nvSpPr>
          <p:cNvPr id="11" name="TextBox 10"/>
          <p:cNvSpPr txBox="1"/>
          <p:nvPr/>
        </p:nvSpPr>
        <p:spPr>
          <a:xfrm>
            <a:off x="621792"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6052058"/>
            <a:ext cx="1188434" cy="185166"/>
          </a:xfrm>
          <a:prstGeom prst="rect">
            <a:avLst/>
          </a:prstGeom>
          <a:noFill/>
        </p:spPr>
        <p:txBody>
          <a:bodyPr wrap="square" anchor="t" lIns="0" rIns="0" tIns="0" bIns="0">
            <a:spAutoFit/>
          </a:bodyPr>
          <a:lstStyle/>
          <a:p>
            <a:pPr algn="l"/>
            <a:r>
              <a:rPr sz="900" b="0" i="0">
                <a:solidFill>
                  <a:srgbClr val="FFFFFF"/>
                </a:solidFill>
                <a:latin typeface="Calibri"/>
              </a:rPr>
              <a:t>Who entered when?</a:t>
            </a:r>
          </a:p>
        </p:txBody>
      </p:sp>
      <p:sp>
        <p:nvSpPr>
          <p:cNvPr id="13" name="TextBox 12"/>
          <p:cNvSpPr txBox="1"/>
          <p:nvPr/>
        </p:nvSpPr>
        <p:spPr>
          <a:xfrm>
            <a:off x="2377154"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761202" y="6052058"/>
            <a:ext cx="1898237" cy="185166"/>
          </a:xfrm>
          <a:prstGeom prst="rect">
            <a:avLst/>
          </a:prstGeom>
          <a:noFill/>
        </p:spPr>
        <p:txBody>
          <a:bodyPr wrap="square" anchor="t" lIns="0" rIns="0" tIns="0" bIns="0">
            <a:spAutoFit/>
          </a:bodyPr>
          <a:lstStyle/>
          <a:p>
            <a:pPr algn="l"/>
            <a:r>
              <a:rPr sz="900" b="0" i="0">
                <a:solidFill>
                  <a:srgbClr val="FFFFFF"/>
                </a:solidFill>
                <a:latin typeface="Calibri"/>
              </a:rPr>
              <a:t>What is every cohort's curve?</a:t>
            </a:r>
          </a:p>
        </p:txBody>
      </p:sp>
      <p:sp>
        <p:nvSpPr>
          <p:cNvPr id="15" name="TextBox 14"/>
          <p:cNvSpPr txBox="1"/>
          <p:nvPr/>
        </p:nvSpPr>
        <p:spPr>
          <a:xfrm>
            <a:off x="4842319"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26367" y="6052058"/>
            <a:ext cx="1720786" cy="185166"/>
          </a:xfrm>
          <a:prstGeom prst="rect">
            <a:avLst/>
          </a:prstGeom>
          <a:noFill/>
        </p:spPr>
        <p:txBody>
          <a:bodyPr wrap="square" anchor="t" lIns="0" rIns="0" tIns="0" bIns="0">
            <a:spAutoFit/>
          </a:bodyPr>
          <a:lstStyle/>
          <a:p>
            <a:pPr algn="l"/>
            <a:r>
              <a:rPr sz="900" b="0" i="0">
                <a:solidFill>
                  <a:srgbClr val="FFFFFF"/>
                </a:solidFill>
                <a:latin typeface="Calibri"/>
              </a:rPr>
              <a:t>Which stage owns the loss?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Zomato Gold in Chennai: who is leaving, and at which step?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in the register the city desk uses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on the table, with its numbers before and after and the data the analyst has?</a:t>
            </a:r>
          </a:p>
        </p:txBody>
      </p:sp>
      <p:graphicFrame>
        <p:nvGraphicFramePr>
          <p:cNvPr id="9" name="Table 8"/>
          <p:cNvGraphicFramePr>
            <a:graphicFrameLocks noGrp="1"/>
          </p:cNvGraphicFramePr>
          <p:nvPr/>
        </p:nvGraphicFramePr>
        <p:xfrm>
          <a:off x="530352" y="1914144"/>
          <a:ext cx="11130990" cy="4053840"/>
        </p:xfrm>
        <a:graphic>
          <a:graphicData uri="http://schemas.openxmlformats.org/drawingml/2006/table">
            <a:tbl>
              <a:tblPr firstRow="0" bandRow="0">
                <a:tableStyleId>{2D5ABB26-0587-4C30-8999-92F81FD0307C}</a:tableStyleId>
              </a:tblPr>
              <a:tblGrid>
                <a:gridCol w="4034277"/>
                <a:gridCol w="7096713"/>
              </a:tblGrid>
              <a:tr h="369824">
                <a:tc>
                  <a:txBody>
                    <a:bodyPr/>
                    <a:lstStyle/>
                    <a:p>
                      <a:r>
                        <a:rPr sz="1450" b="1" i="0">
                          <a:solidFill>
                            <a:srgbClr val="FFFFFF"/>
                          </a:solidFill>
                          <a:latin typeface="Calibri"/>
                        </a:rPr>
                        <a:t>Line</a:t>
                      </a:r>
                    </a:p>
                  </a:txBody>
                  <a:tcPr marL="101600" marR="101600" marT="38100" marB="38100" anchor="ctr">
                    <a:solidFill>
                      <a:srgbClr val="1A0F5C"/>
                    </a:solidFill>
                  </a:tcPr>
                </a:tc>
                <a:tc>
                  <a:txBody>
                    <a:bodyPr/>
                    <a:lstStyle/>
                    <a:p>
                      <a:r>
                        <a:rPr sz="1450" b="1" i="0">
                          <a:solidFill>
                            <a:srgbClr val="FFFFFF"/>
                          </a:solidFill>
                          <a:latin typeface="Calibri"/>
                        </a:rPr>
                        <a:t>What it says</a:t>
                      </a:r>
                    </a:p>
                  </a:txBody>
                  <a:tcPr marL="101600" marR="101600" marT="38100" marB="38100" anchor="ctr">
                    <a:solidFill>
                      <a:srgbClr val="1A0F5C"/>
                    </a:solidFill>
                  </a:tcPr>
                </a:tc>
              </a:tr>
              <a:tr h="369824">
                <a:tc>
                  <a:txBody>
                    <a:bodyPr/>
                    <a:lstStyle/>
                    <a:p>
                      <a:r>
                        <a:rPr sz="1400" b="0" i="0">
                          <a:solidFill>
                            <a:srgbClr val="1A1440"/>
                          </a:solidFill>
                          <a:latin typeface="Calibri"/>
                        </a:rPr>
                        <a:t>Company and surface</a:t>
                      </a:r>
                    </a:p>
                  </a:txBody>
                  <a:tcPr marL="101600" marR="101600" marT="38100" marB="38100" anchor="ctr">
                    <a:solidFill>
                      <a:srgbClr val="FFFFFF"/>
                    </a:solidFill>
                  </a:tcPr>
                </a:tc>
                <a:tc>
                  <a:txBody>
                    <a:bodyPr/>
                    <a:lstStyle/>
                    <a:p>
                      <a:r>
                        <a:rPr sz="1400" b="0" i="0">
                          <a:solidFill>
                            <a:srgbClr val="1A1440"/>
                          </a:solidFill>
                          <a:latin typeface="Calibri"/>
                        </a:rPr>
                        <a:t>Zomato Gold, Chennai, the membership and the app's order flow</a:t>
                      </a:r>
                    </a:p>
                  </a:txBody>
                  <a:tcPr marL="101600" marR="101600" marT="38100" marB="38100" anchor="ctr">
                    <a:solidFill>
                      <a:srgbClr val="FFFFFF"/>
                    </a:solidFill>
                  </a:tcPr>
                </a:tc>
              </a:tr>
              <a:tr h="611632">
                <a:tc>
                  <a:txBody>
                    <a:bodyPr/>
                    <a:lstStyle/>
                    <a:p>
                      <a:r>
                        <a:rPr sz="1400" b="0" i="0">
                          <a:solidFill>
                            <a:srgbClr val="1A1440"/>
                          </a:solidFill>
                          <a:latin typeface="Calibri"/>
                        </a:rPr>
                        <a:t>Metric</a:t>
                      </a:r>
                    </a:p>
                  </a:txBody>
                  <a:tcPr marL="101600" marR="101600" marT="38100" marB="38100" anchor="ctr">
                    <a:solidFill>
                      <a:srgbClr val="F4F2FA"/>
                    </a:solidFill>
                  </a:tcPr>
                </a:tc>
                <a:tc>
                  <a:txBody>
                    <a:bodyPr/>
                    <a:lstStyle/>
                    <a:p>
                      <a:r>
                        <a:rPr sz="1400" b="0" i="0">
                          <a:solidFill>
                            <a:srgbClr val="1A1440"/>
                          </a:solidFill>
                          <a:latin typeface="Calibri"/>
                        </a:rPr>
                        <a:t>Blended retention, member-months active over members signed up before the reporting month</a:t>
                      </a:r>
                    </a:p>
                  </a:txBody>
                  <a:tcPr marL="101600" marR="101600" marT="38100" marB="38100" anchor="ctr">
                    <a:solidFill>
                      <a:srgbClr val="F4F2FA"/>
                    </a:solidFill>
                  </a:tcPr>
                </a:tc>
              </a:tr>
              <a:tr h="369824">
                <a:tc>
                  <a:txBody>
                    <a:bodyPr/>
                    <a:lstStyle/>
                    <a:p>
                      <a:r>
                        <a:rPr sz="1400" b="0" i="0">
                          <a:solidFill>
                            <a:srgbClr val="1A1440"/>
                          </a:solidFill>
                          <a:latin typeface="Calibri"/>
                        </a:rPr>
                        <a:t>Before and after</a:t>
                      </a:r>
                    </a:p>
                  </a:txBody>
                  <a:tcPr marL="101600" marR="101600" marT="38100" marB="38100" anchor="ctr">
                    <a:solidFill>
                      <a:srgbClr val="FFFFFF"/>
                    </a:solidFill>
                  </a:tcPr>
                </a:tc>
                <a:tc>
                  <a:txBody>
                    <a:bodyPr/>
                    <a:lstStyle/>
                    <a:p>
                      <a:r>
                        <a:rPr sz="1400" b="0" i="0">
                          <a:solidFill>
                            <a:srgbClr val="1A1440"/>
                          </a:solidFill>
                          <a:latin typeface="Calibri"/>
                        </a:rPr>
                        <a:t>Flat at 38 percent for June, July, August and September 2026 (reporting)</a:t>
                      </a:r>
                    </a:p>
                  </a:txBody>
                  <a:tcPr marL="101600" marR="101600" marT="38100" marB="38100" anchor="ctr">
                    <a:solidFill>
                      <a:srgbClr val="FFFFFF"/>
                    </a:solidFill>
                  </a:tcPr>
                </a:tc>
              </a:tr>
              <a:tr h="369824">
                <a:tc>
                  <a:txBody>
                    <a:bodyPr/>
                    <a:lstStyle/>
                    <a:p>
                      <a:r>
                        <a:rPr sz="1400" b="0" i="0">
                          <a:solidFill>
                            <a:srgbClr val="1A1440"/>
                          </a:solidFill>
                          <a:latin typeface="Calibri"/>
                        </a:rPr>
                        <a:t>Cohort month-one, Jan to Aug</a:t>
                      </a:r>
                    </a:p>
                  </a:txBody>
                  <a:tcPr marL="101600" marR="101600" marT="38100" marB="38100" anchor="ctr">
                    <a:solidFill>
                      <a:srgbClr val="F4F2FA"/>
                    </a:solidFill>
                  </a:tcPr>
                </a:tc>
                <a:tc>
                  <a:txBody>
                    <a:bodyPr/>
                    <a:lstStyle/>
                    <a:p>
                      <a:r>
                        <a:rPr sz="1400" b="0" i="0">
                          <a:solidFill>
                            <a:srgbClr val="1A1440"/>
                          </a:solidFill>
                          <a:latin typeface="Calibri"/>
                        </a:rPr>
                        <a:t>58, 56, 55, 53, 52, 50, 49, 31 percent, falling each month</a:t>
                      </a:r>
                    </a:p>
                  </a:txBody>
                  <a:tcPr marL="101600" marR="101600" marT="38100" marB="38100" anchor="ctr">
                    <a:solidFill>
                      <a:srgbClr val="F4F2FA"/>
                    </a:solidFill>
                  </a:tcPr>
                </a:tc>
              </a:tr>
              <a:tr h="369824">
                <a:tc>
                  <a:txBody>
                    <a:bodyPr/>
                    <a:lstStyle/>
                    <a:p>
                      <a:r>
                        <a:rPr sz="1400" b="0" i="0">
                          <a:solidFill>
                            <a:srgbClr val="1A1440"/>
                          </a:solidFill>
                          <a:latin typeface="Calibri"/>
                        </a:rPr>
                        <a:t>Checkout release</a:t>
                      </a:r>
                    </a:p>
                  </a:txBody>
                  <a:tcPr marL="101600" marR="101600" marT="38100" marB="38100" anchor="ctr">
                    <a:solidFill>
                      <a:srgbClr val="FFFFFF"/>
                    </a:solidFill>
                  </a:tcPr>
                </a:tc>
                <a:tc>
                  <a:txBody>
                    <a:bodyPr/>
                    <a:lstStyle/>
                    <a:p>
                      <a:r>
                        <a:rPr sz="1400" b="0" i="0">
                          <a:solidFill>
                            <a:srgbClr val="1A1440"/>
                          </a:solidFill>
                          <a:latin typeface="Calibri"/>
                        </a:rPr>
                        <a:t>Monday 14 September 2026, Android, members' add-to-cart to order 58 to 44</a:t>
                      </a:r>
                    </a:p>
                  </a:txBody>
                  <a:tcPr marL="101600" marR="101600" marT="38100" marB="38100" anchor="ctr">
                    <a:solidFill>
                      <a:srgbClr val="FFFFFF"/>
                    </a:solidFill>
                  </a:tcPr>
                </a:tc>
              </a:tr>
              <a:tr h="369824">
                <a:tc>
                  <a:txBody>
                    <a:bodyPr/>
                    <a:lstStyle/>
                    <a:p>
                      <a:r>
                        <a:rPr sz="1400" b="0" i="0">
                          <a:solidFill>
                            <a:srgbClr val="1A1440"/>
                          </a:solidFill>
                          <a:latin typeface="Calibri"/>
                        </a:rPr>
                        <a:t>iOS and non-members, same window</a:t>
                      </a:r>
                    </a:p>
                  </a:txBody>
                  <a:tcPr marL="101600" marR="101600" marT="38100" marB="38100" anchor="ctr">
                    <a:solidFill>
                      <a:srgbClr val="F4F2FA"/>
                    </a:solidFill>
                  </a:tcPr>
                </a:tc>
                <a:tc>
                  <a:txBody>
                    <a:bodyPr/>
                    <a:lstStyle/>
                    <a:p>
                      <a:r>
                        <a:rPr sz="1400" b="0" i="0">
                          <a:solidFill>
                            <a:srgbClr val="1A1440"/>
                          </a:solidFill>
                          <a:latin typeface="Calibri"/>
                        </a:rPr>
                        <a:t>iOS 57 to 56, non-members on Android 52 to 51</a:t>
                      </a:r>
                    </a:p>
                  </a:txBody>
                  <a:tcPr marL="101600" marR="101600" marT="38100" marB="38100" anchor="ctr">
                    <a:solidFill>
                      <a:srgbClr val="F4F2FA"/>
                    </a:solidFill>
                  </a:tcPr>
                </a:tc>
              </a:tr>
              <a:tr h="611632">
                <a:tc>
                  <a:txBody>
                    <a:bodyPr/>
                    <a:lstStyle/>
                    <a:p>
                      <a:r>
                        <a:rPr sz="1400" b="0" i="0">
                          <a:solidFill>
                            <a:srgbClr val="1A1440"/>
                          </a:solidFill>
                          <a:latin typeface="Calibri"/>
                        </a:rPr>
                        <a:t>Data in hand</a:t>
                      </a:r>
                    </a:p>
                  </a:txBody>
                  <a:tcPr marL="101600" marR="101600" marT="38100" marB="38100" anchor="ctr">
                    <a:solidFill>
                      <a:srgbClr val="FFFFFF"/>
                    </a:solidFill>
                  </a:tcPr>
                </a:tc>
                <a:tc>
                  <a:txBody>
                    <a:bodyPr/>
                    <a:lstStyle/>
                    <a:p>
                      <a:r>
                        <a:rPr sz="1400" b="0" i="0">
                          <a:solidFill>
                            <a:srgbClr val="1A1440"/>
                          </a:solidFill>
                          <a:latin typeface="Calibri"/>
                        </a:rPr>
                        <a:t>members (60,000), member_months (one row per member per month), events (September in full)</a:t>
                      </a:r>
                    </a:p>
                  </a:txBody>
                  <a:tcPr marL="101600" marR="101600" marT="38100" marB="38100" anchor="ctr">
                    <a:solidFill>
                      <a:srgbClr val="FFFFFF"/>
                    </a:solidFill>
                  </a:tcPr>
                </a:tc>
              </a:tr>
              <a:tr h="611632">
                <a:tc>
                  <a:txBody>
                    <a:bodyPr/>
                    <a:lstStyle/>
                    <a:p>
                      <a:r>
                        <a:rPr sz="1400" b="0" i="0">
                          <a:solidFill>
                            <a:srgbClr val="1A1440"/>
                          </a:solidFill>
                          <a:latin typeface="Calibri"/>
                        </a:rPr>
                        <a:t>The ask, due Friday</a:t>
                      </a:r>
                    </a:p>
                  </a:txBody>
                  <a:tcPr marL="101600" marR="101600" marT="38100" marB="38100" anchor="ctr">
                    <a:solidFill>
                      <a:srgbClr val="F4F2FA"/>
                    </a:solidFill>
                  </a:tcPr>
                </a:tc>
                <a:tc>
                  <a:txBody>
                    <a:bodyPr/>
                    <a:lstStyle/>
                    <a:p>
                      <a:r>
                        <a:rPr sz="1400" b="0" i="0">
                          <a:solidFill>
                            <a:srgbClr val="1A1440"/>
                          </a:solidFill>
                          <a:latin typeface="Calibri"/>
                        </a:rPr>
                        <a:t>Is it a cohort problem or an everyone problem; which funnel stage owns the loss; what to fix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today sits, and the four companies that came before and will come after.</a:t>
            </a:r>
          </a:p>
        </p:txBody>
      </p:sp>
      <p:pic>
        <p:nvPicPr>
          <p:cNvPr id="9" name="mermaid diagram" descr="d0a157f6027bc17b.png"/>
          <p:cNvPicPr>
            <a:picLocks noChangeAspect="1"/>
          </p:cNvPicPr>
          <p:nvPr/>
        </p:nvPicPr>
        <p:blipFill>
          <a:blip r:embed="rId5"/>
          <a:stretch>
            <a:fillRect/>
          </a:stretch>
        </p:blipFill>
        <p:spPr>
          <a:xfrm>
            <a:off x="1280313" y="1682496"/>
            <a:ext cx="9631069"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carry today, one chapter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entered when, which stage owns the loss, what gets fixed first?</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465836"/>
          </a:xfrm>
          <a:prstGeom prst="rect">
            <a:avLst/>
          </a:prstGeom>
          <a:noFill/>
        </p:spPr>
        <p:txBody>
          <a:bodyPr wrap="square" anchor="t" lIns="0" rIns="0" tIns="0" bIns="0">
            <a:spAutoFit/>
          </a:bodyPr>
          <a:lstStyle/>
          <a:p>
            <a:pPr algn="l"/>
            <a:r>
              <a:rPr sz="1300" b="1" i="0">
                <a:solidFill>
                  <a:srgbClr val="1A0F5C"/>
                </a:solidFill>
                <a:latin typeface="Calibri"/>
              </a:rPr>
              <a:t>Who entered when, and what happens to each group month by month?</a:t>
            </a:r>
          </a:p>
        </p:txBody>
      </p:sp>
      <p:sp>
        <p:nvSpPr>
          <p:cNvPr id="14" name="TextBox 13"/>
          <p:cNvSpPr txBox="1"/>
          <p:nvPr/>
        </p:nvSpPr>
        <p:spPr>
          <a:xfrm>
            <a:off x="694944" y="3492500"/>
            <a:ext cx="3259226" cy="366776"/>
          </a:xfrm>
          <a:prstGeom prst="rect">
            <a:avLst/>
          </a:prstGeom>
          <a:noFill/>
        </p:spPr>
        <p:txBody>
          <a:bodyPr wrap="square" anchor="t" lIns="0" rIns="0" tIns="0" bIns="0">
            <a:spAutoFit/>
          </a:bodyPr>
          <a:lstStyle/>
          <a:p>
            <a:pPr algn="l"/>
            <a:r>
              <a:rPr sz="1000" b="0" i="0">
                <a:solidFill>
                  <a:srgbClr val="6B6690"/>
                </a:solidFill>
                <a:latin typeface="Calibri"/>
              </a:rPr>
              <a:t>Twelve members, three signup months, counted by hand. The paradox the dashboard misses.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680466"/>
          </a:xfrm>
          <a:prstGeom prst="rect">
            <a:avLst/>
          </a:prstGeom>
          <a:noFill/>
        </p:spPr>
        <p:txBody>
          <a:bodyPr wrap="square" anchor="t" lIns="0" rIns="0" tIns="0" bIns="0">
            <a:spAutoFit/>
          </a:bodyPr>
          <a:lstStyle/>
          <a:p>
            <a:pPr algn="l"/>
            <a:r>
              <a:rPr sz="1300" b="1" i="0">
                <a:solidFill>
                  <a:srgbClr val="1A0F5C"/>
                </a:solidFill>
                <a:latin typeface="Calibri"/>
              </a:rPr>
              <a:t>What is every cohort's curve on 60,000 members, and what is the blend made of?</a:t>
            </a:r>
          </a:p>
        </p:txBody>
      </p:sp>
      <p:sp>
        <p:nvSpPr>
          <p:cNvPr id="19" name="TextBox 18"/>
          <p:cNvSpPr txBox="1"/>
          <p:nvPr/>
        </p:nvSpPr>
        <p:spPr>
          <a:xfrm>
            <a:off x="4466234" y="3707130"/>
            <a:ext cx="3259226" cy="366776"/>
          </a:xfrm>
          <a:prstGeom prst="rect">
            <a:avLst/>
          </a:prstGeom>
          <a:noFill/>
        </p:spPr>
        <p:txBody>
          <a:bodyPr wrap="square" anchor="t" lIns="0" rIns="0" tIns="0" bIns="0">
            <a:spAutoFit/>
          </a:bodyPr>
          <a:lstStyle/>
          <a:p>
            <a:pPr algn="l"/>
            <a:r>
              <a:rPr sz="1000" b="0" i="0">
                <a:solidFill>
                  <a:srgbClr val="6B6690"/>
                </a:solidFill>
                <a:latin typeface="Calibri"/>
              </a:rPr>
              <a:t>One pivot_table, every curve drawn, the blend decomposed into cohort sizes and rates.</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465836"/>
          </a:xfrm>
          <a:prstGeom prst="rect">
            <a:avLst/>
          </a:prstGeom>
          <a:noFill/>
        </p:spPr>
        <p:txBody>
          <a:bodyPr wrap="square" anchor="t" lIns="0" rIns="0" tIns="0" bIns="0">
            <a:spAutoFit/>
          </a:bodyPr>
          <a:lstStyle/>
          <a:p>
            <a:pPr algn="l"/>
            <a:r>
              <a:rPr sz="1300" b="1" i="0">
                <a:solidFill>
                  <a:srgbClr val="FFFFFF"/>
                </a:solidFill>
                <a:latin typeface="Calibri"/>
              </a:rPr>
              <a:t>Which stage owns the loss, on which denominator, and for whom?</a:t>
            </a:r>
          </a:p>
        </p:txBody>
      </p:sp>
      <p:sp>
        <p:nvSpPr>
          <p:cNvPr id="24" name="TextBox 23"/>
          <p:cNvSpPr txBox="1"/>
          <p:nvPr/>
        </p:nvSpPr>
        <p:spPr>
          <a:xfrm>
            <a:off x="8237524" y="3492500"/>
            <a:ext cx="3259226" cy="366776"/>
          </a:xfrm>
          <a:prstGeom prst="rect">
            <a:avLst/>
          </a:prstGeom>
          <a:noFill/>
        </p:spPr>
        <p:txBody>
          <a:bodyPr wrap="square" anchor="t" lIns="0" rIns="0" tIns="0" bIns="0">
            <a:spAutoFit/>
          </a:bodyPr>
          <a:lstStyle/>
          <a:p>
            <a:pPr algn="l"/>
            <a:r>
              <a:rPr sz="1000" b="0" i="0">
                <a:solidFill>
                  <a:srgbClr val="CFC9EE"/>
                </a:solidFill>
                <a:latin typeface="Calibri"/>
              </a:rPr>
              <a:t>The funnel in two units, the artefact above 100 percent, the release split by platform and date.</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7" name="Oval 2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29" name="Oval 2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hypothesis board, before any data opens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cause does the blended-flat-while-cohorts-decline story point to?</a:t>
            </a:r>
          </a:p>
        </p:txBody>
      </p:sp>
      <p:graphicFrame>
        <p:nvGraphicFramePr>
          <p:cNvPr id="9" name="Table 8"/>
          <p:cNvGraphicFramePr>
            <a:graphicFrameLocks noGrp="1"/>
          </p:cNvGraphicFramePr>
          <p:nvPr/>
        </p:nvGraphicFramePr>
        <p:xfrm>
          <a:off x="530352" y="1956816"/>
          <a:ext cx="11130990" cy="270256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Cause the room may list</a:t>
                      </a:r>
                    </a:p>
                  </a:txBody>
                  <a:tcPr marL="101600" marR="101600" marT="38100" marB="38100" anchor="ctr">
                    <a:solidFill>
                      <a:srgbClr val="1A0F5C"/>
                    </a:solidFill>
                  </a:tcPr>
                </a:tc>
                <a:tc>
                  <a:txBody>
                    <a:bodyPr/>
                    <a:lstStyle/>
                    <a:p>
                      <a:r>
                        <a:rPr sz="1450" b="1" i="0">
                          <a:solidFill>
                            <a:srgbClr val="FFFFFF"/>
                          </a:solidFill>
                          <a:latin typeface="Calibri"/>
                        </a:rPr>
                        <a:t>Test that would settle it</a:t>
                      </a:r>
                    </a:p>
                  </a:txBody>
                  <a:tcPr marL="101600" marR="101600" marT="38100" marB="38100" anchor="ctr">
                    <a:solidFill>
                      <a:srgbClr val="1A0F5C"/>
                    </a:solidFill>
                  </a:tcPr>
                </a:tc>
              </a:tr>
              <a:tr h="369824">
                <a:tc>
                  <a:txBody>
                    <a:bodyPr/>
                    <a:lstStyle/>
                    <a:p>
                      <a:r>
                        <a:rPr sz="1400" b="0" i="0">
                          <a:solidFill>
                            <a:srgbClr val="1A1440"/>
                          </a:solidFill>
                          <a:latin typeface="Calibri"/>
                        </a:rPr>
                        <a:t>A cohort problem: the sale cohort is dragging the average</a:t>
                      </a:r>
                    </a:p>
                  </a:txBody>
                  <a:tcPr marL="101600" marR="101600" marT="38100" marB="38100" anchor="ctr">
                    <a:solidFill>
                      <a:srgbClr val="FFFFFF"/>
                    </a:solidFill>
                  </a:tcPr>
                </a:tc>
                <a:tc>
                  <a:txBody>
                    <a:bodyPr/>
                    <a:lstStyle/>
                    <a:p>
                      <a:r>
                        <a:rPr sz="1400" b="0" i="0">
                          <a:solidFill>
                            <a:srgbClr val="1A1440"/>
                          </a:solidFill>
                          <a:latin typeface="Calibri"/>
                        </a:rPr>
                        <a:t>Decompose the blend by cohort and look at the August row</a:t>
                      </a:r>
                    </a:p>
                  </a:txBody>
                  <a:tcPr marL="101600" marR="101600" marT="38100" marB="38100" anchor="ctr">
                    <a:solidFill>
                      <a:srgbClr val="FFFFFF"/>
                    </a:solidFill>
                  </a:tcPr>
                </a:tc>
              </a:tr>
              <a:tr h="611632">
                <a:tc>
                  <a:txBody>
                    <a:bodyPr/>
                    <a:lstStyle/>
                    <a:p>
                      <a:r>
                        <a:rPr sz="1400" b="0" i="0">
                          <a:solidFill>
                            <a:srgbClr val="1A1440"/>
                          </a:solidFill>
                          <a:latin typeface="Calibri"/>
                        </a:rPr>
                        <a:t>An everyone problem: a product change hurt every active member</a:t>
                      </a:r>
                    </a:p>
                  </a:txBody>
                  <a:tcPr marL="101600" marR="101600" marT="38100" marB="38100" anchor="ctr">
                    <a:solidFill>
                      <a:srgbClr val="F4F2FA"/>
                    </a:solidFill>
                  </a:tcPr>
                </a:tc>
                <a:tc>
                  <a:txBody>
                    <a:bodyPr/>
                    <a:lstStyle/>
                    <a:p>
                      <a:r>
                        <a:rPr sz="1400" b="0" i="0">
                          <a:solidFill>
                            <a:srgbClr val="1A1440"/>
                          </a:solidFill>
                          <a:latin typeface="Calibri"/>
                        </a:rPr>
                        <a:t>Look at every cohort's curve across the same calendar months</a:t>
                      </a:r>
                    </a:p>
                  </a:txBody>
                  <a:tcPr marL="101600" marR="101600" marT="38100" marB="38100" anchor="ctr">
                    <a:solidFill>
                      <a:srgbClr val="F4F2FA"/>
                    </a:solidFill>
                  </a:tcPr>
                </a:tc>
              </a:tr>
              <a:tr h="611632">
                <a:tc>
                  <a:txBody>
                    <a:bodyPr/>
                    <a:lstStyle/>
                    <a:p>
                      <a:r>
                        <a:rPr sz="1400" b="0" i="0">
                          <a:solidFill>
                            <a:srgbClr val="1A1440"/>
                          </a:solidFill>
                          <a:latin typeface="Calibri"/>
                        </a:rPr>
                        <a:t>A tracking change: the dashboard measures a different thing</a:t>
                      </a:r>
                    </a:p>
                  </a:txBody>
                  <a:tcPr marL="101600" marR="101600" marT="38100" marB="38100" anchor="ctr">
                    <a:solidFill>
                      <a:srgbClr val="FFFFFF"/>
                    </a:solidFill>
                  </a:tcPr>
                </a:tc>
                <a:tc>
                  <a:txBody>
                    <a:bodyPr/>
                    <a:lstStyle/>
                    <a:p>
                      <a:r>
                        <a:rPr sz="1400" b="0" i="0">
                          <a:solidFill>
                            <a:srgbClr val="1A1440"/>
                          </a:solidFill>
                          <a:latin typeface="Calibri"/>
                        </a:rPr>
                        <a:t>Compare pre and post the release, with the renamed events mapped</a:t>
                      </a:r>
                    </a:p>
                  </a:txBody>
                  <a:tcPr marL="101600" marR="101600" marT="38100" marB="38100" anchor="ctr">
                    <a:solidFill>
                      <a:srgbClr val="FFFFFF"/>
                    </a:solidFill>
                  </a:tcPr>
                </a:tc>
              </a:tr>
              <a:tr h="369824">
                <a:tc>
                  <a:txBody>
                    <a:bodyPr/>
                    <a:lstStyle/>
                    <a:p>
                      <a:r>
                        <a:rPr sz="1400" b="0" i="0">
                          <a:solidFill>
                            <a:srgbClr val="1A1440"/>
                          </a:solidFill>
                          <a:latin typeface="Calibri"/>
                        </a:rPr>
                        <a:t>A funnel stage: one step shed users after a release</a:t>
                      </a:r>
                    </a:p>
                  </a:txBody>
                  <a:tcPr marL="101600" marR="101600" marT="38100" marB="38100" anchor="ctr">
                    <a:solidFill>
                      <a:srgbClr val="F4F2FA"/>
                    </a:solidFill>
                  </a:tcPr>
                </a:tc>
                <a:tc>
                  <a:txBody>
                    <a:bodyPr/>
                    <a:lstStyle/>
                    <a:p>
                      <a:r>
                        <a:rPr sz="1400" b="0" i="0">
                          <a:solidFill>
                            <a:srgbClr val="1A1440"/>
                          </a:solidFill>
                          <a:latin typeface="Calibri"/>
                        </a:rPr>
                        <a:t>Build the funnel per stage, per platform, per date</a:t>
                      </a:r>
                    </a:p>
                  </a:txBody>
                  <a:tcPr marL="101600" marR="101600" marT="38100" marB="38100" anchor="ctr">
                    <a:solidFill>
                      <a:srgbClr val="F4F2FA"/>
                    </a:solidFill>
                  </a:tcPr>
                </a:tc>
              </a:tr>
              <a:tr h="369824">
                <a:tc>
                  <a:txBody>
                    <a:bodyPr/>
                    <a:lstStyle/>
                    <a:p>
                      <a:r>
                        <a:rPr sz="1400" b="0" i="0">
                          <a:solidFill>
                            <a:srgbClr val="1A1440"/>
                          </a:solidFill>
                          <a:latin typeface="Calibri"/>
                        </a:rPr>
                        <a:t>A denominator artefact: the stage's unit changed</a:t>
                      </a:r>
                    </a:p>
                  </a:txBody>
                  <a:tcPr marL="101600" marR="101600" marT="38100" marB="38100" anchor="ctr">
                    <a:solidFill>
                      <a:srgbClr val="FFFFFF"/>
                    </a:solidFill>
                  </a:tcPr>
                </a:tc>
                <a:tc>
                  <a:txBody>
                    <a:bodyPr/>
                    <a:lstStyle/>
                    <a:p>
                      <a:r>
                        <a:rPr sz="1400" b="0" i="0">
                          <a:solidFill>
                            <a:srgbClr val="1A1440"/>
                          </a:solidFill>
                          <a:latin typeface="Calibri"/>
                        </a:rPr>
                        <a:t>Count the stage per session and per member side by side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twelve members, counted by hand, before any curve on sixty thousand.</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1" name="Rounded Rectangle 10"/>
          <p:cNvSpPr/>
          <p:nvPr/>
        </p:nvSpPr>
        <p:spPr>
          <a:xfrm>
            <a:off x="221367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every cohort's curve?</a:t>
            </a:r>
          </a:p>
        </p:txBody>
      </p:sp>
      <p:sp>
        <p:nvSpPr>
          <p:cNvPr id="12" name="Rounded Rectangle 11"/>
          <p:cNvSpPr/>
          <p:nvPr/>
        </p:nvSpPr>
        <p:spPr>
          <a:xfrm>
            <a:off x="4406430"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half one: Zomato Gold Chennai</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entered when, and what happens month by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dashboard's 38 percent stand for, and what is in the twelve rows?</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Gold, who signs the fix-first call.</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What is a cohort, how is retention counted per member, what does the blend average over.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coaching batches say what the blend forgets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one batch loses members and another loses more, what does the overall average do?</a:t>
            </a:r>
          </a:p>
        </p:txBody>
      </p:sp>
      <p:pic>
        <p:nvPicPr>
          <p:cNvPr id="9" name="mermaid diagram" descr="C2_W04_D04_toy_batches_STUDENT.png"/>
          <p:cNvPicPr>
            <a:picLocks noChangeAspect="1"/>
          </p:cNvPicPr>
          <p:nvPr/>
        </p:nvPicPr>
        <p:blipFill>
          <a:blip r:embed="rId4"/>
          <a:stretch>
            <a:fillRect/>
          </a:stretch>
        </p:blipFill>
        <p:spPr>
          <a:xfrm>
            <a:off x="3237500" y="1664208"/>
            <a:ext cx="571669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coaching batches, counted (invented, R1)</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Ten members join a coaching centre in June, ten in July. Six from June and four from July come back in month two. Each batch's month-two rate is a number (0.60 and 0.40). The overall rate, 10 of 20, is 0.50 and names neither.</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predict the hand count</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twelve members, three cohorts, each has an order flag per month since signup: May 3 of 4 in month one, June 2 of 3, August 2 of 5. September is month four for May, month three for June, month one for August. What is the overall share who placed an order in September?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3 of 12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25 PERCENT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plausible wrong number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b) 6 of 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50 PERCENT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plausible wrong number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c) 9 of 12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75 PERCENT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plausible wrong number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Four of each option, letter it before the reveal.</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twelve rows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twelve placed an order in September, cohort by cohort?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458382"/>
                <a:gridCol w="914400"/>
                <a:gridCol w="2199075"/>
                <a:gridCol w="1458382"/>
                <a:gridCol w="2199075"/>
                <a:gridCol w="2901675"/>
              </a:tblGrid>
              <a:tr h="335280">
                <a:tc>
                  <a:txBody>
                    <a:bodyPr/>
                    <a:lstStyle/>
                    <a:p>
                      <a:r>
                        <a:rPr sz="1250" b="1" i="0">
                          <a:solidFill>
                            <a:srgbClr val="FFFFFF"/>
                          </a:solidFill>
                          <a:latin typeface="Calibri"/>
                        </a:rPr>
                        <a:t>Cohort</a:t>
                      </a:r>
                    </a:p>
                  </a:txBody>
                  <a:tcPr marL="101600" marR="101600" marT="38100" marB="38100" anchor="ctr">
                    <a:solidFill>
                      <a:srgbClr val="1A0F5C"/>
                    </a:solidFill>
                  </a:tcPr>
                </a:tc>
                <a:tc>
                  <a:txBody>
                    <a:bodyPr/>
                    <a:lstStyle/>
                    <a:p>
                      <a:r>
                        <a:rPr sz="1250" b="1" i="0">
                          <a:solidFill>
                            <a:srgbClr val="FFFFFF"/>
                          </a:solidFill>
                          <a:latin typeface="Calibri"/>
                        </a:rPr>
                        <a:t>Members</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 (September)</a:t>
                      </a:r>
                    </a:p>
                  </a:txBody>
                  <a:tcPr marL="101600" marR="101600" marT="38100" marB="38100" anchor="ctr">
                    <a:solidFill>
                      <a:srgbClr val="1A0F5C"/>
                    </a:solidFill>
                  </a:tcPr>
                </a:tc>
              </a:tr>
              <a:tr h="335280">
                <a:tc>
                  <a:txBody>
                    <a:bodyPr/>
                    <a:lstStyle/>
                    <a:p>
                      <a:r>
                        <a:rPr sz="1200" b="0" i="0">
                          <a:solidFill>
                            <a:srgbClr val="1A1440"/>
                          </a:solidFill>
                          <a:latin typeface="Calibri"/>
                        </a:rPr>
                        <a:t>May 2026</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3 of 4 ordered</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r>
              <a:tr h="335280">
                <a:tc>
                  <a:txBody>
                    <a:bodyPr/>
                    <a:lstStyle/>
                    <a:p>
                      <a:r>
                        <a:rPr sz="1200" b="0" i="0">
                          <a:solidFill>
                            <a:srgbClr val="1A1440"/>
                          </a:solidFill>
                          <a:latin typeface="Calibri"/>
                        </a:rPr>
                        <a:t>June 2026</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2 of 3 (September)</a:t>
                      </a:r>
                    </a:p>
                  </a:txBody>
                  <a:tcPr marL="101600" marR="101600" marT="38100" marB="38100" anchor="ctr">
                    <a:solidFill>
                      <a:srgbClr val="F4F2FA"/>
                    </a:solidFill>
                  </a:tcPr>
                </a:tc>
                <a:tc>
                  <a:txBody>
                    <a:bodyPr/>
                    <a:lstStyle/>
                    <a:p>
                      <a:r>
                        <a:rPr sz="1200" b="0" i="0">
                          <a:solidFill>
                            <a:srgbClr val="1A1440"/>
                          </a:solidFill>
                          <a:latin typeface="Calibri"/>
                        </a:rPr>
                        <a:t>not reached</a:t>
                      </a:r>
                    </a:p>
                  </a:txBody>
                  <a:tcPr marL="101600" marR="101600" marT="38100" marB="38100" anchor="ctr">
                    <a:solidFill>
                      <a:srgbClr val="F4F2FA"/>
                    </a:solidFill>
                  </a:tcPr>
                </a:tc>
              </a:tr>
              <a:tr h="335280">
                <a:tc>
                  <a:txBody>
                    <a:bodyPr/>
                    <a:lstStyle/>
                    <a:p>
                      <a:r>
                        <a:rPr sz="1200" b="0" i="0">
                          <a:solidFill>
                            <a:srgbClr val="1A1440"/>
                          </a:solidFill>
                          <a:latin typeface="Calibri"/>
                        </a:rPr>
                        <a:t>August 2026</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2 of 5 (September)</a:t>
                      </a:r>
                    </a:p>
                  </a:txBody>
                  <a:tcPr marL="101600" marR="101600" marT="38100" marB="38100" anchor="ctr">
                    <a:solidFill>
                      <a:srgbClr val="FFFFFF"/>
                    </a:solidFill>
                  </a:tcPr>
                </a:tc>
                <a:tc>
                  <a:txBody>
                    <a:bodyPr/>
                    <a:lstStyle/>
                    <a:p>
                      <a:r>
                        <a:rPr sz="1200" b="0" i="0">
                          <a:solidFill>
                            <a:srgbClr val="1A1440"/>
                          </a:solidFill>
                          <a:latin typeface="Calibri"/>
                        </a:rPr>
                        <a:t>not reached</a:t>
                      </a:r>
                    </a:p>
                  </a:txBody>
                  <a:tcPr marL="101600" marR="101600" marT="38100" marB="38100" anchor="ctr">
                    <a:solidFill>
                      <a:srgbClr val="FFFFFF"/>
                    </a:solidFill>
                  </a:tcPr>
                </a:tc>
                <a:tc>
                  <a:txBody>
                    <a:bodyPr/>
                    <a:lstStyle/>
                    <a:p>
                      <a:r>
                        <a:rPr sz="1200" b="0" i="0">
                          <a:solidFill>
                            <a:srgbClr val="1A1440"/>
                          </a:solidFill>
                          <a:latin typeface="Calibri"/>
                        </a:rPr>
                        <a:t>not reached</a:t>
                      </a:r>
                    </a:p>
                  </a:txBody>
                  <a:tcPr marL="101600" marR="101600" marT="38100" marB="38100" anchor="ctr">
                    <a:solidFill>
                      <a:srgbClr val="FFFFFF"/>
                    </a:solidFill>
                  </a:tcPr>
                </a:tc>
                <a:tc>
                  <a:txBody>
                    <a:bodyPr/>
                    <a:lstStyle/>
                    <a:p>
                      <a:r>
                        <a:rPr sz="1200" b="0" i="0">
                          <a:solidFill>
                            <a:srgbClr val="1A1440"/>
                          </a:solidFill>
                          <a:latin typeface="Calibri"/>
                        </a:rPr>
                        <a:t>not reached</a:t>
                      </a:r>
                    </a:p>
                  </a:txBody>
                  <a:tcPr marL="101600" marR="101600" marT="38100" marB="38100" anchor="ctr">
                    <a:solidFill>
                      <a:srgbClr val="FFFFFF"/>
                    </a:solidFill>
                  </a:tcPr>
                </a:tc>
              </a:tr>
              <a:tr h="335280">
                <a:tc>
                  <a:txBody>
                    <a:bodyPr/>
                    <a:lstStyle/>
                    <a:p>
                      <a:r>
                        <a:rPr sz="1200" b="0" i="0">
                          <a:solidFill>
                            <a:srgbClr val="1A1440"/>
                          </a:solidFill>
                          <a:latin typeface="Calibri"/>
                        </a:rPr>
                        <a:t>All twelve</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1" i="0">
                          <a:solidFill>
                            <a:srgbClr val="1A1440"/>
                          </a:solidFill>
                          <a:latin typeface="Calibri"/>
                        </a:rPr>
                        <a:t>6 of 12 = 0.50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twelve-row blend for September is 6 of 12, 0.50. The dashboard's 38 percent is five points off even here, and the shape underneath is three cohorts moving at three different speeds.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dashboard versus every cohort's own curve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Chennai dashboard print, and what do the Monday-morning cohort rates say?</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407128"/>
                <a:gridCol w="3531328"/>
                <a:gridCol w="5192534"/>
              </a:tblGrid>
              <a:tr h="369824">
                <a:tc>
                  <a:txBody>
                    <a:bodyPr/>
                    <a:lstStyle/>
                    <a:p>
                      <a:r>
                        <a:rPr sz="1450" b="1" i="0">
                          <a:solidFill>
                            <a:srgbClr val="FFFFFF"/>
                          </a:solidFill>
                          <a:latin typeface="Calibri"/>
                        </a:rPr>
                        <a:t>Reporting month</a:t>
                      </a:r>
                    </a:p>
                  </a:txBody>
                  <a:tcPr marL="101600" marR="101600" marT="38100" marB="38100" anchor="ctr">
                    <a:solidFill>
                      <a:srgbClr val="1A0F5C"/>
                    </a:solidFill>
                  </a:tcPr>
                </a:tc>
                <a:tc>
                  <a:txBody>
                    <a:bodyPr/>
                    <a:lstStyle/>
                    <a:p>
                      <a:r>
                        <a:rPr sz="1450" b="1" i="0">
                          <a:solidFill>
                            <a:srgbClr val="FFFFFF"/>
                          </a:solidFill>
                          <a:latin typeface="Calibri"/>
                        </a:rPr>
                        <a:t>Dashboard says, blended</a:t>
                      </a:r>
                    </a:p>
                  </a:txBody>
                  <a:tcPr marL="101600" marR="101600" marT="38100" marB="38100" anchor="ctr">
                    <a:solidFill>
                      <a:srgbClr val="1A0F5C"/>
                    </a:solidFill>
                  </a:tcPr>
                </a:tc>
                <a:tc>
                  <a:txBody>
                    <a:bodyPr/>
                    <a:lstStyle/>
                    <a:p>
                      <a:r>
                        <a:rPr sz="1450" b="1" i="0">
                          <a:solidFill>
                            <a:srgbClr val="FFFFFF"/>
                          </a:solidFill>
                          <a:latin typeface="Calibri"/>
                        </a:rPr>
                        <a:t>Each cohort's month-one, in order</a:t>
                      </a:r>
                    </a:p>
                  </a:txBody>
                  <a:tcPr marL="101600" marR="101600" marT="38100" marB="38100" anchor="ctr">
                    <a:solidFill>
                      <a:srgbClr val="1A0F5C"/>
                    </a:solidFill>
                  </a:tcPr>
                </a:tc>
              </a:tr>
              <a:tr h="369824">
                <a:tc>
                  <a:txBody>
                    <a:bodyPr/>
                    <a:lstStyle/>
                    <a:p>
                      <a:r>
                        <a:rPr sz="1400" b="0" i="0">
                          <a:solidFill>
                            <a:srgbClr val="1A1440"/>
                          </a:solidFill>
                          <a:latin typeface="Calibri"/>
                        </a:rPr>
                        <a:t>June</a:t>
                      </a:r>
                    </a:p>
                  </a:txBody>
                  <a:tcPr marL="101600" marR="101600" marT="38100" marB="38100" anchor="ctr">
                    <a:solidFill>
                      <a:srgbClr val="FFFFFF"/>
                    </a:solidFill>
                  </a:tcPr>
                </a:tc>
                <a:tc>
                  <a:txBody>
                    <a:bodyPr/>
                    <a:lstStyle/>
                    <a:p>
                      <a:r>
                        <a:rPr sz="1400" b="0" i="0">
                          <a:solidFill>
                            <a:srgbClr val="1A1440"/>
                          </a:solidFill>
                          <a:latin typeface="Calibri"/>
                        </a:rPr>
                        <a:t>38 percent</a:t>
                      </a:r>
                    </a:p>
                  </a:txBody>
                  <a:tcPr marL="101600" marR="101600" marT="38100" marB="38100" anchor="ctr">
                    <a:solidFill>
                      <a:srgbClr val="FFFFFF"/>
                    </a:solidFill>
                  </a:tcPr>
                </a:tc>
                <a:tc>
                  <a:txBody>
                    <a:bodyPr/>
                    <a:lstStyle/>
                    <a:p>
                      <a:r>
                        <a:rPr sz="1400" b="0" i="0">
                          <a:solidFill>
                            <a:srgbClr val="1A1440"/>
                          </a:solidFill>
                          <a:latin typeface="Calibri"/>
                        </a:rPr>
                        <a:t>Jan 58, Feb 56, Mar 55, Apr 53, May 52</a:t>
                      </a:r>
                    </a:p>
                  </a:txBody>
                  <a:tcPr marL="101600" marR="101600" marT="38100" marB="38100" anchor="ctr">
                    <a:solidFill>
                      <a:srgbClr val="FFFFFF"/>
                    </a:solidFill>
                  </a:tcPr>
                </a:tc>
              </a:tr>
              <a:tr h="369824">
                <a:tc>
                  <a:txBody>
                    <a:bodyPr/>
                    <a:lstStyle/>
                    <a:p>
                      <a:r>
                        <a:rPr sz="1400" b="0" i="0">
                          <a:solidFill>
                            <a:srgbClr val="1A1440"/>
                          </a:solidFill>
                          <a:latin typeface="Calibri"/>
                        </a:rPr>
                        <a:t>July</a:t>
                      </a:r>
                    </a:p>
                  </a:txBody>
                  <a:tcPr marL="101600" marR="101600" marT="38100" marB="38100" anchor="ctr">
                    <a:solidFill>
                      <a:srgbClr val="F4F2FA"/>
                    </a:solidFill>
                  </a:tcPr>
                </a:tc>
                <a:tc>
                  <a:txBody>
                    <a:bodyPr/>
                    <a:lstStyle/>
                    <a:p>
                      <a:r>
                        <a:rPr sz="1400" b="0" i="0">
                          <a:solidFill>
                            <a:srgbClr val="1A1440"/>
                          </a:solidFill>
                          <a:latin typeface="Calibri"/>
                        </a:rPr>
                        <a:t>38 percent</a:t>
                      </a:r>
                    </a:p>
                  </a:txBody>
                  <a:tcPr marL="101600" marR="101600" marT="38100" marB="38100" anchor="ctr">
                    <a:solidFill>
                      <a:srgbClr val="F4F2FA"/>
                    </a:solidFill>
                  </a:tcPr>
                </a:tc>
                <a:tc>
                  <a:txBody>
                    <a:bodyPr/>
                    <a:lstStyle/>
                    <a:p>
                      <a:r>
                        <a:rPr sz="1400" b="0" i="0">
                          <a:solidFill>
                            <a:srgbClr val="1A1440"/>
                          </a:solidFill>
                          <a:latin typeface="Calibri"/>
                        </a:rPr>
                        <a:t>...through June at 50</a:t>
                      </a:r>
                    </a:p>
                  </a:txBody>
                  <a:tcPr marL="101600" marR="101600" marT="38100" marB="38100" anchor="ctr">
                    <a:solidFill>
                      <a:srgbClr val="F4F2FA"/>
                    </a:solidFill>
                  </a:tcPr>
                </a:tc>
              </a:tr>
              <a:tr h="369824">
                <a:tc>
                  <a:txBody>
                    <a:bodyPr/>
                    <a:lstStyle/>
                    <a:p>
                      <a:r>
                        <a:rPr sz="1400" b="0" i="0">
                          <a:solidFill>
                            <a:srgbClr val="1A1440"/>
                          </a:solidFill>
                          <a:latin typeface="Calibri"/>
                        </a:rPr>
                        <a:t>August</a:t>
                      </a:r>
                    </a:p>
                  </a:txBody>
                  <a:tcPr marL="101600" marR="101600" marT="38100" marB="38100" anchor="ctr">
                    <a:solidFill>
                      <a:srgbClr val="FFFFFF"/>
                    </a:solidFill>
                  </a:tcPr>
                </a:tc>
                <a:tc>
                  <a:txBody>
                    <a:bodyPr/>
                    <a:lstStyle/>
                    <a:p>
                      <a:r>
                        <a:rPr sz="1400" b="0" i="0">
                          <a:solidFill>
                            <a:srgbClr val="1A1440"/>
                          </a:solidFill>
                          <a:latin typeface="Calibri"/>
                        </a:rPr>
                        <a:t>38 percent</a:t>
                      </a:r>
                    </a:p>
                  </a:txBody>
                  <a:tcPr marL="101600" marR="101600" marT="38100" marB="38100" anchor="ctr">
                    <a:solidFill>
                      <a:srgbClr val="FFFFFF"/>
                    </a:solidFill>
                  </a:tcPr>
                </a:tc>
                <a:tc>
                  <a:txBody>
                    <a:bodyPr/>
                    <a:lstStyle/>
                    <a:p>
                      <a:r>
                        <a:rPr sz="1400" b="0" i="0">
                          <a:solidFill>
                            <a:srgbClr val="1A1440"/>
                          </a:solidFill>
                          <a:latin typeface="Calibri"/>
                        </a:rPr>
                        <a:t>...through July at 49</a:t>
                      </a:r>
                    </a:p>
                  </a:txBody>
                  <a:tcPr marL="101600" marR="101600" marT="38100" marB="38100" anchor="ctr">
                    <a:solidFill>
                      <a:srgbClr val="FFFFFF"/>
                    </a:solidFill>
                  </a:tcPr>
                </a:tc>
              </a:tr>
              <a:tr h="369824">
                <a:tc>
                  <a:txBody>
                    <a:bodyPr/>
                    <a:lstStyle/>
                    <a:p>
                      <a:r>
                        <a:rPr sz="1400" b="0" i="0">
                          <a:solidFill>
                            <a:srgbClr val="1A1440"/>
                          </a:solidFill>
                          <a:latin typeface="Calibri"/>
                        </a:rPr>
                        <a:t>September</a:t>
                      </a:r>
                    </a:p>
                  </a:txBody>
                  <a:tcPr marL="101600" marR="101600" marT="38100" marB="38100" anchor="ctr">
                    <a:solidFill>
                      <a:srgbClr val="F4F2FA"/>
                    </a:solidFill>
                  </a:tcPr>
                </a:tc>
                <a:tc>
                  <a:txBody>
                    <a:bodyPr/>
                    <a:lstStyle/>
                    <a:p>
                      <a:r>
                        <a:rPr sz="1400" b="0" i="0">
                          <a:solidFill>
                            <a:srgbClr val="1A1440"/>
                          </a:solidFill>
                          <a:latin typeface="Calibri"/>
                        </a:rPr>
                        <a:t>38 percent</a:t>
                      </a:r>
                    </a:p>
                  </a:txBody>
                  <a:tcPr marL="101600" marR="101600" marT="38100" marB="38100" anchor="ctr">
                    <a:solidFill>
                      <a:srgbClr val="F4F2FA"/>
                    </a:solidFill>
                  </a:tcPr>
                </a:tc>
                <a:tc>
                  <a:txBody>
                    <a:bodyPr/>
                    <a:lstStyle/>
                    <a:p>
                      <a:r>
                        <a:rPr sz="1400" b="0" i="0">
                          <a:solidFill>
                            <a:srgbClr val="1A1440"/>
                          </a:solidFill>
                          <a:latin typeface="Calibri"/>
                        </a:rPr>
                        <a:t>August cohort at 31, from the sale week</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dashboard sits still across four reporting months. Every cohort row drops. Each new cohort's month-one is lower than the one before. The August cohort is 2.6 times a normal cohort and the worst.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a blend can stand still while every batch shrinks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average when the mix tilts toward a bigger, younger batch?</a:t>
            </a:r>
          </a:p>
        </p:txBody>
      </p:sp>
      <p:pic>
        <p:nvPicPr>
          <p:cNvPr id="9" name="mermaid diagram" descr="C2_W04_D04_toy_blend_STUDENT.png"/>
          <p:cNvPicPr>
            <a:picLocks noChangeAspect="1"/>
          </p:cNvPicPr>
          <p:nvPr/>
        </p:nvPicPr>
        <p:blipFill>
          <a:blip r:embed="rId4"/>
          <a:stretch>
            <a:fillRect/>
          </a:stretch>
        </p:blipFill>
        <p:spPr>
          <a:xfrm>
            <a:off x="3145383" y="1664208"/>
            <a:ext cx="5900928"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batch falls, a bigger batch enters, blend holds (invented, R1)</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Last month, batch A had 100 members and 50 ordered: a 50 percent rate. This month batch A has fallen to 40 who ordered. A fresh batch B of 400 joins and 210 of them order: a 52.5 percent rate on batch B. The blend across 500 members is still 250 who ordered, 50 percent, while A has collapsed. Mix, not stability, holds the number.</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every cohort's curve?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Sixty thousand members, nine cohorts, one picture side by side.</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every cohort's curve?</a:t>
            </a:r>
          </a:p>
        </p:txBody>
      </p:sp>
      <p:sp>
        <p:nvSpPr>
          <p:cNvPr id="12" name="Rounded Rectangle 11"/>
          <p:cNvSpPr/>
          <p:nvPr/>
        </p:nvSpPr>
        <p:spPr>
          <a:xfrm>
            <a:off x="4406430"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half one: Zomato Gold Chennai</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pivot_table turns member rows into the triangle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retention measured per cohort, and what shape does the full triangle take?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triangle = (member_months</a:t>
            </a:r>
          </a:p>
          <a:p>
            <a:pPr>
              <a:spcAft>
                <a:spcPts val="200"/>
              </a:spcAft>
            </a:pPr>
            <a:r>
              <a:rPr sz="1400" b="0" i="0">
                <a:solidFill>
                  <a:srgbClr val="E4E1F1"/>
                </a:solidFill>
                <a:latin typeface="Consolas"/>
              </a:rPr>
              <a:t>            .assign(k=lambda d: d["months_since_signup"])</a:t>
            </a:r>
          </a:p>
          <a:p>
            <a:pPr>
              <a:spcAft>
                <a:spcPts val="200"/>
              </a:spcAft>
            </a:pPr>
            <a:r>
              <a:rPr sz="1400" b="0" i="0">
                <a:solidFill>
                  <a:srgbClr val="E4E1F1"/>
                </a:solidFill>
                <a:latin typeface="Consolas"/>
              </a:rPr>
              <a:t>            .query("k &gt;= 1")</a:t>
            </a:r>
          </a:p>
          <a:p>
            <a:pPr>
              <a:spcAft>
                <a:spcPts val="200"/>
              </a:spcAft>
            </a:pPr>
            <a:r>
              <a:rPr sz="1400" b="0" i="0">
                <a:solidFill>
                  <a:srgbClr val="E4E1F1"/>
                </a:solidFill>
                <a:latin typeface="Consolas"/>
              </a:rPr>
              <a:t>            .pivot_table(index="cohort_month",</a:t>
            </a:r>
          </a:p>
          <a:p>
            <a:pPr>
              <a:spcAft>
                <a:spcPts val="200"/>
              </a:spcAft>
            </a:pPr>
            <a:r>
              <a:rPr sz="1400" b="0" i="0">
                <a:solidFill>
                  <a:srgbClr val="E4E1F1"/>
                </a:solidFill>
                <a:latin typeface="Consolas"/>
              </a:rPr>
              <a:t>                         columns="k",</a:t>
            </a:r>
          </a:p>
          <a:p>
            <a:pPr>
              <a:spcAft>
                <a:spcPts val="200"/>
              </a:spcAft>
            </a:pPr>
            <a:r>
              <a:rPr sz="1400" b="0" i="0">
                <a:solidFill>
                  <a:srgbClr val="E4E1F1"/>
                </a:solidFill>
                <a:latin typeface="Consolas"/>
              </a:rPr>
              <a:t>                         values="orders",</a:t>
            </a:r>
          </a:p>
          <a:p>
            <a:pPr>
              <a:spcAft>
                <a:spcPts val="200"/>
              </a:spcAft>
            </a:pPr>
            <a:r>
              <a:rPr sz="1400" b="0" i="0">
                <a:solidFill>
                  <a:srgbClr val="E4E1F1"/>
                </a:solidFill>
                <a:latin typeface="Consolas"/>
              </a:rPr>
              <a:t>                         aggfunc="mean"))</a:t>
            </a:r>
          </a:p>
        </p:txBody>
      </p:sp>
      <p:sp>
        <p:nvSpPr>
          <p:cNvPr id="14" name="TextBox 13"/>
          <p:cNvSpPr txBox="1"/>
          <p:nvPr/>
        </p:nvSpPr>
        <p:spPr>
          <a:xfrm>
            <a:off x="530352" y="434593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cohort month on the row, a month-since-signup on the column, each cell the share of that cohort who ordered that many months later. The row drops left to right as members peel off; the column drops top to bottom because each later cohort starts lower.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is every cohort's curve?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triangle, from the full sixty thousand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cohort's curve look like on all 60,000 members?</a:t>
            </a:r>
          </a:p>
        </p:txBody>
      </p:sp>
      <p:pic>
        <p:nvPicPr>
          <p:cNvPr id="9" name="mermaid diagram" descr="C2_W04_D04_cohort_triangle_STUDENT.png"/>
          <p:cNvPicPr>
            <a:picLocks noChangeAspect="1"/>
          </p:cNvPicPr>
          <p:nvPr/>
        </p:nvPicPr>
        <p:blipFill>
          <a:blip r:embed="rId4"/>
          <a:stretch>
            <a:fillRect/>
          </a:stretch>
        </p:blipFill>
        <p:spPr>
          <a:xfrm>
            <a:off x="2953096" y="1664208"/>
            <a:ext cx="6285501" cy="3630168"/>
          </a:xfrm>
          <a:prstGeom prst="rect">
            <a:avLst/>
          </a:prstGeom>
        </p:spPr>
      </p:pic>
      <p:sp>
        <p:nvSpPr>
          <p:cNvPr id="10" name="picture caption"/>
          <p:cNvSpPr txBox="1"/>
          <p:nvPr/>
        </p:nvSpPr>
        <p:spPr>
          <a:xfrm>
            <a:off x="530352" y="5330952"/>
            <a:ext cx="11130991" cy="316992"/>
          </a:xfrm>
          <a:prstGeom prst="rect">
            <a:avLst/>
          </a:prstGeom>
          <a:noFill/>
        </p:spPr>
        <p:txBody>
          <a:bodyPr wrap="square" anchor="t" lIns="0" rIns="0" tIns="0" bIns="0">
            <a:spAutoFit/>
          </a:bodyPr>
          <a:lstStyle/>
          <a:p>
            <a:pPr algn="ctr"/>
            <a:r>
              <a:rPr sz="1200" b="0" i="0">
                <a:solidFill>
                  <a:srgbClr val="6B6690"/>
                </a:solidFill>
                <a:latin typeface="Calibri"/>
              </a:rPr>
              <a:t>Retention by cohort and age, Zomato Gold, Chennai</a:t>
            </a:r>
          </a:p>
        </p:txBody>
      </p:sp>
      <p:sp>
        <p:nvSpPr>
          <p:cNvPr id="11" name="TextBox 10"/>
          <p:cNvSpPr txBox="1"/>
          <p:nvPr/>
        </p:nvSpPr>
        <p:spPr>
          <a:xfrm>
            <a:off x="530352" y="5657088"/>
            <a:ext cx="11130991" cy="542544"/>
          </a:xfrm>
          <a:prstGeom prst="rect">
            <a:avLst/>
          </a:prstGeom>
          <a:noFill/>
        </p:spPr>
        <p:txBody>
          <a:bodyPr wrap="square" anchor="t" lIns="0" rIns="0" tIns="0" bIns="0">
            <a:spAutoFit/>
          </a:bodyPr>
          <a:lstStyle/>
          <a:p>
            <a:r>
              <a:rPr sz="1200" b="0" i="0">
                <a:solidFill>
                  <a:srgbClr val="1A1440"/>
                </a:solidFill>
                <a:latin typeface="Calibri"/>
              </a:rPr>
              <a:t>Each row is a cohort, each column is months since signup. Every row falls across its observed ages. The August row is the lowest at month one and the biggest row behind it, which chapter 1 already named on the twelve rows.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is every cohort's curve?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triangle fills; the blend barely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As each cohort row fills in, what does the overall average do?</a:t>
            </a:r>
          </a:p>
        </p:txBody>
      </p:sp>
      <p:pic>
        <p:nvPicPr>
          <p:cNvPr id="9" name="mermaid diagram" descr="C2_W04_D04_cohort_triangle_fill_last_STUDENT.png"/>
          <p:cNvPicPr>
            <a:picLocks noChangeAspect="1"/>
          </p:cNvPicPr>
          <p:nvPr/>
        </p:nvPicPr>
        <p:blipFill>
          <a:blip r:embed="rId4"/>
          <a:stretch>
            <a:fillRect/>
          </a:stretch>
        </p:blipFill>
        <p:spPr>
          <a:xfrm>
            <a:off x="2953096" y="1664208"/>
            <a:ext cx="6285501" cy="3630168"/>
          </a:xfrm>
          <a:prstGeom prst="rect">
            <a:avLst/>
          </a:prstGeom>
        </p:spPr>
      </p:pic>
      <p:sp>
        <p:nvSpPr>
          <p:cNvPr id="10" name="picture caption"/>
          <p:cNvSpPr txBox="1"/>
          <p:nvPr/>
        </p:nvSpPr>
        <p:spPr>
          <a:xfrm>
            <a:off x="530352" y="533095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triangle, filled</a:t>
            </a:r>
          </a:p>
        </p:txBody>
      </p:sp>
      <p:sp>
        <p:nvSpPr>
          <p:cNvPr id="11" name="TextBox 10"/>
          <p:cNvSpPr txBox="1"/>
          <p:nvPr/>
        </p:nvSpPr>
        <p:spPr>
          <a:xfrm>
            <a:off x="530352" y="5657088"/>
            <a:ext cx="11130991" cy="542544"/>
          </a:xfrm>
          <a:prstGeom prst="rect">
            <a:avLst/>
          </a:prstGeom>
          <a:noFill/>
        </p:spPr>
        <p:txBody>
          <a:bodyPr wrap="square" anchor="t" lIns="0" rIns="0" tIns="0" bIns="0">
            <a:spAutoFit/>
          </a:bodyPr>
          <a:lstStyle/>
          <a:p>
            <a:r>
              <a:rPr sz="1200" b="0" i="0">
                <a:solidFill>
                  <a:srgbClr val="1A1440"/>
                </a:solidFill>
                <a:latin typeface="Calibri"/>
              </a:rPr>
              <a:t>Each new cohort adds a row below. The dashboard's blended number sits near 0.38 across every reporting month, drifting only a few points even as the August cohort pulls it down in September. The flat line is the mix at work, not the cohorts holding steady.</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is every cohort's curve?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predict the September blend</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Jan 2026 at month 8, Feb at month 7, Mar at month 6, Apr at month 5, May at month 4, Jun at month 3, Jul at month 2 (five thousand each). August at month 1, with thirteen thousand members. The seven older cohorts retain near 0.37 at their ages. The August cohort retains at 0.31. What is the overall share?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0.42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CLOSE TO THE JUNE NUMBER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dashboard's flat 38 bias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b) 0.35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CLOSE TO THE COMPUTED VALUE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August cohort drags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c) 0.31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EQUAL TO AUGUST ALONE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ignores every other cohort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Letter it in pairs, no calculator. Then the reveal.</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4" name="Oval 2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is every cohort's curve?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blend decomposed, cohort by cohort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cohort sizes behind each reporting month, and what retention does each contribute?</a:t>
            </a:r>
          </a:p>
        </p:txBody>
      </p:sp>
      <p:pic>
        <p:nvPicPr>
          <p:cNvPr id="9" name="mermaid diagram" descr="C2_W04_D04_blend_decomposition_STUDENT.png"/>
          <p:cNvPicPr>
            <a:picLocks noChangeAspect="1"/>
          </p:cNvPicPr>
          <p:nvPr/>
        </p:nvPicPr>
        <p:blipFill>
          <a:blip r:embed="rId4"/>
          <a:stretch>
            <a:fillRect/>
          </a:stretch>
        </p:blipFill>
        <p:spPr>
          <a:xfrm>
            <a:off x="1739646" y="1664208"/>
            <a:ext cx="8712403" cy="3630168"/>
          </a:xfrm>
          <a:prstGeom prst="rect">
            <a:avLst/>
          </a:prstGeom>
        </p:spPr>
      </p:pic>
      <p:sp>
        <p:nvSpPr>
          <p:cNvPr id="10" name="picture caption"/>
          <p:cNvSpPr txBox="1"/>
          <p:nvPr/>
        </p:nvSpPr>
        <p:spPr>
          <a:xfrm>
            <a:off x="530352" y="533095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blend is a weighted average of cohort rates</a:t>
            </a:r>
          </a:p>
        </p:txBody>
      </p:sp>
      <p:sp>
        <p:nvSpPr>
          <p:cNvPr id="11" name="TextBox 10"/>
          <p:cNvSpPr txBox="1"/>
          <p:nvPr/>
        </p:nvSpPr>
        <p:spPr>
          <a:xfrm>
            <a:off x="530352" y="5657088"/>
            <a:ext cx="11130991" cy="542544"/>
          </a:xfrm>
          <a:prstGeom prst="rect">
            <a:avLst/>
          </a:prstGeom>
          <a:noFill/>
        </p:spPr>
        <p:txBody>
          <a:bodyPr wrap="square" anchor="t" lIns="0" rIns="0" tIns="0" bIns="0">
            <a:spAutoFit/>
          </a:bodyPr>
          <a:lstStyle/>
          <a:p>
            <a:r>
              <a:rPr sz="1200" b="0" i="0">
                <a:solidFill>
                  <a:srgbClr val="1A1440"/>
                </a:solidFill>
                <a:latin typeface="Calibri"/>
              </a:rPr>
              <a:t>Each stacked column is a reporting month, every segment is a cohort coloured by its retention at that age, segment height equal to cohort size. The amber line is the blended rate on top. Flat line, falling cohorts: the mix prop that chapter 1 named with ten and ten.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is every cohort's curve?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formula, derived from the picture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blend relate to the cohort rates and their sizes?</a:t>
            </a:r>
          </a:p>
        </p:txBody>
      </p:sp>
      <p:sp>
        <p:nvSpPr>
          <p:cNvPr id="9" name="TextBox 8"/>
          <p:cNvSpPr txBox="1"/>
          <p:nvPr/>
        </p:nvSpPr>
        <p:spPr>
          <a:xfrm>
            <a:off x="530352" y="1956816"/>
            <a:ext cx="11130991" cy="237337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For a reporting month, the blended retention is the share of pre-signed members who placed an order. Split pre-signed into cohorts of size $N_c$ each with retention $r_c$ at its age for that month, and the formula drops out:</a:t>
            </a:r>
          </a:p>
          <a:p>
            <a:pPr>
              <a:spcAft>
                <a:spcPts val="800"/>
              </a:spcAft>
            </a:pPr>
            <a:r>
              <a:rPr sz="1600" b="0" i="0">
                <a:solidFill>
                  <a:srgbClr val="1A1440"/>
                </a:solidFill>
                <a:latin typeface="Calibri"/>
              </a:rPr>
              <a:t>$$B = \frac{\sum_c N_c r_c}{\sum_c N_c}$$</a:t>
            </a:r>
          </a:p>
          <a:p>
            <a:pPr>
              <a:spcAft>
                <a:spcPts val="800"/>
              </a:spcAft>
            </a:pPr>
            <a:r>
              <a:rPr sz="1600" b="0" i="0">
                <a:solidFill>
                  <a:srgbClr val="1A1440"/>
                </a:solidFill>
                <a:latin typeface="Calibri"/>
              </a:rPr>
              <a:t>A weighted average with the cohort size as the weight. A big young cohort with a low rate pulls the blend down; a stable older cohort at the floor holds it up. The dashboard shows $B$ and never the $r_c$ it is made of.</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is every cohort's curve?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stages, two units, one release split by platform and date.</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every cohort's curve?</a:t>
            </a:r>
          </a:p>
        </p:txBody>
      </p:sp>
      <p:sp>
        <p:nvSpPr>
          <p:cNvPr id="12" name="Rounded Rectangle 11"/>
          <p:cNvSpPr/>
          <p:nvPr/>
        </p:nvSpPr>
        <p:spPr>
          <a:xfrm>
            <a:off x="4406430"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half one: Zomato Gold Chennai</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stage owns the loss on this app?</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Open to search is nearly complete, search to menu view sits above 100 percent, menu view to add-to-cart is low, add-to-cart to order is medium. Where does the drop that matters sit?</a:t>
            </a:r>
          </a:p>
        </p:txBody>
      </p:sp>
      <p:sp>
        <p:nvSpPr>
          <p:cNvPr id="9" name="TextBox 8"/>
          <p:cNvSpPr txBox="1"/>
          <p:nvPr/>
        </p:nvSpPr>
        <p:spPr>
          <a:xfrm>
            <a:off x="530352"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a) search to menu view</a:t>
            </a:r>
          </a:p>
        </p:txBody>
      </p:sp>
      <p:sp>
        <p:nvSpPr>
          <p:cNvPr id="10" name="TextBox 9"/>
          <p:cNvSpPr txBox="1"/>
          <p:nvPr/>
        </p:nvSpPr>
        <p:spPr>
          <a:xfrm>
            <a:off x="530352"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IT IS ABOVE 100 PERCENT</a:t>
            </a:r>
          </a:p>
        </p:txBody>
      </p:sp>
      <p:sp>
        <p:nvSpPr>
          <p:cNvPr id="11" name="TextBox 10"/>
          <p:cNvSpPr txBox="1"/>
          <p:nvPr/>
        </p:nvSpPr>
        <p:spPr>
          <a:xfrm>
            <a:off x="530352"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too wide, too artefact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b) menu view to add-to-cart</a:t>
            </a:r>
          </a:p>
        </p:txBody>
      </p:sp>
      <p:sp>
        <p:nvSpPr>
          <p:cNvPr id="14" name="TextBox 13"/>
          <p:cNvSpPr txBox="1"/>
          <p:nvPr/>
        </p:nvSpPr>
        <p:spPr>
          <a:xfrm>
            <a:off x="3381679"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BIGGEST ABSOLUTE FALL</a:t>
            </a:r>
          </a:p>
        </p:txBody>
      </p:sp>
      <p:sp>
        <p:nvSpPr>
          <p:cNvPr id="15" name="TextBox 14"/>
          <p:cNvSpPr txBox="1"/>
          <p:nvPr/>
        </p:nvSpPr>
        <p:spPr>
          <a:xfrm>
            <a:off x="3381679"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a plausible wrong</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c) add-to-cart to order</a:t>
            </a:r>
          </a:p>
        </p:txBody>
      </p:sp>
      <p:sp>
        <p:nvSpPr>
          <p:cNvPr id="18" name="TextBox 17"/>
          <p:cNvSpPr txBox="1"/>
          <p:nvPr/>
        </p:nvSpPr>
        <p:spPr>
          <a:xfrm>
            <a:off x="6233007"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SMALLER THAN ADD-TO-CART</a:t>
            </a:r>
          </a:p>
        </p:txBody>
      </p:sp>
      <p:sp>
        <p:nvSpPr>
          <p:cNvPr id="19" name="TextBox 18"/>
          <p:cNvSpPr txBox="1"/>
          <p:nvPr/>
        </p:nvSpPr>
        <p:spPr>
          <a:xfrm>
            <a:off x="6233007"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number to size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d) cannot tell yet</a:t>
            </a:r>
          </a:p>
        </p:txBody>
      </p:sp>
      <p:sp>
        <p:nvSpPr>
          <p:cNvPr id="22" name="TextBox 21"/>
          <p:cNvSpPr txBox="1"/>
          <p:nvPr/>
        </p:nvSpPr>
        <p:spPr>
          <a:xfrm>
            <a:off x="9084335"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NOT UNTIL UNITS ARE NAMED</a:t>
            </a:r>
          </a:p>
        </p:txBody>
      </p:sp>
      <p:sp>
        <p:nvSpPr>
          <p:cNvPr id="23" name="TextBox 22"/>
          <p:cNvSpPr txBox="1"/>
          <p:nvPr/>
        </p:nvSpPr>
        <p:spPr>
          <a:xfrm>
            <a:off x="9084335"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trained answer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Vote the letter, then listen for which denominator the room asks for before trusting a chart.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30" name="Oval 2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depends on the unit the chart uses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hundred app visits, forty searches, twenty add-to-carts, ten checkouts: what do the per-stage rates say, and in which unit?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986591"/>
                <a:gridCol w="914400"/>
                <a:gridCol w="4243408"/>
                <a:gridCol w="2986591"/>
              </a:tblGrid>
              <a:tr h="335280">
                <a:tc>
                  <a:txBody>
                    <a:bodyPr/>
                    <a:lstStyle/>
                    <a:p>
                      <a:r>
                        <a:rPr sz="1250" b="1" i="0">
                          <a:solidFill>
                            <a:srgbClr val="FFFFFF"/>
                          </a:solidFill>
                          <a:latin typeface="Calibri"/>
                        </a:rPr>
                        <a:t>Step</a:t>
                      </a:r>
                    </a:p>
                  </a:txBody>
                  <a:tcPr marL="101600" marR="101600" marT="38100" marB="38100" anchor="ctr">
                    <a:solidFill>
                      <a:srgbClr val="1A0F5C"/>
                    </a:solidFill>
                  </a:tcPr>
                </a:tc>
                <a:tc>
                  <a:txBody>
                    <a:bodyPr/>
                    <a:lstStyle/>
                    <a:p>
                      <a:r>
                        <a:rPr sz="1250" b="1" i="0">
                          <a:solidFill>
                            <a:srgbClr val="FFFFFF"/>
                          </a:solidFill>
                          <a:latin typeface="Calibri"/>
                        </a:rPr>
                        <a:t>Count</a:t>
                      </a:r>
                    </a:p>
                  </a:txBody>
                  <a:tcPr marL="101600" marR="101600" marT="38100" marB="38100" anchor="ctr">
                    <a:solidFill>
                      <a:srgbClr val="1A0F5C"/>
                    </a:solidFill>
                  </a:tcPr>
                </a:tc>
                <a:tc>
                  <a:txBody>
                    <a:bodyPr/>
                    <a:lstStyle/>
                    <a:p>
                      <a:r>
                        <a:rPr sz="1250" b="1" i="0">
                          <a:solidFill>
                            <a:srgbClr val="FFFFFF"/>
                          </a:solidFill>
                          <a:latin typeface="Calibri"/>
                        </a:rPr>
                        <a:t>Per step before</a:t>
                      </a:r>
                    </a:p>
                  </a:txBody>
                  <a:tcPr marL="101600" marR="101600" marT="38100" marB="38100" anchor="ctr">
                    <a:solidFill>
                      <a:srgbClr val="1A0F5C"/>
                    </a:solidFill>
                  </a:tcPr>
                </a:tc>
                <a:tc>
                  <a:txBody>
                    <a:bodyPr/>
                    <a:lstStyle/>
                    <a:p>
                      <a:r>
                        <a:rPr sz="1250" b="1" i="0">
                          <a:solidFill>
                            <a:srgbClr val="FFFFFF"/>
                          </a:solidFill>
                          <a:latin typeface="Calibri"/>
                        </a:rPr>
                        <a:t>Per total</a:t>
                      </a:r>
                    </a:p>
                  </a:txBody>
                  <a:tcPr marL="101600" marR="101600" marT="38100" marB="38100" anchor="ctr">
                    <a:solidFill>
                      <a:srgbClr val="1A0F5C"/>
                    </a:solidFill>
                  </a:tcPr>
                </a:tc>
              </a:tr>
              <a:tr h="335280">
                <a:tc>
                  <a:txBody>
                    <a:bodyPr/>
                    <a:lstStyle/>
                    <a:p>
                      <a:r>
                        <a:rPr sz="1200" b="0" i="0">
                          <a:solidFill>
                            <a:srgbClr val="1A1440"/>
                          </a:solidFill>
                          <a:latin typeface="Calibri"/>
                        </a:rPr>
                        <a:t>Visit</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not applicable</a:t>
                      </a:r>
                    </a:p>
                  </a:txBody>
                  <a:tcPr marL="101600" marR="101600" marT="38100" marB="38100" anchor="ctr">
                    <a:solidFill>
                      <a:srgbClr val="FFFFFF"/>
                    </a:solidFill>
                  </a:tcPr>
                </a:tc>
                <a:tc>
                  <a:txBody>
                    <a:bodyPr/>
                    <a:lstStyle/>
                    <a:p>
                      <a:r>
                        <a:rPr sz="1200" b="0" i="0">
                          <a:solidFill>
                            <a:srgbClr val="1A1440"/>
                          </a:solidFill>
                          <a:latin typeface="Calibri"/>
                        </a:rPr>
                        <a:t>100 percent</a:t>
                      </a:r>
                    </a:p>
                  </a:txBody>
                  <a:tcPr marL="101600" marR="101600" marT="38100" marB="38100" anchor="ctr">
                    <a:solidFill>
                      <a:srgbClr val="FFFFFF"/>
                    </a:solidFill>
                  </a:tcPr>
                </a:tc>
              </a:tr>
              <a:tr h="335280">
                <a:tc>
                  <a:txBody>
                    <a:bodyPr/>
                    <a:lstStyle/>
                    <a:p>
                      <a:r>
                        <a:rPr sz="1200" b="0" i="0">
                          <a:solidFill>
                            <a:srgbClr val="1A1440"/>
                          </a:solidFill>
                          <a:latin typeface="Calibri"/>
                        </a:rPr>
                        <a:t>Search</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40 percent</a:t>
                      </a:r>
                    </a:p>
                  </a:txBody>
                  <a:tcPr marL="101600" marR="101600" marT="38100" marB="38100" anchor="ctr">
                    <a:solidFill>
                      <a:srgbClr val="F4F2FA"/>
                    </a:solidFill>
                  </a:tcPr>
                </a:tc>
                <a:tc>
                  <a:txBody>
                    <a:bodyPr/>
                    <a:lstStyle/>
                    <a:p>
                      <a:r>
                        <a:rPr sz="1200" b="0" i="0">
                          <a:solidFill>
                            <a:srgbClr val="1A1440"/>
                          </a:solidFill>
                          <a:latin typeface="Calibri"/>
                        </a:rPr>
                        <a:t>40 percent</a:t>
                      </a:r>
                    </a:p>
                  </a:txBody>
                  <a:tcPr marL="101600" marR="101600" marT="38100" marB="38100" anchor="ctr">
                    <a:solidFill>
                      <a:srgbClr val="F4F2FA"/>
                    </a:solidFill>
                  </a:tcPr>
                </a:tc>
              </a:tr>
              <a:tr h="335280">
                <a:tc>
                  <a:txBody>
                    <a:bodyPr/>
                    <a:lstStyle/>
                    <a:p>
                      <a:r>
                        <a:rPr sz="1200" b="0" i="0">
                          <a:solidFill>
                            <a:srgbClr val="1A1440"/>
                          </a:solidFill>
                          <a:latin typeface="Calibri"/>
                        </a:rPr>
                        <a:t>Add to cart</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50 percent</a:t>
                      </a:r>
                    </a:p>
                  </a:txBody>
                  <a:tcPr marL="101600" marR="101600" marT="38100" marB="38100" anchor="ctr">
                    <a:solidFill>
                      <a:srgbClr val="FFFFFF"/>
                    </a:solidFill>
                  </a:tcPr>
                </a:tc>
                <a:tc>
                  <a:txBody>
                    <a:bodyPr/>
                    <a:lstStyle/>
                    <a:p>
                      <a:r>
                        <a:rPr sz="1200" b="0" i="0">
                          <a:solidFill>
                            <a:srgbClr val="1A1440"/>
                          </a:solidFill>
                          <a:latin typeface="Calibri"/>
                        </a:rPr>
                        <a:t>20 percent</a:t>
                      </a:r>
                    </a:p>
                  </a:txBody>
                  <a:tcPr marL="101600" marR="101600" marT="38100" marB="38100" anchor="ctr">
                    <a:solidFill>
                      <a:srgbClr val="FFFFFF"/>
                    </a:solidFill>
                  </a:tcPr>
                </a:tc>
              </a:tr>
              <a:tr h="335280">
                <a:tc>
                  <a:txBody>
                    <a:bodyPr/>
                    <a:lstStyle/>
                    <a:p>
                      <a:r>
                        <a:rPr sz="1200" b="0" i="0">
                          <a:solidFill>
                            <a:srgbClr val="1A1440"/>
                          </a:solidFill>
                          <a:latin typeface="Calibri"/>
                        </a:rPr>
                        <a:t>Checkout</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50 percent</a:t>
                      </a:r>
                    </a:p>
                  </a:txBody>
                  <a:tcPr marL="101600" marR="101600" marT="38100" marB="38100" anchor="ctr">
                    <a:solidFill>
                      <a:srgbClr val="F4F2FA"/>
                    </a:solidFill>
                  </a:tcPr>
                </a:tc>
                <a:tc>
                  <a:txBody>
                    <a:bodyPr/>
                    <a:lstStyle/>
                    <a:p>
                      <a:r>
                        <a:rPr sz="1200" b="0" i="0">
                          <a:solidFill>
                            <a:srgbClr val="1A1440"/>
                          </a:solidFill>
                          <a:latin typeface="Calibri"/>
                        </a:rPr>
                        <a:t>10 percent</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per-step rate (per the step before) says where the drop sits. The per-total rate says how deep the funnel is. Each step picks its own unit, which the chart must name.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denominator artefact: a rate above 100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as 1.20 per session, and what does the number mean?</a:t>
            </a:r>
          </a:p>
        </p:txBody>
      </p:sp>
      <p:sp>
        <p:nvSpPr>
          <p:cNvPr id="9" name="TextBox 8"/>
          <p:cNvSpPr txBox="1"/>
          <p:nvPr/>
        </p:nvSpPr>
        <p:spPr>
          <a:xfrm>
            <a:off x="530352" y="1956816"/>
            <a:ext cx="11130991" cy="1710943"/>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home carousel on the Zomato app opens a restaurant's menu without a search. For every ten sessions, roughly two go through the carousel and reach a menu directly; eight go through search and reach a menu. The denominator (search sessions) is smaller than the numerator (menu view sessions), so the ratio sits above one.</a:t>
            </a:r>
          </a:p>
          <a:p>
            <a:pPr>
              <a:spcAft>
                <a:spcPts val="800"/>
              </a:spcAft>
            </a:pPr>
            <a:r>
              <a:rPr sz="1600" b="0" i="0">
                <a:solidFill>
                  <a:srgbClr val="1A1440"/>
                </a:solidFill>
                <a:latin typeface="Calibri"/>
              </a:rPr>
              <a:t>Reading this as a drop in search is wrong. The step is skippable, and the rate is a counting choice.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in two units,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September funnel look like per session and per member?</a:t>
            </a:r>
          </a:p>
        </p:txBody>
      </p:sp>
      <p:pic>
        <p:nvPicPr>
          <p:cNvPr id="9" name="mermaid diagram" descr="C2_W04_D04_funnel_two_units_STUDENT.png"/>
          <p:cNvPicPr>
            <a:picLocks noChangeAspect="1"/>
          </p:cNvPicPr>
          <p:nvPr/>
        </p:nvPicPr>
        <p:blipFill>
          <a:blip r:embed="rId4"/>
          <a:stretch>
            <a:fillRect/>
          </a:stretch>
        </p:blipFill>
        <p:spPr>
          <a:xfrm>
            <a:off x="1739646" y="1664208"/>
            <a:ext cx="8712403" cy="3630168"/>
          </a:xfrm>
          <a:prstGeom prst="rect">
            <a:avLst/>
          </a:prstGeom>
        </p:spPr>
      </p:pic>
      <p:sp>
        <p:nvSpPr>
          <p:cNvPr id="10" name="picture caption"/>
          <p:cNvSpPr txBox="1"/>
          <p:nvPr/>
        </p:nvSpPr>
        <p:spPr>
          <a:xfrm>
            <a:off x="530352" y="5330952"/>
            <a:ext cx="11130991" cy="316992"/>
          </a:xfrm>
          <a:prstGeom prst="rect">
            <a:avLst/>
          </a:prstGeom>
          <a:noFill/>
        </p:spPr>
        <p:txBody>
          <a:bodyPr wrap="square" anchor="t" lIns="0" rIns="0" tIns="0" bIns="0">
            <a:spAutoFit/>
          </a:bodyPr>
          <a:lstStyle/>
          <a:p>
            <a:pPr algn="ctr"/>
            <a:r>
              <a:rPr sz="1200" b="0" i="0">
                <a:solidFill>
                  <a:srgbClr val="6B6690"/>
                </a:solidFill>
                <a:latin typeface="Calibri"/>
              </a:rPr>
              <a:t>Per-session and per-member funnels, Zomato Gold Chennai, September 2026</a:t>
            </a:r>
          </a:p>
        </p:txBody>
      </p:sp>
      <p:sp>
        <p:nvSpPr>
          <p:cNvPr id="11" name="TextBox 10"/>
          <p:cNvSpPr txBox="1"/>
          <p:nvPr/>
        </p:nvSpPr>
        <p:spPr>
          <a:xfrm>
            <a:off x="530352" y="5657088"/>
            <a:ext cx="11130991" cy="542544"/>
          </a:xfrm>
          <a:prstGeom prst="rect">
            <a:avLst/>
          </a:prstGeom>
          <a:noFill/>
        </p:spPr>
        <p:txBody>
          <a:bodyPr wrap="square" anchor="t" lIns="0" rIns="0" tIns="0" bIns="0">
            <a:spAutoFit/>
          </a:bodyPr>
          <a:lstStyle/>
          <a:p>
            <a:r>
              <a:rPr sz="1200" b="0" i="0">
                <a:solidFill>
                  <a:srgbClr val="1A1440"/>
                </a:solidFill>
                <a:latin typeface="Calibri"/>
              </a:rPr>
              <a:t>Per session, search to menu view is above 1.0; per member, every stage is well-behaved. Menu view to add-to-cart reads 0.42 per session and 0.58 per member. Add-to-cart sessions and add-to-cart members measure different things, and the chart names which it is drawing.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predict what Android does after the release</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Before 14 September, Android members' add-to-cart to order sat at about 0.58. On Monday 14 September a new checkout flow shipped on Android only. Between then and the end of the month, what does that rate do, compared to iOS?</a:t>
            </a:r>
          </a:p>
        </p:txBody>
      </p:sp>
      <p:sp>
        <p:nvSpPr>
          <p:cNvPr id="9" name="TextBox 8"/>
          <p:cNvSpPr txBox="1"/>
          <p:nvPr/>
        </p:nvSpPr>
        <p:spPr>
          <a:xfrm>
            <a:off x="53035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a) stays flat on both</a:t>
            </a:r>
          </a:p>
        </p:txBody>
      </p:sp>
      <p:sp>
        <p:nvSpPr>
          <p:cNvPr id="10" name="TextBox 9"/>
          <p:cNvSpPr txBox="1"/>
          <p:nvPr/>
        </p:nvSpPr>
        <p:spPr>
          <a:xfrm>
            <a:off x="53035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NO RELEASE EFFECT</a:t>
            </a:r>
          </a:p>
        </p:txBody>
      </p:sp>
      <p:sp>
        <p:nvSpPr>
          <p:cNvPr id="11" name="TextBox 10"/>
          <p:cNvSpPr txBox="1"/>
          <p:nvPr/>
        </p:nvSpPr>
        <p:spPr>
          <a:xfrm>
            <a:off x="53035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app team's claim</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b) falls on Android, holds on iOS</a:t>
            </a:r>
          </a:p>
        </p:txBody>
      </p:sp>
      <p:sp>
        <p:nvSpPr>
          <p:cNvPr id="14" name="TextBox 13"/>
          <p:cNvSpPr txBox="1"/>
          <p:nvPr/>
        </p:nvSpPr>
        <p:spPr>
          <a:xfrm>
            <a:off x="433212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RELEASE REGRESSES</a:t>
            </a:r>
          </a:p>
        </p:txBody>
      </p:sp>
      <p:sp>
        <p:nvSpPr>
          <p:cNvPr id="15" name="TextBox 14"/>
          <p:cNvSpPr txBox="1"/>
          <p:nvPr/>
        </p:nvSpPr>
        <p:spPr>
          <a:xfrm>
            <a:off x="433212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honest reveal</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c) rises on both</a:t>
            </a:r>
          </a:p>
        </p:txBody>
      </p:sp>
      <p:sp>
        <p:nvSpPr>
          <p:cNvPr id="18" name="TextBox 17"/>
          <p:cNvSpPr txBox="1"/>
          <p:nvPr/>
        </p:nvSpPr>
        <p:spPr>
          <a:xfrm>
            <a:off x="813389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NEW FLOW HELPS EVERYONE</a:t>
            </a:r>
          </a:p>
        </p:txBody>
      </p:sp>
      <p:sp>
        <p:nvSpPr>
          <p:cNvPr id="19" name="TextBox 18"/>
          <p:cNvSpPr txBox="1"/>
          <p:nvPr/>
        </p:nvSpPr>
        <p:spPr>
          <a:xfrm>
            <a:off x="813389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in the data says this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Vote the letter.</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26" name="Oval 2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fall sits on Android, after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on Android, iOS and web, before and after 14 September?</a:t>
            </a:r>
          </a:p>
        </p:txBody>
      </p:sp>
      <p:pic>
        <p:nvPicPr>
          <p:cNvPr id="9" name="mermaid diagram" descr="C2_W04_D04_release_split_STUDENT.png"/>
          <p:cNvPicPr>
            <a:picLocks noChangeAspect="1"/>
          </p:cNvPicPr>
          <p:nvPr/>
        </p:nvPicPr>
        <p:blipFill>
          <a:blip r:embed="rId4"/>
          <a:stretch>
            <a:fillRect/>
          </a:stretch>
        </p:blipFill>
        <p:spPr>
          <a:xfrm>
            <a:off x="2828696" y="1664208"/>
            <a:ext cx="6534302" cy="3630168"/>
          </a:xfrm>
          <a:prstGeom prst="rect">
            <a:avLst/>
          </a:prstGeom>
        </p:spPr>
      </p:pic>
      <p:sp>
        <p:nvSpPr>
          <p:cNvPr id="10" name="picture caption"/>
          <p:cNvSpPr txBox="1"/>
          <p:nvPr/>
        </p:nvSpPr>
        <p:spPr>
          <a:xfrm>
            <a:off x="530352" y="5330952"/>
            <a:ext cx="11130991" cy="316992"/>
          </a:xfrm>
          <a:prstGeom prst="rect">
            <a:avLst/>
          </a:prstGeom>
          <a:noFill/>
        </p:spPr>
        <p:txBody>
          <a:bodyPr wrap="square" anchor="t" lIns="0" rIns="0" tIns="0" bIns="0">
            <a:spAutoFit/>
          </a:bodyPr>
          <a:lstStyle/>
          <a:p>
            <a:pPr algn="ctr"/>
            <a:r>
              <a:rPr sz="1200" b="0" i="0">
                <a:solidFill>
                  <a:srgbClr val="6B6690"/>
                </a:solidFill>
                <a:latin typeface="Calibri"/>
              </a:rPr>
              <a:t>Add-to-cart to order, by platform and week</a:t>
            </a:r>
          </a:p>
        </p:txBody>
      </p:sp>
      <p:sp>
        <p:nvSpPr>
          <p:cNvPr id="11" name="TextBox 10"/>
          <p:cNvSpPr txBox="1"/>
          <p:nvPr/>
        </p:nvSpPr>
        <p:spPr>
          <a:xfrm>
            <a:off x="530352" y="5657088"/>
            <a:ext cx="11130991" cy="542544"/>
          </a:xfrm>
          <a:prstGeom prst="rect">
            <a:avLst/>
          </a:prstGeom>
          <a:noFill/>
        </p:spPr>
        <p:txBody>
          <a:bodyPr wrap="square" anchor="t" lIns="0" rIns="0" tIns="0" bIns="0">
            <a:spAutoFit/>
          </a:bodyPr>
          <a:lstStyle/>
          <a:p>
            <a:r>
              <a:rPr sz="1200" b="0" i="0">
                <a:solidFill>
                  <a:srgbClr val="1A1440"/>
                </a:solidFill>
                <a:latin typeface="Calibri"/>
              </a:rPr>
              <a:t>Android falls from 0.58 to 0.44 after 14 September. iOS stays within two points of its own baseline. Web is small and holds. The app team's overall-conversion chart was correct and useless, because the fall sits in one platform after one date.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chapter closes on stage, segment and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for whom, since when, and how big is the gap in orders a week?</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3103528"/>
                <a:gridCol w="8027463"/>
              </a:tblGrid>
              <a:tr h="369824">
                <a:tc>
                  <a:txBody>
                    <a:bodyPr/>
                    <a:lstStyle/>
                    <a:p>
                      <a:r>
                        <a:rPr sz="1450" b="1" i="0">
                          <a:solidFill>
                            <a:srgbClr val="FFFFFF"/>
                          </a:solidFill>
                          <a:latin typeface="Calibri"/>
                        </a:rPr>
                        <a:t>Field</a:t>
                      </a:r>
                    </a:p>
                  </a:txBody>
                  <a:tcPr marL="101600" marR="101600" marT="38100" marB="38100" anchor="ctr">
                    <a:solidFill>
                      <a:srgbClr val="1A0F5C"/>
                    </a:solidFill>
                  </a:tcPr>
                </a:tc>
                <a:tc>
                  <a:txBody>
                    <a:bodyPr/>
                    <a:lstStyle/>
                    <a:p>
                      <a:r>
                        <a:rPr sz="1450" b="1" i="0">
                          <a:solidFill>
                            <a:srgbClr val="FFFFFF"/>
                          </a:solidFill>
                          <a:latin typeface="Calibri"/>
                        </a:rPr>
                        <a:t>Reading</a:t>
                      </a:r>
                    </a:p>
                  </a:txBody>
                  <a:tcPr marL="101600" marR="101600" marT="38100" marB="38100" anchor="ctr">
                    <a:solidFill>
                      <a:srgbClr val="1A0F5C"/>
                    </a:solidFill>
                  </a:tcPr>
                </a:tc>
              </a:tr>
              <a:tr h="369824">
                <a:tc>
                  <a:txBody>
                    <a:bodyPr/>
                    <a:lstStyle/>
                    <a:p>
                      <a:r>
                        <a:rPr sz="1400" b="0" i="0">
                          <a:solidFill>
                            <a:srgbClr val="1A1440"/>
                          </a:solidFill>
                          <a:latin typeface="Calibri"/>
                        </a:rPr>
                        <a:t>Stage</a:t>
                      </a:r>
                    </a:p>
                  </a:txBody>
                  <a:tcPr marL="101600" marR="101600" marT="38100" marB="38100" anchor="ctr">
                    <a:solidFill>
                      <a:srgbClr val="FFFFFF"/>
                    </a:solidFill>
                  </a:tcPr>
                </a:tc>
                <a:tc>
                  <a:txBody>
                    <a:bodyPr/>
                    <a:lstStyle/>
                    <a:p>
                      <a:r>
                        <a:rPr sz="1400" b="0" i="0">
                          <a:solidFill>
                            <a:srgbClr val="1A1440"/>
                          </a:solidFill>
                          <a:latin typeface="Calibri"/>
                        </a:rPr>
                        <a:t>Add-to-cart to order</a:t>
                      </a:r>
                    </a:p>
                  </a:txBody>
                  <a:tcPr marL="101600" marR="101600" marT="38100" marB="38100" anchor="ctr">
                    <a:solidFill>
                      <a:srgbClr val="FFFFFF"/>
                    </a:solidFill>
                  </a:tcPr>
                </a:tc>
              </a:tr>
              <a:tr h="369824">
                <a:tc>
                  <a:txBody>
                    <a:bodyPr/>
                    <a:lstStyle/>
                    <a:p>
                      <a:r>
                        <a:rPr sz="1400" b="0" i="0">
                          <a:solidFill>
                            <a:srgbClr val="1A1440"/>
                          </a:solidFill>
                          <a:latin typeface="Calibri"/>
                        </a:rPr>
                        <a:t>Segment</a:t>
                      </a:r>
                    </a:p>
                  </a:txBody>
                  <a:tcPr marL="101600" marR="101600" marT="38100" marB="38100" anchor="ctr">
                    <a:solidFill>
                      <a:srgbClr val="F4F2FA"/>
                    </a:solidFill>
                  </a:tcPr>
                </a:tc>
                <a:tc>
                  <a:txBody>
                    <a:bodyPr/>
                    <a:lstStyle/>
                    <a:p>
                      <a:r>
                        <a:rPr sz="1400" b="0" i="0">
                          <a:solidFill>
                            <a:srgbClr val="1A1440"/>
                          </a:solidFill>
                          <a:latin typeface="Calibri"/>
                        </a:rPr>
                        <a:t>Members, Android, from 14 September</a:t>
                      </a:r>
                    </a:p>
                  </a:txBody>
                  <a:tcPr marL="101600" marR="101600" marT="38100" marB="38100" anchor="ctr">
                    <a:solidFill>
                      <a:srgbClr val="F4F2FA"/>
                    </a:solidFill>
                  </a:tcPr>
                </a:tc>
              </a:tr>
              <a:tr h="369824">
                <a:tc>
                  <a:txBody>
                    <a:bodyPr/>
                    <a:lstStyle/>
                    <a:p>
                      <a:r>
                        <a:rPr sz="1400" b="0" i="0">
                          <a:solidFill>
                            <a:srgbClr val="1A1440"/>
                          </a:solidFill>
                          <a:latin typeface="Calibri"/>
                        </a:rPr>
                        <a:t>Fall</a:t>
                      </a:r>
                    </a:p>
                  </a:txBody>
                  <a:tcPr marL="101600" marR="101600" marT="38100" marB="38100" anchor="ctr">
                    <a:solidFill>
                      <a:srgbClr val="FFFFFF"/>
                    </a:solidFill>
                  </a:tcPr>
                </a:tc>
                <a:tc>
                  <a:txBody>
                    <a:bodyPr/>
                    <a:lstStyle/>
                    <a:p>
                      <a:r>
                        <a:rPr sz="1400" b="0" i="0">
                          <a:solidFill>
                            <a:srgbClr val="1A1440"/>
                          </a:solidFill>
                          <a:latin typeface="Calibri"/>
                        </a:rPr>
                        <a:t>0.58 to 0.44, that is 14 points on a session base</a:t>
                      </a:r>
                    </a:p>
                  </a:txBody>
                  <a:tcPr marL="101600" marR="101600" marT="38100" marB="38100" anchor="ctr">
                    <a:solidFill>
                      <a:srgbClr val="FFFFFF"/>
                    </a:solidFill>
                  </a:tcPr>
                </a:tc>
              </a:tr>
              <a:tr h="369824">
                <a:tc>
                  <a:txBody>
                    <a:bodyPr/>
                    <a:lstStyle/>
                    <a:p>
                      <a:r>
                        <a:rPr sz="1400" b="0" i="0">
                          <a:solidFill>
                            <a:srgbClr val="1A1440"/>
                          </a:solidFill>
                          <a:latin typeface="Calibri"/>
                        </a:rPr>
                        <a:t>Comparator</a:t>
                      </a:r>
                    </a:p>
                  </a:txBody>
                  <a:tcPr marL="101600" marR="101600" marT="38100" marB="38100" anchor="ctr">
                    <a:solidFill>
                      <a:srgbClr val="F4F2FA"/>
                    </a:solidFill>
                  </a:tcPr>
                </a:tc>
                <a:tc>
                  <a:txBody>
                    <a:bodyPr/>
                    <a:lstStyle/>
                    <a:p>
                      <a:r>
                        <a:rPr sz="1400" b="0" i="0">
                          <a:solidFill>
                            <a:srgbClr val="1A1440"/>
                          </a:solidFill>
                          <a:latin typeface="Calibri"/>
                        </a:rPr>
                        <a:t>iOS members and non-members on Android: both flat</a:t>
                      </a:r>
                    </a:p>
                  </a:txBody>
                  <a:tcPr marL="101600" marR="101600" marT="38100" marB="38100" anchor="ctr">
                    <a:solidFill>
                      <a:srgbClr val="F4F2FA"/>
                    </a:solidFill>
                  </a:tcPr>
                </a:tc>
              </a:tr>
              <a:tr h="611632">
                <a:tc>
                  <a:txBody>
                    <a:bodyPr/>
                    <a:lstStyle/>
                    <a:p>
                      <a:r>
                        <a:rPr sz="1400" b="0" i="0">
                          <a:solidFill>
                            <a:srgbClr val="1A1440"/>
                          </a:solidFill>
                          <a:latin typeface="Calibri"/>
                        </a:rPr>
                        <a:t>Size in orders a week</a:t>
                      </a:r>
                    </a:p>
                  </a:txBody>
                  <a:tcPr marL="101600" marR="101600" marT="38100" marB="38100" anchor="ctr">
                    <a:solidFill>
                      <a:srgbClr val="FFFFFF"/>
                    </a:solidFill>
                  </a:tcPr>
                </a:tc>
                <a:tc>
                  <a:txBody>
                    <a:bodyPr/>
                    <a:lstStyle/>
                    <a:p>
                      <a:r>
                        <a:rPr sz="1400" b="0" i="0">
                          <a:solidFill>
                            <a:srgbClr val="1A1440"/>
                          </a:solidFill>
                          <a:latin typeface="Calibri"/>
                        </a:rPr>
                        <a:t>14 points times the Android members' weekly add-to-cart sessions in September (facts file)</a:t>
                      </a:r>
                    </a:p>
                  </a:txBody>
                  <a:tcPr marL="101600" marR="101600" marT="38100" marB="38100" anchor="ctr">
                    <a:solidFill>
                      <a:srgbClr val="FFFFFF"/>
                    </a:solidFill>
                  </a:tcPr>
                </a:tc>
              </a:tr>
              <a:tr h="369824">
                <a:tc>
                  <a:txBody>
                    <a:bodyPr/>
                    <a:lstStyle/>
                    <a:p>
                      <a:r>
                        <a:rPr sz="1400" b="0" i="0">
                          <a:solidFill>
                            <a:srgbClr val="1A1440"/>
                          </a:solidFill>
                          <a:latin typeface="Calibri"/>
                        </a:rPr>
                        <a:t>What stays open</a:t>
                      </a:r>
                    </a:p>
                  </a:txBody>
                  <a:tcPr marL="101600" marR="101600" marT="38100" marB="38100" anchor="ctr">
                    <a:solidFill>
                      <a:srgbClr val="F4F2FA"/>
                    </a:solidFill>
                  </a:tcPr>
                </a:tc>
                <a:tc>
                  <a:txBody>
                    <a:bodyPr/>
                    <a:lstStyle/>
                    <a:p>
                      <a:r>
                        <a:rPr sz="1400" b="0" i="0">
                          <a:solidFill>
                            <a:srgbClr val="1A1440"/>
                          </a:solidFill>
                          <a:latin typeface="Calibri"/>
                        </a:rPr>
                        <a:t>The six caveats below, which L4 names one by one in half two</a:t>
                      </a:r>
                    </a:p>
                  </a:txBody>
                  <a:tcPr marL="101600" marR="101600" marT="38100" marB="38100" anchor="ctr">
                    <a:solidFill>
                      <a:srgbClr val="F4F2FA"/>
                    </a:solidFill>
                  </a:tcPr>
                </a:tc>
              </a:tr>
            </a:tbl>
          </a:graphicData>
        </a:graphic>
      </p:graphicFrame>
      <p:sp>
        <p:nvSpPr>
          <p:cNvPr id="10" name="TextBox 9"/>
          <p:cNvSpPr txBox="1"/>
          <p:nvPr/>
        </p:nvSpPr>
        <p:spPr>
          <a:xfrm>
            <a:off x="530352" y="50434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stage is one. The segment is one. The date is one. The fix-first call for the city head needs this three-line answer and no more.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in one sentence a city head repeats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chapter close on, and what does Friday's forecast lean on from today?</a:t>
            </a:r>
          </a:p>
        </p:txBody>
      </p:sp>
      <p:sp>
        <p:nvSpPr>
          <p:cNvPr id="9" name="TextBox 8"/>
          <p:cNvSpPr txBox="1"/>
          <p:nvPr/>
        </p:nvSpPr>
        <p:spPr>
          <a:xfrm>
            <a:off x="530352" y="1956816"/>
            <a:ext cx="11130991" cy="143459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dashboard was flat because the mix shifted. Every cohort fell with age. One stage, on one platform, after one date, drove members' loss. That sentence replaces the dashboard reading.</a:t>
            </a:r>
          </a:p>
          <a:p>
            <a:pPr>
              <a:spcAft>
                <a:spcPts val="800"/>
              </a:spcAft>
            </a:pPr>
            <a:r>
              <a:rPr sz="1600" b="0" i="0">
                <a:solidFill>
                  <a:srgbClr val="1A1440"/>
                </a:solidFill>
                <a:latin typeface="Calibri"/>
              </a:rPr>
              <a:t>Friday's forecast will lean on today's cohort table as a time axis; Week 5's target will be defined on this table.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is every cohort's curve?</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