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label line aloud first: the company is real, the situation and the data are</a:t>
            </a:r>
          </a:p>
          <a:p>
            <a:r>
              <a:t>synthetic. The morning climbs three chapters: who joined when (counted by hand), what the</a:t>
            </a:r>
          </a:p>
          <a:p>
            <a:r>
              <a:t>dashboard's 38 is made of (all 53,089 members), and which step owns the loss; the afternoon's first</a:t>
            </a:r>
          </a:p>
          <a:p>
            <a:r>
              <a:t>60 minutes make the fix-first call and read the interview.</a:t>
            </a:r>
          </a:p>
          <a:p>
            <a:r>
              <a:t>Read the table top to bottom. Define month-two retention in one breath: the share</a:t>
            </a:r>
          </a:p>
          <a:p>
            <a:r>
              <a:t>of members two or more months past their signup month who ordered in the month. Point at the gap:</a:t>
            </a:r>
          </a:p>
          <a:p>
            <a:r>
              <a:t>the dashboard is flat, every cohort's month one is lower than the one before, and August's 31 sits</a:t>
            </a:r>
          </a:p>
          <a:p>
            <a:r>
              <a:t>far below. Ask which number the membership lead would put on Monday's slide; most say the 38.</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paid for trips, Tuesday put one denominator on one slide, Wednesday judged</a:t>
            </a:r>
          </a:p>
          <a:p>
            <a:r>
              <a:t>a pair against chance. Thursday judges a cohort against the blend. Friday stays dashed. The</a:t>
            </a:r>
          </a:p>
          <a:p>
            <a:r>
              <a:t>explorer's home screen draws the same map (day control: Thu).</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groups write their own ordered list first, with the test each cause needs,</a:t>
            </a:r>
          </a:p>
          <a:p>
            <a:r>
              <a:t>on the hypothesis board template; then show this ladder. It runs in the order a careful analyst</a:t>
            </a:r>
          </a:p>
          <a:p>
            <a:r>
              <a:t>checks: the count, the rule, the cohorts, everyone, then the stage. The order is Aced's (T2): rule</a:t>
            </a:r>
          </a:p>
          <a:p>
            <a:r>
              <a:t>out data issues first, then the definition, then segments. Each chapter's reveal strikes or confirms</a:t>
            </a:r>
          </a:p>
          <a:p>
            <a:r>
              <a:t>a line; keep the board up all morning.</a:t>
            </a:r>
          </a:p>
          <a:p>
            <a:r>
              <a:t>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Laptops closed until the end of the chapter; the twelve-row card is on every</a:t>
            </a:r>
          </a:p>
          <a:p>
            <a:r>
              <a:t>table. Styles: Brilliant (a question before the explanation), StatQuest (tiny counts aloud),</a:t>
            </a:r>
          </a:p>
          <a:p>
            <a:r>
              <a:t>Veritasium (predict, then reveal), the case method (Blinkit's and Swiggy's own cohort charts).</a:t>
            </a:r>
          </a:p>
          <a:p>
            <a:r>
              <a:t>Explorer scenes Th2 and Th1. Notebook 01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Transition: the first toy.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 the dots aloud: six, four, ten of twenty. Ask: if the centre only ever</a:t>
            </a:r>
          </a:p>
          <a:p>
            <a:r>
              <a:t>printed "50 percent", which batch would it worry about? Neither, because the average names neither.</a:t>
            </a:r>
          </a:p>
          <a:p>
            <a:r>
              <a:t>The toy is invented (R1); say so.</a:t>
            </a:r>
          </a:p>
          <a:p>
            <a:r>
              <a:t>Transition: twelve real members of the case.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the card if it is not on the tables. Read one row aloud: ZG21052 joined</a:t>
            </a:r>
          </a:p>
          <a:p>
            <a:r>
              <a:t>in May, ordered in June and July, then stopped. The last line folds four sale-week members who did</a:t>
            </a:r>
          </a:p>
          <a:p>
            <a:r>
              <a:t>not order in September. Ask each table to rewrite the card by months since joining instead of by</a:t>
            </a:r>
          </a:p>
          <a:p>
            <a:r>
              <a:t>calendar month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in writing, then pairs argue for one minute and vote again (peer</a:t>
            </a:r>
          </a:p>
          <a:p>
            <a:r>
              <a:t>instruction). Expect some c from tables that read September's column, where August's month one</a:t>
            </a:r>
          </a:p>
          <a:p>
            <a:r>
              <a:t>sits beside May's month four.</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May's row aloud: three ordered in month one, two in month two, one in three</a:t>
            </a:r>
          </a:p>
          <a:p>
            <a:r>
              <a:t>and four. Then June's, then August's. Say the definition of a cohort only now, after the room has</a:t>
            </a:r>
          </a:p>
          <a:p>
            <a:r>
              <a:t>built one. Watch for anyone comparing groups in the same calendar month: in September, the sale</a:t>
            </a:r>
          </a:p>
          <a:p>
            <a:r>
              <a:t>member's month one sits beside May's month four, which is why the age column, not the calendar</a:t>
            </a:r>
          </a:p>
          <a:p>
            <a:r>
              <a:t>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Ring the two 2-of-7 cells. Then the August column of the sale-week members: they</a:t>
            </a:r>
          </a:p>
          <a:p>
            <a:r>
              <a:t>joined in August, so August is their month zero, and September is their month one, which the</a:t>
            </a:r>
          </a:p>
          <a:p>
            <a:r>
              <a:t>dashboard skips. Chapter 2 finds the same two readings on all 53,089 members.</a:t>
            </a:r>
          </a:p>
          <a:p>
            <a:r>
              <a:t>Transition: why a big new group holds an average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Explorer scene Th2 lets a learner slide batch B's size; on the projector, vote</a:t>
            </a:r>
          </a:p>
          <a:p>
            <a:r>
              <a:t>first. Expect b from most of the room.</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stacks, then the formula last, as the shorthand for what the bars</a:t>
            </a:r>
          </a:p>
          <a:p>
            <a:r>
              <a:t>already showed (3Blue1Brown). Next month batch B ages too, and unless another large batch arrives,</a:t>
            </a:r>
          </a:p>
          <a:p>
            <a:r>
              <a:t>the blend falls. Ask: on the Gold dashboard, what plays the part of batch B?</a:t>
            </a:r>
          </a:p>
          <a:p>
            <a:r>
              <a:t>Transition: a real company that publishes its cohorts.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https://www.swiggy.com/corporate/wp-content/uploads/2025/10/Q2-FY2026-Shareholder-letter.pdf (checked 12 October 2026)</a:t>
            </a:r>
          </a:p>
          <a:p>
            <a:r>
              <a:t>LIVE, 6 minutes. Two decisions to read. Eternal shows the customer number and the spend number side</a:t>
            </a:r>
          </a:p>
          <a:p>
            <a:r>
              <a:t>by side, and they disagree by a factor of three because the denominators differ: 150 percent is</a:t>
            </a:r>
          </a:p>
          <a:p>
            <a:r>
              <a:t>possible because survivors spend more. Swiggy weaned away weak users, which lifts every later column</a:t>
            </a:r>
          </a:p>
          <a:p>
            <a:r>
              <a:t>of its table with no change in anyone's behaviour. Ask: before trusting either chart, what do you</a:t>
            </a:r>
          </a:p>
          <a:p>
            <a:r>
              <a:t>ask for? The denominator.</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board's first region; Q2 and Q3 stay dashed. Strike or confirm on the</a:t>
            </a:r>
          </a:p>
          <a:p>
            <a:r>
              <a:t>hypothesis board: "a cohort problem" is now likely; the test was the card.</a:t>
            </a:r>
          </a:p>
          <a:p>
            <a:r>
              <a:t>Transition: chapter 2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Laptops open; notebook 02. Styles: Krish Naik (one pivot_table, line by line),</a:t>
            </a:r>
          </a:p>
          <a:p>
            <a:r>
              <a:t>Veritasium (two predictions), 3Blue1Brown (the triangle, then the formula last),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Say what chapter 1 found, with its numbers, so the room</a:t>
            </a:r>
          </a:p>
          <a:p>
            <a:r>
              <a:t>carries it in: each group fell with age, the sale-week members kept 1 of 5, and the dashboard's way</a:t>
            </a:r>
          </a:p>
          <a:p>
            <a:r>
              <a:t>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code a line at a time: age as the gap in months, active as at least one</a:t>
            </a:r>
          </a:p>
          <a:p>
            <a:r>
              <a:t>order, one pivot_table with cohorts on the rows and ages on the columns; each cell is a mean of</a:t>
            </a:r>
          </a:p>
          <a:p>
            <a:r>
              <a:t>True and 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one row (January: 58, then 38.7 and down to 36.9 by month eight) and one</a:t>
            </a:r>
          </a:p>
          <a:p>
            <a:r>
              <a:t>column (month one: 58 down to 49, then 31).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August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wrong sentence exactly as a hurried analyst would say it. Ask for the</a:t>
            </a:r>
          </a:p>
          <a:p>
            <a:r>
              <a:t>decision it would drive. Then the check, which the room runs in the notebook's empty your-turn cell</a:t>
            </a:r>
          </a:p>
          <a:p>
            <a:r>
              <a:t>before the next slide.</a:t>
            </a:r>
          </a:p>
          <a:p>
            <a:r>
              <a:t>Transition: the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September's stack: seven cohorts, January at the bottom, July at the</a:t>
            </a:r>
          </a:p>
          <a:p>
            <a:r>
              <a:t>top. Then the hatched bar beside it: 13,000 members the dashboard does not count yet. Explorer</a:t>
            </a:r>
          </a:p>
          <a:p>
            <a:r>
              <a:t>scene Th1's size slider shows what a 2.6-times cohort does when it does enter.</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weights</a:t>
            </a:r>
          </a:p>
          <a:p>
            <a:r>
              <a:t>matter when sizes differ, which is the trap from Week 1 and Monday.</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(the</a:t>
            </a:r>
          </a:p>
          <a:p>
            <a:r>
              <a:t>August cohort falls as July's did);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Break follows: 10 minutes.</a:t>
            </a:r>
          </a:p>
          <a:p>
            <a:r>
              <a:t>Transition: after the break,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Notebook 03. Styles: Brilliant (the four rates before any explanation),</a:t>
            </a:r>
          </a:p>
          <a:p>
            <a:r>
              <a:t>Veritasium (three predictions), the case method (the app team's partly-right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what chapter 2 found, with its numbers: 38 is a weighted average of falling</a:t>
            </a:r>
          </a:p>
          <a:p>
            <a:r>
              <a:t>cohorts, and the sale-week members kept 20 percent in month one.</a:t>
            </a:r>
          </a:p>
          <a:p>
            <a:r>
              <a:t>Transition: the four rates.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Brilliant's move: the numbers first, the explanation after. Vote, argue, vote.</a:t>
            </a:r>
          </a:p>
          <a:p>
            <a:r>
              <a:t>Expect b from most of the room; the lowest rate looks like the loss.</a:t>
            </a:r>
          </a:p>
          <a:p>
            <a:r>
              <a:t>Transition: how a funnel reads.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toy aloud (R1's numbers). Then the two units on the same checkouts.</a:t>
            </a:r>
          </a:p>
          <a:p>
            <a:r>
              <a:t>Then the rule for the chapter: find the step that changed, for whom, since when.</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Ask one table to explain its letter in a sentence.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three lines. Then the tracking check from the hypothesis board: the</a:t>
            </a:r>
          </a:p>
          <a:p>
            <a:r>
              <a:t>release renamed one Android event and the app team mapped it, and the fall holds with the date</a:t>
            </a:r>
          </a:p>
          <a:p>
            <a:r>
              <a:t>moved a week either way, so it is behaviour, not counting. The tracking cause is struck.</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The case method: the app team is partly right, so find the part. Concede that</a:t>
            </a:r>
          </a:p>
          <a:p>
            <a:r>
              <a:t>checkout starts held; bring the split that shows completion fell, for members, on Android, from</a:t>
            </a:r>
          </a:p>
          <a:p>
            <a:r>
              <a:t>the release. The afternoon's role card replays this dispute.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12 minutes. One caveat at a time, each with the fact that settles it (L4). Strike the last</a:t>
            </a:r>
          </a:p>
          <a:p>
            <a:r>
              <a:t>lines of the hypothesis board: tracking is ruled out, the definition explained, a cohort problem</a:t>
            </a:r>
          </a:p>
          <a:p>
            <a:r>
              <a:t>confirmed, 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LIVE, 5 minutes. Say the morning's sentence: the dashboard was flat because of who it counts;</a:t>
            </a:r>
          </a:p>
          <a:p>
            <a:r>
              <a:t>every cohort fell; one step, on one platform, after one date, drove the order loss. Board complete.</a:t>
            </a:r>
          </a:p>
          <a:p>
            <a:r>
              <a:t>The afternoon names what the data cannot show,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1.png"/><Relationship Id="rId6"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ticket say, with its numbers, its data and its ask?</a:t>
            </a:r>
          </a:p>
        </p:txBody>
      </p:sp>
      <p:graphicFrame>
        <p:nvGraphicFramePr>
          <p:cNvPr id="9" name="Table 8"/>
          <p:cNvGraphicFramePr>
            <a:graphicFrameLocks noGrp="1"/>
          </p:cNvGraphicFramePr>
          <p:nvPr/>
        </p:nvGraphicFramePr>
        <p:xfrm>
          <a:off x="530352" y="183489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by cohort,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Rounded Rectangle 9"/>
          <p:cNvSpPr/>
          <p:nvPr/>
        </p:nvSpPr>
        <p:spPr>
          <a:xfrm>
            <a:off x="530352" y="4267200"/>
            <a:ext cx="11130991"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95216"/>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86072"/>
            <a:ext cx="10564063" cy="980440"/>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members (53,089 rows: signup date, cohort month, signup channel, zone), member_months (orders per member per month since joining), events (every app session in August and September, one row per stage, with platform and checkout version; Gold members and 4,000 non-members for comparison). </a:t>
            </a:r>
            <a:r>
              <a:rPr sz="1000" b="1" i="0">
                <a:solidFill>
                  <a:srgbClr val="1A1440"/>
                </a:solidFill>
                <a:latin typeface="Calibri"/>
              </a:rPr>
              <a:t>The ask, due Friday.</a:t>
            </a:r>
            <a:r>
              <a:rPr sz="1000" b="0" i="0">
                <a:solidFill>
                  <a:srgbClr val="1A1440"/>
                </a:solidFill>
                <a:latin typeface="Calibri"/>
              </a:rPr>
              <a:t> Cohort problem or everyone problem; which funnel stage owns the loss; what to fix first, with the evidence. </a:t>
            </a:r>
            <a:r>
              <a:rPr sz="1000" b="1" i="0">
                <a:solidFill>
                  <a:srgbClr val="1A1440"/>
                </a:solidFill>
                <a:latin typeface="Calibri"/>
              </a:rPr>
              <a:t>Known caveats.</a:t>
            </a:r>
            <a:r>
              <a:rPr sz="10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3" name="Rounded Rectangle 12"/>
          <p:cNvSpPr/>
          <p:nvPr/>
        </p:nvSpPr>
        <p:spPr>
          <a:xfrm>
            <a:off x="530352" y="559511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72312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71398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8" name="Oval 17"/>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0" name="Oval 1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aa40ab7e0a74e288.png"/>
          <p:cNvPicPr>
            <a:picLocks noChangeAspect="1"/>
          </p:cNvPicPr>
          <p:nvPr/>
        </p:nvPicPr>
        <p:blipFill>
          <a:blip r:embed="rId5"/>
          <a:stretch>
            <a:fillRect/>
          </a:stretch>
        </p:blipFill>
        <p:spPr>
          <a:xfrm>
            <a:off x="1189523" y="1682496"/>
            <a:ext cx="9812648"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"It is both, and they need different fixes. The dashboard reads 38 because it averages cohorts on a slow slide and has not yet counted the 13,000-member August cohort, whose sale-week members kept 20 percent in month one; when that cohort enters in October, the dashboard drops to about 33. The order loss sits in one step, checkout start to order placed, for members on Android since the 14 September release: 72.5 to 55 percent, about 1,317 orders a week. Fix the Android checkout first, and judge the next sale's members on their own curve before buying another sale."</a:t>
            </a:r>
          </a:p>
        </p:txBody>
      </p:sp>
      <p:sp>
        <p:nvSpPr>
          <p:cNvPr id="11" name="TextBox 10"/>
          <p:cNvSpPr txBox="1"/>
          <p:nvPr/>
        </p:nvSpPr>
        <p:spPr>
          <a:xfrm>
            <a:off x="530352" y="399288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in that sentence is earned in order: by hand on twelve members, on all 53,089, then on 1,386,235 app events.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6c03ae8eaa64889d.png"/>
          <p:cNvPicPr>
            <a:picLocks noChangeAspect="1"/>
          </p:cNvPicPr>
          <p:nvPr/>
        </p:nvPicPr>
        <p:blipFill>
          <a:blip r:embed="rId5"/>
          <a:stretch>
            <a:fillRect/>
          </a:stretch>
        </p:blipFill>
        <p:spPr>
          <a:xfrm>
            <a:off x="530352" y="1956816"/>
            <a:ext cx="11130991" cy="1023688"/>
          </a:xfrm>
          <a:prstGeom prst="rect">
            <a:avLst/>
          </a:prstGeom>
        </p:spPr>
      </p:pic>
      <p:graphicFrame>
        <p:nvGraphicFramePr>
          <p:cNvPr id="10" name="Table 9"/>
          <p:cNvGraphicFramePr>
            <a:graphicFrameLocks noGrp="1"/>
          </p:cNvGraphicFramePr>
          <p:nvPr/>
        </p:nvGraphicFramePr>
        <p:xfrm>
          <a:off x="530352" y="3126808"/>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app team's event mapping, and the release date moved a week either way</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at each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Every cohort in the same calendar month, split by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can a flat average hide falling groups, and what does each group keep month by month, counted by hand on twelve members before any code?</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four questions, one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can one average hide two groups?</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Two coaching batches, ten members each, invented</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Twelve real members, counted by age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count?</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same twelve, the dashboard's way</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a big new group hold an average up?</a:t>
            </a:r>
          </a:p>
        </p:txBody>
      </p:sp>
      <p:sp>
        <p:nvSpPr>
          <p:cNvPr id="32" name="TextBox 31"/>
          <p:cNvSpPr txBox="1"/>
          <p:nvPr/>
        </p:nvSpPr>
        <p:spPr>
          <a:xfrm>
            <a:off x="9180347" y="4464812"/>
            <a:ext cx="2316403" cy="366776"/>
          </a:xfrm>
          <a:prstGeom prst="rect">
            <a:avLst/>
          </a:prstGeom>
          <a:noFill/>
        </p:spPr>
        <p:txBody>
          <a:bodyPr wrap="square" anchor="t" lIns="0" rIns="0" tIns="0" bIns="0">
            <a:spAutoFit/>
          </a:bodyPr>
          <a:lstStyle/>
          <a:p>
            <a:pPr algn="l"/>
            <a:r>
              <a:rPr sz="1000" b="0" i="0">
                <a:solidFill>
                  <a:srgbClr val="CFC9EE"/>
                </a:solidFill>
                <a:latin typeface="Calibri"/>
              </a:rPr>
              <a:t>Two more batches, then a real company's chart</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batches, one average that names neither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an average over two groups hide what each did?</a:t>
            </a:r>
          </a:p>
        </p:txBody>
      </p:sp>
      <p:pic>
        <p:nvPicPr>
          <p:cNvPr id="9" name="mermaid diagram" descr="C2_W04_D04_toy_batches_STUDENT.png"/>
          <p:cNvPicPr>
            <a:picLocks noChangeAspect="1"/>
          </p:cNvPicPr>
          <p:nvPr/>
        </p:nvPicPr>
        <p:blipFill>
          <a:blip r:embed="rId4"/>
          <a:stretch>
            <a:fillRect/>
          </a:stretch>
        </p:blipFill>
        <p:spPr>
          <a:xfrm>
            <a:off x="1976816" y="1956816"/>
            <a:ext cx="8238062" cy="1490348"/>
          </a:xfrm>
          <a:prstGeom prst="rect">
            <a:avLst/>
          </a:prstGeom>
        </p:spPr>
      </p:pic>
      <p:sp>
        <p:nvSpPr>
          <p:cNvPr id="10" name="picture caption"/>
          <p:cNvSpPr txBox="1"/>
          <p:nvPr/>
        </p:nvSpPr>
        <p:spPr>
          <a:xfrm>
            <a:off x="530352" y="34837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coaching batches in month two (invented)</a:t>
            </a:r>
          </a:p>
        </p:txBody>
      </p:sp>
      <p:sp>
        <p:nvSpPr>
          <p:cNvPr id="11" name="TextBox 10"/>
          <p:cNvSpPr txBox="1"/>
          <p:nvPr/>
        </p:nvSpPr>
        <p:spPr>
          <a:xfrm>
            <a:off x="530352" y="39104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coaching centre (invented numbers) takes 10 students in June and 10 in July. In each batch's second month, 6 of June's and 4 of July's come back: 60 and 40 percent. Together, 10 of 20 came back, 50 percent, which is neither batch's 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real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682496"/>
          <a:ext cx="11130991" cy="3352800"/>
        </p:xfrm>
        <a:graphic>
          <a:graphicData uri="http://schemas.openxmlformats.org/drawingml/2006/table">
            <a:tbl>
              <a:tblPr firstRow="0" bandRow="0">
                <a:tableStyleId>{2D5ABB26-0587-4C30-8999-92F81FD0307C}</a:tableStyleId>
              </a:tblPr>
              <a:tblGrid>
                <a:gridCol w="3943645"/>
                <a:gridCol w="914400"/>
                <a:gridCol w="2615346"/>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ZG38681</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ZG40539 to ZG42328</a:t>
                      </a:r>
                    </a:p>
                  </a:txBody>
                  <a:tcPr marL="101600" marR="101600" marT="38100" marB="38100" anchor="ctr">
                    <a:solidFill>
                      <a:srgbClr val="FFFFFF"/>
                    </a:solidFill>
                  </a:tcPr>
                </a:tc>
                <a:tc>
                  <a:txBody>
                    <a:bodyPr/>
                    <a:lstStyle/>
                    <a:p>
                      <a:r>
                        <a:rPr sz="1200" b="0" i="0">
                          <a:solidFill>
                            <a:srgbClr val="1A1440"/>
                          </a:solidFill>
                          <a:latin typeface="Calibri"/>
                        </a:rPr>
                        <a:t>Aug</a:t>
                      </a:r>
                    </a:p>
                  </a:txBody>
                  <a:tcPr marL="101600" marR="101600" marT="38100" marB="38100" anchor="ctr">
                    <a:solidFill>
                      <a:srgbClr val="FFFFFF"/>
                    </a:solidFill>
                  </a:tcPr>
                </a:tc>
                <a:tc>
                  <a:txBody>
                    <a:bodyPr/>
                    <a:lstStyle/>
                    <a:p>
                      <a:r>
                        <a:rPr sz="1200" b="0" i="0">
                          <a:solidFill>
                            <a:srgbClr val="1A1440"/>
                          </a:solidFill>
                          <a:latin typeface="Calibri"/>
                        </a:rPr>
                        <a:t>sale (four)</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52913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1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1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20 percent in month one. A </a:t>
            </a:r>
            <a:r>
              <a:rPr sz="1600" b="1" i="0">
                <a:solidFill>
                  <a:srgbClr val="1A1440"/>
                </a:solidFill>
                <a:latin typeface="Calibri"/>
              </a:rPr>
              <a:t>cohort</a:t>
            </a:r>
            <a:r>
              <a:rPr sz="1600" b="0" i="0">
                <a:solidFill>
                  <a:srgbClr val="1A1440"/>
                </a:solidFill>
                <a:latin typeface="Calibri"/>
              </a:rPr>
              <a:t> is a group that joined in the same month; fixing the entry moment is what makes the three comparable at all.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3 of 12 in both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four of them did not order: they are outside its count until October. Counted for everyone, September reads 3 of 12.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blend rise, fall or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Batch A of 100 stood at 50 percent; now A is at 40 and a new batch B of 400 arrives at 52.5 percent. What does the blend do (invented)?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rises, because batch B is bigger</a:t>
            </a:r>
          </a:p>
          <a:p>
            <a:pPr>
              <a:spcAft>
                <a:spcPts val="800"/>
              </a:spcAft>
            </a:pPr>
            <a:r>
              <a:rPr sz="1600" b="0" i="0">
                <a:solidFill>
                  <a:srgbClr val="1A1440"/>
                </a:solidFill>
                <a:latin typeface="Calibri"/>
              </a:rPr>
              <a:t>b) It falls, because batch A fell</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holds at 50 while batch A falls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stand still while every batch shrinks?</a:t>
            </a:r>
          </a:p>
        </p:txBody>
      </p:sp>
      <p:pic>
        <p:nvPicPr>
          <p:cNvPr id="9" name="mermaid diagram" descr="C2_W04_D04_toy_blend_STUDENT.png"/>
          <p:cNvPicPr>
            <a:picLocks noChangeAspect="1"/>
          </p:cNvPicPr>
          <p:nvPr/>
        </p:nvPicPr>
        <p:blipFill>
          <a:blip r:embed="rId4"/>
          <a:stretch>
            <a:fillRect/>
          </a:stretch>
        </p:blipFill>
        <p:spPr>
          <a:xfrm>
            <a:off x="2627327" y="1664208"/>
            <a:ext cx="6937040"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flat average while batch A falls (invented)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(100 × 0.40 + 400 × 0.525) / 500 = 250 / 500 = 50 percent. A blend is an average weighted by size: blend = sum of (cohort size × cohort rate) / sum of cohort sizes. A large young batch at a high early rate props it up while every batch falls with age.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Swiggy publish cohorts, not one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Indian companies report retention, and what does each figure count?</a:t>
            </a:r>
          </a:p>
        </p:txBody>
      </p:sp>
      <p:sp>
        <p:nvSpPr>
          <p:cNvPr id="9" name="Rounded Rectangle 8"/>
          <p:cNvSpPr/>
          <p:nvPr/>
        </p:nvSpPr>
        <p:spPr>
          <a:xfrm>
            <a:off x="530352"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ETERNAL, BLINKIT</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46 percent of customers, 150 percent of spend</a:t>
            </a:r>
          </a:p>
        </p:txBody>
      </p:sp>
      <p:sp>
        <p:nvSpPr>
          <p:cNvPr id="14" name="TextBox 13"/>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Q4 retention averaged 46 percent across cohorts and every successive cohort improved; NOV retention, the net value of a cohort's orders against its first quarter, was 150 percent at Q4 and 279 percent at Q12, because the customers who stay spend more</a:t>
            </a:r>
          </a:p>
        </p:txBody>
      </p:sp>
      <p:sp>
        <p:nvSpPr>
          <p:cNvPr id="15" name="Rounded Rectangle 14"/>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able_e38a0cea5ee5.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SWIGGY INSTAMART</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A cohort table, indexed to one cohort</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Spend by cohort indexed to the Q4 FY24 cohort's first quarter; Swiggy says it weaned away users with low expected lifetime value, so ask whether a column is per acquired user or per user who stayed</a:t>
            </a:r>
          </a:p>
        </p:txBody>
      </p:sp>
      <p:sp>
        <p:nvSpPr>
          <p:cNvPr id="21" name="TextBox 20"/>
          <p:cNvSpPr txBox="1"/>
          <p:nvPr/>
        </p:nvSpPr>
        <p:spPr>
          <a:xfrm>
            <a:off x="530352" y="44841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Eternal's Q1 FY27 shareholder letter of 22 July 2026 and Swiggy's Q2 FY26 shareholder letter, each checked 12 October 2026.</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fix the entry moment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5b72f46379a9e272.png"/>
          <p:cNvPicPr>
            <a:picLocks noChangeAspect="1"/>
          </p:cNvPicPr>
          <p:nvPr/>
        </p:nvPicPr>
        <p:blipFill>
          <a:blip r:embed="rId7"/>
          <a:stretch>
            <a:fillRect/>
          </a:stretch>
        </p:blipFill>
        <p:spPr>
          <a:xfrm>
            <a:off x="530352" y="1912424"/>
            <a:ext cx="11130991" cy="1243975"/>
          </a:xfrm>
          <a:prstGeom prst="rect">
            <a:avLst/>
          </a:prstGeom>
        </p:spPr>
      </p:pic>
      <p:sp>
        <p:nvSpPr>
          <p:cNvPr id="10" name="Rounded Rectangle 9"/>
          <p:cNvSpPr/>
          <p:nvPr/>
        </p:nvSpPr>
        <p:spPr>
          <a:xfrm>
            <a:off x="530352" y="3302703"/>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6447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874203"/>
            <a:ext cx="237744" cy="237744"/>
          </a:xfrm>
          <a:prstGeom prst="rect">
            <a:avLst/>
          </a:prstGeom>
        </p:spPr>
      </p:pic>
      <p:sp>
        <p:nvSpPr>
          <p:cNvPr id="13" name="TextBox 12"/>
          <p:cNvSpPr txBox="1"/>
          <p:nvPr/>
        </p:nvSpPr>
        <p:spPr>
          <a:xfrm>
            <a:off x="1399031" y="344900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668463"/>
            <a:ext cx="9987991" cy="94183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 a group that joined in a sale and a group that joined last spring are different groups, and one average over both names neither.</a:t>
            </a:r>
          </a:p>
        </p:txBody>
      </p:sp>
      <p:sp>
        <p:nvSpPr>
          <p:cNvPr id="15" name="Rounded Rectangle 14"/>
          <p:cNvSpPr/>
          <p:nvPr/>
        </p:nvSpPr>
        <p:spPr>
          <a:xfrm>
            <a:off x="530352" y="484803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8027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89999"/>
            <a:ext cx="237744" cy="237744"/>
          </a:xfrm>
          <a:prstGeom prst="rect">
            <a:avLst/>
          </a:prstGeom>
        </p:spPr>
      </p:pic>
      <p:sp>
        <p:nvSpPr>
          <p:cNvPr id="18" name="TextBox 17"/>
          <p:cNvSpPr txBox="1"/>
          <p:nvPr/>
        </p:nvSpPr>
        <p:spPr>
          <a:xfrm>
            <a:off x="1399031" y="499434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213799"/>
            <a:ext cx="9987991" cy="682752"/>
          </a:xfrm>
          <a:prstGeom prst="rect">
            <a:avLst/>
          </a:prstGeom>
          <a:noFill/>
        </p:spPr>
        <p:txBody>
          <a:bodyPr wrap="square" anchor="t" lIns="0" rIns="0" tIns="0" bIns="0">
            <a:spAutoFit/>
          </a:bodyPr>
          <a:lstStyle/>
          <a:p>
            <a:r>
              <a:rPr sz="1500" b="0" i="0">
                <a:solidFill>
                  <a:srgbClr val="1A1440"/>
                </a:solidFill>
                <a:latin typeface="Calibri"/>
              </a:rPr>
              <a:t>[F] Blended retention is flat while every cohort declines; how? The mix changes under the average, and the average counts who it counts.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every cohort's curve look like on 53,089 members, and how can the dashboard stay at 38 while each one falls?</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August cohort, and what it will do in October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5" name="Oval 3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After month one, which way does each row run?</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to_n = lambda s: s.str[:4].astype(int) * 12 + s.str[5:].astype(int)</a:t>
            </a:r>
          </a:p>
          <a:p>
            <a:pPr>
              <a:spcAft>
                <a:spcPts val="200"/>
              </a:spcAft>
            </a:pPr>
            <a:r>
              <a:rPr sz="1400" b="0" i="0">
                <a:solidFill>
                  <a:srgbClr val="E4E1F1"/>
                </a:solidFill>
                <a:latin typeface="Consolas"/>
              </a:rPr>
              <a:t>mm["age"] = to_n(mm["month"]) - to_n(mm["cohort_month"])   # month zero is the joining month</a:t>
            </a:r>
          </a:p>
          <a:p>
            <a:pPr>
              <a:spcAft>
                <a:spcPts val="200"/>
              </a:spcAft>
            </a:pPr>
            <a:r>
              <a:rPr sz="1400" b="0" i="0">
                <a:solidFill>
                  <a:srgbClr val="E4E1F1"/>
                </a:solidFill>
                <a:latin typeface="Consolas"/>
              </a:rPr>
              <a:t>mm["active"] = mm["orders"] &gt; 0</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a:t>
            </a:r>
          </a:p>
        </p:txBody>
      </p:sp>
      <p:sp>
        <p:nvSpPr>
          <p:cNvPr id="14" name="TextBox 13"/>
          <p:cNvSpPr txBox="1"/>
          <p:nvPr/>
        </p:nvSpPr>
        <p:spPr>
          <a:xfrm>
            <a:off x="530352" y="384098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398769" y="1664208"/>
            <a:ext cx="7394155"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and slides about 0.3 points a month after. Month one falls from 58 percent for January to 49 for July, and the 13,000-member August cohort sits at 31.</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August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878330"/>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34010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449830"/>
            <a:ext cx="237744" cy="237744"/>
          </a:xfrm>
          <a:prstGeom prst="rect">
            <a:avLst/>
          </a:prstGeom>
        </p:spPr>
      </p:pic>
      <p:sp>
        <p:nvSpPr>
          <p:cNvPr id="12" name="TextBox 11"/>
          <p:cNvSpPr txBox="1"/>
          <p:nvPr/>
        </p:nvSpPr>
        <p:spPr>
          <a:xfrm>
            <a:off x="1399031" y="202463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244090"/>
            <a:ext cx="9987991" cy="94183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decision it would mislead: the August cohort gets no action, the dashboard stays the month's headline, and October's drop arrives as a surprise.</a:t>
            </a:r>
          </a:p>
        </p:txBody>
      </p:sp>
      <p:sp>
        <p:nvSpPr>
          <p:cNvPr id="14" name="Rounded Rectangle 13"/>
          <p:cNvSpPr/>
          <p:nvPr/>
        </p:nvSpPr>
        <p:spPr>
          <a:xfrm>
            <a:off x="530352" y="342366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55168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542538"/>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an average over cohorts of different ages, weighted by their sizes, and it only counts a member from her second month. A flat average can sit on top of every cohort falling, as batch A fell under batch B on the toy.</a:t>
            </a:r>
          </a:p>
        </p:txBody>
      </p:sp>
      <p:sp>
        <p:nvSpPr>
          <p:cNvPr id="17" name="Rounded Rectangle 16"/>
          <p:cNvSpPr/>
          <p:nvPr/>
        </p:nvSpPr>
        <p:spPr>
          <a:xfrm>
            <a:off x="530352" y="466267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790693"/>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781550"/>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Take the number apart, cohort by cohort, and compare each piece with the direct count. Swiggy's own tables show why: monthly transacting users rose 27.4 percent while orders per user fell 6.3 percent, from 4.13 to 3.87, and the blend cannot say whether existing users ordered less or new users ordered little (Swiggy's Q1 FY27 letter of 30 July 2026, checked 12 October 2026; the 6.3 is our arithmetic).</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month's 38: a new cohort enters, old ones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each month's number made of?</a:t>
            </a:r>
          </a:p>
        </p:txBody>
      </p:sp>
      <p:pic>
        <p:nvPicPr>
          <p:cNvPr id="9" name="mermaid diagram" descr="C2_W04_D04_blend_decomposition_STUDENT.png"/>
          <p:cNvPicPr>
            <a:picLocks noChangeAspect="1"/>
          </p:cNvPicPr>
          <p:nvPr/>
        </p:nvPicPr>
        <p:blipFill>
          <a:blip r:embed="rId4"/>
          <a:stretch>
            <a:fillRect/>
          </a:stretch>
        </p:blipFill>
        <p:spPr>
          <a:xfrm>
            <a:off x="2367657" y="1664208"/>
            <a:ext cx="745637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Each stack is the dashboard's count for one month; the dark part ordered. Every older cohort's dark share shrinks a little each month, and one new cohort enters at the top. The hatched bar is the August cohort, outside the count in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newest cohorts sit highest and the oldest lowest: the youngest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2127487" y="1664208"/>
            <a:ext cx="793672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Split by how they joined, the 4,973 organic August members kept 49 percent in month one, July's rate; the 8,027 sale-week members kept 20. In October the whole August cohort enters the dashboard; if it falls from month one to month two as July's did, 31 to about 20.5 percent, the dashboard drops to about 33 percent (32 to 34 if it enters anywhere from 17 to 24).</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close: 38 is a weighted average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49d81dc46918aa92.png"/>
          <p:cNvPicPr>
            <a:picLocks noChangeAspect="1"/>
          </p:cNvPicPr>
          <p:nvPr/>
        </p:nvPicPr>
        <p:blipFill>
          <a:blip r:embed="rId7"/>
          <a:stretch>
            <a:fillRect/>
          </a:stretch>
        </p:blipFill>
        <p:spPr>
          <a:xfrm>
            <a:off x="530351" y="1937186"/>
            <a:ext cx="11130991" cy="1453531"/>
          </a:xfrm>
          <a:prstGeom prst="rect">
            <a:avLst/>
          </a:prstGeom>
        </p:spPr>
      </p:pic>
      <p:sp>
        <p:nvSpPr>
          <p:cNvPr id="10" name="Rounded Rectangle 9"/>
          <p:cNvSpPr/>
          <p:nvPr/>
        </p:nvSpPr>
        <p:spPr>
          <a:xfrm>
            <a:off x="530352" y="3537021"/>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6925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978981"/>
            <a:ext cx="237744" cy="237744"/>
          </a:xfrm>
          <a:prstGeom prst="rect">
            <a:avLst/>
          </a:prstGeom>
        </p:spPr>
      </p:pic>
      <p:sp>
        <p:nvSpPr>
          <p:cNvPr id="13" name="TextBox 12"/>
          <p:cNvSpPr txBox="1"/>
          <p:nvPr/>
        </p:nvSpPr>
        <p:spPr>
          <a:xfrm>
            <a:off x="1399031" y="3683325"/>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02781"/>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482327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5550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265237"/>
            <a:ext cx="237744" cy="237744"/>
          </a:xfrm>
          <a:prstGeom prst="rect">
            <a:avLst/>
          </a:prstGeom>
        </p:spPr>
      </p:pic>
      <p:sp>
        <p:nvSpPr>
          <p:cNvPr id="18" name="TextBox 17"/>
          <p:cNvSpPr txBox="1"/>
          <p:nvPr/>
        </p:nvSpPr>
        <p:spPr>
          <a:xfrm>
            <a:off x="1399031" y="496958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89037"/>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in the order flow did members stop, counted in which unit, for whom and since when?</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funnel read?</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step over the step before</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2" name="TextBox 21"/>
          <p:cNvSpPr txBox="1"/>
          <p:nvPr/>
        </p:nvSpPr>
        <p:spPr>
          <a:xfrm>
            <a:off x="2957718"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7" name="TextBox 26"/>
          <p:cNvSpPr txBox="1"/>
          <p:nvPr/>
        </p:nvSpPr>
        <p:spPr>
          <a:xfrm>
            <a:off x="5220492"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68046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 inside the checkout?</a:t>
            </a:r>
          </a:p>
        </p:txBody>
      </p:sp>
      <p:sp>
        <p:nvSpPr>
          <p:cNvPr id="32" name="TextBox 31"/>
          <p:cNvSpPr txBox="1"/>
          <p:nvPr/>
        </p:nvSpPr>
        <p:spPr>
          <a:xfrm>
            <a:off x="7483266" y="4679442"/>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Six caveats, each with its check</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0" name="Oval 3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2" name="Oval 4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Checkout to order, the last step</a:t>
            </a:r>
          </a:p>
          <a:p>
            <a:pPr>
              <a:spcAft>
                <a:spcPts val="800"/>
              </a:spcAft>
            </a:pPr>
            <a:r>
              <a:rPr sz="1600" b="0" i="0">
                <a:solidFill>
                  <a:srgbClr val="1A1440"/>
                </a:solidFill>
                <a:latin typeface="Calibri"/>
              </a:rPr>
              <a:t>d) None can be named until each step is read in one unit and split by platform and date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low step is not a loss until it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funnel read, on numbers small enough to hold?</a:t>
            </a:r>
          </a:p>
        </p:txBody>
      </p:sp>
      <p:pic>
        <p:nvPicPr>
          <p:cNvPr id="9" name="mermaid diagram" descr="4b4cc8b3531b7148.png"/>
          <p:cNvPicPr>
            <a:picLocks noChangeAspect="1"/>
          </p:cNvPicPr>
          <p:nvPr/>
        </p:nvPicPr>
        <p:blipFill>
          <a:blip r:embed="rId5"/>
          <a:stretch>
            <a:fillRect/>
          </a:stretch>
        </p:blipFill>
        <p:spPr>
          <a:xfrm>
            <a:off x="530352" y="1956816"/>
            <a:ext cx="11130991" cy="759497"/>
          </a:xfrm>
          <a:prstGeom prst="rect">
            <a:avLst/>
          </a:prstGeom>
        </p:spPr>
      </p:pic>
      <p:sp>
        <p:nvSpPr>
          <p:cNvPr id="10" name="TextBox 9"/>
          <p:cNvSpPr txBox="1"/>
          <p:nvPr/>
        </p:nvSpPr>
        <p:spPr>
          <a:xfrm>
            <a:off x="530352" y="286261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Each step's rate divides it by the step before, in one unit (a toy, invented). If those 10 checkouts came from 50 sessions of 20 people, checkout is 10 of 50 per session and 10 of 20 per person. A step that is always low, such as browsing menus, is normal; a loss is a step that changed.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9239204"/>
                <a:gridCol w="1891786"/>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Menu views with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Of the sessions that searched, the share that opened a menu</a:t>
                      </a:r>
                    </a:p>
                  </a:txBody>
                  <a:tcPr marL="101600" marR="101600" marT="38100" marB="38100" anchor="ctr">
                    <a:solidFill>
                      <a:srgbClr val="F4F2FA"/>
                    </a:solidFill>
                  </a:tcPr>
                </a:tc>
                <a:tc>
                  <a:txBody>
                    <a:bodyPr/>
                    <a:lstStyle/>
                    <a:p>
                      <a:r>
                        <a:rPr sz="1400" b="0" i="0">
                          <a:solidFill>
                            <a:srgbClr val="1A1440"/>
                          </a:solidFill>
                          <a:latin typeface="Calibri"/>
                        </a:rPr>
                        <a:t>89 percent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351950" y="1664208"/>
            <a:ext cx="7487795"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Per member, search to menu view still reads 101 percent: counting members shrinks the artefact and leaves it in place.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2753878" y="1664208"/>
            <a:ext cx="668393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breaking in the release week and in no week before it. Members on iOS: 57 to 56. Non-members on Android: 52 to 51. Moving the cut a week either way keeps the fall: 58 to 47 with the cut on 7 September, 56 to 43 with it on 21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2838136" y="1664208"/>
            <a:ext cx="651542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The app team's chart, carts that start checkout on every platform, reads 80 percent flat: true, and it measures the step that did not break. Only members fell, so the place to look is something in the new flow that only members see.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things the data cannot show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383280"/>
        </p:xfrm>
        <a:graphic>
          <a:graphicData uri="http://schemas.openxmlformats.org/drawingml/2006/table">
            <a:tbl>
              <a:tblPr firstRow="0" bandRow="0">
                <a:tableStyleId>{2D5ABB26-0587-4C30-8999-92F81FD0307C}</a:tableStyleId>
              </a:tblPr>
              <a:tblGrid>
                <a:gridCol w="3710330"/>
                <a:gridCol w="3710330"/>
                <a:gridCol w="3710330"/>
              </a:tblGrid>
              <a:tr h="335280">
                <a:tc>
                  <a:txBody>
                    <a:bodyPr/>
                    <a:lstStyle/>
                    <a:p>
                      <a:r>
                        <a:rPr sz="1250" b="1" i="0">
                          <a:solidFill>
                            <a:srgbClr val="FFFFFF"/>
                          </a:solidFill>
                          <a:latin typeface="Calibri"/>
                        </a:rPr>
                        <a:t>Caveat</a:t>
                      </a:r>
                    </a:p>
                  </a:txBody>
                  <a:tcPr marL="101600" marR="101600" marT="38100" marB="38100" anchor="ctr">
                    <a:solidFill>
                      <a:srgbClr val="1A0F5C"/>
                    </a:solidFill>
                  </a:tcPr>
                </a:tc>
                <a:tc>
                  <a:txBody>
                    <a:bodyPr/>
                    <a:lstStyle/>
                    <a:p>
                      <a:r>
                        <a:rPr sz="1250" b="1" i="0">
                          <a:solidFill>
                            <a:srgbClr val="FFFFFF"/>
                          </a:solidFill>
                          <a:latin typeface="Calibri"/>
                        </a:rPr>
                        <a:t>The check</a:t>
                      </a:r>
                    </a:p>
                  </a:txBody>
                  <a:tcPr marL="101600" marR="101600" marT="38100" marB="38100" anchor="ctr">
                    <a:solidFill>
                      <a:srgbClr val="1A0F5C"/>
                    </a:solidFill>
                  </a:tcPr>
                </a:tc>
                <a:tc>
                  <a:txBody>
                    <a:bodyPr/>
                    <a:lstStyle/>
                    <a:p>
                      <a:r>
                        <a:rPr sz="1250" b="1" i="0">
                          <a:solidFill>
                            <a:srgbClr val="FFFFFF"/>
                          </a:solidFill>
                          <a:latin typeface="Calibri"/>
                        </a:rPr>
                        <a:t>What it found</a:t>
                      </a:r>
                    </a:p>
                  </a:txBody>
                  <a:tcPr marL="101600" marR="101600" marT="38100" marB="38100" anchor="ctr">
                    <a:solidFill>
                      <a:srgbClr val="1A0F5C"/>
                    </a:solidFill>
                  </a:tcPr>
                </a:tc>
              </a:tr>
              <a:tr h="542544">
                <a:tc>
                  <a:txBody>
                    <a:bodyPr/>
                    <a:lstStyle/>
                    <a:p>
                      <a:r>
                        <a:rPr sz="12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200" b="0" i="0">
                          <a:solidFill>
                            <a:srgbClr val="1A1440"/>
                          </a:solidFill>
                          <a:latin typeface="Calibri"/>
                        </a:rPr>
                        <a:t>Its organic members beside July's cohort</a:t>
                      </a:r>
                    </a:p>
                  </a:txBody>
                  <a:tcPr marL="101600" marR="101600" marT="38100" marB="38100" anchor="ctr">
                    <a:solidFill>
                      <a:srgbClr val="FFFFFF"/>
                    </a:solidFill>
                  </a:tcPr>
                </a:tc>
                <a:tc>
                  <a:txBody>
                    <a:bodyPr/>
                    <a:lstStyle/>
                    <a:p>
                      <a:r>
                        <a:rPr sz="1200" b="0" i="0">
                          <a:solidFill>
                            <a:srgbClr val="1A1440"/>
                          </a:solidFill>
                          <a:latin typeface="Calibri"/>
                        </a:rPr>
                        <a:t>49 against 49 percent; the sale-week members alone sit at 20</a:t>
                      </a:r>
                    </a:p>
                  </a:txBody>
                  <a:tcPr marL="101600" marR="101600" marT="38100" marB="38100" anchor="ctr">
                    <a:solidFill>
                      <a:srgbClr val="FFFFFF"/>
                    </a:solidFill>
                  </a:tcPr>
                </a:tc>
              </a:tr>
              <a:tr h="542544">
                <a:tc>
                  <a:txBody>
                    <a:bodyPr/>
                    <a:lstStyle/>
                    <a:p>
                      <a:r>
                        <a:rPr sz="1200" b="0" i="0">
                          <a:solidFill>
                            <a:srgbClr val="1A1440"/>
                          </a:solidFill>
                          <a:latin typeface="Calibri"/>
                        </a:rPr>
                        <a:t>Censoring: the newest cohorts are young</a:t>
                      </a:r>
                    </a:p>
                  </a:txBody>
                  <a:tcPr marL="101600" marR="101600" marT="38100" marB="38100" anchor="ctr">
                    <a:solidFill>
                      <a:srgbClr val="F4F2FA"/>
                    </a:solidFill>
                  </a:tcPr>
                </a:tc>
                <a:tc>
                  <a:txBody>
                    <a:bodyPr/>
                    <a:lstStyle/>
                    <a:p>
                      <a:r>
                        <a:rPr sz="1200" b="0" i="0">
                          <a:solidFill>
                            <a:srgbClr val="1A1440"/>
                          </a:solidFill>
                          <a:latin typeface="Calibri"/>
                        </a:rPr>
                        <a:t>A member who has not left yet is not retained for ever</a:t>
                      </a:r>
                    </a:p>
                  </a:txBody>
                  <a:tcPr marL="101600" marR="101600" marT="38100" marB="38100" anchor="ctr">
                    <a:solidFill>
                      <a:srgbClr val="F4F2FA"/>
                    </a:solidFill>
                  </a:tcPr>
                </a:tc>
                <a:tc>
                  <a:txBody>
                    <a:bodyPr/>
                    <a:lstStyle/>
                    <a:p>
                      <a:r>
                        <a:rPr sz="1200" b="0" i="0">
                          <a:solidFill>
                            <a:srgbClr val="1A1440"/>
                          </a:solidFill>
                          <a:latin typeface="Calibri"/>
                        </a:rPr>
                        <a:t>Named here; the IITGN faculty session W4-3 (tentative) takes it up</a:t>
                      </a:r>
                    </a:p>
                  </a:txBody>
                  <a:tcPr marL="101600" marR="101600" marT="38100" marB="38100" anchor="ctr">
                    <a:solidFill>
                      <a:srgbClr val="F4F2FA"/>
                    </a:solidFill>
                  </a:tcPr>
                </a:tc>
              </a:tr>
              <a:tr h="542544">
                <a:tc>
                  <a:txBody>
                    <a:bodyPr/>
                    <a:lstStyle/>
                    <a:p>
                      <a:r>
                        <a:rPr sz="12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200" b="0" i="0">
                          <a:solidFill>
                            <a:srgbClr val="1A1440"/>
                          </a:solidFill>
                          <a:latin typeface="Calibri"/>
                        </a:rPr>
                        <a:t>September split by zone</a:t>
                      </a:r>
                    </a:p>
                  </a:txBody>
                  <a:tcPr marL="101600" marR="101600" marT="38100" marB="38100" anchor="ctr">
                    <a:solidFill>
                      <a:srgbClr val="FFFFFF"/>
                    </a:solidFill>
                  </a:tcPr>
                </a:tc>
                <a:tc>
                  <a:txBody>
                    <a:bodyPr/>
                    <a:lstStyle/>
                    <a:p>
                      <a:r>
                        <a:rPr sz="1200" b="0" i="0">
                          <a:solidFill>
                            <a:srgbClr val="1A1440"/>
                          </a:solidFill>
                          <a:latin typeface="Calibri"/>
                        </a:rPr>
                        <a:t>No zone more than 0.9 points from the city</a:t>
                      </a:r>
                    </a:p>
                  </a:txBody>
                  <a:tcPr marL="101600" marR="101600" marT="38100" marB="38100" anchor="ctr">
                    <a:solidFill>
                      <a:srgbClr val="FFFFFF"/>
                    </a:solidFill>
                  </a:tcPr>
                </a:tc>
              </a:tr>
              <a:tr h="542544">
                <a:tc>
                  <a:txBody>
                    <a:bodyPr/>
                    <a:lstStyle/>
                    <a:p>
                      <a:r>
                        <a:rPr sz="12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200" b="0" i="0">
                          <a:solidFill>
                            <a:srgbClr val="1A1440"/>
                          </a:solidFill>
                          <a:latin typeface="Calibri"/>
                        </a:rPr>
                        <a:t>The app team's mapping; the cut moved a week</a:t>
                      </a:r>
                    </a:p>
                  </a:txBody>
                  <a:tcPr marL="101600" marR="101600" marT="38100" marB="38100" anchor="ctr">
                    <a:solidFill>
                      <a:srgbClr val="F4F2FA"/>
                    </a:solidFill>
                  </a:tcPr>
                </a:tc>
                <a:tc>
                  <a:txBody>
                    <a:bodyPr/>
                    <a:lstStyle/>
                    <a:p>
                      <a:r>
                        <a:rPr sz="1200" b="0" i="0">
                          <a:solidFill>
                            <a:srgbClr val="1A1440"/>
                          </a:solidFill>
                          <a:latin typeface="Calibri"/>
                        </a:rPr>
                        <a:t>58 to 47, and 56 to 43: the fall holds</a:t>
                      </a:r>
                    </a:p>
                  </a:txBody>
                  <a:tcPr marL="101600" marR="101600" marT="38100" marB="38100" anchor="ctr">
                    <a:solidFill>
                      <a:srgbClr val="F4F2FA"/>
                    </a:solidFill>
                  </a:tcPr>
                </a:tc>
              </a:tr>
              <a:tr h="335280">
                <a:tc>
                  <a:txBody>
                    <a:bodyPr/>
                    <a:lstStyle/>
                    <a:p>
                      <a:r>
                        <a:rPr sz="1200" b="0" i="0">
                          <a:solidFill>
                            <a:srgbClr val="1A1440"/>
                          </a:solidFill>
                          <a:latin typeface="Calibri"/>
                        </a:rPr>
                        <a:t>Sessions against members</a:t>
                      </a:r>
                    </a:p>
                  </a:txBody>
                  <a:tcPr marL="101600" marR="101600" marT="38100" marB="38100" anchor="ctr">
                    <a:solidFill>
                      <a:srgbClr val="FFFFFF"/>
                    </a:solidFill>
                  </a:tcPr>
                </a:tc>
                <a:tc>
                  <a:txBody>
                    <a:bodyPr/>
                    <a:lstStyle/>
                    <a:p>
                      <a:r>
                        <a:rPr sz="1200" b="0" i="0">
                          <a:solidFill>
                            <a:srgbClr val="1A1440"/>
                          </a:solidFill>
                          <a:latin typeface="Calibri"/>
                        </a:rPr>
                        <a:t>The unit named on every chart</a:t>
                      </a:r>
                    </a:p>
                  </a:txBody>
                  <a:tcPr marL="101600" marR="101600" marT="38100" marB="38100" anchor="ctr">
                    <a:solidFill>
                      <a:srgbClr val="FFFFFF"/>
                    </a:solidFill>
                  </a:tcPr>
                </a:tc>
                <a:tc>
                  <a:txBody>
                    <a:bodyPr/>
                    <a:lstStyle/>
                    <a:p>
                      <a:r>
                        <a:rPr sz="1200" b="0" i="0">
                          <a:solidFill>
                            <a:srgbClr val="1A1440"/>
                          </a:solidFill>
                          <a:latin typeface="Calibri"/>
                        </a:rPr>
                        <a:t>34 per session, 61 per member, both true</a:t>
                      </a:r>
                    </a:p>
                  </a:txBody>
                  <a:tcPr marL="101600" marR="101600" marT="38100" marB="38100" anchor="ctr">
                    <a:solidFill>
                      <a:srgbClr val="FFFFFF"/>
                    </a:solidFill>
                  </a:tcPr>
                </a:tc>
              </a:tr>
              <a:tr h="542544">
                <a:tc>
                  <a:txBody>
                    <a:bodyPr/>
                    <a:lstStyle/>
                    <a:p>
                      <a:r>
                        <a:rPr sz="1200" b="0" i="0">
                          <a:solidFill>
                            <a:srgbClr val="1A1440"/>
                          </a:solidFill>
                          <a:latin typeface="Calibri"/>
                        </a:rPr>
                        <a:t>Before and after is not cause</a:t>
                      </a:r>
                    </a:p>
                  </a:txBody>
                  <a:tcPr marL="101600" marR="101600" marT="38100" marB="38100" anchor="ctr">
                    <a:solidFill>
                      <a:srgbClr val="F4F2FA"/>
                    </a:solidFill>
                  </a:tcPr>
                </a:tc>
                <a:tc>
                  <a:txBody>
                    <a:bodyPr/>
                    <a:lstStyle/>
                    <a:p>
                      <a:r>
                        <a:rPr sz="1200" b="0" i="0">
                          <a:solidFill>
                            <a:srgbClr val="1A1440"/>
                          </a:solidFill>
                          <a:latin typeface="Calibri"/>
                        </a:rPr>
                        <a:t>Zomato Gold's frequency rose about 60 percent after joining</a:t>
                      </a:r>
                    </a:p>
                  </a:txBody>
                  <a:tcPr marL="101600" marR="101600" marT="38100" marB="38100" anchor="ctr">
                    <a:solidFill>
                      <a:srgbClr val="F4F2FA"/>
                    </a:solidFill>
                  </a:tcPr>
                </a:tc>
                <a:tc>
                  <a:txBody>
                    <a:bodyPr/>
                    <a:lstStyle/>
                    <a:p>
                      <a:r>
                        <a:rPr sz="1200" b="0" i="0">
                          <a:solidFill>
                            <a:srgbClr val="1A1440"/>
                          </a:solidFill>
                          <a:latin typeface="Calibri"/>
                        </a:rPr>
                        <a:t>Members choose to join when they expect to order more</a:t>
                      </a:r>
                    </a:p>
                  </a:txBody>
                  <a:tcPr marL="101600" marR="101600" marT="38100" marB="38100" anchor="ctr">
                    <a:solidFill>
                      <a:srgbClr val="F4F2FA"/>
                    </a:solidFill>
                  </a:tcPr>
                </a:tc>
              </a:tr>
            </a:tbl>
          </a:graphicData>
        </a:graphic>
      </p:graphicFrame>
      <p:sp>
        <p:nvSpPr>
          <p:cNvPr id="10" name="TextBox 9"/>
          <p:cNvSpPr txBox="1"/>
          <p:nvPr/>
        </p:nvSpPr>
        <p:spPr>
          <a:xfrm>
            <a:off x="530352" y="5321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963f09591e2cafb8.png"/>
          <p:cNvPicPr>
            <a:picLocks noChangeAspect="1"/>
          </p:cNvPicPr>
          <p:nvPr/>
        </p:nvPicPr>
        <p:blipFill>
          <a:blip r:embed="rId6"/>
          <a:stretch>
            <a:fillRect/>
          </a:stretch>
        </p:blipFill>
        <p:spPr>
          <a:xfrm>
            <a:off x="530352" y="1956816"/>
            <a:ext cx="11130991" cy="1165227"/>
          </a:xfrm>
          <a:prstGeom prst="rect">
            <a:avLst/>
          </a:prstGeom>
        </p:spPr>
      </p:pic>
      <p:sp>
        <p:nvSpPr>
          <p:cNvPr id="10" name="Rounded Rectangle 9"/>
          <p:cNvSpPr/>
          <p:nvPr/>
        </p:nvSpPr>
        <p:spPr>
          <a:xfrm>
            <a:off x="530352" y="326834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963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87219"/>
            <a:ext cx="10564063" cy="6248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22,841 Android member carts in the 17 days after the release; at the old 58 percent, about 1,317 more orders a week, about Rs 5.3 lakh of orders at Rs 400 an order (an assumption, Rs 300 to Rs 500).</a:t>
            </a:r>
          </a:p>
        </p:txBody>
      </p:sp>
      <p:sp>
        <p:nvSpPr>
          <p:cNvPr id="13" name="Rounded Rectangle 12"/>
          <p:cNvSpPr/>
          <p:nvPr/>
        </p:nvSpPr>
        <p:spPr>
          <a:xfrm>
            <a:off x="530352" y="4240659"/>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470243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4812159"/>
            <a:ext cx="237744" cy="237744"/>
          </a:xfrm>
          <a:prstGeom prst="rect">
            <a:avLst/>
          </a:prstGeom>
        </p:spPr>
      </p:pic>
      <p:sp>
        <p:nvSpPr>
          <p:cNvPr id="16" name="TextBox 15"/>
          <p:cNvSpPr txBox="1"/>
          <p:nvPr/>
        </p:nvSpPr>
        <p:spPr>
          <a:xfrm>
            <a:off x="1399031" y="4386963"/>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4606419"/>
            <a:ext cx="9987991" cy="94183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 A "good" retention number does not exist without its definition: Amplitude's 7 percent on day seven is a vendor's top-quarter mark (its blog, checked 12 October 2026).</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