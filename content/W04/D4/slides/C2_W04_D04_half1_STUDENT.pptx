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paid for trips, Tuesday put one denominator on one slide, Wednesday judged</a:t>
            </a:r>
          </a:p>
          <a:p>
            <a:r>
              <a:t>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The order is Aced's (T2): rule</a:t>
            </a:r>
          </a:p>
          <a:p>
            <a:r>
              <a:t>out data issues first, then the definition, then segments.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real members of the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folds four sale-week members who did</a:t>
            </a:r>
          </a:p>
          <a:p>
            <a:r>
              <a:t>not order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a:t>
            </a:r>
          </a:p>
          <a:p>
            <a:r>
              <a:t>https://www.swiggy.com/corporate/wp-content/uploads/2025/10/Q2-FY2026-Shareholder-letter.pdf (checked 12 October 2026)</a:t>
            </a:r>
          </a:p>
          <a:p>
            <a:r>
              <a:t>LIVE, 6 minutes. Two decisions to read. Eternal shows the customer number and the spend number side</a:t>
            </a:r>
          </a:p>
          <a:p>
            <a:r>
              <a:t>by side, and they disagree by a factor of three because the denominators differ: 150 percent is</a:t>
            </a:r>
          </a:p>
          <a:p>
            <a:r>
              <a:t>possible because survivors spend more. Swiggy weaned away weak users, which lifts every later column</a:t>
            </a:r>
          </a:p>
          <a:p>
            <a:r>
              <a:t>of its table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age as the gap in months, active as at least one</a:t>
            </a:r>
          </a:p>
          <a:p>
            <a:r>
              <a:t>order, one pivot_table with cohorts on the rows and ages on the columns; each cell is a mean of</a:t>
            </a:r>
          </a:p>
          <a:p>
            <a:r>
              <a:t>True and 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Then the tracking check from the hypothesis board: the</a:t>
            </a:r>
          </a:p>
          <a:p>
            <a:r>
              <a:t>release renamed one Android event and the app team mapped it, and the fall holds with the date</a:t>
            </a:r>
          </a:p>
          <a:p>
            <a:r>
              <a:t>moved a week either way, so it is behaviour, not counting. The tracking cause is struck.</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Strike the last</a:t>
            </a:r>
          </a:p>
          <a:p>
            <a:r>
              <a:t>lines 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3489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by cohort,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Rounded Rectangle 9"/>
          <p:cNvSpPr/>
          <p:nvPr/>
        </p:nvSpPr>
        <p:spPr>
          <a:xfrm>
            <a:off x="530352" y="426720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9521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86072"/>
            <a:ext cx="10564063" cy="9804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members (53,089 rows: signup date, cohort month, signup channel, zone), member_months (orders per member per month since joining), events (every app session in August and September, one row per stage, with platform and checkout version; Gold members and 4,000 non-members for comparison). </a:t>
            </a:r>
            <a:r>
              <a:rPr sz="1000" b="1" i="0">
                <a:solidFill>
                  <a:srgbClr val="1A1440"/>
                </a:solidFill>
                <a:latin typeface="Calibri"/>
              </a:rPr>
              <a:t>The ask, due Friday.</a:t>
            </a:r>
            <a:r>
              <a:rPr sz="1000" b="0" i="0">
                <a:solidFill>
                  <a:srgbClr val="1A1440"/>
                </a:solidFill>
                <a:latin typeface="Calibri"/>
              </a:rPr>
              <a:t> Cohort problem or everyone problem; which funnel stage owns the loss; what to fix first, with the evidence. </a:t>
            </a:r>
            <a:r>
              <a:rPr sz="1000" b="1" i="0">
                <a:solidFill>
                  <a:srgbClr val="1A1440"/>
                </a:solidFill>
                <a:latin typeface="Calibri"/>
              </a:rPr>
              <a:t>Known caveats.</a:t>
            </a:r>
            <a:r>
              <a:rPr sz="10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3" name="Rounded Rectangle 12"/>
          <p:cNvSpPr/>
          <p:nvPr/>
        </p:nvSpPr>
        <p:spPr>
          <a:xfrm>
            <a:off x="530352" y="559511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72312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71398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8" name="Oval 1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aa40ab7e0a74e288.png"/>
          <p:cNvPicPr>
            <a:picLocks noChangeAspect="1"/>
          </p:cNvPicPr>
          <p:nvPr/>
        </p:nvPicPr>
        <p:blipFill>
          <a:blip r:embed="rId5"/>
          <a:stretch>
            <a:fillRect/>
          </a:stretch>
        </p:blipFill>
        <p:spPr>
          <a:xfrm>
            <a:off x="1189523" y="1682496"/>
            <a:ext cx="981264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"It is both, and they need different fixes. The dashboard reads 38 because it averages cohorts on a slow slide and has not yet counted the 13,000-member August cohort, whose sale-week members kept 20 percent in month one; when that cohort enters in October, the dashboard drops to about 33. The order loss sits in one step, checkout start to order placed, for members on Android since the 14 September release: 72.5 to 55 percent, about 1,317 orders a week. Fix the Android checkout first, and judge the next sale's members on their own curve before buying another sale."</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in that sentence is earned in order: by hand on twelve members, on all 53,089, then on 1,386,235 app events.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app team's event mapping, and the release date moved a week either way</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at each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Every cohort in the same calendar month, split by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Twelve real members,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a real company's chart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real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3943645"/>
                <a:gridCol w="914400"/>
                <a:gridCol w="2615346"/>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to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 (four)</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Batch A of 100 stood at 50 percent; now A is at 40 and a new batch B of 400 arrives at 52.5 percent. What does the blend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every batch shrinks?</a:t>
            </a:r>
          </a:p>
        </p:txBody>
      </p:sp>
      <p:pic>
        <p:nvPicPr>
          <p:cNvPr id="9" name="mermaid diagram" descr="C2_W04_D04_toy_blend_STUDENT.png"/>
          <p:cNvPicPr>
            <a:picLocks noChangeAspect="1"/>
          </p:cNvPicPr>
          <p:nvPr/>
        </p:nvPicPr>
        <p:blipFill>
          <a:blip r:embed="rId4"/>
          <a:stretch>
            <a:fillRect/>
          </a:stretch>
        </p:blipFill>
        <p:spPr>
          <a:xfrm>
            <a:off x="2627327" y="1664208"/>
            <a:ext cx="693704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every batch falls with age.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spend</a:t>
            </a:r>
          </a:p>
        </p:txBody>
      </p:sp>
      <p:sp>
        <p:nvSpPr>
          <p:cNvPr id="14" name="TextBox 13"/>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Q4 retention averaged 46 percent across cohorts and every successive cohort improved; NOV retention, the net value of a cohort's orders against its first quarter, was 150 percent at Q4 and 279 percent at Q12, because the customers who stay spend more</a:t>
            </a:r>
          </a:p>
        </p:txBody>
      </p:sp>
      <p:sp>
        <p:nvSpPr>
          <p:cNvPr id="15" name="Rounded Rectangle 14"/>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cohort table, indexed to one cohort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Spend by cohort indexed to the Q4 FY24 cohort's first quarter; Swiggy says it weaned away users with low expected lifetime value, so ask whether a column is per acquired user or per user who stayed</a:t>
            </a:r>
          </a:p>
        </p:txBody>
      </p:sp>
      <p:sp>
        <p:nvSpPr>
          <p:cNvPr id="21" name="TextBox 20"/>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912424"/>
            <a:ext cx="11130991" cy="1243975"/>
          </a:xfrm>
          <a:prstGeom prst="rect">
            <a:avLst/>
          </a:prstGeom>
        </p:spPr>
      </p:pic>
      <p:sp>
        <p:nvSpPr>
          <p:cNvPr id="10" name="Rounded Rectangle 9"/>
          <p:cNvSpPr/>
          <p:nvPr/>
        </p:nvSpPr>
        <p:spPr>
          <a:xfrm>
            <a:off x="530352" y="330270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6447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874203"/>
            <a:ext cx="237744" cy="237744"/>
          </a:xfrm>
          <a:prstGeom prst="rect">
            <a:avLst/>
          </a:prstGeom>
        </p:spPr>
      </p:pic>
      <p:sp>
        <p:nvSpPr>
          <p:cNvPr id="13" name="TextBox 12"/>
          <p:cNvSpPr txBox="1"/>
          <p:nvPr/>
        </p:nvSpPr>
        <p:spPr>
          <a:xfrm>
            <a:off x="1399031" y="344900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68463"/>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8480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27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89999"/>
            <a:ext cx="237744" cy="237744"/>
          </a:xfrm>
          <a:prstGeom prst="rect">
            <a:avLst/>
          </a:prstGeom>
        </p:spPr>
      </p:pic>
      <p:sp>
        <p:nvSpPr>
          <p:cNvPr id="18" name="TextBox 17"/>
          <p:cNvSpPr txBox="1"/>
          <p:nvPr/>
        </p:nvSpPr>
        <p:spPr>
          <a:xfrm>
            <a:off x="1399031" y="499434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799"/>
            <a:ext cx="9987991" cy="682752"/>
          </a:xfrm>
          <a:prstGeom prst="rect">
            <a:avLst/>
          </a:prstGeom>
          <a:noFill/>
        </p:spPr>
        <p:txBody>
          <a:bodyPr wrap="square" anchor="t" lIns="0" rIns="0" tIns="0" bIns="0">
            <a:spAutoFit/>
          </a:bodyPr>
          <a:lstStyle/>
          <a:p>
            <a:r>
              <a:rPr sz="1500" b="0" i="0">
                <a:solidFill>
                  <a:srgbClr val="1A1440"/>
                </a:solidFill>
                <a:latin typeface="Calibri"/>
              </a:rPr>
              <a:t>[F] Blended retention is flat while every cohort declines; how? The mix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to_n = lambda s: s.str[:4].astype(int) * 12 + s.str[5:].astype(int)</a:t>
            </a:r>
          </a:p>
          <a:p>
            <a:pPr>
              <a:spcAft>
                <a:spcPts val="200"/>
              </a:spcAft>
            </a:pPr>
            <a:r>
              <a:rPr sz="1400" b="0" i="0">
                <a:solidFill>
                  <a:srgbClr val="E4E1F1"/>
                </a:solidFill>
                <a:latin typeface="Consolas"/>
              </a:rPr>
              <a:t>mm["age"] = to_n(mm["month"]) - to_n(mm["cohort_month"])   # month zero is the joining month</a:t>
            </a:r>
          </a:p>
          <a:p>
            <a:pPr>
              <a:spcAft>
                <a:spcPts val="200"/>
              </a:spcAft>
            </a:pPr>
            <a:r>
              <a:rPr sz="1400" b="0" i="0">
                <a:solidFill>
                  <a:srgbClr val="E4E1F1"/>
                </a:solidFill>
                <a:latin typeface="Consolas"/>
              </a:rPr>
              <a:t>mm["active"] = mm["orders"] &gt; 0</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38409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398769" y="1664208"/>
            <a:ext cx="739415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and slides about 0.3 points a month after. Month one falls from 58 percent for January to 49 for July, and the 13,000-member August cohort sits at 31.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878330"/>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34010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449830"/>
            <a:ext cx="237744" cy="237744"/>
          </a:xfrm>
          <a:prstGeom prst="rect">
            <a:avLst/>
          </a:prstGeom>
        </p:spPr>
      </p:pic>
      <p:sp>
        <p:nvSpPr>
          <p:cNvPr id="12" name="TextBox 11"/>
          <p:cNvSpPr txBox="1"/>
          <p:nvPr/>
        </p:nvSpPr>
        <p:spPr>
          <a:xfrm>
            <a:off x="1399031" y="20246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244090"/>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42366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55168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542538"/>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66267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79069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78155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monthly transacting users rose 27.4 percent while orders per user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newest cohorts sit highest and the oldest lowest: the youngest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127487" y="1664208"/>
            <a:ext cx="793672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Split by how they joined, the 4,973 organic August members kept 49 percent in month one, July's rate; the 8,027 sale-week members kept 20. In October the whole August cohort enters the dashboard; if it falls from month one to month two as July's did, 31 to about 20.5 percent, the dashboard drops to about 33 percent (32 to 34 if it enters anywhere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Checkout to order, the last step</a:t>
            </a:r>
          </a:p>
          <a:p>
            <a:pPr>
              <a:spcAft>
                <a:spcPts val="800"/>
              </a:spcAft>
            </a:pPr>
            <a:r>
              <a:rPr sz="1600" b="0" i="0">
                <a:solidFill>
                  <a:srgbClr val="1A1440"/>
                </a:solidFill>
                <a:latin typeface="Calibri"/>
              </a:rPr>
              <a:t>d) None can be named until each step is read in one unit and split by platform and date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4b4cc8b3531b7148.png"/>
          <p:cNvPicPr>
            <a:picLocks noChangeAspect="1"/>
          </p:cNvPicPr>
          <p:nvPr/>
        </p:nvPicPr>
        <p:blipFill>
          <a:blip r:embed="rId5"/>
          <a:stretch>
            <a:fillRect/>
          </a:stretch>
        </p:blipFill>
        <p:spPr>
          <a:xfrm>
            <a:off x="530352" y="1956816"/>
            <a:ext cx="11130991" cy="759497"/>
          </a:xfrm>
          <a:prstGeom prst="rect">
            <a:avLst/>
          </a:prstGeom>
        </p:spPr>
      </p:pic>
      <p:sp>
        <p:nvSpPr>
          <p:cNvPr id="10" name="TextBox 9"/>
          <p:cNvSpPr txBox="1"/>
          <p:nvPr/>
        </p:nvSpPr>
        <p:spPr>
          <a:xfrm>
            <a:off x="530352" y="286261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(a toy, invented). If those 10 checkouts came from 50 sessions of 20 people, checkout is 10 of 50 per session and 10 of 20 per person.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239204"/>
                <a:gridCol w="1891786"/>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Menu views with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Of the sessions that searched, the share that opened a menu</a:t>
                      </a:r>
                    </a:p>
                  </a:txBody>
                  <a:tcPr marL="101600" marR="101600" marT="38100" marB="38100" anchor="ctr">
                    <a:solidFill>
                      <a:srgbClr val="F4F2FA"/>
                    </a:solidFill>
                  </a:tcPr>
                </a:tc>
                <a:tc>
                  <a:txBody>
                    <a:bodyPr/>
                    <a:lstStyle/>
                    <a:p>
                      <a:r>
                        <a:rPr sz="1400" b="0" i="0">
                          <a:solidFill>
                            <a:srgbClr val="1A1440"/>
                          </a:solidFill>
                          <a:latin typeface="Calibri"/>
                        </a:rPr>
                        <a:t>89 percent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351950" y="1664208"/>
            <a:ext cx="748779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Per member, search to menu view still reads 101 percent: counting members shrinks the artefact and leaves it in place.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2753878" y="1664208"/>
            <a:ext cx="668393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breaking in the release week and in no week before it. Members on iOS: 57 to 56. Non-members on Android: 52 to 51. Moving the cut a week either way keeps the fall: 58 to 47 with the cut on 7 September, 56 to 43 with it on 21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2838136" y="1664208"/>
            <a:ext cx="65154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The app team's chart, carts that start checkout on every platform, reads 80 percent flat: true, and it measures the step that did not break. Only members fell, so the place to look is something in the new flow that only members see.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things the data cannot show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383280"/>
        </p:xfrm>
        <a:graphic>
          <a:graphicData uri="http://schemas.openxmlformats.org/drawingml/2006/table">
            <a:tbl>
              <a:tblPr firstRow="0" bandRow="0">
                <a:tableStyleId>{2D5ABB26-0587-4C30-8999-92F81FD0307C}</a:tableStyleId>
              </a:tblPr>
              <a:tblGrid>
                <a:gridCol w="3710330"/>
                <a:gridCol w="3710330"/>
                <a:gridCol w="3710330"/>
              </a:tblGrid>
              <a:tr h="335280">
                <a:tc>
                  <a:txBody>
                    <a:bodyPr/>
                    <a:lstStyle/>
                    <a:p>
                      <a:r>
                        <a:rPr sz="1250" b="1" i="0">
                          <a:solidFill>
                            <a:srgbClr val="FFFFFF"/>
                          </a:solidFill>
                          <a:latin typeface="Calibri"/>
                        </a:rPr>
                        <a:t>Caveat</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What it found</a:t>
                      </a:r>
                    </a:p>
                  </a:txBody>
                  <a:tcPr marL="101600" marR="101600" marT="38100" marB="38100" anchor="ctr">
                    <a:solidFill>
                      <a:srgbClr val="1A0F5C"/>
                    </a:solidFill>
                  </a:tcPr>
                </a:tc>
              </a:tr>
              <a:tr h="542544">
                <a:tc>
                  <a:txBody>
                    <a:bodyPr/>
                    <a:lstStyle/>
                    <a:p>
                      <a:r>
                        <a:rPr sz="12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200" b="0" i="0">
                          <a:solidFill>
                            <a:srgbClr val="1A1440"/>
                          </a:solidFill>
                          <a:latin typeface="Calibri"/>
                        </a:rPr>
                        <a:t>Its organic members beside July's cohort</a:t>
                      </a:r>
                    </a:p>
                  </a:txBody>
                  <a:tcPr marL="101600" marR="101600" marT="38100" marB="38100" anchor="ctr">
                    <a:solidFill>
                      <a:srgbClr val="FFFFFF"/>
                    </a:solidFill>
                  </a:tcPr>
                </a:tc>
                <a:tc>
                  <a:txBody>
                    <a:bodyPr/>
                    <a:lstStyle/>
                    <a:p>
                      <a:r>
                        <a:rPr sz="1200" b="0" i="0">
                          <a:solidFill>
                            <a:srgbClr val="1A1440"/>
                          </a:solidFill>
                          <a:latin typeface="Calibri"/>
                        </a:rPr>
                        <a:t>49 against 49 percent; the sale-week members alone sit at 20</a:t>
                      </a:r>
                    </a:p>
                  </a:txBody>
                  <a:tcPr marL="101600" marR="101600" marT="38100" marB="38100" anchor="ctr">
                    <a:solidFill>
                      <a:srgbClr val="FFFFFF"/>
                    </a:solidFill>
                  </a:tcPr>
                </a:tc>
              </a:tr>
              <a:tr h="542544">
                <a:tc>
                  <a:txBody>
                    <a:bodyPr/>
                    <a:lstStyle/>
                    <a:p>
                      <a:r>
                        <a:rPr sz="1200" b="0" i="0">
                          <a:solidFill>
                            <a:srgbClr val="1A1440"/>
                          </a:solidFill>
                          <a:latin typeface="Calibri"/>
                        </a:rPr>
                        <a:t>Censoring: the newest cohorts are young</a:t>
                      </a:r>
                    </a:p>
                  </a:txBody>
                  <a:tcPr marL="101600" marR="101600" marT="38100" marB="38100" anchor="ctr">
                    <a:solidFill>
                      <a:srgbClr val="F4F2FA"/>
                    </a:solidFill>
                  </a:tcPr>
                </a:tc>
                <a:tc>
                  <a:txBody>
                    <a:bodyPr/>
                    <a:lstStyle/>
                    <a:p>
                      <a:r>
                        <a:rPr sz="1200" b="0" i="0">
                          <a:solidFill>
                            <a:srgbClr val="1A1440"/>
                          </a:solidFill>
                          <a:latin typeface="Calibri"/>
                        </a:rPr>
                        <a:t>A member who has not left yet is not retained for ever</a:t>
                      </a:r>
                    </a:p>
                  </a:txBody>
                  <a:tcPr marL="101600" marR="101600" marT="38100" marB="38100" anchor="ctr">
                    <a:solidFill>
                      <a:srgbClr val="F4F2FA"/>
                    </a:solidFill>
                  </a:tcPr>
                </a:tc>
                <a:tc>
                  <a:txBody>
                    <a:bodyPr/>
                    <a:lstStyle/>
                    <a:p>
                      <a:r>
                        <a:rPr sz="1200" b="0" i="0">
                          <a:solidFill>
                            <a:srgbClr val="1A1440"/>
                          </a:solidFill>
                          <a:latin typeface="Calibri"/>
                        </a:rPr>
                        <a:t>Named here; the IITGN faculty session W4-3 (tentative) takes it up</a:t>
                      </a:r>
                    </a:p>
                  </a:txBody>
                  <a:tcPr marL="101600" marR="101600" marT="38100" marB="38100" anchor="ctr">
                    <a:solidFill>
                      <a:srgbClr val="F4F2FA"/>
                    </a:solidFill>
                  </a:tcPr>
                </a:tc>
              </a:tr>
              <a:tr h="542544">
                <a:tc>
                  <a:txBody>
                    <a:bodyPr/>
                    <a:lstStyle/>
                    <a:p>
                      <a:r>
                        <a:rPr sz="12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200" b="0" i="0">
                          <a:solidFill>
                            <a:srgbClr val="1A1440"/>
                          </a:solidFill>
                          <a:latin typeface="Calibri"/>
                        </a:rPr>
                        <a:t>September split by zone</a:t>
                      </a:r>
                    </a:p>
                  </a:txBody>
                  <a:tcPr marL="101600" marR="101600" marT="38100" marB="38100" anchor="ctr">
                    <a:solidFill>
                      <a:srgbClr val="FFFFFF"/>
                    </a:solidFill>
                  </a:tcPr>
                </a:tc>
                <a:tc>
                  <a:txBody>
                    <a:bodyPr/>
                    <a:lstStyle/>
                    <a:p>
                      <a:r>
                        <a:rPr sz="1200" b="0" i="0">
                          <a:solidFill>
                            <a:srgbClr val="1A1440"/>
                          </a:solidFill>
                          <a:latin typeface="Calibri"/>
                        </a:rPr>
                        <a:t>No zone more than 0.9 points from the city</a:t>
                      </a:r>
                    </a:p>
                  </a:txBody>
                  <a:tcPr marL="101600" marR="101600" marT="38100" marB="38100" anchor="ctr">
                    <a:solidFill>
                      <a:srgbClr val="FFFFFF"/>
                    </a:solidFill>
                  </a:tcPr>
                </a:tc>
              </a:tr>
              <a:tr h="542544">
                <a:tc>
                  <a:txBody>
                    <a:bodyPr/>
                    <a:lstStyle/>
                    <a:p>
                      <a:r>
                        <a:rPr sz="12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200" b="0" i="0">
                          <a:solidFill>
                            <a:srgbClr val="1A1440"/>
                          </a:solidFill>
                          <a:latin typeface="Calibri"/>
                        </a:rPr>
                        <a:t>The app team's mapping; the cut moved a week</a:t>
                      </a:r>
                    </a:p>
                  </a:txBody>
                  <a:tcPr marL="101600" marR="101600" marT="38100" marB="38100" anchor="ctr">
                    <a:solidFill>
                      <a:srgbClr val="F4F2FA"/>
                    </a:solidFill>
                  </a:tcPr>
                </a:tc>
                <a:tc>
                  <a:txBody>
                    <a:bodyPr/>
                    <a:lstStyle/>
                    <a:p>
                      <a:r>
                        <a:rPr sz="1200" b="0" i="0">
                          <a:solidFill>
                            <a:srgbClr val="1A1440"/>
                          </a:solidFill>
                          <a:latin typeface="Calibri"/>
                        </a:rPr>
                        <a:t>58 to 47, and 56 to 43: the fall holds</a:t>
                      </a:r>
                    </a:p>
                  </a:txBody>
                  <a:tcPr marL="101600" marR="101600" marT="38100" marB="38100" anchor="ctr">
                    <a:solidFill>
                      <a:srgbClr val="F4F2FA"/>
                    </a:solidFill>
                  </a:tcPr>
                </a:tc>
              </a:tr>
              <a:tr h="335280">
                <a:tc>
                  <a:txBody>
                    <a:bodyPr/>
                    <a:lstStyle/>
                    <a:p>
                      <a:r>
                        <a:rPr sz="1200" b="0" i="0">
                          <a:solidFill>
                            <a:srgbClr val="1A1440"/>
                          </a:solidFill>
                          <a:latin typeface="Calibri"/>
                        </a:rPr>
                        <a:t>Sessions against members</a:t>
                      </a:r>
                    </a:p>
                  </a:txBody>
                  <a:tcPr marL="101600" marR="101600" marT="38100" marB="38100" anchor="ctr">
                    <a:solidFill>
                      <a:srgbClr val="FFFFFF"/>
                    </a:solidFill>
                  </a:tcPr>
                </a:tc>
                <a:tc>
                  <a:txBody>
                    <a:bodyPr/>
                    <a:lstStyle/>
                    <a:p>
                      <a:r>
                        <a:rPr sz="1200" b="0" i="0">
                          <a:solidFill>
                            <a:srgbClr val="1A1440"/>
                          </a:solidFill>
                          <a:latin typeface="Calibri"/>
                        </a:rPr>
                        <a:t>The unit named on every chart</a:t>
                      </a:r>
                    </a:p>
                  </a:txBody>
                  <a:tcPr marL="101600" marR="101600" marT="38100" marB="38100" anchor="ctr">
                    <a:solidFill>
                      <a:srgbClr val="FFFFFF"/>
                    </a:solidFill>
                  </a:tcPr>
                </a:tc>
                <a:tc>
                  <a:txBody>
                    <a:bodyPr/>
                    <a:lstStyle/>
                    <a:p>
                      <a:r>
                        <a:rPr sz="1200" b="0" i="0">
                          <a:solidFill>
                            <a:srgbClr val="1A1440"/>
                          </a:solidFill>
                          <a:latin typeface="Calibri"/>
                        </a:rPr>
                        <a:t>34 per session, 61 per member, both true</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 is not cause</a:t>
                      </a:r>
                    </a:p>
                  </a:txBody>
                  <a:tcPr marL="101600" marR="101600" marT="38100" marB="38100" anchor="ctr">
                    <a:solidFill>
                      <a:srgbClr val="F4F2FA"/>
                    </a:solidFill>
                  </a:tcPr>
                </a:tc>
                <a:tc>
                  <a:txBody>
                    <a:bodyPr/>
                    <a:lstStyle/>
                    <a:p>
                      <a:r>
                        <a:rPr sz="1200" b="0" i="0">
                          <a:solidFill>
                            <a:srgbClr val="1A1440"/>
                          </a:solidFill>
                          <a:latin typeface="Calibri"/>
                        </a:rPr>
                        <a:t>Zomato Gold's frequency rose about 60 percent after joining</a:t>
                      </a:r>
                    </a:p>
                  </a:txBody>
                  <a:tcPr marL="101600" marR="101600" marT="38100" marB="38100" anchor="ctr">
                    <a:solidFill>
                      <a:srgbClr val="F4F2FA"/>
                    </a:solidFill>
                  </a:tcPr>
                </a:tc>
                <a:tc>
                  <a:txBody>
                    <a:bodyPr/>
                    <a:lstStyle/>
                    <a:p>
                      <a:r>
                        <a:rPr sz="1200" b="0" i="0">
                          <a:solidFill>
                            <a:srgbClr val="1A1440"/>
                          </a:solidFill>
                          <a:latin typeface="Calibri"/>
                        </a:rPr>
                        <a:t>Members choose to join when they expect to order more</a:t>
                      </a:r>
                    </a:p>
                  </a:txBody>
                  <a:tcPr marL="101600" marR="101600" marT="38100" marB="38100" anchor="ctr">
                    <a:solidFill>
                      <a:srgbClr val="F4F2FA"/>
                    </a:solidFill>
                  </a:tcPr>
                </a:tc>
              </a:tr>
            </a:tbl>
          </a:graphicData>
        </a:graphic>
      </p:graphicFrame>
      <p:sp>
        <p:nvSpPr>
          <p:cNvPr id="10" name="TextBox 9"/>
          <p:cNvSpPr txBox="1"/>
          <p:nvPr/>
        </p:nvSpPr>
        <p:spPr>
          <a:xfrm>
            <a:off x="530352" y="5321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963f09591e2cafb8.png"/>
          <p:cNvPicPr>
            <a:picLocks noChangeAspect="1"/>
          </p:cNvPicPr>
          <p:nvPr/>
        </p:nvPicPr>
        <p:blipFill>
          <a:blip r:embed="rId6"/>
          <a:stretch>
            <a:fillRect/>
          </a:stretch>
        </p:blipFill>
        <p:spPr>
          <a:xfrm>
            <a:off x="530352" y="1956816"/>
            <a:ext cx="11130991" cy="1165227"/>
          </a:xfrm>
          <a:prstGeom prst="rect">
            <a:avLst/>
          </a:prstGeom>
        </p:spPr>
      </p:pic>
      <p:sp>
        <p:nvSpPr>
          <p:cNvPr id="10" name="Rounded Rectangle 9"/>
          <p:cNvSpPr/>
          <p:nvPr/>
        </p:nvSpPr>
        <p:spPr>
          <a:xfrm>
            <a:off x="530352" y="32683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963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87219"/>
            <a:ext cx="10564063" cy="6248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22,841 Android member carts in the 17 days after the release; at the old 58 percent, about 1,317 more orders a week, about Rs 5.3 lakh of orders at Rs 400 an order (an assumption, Rs 300 to Rs 500).</a:t>
            </a:r>
          </a:p>
        </p:txBody>
      </p:sp>
      <p:sp>
        <p:nvSpPr>
          <p:cNvPr id="13" name="Rounded Rectangle 12"/>
          <p:cNvSpPr/>
          <p:nvPr/>
        </p:nvSpPr>
        <p:spPr>
          <a:xfrm>
            <a:off x="530352" y="424065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47024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4812159"/>
            <a:ext cx="237744" cy="237744"/>
          </a:xfrm>
          <a:prstGeom prst="rect">
            <a:avLst/>
          </a:prstGeom>
        </p:spPr>
      </p:pic>
      <p:sp>
        <p:nvSpPr>
          <p:cNvPr id="16" name="TextBox 15"/>
          <p:cNvSpPr txBox="1"/>
          <p:nvPr/>
        </p:nvSpPr>
        <p:spPr>
          <a:xfrm>
            <a:off x="1399031" y="43869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4606419"/>
            <a:ext cx="9987991" cy="94183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 A "good" retention number does not exist without its definition: Amplitude's 7 percent on day seven is a vendor's top-quarter mark (its blog, checked 12 October 2026).</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