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for Gold's free delivery: Zomato's shareholder letter of 19 May 2023,</a:t>
            </a:r>
          </a:p>
          <a:p>
            <a:r>
              <a:t>https://www.bseindia.com/xml-data/corpfiling/AttachHis/42b3bf3b-1edb-4da7-849a-87ca9da27ff8.pdf (checked 12 October 2026)</a:t>
            </a:r>
          </a:p>
          <a:p>
            <a:r>
              <a:t>LIVE, 4 minutes. Say the label line aloud first: the company is real, the situation and the data are</a:t>
            </a:r>
          </a:p>
          <a:p>
            <a:r>
              <a:t>synthetic. The morning climbs three chapters: who joined when (counted by hand), what the</a:t>
            </a:r>
          </a:p>
          <a:p>
            <a:r>
              <a:t>dashboard's 38 is made of (all 53,089 members), and which step owns the loss; the afternoon's first</a:t>
            </a:r>
          </a:p>
          <a:p>
            <a:r>
              <a:t>60 minutes make the fix-first call and read the interview.</a:t>
            </a:r>
          </a:p>
          <a:p>
            <a:r>
              <a:t>Read the table top to bottom. Define month-two retention in one breath: the share</a:t>
            </a:r>
          </a:p>
          <a:p>
            <a:r>
              <a:t>of members two or more months past their signup month who ordered in the month. Point at the gap:</a:t>
            </a:r>
          </a:p>
          <a:p>
            <a:r>
              <a:t>the dashboard is flat, every cohort's month one is lower than the one before, and August's 31 sits</a:t>
            </a:r>
          </a:p>
          <a:p>
            <a:r>
              <a:t>far below. Ask which number the membership lead would put on Monday's slide; most say the 38.</a:t>
            </a:r>
          </a:p>
          <a:p>
            <a:r>
              <a:t>Transition: where Thursday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Monday asked whether the number paid for measures what is wanted, Tuesday put</a:t>
            </a:r>
          </a:p>
          <a:p>
            <a:r>
              <a:t>one denominator on one slide, Wednesday judged a pair against chance. Thursday judges a cohort against the blend. Friday stays dashed. The</a:t>
            </a:r>
          </a:p>
          <a:p>
            <a:r>
              <a:t>explorer's home screen draws the same map (day control: Thu).</a:t>
            </a:r>
          </a:p>
          <a:p>
            <a:r>
              <a:t>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it once and move on; nothing to write. The room earns each clause in order.</a:t>
            </a:r>
          </a:p>
          <a:p>
            <a:r>
              <a:t>Transition: the hypothesis board, before any data opens.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groups write their own ordered list first, with the test each cause needs,</a:t>
            </a:r>
          </a:p>
          <a:p>
            <a:r>
              <a:t>on the hypothesis board template; then show this ladder. It runs in the order a careful analyst</a:t>
            </a:r>
          </a:p>
          <a:p>
            <a:r>
              <a:t>checks: the count, the rule, the cohorts, everyone, then the stage. Rows 3 and 4 read the same table</a:t>
            </a:r>
          </a:p>
          <a:p>
            <a:r>
              <a:t>two ways: cohorts compared at the same age for strength, one calendar month read across them for a</a:t>
            </a:r>
          </a:p>
          <a:p>
            <a:r>
              <a:t>shock that hit everyone. Each chapter's reveal strikes or confirms</a:t>
            </a:r>
          </a:p>
          <a:p>
            <a:r>
              <a:t>a line; keep the board up all morning.</a:t>
            </a:r>
          </a:p>
          <a:p>
            <a:r>
              <a:t>Transition: chapter 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50 minutes. Laptops closed until the end of the chapter; the twelve-row card is on every</a:t>
            </a:r>
          </a:p>
          <a:p>
            <a:r>
              <a:t>table. Styles: Brilliant (a question before the explanation), StatQuest (tiny counts aloud),</a:t>
            </a:r>
          </a:p>
          <a:p>
            <a:r>
              <a:t>Veritasium (predict, then reveal), the case method (Blinkit's and Swiggy's own cohort charts).</a:t>
            </a:r>
          </a:p>
          <a:p>
            <a:r>
              <a:t>Explorer scenes Th2 and Th1. Notebook 01 reproduces every count.</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each is answered with a count before the next is asked.</a:t>
            </a:r>
          </a:p>
          <a:p>
            <a:r>
              <a:t>Transition: the first toy.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Count the dots aloud: six, four, ten of twenty. Ask: if the centre only ever</a:t>
            </a:r>
          </a:p>
          <a:p>
            <a:r>
              <a:t>printed "50 percent", which batch would it worry about? Neither, because the average names neither.</a:t>
            </a:r>
          </a:p>
          <a:p>
            <a:r>
              <a:t>The toy is invented (R1); say so.</a:t>
            </a:r>
          </a:p>
          <a:p>
            <a:r>
              <a:t>Transition: twelve members of the case data.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Hand out the card if it is not on the tables. Read one row aloud: ZG21052 joined</a:t>
            </a:r>
          </a:p>
          <a:p>
            <a:r>
              <a:t>in May, ordered in June and July, then stopped. The last line holds the five sale-week members,</a:t>
            </a:r>
          </a:p>
          <a:p>
            <a:r>
              <a:t>named one by one, none of whom ordered in September. Ask each table to rewrite the card by months since joining instead of by</a:t>
            </a:r>
          </a:p>
          <a:p>
            <a:r>
              <a:t>calendar month before the next slide.</a:t>
            </a:r>
          </a:p>
          <a:p>
            <a:r>
              <a:t>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first, in writing, then pairs argue for one minute and vote again (peer</a:t>
            </a:r>
          </a:p>
          <a:p>
            <a:r>
              <a:t>instruction). Expect some c from tables that read September's column, where August's month one</a:t>
            </a:r>
          </a:p>
          <a:p>
            <a:r>
              <a:t>sits beside May's month four.</a:t>
            </a:r>
          </a:p>
          <a:p>
            <a:r>
              <a:t>Transition: the count.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Count May's row aloud: three ordered in month one, two in month two, one in three</a:t>
            </a:r>
          </a:p>
          <a:p>
            <a:r>
              <a:t>and four. Then June's, then August's. Say the definition of a cohort only now, after the room has</a:t>
            </a:r>
          </a:p>
          <a:p>
            <a:r>
              <a:t>built one. Watch for anyone comparing groups in the same calendar month: in September, the sale</a:t>
            </a:r>
          </a:p>
          <a:p>
            <a:r>
              <a:t>member's month one sits beside May's month four, which is why the age column, not the calendar</a:t>
            </a:r>
          </a:p>
          <a:p>
            <a:r>
              <a:t>column, is the fair comparison.</a:t>
            </a:r>
          </a:p>
          <a:p>
            <a:r>
              <a:t>Transition: what the dashboard does with the same card.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Remind the rule: in a reporting month, count every member two or more months past</a:t>
            </a:r>
          </a:p>
          <a:p>
            <a:r>
              <a:t>her joining month, and ask what share ordered. Vote, argue, vote again.</a:t>
            </a:r>
          </a:p>
          <a:p>
            <a:r>
              <a:t>Transition: the count, both ways.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Ring the two 2-of-7 cells. Then the August column of the sale-week members: they</a:t>
            </a:r>
          </a:p>
          <a:p>
            <a:r>
              <a:t>joined in August, so August is their month zero, and September is their month one, which the</a:t>
            </a:r>
          </a:p>
          <a:p>
            <a:r>
              <a:t>dashboard skips. Chapter 2 finds the same two readings on all 53,089 members.</a:t>
            </a:r>
          </a:p>
          <a:p>
            <a:r>
              <a:t>Transition: why a big new group holds an average up.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Explorer scene Th2 lets a learner slide batch B's size; on the projector, vote</a:t>
            </a:r>
          </a:p>
          <a:p>
            <a:r>
              <a:t>first. Expect b from most of the room.</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two stacks, then the formula last, as the shorthand for what the bars</a:t>
            </a:r>
          </a:p>
          <a:p>
            <a:r>
              <a:t>already showed (3Blue1Brown). Next month batch B ages too, and unless another large batch arrives,</a:t>
            </a:r>
          </a:p>
          <a:p>
            <a:r>
              <a:t>the blend falls. Ask: on the Gold dashboard, what plays the part of batch B? Each month's newly</a:t>
            </a:r>
          </a:p>
          <a:p>
            <a:r>
              <a:t>counted cohort, entering at about 38.5 and only about 5,000 strong.</a:t>
            </a:r>
          </a:p>
          <a:p>
            <a:r>
              <a:t>Transition: a real company that publishes its cohorts.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a:t>
            </a:r>
          </a:p>
          <a:p>
            <a:r>
              <a:t>https://www.eternal.com/blog/q1fy27/ (checked 12 October 2026), which links the letter itself:</a:t>
            </a:r>
          </a:p>
          <a:p>
            <a:r>
              <a:t>https://drive.google.com/file/d/1jb9KWd4Ap4RTKHFHxzEOO7jgQqVZEGcd/view (checked 12 October 2026)</a:t>
            </a:r>
          </a:p>
          <a:p>
            <a:r>
              <a:t>https://www.swiggy.com/corporate/wp-content/uploads/2025/10/Q2-FY2026-Shareholder-letter.pdf (checked 12 October 2026)</a:t>
            </a:r>
          </a:p>
          <a:p>
            <a:r>
              <a:t>LIVE, 6 minutes. Two decisions to read. Eternal shows the customer number and the value number side</a:t>
            </a:r>
          </a:p>
          <a:p>
            <a:r>
              <a:t>by side, and they disagree by a factor of three because the denominators differ: 150 percent is</a:t>
            </a:r>
          </a:p>
          <a:p>
            <a:r>
              <a:t>possible because the customers still ordering spend more; the letter's own words are that a cohort</a:t>
            </a:r>
          </a:p>
          <a:p>
            <a:r>
              <a:t>spends nearly 3x three years after acquisition. Swiggy weaned away weak users, which lifts that quarter's cells</a:t>
            </a:r>
          </a:p>
          <a:p>
            <a:r>
              <a:t>and every later one with no change in anyone's behaviour. Ask: before trusting either chart, what do you</a:t>
            </a:r>
          </a:p>
          <a:p>
            <a:r>
              <a:t>ask for? The denominator.</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board's first region; Q2 and Q3 stay dashed. Strike or confirm on the</a:t>
            </a:r>
          </a:p>
          <a:p>
            <a:r>
              <a:t>hypothesis board: "a cohort problem" is now likely; the test was the card.</a:t>
            </a:r>
          </a:p>
          <a:p>
            <a:r>
              <a:t>Transition: chapter 2 and the full data.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45 minutes. Laptops open; notebook 02. Styles: Krish Naik (one pivot_table, line by line),</a:t>
            </a:r>
          </a:p>
          <a:p>
            <a:r>
              <a:t>Veritasium (two predictions), 3Blue1Brown (the triangle, then the formula last), StatQuest (the</a:t>
            </a:r>
          </a:p>
          <a:p>
            <a:r>
              <a:t>weighted average on seven numbers). Explorer scene Th1.</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Say what chapter 1 found, with its numbers, so the room</a:t>
            </a:r>
          </a:p>
          <a:p>
            <a:r>
              <a:t>carries it in: each group fell with age, the sale-week members kept 0 of 5, and the dashboard's way</a:t>
            </a:r>
          </a:p>
          <a:p>
            <a:r>
              <a:t>read 2 of 7 two months running.</a:t>
            </a:r>
          </a:p>
          <a:p>
            <a:r>
              <a:t>Transition: the code that builds the table.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code a line at a time: each year-month as one count of months, age as</a:t>
            </a:r>
          </a:p>
          <a:p>
            <a:r>
              <a:t>the gap between the two, then one pivot_table with cohorts on the rows and ages on the columns;</a:t>
            </a:r>
          </a:p>
          <a:p>
            <a:r>
              <a:t>active (at least one order) was set when the table loaded, and each cell is a mean of True and</a:t>
            </a:r>
          </a:p>
          <a:p>
            <a:r>
              <a:t>False, so it is a share. Vote before the cell runs.</a:t>
            </a:r>
          </a:p>
          <a:p>
            <a:r>
              <a:t>Transition: the table.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one row (January: 58, then 38.7 and down to 36.9 by month eight) and one</a:t>
            </a:r>
          </a:p>
          <a:p>
            <a:r>
              <a:t>column (month one: 58 down to 49, then 31). If the room wants the motion, open</a:t>
            </a:r>
          </a:p>
          <a:p>
            <a:r>
              <a:t>whiteboards/C2_W04_D04_cohort_fill_STUDENT.gif, which fills the triangle one month at a time with</a:t>
            </a:r>
          </a:p>
          <a:p>
            <a:r>
              <a:t>the dashboard drawn beside it, or explorer scene Th1, which adds a "next month" button.</a:t>
            </a:r>
          </a:p>
          <a:p>
            <a:r>
              <a:t>Transition: what the dashboard prints over the same months.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The d voters are thinking well: they expect the August cohort to show up. Ask</a:t>
            </a:r>
          </a:p>
          <a:p>
            <a:r>
              <a:t>them to hold that thought for four slides.</a:t>
            </a:r>
          </a:p>
          <a:p>
            <a:r>
              <a:t>Transition: the direct count.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four counts. Point at the denominators growing by about 5,000 a month:</a:t>
            </a:r>
          </a:p>
          <a:p>
            <a:r>
              <a:t>one new cohort a month enters the count. Then say what the room is about to be tempted to say.</a:t>
            </a:r>
          </a:p>
          <a:p>
            <a:r>
              <a:t>Transition: the plausible wrong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https://nsearchives.nseindia.com/corporate/SWIGGY_30072026154100_Covering_Letter_Letter_to_Shareholders_-_signed.pdf (checked 12 October 2026)</a:t>
            </a:r>
          </a:p>
          <a:p>
            <a:r>
              <a:t>LIVE, 3 minutes. Read the wrong sentence exactly as a hurried analyst would say it. Ask for the</a:t>
            </a:r>
          </a:p>
          <a:p>
            <a:r>
              <a:t>decision it would drive. Then the check, which the room runs in the notebook's empty your-turn cell</a:t>
            </a:r>
          </a:p>
          <a:p>
            <a:r>
              <a:t>before the next slide.</a:t>
            </a:r>
          </a:p>
          <a:p>
            <a:r>
              <a:t>Transition: the decomposition.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Point at September's stack: seven cohorts, January at the bottom, July at the</a:t>
            </a:r>
          </a:p>
          <a:p>
            <a:r>
              <a:t>top. Then the hatched bar beside it: 13,000 members the dashboard does not count yet. Explorer</a:t>
            </a:r>
          </a:p>
          <a:p>
            <a:r>
              <a:t>scene Th1's size slider shows what a 2.6-times cohort does when it does enter.</a:t>
            </a:r>
          </a:p>
          <a:p>
            <a:r>
              <a:t>Transition: the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Have one table read its weighted average aloud; it must match 37.8. Unweighted,</a:t>
            </a:r>
          </a:p>
          <a:p>
            <a:r>
              <a:t>the seven rates also average 37.8, because the seven cohorts are about the same size. Add the</a:t>
            </a:r>
          </a:p>
          <a:p>
            <a:r>
              <a:t>13,000-member August cohort and the unweighted mean (36.9) drifts a point from the true 35.9: weights</a:t>
            </a:r>
          </a:p>
          <a:p>
            <a:r>
              <a:t>matter when sizes differ, which is the trap from Week 1 and Monday.</a:t>
            </a:r>
          </a:p>
          <a:p>
            <a:r>
              <a:t>Transition: what the count leaves out.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Remind the August cohort's month one is 31 percent, below the 38.</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Two readings of the same month differ only by who is counted. Then the split:</a:t>
            </a:r>
          </a:p>
          <a:p>
            <a:r>
              <a:t>the problem is the sale week, not the month. The October estimate rests on an assumption (the</a:t>
            </a:r>
          </a:p>
          <a:p>
            <a:r>
              <a:t>August cohort falls as July's did); name it as one. Strike on the hypothesis board: a cohort</a:t>
            </a:r>
          </a:p>
          <a:p>
            <a:r>
              <a:t>problem, confirmed; the cohort is the sale week's.</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cohort axis, months since joining, is the time axis Friday's forecast runs on.</a:t>
            </a:r>
          </a:p>
          <a:p>
            <a:r>
              <a:t>Break follows: 10 minutes.</a:t>
            </a:r>
          </a:p>
          <a:p>
            <a:r>
              <a:t>Transition: after the break, chapter 3.</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65 minutes. Notebook 03. Styles: Brilliant (the four rates before any explanation),</a:t>
            </a:r>
          </a:p>
          <a:p>
            <a:r>
              <a:t>Veritasium (three predictions), the case method (the app team's partly-right chart), Krish Naik</a:t>
            </a:r>
          </a:p>
          <a:p>
            <a:r>
              <a:t>(the release split built line by line). Explorer scene Th3.</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what chapter 2 found, with its numbers: 38 is a weighted average of falling</a:t>
            </a:r>
          </a:p>
          <a:p>
            <a:r>
              <a:t>cohorts, and the sale-week members kept 20 percent in month one.</a:t>
            </a:r>
          </a:p>
          <a:p>
            <a:r>
              <a:t>Transition: the four rates.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Brilliant's move: the numbers first, the explanation after. Vote, argue, vote.</a:t>
            </a:r>
          </a:p>
          <a:p>
            <a:r>
              <a:t>Expect b from most of the room; the lowest rate looks like the loss.</a:t>
            </a:r>
          </a:p>
          <a:p>
            <a:r>
              <a:t>Transition: how a funnel reads.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Walk the toy aloud (R1's numbers). Then the two units on the same checkouts.</a:t>
            </a:r>
          </a:p>
          <a:p>
            <a:r>
              <a:t>Then the rule for the chapter: find the step that changed, for whom, since when.</a:t>
            </a:r>
          </a:p>
          <a:p>
            <a:r>
              <a:t>Transition: the step above 100 percent.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artefact: a rate above 100 percent says the numerator holds people who never</a:t>
            </a:r>
          </a:p>
          <a:p>
            <a:r>
              <a:t>passed the denominator's step. Explorer scene Th3 toggles the carousel entries in and out. Strike</a:t>
            </a:r>
          </a:p>
          <a:p>
            <a:r>
              <a:t>on the hypothesis board: the funnel's first steps are not the loss.</a:t>
            </a:r>
          </a:p>
          <a:p>
            <a:r>
              <a:t>Transition: the second unit.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Ask one table to explain its letter in a sentence.</a:t>
            </a:r>
          </a:p>
          <a:p>
            <a:r>
              <a:t>Transition: the two units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Point at the same step in both panels: 34 and 61. Then at the 101: the skippable</a:t>
            </a:r>
          </a:p>
          <a:p>
            <a:r>
              <a:t>step, not the unit, makes the number pass 100.</a:t>
            </a:r>
          </a:p>
          <a:p>
            <a:r>
              <a:t>Transition: the release.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Remind the app team's lead will say the checkout works.</a:t>
            </a:r>
          </a:p>
          <a:p>
            <a:r>
              <a:t>Transition: the split by membership, platform and date.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Read the three lines. The moved cut dates the fall; it does not test tracking,</a:t>
            </a:r>
          </a:p>
          <a:p>
            <a:r>
              <a:t>since the rename shipped with the release and a logging fault would also start on 14 September.</a:t>
            </a:r>
          </a:p>
          <a:p>
            <a:r>
              <a:t>The tracking test is S36's: the orders counted in member_months against the event log. Every</a:t>
            </a:r>
          </a:p>
          <a:p>
            <a:r>
              <a:t>Android session from 14 September ran checkout v2, so the date and the version are one split here.</a:t>
            </a:r>
          </a:p>
          <a:p>
            <a:r>
              <a:t>Transition: which step inside the checkout.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The case method: the app team is partly right, so find the part. Concede that</a:t>
            </a:r>
          </a:p>
          <a:p>
            <a:r>
              <a:t>checkout starts held; bring the split that shows completion fell, for members, on Android, from</a:t>
            </a:r>
          </a:p>
          <a:p>
            <a:r>
              <a:t>the release. Only members on Android fell, so the place to look is something in the new flow that</a:t>
            </a:r>
          </a:p>
          <a:p>
            <a:r>
              <a:t>members see. The 55 rests on 18,273 checkout starts, so chance moves it by under a point; the</a:t>
            </a:r>
          </a:p>
          <a:p>
            <a:r>
              <a:t>non-members' comparator rests on 1,600, so "held" there means within about 2.5 points. The afternoon's role card replays this dispute.</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https://www.bseindia.com/xml-data/corpfiling/AttachHis/42b3bf3b-1edb-4da7-849a-87ca9da27ff8.pdf (checked 12 October 2026)</a:t>
            </a:r>
          </a:p>
          <a:p>
            <a:r>
              <a:t>LIVE, 12 minutes. One caveat at a time, each with the fact that settles it (L4). The last row</a:t>
            </a:r>
          </a:p>
          <a:p>
            <a:r>
              <a:t>contrasts two before-and-after readings: the release split compares Android members with iOS</a:t>
            </a:r>
          </a:p>
          <a:p>
            <a:r>
              <a:t>members and non-members over the same weeks, which Gold's 60 percent cannot. Strike the last lines</a:t>
            </a:r>
          </a:p>
          <a:p>
            <a:r>
              <a:t>of the hypothesis board: tracking is ruled out, the definition explained, a cohort problem</a:t>
            </a:r>
          </a:p>
          <a:p>
            <a:r>
              <a:t>confirmed, and an everyone-on-Android problem in one step. Name censoring for the faculty block (tentative)</a:t>
            </a:r>
          </a:p>
          <a:p>
            <a:r>
              <a:t>and park any "are these curves different by chance" question there.</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a:t>
            </a:r>
          </a:p>
          <a:p>
            <a:r>
              <a:t>https://www.amplitude.com/blog/7-percent-retention-rule (checked 12 October 2026)</a:t>
            </a:r>
          </a:p>
          <a:p>
            <a:r>
              <a:t>A "good" retention number needs its definition: Amplitude, a product-analytics vendor, says 7</a:t>
            </a:r>
          </a:p>
          <a:p>
            <a:r>
              <a:t>percent of a cohort back on day seven puts a product in the top 25 percent of the more than 2,600</a:t>
            </a:r>
          </a:p>
          <a:p>
            <a:r>
              <a:t>companies it studied, and its blog gives no method. Say so if the room asks for a benchmark.</a:t>
            </a:r>
          </a:p>
          <a:p>
            <a:r>
              <a:t>LIVE, 5 minutes. Say the morning's sentence: the dashboard was flat because of who it counts;</a:t>
            </a:r>
          </a:p>
          <a:p>
            <a:r>
              <a:t>every cohort fell; one step, on one platform, after one date, drove the order loss. Board complete.</a:t>
            </a:r>
          </a:p>
          <a:p>
            <a:r>
              <a:t>The afternoon names what the data cannot show, makes the call and reads the interview.</a:t>
            </a:r>
          </a:p>
          <a:p>
            <a:r>
              <a:t>Transition: lunch.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1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11.png"/><Relationship Id="rId6" Type="http://schemas.openxmlformats.org/officeDocument/2006/relationships/image" Target="../media/image2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a flat 38 and a release on Android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ticket say, with its numbers, its data and its ask?</a:t>
            </a:r>
          </a:p>
        </p:txBody>
      </p:sp>
      <p:graphicFrame>
        <p:nvGraphicFramePr>
          <p:cNvPr id="9" name="Table 8"/>
          <p:cNvGraphicFramePr>
            <a:graphicFrameLocks noGrp="1"/>
          </p:cNvGraphicFramePr>
          <p:nvPr/>
        </p:nvGraphicFramePr>
        <p:xfrm>
          <a:off x="530352" y="1850136"/>
          <a:ext cx="11130990" cy="2176272"/>
        </p:xfrm>
        <a:graphic>
          <a:graphicData uri="http://schemas.openxmlformats.org/drawingml/2006/table">
            <a:tbl>
              <a:tblPr firstRow="0" bandRow="0">
                <a:tableStyleId>{2D5ABB26-0587-4C30-8999-92F81FD0307C}</a:tableStyleId>
              </a:tblPr>
              <a:tblGrid>
                <a:gridCol w="6553928"/>
                <a:gridCol w="4577062"/>
              </a:tblGrid>
              <a:tr h="310896">
                <a:tc>
                  <a:txBody>
                    <a:bodyPr/>
                    <a:lstStyle/>
                    <a:p>
                      <a:r>
                        <a:rPr sz="950" b="1" i="0">
                          <a:solidFill>
                            <a:srgbClr val="FFFFFF"/>
                          </a:solidFill>
                          <a:latin typeface="Calibri"/>
                        </a:rPr>
                        <a:t>Measure</a:t>
                      </a:r>
                    </a:p>
                  </a:txBody>
                  <a:tcPr marL="101600" marR="101600" marT="38100" marB="38100" anchor="ctr">
                    <a:solidFill>
                      <a:srgbClr val="1A0F5C"/>
                    </a:solidFill>
                  </a:tcPr>
                </a:tc>
                <a:tc>
                  <a:txBody>
                    <a:bodyPr/>
                    <a:lstStyle/>
                    <a:p>
                      <a:r>
                        <a:rPr sz="950" b="1" i="0">
                          <a:solidFill>
                            <a:srgbClr val="FFFFFF"/>
                          </a:solidFill>
                          <a:latin typeface="Calibri"/>
                        </a:rPr>
                        <a:t>Value</a:t>
                      </a:r>
                    </a:p>
                  </a:txBody>
                  <a:tcPr marL="101600" marR="101600" marT="38100" marB="38100" anchor="ctr">
                    <a:solidFill>
                      <a:srgbClr val="1A0F5C"/>
                    </a:solidFill>
                  </a:tcPr>
                </a:tc>
              </a:tr>
              <a:tr h="310896">
                <a:tc>
                  <a:txBody>
                    <a:bodyPr/>
                    <a:lstStyle/>
                    <a:p>
                      <a:r>
                        <a:rPr sz="900" b="0" i="0">
                          <a:solidFill>
                            <a:srgbClr val="1A1440"/>
                          </a:solidFill>
                          <a:latin typeface="Calibri"/>
                        </a:rPr>
                        <a:t>Month-two retention on the dashboard, June to September 2026</a:t>
                      </a:r>
                    </a:p>
                  </a:txBody>
                  <a:tcPr marL="101600" marR="101600" marT="38100" marB="38100" anchor="ctr">
                    <a:solidFill>
                      <a:srgbClr val="FFFFFF"/>
                    </a:solidFill>
                  </a:tcPr>
                </a:tc>
                <a:tc>
                  <a:txBody>
                    <a:bodyPr/>
                    <a:lstStyle/>
                    <a:p>
                      <a:r>
                        <a:rPr sz="900" b="0" i="0">
                          <a:solidFill>
                            <a:srgbClr val="1A1440"/>
                          </a:solidFill>
                          <a:latin typeface="Calibri"/>
                        </a:rPr>
                        <a:t>38 percent each month</a:t>
                      </a:r>
                    </a:p>
                  </a:txBody>
                  <a:tcPr marL="101600" marR="101600" marT="38100" marB="38100" anchor="ctr">
                    <a:solidFill>
                      <a:srgbClr val="FFFFFF"/>
                    </a:solidFill>
                  </a:tcPr>
                </a:tc>
              </a:tr>
              <a:tr h="310896">
                <a:tc>
                  <a:txBody>
                    <a:bodyPr/>
                    <a:lstStyle/>
                    <a:p>
                      <a:r>
                        <a:rPr sz="900" b="0" i="0">
                          <a:solidFill>
                            <a:srgbClr val="1A1440"/>
                          </a:solidFill>
                          <a:latin typeface="Calibri"/>
                        </a:rPr>
                        <a:t>Month one (the first full month after joining), by signup month, January to August</a:t>
                      </a:r>
                    </a:p>
                  </a:txBody>
                  <a:tcPr marL="101600" marR="101600" marT="38100" marB="38100" anchor="ctr">
                    <a:solidFill>
                      <a:srgbClr val="F4F2FA"/>
                    </a:solidFill>
                  </a:tcPr>
                </a:tc>
                <a:tc>
                  <a:txBody>
                    <a:bodyPr/>
                    <a:lstStyle/>
                    <a:p>
                      <a:r>
                        <a:rPr sz="900" b="0" i="0">
                          <a:solidFill>
                            <a:srgbClr val="1A1440"/>
                          </a:solidFill>
                          <a:latin typeface="Calibri"/>
                        </a:rPr>
                        <a:t>58, 56, 55, 53, 52, 50, 49, 31 percent</a:t>
                      </a:r>
                    </a:p>
                  </a:txBody>
                  <a:tcPr marL="101600" marR="101600" marT="38100" marB="38100" anchor="ctr">
                    <a:solidFill>
                      <a:srgbClr val="F4F2FA"/>
                    </a:solidFill>
                  </a:tcPr>
                </a:tc>
              </a:tr>
              <a:tr h="310896">
                <a:tc>
                  <a:txBody>
                    <a:bodyPr/>
                    <a:lstStyle/>
                    <a:p>
                      <a:r>
                        <a:rPr sz="900" b="0" i="0">
                          <a:solidFill>
                            <a:srgbClr val="1A1440"/>
                          </a:solidFill>
                          <a:latin typeface="Calibri"/>
                        </a:rPr>
                        <a:t>The August cohort, grown by a sale week</a:t>
                      </a:r>
                    </a:p>
                  </a:txBody>
                  <a:tcPr marL="101600" marR="101600" marT="38100" marB="38100" anchor="ctr">
                    <a:solidFill>
                      <a:srgbClr val="FFFFFF"/>
                    </a:solidFill>
                  </a:tcPr>
                </a:tc>
                <a:tc>
                  <a:txBody>
                    <a:bodyPr/>
                    <a:lstStyle/>
                    <a:p>
                      <a:r>
                        <a:rPr sz="900" b="0" i="0">
                          <a:solidFill>
                            <a:srgbClr val="1A1440"/>
                          </a:solidFill>
                          <a:latin typeface="Calibri"/>
                        </a:rPr>
                        <a:t>13,000 members, 2.6 times the 5,000 a month of January to July</a:t>
                      </a:r>
                    </a:p>
                  </a:txBody>
                  <a:tcPr marL="101600" marR="101600" marT="38100" marB="38100" anchor="ctr">
                    <a:solidFill>
                      <a:srgbClr val="FFFFFF"/>
                    </a:solidFill>
                  </a:tcPr>
                </a:tc>
              </a:tr>
              <a:tr h="310896">
                <a:tc>
                  <a:txBody>
                    <a:bodyPr/>
                    <a:lstStyle/>
                    <a:p>
                      <a:r>
                        <a:rPr sz="900" b="0" i="0">
                          <a:solidFill>
                            <a:srgbClr val="1A1440"/>
                          </a:solidFill>
                          <a:latin typeface="Calibri"/>
                        </a:rPr>
                        <a:t>Members on Android, add-to-cart to order, before and after 14 September</a:t>
                      </a:r>
                    </a:p>
                  </a:txBody>
                  <a:tcPr marL="101600" marR="101600" marT="38100" marB="38100" anchor="ctr">
                    <a:solidFill>
                      <a:srgbClr val="F4F2FA"/>
                    </a:solidFill>
                  </a:tcPr>
                </a:tc>
                <a:tc>
                  <a:txBody>
                    <a:bodyPr/>
                    <a:lstStyle/>
                    <a:p>
                      <a:r>
                        <a:rPr sz="900" b="0" i="0">
                          <a:solidFill>
                            <a:srgbClr val="1A1440"/>
                          </a:solidFill>
                          <a:latin typeface="Calibri"/>
                        </a:rPr>
                        <a:t>58 to 44 percent</a:t>
                      </a:r>
                    </a:p>
                  </a:txBody>
                  <a:tcPr marL="101600" marR="101600" marT="38100" marB="38100" anchor="ctr">
                    <a:solidFill>
                      <a:srgbClr val="F4F2FA"/>
                    </a:solidFill>
                  </a:tcPr>
                </a:tc>
              </a:tr>
              <a:tr h="310896">
                <a:tc>
                  <a:txBody>
                    <a:bodyPr/>
                    <a:lstStyle/>
                    <a:p>
                      <a:r>
                        <a:rPr sz="900" b="0" i="0">
                          <a:solidFill>
                            <a:srgbClr val="1A1440"/>
                          </a:solidFill>
                          <a:latin typeface="Calibri"/>
                        </a:rPr>
                        <a:t>Members on iOS; non-members on Android</a:t>
                      </a:r>
                    </a:p>
                  </a:txBody>
                  <a:tcPr marL="101600" marR="101600" marT="38100" marB="38100" anchor="ctr">
                    <a:solidFill>
                      <a:srgbClr val="FFFFFF"/>
                    </a:solidFill>
                  </a:tcPr>
                </a:tc>
                <a:tc>
                  <a:txBody>
                    <a:bodyPr/>
                    <a:lstStyle/>
                    <a:p>
                      <a:r>
                        <a:rPr sz="900" b="0" i="0">
                          <a:solidFill>
                            <a:srgbClr val="1A1440"/>
                          </a:solidFill>
                          <a:latin typeface="Calibri"/>
                        </a:rPr>
                        <a:t>57 to 56 percent; 52 to 51 percent</a:t>
                      </a:r>
                    </a:p>
                  </a:txBody>
                  <a:tcPr marL="101600" marR="101600" marT="38100" marB="38100" anchor="ctr">
                    <a:solidFill>
                      <a:srgbClr val="FFFFFF"/>
                    </a:solidFill>
                  </a:tcPr>
                </a:tc>
              </a:tr>
              <a:tr h="310896">
                <a:tc>
                  <a:txBody>
                    <a:bodyPr/>
                    <a:lstStyle/>
                    <a:p>
                      <a:r>
                        <a:rPr sz="900" b="0" i="0">
                          <a:solidFill>
                            <a:srgbClr val="1A1440"/>
                          </a:solidFill>
                          <a:latin typeface="Calibri"/>
                        </a:rPr>
                        <a:t>Search to menu view per session; menu view to add-to-cart per session and per member, September</a:t>
                      </a:r>
                    </a:p>
                  </a:txBody>
                  <a:tcPr marL="101600" marR="101600" marT="38100" marB="38100" anchor="ctr">
                    <a:solidFill>
                      <a:srgbClr val="F4F2FA"/>
                    </a:solidFill>
                  </a:tcPr>
                </a:tc>
                <a:tc>
                  <a:txBody>
                    <a:bodyPr/>
                    <a:lstStyle/>
                    <a:p>
                      <a:r>
                        <a:rPr sz="900" b="0" i="0">
                          <a:solidFill>
                            <a:srgbClr val="1A1440"/>
                          </a:solidFill>
                          <a:latin typeface="Calibri"/>
                        </a:rPr>
                        <a:t>118 percent; 34 and 61 percent</a:t>
                      </a:r>
                    </a:p>
                  </a:txBody>
                  <a:tcPr marL="101600" marR="101600" marT="38100" marB="38100" anchor="ctr">
                    <a:solidFill>
                      <a:srgbClr val="F4F2FA"/>
                    </a:solidFill>
                  </a:tcPr>
                </a:tc>
              </a:tr>
            </a:tbl>
          </a:graphicData>
        </a:graphic>
      </p:graphicFrame>
      <p:sp>
        <p:nvSpPr>
          <p:cNvPr id="10" name="TextBox 9"/>
          <p:cNvSpPr txBox="1"/>
          <p:nvPr/>
        </p:nvSpPr>
        <p:spPr>
          <a:xfrm>
            <a:off x="530352" y="4282440"/>
            <a:ext cx="11130991" cy="1169416"/>
          </a:xfrm>
          <a:prstGeom prst="rect">
            <a:avLst/>
          </a:prstGeom>
          <a:noFill/>
        </p:spPr>
        <p:txBody>
          <a:bodyPr wrap="square" anchor="t" lIns="0" rIns="0" tIns="0" bIns="0">
            <a:spAutoFit/>
          </a:bodyPr>
          <a:lstStyle/>
          <a:p>
            <a:pPr>
              <a:spcAft>
                <a:spcPts val="500"/>
              </a:spcAft>
            </a:pPr>
            <a:r>
              <a:rPr sz="1100" b="1" i="0">
                <a:solidFill>
                  <a:srgbClr val="1A1440"/>
                </a:solidFill>
                <a:latin typeface="Calibri"/>
              </a:rPr>
              <a:t>Gold</a:t>
            </a:r>
            <a:r>
              <a:rPr sz="1100" b="0" i="0">
                <a:solidFill>
                  <a:srgbClr val="1A1440"/>
                </a:solidFill>
                <a:latin typeface="Calibri"/>
              </a:rPr>
              <a:t> is the app's paid membership, with free delivery. </a:t>
            </a:r>
            <a:r>
              <a:rPr sz="1100" b="1" i="0">
                <a:solidFill>
                  <a:srgbClr val="1A1440"/>
                </a:solidFill>
                <a:latin typeface="Calibri"/>
              </a:rPr>
              <a:t>Data.</a:t>
            </a:r>
            <a:r>
              <a:rPr sz="1100" b="0" i="0">
                <a:solidFill>
                  <a:srgbClr val="1A1440"/>
                </a:solidFill>
                <a:latin typeface="Calibri"/>
              </a:rPr>
              <a:t> members (53,089 who joined January to September), member_months (orders per member per month, from the order records), events (one row per stage each app session, one visit to the app, reached; August and September; platform, and checkout version v1 or the new v2; Gold members and 4,000 non-members). </a:t>
            </a:r>
            <a:r>
              <a:rPr sz="1100" b="1" i="0">
                <a:solidFill>
                  <a:srgbClr val="1A1440"/>
                </a:solidFill>
                <a:latin typeface="Calibri"/>
              </a:rPr>
              <a:t>The ask, due Friday.</a:t>
            </a:r>
            <a:r>
              <a:rPr sz="1100" b="0" i="0">
                <a:solidFill>
                  <a:srgbClr val="1A1440"/>
                </a:solidFill>
                <a:latin typeface="Calibri"/>
              </a:rPr>
              <a:t> Cohort problem or everyone problem; which funnel stage owns the loss; what to fix first, with the evidence. </a:t>
            </a:r>
            <a:r>
              <a:rPr sz="1100" b="1" i="0">
                <a:solidFill>
                  <a:srgbClr val="1A1440"/>
                </a:solidFill>
                <a:latin typeface="Calibri"/>
              </a:rPr>
              <a:t>Known caveats.</a:t>
            </a:r>
            <a:r>
              <a:rPr sz="1100" b="0" i="0">
                <a:solidFill>
                  <a:srgbClr val="1A1440"/>
                </a:solidFill>
                <a:latin typeface="Calibri"/>
              </a:rPr>
              <a:t> The home carousel opens a menu without a search; sessions and members are different units; the August cohort was bought on a discount; the release renamed one Android event, which the app team has mapped.</a:t>
            </a:r>
          </a:p>
        </p:txBody>
      </p:sp>
      <p:sp>
        <p:nvSpPr>
          <p:cNvPr id="11" name="Rounded Rectangle 10"/>
          <p:cNvSpPr/>
          <p:nvPr/>
        </p:nvSpPr>
        <p:spPr>
          <a:xfrm>
            <a:off x="530352" y="5579872"/>
            <a:ext cx="11130991" cy="452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707887"/>
            <a:ext cx="45720" cy="196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698744"/>
            <a:ext cx="10564063" cy="269240"/>
          </a:xfrm>
          <a:prstGeom prst="rect">
            <a:avLst/>
          </a:prstGeom>
          <a:noFill/>
        </p:spPr>
        <p:txBody>
          <a:bodyPr wrap="square" anchor="ctr" lIns="0" rIns="0" tIns="0" bIns="0">
            <a:spAutoFit/>
          </a:bodyPr>
          <a:lstStyle/>
          <a:p>
            <a:r>
              <a:rPr sz="1000" b="1">
                <a:solidFill>
                  <a:srgbClr val="5B3FD6"/>
                </a:solidFill>
                <a:latin typeface="Calibri"/>
              </a:rPr>
              <a:t>Illustrative case. </a:t>
            </a:r>
            <a:r>
              <a:rPr sz="1000" b="0" i="0">
                <a:solidFill>
                  <a:srgbClr val="1A1440"/>
                </a:solidFill>
                <a:latin typeface="Calibri"/>
              </a:rPr>
              <a:t>The company is real; the situation and the data are synthetic, built for this class.</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6" name="Oval 15"/>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8" name="Oval 17"/>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map, Thursday 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and what did the days before it find?</a:t>
            </a:r>
          </a:p>
        </p:txBody>
      </p:sp>
      <p:pic>
        <p:nvPicPr>
          <p:cNvPr id="9" name="mermaid diagram" descr="1e025ae40bea612b.png"/>
          <p:cNvPicPr>
            <a:picLocks noChangeAspect="1"/>
          </p:cNvPicPr>
          <p:nvPr/>
        </p:nvPicPr>
        <p:blipFill>
          <a:blip r:embed="rId5"/>
          <a:stretch>
            <a:fillRect/>
          </a:stretch>
        </p:blipFill>
        <p:spPr>
          <a:xfrm>
            <a:off x="2682134" y="1682496"/>
            <a:ext cx="6827426"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two problems, two fixes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sentence will the membership lead carry out of the room?</a:t>
            </a:r>
          </a:p>
        </p:txBody>
      </p:sp>
      <p:sp>
        <p:nvSpPr>
          <p:cNvPr id="9" name="Rounded Rectangle 8"/>
          <p:cNvSpPr/>
          <p:nvPr/>
        </p:nvSpPr>
        <p:spPr>
          <a:xfrm>
            <a:off x="530352" y="1956816"/>
            <a:ext cx="45720" cy="192532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925320"/>
          </a:xfrm>
          <a:prstGeom prst="rect">
            <a:avLst/>
          </a:prstGeom>
          <a:noFill/>
        </p:spPr>
        <p:txBody>
          <a:bodyPr wrap="square" anchor="t" lIns="0" rIns="0" tIns="0" bIns="0">
            <a:spAutoFit/>
          </a:bodyPr>
          <a:lstStyle/>
          <a:p>
            <a:r>
              <a:rPr sz="1400" b="0" i="1">
                <a:solidFill>
                  <a:srgbClr val="1A0F5C"/>
                </a:solidFill>
                <a:latin typeface="Georgia"/>
              </a:rPr>
              <a:t>"It is both, in two numbers that need different fixes. Retention is a cohort problem: the dashboard starts counting at month two, where every cohort lands near 38.5, so it never sees that each new cohort starts lower in month one, and it has not yet counted the 13,000-member August cohort, whose sale-week members kept 20 percent; in October the dashboard drops to about 33. The order loss hits members of every signup month on Android at one step from the 14 September release: of the checkouts started, 72.5 percent ended in an order before and 55 after, about 1,133 to 1,317 orders a week. Fix the Android checkout first; before buying another sale, work out whether this one's members pay back their discount."</a:t>
            </a:r>
          </a:p>
        </p:txBody>
      </p:sp>
      <p:sp>
        <p:nvSpPr>
          <p:cNvPr id="11" name="Rounded Rectangle 10"/>
          <p:cNvSpPr/>
          <p:nvPr/>
        </p:nvSpPr>
        <p:spPr>
          <a:xfrm>
            <a:off x="530352" y="4028440"/>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156456"/>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147312"/>
            <a:ext cx="10564063" cy="784860"/>
          </a:xfrm>
          <a:prstGeom prst="rect">
            <a:avLst/>
          </a:prstGeom>
          <a:noFill/>
        </p:spPr>
        <p:txBody>
          <a:bodyPr wrap="square" anchor="ctr" lIns="0" rIns="0" tIns="0" bIns="0">
            <a:spAutoFit/>
          </a:bodyPr>
          <a:lstStyle/>
          <a:p>
            <a:r>
              <a:rPr sz="1300" b="1">
                <a:solidFill>
                  <a:srgbClr val="5B3FD6"/>
                </a:solidFill>
                <a:latin typeface="Calibri"/>
              </a:rPr>
              <a:t>The words. </a:t>
            </a:r>
            <a:r>
              <a:rPr sz="1300" b="0" i="0">
                <a:solidFill>
                  <a:srgbClr val="1A1440"/>
                </a:solidFill>
                <a:latin typeface="Calibri"/>
              </a:rPr>
              <a:t>Month-two retention is the dashboard's name for the share of members two or more months past their signup month who ordered in the month; a member with no order in a month is not retained that month, and she is still a member. A cohort problem sits in some signup months; an everyone problem hits members of every signup month at once.</a:t>
            </a:r>
          </a:p>
        </p:txBody>
      </p:sp>
      <p:sp>
        <p:nvSpPr>
          <p:cNvPr id="14" name="TextBox 13"/>
          <p:cNvSpPr txBox="1"/>
          <p:nvPr/>
        </p:nvSpPr>
        <p:spPr>
          <a:xfrm>
            <a:off x="530352" y="5160772"/>
            <a:ext cx="11130991" cy="461264"/>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Each number in that sentence is earned in order: by hand on twelve members, on all 53,089, then on 1,386,235 app events.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causes on the board, each with its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any chart, which causes could explain the ticket, and what would test each?</a:t>
            </a:r>
          </a:p>
        </p:txBody>
      </p:sp>
      <p:pic>
        <p:nvPicPr>
          <p:cNvPr id="9" name="mermaid diagram" descr="014ba7b686b01944.png"/>
          <p:cNvPicPr>
            <a:picLocks noChangeAspect="1"/>
          </p:cNvPicPr>
          <p:nvPr/>
        </p:nvPicPr>
        <p:blipFill>
          <a:blip r:embed="rId5"/>
          <a:stretch>
            <a:fillRect/>
          </a:stretch>
        </p:blipFill>
        <p:spPr>
          <a:xfrm>
            <a:off x="530352" y="1956816"/>
            <a:ext cx="11130991" cy="1331913"/>
          </a:xfrm>
          <a:prstGeom prst="rect">
            <a:avLst/>
          </a:prstGeom>
        </p:spPr>
      </p:pic>
      <p:graphicFrame>
        <p:nvGraphicFramePr>
          <p:cNvPr id="10" name="Table 9"/>
          <p:cNvGraphicFramePr>
            <a:graphicFrameLocks noGrp="1"/>
          </p:cNvGraphicFramePr>
          <p:nvPr/>
        </p:nvGraphicFramePr>
        <p:xfrm>
          <a:off x="530352" y="3435033"/>
          <a:ext cx="11130991" cy="2218944"/>
        </p:xfrm>
        <a:graphic>
          <a:graphicData uri="http://schemas.openxmlformats.org/drawingml/2006/table">
            <a:tbl>
              <a:tblPr firstRow="0" bandRow="0">
                <a:tableStyleId>{2D5ABB26-0587-4C30-8999-92F81FD0307C}</a:tableStyleId>
              </a:tblPr>
              <a:tblGrid>
                <a:gridCol w="2257107"/>
                <a:gridCol w="8873884"/>
              </a:tblGrid>
              <a:tr h="369824">
                <a:tc>
                  <a:txBody>
                    <a:bodyPr/>
                    <a:lstStyle/>
                    <a:p>
                      <a:r>
                        <a:rPr sz="1450" b="1" i="0">
                          <a:solidFill>
                            <a:srgbClr val="FFFFFF"/>
                          </a:solidFill>
                          <a:latin typeface="Calibri"/>
                        </a:rPr>
                        <a:t>Cause</a:t>
                      </a:r>
                    </a:p>
                  </a:txBody>
                  <a:tcPr marL="101600" marR="101600" marT="38100" marB="38100" anchor="ctr">
                    <a:solidFill>
                      <a:srgbClr val="1A0F5C"/>
                    </a:solidFill>
                  </a:tcPr>
                </a:tc>
                <a:tc>
                  <a:txBody>
                    <a:bodyPr/>
                    <a:lstStyle/>
                    <a:p>
                      <a:r>
                        <a:rPr sz="1450" b="1" i="0">
                          <a:solidFill>
                            <a:srgbClr val="FFFFFF"/>
                          </a:solidFill>
                          <a:latin typeface="Calibri"/>
                        </a:rPr>
                        <a:t>The test that settles it</a:t>
                      </a:r>
                    </a:p>
                  </a:txBody>
                  <a:tcPr marL="101600" marR="101600" marT="38100" marB="38100" anchor="ctr">
                    <a:solidFill>
                      <a:srgbClr val="1A0F5C"/>
                    </a:solidFill>
                  </a:tcPr>
                </a:tc>
              </a:tr>
              <a:tr h="369824">
                <a:tc>
                  <a:txBody>
                    <a:bodyPr/>
                    <a:lstStyle/>
                    <a:p>
                      <a:r>
                        <a:rPr sz="1400" b="0" i="0">
                          <a:solidFill>
                            <a:srgbClr val="1A1440"/>
                          </a:solidFill>
                          <a:latin typeface="Calibri"/>
                        </a:rPr>
                        <a:t>1. Tracking</a:t>
                      </a:r>
                    </a:p>
                  </a:txBody>
                  <a:tcPr marL="101600" marR="101600" marT="38100" marB="38100" anchor="ctr">
                    <a:solidFill>
                      <a:srgbClr val="FFFFFF"/>
                    </a:solidFill>
                  </a:tcPr>
                </a:tc>
                <a:tc>
                  <a:txBody>
                    <a:bodyPr/>
                    <a:lstStyle/>
                    <a:p>
                      <a:r>
                        <a:rPr sz="1400" b="0" i="0">
                          <a:solidFill>
                            <a:srgbClr val="1A1440"/>
                          </a:solidFill>
                          <a:latin typeface="Calibri"/>
                        </a:rPr>
                        <a:t>The orders counted a second way, in the order records, against the app's event log</a:t>
                      </a:r>
                    </a:p>
                  </a:txBody>
                  <a:tcPr marL="101600" marR="101600" marT="38100" marB="38100" anchor="ctr">
                    <a:solidFill>
                      <a:srgbClr val="FFFFFF"/>
                    </a:solidFill>
                  </a:tcPr>
                </a:tc>
              </a:tr>
              <a:tr h="369824">
                <a:tc>
                  <a:txBody>
                    <a:bodyPr/>
                    <a:lstStyle/>
                    <a:p>
                      <a:r>
                        <a:rPr sz="1400" b="0" i="0">
                          <a:solidFill>
                            <a:srgbClr val="1A1440"/>
                          </a:solidFill>
                          <a:latin typeface="Calibri"/>
                        </a:rPr>
                        <a:t>2. Definition</a:t>
                      </a:r>
                    </a:p>
                  </a:txBody>
                  <a:tcPr marL="101600" marR="101600" marT="38100" marB="38100" anchor="ctr">
                    <a:solidFill>
                      <a:srgbClr val="F4F2FA"/>
                    </a:solidFill>
                  </a:tcPr>
                </a:tc>
                <a:tc>
                  <a:txBody>
                    <a:bodyPr/>
                    <a:lstStyle/>
                    <a:p>
                      <a:r>
                        <a:rPr sz="1400" b="0" i="0">
                          <a:solidFill>
                            <a:srgbClr val="1A1440"/>
                          </a:solidFill>
                          <a:latin typeface="Calibri"/>
                        </a:rPr>
                        <a:t>The dashboard's written rule: who is counted, from which month</a:t>
                      </a:r>
                    </a:p>
                  </a:txBody>
                  <a:tcPr marL="101600" marR="101600" marT="38100" marB="38100" anchor="ctr">
                    <a:solidFill>
                      <a:srgbClr val="F4F2FA"/>
                    </a:solidFill>
                  </a:tcPr>
                </a:tc>
              </a:tr>
              <a:tr h="369824">
                <a:tc>
                  <a:txBody>
                    <a:bodyPr/>
                    <a:lstStyle/>
                    <a:p>
                      <a:r>
                        <a:rPr sz="1400" b="0" i="0">
                          <a:solidFill>
                            <a:srgbClr val="1A1440"/>
                          </a:solidFill>
                          <a:latin typeface="Calibri"/>
                        </a:rPr>
                        <a:t>3. Cohorts</a:t>
                      </a:r>
                    </a:p>
                  </a:txBody>
                  <a:tcPr marL="101600" marR="101600" marT="38100" marB="38100" anchor="ctr">
                    <a:solidFill>
                      <a:srgbClr val="FFFFFF"/>
                    </a:solidFill>
                  </a:tcPr>
                </a:tc>
                <a:tc>
                  <a:txBody>
                    <a:bodyPr/>
                    <a:lstStyle/>
                    <a:p>
                      <a:r>
                        <a:rPr sz="1400" b="0" i="0">
                          <a:solidFill>
                            <a:srgbClr val="1A1440"/>
                          </a:solidFill>
                          <a:latin typeface="Calibri"/>
                        </a:rPr>
                        <a:t>The cohort table, each signup month read at the same age</a:t>
                      </a:r>
                    </a:p>
                  </a:txBody>
                  <a:tcPr marL="101600" marR="101600" marT="38100" marB="38100" anchor="ctr">
                    <a:solidFill>
                      <a:srgbClr val="FFFFFF"/>
                    </a:solidFill>
                  </a:tcPr>
                </a:tc>
              </a:tr>
              <a:tr h="369824">
                <a:tc>
                  <a:txBody>
                    <a:bodyPr/>
                    <a:lstStyle/>
                    <a:p>
                      <a:r>
                        <a:rPr sz="1400" b="0" i="0">
                          <a:solidFill>
                            <a:srgbClr val="1A1440"/>
                          </a:solidFill>
                          <a:latin typeface="Calibri"/>
                        </a:rPr>
                        <a:t>4. Everyone</a:t>
                      </a:r>
                    </a:p>
                  </a:txBody>
                  <a:tcPr marL="101600" marR="101600" marT="38100" marB="38100" anchor="ctr">
                    <a:solidFill>
                      <a:srgbClr val="F4F2FA"/>
                    </a:solidFill>
                  </a:tcPr>
                </a:tc>
                <a:tc>
                  <a:txBody>
                    <a:bodyPr/>
                    <a:lstStyle/>
                    <a:p>
                      <a:r>
                        <a:rPr sz="1400" b="0" i="0">
                          <a:solidFill>
                            <a:srgbClr val="1A1440"/>
                          </a:solidFill>
                          <a:latin typeface="Calibri"/>
                        </a:rPr>
                        <a:t>One calendar month read across every cohort: did all of them move at once, on one platform?</a:t>
                      </a:r>
                    </a:p>
                  </a:txBody>
                  <a:tcPr marL="101600" marR="101600" marT="38100" marB="38100" anchor="ctr">
                    <a:solidFill>
                      <a:srgbClr val="F4F2FA"/>
                    </a:solidFill>
                  </a:tcPr>
                </a:tc>
              </a:tr>
              <a:tr h="369824">
                <a:tc>
                  <a:txBody>
                    <a:bodyPr/>
                    <a:lstStyle/>
                    <a:p>
                      <a:r>
                        <a:rPr sz="1400" b="0" i="0">
                          <a:solidFill>
                            <a:srgbClr val="1A1440"/>
                          </a:solidFill>
                          <a:latin typeface="Calibri"/>
                        </a:rPr>
                        <a:t>5. A stage</a:t>
                      </a:r>
                    </a:p>
                  </a:txBody>
                  <a:tcPr marL="101600" marR="101600" marT="38100" marB="38100" anchor="ctr">
                    <a:solidFill>
                      <a:srgbClr val="FFFFFF"/>
                    </a:solidFill>
                  </a:tcPr>
                </a:tc>
                <a:tc>
                  <a:txBody>
                    <a:bodyPr/>
                    <a:lstStyle/>
                    <a:p>
                      <a:r>
                        <a:rPr sz="1400" b="0" i="0">
                          <a:solidFill>
                            <a:srgbClr val="1A1440"/>
                          </a:solidFill>
                          <a:latin typeface="Calibri"/>
                        </a:rPr>
                        <a:t>Each step over the step before, by unit, platform and date</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entered when?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Why can a flat average hide falling groups, and what does each group keep month by month, counted by hand on twelve members before any code?</a:t>
            </a:r>
          </a:p>
        </p:txBody>
      </p:sp>
      <p:sp>
        <p:nvSpPr>
          <p:cNvPr id="10" name="Rounded Rectangle 9"/>
          <p:cNvSpPr/>
          <p:nvPr/>
        </p:nvSpPr>
        <p:spPr>
          <a:xfrm>
            <a:off x="731519" y="5074920"/>
            <a:ext cx="137243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entered when?</a:t>
            </a:r>
          </a:p>
        </p:txBody>
      </p:sp>
      <p:sp>
        <p:nvSpPr>
          <p:cNvPr id="11" name="Rounded Rectangle 10"/>
          <p:cNvSpPr/>
          <p:nvPr/>
        </p:nvSpPr>
        <p:spPr>
          <a:xfrm>
            <a:off x="221367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2" name="Rounded Rectangle 11"/>
          <p:cNvSpPr/>
          <p:nvPr/>
        </p:nvSpPr>
        <p:spPr>
          <a:xfrm>
            <a:off x="4051134"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Who is leaving Zomato Gold in Chennai, and at which step?</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 / 40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four questions, one card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who must say on Friday whether Gold has a cohort problem or an everyone problem. A wrong call sends the fix to the wrong team.</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Why can one average hide two groups?</a:t>
            </a:r>
          </a:p>
        </p:txBody>
      </p:sp>
      <p:sp>
        <p:nvSpPr>
          <p:cNvPr id="17" name="TextBox 16"/>
          <p:cNvSpPr txBox="1"/>
          <p:nvPr/>
        </p:nvSpPr>
        <p:spPr>
          <a:xfrm>
            <a:off x="694944"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Two coaching batches, ten members each, invented</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each group keep, month by month?</a:t>
            </a:r>
          </a:p>
        </p:txBody>
      </p:sp>
      <p:sp>
        <p:nvSpPr>
          <p:cNvPr id="22" name="TextBox 21"/>
          <p:cNvSpPr txBox="1"/>
          <p:nvPr/>
        </p:nvSpPr>
        <p:spPr>
          <a:xfrm>
            <a:off x="3523411"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Twelve members of the case data, counted by age</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the dashboard count?</a:t>
            </a:r>
          </a:p>
        </p:txBody>
      </p:sp>
      <p:sp>
        <p:nvSpPr>
          <p:cNvPr id="27" name="TextBox 26"/>
          <p:cNvSpPr txBox="1"/>
          <p:nvPr/>
        </p:nvSpPr>
        <p:spPr>
          <a:xfrm>
            <a:off x="6351879"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The same twelve, the dashboard's way</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465836"/>
          </a:xfrm>
          <a:prstGeom prst="rect">
            <a:avLst/>
          </a:prstGeom>
          <a:noFill/>
        </p:spPr>
        <p:txBody>
          <a:bodyPr wrap="square" anchor="t" lIns="0" rIns="0" tIns="0" bIns="0">
            <a:spAutoFit/>
          </a:bodyPr>
          <a:lstStyle/>
          <a:p>
            <a:pPr algn="l"/>
            <a:r>
              <a:rPr sz="1300" b="1" i="0">
                <a:solidFill>
                  <a:srgbClr val="FFFFFF"/>
                </a:solidFill>
                <a:latin typeface="Calibri"/>
              </a:rPr>
              <a:t>How does a big new group hold an average up?</a:t>
            </a:r>
          </a:p>
        </p:txBody>
      </p:sp>
      <p:sp>
        <p:nvSpPr>
          <p:cNvPr id="32" name="TextBox 31"/>
          <p:cNvSpPr txBox="1"/>
          <p:nvPr/>
        </p:nvSpPr>
        <p:spPr>
          <a:xfrm>
            <a:off x="9180347" y="4464812"/>
            <a:ext cx="2316403" cy="366776"/>
          </a:xfrm>
          <a:prstGeom prst="rect">
            <a:avLst/>
          </a:prstGeom>
          <a:noFill/>
        </p:spPr>
        <p:txBody>
          <a:bodyPr wrap="square" anchor="t" lIns="0" rIns="0" tIns="0" bIns="0">
            <a:spAutoFit/>
          </a:bodyPr>
          <a:lstStyle/>
          <a:p>
            <a:pPr algn="l"/>
            <a:r>
              <a:rPr sz="1000" b="0" i="0">
                <a:solidFill>
                  <a:srgbClr val="CFC9EE"/>
                </a:solidFill>
                <a:latin typeface="Calibri"/>
              </a:rPr>
              <a:t>Two more batches, then two real companies' cohort reports</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35" name="Oval 34"/>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37" name="Oval 3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batches, one average that names neither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can an average over two groups hide what each did?</a:t>
            </a:r>
          </a:p>
        </p:txBody>
      </p:sp>
      <p:pic>
        <p:nvPicPr>
          <p:cNvPr id="9" name="mermaid diagram" descr="C2_W04_D04_toy_batches_STUDENT.png"/>
          <p:cNvPicPr>
            <a:picLocks noChangeAspect="1"/>
          </p:cNvPicPr>
          <p:nvPr/>
        </p:nvPicPr>
        <p:blipFill>
          <a:blip r:embed="rId4"/>
          <a:stretch>
            <a:fillRect/>
          </a:stretch>
        </p:blipFill>
        <p:spPr>
          <a:xfrm>
            <a:off x="1976816" y="1956816"/>
            <a:ext cx="8238062" cy="1490348"/>
          </a:xfrm>
          <a:prstGeom prst="rect">
            <a:avLst/>
          </a:prstGeom>
        </p:spPr>
      </p:pic>
      <p:sp>
        <p:nvSpPr>
          <p:cNvPr id="10" name="picture caption"/>
          <p:cNvSpPr txBox="1"/>
          <p:nvPr/>
        </p:nvSpPr>
        <p:spPr>
          <a:xfrm>
            <a:off x="530352" y="3483740"/>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Two coaching batches in month two (invented)</a:t>
            </a:r>
          </a:p>
        </p:txBody>
      </p:sp>
      <p:sp>
        <p:nvSpPr>
          <p:cNvPr id="11" name="TextBox 10"/>
          <p:cNvSpPr txBox="1"/>
          <p:nvPr/>
        </p:nvSpPr>
        <p:spPr>
          <a:xfrm>
            <a:off x="530352" y="391046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coaching centre (invented numbers) takes 10 students in June and 10 in July. In each batch's second month, 6 of June's and 4 of July's come back: 60 and 40 percent. Together, 10 of 20 came back, 50 percent, which is neither batch's rate.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card: twelve members, four months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twelve ordered in each month after joining?</a:t>
            </a:r>
          </a:p>
        </p:txBody>
      </p:sp>
      <p:graphicFrame>
        <p:nvGraphicFramePr>
          <p:cNvPr id="9" name="Table 8"/>
          <p:cNvGraphicFramePr>
            <a:graphicFrameLocks noGrp="1"/>
          </p:cNvGraphicFramePr>
          <p:nvPr/>
        </p:nvGraphicFramePr>
        <p:xfrm>
          <a:off x="530352" y="1918208"/>
          <a:ext cx="11130991" cy="301752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Member</a:t>
                      </a:r>
                    </a:p>
                  </a:txBody>
                  <a:tcPr marL="101600" marR="101600" marT="38100" marB="38100" anchor="ctr">
                    <a:solidFill>
                      <a:srgbClr val="1A0F5C"/>
                    </a:solidFill>
                  </a:tcPr>
                </a:tc>
                <a:tc>
                  <a:txBody>
                    <a:bodyPr/>
                    <a:lstStyle/>
                    <a:p>
                      <a:r>
                        <a:rPr sz="1250" b="1" i="0">
                          <a:solidFill>
                            <a:srgbClr val="FFFFFF"/>
                          </a:solidFill>
                          <a:latin typeface="Calibri"/>
                        </a:rPr>
                        <a:t>Joined</a:t>
                      </a:r>
                    </a:p>
                  </a:txBody>
                  <a:tcPr marL="101600" marR="101600" marT="38100" marB="38100" anchor="ctr">
                    <a:solidFill>
                      <a:srgbClr val="1A0F5C"/>
                    </a:solidFill>
                  </a:tcPr>
                </a:tc>
                <a:tc>
                  <a:txBody>
                    <a:bodyPr/>
                    <a:lstStyle/>
                    <a:p>
                      <a:r>
                        <a:rPr sz="1250" b="1" i="0">
                          <a:solidFill>
                            <a:srgbClr val="FFFFFF"/>
                          </a:solidFill>
                          <a:latin typeface="Calibri"/>
                        </a:rPr>
                        <a:t>Channel</a:t>
                      </a:r>
                    </a:p>
                  </a:txBody>
                  <a:tcPr marL="101600" marR="101600" marT="38100" marB="38100" anchor="ctr">
                    <a:solidFill>
                      <a:srgbClr val="1A0F5C"/>
                    </a:solidFill>
                  </a:tcPr>
                </a:tc>
                <a:tc>
                  <a:txBody>
                    <a:bodyPr/>
                    <a:lstStyle/>
                    <a:p>
                      <a:r>
                        <a:rPr sz="1250" b="1" i="0">
                          <a:solidFill>
                            <a:srgbClr val="FFFFFF"/>
                          </a:solidFill>
                          <a:latin typeface="Calibri"/>
                        </a:rPr>
                        <a:t>Jun</a:t>
                      </a:r>
                    </a:p>
                  </a:txBody>
                  <a:tcPr marL="101600" marR="101600" marT="38100" marB="38100" anchor="ctr">
                    <a:solidFill>
                      <a:srgbClr val="1A0F5C"/>
                    </a:solidFill>
                  </a:tcPr>
                </a:tc>
                <a:tc>
                  <a:txBody>
                    <a:bodyPr/>
                    <a:lstStyle/>
                    <a:p>
                      <a:r>
                        <a:rPr sz="1250" b="1" i="0">
                          <a:solidFill>
                            <a:srgbClr val="FFFFFF"/>
                          </a:solidFill>
                          <a:latin typeface="Calibri"/>
                        </a:rPr>
                        <a:t>Jul</a:t>
                      </a:r>
                    </a:p>
                  </a:txBody>
                  <a:tcPr marL="101600" marR="101600" marT="38100" marB="38100" anchor="ctr">
                    <a:solidFill>
                      <a:srgbClr val="1A0F5C"/>
                    </a:solidFill>
                  </a:tcPr>
                </a:tc>
                <a:tc>
                  <a:txBody>
                    <a:bodyPr/>
                    <a:lstStyle/>
                    <a:p>
                      <a:r>
                        <a:rPr sz="1250" b="1" i="0">
                          <a:solidFill>
                            <a:srgbClr val="FFFFFF"/>
                          </a:solidFill>
                          <a:latin typeface="Calibri"/>
                        </a:rPr>
                        <a:t>Aug</a:t>
                      </a:r>
                    </a:p>
                  </a:txBody>
                  <a:tcPr marL="101600" marR="101600" marT="38100" marB="38100" anchor="ctr">
                    <a:solidFill>
                      <a:srgbClr val="1A0F5C"/>
                    </a:solidFill>
                  </a:tcPr>
                </a:tc>
                <a:tc>
                  <a:txBody>
                    <a:bodyPr/>
                    <a:lstStyle/>
                    <a:p>
                      <a:r>
                        <a:rPr sz="1250" b="1" i="0">
                          <a:solidFill>
                            <a:srgbClr val="FFFFFF"/>
                          </a:solidFill>
                          <a:latin typeface="Calibri"/>
                        </a:rPr>
                        <a:t>Sep</a:t>
                      </a:r>
                    </a:p>
                  </a:txBody>
                  <a:tcPr marL="101600" marR="101600" marT="38100" marB="38100" anchor="ctr">
                    <a:solidFill>
                      <a:srgbClr val="1A0F5C"/>
                    </a:solidFill>
                  </a:tcPr>
                </a:tc>
              </a:tr>
              <a:tr h="335280">
                <a:tc>
                  <a:txBody>
                    <a:bodyPr/>
                    <a:lstStyle/>
                    <a:p>
                      <a:r>
                        <a:rPr sz="1200" b="0" i="0">
                          <a:solidFill>
                            <a:srgbClr val="1A1440"/>
                          </a:solidFill>
                          <a:latin typeface="Calibri"/>
                        </a:rPr>
                        <a:t>ZG20844</a:t>
                      </a:r>
                    </a:p>
                  </a:txBody>
                  <a:tcPr marL="101600" marR="101600" marT="38100" marB="38100" anchor="ctr">
                    <a:solidFill>
                      <a:srgbClr val="FFFFFF"/>
                    </a:solidFill>
                  </a:tcPr>
                </a:tc>
                <a:tc>
                  <a:txBody>
                    <a:bodyPr/>
                    <a:lstStyle/>
                    <a:p>
                      <a:r>
                        <a:rPr sz="1200" b="0" i="0">
                          <a:solidFill>
                            <a:srgbClr val="1A1440"/>
                          </a:solidFill>
                          <a:latin typeface="Calibri"/>
                        </a:rPr>
                        <a:t>May</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ZG21052</a:t>
                      </a:r>
                    </a:p>
                  </a:txBody>
                  <a:tcPr marL="101600" marR="101600" marT="38100" marB="38100" anchor="ctr">
                    <a:solidFill>
                      <a:srgbClr val="F4F2FA"/>
                    </a:solidFill>
                  </a:tcPr>
                </a:tc>
                <a:tc>
                  <a:txBody>
                    <a:bodyPr/>
                    <a:lstStyle/>
                    <a:p>
                      <a:r>
                        <a:rPr sz="1200" b="0" i="0">
                          <a:solidFill>
                            <a:srgbClr val="1A1440"/>
                          </a:solidFill>
                          <a:latin typeface="Calibri"/>
                        </a:rPr>
                        <a:t>May</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ZG22010</a:t>
                      </a:r>
                    </a:p>
                  </a:txBody>
                  <a:tcPr marL="101600" marR="101600" marT="38100" marB="38100" anchor="ctr">
                    <a:solidFill>
                      <a:srgbClr val="FFFFFF"/>
                    </a:solidFill>
                  </a:tcPr>
                </a:tc>
                <a:tc>
                  <a:txBody>
                    <a:bodyPr/>
                    <a:lstStyle/>
                    <a:p>
                      <a:r>
                        <a:rPr sz="1200" b="0" i="0">
                          <a:solidFill>
                            <a:srgbClr val="1A1440"/>
                          </a:solidFill>
                          <a:latin typeface="Calibri"/>
                        </a:rPr>
                        <a:t>May</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ZG22634</a:t>
                      </a:r>
                    </a:p>
                  </a:txBody>
                  <a:tcPr marL="101600" marR="101600" marT="38100" marB="38100" anchor="ctr">
                    <a:solidFill>
                      <a:srgbClr val="F4F2FA"/>
                    </a:solidFill>
                  </a:tcPr>
                </a:tc>
                <a:tc>
                  <a:txBody>
                    <a:bodyPr/>
                    <a:lstStyle/>
                    <a:p>
                      <a:r>
                        <a:rPr sz="1200" b="0" i="0">
                          <a:solidFill>
                            <a:srgbClr val="1A1440"/>
                          </a:solidFill>
                          <a:latin typeface="Calibri"/>
                        </a:rPr>
                        <a:t>May</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ZG25312</a:t>
                      </a:r>
                    </a:p>
                  </a:txBody>
                  <a:tcPr marL="101600" marR="101600" marT="38100" marB="38100" anchor="ctr">
                    <a:solidFill>
                      <a:srgbClr val="FFFFFF"/>
                    </a:solidFill>
                  </a:tcPr>
                </a:tc>
                <a:tc>
                  <a:txBody>
                    <a:bodyPr/>
                    <a:lstStyle/>
                    <a:p>
                      <a:r>
                        <a:rPr sz="1200" b="0" i="0">
                          <a:solidFill>
                            <a:srgbClr val="1A1440"/>
                          </a:solidFill>
                          <a:latin typeface="Calibri"/>
                        </a:rPr>
                        <a:t>Jun</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joined</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ZG27475</a:t>
                      </a:r>
                    </a:p>
                  </a:txBody>
                  <a:tcPr marL="101600" marR="101600" marT="38100" marB="38100" anchor="ctr">
                    <a:solidFill>
                      <a:srgbClr val="F4F2FA"/>
                    </a:solidFill>
                  </a:tcPr>
                </a:tc>
                <a:tc>
                  <a:txBody>
                    <a:bodyPr/>
                    <a:lstStyle/>
                    <a:p>
                      <a:r>
                        <a:rPr sz="1200" b="0" i="0">
                          <a:solidFill>
                            <a:srgbClr val="1A1440"/>
                          </a:solidFill>
                          <a:latin typeface="Calibri"/>
                        </a:rPr>
                        <a:t>Jun</a:t>
                      </a:r>
                    </a:p>
                  </a:txBody>
                  <a:tcPr marL="101600" marR="101600" marT="38100" marB="38100" anchor="ctr">
                    <a:solidFill>
                      <a:srgbClr val="F4F2FA"/>
                    </a:solidFill>
                  </a:tcPr>
                </a:tc>
                <a:tc>
                  <a:txBody>
                    <a:bodyPr/>
                    <a:lstStyle/>
                    <a:p>
                      <a:r>
                        <a:rPr sz="1200" b="0" i="0">
                          <a:solidFill>
                            <a:srgbClr val="1A1440"/>
                          </a:solidFill>
                          <a:latin typeface="Calibri"/>
                        </a:rPr>
                        <a:t>organic</a:t>
                      </a:r>
                    </a:p>
                  </a:txBody>
                  <a:tcPr marL="101600" marR="101600" marT="38100" marB="38100" anchor="ctr">
                    <a:solidFill>
                      <a:srgbClr val="F4F2FA"/>
                    </a:solidFill>
                  </a:tcPr>
                </a:tc>
                <a:tc>
                  <a:txBody>
                    <a:bodyPr/>
                    <a:lstStyle/>
                    <a:p>
                      <a:r>
                        <a:rPr sz="1200" b="0" i="0">
                          <a:solidFill>
                            <a:srgbClr val="1A1440"/>
                          </a:solidFill>
                          <a:latin typeface="Calibri"/>
                        </a:rPr>
                        <a:t>joined</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ZG28603</a:t>
                      </a:r>
                    </a:p>
                  </a:txBody>
                  <a:tcPr marL="101600" marR="101600" marT="38100" marB="38100" anchor="ctr">
                    <a:solidFill>
                      <a:srgbClr val="FFFFFF"/>
                    </a:solidFill>
                  </a:tcPr>
                </a:tc>
                <a:tc>
                  <a:txBody>
                    <a:bodyPr/>
                    <a:lstStyle/>
                    <a:p>
                      <a:r>
                        <a:rPr sz="1200" b="0" i="0">
                          <a:solidFill>
                            <a:srgbClr val="1A1440"/>
                          </a:solidFill>
                          <a:latin typeface="Calibri"/>
                        </a:rPr>
                        <a:t>Jun</a:t>
                      </a:r>
                    </a:p>
                  </a:txBody>
                  <a:tcPr marL="101600" marR="101600" marT="38100" marB="38100" anchor="ctr">
                    <a:solidFill>
                      <a:srgbClr val="FFFFFF"/>
                    </a:solidFill>
                  </a:tcPr>
                </a:tc>
                <a:tc>
                  <a:txBody>
                    <a:bodyPr/>
                    <a:lstStyle/>
                    <a:p>
                      <a:r>
                        <a:rPr sz="1200" b="0" i="0">
                          <a:solidFill>
                            <a:srgbClr val="1A1440"/>
                          </a:solidFill>
                          <a:latin typeface="Calibri"/>
                        </a:rPr>
                        <a:t>organic</a:t>
                      </a:r>
                    </a:p>
                  </a:txBody>
                  <a:tcPr marL="101600" marR="101600" marT="38100" marB="38100" anchor="ctr">
                    <a:solidFill>
                      <a:srgbClr val="FFFFFF"/>
                    </a:solidFill>
                  </a:tcPr>
                </a:tc>
                <a:tc>
                  <a:txBody>
                    <a:bodyPr/>
                    <a:lstStyle/>
                    <a:p>
                      <a:r>
                        <a:rPr sz="1200" b="0" i="0">
                          <a:solidFill>
                            <a:srgbClr val="1A1440"/>
                          </a:solidFill>
                          <a:latin typeface="Calibri"/>
                        </a:rPr>
                        <a:t>joined</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ZG39559, ZG40539, ZG41000, ZG41529, ZG42328</a:t>
                      </a:r>
                    </a:p>
                  </a:txBody>
                  <a:tcPr marL="101600" marR="101600" marT="38100" marB="38100" anchor="ctr">
                    <a:solidFill>
                      <a:srgbClr val="F4F2FA"/>
                    </a:solidFill>
                  </a:tcPr>
                </a:tc>
                <a:tc>
                  <a:txBody>
                    <a:bodyPr/>
                    <a:lstStyle/>
                    <a:p>
                      <a:r>
                        <a:rPr sz="1200" b="0" i="0">
                          <a:solidFill>
                            <a:srgbClr val="1A1440"/>
                          </a:solidFill>
                          <a:latin typeface="Calibri"/>
                        </a:rPr>
                        <a:t>Aug</a:t>
                      </a:r>
                    </a:p>
                  </a:txBody>
                  <a:tcPr marL="101600" marR="101600" marT="38100" marB="38100" anchor="ctr">
                    <a:solidFill>
                      <a:srgbClr val="F4F2FA"/>
                    </a:solidFill>
                  </a:tcPr>
                </a:tc>
                <a:tc>
                  <a:txBody>
                    <a:bodyPr/>
                    <a:lstStyle/>
                    <a:p>
                      <a:r>
                        <a:rPr sz="1200" b="0" i="0">
                          <a:solidFill>
                            <a:srgbClr val="1A1440"/>
                          </a:solidFill>
                          <a:latin typeface="Calibri"/>
                        </a:rPr>
                        <a:t>sale</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joined</a:t>
                      </a:r>
                    </a:p>
                  </a:txBody>
                  <a:tcPr marL="101600" marR="101600" marT="38100" marB="38100" anchor="ctr">
                    <a:solidFill>
                      <a:srgbClr val="F4F2FA"/>
                    </a:solidFill>
                  </a:tcPr>
                </a:tc>
                <a:tc>
                  <a:txBody>
                    <a:bodyPr/>
                    <a:lstStyle/>
                    <a:p>
                      <a:r>
                        <a:rPr sz="1200" b="0" i="0">
                          <a:solidFill>
                            <a:srgbClr val="1A1440"/>
                          </a:solidFill>
                          <a:latin typeface="Calibri"/>
                        </a:rPr>
                        <a:t>0 each</a:t>
                      </a:r>
                    </a:p>
                  </a:txBody>
                  <a:tcPr marL="101600" marR="101600" marT="38100" marB="38100" anchor="ctr">
                    <a:solidFill>
                      <a:srgbClr val="F4F2FA"/>
                    </a:solidFill>
                  </a:tcPr>
                </a:tc>
              </a:tr>
            </a:tbl>
          </a:graphicData>
        </a:graphic>
      </p:graphicFrame>
      <p:sp>
        <p:nvSpPr>
          <p:cNvPr id="10" name="TextBox 9"/>
          <p:cNvSpPr txBox="1"/>
          <p:nvPr/>
        </p:nvSpPr>
        <p:spPr>
          <a:xfrm>
            <a:off x="530352" y="519176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 means she placed at least one order that month. </a:t>
            </a:r>
            <a:r>
              <a:rPr sz="1600" b="1" i="0">
                <a:solidFill>
                  <a:srgbClr val="1A1440"/>
                </a:solidFill>
                <a:latin typeface="Calibri"/>
              </a:rPr>
              <a:t>Month one</a:t>
            </a:r>
            <a:r>
              <a:rPr sz="1600" b="0" i="0">
                <a:solidFill>
                  <a:srgbClr val="1A1440"/>
                </a:solidFill>
                <a:latin typeface="Calibri"/>
              </a:rPr>
              <a:t> is the first full calendar month after joining, so May's is June and August's is September; the joining month is month zero and is never counted.</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group keeps the most in month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Counted by months since joining, which group keeps the largest share in its own month one?</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four May members</a:t>
            </a:r>
          </a:p>
          <a:p>
            <a:pPr>
              <a:spcAft>
                <a:spcPts val="800"/>
              </a:spcAft>
            </a:pPr>
            <a:r>
              <a:rPr sz="1600" b="0" i="0">
                <a:solidFill>
                  <a:srgbClr val="1A1440"/>
                </a:solidFill>
                <a:latin typeface="Calibri"/>
              </a:rPr>
              <a:t>b) The three June members</a:t>
            </a:r>
          </a:p>
          <a:p>
            <a:pPr>
              <a:spcAft>
                <a:spcPts val="800"/>
              </a:spcAft>
            </a:pPr>
            <a:r>
              <a:rPr sz="1600" b="0" i="0">
                <a:solidFill>
                  <a:srgbClr val="1A1440"/>
                </a:solidFill>
                <a:latin typeface="Calibri"/>
              </a:rPr>
              <a:t>c) The five August sale-week members</a:t>
            </a:r>
          </a:p>
          <a:p>
            <a:pPr>
              <a:spcAft>
                <a:spcPts val="800"/>
              </a:spcAft>
            </a:pPr>
            <a:r>
              <a:rPr sz="1600" b="0" i="0">
                <a:solidFill>
                  <a:srgbClr val="1A1440"/>
                </a:solidFill>
                <a:latin typeface="Calibri"/>
              </a:rPr>
              <a:t>d) All three keep the same share</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May 3 of 4, June 2 of 3, sale 0 of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group keep at each age, and what does that show?</a:t>
            </a:r>
          </a:p>
        </p:txBody>
      </p:sp>
      <p:graphicFrame>
        <p:nvGraphicFramePr>
          <p:cNvPr id="9" name="Table 8"/>
          <p:cNvGraphicFramePr>
            <a:graphicFrameLocks noGrp="1"/>
          </p:cNvGraphicFramePr>
          <p:nvPr/>
        </p:nvGraphicFramePr>
        <p:xfrm>
          <a:off x="530352" y="1956816"/>
          <a:ext cx="11130988" cy="1341120"/>
        </p:xfrm>
        <a:graphic>
          <a:graphicData uri="http://schemas.openxmlformats.org/drawingml/2006/table">
            <a:tbl>
              <a:tblPr firstRow="0" bandRow="0">
                <a:tableStyleId>{2D5ABB26-0587-4C30-8999-92F81FD0307C}</a:tableStyleId>
              </a:tblPr>
              <a:tblGrid>
                <a:gridCol w="3268244"/>
                <a:gridCol w="1845185"/>
                <a:gridCol w="1845185"/>
                <a:gridCol w="2166521"/>
                <a:gridCol w="2005853"/>
              </a:tblGrid>
              <a:tr h="335280">
                <a:tc>
                  <a:txBody>
                    <a:bodyPr/>
                    <a:lstStyle/>
                    <a:p>
                      <a:r>
                        <a:rPr sz="1250" b="1" i="0">
                          <a:solidFill>
                            <a:srgbClr val="FFFFFF"/>
                          </a:solidFill>
                          <a:latin typeface="Calibri"/>
                        </a:rPr>
                        <a:t>Joined</a:t>
                      </a:r>
                    </a:p>
                  </a:txBody>
                  <a:tcPr marL="101600" marR="101600" marT="38100" marB="38100" anchor="ctr">
                    <a:solidFill>
                      <a:srgbClr val="1A0F5C"/>
                    </a:solidFill>
                  </a:tcPr>
                </a:tc>
                <a:tc>
                  <a:txBody>
                    <a:bodyPr/>
                    <a:lstStyle/>
                    <a:p>
                      <a:r>
                        <a:rPr sz="1250" b="1" i="0">
                          <a:solidFill>
                            <a:srgbClr val="FFFFFF"/>
                          </a:solidFill>
                          <a:latin typeface="Calibri"/>
                        </a:rPr>
                        <a:t>Month one</a:t>
                      </a:r>
                    </a:p>
                  </a:txBody>
                  <a:tcPr marL="101600" marR="101600" marT="38100" marB="38100" anchor="ctr">
                    <a:solidFill>
                      <a:srgbClr val="1A0F5C"/>
                    </a:solidFill>
                  </a:tcPr>
                </a:tc>
                <a:tc>
                  <a:txBody>
                    <a:bodyPr/>
                    <a:lstStyle/>
                    <a:p>
                      <a:r>
                        <a:rPr sz="1250" b="1" i="0">
                          <a:solidFill>
                            <a:srgbClr val="FFFFFF"/>
                          </a:solidFill>
                          <a:latin typeface="Calibri"/>
                        </a:rPr>
                        <a:t>Month two</a:t>
                      </a:r>
                    </a:p>
                  </a:txBody>
                  <a:tcPr marL="101600" marR="101600" marT="38100" marB="38100" anchor="ctr">
                    <a:solidFill>
                      <a:srgbClr val="1A0F5C"/>
                    </a:solidFill>
                  </a:tcPr>
                </a:tc>
                <a:tc>
                  <a:txBody>
                    <a:bodyPr/>
                    <a:lstStyle/>
                    <a:p>
                      <a:r>
                        <a:rPr sz="1250" b="1" i="0">
                          <a:solidFill>
                            <a:srgbClr val="FFFFFF"/>
                          </a:solidFill>
                          <a:latin typeface="Calibri"/>
                        </a:rPr>
                        <a:t>Month three</a:t>
                      </a:r>
                    </a:p>
                  </a:txBody>
                  <a:tcPr marL="101600" marR="101600" marT="38100" marB="38100" anchor="ctr">
                    <a:solidFill>
                      <a:srgbClr val="1A0F5C"/>
                    </a:solidFill>
                  </a:tcPr>
                </a:tc>
                <a:tc>
                  <a:txBody>
                    <a:bodyPr/>
                    <a:lstStyle/>
                    <a:p>
                      <a:r>
                        <a:rPr sz="1250" b="1" i="0">
                          <a:solidFill>
                            <a:srgbClr val="FFFFFF"/>
                          </a:solidFill>
                          <a:latin typeface="Calibri"/>
                        </a:rPr>
                        <a:t>Month four</a:t>
                      </a:r>
                    </a:p>
                  </a:txBody>
                  <a:tcPr marL="101600" marR="101600" marT="38100" marB="38100" anchor="ctr">
                    <a:solidFill>
                      <a:srgbClr val="1A0F5C"/>
                    </a:solidFill>
                  </a:tcPr>
                </a:tc>
              </a:tr>
              <a:tr h="335280">
                <a:tc>
                  <a:txBody>
                    <a:bodyPr/>
                    <a:lstStyle/>
                    <a:p>
                      <a:r>
                        <a:rPr sz="1200" b="0" i="0">
                          <a:solidFill>
                            <a:srgbClr val="1A1440"/>
                          </a:solidFill>
                          <a:latin typeface="Calibri"/>
                        </a:rPr>
                        <a:t>May (4)</a:t>
                      </a:r>
                    </a:p>
                  </a:txBody>
                  <a:tcPr marL="101600" marR="101600" marT="38100" marB="38100" anchor="ctr">
                    <a:solidFill>
                      <a:srgbClr val="FFFFFF"/>
                    </a:solidFill>
                  </a:tcPr>
                </a:tc>
                <a:tc>
                  <a:txBody>
                    <a:bodyPr/>
                    <a:lstStyle/>
                    <a:p>
                      <a:r>
                        <a:rPr sz="1200" b="0" i="0">
                          <a:solidFill>
                            <a:srgbClr val="1A1440"/>
                          </a:solidFill>
                          <a:latin typeface="Calibri"/>
                        </a:rPr>
                        <a:t>3 of 4</a:t>
                      </a:r>
                    </a:p>
                  </a:txBody>
                  <a:tcPr marL="101600" marR="101600" marT="38100" marB="38100" anchor="ctr">
                    <a:solidFill>
                      <a:srgbClr val="FFFFFF"/>
                    </a:solidFill>
                  </a:tcPr>
                </a:tc>
                <a:tc>
                  <a:txBody>
                    <a:bodyPr/>
                    <a:lstStyle/>
                    <a:p>
                      <a:r>
                        <a:rPr sz="1200" b="0" i="0">
                          <a:solidFill>
                            <a:srgbClr val="1A1440"/>
                          </a:solidFill>
                          <a:latin typeface="Calibri"/>
                        </a:rPr>
                        <a:t>2 of 4</a:t>
                      </a:r>
                    </a:p>
                  </a:txBody>
                  <a:tcPr marL="101600" marR="101600" marT="38100" marB="38100" anchor="ctr">
                    <a:solidFill>
                      <a:srgbClr val="FFFFFF"/>
                    </a:solidFill>
                  </a:tcPr>
                </a:tc>
                <a:tc>
                  <a:txBody>
                    <a:bodyPr/>
                    <a:lstStyle/>
                    <a:p>
                      <a:r>
                        <a:rPr sz="1200" b="0" i="0">
                          <a:solidFill>
                            <a:srgbClr val="1A1440"/>
                          </a:solidFill>
                          <a:latin typeface="Calibri"/>
                        </a:rPr>
                        <a:t>1 of 4</a:t>
                      </a:r>
                    </a:p>
                  </a:txBody>
                  <a:tcPr marL="101600" marR="101600" marT="38100" marB="38100" anchor="ctr">
                    <a:solidFill>
                      <a:srgbClr val="FFFFFF"/>
                    </a:solidFill>
                  </a:tcPr>
                </a:tc>
                <a:tc>
                  <a:txBody>
                    <a:bodyPr/>
                    <a:lstStyle/>
                    <a:p>
                      <a:r>
                        <a:rPr sz="1200" b="0" i="0">
                          <a:solidFill>
                            <a:srgbClr val="1A1440"/>
                          </a:solidFill>
                          <a:latin typeface="Calibri"/>
                        </a:rPr>
                        <a:t>1 of 4</a:t>
                      </a:r>
                    </a:p>
                  </a:txBody>
                  <a:tcPr marL="101600" marR="101600" marT="38100" marB="38100" anchor="ctr">
                    <a:solidFill>
                      <a:srgbClr val="FFFFFF"/>
                    </a:solidFill>
                  </a:tcPr>
                </a:tc>
              </a:tr>
              <a:tr h="335280">
                <a:tc>
                  <a:txBody>
                    <a:bodyPr/>
                    <a:lstStyle/>
                    <a:p>
                      <a:r>
                        <a:rPr sz="1200" b="0" i="0">
                          <a:solidFill>
                            <a:srgbClr val="1A1440"/>
                          </a:solidFill>
                          <a:latin typeface="Calibri"/>
                        </a:rPr>
                        <a:t>June (3)</a:t>
                      </a:r>
                    </a:p>
                  </a:txBody>
                  <a:tcPr marL="101600" marR="101600" marT="38100" marB="38100" anchor="ctr">
                    <a:solidFill>
                      <a:srgbClr val="F4F2FA"/>
                    </a:solidFill>
                  </a:tcPr>
                </a:tc>
                <a:tc>
                  <a:txBody>
                    <a:bodyPr/>
                    <a:lstStyle/>
                    <a:p>
                      <a:r>
                        <a:rPr sz="1200" b="0" i="0">
                          <a:solidFill>
                            <a:srgbClr val="1A1440"/>
                          </a:solidFill>
                          <a:latin typeface="Calibri"/>
                        </a:rPr>
                        <a:t>2 of 3</a:t>
                      </a:r>
                    </a:p>
                  </a:txBody>
                  <a:tcPr marL="101600" marR="101600" marT="38100" marB="38100" anchor="ctr">
                    <a:solidFill>
                      <a:srgbClr val="F4F2FA"/>
                    </a:solidFill>
                  </a:tcPr>
                </a:tc>
                <a:tc>
                  <a:txBody>
                    <a:bodyPr/>
                    <a:lstStyle/>
                    <a:p>
                      <a:r>
                        <a:rPr sz="1200" b="0" i="0">
                          <a:solidFill>
                            <a:srgbClr val="1A1440"/>
                          </a:solidFill>
                          <a:latin typeface="Calibri"/>
                        </a:rPr>
                        <a:t>1 of 3</a:t>
                      </a:r>
                    </a:p>
                  </a:txBody>
                  <a:tcPr marL="101600" marR="101600" marT="38100" marB="38100" anchor="ctr">
                    <a:solidFill>
                      <a:srgbClr val="F4F2FA"/>
                    </a:solidFill>
                  </a:tcPr>
                </a:tc>
                <a:tc>
                  <a:txBody>
                    <a:bodyPr/>
                    <a:lstStyle/>
                    <a:p>
                      <a:r>
                        <a:rPr sz="1200" b="0" i="0">
                          <a:solidFill>
                            <a:srgbClr val="1A1440"/>
                          </a:solidFill>
                          <a:latin typeface="Calibri"/>
                        </a:rPr>
                        <a:t>1 of 3</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35280">
                <a:tc>
                  <a:txBody>
                    <a:bodyPr/>
                    <a:lstStyle/>
                    <a:p>
                      <a:r>
                        <a:rPr sz="1200" b="0" i="0">
                          <a:solidFill>
                            <a:srgbClr val="1A1440"/>
                          </a:solidFill>
                          <a:latin typeface="Calibri"/>
                        </a:rPr>
                        <a:t>August sale week (5)</a:t>
                      </a:r>
                    </a:p>
                  </a:txBody>
                  <a:tcPr marL="101600" marR="101600" marT="38100" marB="38100" anchor="ctr">
                    <a:solidFill>
                      <a:srgbClr val="FFFFFF"/>
                    </a:solidFill>
                  </a:tcPr>
                </a:tc>
                <a:tc>
                  <a:txBody>
                    <a:bodyPr/>
                    <a:lstStyle/>
                    <a:p>
                      <a:r>
                        <a:rPr sz="1200" b="0" i="0">
                          <a:solidFill>
                            <a:srgbClr val="1A1440"/>
                          </a:solidFill>
                          <a:latin typeface="Calibri"/>
                        </a:rPr>
                        <a:t>0 of 5</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Each group falls as it ages, and each later group starts lower: 75, 67 and then 0 percent in month one. A </a:t>
            </a:r>
            <a:r>
              <a:rPr sz="1600" b="1" i="0">
                <a:solidFill>
                  <a:srgbClr val="1A1440"/>
                </a:solidFill>
                <a:latin typeface="Calibri"/>
              </a:rPr>
              <a:t>cohort</a:t>
            </a:r>
            <a:r>
              <a:rPr sz="1600" b="0" i="0">
                <a:solidFill>
                  <a:srgbClr val="1A1440"/>
                </a:solidFill>
                <a:latin typeface="Calibri"/>
              </a:rPr>
              <a:t> is a group that joined in the same month; fixing the entry moment is what makes the three comparable at all. The twelve were picked to show the pattern on one card: on all 53,089, May's month one is 52 percent and June's 50.</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what does the dashboard's way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dashboard counts a member from her second month after joining. On the card, what does it read in August and September?</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 fall from August to September, because the sale-week members ordered so little</a:t>
            </a:r>
          </a:p>
          <a:p>
            <a:pPr>
              <a:spcAft>
                <a:spcPts val="800"/>
              </a:spcAft>
            </a:pPr>
            <a:r>
              <a:rPr sz="1600" b="0" i="0">
                <a:solidFill>
                  <a:srgbClr val="1A1440"/>
                </a:solidFill>
                <a:latin typeface="Calibri"/>
              </a:rPr>
              <a:t>b) 2 of 7 in both months, with the five sale-week members outside the count</a:t>
            </a:r>
          </a:p>
          <a:p>
            <a:pPr>
              <a:spcAft>
                <a:spcPts val="800"/>
              </a:spcAft>
            </a:pPr>
            <a:r>
              <a:rPr sz="1600" b="0" i="0">
                <a:solidFill>
                  <a:srgbClr val="1A1440"/>
                </a:solidFill>
                <a:latin typeface="Calibri"/>
              </a:rPr>
              <a:t>c) A rise, because new members joined</a:t>
            </a:r>
          </a:p>
          <a:p>
            <a:pPr>
              <a:spcAft>
                <a:spcPts val="800"/>
              </a:spcAft>
            </a:pPr>
            <a:r>
              <a:rPr sz="1600" b="0" i="0">
                <a:solidFill>
                  <a:srgbClr val="1A1440"/>
                </a:solidFill>
                <a:latin typeface="Calibri"/>
              </a:rPr>
              <a:t>d) 2 of 12 in both months</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 of 7 in August, 2 of 7 in September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card say counted the dashboard's way, and counted for everyone?</a:t>
            </a:r>
          </a:p>
        </p:txBody>
      </p:sp>
      <p:graphicFrame>
        <p:nvGraphicFramePr>
          <p:cNvPr id="9" name="Table 8"/>
          <p:cNvGraphicFramePr>
            <a:graphicFrameLocks noGrp="1"/>
          </p:cNvGraphicFramePr>
          <p:nvPr/>
        </p:nvGraphicFramePr>
        <p:xfrm>
          <a:off x="530352" y="1956816"/>
          <a:ext cx="11130990" cy="1005840"/>
        </p:xfrm>
        <a:graphic>
          <a:graphicData uri="http://schemas.openxmlformats.org/drawingml/2006/table">
            <a:tbl>
              <a:tblPr firstRow="0" bandRow="0">
                <a:tableStyleId>{2D5ABB26-0587-4C30-8999-92F81FD0307C}</a:tableStyleId>
              </a:tblPr>
              <a:tblGrid>
                <a:gridCol w="7720459"/>
                <a:gridCol w="914400"/>
                <a:gridCol w="914400"/>
                <a:gridCol w="1581731"/>
              </a:tblGrid>
              <a:tr h="335280">
                <a:tc>
                  <a:txBody>
                    <a:bodyPr/>
                    <a:lstStyle/>
                    <a:p>
                      <a:r>
                        <a:rPr sz="1250" b="1" i="0">
                          <a:solidFill>
                            <a:srgbClr val="FFFFFF"/>
                          </a:solidFill>
                          <a:latin typeface="Calibri"/>
                        </a:rPr>
                        <a:t>Reporting month</a:t>
                      </a:r>
                    </a:p>
                  </a:txBody>
                  <a:tcPr marL="101600" marR="101600" marT="38100" marB="38100" anchor="ctr">
                    <a:solidFill>
                      <a:srgbClr val="1A0F5C"/>
                    </a:solidFill>
                  </a:tcPr>
                </a:tc>
                <a:tc>
                  <a:txBody>
                    <a:bodyPr/>
                    <a:lstStyle/>
                    <a:p>
                      <a:r>
                        <a:rPr sz="1250" b="1" i="0">
                          <a:solidFill>
                            <a:srgbClr val="FFFFFF"/>
                          </a:solidFill>
                          <a:latin typeface="Calibri"/>
                        </a:rPr>
                        <a:t>July</a:t>
                      </a:r>
                    </a:p>
                  </a:txBody>
                  <a:tcPr marL="101600" marR="101600" marT="38100" marB="38100" anchor="ctr">
                    <a:solidFill>
                      <a:srgbClr val="1A0F5C"/>
                    </a:solidFill>
                  </a:tcPr>
                </a:tc>
                <a:tc>
                  <a:txBody>
                    <a:bodyPr/>
                    <a:lstStyle/>
                    <a:p>
                      <a:r>
                        <a:rPr sz="1250" b="1" i="0">
                          <a:solidFill>
                            <a:srgbClr val="FFFFFF"/>
                          </a:solidFill>
                          <a:latin typeface="Calibri"/>
                        </a:rPr>
                        <a:t>August</a:t>
                      </a:r>
                    </a:p>
                  </a:txBody>
                  <a:tcPr marL="101600" marR="101600" marT="38100" marB="38100" anchor="ctr">
                    <a:solidFill>
                      <a:srgbClr val="1A0F5C"/>
                    </a:solidFill>
                  </a:tcPr>
                </a:tc>
                <a:tc>
                  <a:txBody>
                    <a:bodyPr/>
                    <a:lstStyle/>
                    <a:p>
                      <a:r>
                        <a:rPr sz="1250" b="1" i="0">
                          <a:solidFill>
                            <a:srgbClr val="FFFFFF"/>
                          </a:solidFill>
                          <a:latin typeface="Calibri"/>
                        </a:rPr>
                        <a:t>September</a:t>
                      </a:r>
                    </a:p>
                  </a:txBody>
                  <a:tcPr marL="101600" marR="101600" marT="38100" marB="38100" anchor="ctr">
                    <a:solidFill>
                      <a:srgbClr val="1A0F5C"/>
                    </a:solidFill>
                  </a:tcPr>
                </a:tc>
              </a:tr>
              <a:tr h="335280">
                <a:tc>
                  <a:txBody>
                    <a:bodyPr/>
                    <a:lstStyle/>
                    <a:p>
                      <a:r>
                        <a:rPr sz="1200" b="0" i="0">
                          <a:solidFill>
                            <a:srgbClr val="1A1440"/>
                          </a:solidFill>
                          <a:latin typeface="Calibri"/>
                        </a:rPr>
                        <a:t>The dashboard's way: members two or more months past joining</a:t>
                      </a:r>
                    </a:p>
                  </a:txBody>
                  <a:tcPr marL="101600" marR="101600" marT="38100" marB="38100" anchor="ctr">
                    <a:solidFill>
                      <a:srgbClr val="FFFFFF"/>
                    </a:solidFill>
                  </a:tcPr>
                </a:tc>
                <a:tc>
                  <a:txBody>
                    <a:bodyPr/>
                    <a:lstStyle/>
                    <a:p>
                      <a:r>
                        <a:rPr sz="1200" b="0" i="0">
                          <a:solidFill>
                            <a:srgbClr val="1A1440"/>
                          </a:solidFill>
                          <a:latin typeface="Calibri"/>
                        </a:rPr>
                        <a:t>2 of 4</a:t>
                      </a:r>
                    </a:p>
                  </a:txBody>
                  <a:tcPr marL="101600" marR="101600" marT="38100" marB="38100" anchor="ctr">
                    <a:solidFill>
                      <a:srgbClr val="FFFFFF"/>
                    </a:solidFill>
                  </a:tcPr>
                </a:tc>
                <a:tc>
                  <a:txBody>
                    <a:bodyPr/>
                    <a:lstStyle/>
                    <a:p>
                      <a:r>
                        <a:rPr sz="1200" b="0" i="0">
                          <a:solidFill>
                            <a:srgbClr val="1A1440"/>
                          </a:solidFill>
                          <a:latin typeface="Calibri"/>
                        </a:rPr>
                        <a:t>2 of 7</a:t>
                      </a:r>
                    </a:p>
                  </a:txBody>
                  <a:tcPr marL="101600" marR="101600" marT="38100" marB="38100" anchor="ctr">
                    <a:solidFill>
                      <a:srgbClr val="FFFFFF"/>
                    </a:solidFill>
                  </a:tcPr>
                </a:tc>
                <a:tc>
                  <a:txBody>
                    <a:bodyPr/>
                    <a:lstStyle/>
                    <a:p>
                      <a:r>
                        <a:rPr sz="1200" b="0" i="0">
                          <a:solidFill>
                            <a:srgbClr val="1A1440"/>
                          </a:solidFill>
                          <a:latin typeface="Calibri"/>
                        </a:rPr>
                        <a:t>2 of 7</a:t>
                      </a:r>
                    </a:p>
                  </a:txBody>
                  <a:tcPr marL="101600" marR="101600" marT="38100" marB="38100" anchor="ctr">
                    <a:solidFill>
                      <a:srgbClr val="FFFFFF"/>
                    </a:solidFill>
                  </a:tcPr>
                </a:tc>
              </a:tr>
              <a:tr h="335280">
                <a:tc>
                  <a:txBody>
                    <a:bodyPr/>
                    <a:lstStyle/>
                    <a:p>
                      <a:r>
                        <a:rPr sz="1200" b="0" i="0">
                          <a:solidFill>
                            <a:srgbClr val="1A1440"/>
                          </a:solidFill>
                          <a:latin typeface="Calibri"/>
                        </a:rPr>
                        <a:t>Everyone who joined before the month</a:t>
                      </a:r>
                    </a:p>
                  </a:txBody>
                  <a:tcPr marL="101600" marR="101600" marT="38100" marB="38100" anchor="ctr">
                    <a:solidFill>
                      <a:srgbClr val="F4F2FA"/>
                    </a:solidFill>
                  </a:tcPr>
                </a:tc>
                <a:tc>
                  <a:txBody>
                    <a:bodyPr/>
                    <a:lstStyle/>
                    <a:p>
                      <a:r>
                        <a:rPr sz="1200" b="0" i="0">
                          <a:solidFill>
                            <a:srgbClr val="1A1440"/>
                          </a:solidFill>
                          <a:latin typeface="Calibri"/>
                        </a:rPr>
                        <a:t>4 of 7</a:t>
                      </a:r>
                    </a:p>
                  </a:txBody>
                  <a:tcPr marL="101600" marR="101600" marT="38100" marB="38100" anchor="ctr">
                    <a:solidFill>
                      <a:srgbClr val="F4F2FA"/>
                    </a:solidFill>
                  </a:tcPr>
                </a:tc>
                <a:tc>
                  <a:txBody>
                    <a:bodyPr/>
                    <a:lstStyle/>
                    <a:p>
                      <a:r>
                        <a:rPr sz="1200" b="0" i="0">
                          <a:solidFill>
                            <a:srgbClr val="1A1440"/>
                          </a:solidFill>
                          <a:latin typeface="Calibri"/>
                        </a:rPr>
                        <a:t>2 of 7</a:t>
                      </a:r>
                    </a:p>
                  </a:txBody>
                  <a:tcPr marL="101600" marR="101600" marT="38100" marB="38100" anchor="ctr">
                    <a:solidFill>
                      <a:srgbClr val="F4F2FA"/>
                    </a:solidFill>
                  </a:tcPr>
                </a:tc>
                <a:tc>
                  <a:txBody>
                    <a:bodyPr/>
                    <a:lstStyle/>
                    <a:p>
                      <a:r>
                        <a:rPr sz="1200" b="0" i="0">
                          <a:solidFill>
                            <a:srgbClr val="1A1440"/>
                          </a:solidFill>
                          <a:latin typeface="Calibri"/>
                        </a:rPr>
                        <a:t>2 of 12</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dashboard's way did not move from August to September, though five members joined in the sale week and none of them ordered: they are outside its count until October. Counted for everyone, September reads 2 of 12.</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40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does the blend rise, fall or hold?</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Batch A of 100 stood at 50 percent; now A is at 40 and a new batch B of 400 arrives at 52.5 percent. What does the blend, the one rate over both batches, do (invented)?</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It rises, because batch B is bigger</a:t>
            </a:r>
          </a:p>
          <a:p>
            <a:pPr>
              <a:spcAft>
                <a:spcPts val="800"/>
              </a:spcAft>
            </a:pPr>
            <a:r>
              <a:rPr sz="1600" b="0" i="0">
                <a:solidFill>
                  <a:srgbClr val="1A1440"/>
                </a:solidFill>
                <a:latin typeface="Calibri"/>
              </a:rPr>
              <a:t>b) It falls, because batch A fell</a:t>
            </a:r>
          </a:p>
          <a:p>
            <a:pPr>
              <a:spcAft>
                <a:spcPts val="800"/>
              </a:spcAft>
            </a:pPr>
            <a:r>
              <a:rPr sz="1600" b="0" i="0">
                <a:solidFill>
                  <a:srgbClr val="1A1440"/>
                </a:solidFill>
                <a:latin typeface="Calibri"/>
              </a:rPr>
              <a:t>c) It holds at 50 percent</a:t>
            </a:r>
          </a:p>
          <a:p>
            <a:pPr>
              <a:spcAft>
                <a:spcPts val="800"/>
              </a:spcAft>
            </a:pPr>
            <a:r>
              <a:rPr sz="1600" b="0" i="0">
                <a:solidFill>
                  <a:srgbClr val="1A1440"/>
                </a:solidFill>
                <a:latin typeface="Calibri"/>
              </a:rPr>
              <a:t>d) It cannot be read without more months</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holds at 50 while batch A falls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a blend stand still while the old batch shrinks?</a:t>
            </a:r>
          </a:p>
        </p:txBody>
      </p:sp>
      <p:pic>
        <p:nvPicPr>
          <p:cNvPr id="9" name="mermaid diagram" descr="C2_W04_D04_toy_blend_STUDENT.png"/>
          <p:cNvPicPr>
            <a:picLocks noChangeAspect="1"/>
          </p:cNvPicPr>
          <p:nvPr/>
        </p:nvPicPr>
        <p:blipFill>
          <a:blip r:embed="rId4"/>
          <a:stretch>
            <a:fillRect/>
          </a:stretch>
        </p:blipFill>
        <p:spPr>
          <a:xfrm>
            <a:off x="3223496" y="1664208"/>
            <a:ext cx="5744702" cy="2662936"/>
          </a:xfrm>
          <a:prstGeom prst="rect">
            <a:avLst/>
          </a:prstGeom>
        </p:spPr>
      </p:pic>
      <p:sp>
        <p:nvSpPr>
          <p:cNvPr id="10" name="picture caption"/>
          <p:cNvSpPr txBox="1"/>
          <p:nvPr/>
        </p:nvSpPr>
        <p:spPr>
          <a:xfrm>
            <a:off x="530352" y="4363720"/>
            <a:ext cx="11130991" cy="316992"/>
          </a:xfrm>
          <a:prstGeom prst="rect">
            <a:avLst/>
          </a:prstGeom>
          <a:noFill/>
        </p:spPr>
        <p:txBody>
          <a:bodyPr wrap="square" anchor="t" lIns="0" rIns="0" tIns="0" bIns="0">
            <a:spAutoFit/>
          </a:bodyPr>
          <a:lstStyle/>
          <a:p>
            <a:pPr algn="ctr"/>
            <a:r>
              <a:rPr sz="1200" b="0" i="0">
                <a:solidFill>
                  <a:srgbClr val="6B6690"/>
                </a:solidFill>
                <a:latin typeface="Calibri"/>
              </a:rPr>
              <a:t>A flat average while batch A falls (invented)</a:t>
            </a:r>
          </a:p>
        </p:txBody>
      </p:sp>
      <p:sp>
        <p:nvSpPr>
          <p:cNvPr id="11" name="TextBox 10"/>
          <p:cNvSpPr txBox="1"/>
          <p:nvPr/>
        </p:nvSpPr>
        <p:spPr>
          <a:xfrm>
            <a:off x="530352" y="4689856"/>
            <a:ext cx="11130991" cy="1509775"/>
          </a:xfrm>
          <a:prstGeom prst="rect">
            <a:avLst/>
          </a:prstGeom>
          <a:noFill/>
        </p:spPr>
        <p:txBody>
          <a:bodyPr wrap="square" anchor="t" lIns="0" rIns="0" tIns="0" bIns="0">
            <a:spAutoFit/>
          </a:bodyPr>
          <a:lstStyle/>
          <a:p>
            <a:r>
              <a:rPr sz="1600" b="0" i="0">
                <a:solidFill>
                  <a:srgbClr val="1A1440"/>
                </a:solidFill>
                <a:latin typeface="Calibri"/>
              </a:rPr>
              <a:t>The answer is c: (100 × 0.40 + 400 × 0.525) / 500 = 250 / 500 = 50 percent. A blend is an average weighted by size: blend = sum of (cohort size × cohort rate) / sum of cohort sizes. A large young batch at a high early rate props it up while the old batch falls. On the Gold dashboard the prop is gentler, as chapter 2 shows: each month one new cohort of about 5,000 enters the count at about 38.5 percent, a little above the older cohorts' slow slide.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Blinkit and Swiggy report retention by cohort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two Indian companies report retention, and what does each figure count?</a:t>
            </a:r>
          </a:p>
        </p:txBody>
      </p:sp>
      <p:sp>
        <p:nvSpPr>
          <p:cNvPr id="9" name="Rounded Rectangle 8"/>
          <p:cNvSpPr/>
          <p:nvPr/>
        </p:nvSpPr>
        <p:spPr>
          <a:xfrm>
            <a:off x="530352" y="1956816"/>
            <a:ext cx="5474055" cy="272440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hart-line_ded8d80bd4ff.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ETERNAL, THE COMPANY BEHIND ZOMATO AND BLINKIT</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46 percent of customers, 150 percent of value</a:t>
            </a:r>
          </a:p>
        </p:txBody>
      </p:sp>
      <p:sp>
        <p:nvSpPr>
          <p:cNvPr id="14" name="TextBox 13"/>
          <p:cNvSpPr txBox="1"/>
          <p:nvPr/>
        </p:nvSpPr>
        <p:spPr>
          <a:xfrm>
            <a:off x="731519" y="3303524"/>
            <a:ext cx="5071719" cy="944626"/>
          </a:xfrm>
          <a:prstGeom prst="rect">
            <a:avLst/>
          </a:prstGeom>
          <a:noFill/>
        </p:spPr>
        <p:txBody>
          <a:bodyPr wrap="square" anchor="t" lIns="0" rIns="0" tIns="0" bIns="0">
            <a:spAutoFit/>
          </a:bodyPr>
          <a:lstStyle/>
          <a:p>
            <a:pPr algn="l"/>
            <a:r>
              <a:rPr sz="1100" b="0" i="0">
                <a:solidFill>
                  <a:srgbClr val="6B6690"/>
                </a:solidFill>
                <a:latin typeface="Calibri"/>
              </a:rPr>
              <a:t>Blinkit is its quick-commerce app. In the fourth quarter after joining, 46 percent of a cohort's customers still ordered, on average. The cohort's net order value (NOV) in that quarter was 150 percent of its first quarter's, and 279 percent by the twelfth: fewer customers, more value, so those who stay order much more</a:t>
            </a:r>
          </a:p>
        </p:txBody>
      </p:sp>
      <p:sp>
        <p:nvSpPr>
          <p:cNvPr id="15" name="Rounded Rectangle 14"/>
          <p:cNvSpPr/>
          <p:nvPr/>
        </p:nvSpPr>
        <p:spPr>
          <a:xfrm>
            <a:off x="6187287" y="1956816"/>
            <a:ext cx="5474055" cy="272440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able_e38a0cea5ee5.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SWIGGY INSTAMART, SWIGGY'S QUICK-COMMERCE APP</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Spend by cohort, indexed to one cohort's first quarter</a:t>
            </a:r>
          </a:p>
        </p:txBody>
      </p:sp>
      <p:sp>
        <p:nvSpPr>
          <p:cNvPr id="20" name="TextBox 19"/>
          <p:cNvSpPr txBox="1"/>
          <p:nvPr/>
        </p:nvSpPr>
        <p:spPr>
          <a:xfrm>
            <a:off x="6388455" y="3303524"/>
            <a:ext cx="5071719" cy="1126236"/>
          </a:xfrm>
          <a:prstGeom prst="rect">
            <a:avLst/>
          </a:prstGeom>
          <a:noFill/>
        </p:spPr>
        <p:txBody>
          <a:bodyPr wrap="square" anchor="t" lIns="0" rIns="0" tIns="0" bIns="0">
            <a:spAutoFit/>
          </a:bodyPr>
          <a:lstStyle/>
          <a:p>
            <a:pPr algn="l"/>
            <a:r>
              <a:rPr sz="1100" b="0" i="0">
                <a:solidFill>
                  <a:srgbClr val="6B6690"/>
                </a:solidFill>
                <a:latin typeface="Calibri"/>
              </a:rPr>
              <a:t>Every cohort's spend is shown against what the Q4 FY24 cohort (January to March 2024) spent in the quarter it joined, and that cohort spends 4.14 times as much in its sixth quarter. Swiggy says it weaned away users with "low potential Lifetime values", withdrawing the offers that kept them, and the table states no denominator: per user who joined, or per user who stayed?</a:t>
            </a:r>
          </a:p>
        </p:txBody>
      </p:sp>
      <p:sp>
        <p:nvSpPr>
          <p:cNvPr id="21" name="TextBox 20"/>
          <p:cNvSpPr txBox="1"/>
          <p:nvPr/>
        </p:nvSpPr>
        <p:spPr>
          <a:xfrm>
            <a:off x="530352" y="486410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Sources: Eternal's Q1 FY27 shareholder letter of 22 July 2026 and Swiggy's Q2 FY26 shareholder letter, each checked 12 October 2026. India's financial year runs April to March.</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4" name="Oval 2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6" name="Oval 2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15 / 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close: fix the entry moment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card answered, and what is still open?</a:t>
            </a:r>
          </a:p>
        </p:txBody>
      </p:sp>
      <p:pic>
        <p:nvPicPr>
          <p:cNvPr id="9" name="mermaid diagram" descr="df5981e9478e2ad0.png"/>
          <p:cNvPicPr>
            <a:picLocks noChangeAspect="1"/>
          </p:cNvPicPr>
          <p:nvPr/>
        </p:nvPicPr>
        <p:blipFill>
          <a:blip r:embed="rId7"/>
          <a:stretch>
            <a:fillRect/>
          </a:stretch>
        </p:blipFill>
        <p:spPr>
          <a:xfrm>
            <a:off x="921341" y="1664208"/>
            <a:ext cx="10349012" cy="2295144"/>
          </a:xfrm>
          <a:prstGeom prst="rect">
            <a:avLst/>
          </a:prstGeom>
        </p:spPr>
      </p:pic>
      <p:sp>
        <p:nvSpPr>
          <p:cNvPr id="10" name="Rounded Rectangle 9"/>
          <p:cNvSpPr/>
          <p:nvPr/>
        </p:nvSpPr>
        <p:spPr>
          <a:xfrm>
            <a:off x="530352" y="400507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668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4576572"/>
            <a:ext cx="237744" cy="237744"/>
          </a:xfrm>
          <a:prstGeom prst="rect">
            <a:avLst/>
          </a:prstGeom>
        </p:spPr>
      </p:pic>
      <p:sp>
        <p:nvSpPr>
          <p:cNvPr id="13" name="TextBox 12"/>
          <p:cNvSpPr txBox="1"/>
          <p:nvPr/>
        </p:nvSpPr>
        <p:spPr>
          <a:xfrm>
            <a:off x="1399031" y="41513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370832"/>
            <a:ext cx="9987991" cy="941832"/>
          </a:xfrm>
          <a:prstGeom prst="rect">
            <a:avLst/>
          </a:prstGeom>
          <a:noFill/>
        </p:spPr>
        <p:txBody>
          <a:bodyPr wrap="square" anchor="t" lIns="0" rIns="0" tIns="0" bIns="0">
            <a:spAutoFit/>
          </a:bodyPr>
          <a:lstStyle/>
          <a:p>
            <a:r>
              <a:rPr sz="1500" b="0" i="0">
                <a:solidFill>
                  <a:srgbClr val="1A1440"/>
                </a:solidFill>
                <a:latin typeface="Calibri"/>
              </a:rPr>
              <a:t>Before reading any retention number, ask which members it counts and from which month: a group that joined in a sale and a group that joined last spring are different groups, and one average over both names neither.</a:t>
            </a:r>
          </a:p>
        </p:txBody>
      </p:sp>
      <p:sp>
        <p:nvSpPr>
          <p:cNvPr id="15" name="Rounded Rectangle 14"/>
          <p:cNvSpPr/>
          <p:nvPr/>
        </p:nvSpPr>
        <p:spPr>
          <a:xfrm>
            <a:off x="530352" y="555040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60121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6121908"/>
            <a:ext cx="237744" cy="237744"/>
          </a:xfrm>
          <a:prstGeom prst="rect">
            <a:avLst/>
          </a:prstGeom>
        </p:spPr>
      </p:pic>
      <p:sp>
        <p:nvSpPr>
          <p:cNvPr id="18" name="TextBox 17"/>
          <p:cNvSpPr txBox="1"/>
          <p:nvPr/>
        </p:nvSpPr>
        <p:spPr>
          <a:xfrm>
            <a:off x="1399031" y="56967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916168"/>
            <a:ext cx="9987991" cy="941832"/>
          </a:xfrm>
          <a:prstGeom prst="rect">
            <a:avLst/>
          </a:prstGeom>
          <a:noFill/>
        </p:spPr>
        <p:txBody>
          <a:bodyPr wrap="square" anchor="t" lIns="0" rIns="0" tIns="0" bIns="0">
            <a:spAutoFit/>
          </a:bodyPr>
          <a:lstStyle/>
          <a:p>
            <a:r>
              <a:rPr sz="1500" b="0" i="0">
                <a:solidFill>
                  <a:srgbClr val="1A1440"/>
                </a:solidFill>
                <a:latin typeface="Calibri"/>
              </a:rPr>
              <a:t>[F], a question frequent in GCC (global capability centre) and product-company screens: blended retention is flat while every cohort declines; how? The mix, each cohort's share of the count, changes under the average, and the average counts who it counts.</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Who entered when?</a:t>
            </a:r>
          </a:p>
        </p:txBody>
      </p:sp>
      <p:sp>
        <p:nvSpPr>
          <p:cNvPr id="22" name="Oval 2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16 / 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the 38 made of?</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does every cohort's curve look like on 53,089 members, and how can the dashboard stay at 38 while each one falls?</a:t>
            </a:r>
          </a:p>
        </p:txBody>
      </p:sp>
      <p:sp>
        <p:nvSpPr>
          <p:cNvPr id="10" name="Rounded Rectangle 9"/>
          <p:cNvSpPr/>
          <p:nvPr/>
        </p:nvSpPr>
        <p:spPr>
          <a:xfrm>
            <a:off x="731519"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1" name="Rounded Rectangle 10"/>
          <p:cNvSpPr/>
          <p:nvPr/>
        </p:nvSpPr>
        <p:spPr>
          <a:xfrm>
            <a:off x="2213679"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the 38 made of?</a:t>
            </a:r>
          </a:p>
        </p:txBody>
      </p:sp>
      <p:sp>
        <p:nvSpPr>
          <p:cNvPr id="12" name="Rounded Rectangle 11"/>
          <p:cNvSpPr/>
          <p:nvPr/>
        </p:nvSpPr>
        <p:spPr>
          <a:xfrm>
            <a:off x="4051134"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stage owns the loss?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Who is leaving Zomato Gold in Chennai, and at which step?</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17 / 40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2: from twelve members to 53,089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about to report "nothing changed" because the number is flat. If the flat number hides falling cohorts and a weak August cohort, the fix waits a month too long.</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each cohort keep, month by month?</a:t>
            </a:r>
          </a:p>
        </p:txBody>
      </p:sp>
      <p:sp>
        <p:nvSpPr>
          <p:cNvPr id="17" name="TextBox 16"/>
          <p:cNvSpPr txBox="1"/>
          <p:nvPr/>
        </p:nvSpPr>
        <p:spPr>
          <a:xfrm>
            <a:off x="694944"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One pivot_table on member_months</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the dashboard print, counted directly?</a:t>
            </a:r>
          </a:p>
        </p:txBody>
      </p:sp>
      <p:sp>
        <p:nvSpPr>
          <p:cNvPr id="22" name="TextBox 21"/>
          <p:cNvSpPr txBox="1"/>
          <p:nvPr/>
        </p:nvSpPr>
        <p:spPr>
          <a:xfrm>
            <a:off x="3523411" y="4464812"/>
            <a:ext cx="2316403" cy="201676"/>
          </a:xfrm>
          <a:prstGeom prst="rect">
            <a:avLst/>
          </a:prstGeom>
          <a:noFill/>
        </p:spPr>
        <p:txBody>
          <a:bodyPr wrap="square" anchor="t" lIns="0" rIns="0" tIns="0" bIns="0">
            <a:spAutoFit/>
          </a:bodyPr>
          <a:lstStyle/>
          <a:p>
            <a:pPr algn="l"/>
            <a:r>
              <a:rPr sz="1000" b="0" i="0">
                <a:solidFill>
                  <a:srgbClr val="6B6690"/>
                </a:solidFill>
                <a:latin typeface="Calibri"/>
              </a:rPr>
              <a:t>June to September</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is September's 38 made of?</a:t>
            </a:r>
          </a:p>
        </p:txBody>
      </p:sp>
      <p:sp>
        <p:nvSpPr>
          <p:cNvPr id="27" name="TextBox 26"/>
          <p:cNvSpPr txBox="1"/>
          <p:nvPr/>
        </p:nvSpPr>
        <p:spPr>
          <a:xfrm>
            <a:off x="6351879" y="4464812"/>
            <a:ext cx="2316403" cy="366776"/>
          </a:xfrm>
          <a:prstGeom prst="rect">
            <a:avLst/>
          </a:prstGeom>
          <a:noFill/>
        </p:spPr>
        <p:txBody>
          <a:bodyPr wrap="square" anchor="t" lIns="0" rIns="0" tIns="0" bIns="0">
            <a:spAutoFit/>
          </a:bodyPr>
          <a:lstStyle/>
          <a:p>
            <a:pPr algn="l"/>
            <a:r>
              <a:rPr sz="1000" b="0" i="0">
                <a:solidFill>
                  <a:srgbClr val="6B6690"/>
                </a:solidFill>
                <a:latin typeface="Calibri"/>
              </a:rPr>
              <a:t>The weighted average, cohort by cohort</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is outside the count?</a:t>
            </a:r>
          </a:p>
        </p:txBody>
      </p:sp>
      <p:sp>
        <p:nvSpPr>
          <p:cNvPr id="32" name="TextBox 31"/>
          <p:cNvSpPr txBox="1"/>
          <p:nvPr/>
        </p:nvSpPr>
        <p:spPr>
          <a:xfrm>
            <a:off x="9180347" y="4250182"/>
            <a:ext cx="2316403" cy="366776"/>
          </a:xfrm>
          <a:prstGeom prst="rect">
            <a:avLst/>
          </a:prstGeom>
          <a:noFill/>
        </p:spPr>
        <p:txBody>
          <a:bodyPr wrap="square" anchor="t" lIns="0" rIns="0" tIns="0" bIns="0">
            <a:spAutoFit/>
          </a:bodyPr>
          <a:lstStyle/>
          <a:p>
            <a:pPr algn="l"/>
            <a:r>
              <a:rPr sz="1000" b="0" i="0">
                <a:solidFill>
                  <a:srgbClr val="CFC9EE"/>
                </a:solidFill>
                <a:latin typeface="Calibri"/>
              </a:rPr>
              <a:t>The August cohort, and what it will do in October</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35" name="Oval 34"/>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37" name="Oval 3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way does each cohort's row run?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Once age is computed, one pivot_table builds the table. After month one, which way does each row run?</a:t>
            </a:r>
          </a:p>
        </p:txBody>
      </p:sp>
      <p:sp>
        <p:nvSpPr>
          <p:cNvPr id="9" name="Rounded Rectangle 8"/>
          <p:cNvSpPr/>
          <p:nvPr/>
        </p:nvSpPr>
        <p:spPr>
          <a:xfrm>
            <a:off x="530352" y="1919478"/>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4749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4749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4749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48662"/>
            <a:ext cx="10673791" cy="1822195"/>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mm is member_months; year x 12 + month is a running count, so 2026-09 minus 2026-07 is 2</a:t>
            </a:r>
          </a:p>
          <a:p>
            <a:pPr>
              <a:spcAft>
                <a:spcPts val="200"/>
              </a:spcAft>
            </a:pPr>
            <a:r>
              <a:rPr sz="1400" b="0" i="0">
                <a:solidFill>
                  <a:srgbClr val="E4E1F1"/>
                </a:solidFill>
                <a:latin typeface="Consolas"/>
              </a:rPr>
              <a:t>month_n = mm["month"].str[:4].astype(int) * 12 + mm["month"].str[5:].astype(int)</a:t>
            </a:r>
          </a:p>
          <a:p>
            <a:pPr>
              <a:spcAft>
                <a:spcPts val="200"/>
              </a:spcAft>
            </a:pPr>
            <a:r>
              <a:rPr sz="1400" b="0" i="0">
                <a:solidFill>
                  <a:srgbClr val="E4E1F1"/>
                </a:solidFill>
                <a:latin typeface="Consolas"/>
              </a:rPr>
              <a:t>cohort_n = mm["cohort_month"].str[:4].astype(int) * 12 + mm["cohort_month"].str[5:].astype(int)</a:t>
            </a:r>
          </a:p>
          <a:p>
            <a:pPr>
              <a:spcAft>
                <a:spcPts val="200"/>
              </a:spcAft>
            </a:pPr>
            <a:r>
              <a:rPr sz="1400" b="0" i="0">
                <a:solidFill>
                  <a:srgbClr val="E4E1F1"/>
                </a:solidFill>
                <a:latin typeface="Consolas"/>
              </a:rPr>
              <a:t>mm["age"] = month_n - cohort_n          # month zero is the joining month</a:t>
            </a:r>
          </a:p>
          <a:p>
            <a:pPr>
              <a:spcAft>
                <a:spcPts val="200"/>
              </a:spcAft>
            </a:pPr>
            <a:r>
              <a:rPr sz="1400" b="0" i="0">
                <a:solidFill>
                  <a:srgbClr val="E4E1F1"/>
                </a:solidFill>
                <a:latin typeface="Consolas"/>
              </a:rPr>
              <a:t>tri = mm[mm["age"] &gt;= 1].pivot_table(index="cohort_month", columns="age",</a:t>
            </a:r>
          </a:p>
          <a:p>
            <a:pPr>
              <a:spcAft>
                <a:spcPts val="200"/>
              </a:spcAft>
            </a:pPr>
            <a:r>
              <a:rPr sz="1400" b="0" i="0">
                <a:solidFill>
                  <a:srgbClr val="E4E1F1"/>
                </a:solidFill>
                <a:latin typeface="Consolas"/>
              </a:rPr>
              <a:t>                                     values="active", aggfunc="mean")   # True counts 1, so a mean is a share</a:t>
            </a:r>
          </a:p>
        </p:txBody>
      </p:sp>
      <p:sp>
        <p:nvSpPr>
          <p:cNvPr id="14" name="TextBox 13"/>
          <p:cNvSpPr txBox="1"/>
          <p:nvPr/>
        </p:nvSpPr>
        <p:spPr>
          <a:xfrm>
            <a:off x="530352" y="4308601"/>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Up, as members settle into a habit</a:t>
            </a:r>
          </a:p>
          <a:p>
            <a:pPr>
              <a:spcAft>
                <a:spcPts val="800"/>
              </a:spcAft>
            </a:pPr>
            <a:r>
              <a:rPr sz="1600" b="0" i="0">
                <a:solidFill>
                  <a:srgbClr val="1A1440"/>
                </a:solidFill>
                <a:latin typeface="Calibri"/>
              </a:rPr>
              <a:t>b) Flat, which is why the dashboard is flat</a:t>
            </a:r>
          </a:p>
          <a:p>
            <a:pPr>
              <a:spcAft>
                <a:spcPts val="800"/>
              </a:spcAft>
            </a:pPr>
            <a:r>
              <a:rPr sz="1600" b="0" i="0">
                <a:solidFill>
                  <a:srgbClr val="1A1440"/>
                </a:solidFill>
                <a:latin typeface="Calibri"/>
              </a:rPr>
              <a:t>c) Down: a big step after month one, then a slow slide</a:t>
            </a:r>
          </a:p>
          <a:p>
            <a:pPr>
              <a:spcAft>
                <a:spcPts val="800"/>
              </a:spcAft>
            </a:pPr>
            <a:r>
              <a:rPr sz="1600" b="0" i="0">
                <a:solidFill>
                  <a:srgbClr val="1A1440"/>
                </a:solidFill>
                <a:latin typeface="Calibri"/>
              </a:rPr>
              <a:t>d) Up, then down</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7" name="Oval 16"/>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every row falls, and each starts lower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full table show, cohort by cohort?</a:t>
            </a:r>
          </a:p>
        </p:txBody>
      </p:sp>
      <p:pic>
        <p:nvPicPr>
          <p:cNvPr id="9" name="mermaid diagram" descr="C2_W04_D04_cohort_triangle_STUDENT.png"/>
          <p:cNvPicPr>
            <a:picLocks noChangeAspect="1"/>
          </p:cNvPicPr>
          <p:nvPr/>
        </p:nvPicPr>
        <p:blipFill>
          <a:blip r:embed="rId4"/>
          <a:stretch>
            <a:fillRect/>
          </a:stretch>
        </p:blipFill>
        <p:spPr>
          <a:xfrm>
            <a:off x="2932376" y="1664208"/>
            <a:ext cx="632694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Every cohort falls with age, and each new cohort starts lower</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answer is c. Each cohort drops from its month one to about 38.5 percent in month two, then slides about 0.3 points a month, close to flat; the gap between two percentages is counted in points. What changes from cohort to cohort is month one: 58 percent for January down to 49 for July, and 31 for the 13,000-member August cohort. The dashboard starts at month two, so it never sees the weaker start.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what does the dashboard print?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every cohort falling, what does month-two retention print from June to September?</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 fall of two or three points a month</a:t>
            </a:r>
          </a:p>
          <a:p>
            <a:pPr>
              <a:spcAft>
                <a:spcPts val="800"/>
              </a:spcAft>
            </a:pPr>
            <a:r>
              <a:rPr sz="1600" b="0" i="0">
                <a:solidFill>
                  <a:srgbClr val="1A1440"/>
                </a:solidFill>
                <a:latin typeface="Calibri"/>
              </a:rPr>
              <a:t>b) About 38 percent every month</a:t>
            </a:r>
          </a:p>
          <a:p>
            <a:pPr>
              <a:spcAft>
                <a:spcPts val="800"/>
              </a:spcAft>
            </a:pPr>
            <a:r>
              <a:rPr sz="1600" b="0" i="0">
                <a:solidFill>
                  <a:srgbClr val="1A1440"/>
                </a:solidFill>
                <a:latin typeface="Calibri"/>
              </a:rPr>
              <a:t>c) A rise, because new cohorts keep joining</a:t>
            </a:r>
          </a:p>
          <a:p>
            <a:pPr>
              <a:spcAft>
                <a:spcPts val="800"/>
              </a:spcAft>
            </a:pPr>
            <a:r>
              <a:rPr sz="1600" b="0" i="0">
                <a:solidFill>
                  <a:srgbClr val="1A1440"/>
                </a:solidFill>
                <a:latin typeface="Calibri"/>
              </a:rPr>
              <a:t>d) Flat until September, then a drop when the August cohort arrives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38.2, 38.0, 37.9, 37.8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dashboard print, counted directly from member_months?</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38.2</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JUNE</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7,722 of 20,217 members</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38.0</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JULY</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9,558 of 25,122</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37.9</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AUGUST</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11,359 of 29,943</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37.8</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SEPTEMBER</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13,218 of 35,000</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dashboard prints 38 every month. Each month one more cohort enters the count at about 38.5 percent, just above the older cohorts' slow slide, so the average holds while every cohort falls. It counts every member aged two or more, so it is not the table's month-two column.</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8" name="Oval 27"/>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30" name="Oval 2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call: "38 and flat, nothing changed"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a hurried analyst conclude from four flat months, and what would it cost?</a:t>
            </a:r>
          </a:p>
        </p:txBody>
      </p:sp>
      <p:sp>
        <p:nvSpPr>
          <p:cNvPr id="9" name="Rounded Rectangle 8"/>
          <p:cNvSpPr/>
          <p:nvPr/>
        </p:nvSpPr>
        <p:spPr>
          <a:xfrm>
            <a:off x="530352" y="168249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442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ug_39ada6eff46d.png"/>
          <p:cNvPicPr>
            <a:picLocks noChangeAspect="1"/>
          </p:cNvPicPr>
          <p:nvPr/>
        </p:nvPicPr>
        <p:blipFill>
          <a:blip r:embed="rId4"/>
          <a:stretch>
            <a:fillRect/>
          </a:stretch>
        </p:blipFill>
        <p:spPr>
          <a:xfrm>
            <a:off x="868680" y="2253996"/>
            <a:ext cx="237744" cy="237744"/>
          </a:xfrm>
          <a:prstGeom prst="rect">
            <a:avLst/>
          </a:prstGeom>
        </p:spPr>
      </p:pic>
      <p:sp>
        <p:nvSpPr>
          <p:cNvPr id="12" name="TextBox 11"/>
          <p:cNvSpPr txBox="1"/>
          <p:nvPr/>
        </p:nvSpPr>
        <p:spPr>
          <a:xfrm>
            <a:off x="1399031" y="18288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3" name="TextBox 12"/>
          <p:cNvSpPr txBox="1"/>
          <p:nvPr/>
        </p:nvSpPr>
        <p:spPr>
          <a:xfrm>
            <a:off x="1399031" y="2048256"/>
            <a:ext cx="9987991" cy="941832"/>
          </a:xfrm>
          <a:prstGeom prst="rect">
            <a:avLst/>
          </a:prstGeom>
          <a:noFill/>
        </p:spPr>
        <p:txBody>
          <a:bodyPr wrap="square" anchor="t" lIns="0" rIns="0" tIns="0" bIns="0">
            <a:spAutoFit/>
          </a:bodyPr>
          <a:lstStyle/>
          <a:p>
            <a:r>
              <a:rPr sz="1500" b="0" i="0">
                <a:solidFill>
                  <a:srgbClr val="1A1440"/>
                </a:solidFill>
                <a:latin typeface="Calibri"/>
              </a:rPr>
              <a:t>"Month-two retention is 38 percent and flat, so nothing changed." The decision it would mislead: the August cohort gets no action, the dashboard stays the month's headline, and October's drop arrives as a surprise.</a:t>
            </a:r>
          </a:p>
        </p:txBody>
      </p:sp>
      <p:sp>
        <p:nvSpPr>
          <p:cNvPr id="14" name="Rounded Rectangle 13"/>
          <p:cNvSpPr/>
          <p:nvPr/>
        </p:nvSpPr>
        <p:spPr>
          <a:xfrm>
            <a:off x="530352" y="322783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35584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346704"/>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38 is an average over cohorts of different ages, weighted by their sizes, and it only counts a member from her second month. A flat average can sit on top of every cohort falling, as batch A fell under batch B on the toy.</a:t>
            </a:r>
          </a:p>
        </p:txBody>
      </p:sp>
      <p:sp>
        <p:nvSpPr>
          <p:cNvPr id="17" name="Rounded Rectangle 16"/>
          <p:cNvSpPr/>
          <p:nvPr/>
        </p:nvSpPr>
        <p:spPr>
          <a:xfrm>
            <a:off x="530352" y="4466844"/>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4594859"/>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4585716"/>
            <a:ext cx="10564063" cy="14249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Take the number apart, cohort by cohort, and compare each piece with the direct count. Swiggy's own tables show why: across the platform, users who ordered at least once a month rose 27.4 percent year on year while platform frequency, how often each orders, fell 6.3 percent, from 4.13 to 3.87, and the blend cannot say whether existing users ordered less or new users ordered little (Swiggy's Q1 FY27 letter of 30 July 2026, checked 12 October 2026; the 6.3 is our arithmetic).</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month's 38: a new cohort enters, old ones slide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each month's number made of?</a:t>
            </a:r>
          </a:p>
        </p:txBody>
      </p:sp>
      <p:pic>
        <p:nvPicPr>
          <p:cNvPr id="9" name="mermaid diagram" descr="C2_W04_D04_blend_decomposition_STUDENT.png"/>
          <p:cNvPicPr>
            <a:picLocks noChangeAspect="1"/>
          </p:cNvPicPr>
          <p:nvPr/>
        </p:nvPicPr>
        <p:blipFill>
          <a:blip r:embed="rId4"/>
          <a:stretch>
            <a:fillRect/>
          </a:stretch>
        </p:blipFill>
        <p:spPr>
          <a:xfrm>
            <a:off x="2367657" y="1664208"/>
            <a:ext cx="7456379"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month's 38 percent: a new cohort enters, every older one falls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Each stack is the dashboard's count for one month; the dark part ordered. Every older cohort's dark share shrinks a little each month, and one new cohort enters at the top. The hatched bar is the August cohort, outside the count in September.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Second route: 13,218 of 35,000, both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September's 38, rebuilt as a weighted average of its cohorts, equal the direct count?</a:t>
            </a:r>
          </a:p>
        </p:txBody>
      </p:sp>
      <p:graphicFrame>
        <p:nvGraphicFramePr>
          <p:cNvPr id="9" name="Table 8"/>
          <p:cNvGraphicFramePr>
            <a:graphicFrameLocks noGrp="1"/>
          </p:cNvGraphicFramePr>
          <p:nvPr/>
        </p:nvGraphicFramePr>
        <p:xfrm>
          <a:off x="530352" y="1809496"/>
          <a:ext cx="11130990" cy="2958592"/>
        </p:xfrm>
        <a:graphic>
          <a:graphicData uri="http://schemas.openxmlformats.org/drawingml/2006/table">
            <a:tbl>
              <a:tblPr firstRow="0" bandRow="0">
                <a:tableStyleId>{2D5ABB26-0587-4C30-8999-92F81FD0307C}</a:tableStyleId>
              </a:tblPr>
              <a:tblGrid>
                <a:gridCol w="2546440"/>
                <a:gridCol w="2507208"/>
                <a:gridCol w="6077342"/>
              </a:tblGrid>
              <a:tr h="369824">
                <a:tc>
                  <a:txBody>
                    <a:bodyPr/>
                    <a:lstStyle/>
                    <a:p>
                      <a:r>
                        <a:rPr sz="1450" b="1" i="0">
                          <a:solidFill>
                            <a:srgbClr val="FFFFFF"/>
                          </a:solidFill>
                          <a:latin typeface="Calibri"/>
                        </a:rPr>
                        <a:t>Cohort</a:t>
                      </a:r>
                    </a:p>
                  </a:txBody>
                  <a:tcPr marL="101600" marR="101600" marT="38100" marB="38100" anchor="ctr">
                    <a:solidFill>
                      <a:srgbClr val="1A0F5C"/>
                    </a:solidFill>
                  </a:tcPr>
                </a:tc>
                <a:tc>
                  <a:txBody>
                    <a:bodyPr/>
                    <a:lstStyle/>
                    <a:p>
                      <a:r>
                        <a:rPr sz="1450" b="1" i="0">
                          <a:solidFill>
                            <a:srgbClr val="FFFFFF"/>
                          </a:solidFill>
                          <a:latin typeface="Calibri"/>
                        </a:rPr>
                        <a:t>Members</a:t>
                      </a:r>
                    </a:p>
                  </a:txBody>
                  <a:tcPr marL="101600" marR="101600" marT="38100" marB="38100" anchor="ctr">
                    <a:solidFill>
                      <a:srgbClr val="1A0F5C"/>
                    </a:solidFill>
                  </a:tcPr>
                </a:tc>
                <a:tc>
                  <a:txBody>
                    <a:bodyPr/>
                    <a:lstStyle/>
                    <a:p>
                      <a:r>
                        <a:rPr sz="1450" b="1" i="0">
                          <a:solidFill>
                            <a:srgbClr val="FFFFFF"/>
                          </a:solidFill>
                          <a:latin typeface="Calibri"/>
                        </a:rPr>
                        <a:t>Ordered in September</a:t>
                      </a:r>
                    </a:p>
                  </a:txBody>
                  <a:tcPr marL="101600" marR="101600" marT="38100" marB="38100" anchor="ctr">
                    <a:solidFill>
                      <a:srgbClr val="1A0F5C"/>
                    </a:solidFill>
                  </a:tcPr>
                </a:tc>
              </a:tr>
              <a:tr h="369824">
                <a:tc>
                  <a:txBody>
                    <a:bodyPr/>
                    <a:lstStyle/>
                    <a:p>
                      <a:r>
                        <a:rPr sz="1400" b="0" i="0">
                          <a:solidFill>
                            <a:srgbClr val="1A1440"/>
                          </a:solidFill>
                          <a:latin typeface="Calibri"/>
                        </a:rPr>
                        <a:t>January</a:t>
                      </a:r>
                    </a:p>
                  </a:txBody>
                  <a:tcPr marL="101600" marR="101600" marT="38100" marB="38100" anchor="ctr">
                    <a:solidFill>
                      <a:srgbClr val="FFFFFF"/>
                    </a:solidFill>
                  </a:tcPr>
                </a:tc>
                <a:tc>
                  <a:txBody>
                    <a:bodyPr/>
                    <a:lstStyle/>
                    <a:p>
                      <a:r>
                        <a:rPr sz="1400" b="0" i="0">
                          <a:solidFill>
                            <a:srgbClr val="1A1440"/>
                          </a:solidFill>
                          <a:latin typeface="Calibri"/>
                        </a:rPr>
                        <a:t>4,854</a:t>
                      </a:r>
                    </a:p>
                  </a:txBody>
                  <a:tcPr marL="101600" marR="101600" marT="38100" marB="38100" anchor="ctr">
                    <a:solidFill>
                      <a:srgbClr val="FFFFFF"/>
                    </a:solidFill>
                  </a:tcPr>
                </a:tc>
                <a:tc>
                  <a:txBody>
                    <a:bodyPr/>
                    <a:lstStyle/>
                    <a:p>
                      <a:r>
                        <a:rPr sz="1400" b="0" i="0">
                          <a:solidFill>
                            <a:srgbClr val="1A1440"/>
                          </a:solidFill>
                          <a:latin typeface="Calibri"/>
                        </a:rPr>
                        <a:t>36.9 percent</a:t>
                      </a:r>
                    </a:p>
                  </a:txBody>
                  <a:tcPr marL="101600" marR="101600" marT="38100" marB="38100" anchor="ctr">
                    <a:solidFill>
                      <a:srgbClr val="FFFFFF"/>
                    </a:solidFill>
                  </a:tcPr>
                </a:tc>
              </a:tr>
              <a:tr h="369824">
                <a:tc>
                  <a:txBody>
                    <a:bodyPr/>
                    <a:lstStyle/>
                    <a:p>
                      <a:r>
                        <a:rPr sz="1400" b="0" i="0">
                          <a:solidFill>
                            <a:srgbClr val="1A1440"/>
                          </a:solidFill>
                          <a:latin typeface="Calibri"/>
                        </a:rPr>
                        <a:t>February</a:t>
                      </a:r>
                    </a:p>
                  </a:txBody>
                  <a:tcPr marL="101600" marR="101600" marT="38100" marB="38100" anchor="ctr">
                    <a:solidFill>
                      <a:srgbClr val="F4F2FA"/>
                    </a:solidFill>
                  </a:tcPr>
                </a:tc>
                <a:tc>
                  <a:txBody>
                    <a:bodyPr/>
                    <a:lstStyle/>
                    <a:p>
                      <a:r>
                        <a:rPr sz="1400" b="0" i="0">
                          <a:solidFill>
                            <a:srgbClr val="1A1440"/>
                          </a:solidFill>
                          <a:latin typeface="Calibri"/>
                        </a:rPr>
                        <a:t>5,055</a:t>
                      </a:r>
                    </a:p>
                  </a:txBody>
                  <a:tcPr marL="101600" marR="101600" marT="38100" marB="38100" anchor="ctr">
                    <a:solidFill>
                      <a:srgbClr val="F4F2FA"/>
                    </a:solidFill>
                  </a:tcPr>
                </a:tc>
                <a:tc>
                  <a:txBody>
                    <a:bodyPr/>
                    <a:lstStyle/>
                    <a:p>
                      <a:r>
                        <a:rPr sz="1400" b="0" i="0">
                          <a:solidFill>
                            <a:srgbClr val="1A1440"/>
                          </a:solidFill>
                          <a:latin typeface="Calibri"/>
                        </a:rPr>
                        <a:t>37.1 percent</a:t>
                      </a:r>
                    </a:p>
                  </a:txBody>
                  <a:tcPr marL="101600" marR="101600" marT="38100" marB="38100" anchor="ctr">
                    <a:solidFill>
                      <a:srgbClr val="F4F2FA"/>
                    </a:solidFill>
                  </a:tcPr>
                </a:tc>
              </a:tr>
              <a:tr h="369824">
                <a:tc>
                  <a:txBody>
                    <a:bodyPr/>
                    <a:lstStyle/>
                    <a:p>
                      <a:r>
                        <a:rPr sz="1400" b="0" i="0">
                          <a:solidFill>
                            <a:srgbClr val="1A1440"/>
                          </a:solidFill>
                          <a:latin typeface="Calibri"/>
                        </a:rPr>
                        <a:t>March</a:t>
                      </a:r>
                    </a:p>
                  </a:txBody>
                  <a:tcPr marL="101600" marR="101600" marT="38100" marB="38100" anchor="ctr">
                    <a:solidFill>
                      <a:srgbClr val="FFFFFF"/>
                    </a:solidFill>
                  </a:tcPr>
                </a:tc>
                <a:tc>
                  <a:txBody>
                    <a:bodyPr/>
                    <a:lstStyle/>
                    <a:p>
                      <a:r>
                        <a:rPr sz="1400" b="0" i="0">
                          <a:solidFill>
                            <a:srgbClr val="1A1440"/>
                          </a:solidFill>
                          <a:latin typeface="Calibri"/>
                        </a:rPr>
                        <a:t>5,449</a:t>
                      </a:r>
                    </a:p>
                  </a:txBody>
                  <a:tcPr marL="101600" marR="101600" marT="38100" marB="38100" anchor="ctr">
                    <a:solidFill>
                      <a:srgbClr val="FFFFFF"/>
                    </a:solidFill>
                  </a:tcPr>
                </a:tc>
                <a:tc>
                  <a:txBody>
                    <a:bodyPr/>
                    <a:lstStyle/>
                    <a:p>
                      <a:r>
                        <a:rPr sz="1400" b="0" i="0">
                          <a:solidFill>
                            <a:srgbClr val="1A1440"/>
                          </a:solidFill>
                          <a:latin typeface="Calibri"/>
                        </a:rPr>
                        <a:t>37.5 percent</a:t>
                      </a:r>
                    </a:p>
                  </a:txBody>
                  <a:tcPr marL="101600" marR="101600" marT="38100" marB="38100" anchor="ctr">
                    <a:solidFill>
                      <a:srgbClr val="FFFFFF"/>
                    </a:solidFill>
                  </a:tcPr>
                </a:tc>
              </a:tr>
              <a:tr h="369824">
                <a:tc>
                  <a:txBody>
                    <a:bodyPr/>
                    <a:lstStyle/>
                    <a:p>
                      <a:r>
                        <a:rPr sz="1400" b="0" i="0">
                          <a:solidFill>
                            <a:srgbClr val="1A1440"/>
                          </a:solidFill>
                          <a:latin typeface="Calibri"/>
                        </a:rPr>
                        <a:t>April</a:t>
                      </a:r>
                    </a:p>
                  </a:txBody>
                  <a:tcPr marL="101600" marR="101600" marT="38100" marB="38100" anchor="ctr">
                    <a:solidFill>
                      <a:srgbClr val="F4F2FA"/>
                    </a:solidFill>
                  </a:tcPr>
                </a:tc>
                <a:tc>
                  <a:txBody>
                    <a:bodyPr/>
                    <a:lstStyle/>
                    <a:p>
                      <a:r>
                        <a:rPr sz="1400" b="0" i="0">
                          <a:solidFill>
                            <a:srgbClr val="1A1440"/>
                          </a:solidFill>
                          <a:latin typeface="Calibri"/>
                        </a:rPr>
                        <a:t>4,859</a:t>
                      </a:r>
                    </a:p>
                  </a:txBody>
                  <a:tcPr marL="101600" marR="101600" marT="38100" marB="38100" anchor="ctr">
                    <a:solidFill>
                      <a:srgbClr val="F4F2FA"/>
                    </a:solidFill>
                  </a:tcPr>
                </a:tc>
                <a:tc>
                  <a:txBody>
                    <a:bodyPr/>
                    <a:lstStyle/>
                    <a:p>
                      <a:r>
                        <a:rPr sz="1400" b="0" i="0">
                          <a:solidFill>
                            <a:srgbClr val="1A1440"/>
                          </a:solidFill>
                          <a:latin typeface="Calibri"/>
                        </a:rPr>
                        <a:t>37.7 percent</a:t>
                      </a:r>
                    </a:p>
                  </a:txBody>
                  <a:tcPr marL="101600" marR="101600" marT="38100" marB="38100" anchor="ctr">
                    <a:solidFill>
                      <a:srgbClr val="F4F2FA"/>
                    </a:solidFill>
                  </a:tcPr>
                </a:tc>
              </a:tr>
              <a:tr h="369824">
                <a:tc>
                  <a:txBody>
                    <a:bodyPr/>
                    <a:lstStyle/>
                    <a:p>
                      <a:r>
                        <a:rPr sz="1400" b="0" i="0">
                          <a:solidFill>
                            <a:srgbClr val="1A1440"/>
                          </a:solidFill>
                          <a:latin typeface="Calibri"/>
                        </a:rPr>
                        <a:t>May</a:t>
                      </a:r>
                    </a:p>
                  </a:txBody>
                  <a:tcPr marL="101600" marR="101600" marT="38100" marB="38100" anchor="ctr">
                    <a:solidFill>
                      <a:srgbClr val="FFFFFF"/>
                    </a:solidFill>
                  </a:tcPr>
                </a:tc>
                <a:tc>
                  <a:txBody>
                    <a:bodyPr/>
                    <a:lstStyle/>
                    <a:p>
                      <a:r>
                        <a:rPr sz="1400" b="0" i="0">
                          <a:solidFill>
                            <a:srgbClr val="1A1440"/>
                          </a:solidFill>
                          <a:latin typeface="Calibri"/>
                        </a:rPr>
                        <a:t>4,905</a:t>
                      </a:r>
                    </a:p>
                  </a:txBody>
                  <a:tcPr marL="101600" marR="101600" marT="38100" marB="38100" anchor="ctr">
                    <a:solidFill>
                      <a:srgbClr val="FFFFFF"/>
                    </a:solidFill>
                  </a:tcPr>
                </a:tc>
                <a:tc>
                  <a:txBody>
                    <a:bodyPr/>
                    <a:lstStyle/>
                    <a:p>
                      <a:r>
                        <a:rPr sz="1400" b="0" i="0">
                          <a:solidFill>
                            <a:srgbClr val="1A1440"/>
                          </a:solidFill>
                          <a:latin typeface="Calibri"/>
                        </a:rPr>
                        <a:t>38.1 percent</a:t>
                      </a:r>
                    </a:p>
                  </a:txBody>
                  <a:tcPr marL="101600" marR="101600" marT="38100" marB="38100" anchor="ctr">
                    <a:solidFill>
                      <a:srgbClr val="FFFFFF"/>
                    </a:solidFill>
                  </a:tcPr>
                </a:tc>
              </a:tr>
              <a:tr h="369824">
                <a:tc>
                  <a:txBody>
                    <a:bodyPr/>
                    <a:lstStyle/>
                    <a:p>
                      <a:r>
                        <a:rPr sz="1400" b="0" i="0">
                          <a:solidFill>
                            <a:srgbClr val="1A1440"/>
                          </a:solidFill>
                          <a:latin typeface="Calibri"/>
                        </a:rPr>
                        <a:t>June</a:t>
                      </a:r>
                    </a:p>
                  </a:txBody>
                  <a:tcPr marL="101600" marR="101600" marT="38100" marB="38100" anchor="ctr">
                    <a:solidFill>
                      <a:srgbClr val="F4F2FA"/>
                    </a:solidFill>
                  </a:tcPr>
                </a:tc>
                <a:tc>
                  <a:txBody>
                    <a:bodyPr/>
                    <a:lstStyle/>
                    <a:p>
                      <a:r>
                        <a:rPr sz="1400" b="0" i="0">
                          <a:solidFill>
                            <a:srgbClr val="1A1440"/>
                          </a:solidFill>
                          <a:latin typeface="Calibri"/>
                        </a:rPr>
                        <a:t>4,821</a:t>
                      </a:r>
                    </a:p>
                  </a:txBody>
                  <a:tcPr marL="101600" marR="101600" marT="38100" marB="38100" anchor="ctr">
                    <a:solidFill>
                      <a:srgbClr val="F4F2FA"/>
                    </a:solidFill>
                  </a:tcPr>
                </a:tc>
                <a:tc>
                  <a:txBody>
                    <a:bodyPr/>
                    <a:lstStyle/>
                    <a:p>
                      <a:r>
                        <a:rPr sz="1400" b="0" i="0">
                          <a:solidFill>
                            <a:srgbClr val="1A1440"/>
                          </a:solidFill>
                          <a:latin typeface="Calibri"/>
                        </a:rPr>
                        <a:t>38.6 percent</a:t>
                      </a:r>
                    </a:p>
                  </a:txBody>
                  <a:tcPr marL="101600" marR="101600" marT="38100" marB="38100" anchor="ctr">
                    <a:solidFill>
                      <a:srgbClr val="F4F2FA"/>
                    </a:solidFill>
                  </a:tcPr>
                </a:tc>
              </a:tr>
              <a:tr h="369824">
                <a:tc>
                  <a:txBody>
                    <a:bodyPr/>
                    <a:lstStyle/>
                    <a:p>
                      <a:r>
                        <a:rPr sz="1400" b="0" i="0">
                          <a:solidFill>
                            <a:srgbClr val="1A1440"/>
                          </a:solidFill>
                          <a:latin typeface="Calibri"/>
                        </a:rPr>
                        <a:t>July</a:t>
                      </a:r>
                    </a:p>
                  </a:txBody>
                  <a:tcPr marL="101600" marR="101600" marT="38100" marB="38100" anchor="ctr">
                    <a:solidFill>
                      <a:srgbClr val="FFFFFF"/>
                    </a:solidFill>
                  </a:tcPr>
                </a:tc>
                <a:tc>
                  <a:txBody>
                    <a:bodyPr/>
                    <a:lstStyle/>
                    <a:p>
                      <a:r>
                        <a:rPr sz="1400" b="0" i="0">
                          <a:solidFill>
                            <a:srgbClr val="1A1440"/>
                          </a:solidFill>
                          <a:latin typeface="Calibri"/>
                        </a:rPr>
                        <a:t>5,057</a:t>
                      </a:r>
                    </a:p>
                  </a:txBody>
                  <a:tcPr marL="101600" marR="101600" marT="38100" marB="38100" anchor="ctr">
                    <a:solidFill>
                      <a:srgbClr val="FFFFFF"/>
                    </a:solidFill>
                  </a:tcPr>
                </a:tc>
                <a:tc>
                  <a:txBody>
                    <a:bodyPr/>
                    <a:lstStyle/>
                    <a:p>
                      <a:r>
                        <a:rPr sz="1400" b="0" i="0">
                          <a:solidFill>
                            <a:srgbClr val="1A1440"/>
                          </a:solidFill>
                          <a:latin typeface="Calibri"/>
                        </a:rPr>
                        <a:t>38.5 percent</a:t>
                      </a:r>
                    </a:p>
                  </a:txBody>
                  <a:tcPr marL="101600" marR="101600" marT="38100" marB="38100" anchor="ctr">
                    <a:solidFill>
                      <a:srgbClr val="FFFFFF"/>
                    </a:solidFill>
                  </a:tcPr>
                </a:tc>
              </a:tr>
            </a:tbl>
          </a:graphicData>
        </a:graphic>
      </p:graphicFrame>
      <p:sp>
        <p:nvSpPr>
          <p:cNvPr id="10" name="TextBox 9"/>
          <p:cNvSpPr txBox="1"/>
          <p:nvPr/>
        </p:nvSpPr>
        <p:spPr>
          <a:xfrm>
            <a:off x="530352" y="50241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Sum of (members × rate) over the seven cohorts = 13,218 orderers; 13,218 / 35,000 = 37.8 percent, the same to the last digit as the direct count. The rates rise with youth, from January's 36.9 to June's 38.6 and July's 38.5: the younger cohorts prop the average.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counting everyone, what is September?</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In September, 13,000 August members are in their month one and outside the dashboard. Counting everyone who joined before September, what does September read?</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Still 38 percent</a:t>
            </a:r>
          </a:p>
          <a:p>
            <a:pPr>
              <a:spcAft>
                <a:spcPts val="800"/>
              </a:spcAft>
            </a:pPr>
            <a:r>
              <a:rPr sz="1600" b="0" i="0">
                <a:solidFill>
                  <a:srgbClr val="1A1440"/>
                </a:solidFill>
                <a:latin typeface="Calibri"/>
              </a:rPr>
              <a:t>b) About 36 percent</a:t>
            </a:r>
          </a:p>
          <a:p>
            <a:pPr>
              <a:spcAft>
                <a:spcPts val="800"/>
              </a:spcAft>
            </a:pPr>
            <a:r>
              <a:rPr sz="1600" b="0" i="0">
                <a:solidFill>
                  <a:srgbClr val="1A1440"/>
                </a:solidFill>
                <a:latin typeface="Calibri"/>
              </a:rPr>
              <a:t>c) About 31 percent, August's rate</a:t>
            </a:r>
          </a:p>
          <a:p>
            <a:pPr>
              <a:spcAft>
                <a:spcPts val="800"/>
              </a:spcAft>
            </a:pPr>
            <a:r>
              <a:rPr sz="1600" b="0" i="0">
                <a:solidFill>
                  <a:srgbClr val="1A1440"/>
                </a:solidFill>
                <a:latin typeface="Calibri"/>
              </a:rPr>
              <a:t>d) About 49 percent, the organic August members' rate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36 percent, and the sale week is the gap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September read with the August cohort counted, and which of its members sit low?</a:t>
            </a:r>
          </a:p>
        </p:txBody>
      </p:sp>
      <p:pic>
        <p:nvPicPr>
          <p:cNvPr id="9" name="mermaid diagram" descr="C2_W04_D04_sale_vs_organic_STUDENT.png"/>
          <p:cNvPicPr>
            <a:picLocks noChangeAspect="1"/>
          </p:cNvPicPr>
          <p:nvPr/>
        </p:nvPicPr>
        <p:blipFill>
          <a:blip r:embed="rId4"/>
          <a:stretch>
            <a:fillRect/>
          </a:stretch>
        </p:blipFill>
        <p:spPr>
          <a:xfrm>
            <a:off x="3246803" y="1664208"/>
            <a:ext cx="5698088" cy="2110232"/>
          </a:xfrm>
          <a:prstGeom prst="rect">
            <a:avLst/>
          </a:prstGeom>
        </p:spPr>
      </p:pic>
      <p:sp>
        <p:nvSpPr>
          <p:cNvPr id="10" name="picture caption"/>
          <p:cNvSpPr txBox="1"/>
          <p:nvPr/>
        </p:nvSpPr>
        <p:spPr>
          <a:xfrm>
            <a:off x="530352" y="3811016"/>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sale-week members, not August, sit low</a:t>
            </a:r>
          </a:p>
        </p:txBody>
      </p:sp>
      <p:sp>
        <p:nvSpPr>
          <p:cNvPr id="11" name="TextBox 10"/>
          <p:cNvSpPr txBox="1"/>
          <p:nvPr/>
        </p:nvSpPr>
        <p:spPr>
          <a:xfrm>
            <a:off x="530352" y="4137152"/>
            <a:ext cx="11130991" cy="2062480"/>
          </a:xfrm>
          <a:prstGeom prst="rect">
            <a:avLst/>
          </a:prstGeom>
          <a:noFill/>
        </p:spPr>
        <p:txBody>
          <a:bodyPr wrap="square" anchor="t" lIns="0" rIns="0" tIns="0" bIns="0">
            <a:spAutoFit/>
          </a:bodyPr>
          <a:lstStyle/>
          <a:p>
            <a:r>
              <a:rPr sz="1600" b="0" i="0">
                <a:solidFill>
                  <a:srgbClr val="1A1440"/>
                </a:solidFill>
                <a:latin typeface="Calibri"/>
              </a:rPr>
              <a:t>The answer is b: 17,248 of 48,000, 35.9 percent; the 5,089 who joined in September are in their month zero and in neither count. Counted this way, everyone who joined before the month, the four months read 40.9, 40.0, 39.5 and 35.9: the drop the dashboard hides. Split by how they joined, the 4,973 organic August members kept 49 percent in month one, July's rate; the 8,027 sale-week members kept 20. In October the August cohort enters the dashboard; if it loses the 10.5 points July's lost from month one to month two (49 to 38.5), 31 becomes about 20.5, and the dashboard drops to about 33 percent (32 to 34 for anything from 17 to 24).</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27 /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2 close: 38 is a weighted average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full table answered, and what is still open?</a:t>
            </a:r>
          </a:p>
        </p:txBody>
      </p:sp>
      <p:pic>
        <p:nvPicPr>
          <p:cNvPr id="9" name="mermaid diagram" descr="4faa342654827e92.png"/>
          <p:cNvPicPr>
            <a:picLocks noChangeAspect="1"/>
          </p:cNvPicPr>
          <p:nvPr/>
        </p:nvPicPr>
        <p:blipFill>
          <a:blip r:embed="rId7"/>
          <a:stretch>
            <a:fillRect/>
          </a:stretch>
        </p:blipFill>
        <p:spPr>
          <a:xfrm>
            <a:off x="1826879" y="1664208"/>
            <a:ext cx="8537935" cy="2295144"/>
          </a:xfrm>
          <a:prstGeom prst="rect">
            <a:avLst/>
          </a:prstGeom>
        </p:spPr>
      </p:pic>
      <p:sp>
        <p:nvSpPr>
          <p:cNvPr id="10" name="Rounded Rectangle 9"/>
          <p:cNvSpPr/>
          <p:nvPr/>
        </p:nvSpPr>
        <p:spPr>
          <a:xfrm>
            <a:off x="530352" y="400507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373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4447032"/>
            <a:ext cx="237744" cy="237744"/>
          </a:xfrm>
          <a:prstGeom prst="rect">
            <a:avLst/>
          </a:prstGeom>
        </p:spPr>
      </p:pic>
      <p:sp>
        <p:nvSpPr>
          <p:cNvPr id="13" name="TextBox 12"/>
          <p:cNvSpPr txBox="1"/>
          <p:nvPr/>
        </p:nvSpPr>
        <p:spPr>
          <a:xfrm>
            <a:off x="1399031" y="41513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370832"/>
            <a:ext cx="9987991" cy="682752"/>
          </a:xfrm>
          <a:prstGeom prst="rect">
            <a:avLst/>
          </a:prstGeom>
          <a:noFill/>
        </p:spPr>
        <p:txBody>
          <a:bodyPr wrap="square" anchor="t" lIns="0" rIns="0" tIns="0" bIns="0">
            <a:spAutoFit/>
          </a:bodyPr>
          <a:lstStyle/>
          <a:p>
            <a:r>
              <a:rPr sz="1500" b="0" i="0">
                <a:solidFill>
                  <a:srgbClr val="1A1440"/>
                </a:solidFill>
                <a:latin typeface="Calibri"/>
              </a:rPr>
              <a:t>A flat retention number is a size-weighted average of cohorts at different ages; rebuild it from its cohorts, check the rebuild matches, and read what the count leaves out.</a:t>
            </a:r>
          </a:p>
        </p:txBody>
      </p:sp>
      <p:sp>
        <p:nvSpPr>
          <p:cNvPr id="15" name="Rounded Rectangle 14"/>
          <p:cNvSpPr/>
          <p:nvPr/>
        </p:nvSpPr>
        <p:spPr>
          <a:xfrm>
            <a:off x="530352" y="529132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6235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733288"/>
            <a:ext cx="237744" cy="237744"/>
          </a:xfrm>
          <a:prstGeom prst="rect">
            <a:avLst/>
          </a:prstGeom>
        </p:spPr>
      </p:pic>
      <p:sp>
        <p:nvSpPr>
          <p:cNvPr id="18" name="TextBox 17"/>
          <p:cNvSpPr txBox="1"/>
          <p:nvPr/>
        </p:nvSpPr>
        <p:spPr>
          <a:xfrm>
            <a:off x="1399031" y="54376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57088"/>
            <a:ext cx="9987991" cy="682752"/>
          </a:xfrm>
          <a:prstGeom prst="rect">
            <a:avLst/>
          </a:prstGeom>
          <a:noFill/>
        </p:spPr>
        <p:txBody>
          <a:bodyPr wrap="square" anchor="t" lIns="0" rIns="0" tIns="0" bIns="0">
            <a:spAutoFit/>
          </a:bodyPr>
          <a:lstStyle/>
          <a:p>
            <a:r>
              <a:rPr sz="1500" b="0" i="0">
                <a:solidFill>
                  <a:srgbClr val="1A1440"/>
                </a:solidFill>
                <a:latin typeface="Calibri"/>
              </a:rPr>
              <a:t>[F] How would you use cohort analysis to find a retention issue? Fix the entry month, build the table, read rows for decay and columns for each cohort's start, then rebuild the blend from it.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2" name="Oval 21"/>
          <p:cNvSpPr/>
          <p:nvPr/>
        </p:nvSpPr>
        <p:spPr>
          <a:xfrm>
            <a:off x="17879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97665"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is the 38 made of?</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stage owns the loss?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28 /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stage owns the loss?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Where in the order flow did members stop, counted in which unit, for whom and since when?</a:t>
            </a:r>
          </a:p>
        </p:txBody>
      </p:sp>
      <p:sp>
        <p:nvSpPr>
          <p:cNvPr id="10" name="Rounded Rectangle 9"/>
          <p:cNvSpPr/>
          <p:nvPr/>
        </p:nvSpPr>
        <p:spPr>
          <a:xfrm>
            <a:off x="731519"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entered when?</a:t>
            </a:r>
          </a:p>
        </p:txBody>
      </p:sp>
      <p:sp>
        <p:nvSpPr>
          <p:cNvPr id="11" name="Rounded Rectangle 10"/>
          <p:cNvSpPr/>
          <p:nvPr/>
        </p:nvSpPr>
        <p:spPr>
          <a:xfrm>
            <a:off x="221367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38 made of?</a:t>
            </a:r>
          </a:p>
        </p:txBody>
      </p:sp>
      <p:sp>
        <p:nvSpPr>
          <p:cNvPr id="12" name="Rounded Rectangle 11"/>
          <p:cNvSpPr/>
          <p:nvPr/>
        </p:nvSpPr>
        <p:spPr>
          <a:xfrm>
            <a:off x="4051134"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stage owns the loss?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Who is leaving Zomato Gold in Chennai, and at which step?</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29 /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3: the funnel, its units and the release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and the app team's lead, who will say the stage the room blames is fine. Blaming the wrong step sends engineers to fix one that works.</a:t>
            </a:r>
          </a:p>
        </p:txBody>
      </p:sp>
      <p:sp>
        <p:nvSpPr>
          <p:cNvPr id="12" name="Rectangle 11"/>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How does a funnel read?</a:t>
            </a:r>
          </a:p>
        </p:txBody>
      </p:sp>
      <p:sp>
        <p:nvSpPr>
          <p:cNvPr id="17" name="TextBox 16"/>
          <p:cNvSpPr txBox="1"/>
          <p:nvPr/>
        </p:nvSpPr>
        <p:spPr>
          <a:xfrm>
            <a:off x="694944"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Each step over the step before</a:t>
            </a:r>
          </a:p>
        </p:txBody>
      </p:sp>
      <p:sp>
        <p:nvSpPr>
          <p:cNvPr id="18" name="TextBox 17"/>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Why does one step pass 100 percent?</a:t>
            </a:r>
          </a:p>
        </p:txBody>
      </p:sp>
      <p:sp>
        <p:nvSpPr>
          <p:cNvPr id="22" name="TextBox 21"/>
          <p:cNvSpPr txBox="1"/>
          <p:nvPr/>
        </p:nvSpPr>
        <p:spPr>
          <a:xfrm>
            <a:off x="2957718" y="4464812"/>
            <a:ext cx="1750710" cy="201676"/>
          </a:xfrm>
          <a:prstGeom prst="rect">
            <a:avLst/>
          </a:prstGeom>
          <a:noFill/>
        </p:spPr>
        <p:txBody>
          <a:bodyPr wrap="square" anchor="t" lIns="0" rIns="0" tIns="0" bIns="0">
            <a:spAutoFit/>
          </a:bodyPr>
          <a:lstStyle/>
          <a:p>
            <a:pPr algn="l"/>
            <a:r>
              <a:rPr sz="1000" b="0" i="0">
                <a:solidFill>
                  <a:srgbClr val="6B6690"/>
                </a:solidFill>
                <a:latin typeface="Calibri"/>
              </a:rPr>
              <a:t>A step members can skip</a:t>
            </a:r>
          </a:p>
        </p:txBody>
      </p:sp>
      <p:sp>
        <p:nvSpPr>
          <p:cNvPr id="23" name="TextBox 22"/>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Per session or per member?</a:t>
            </a:r>
          </a:p>
        </p:txBody>
      </p:sp>
      <p:sp>
        <p:nvSpPr>
          <p:cNvPr id="27" name="TextBox 26"/>
          <p:cNvSpPr txBox="1"/>
          <p:nvPr/>
        </p:nvSpPr>
        <p:spPr>
          <a:xfrm>
            <a:off x="5220492" y="4464812"/>
            <a:ext cx="1750710" cy="201676"/>
          </a:xfrm>
          <a:prstGeom prst="rect">
            <a:avLst/>
          </a:prstGeom>
          <a:noFill/>
        </p:spPr>
        <p:txBody>
          <a:bodyPr wrap="square" anchor="t" lIns="0" rIns="0" tIns="0" bIns="0">
            <a:spAutoFit/>
          </a:bodyPr>
          <a:lstStyle/>
          <a:p>
            <a:pPr algn="l"/>
            <a:r>
              <a:rPr sz="1000" b="0" i="0">
                <a:solidFill>
                  <a:srgbClr val="6B6690"/>
                </a:solidFill>
                <a:latin typeface="Calibri"/>
              </a:rPr>
              <a:t>Two units, two questions</a:t>
            </a:r>
          </a:p>
        </p:txBody>
      </p:sp>
      <p:sp>
        <p:nvSpPr>
          <p:cNvPr id="28" name="TextBox 27"/>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3962400"/>
            <a:ext cx="1750710" cy="680466"/>
          </a:xfrm>
          <a:prstGeom prst="rect">
            <a:avLst/>
          </a:prstGeom>
          <a:noFill/>
        </p:spPr>
        <p:txBody>
          <a:bodyPr wrap="square" anchor="t" lIns="0" rIns="0" tIns="0" bIns="0">
            <a:spAutoFit/>
          </a:bodyPr>
          <a:lstStyle/>
          <a:p>
            <a:pPr algn="l"/>
            <a:r>
              <a:rPr sz="1300" b="1" i="0">
                <a:solidFill>
                  <a:srgbClr val="1A0F5C"/>
                </a:solidFill>
                <a:latin typeface="Calibri"/>
              </a:rPr>
              <a:t>Whose conversion fell, and where inside the checkout?</a:t>
            </a:r>
          </a:p>
        </p:txBody>
      </p:sp>
      <p:sp>
        <p:nvSpPr>
          <p:cNvPr id="32" name="TextBox 31"/>
          <p:cNvSpPr txBox="1"/>
          <p:nvPr/>
        </p:nvSpPr>
        <p:spPr>
          <a:xfrm>
            <a:off x="7483266" y="4679442"/>
            <a:ext cx="1750710" cy="366776"/>
          </a:xfrm>
          <a:prstGeom prst="rect">
            <a:avLst/>
          </a:prstGeom>
          <a:noFill/>
        </p:spPr>
        <p:txBody>
          <a:bodyPr wrap="square" anchor="t" lIns="0" rIns="0" tIns="0" bIns="0">
            <a:spAutoFit/>
          </a:bodyPr>
          <a:lstStyle/>
          <a:p>
            <a:pPr algn="l"/>
            <a:r>
              <a:rPr sz="1000" b="0" i="0">
                <a:solidFill>
                  <a:srgbClr val="6B6690"/>
                </a:solidFill>
                <a:latin typeface="Calibri"/>
              </a:rPr>
              <a:t>Platform, membership, date, then the size</a:t>
            </a:r>
          </a:p>
        </p:txBody>
      </p:sp>
      <p:sp>
        <p:nvSpPr>
          <p:cNvPr id="33" name="TextBox 32"/>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38160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3962400"/>
            <a:ext cx="1750710" cy="465836"/>
          </a:xfrm>
          <a:prstGeom prst="rect">
            <a:avLst/>
          </a:prstGeom>
          <a:noFill/>
        </p:spPr>
        <p:txBody>
          <a:bodyPr wrap="square" anchor="t" lIns="0" rIns="0" tIns="0" bIns="0">
            <a:spAutoFit/>
          </a:bodyPr>
          <a:lstStyle/>
          <a:p>
            <a:pPr algn="l"/>
            <a:r>
              <a:rPr sz="1300" b="1" i="0">
                <a:solidFill>
                  <a:srgbClr val="FFFFFF"/>
                </a:solidFill>
                <a:latin typeface="Calibri"/>
              </a:rPr>
              <a:t>What can the data not show?</a:t>
            </a:r>
          </a:p>
        </p:txBody>
      </p:sp>
      <p:sp>
        <p:nvSpPr>
          <p:cNvPr id="37" name="TextBox 36"/>
          <p:cNvSpPr txBox="1"/>
          <p:nvPr/>
        </p:nvSpPr>
        <p:spPr>
          <a:xfrm>
            <a:off x="9746040" y="4464812"/>
            <a:ext cx="1750710" cy="366776"/>
          </a:xfrm>
          <a:prstGeom prst="rect">
            <a:avLst/>
          </a:prstGeom>
          <a:noFill/>
        </p:spPr>
        <p:txBody>
          <a:bodyPr wrap="square" anchor="t" lIns="0" rIns="0" tIns="0" bIns="0">
            <a:spAutoFit/>
          </a:bodyPr>
          <a:lstStyle/>
          <a:p>
            <a:pPr algn="l"/>
            <a:r>
              <a:rPr sz="1000" b="0" i="0">
                <a:solidFill>
                  <a:srgbClr val="CFC9EE"/>
                </a:solidFill>
                <a:latin typeface="Calibri"/>
              </a:rPr>
              <a:t>Six caveats, each with its check</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40" name="Oval 39"/>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42" name="Oval 41"/>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step owns the loss?</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September, Gold members, per session: open to search 68, search to menu view 118, menu view to cart 34, cart to checkout 80, checkout to order 64 percent. Which step owns the loss?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Search to menu view, the one above 100 percent</a:t>
            </a:r>
          </a:p>
          <a:p>
            <a:pPr>
              <a:spcAft>
                <a:spcPts val="800"/>
              </a:spcAft>
            </a:pPr>
            <a:r>
              <a:rPr sz="1600" b="0" i="0">
                <a:solidFill>
                  <a:srgbClr val="1A1440"/>
                </a:solidFill>
                <a:latin typeface="Calibri"/>
              </a:rPr>
              <a:t>b) Menu view to add-to-cart, the lowest rate</a:t>
            </a:r>
          </a:p>
          <a:p>
            <a:pPr>
              <a:spcAft>
                <a:spcPts val="800"/>
              </a:spcAft>
            </a:pPr>
            <a:r>
              <a:rPr sz="1600" b="0" i="0">
                <a:solidFill>
                  <a:srgbClr val="1A1440"/>
                </a:solidFill>
                <a:latin typeface="Calibri"/>
              </a:rPr>
              <a:t>c) Open to search, the first step</a:t>
            </a:r>
          </a:p>
          <a:p>
            <a:pPr>
              <a:spcAft>
                <a:spcPts val="800"/>
              </a:spcAft>
            </a:pPr>
            <a:r>
              <a:rPr sz="1600" b="0" i="0">
                <a:solidFill>
                  <a:srgbClr val="1A1440"/>
                </a:solidFill>
                <a:latin typeface="Calibri"/>
              </a:rPr>
              <a:t>d) None, until each step is split by platform and date and set against the weeks before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low step is not a loss until it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funnel read, on numbers small enough to hold?</a:t>
            </a:r>
          </a:p>
        </p:txBody>
      </p:sp>
      <p:pic>
        <p:nvPicPr>
          <p:cNvPr id="9" name="mermaid diagram" descr="719bb35174f10f2f.png"/>
          <p:cNvPicPr>
            <a:picLocks noChangeAspect="1"/>
          </p:cNvPicPr>
          <p:nvPr/>
        </p:nvPicPr>
        <p:blipFill>
          <a:blip r:embed="rId5"/>
          <a:stretch>
            <a:fillRect/>
          </a:stretch>
        </p:blipFill>
        <p:spPr>
          <a:xfrm>
            <a:off x="530351" y="1956816"/>
            <a:ext cx="11130991" cy="1096456"/>
          </a:xfrm>
          <a:prstGeom prst="rect">
            <a:avLst/>
          </a:prstGeom>
        </p:spPr>
      </p:pic>
      <p:sp>
        <p:nvSpPr>
          <p:cNvPr id="10" name="TextBox 9"/>
          <p:cNvSpPr txBox="1"/>
          <p:nvPr/>
        </p:nvSpPr>
        <p:spPr>
          <a:xfrm>
            <a:off x="530352" y="3199576"/>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d. Each step's rate divides it by the step before, in one unit, here sessions, a session being one visit to the app (a toy, invented). Read from the top, 10 of 100 sessions end in a checkout. If the 100 sessions came from 20 people and the 10 checkouts from 10 of them, the same checkouts read 10 of 20 people, 50 percent. A step that is always low, such as browsing menus, is normal; a loss is a step that changed.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118 percent: the carousel skips search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search to menu view read 118 percent, and what does it really read?</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6604546"/>
                <a:gridCol w="4526444"/>
              </a:tblGrid>
              <a:tr h="369824">
                <a:tc>
                  <a:txBody>
                    <a:bodyPr/>
                    <a:lstStyle/>
                    <a:p>
                      <a:r>
                        <a:rPr sz="1450" b="1" i="0">
                          <a:solidFill>
                            <a:srgbClr val="FFFFFF"/>
                          </a:solidFill>
                          <a:latin typeface="Calibri"/>
                        </a:rPr>
                        <a:t>September, member sessions</a:t>
                      </a:r>
                    </a:p>
                  </a:txBody>
                  <a:tcPr marL="101600" marR="101600" marT="38100" marB="38100" anchor="ctr">
                    <a:solidFill>
                      <a:srgbClr val="1A0F5C"/>
                    </a:solidFill>
                  </a:tcPr>
                </a:tc>
                <a:tc>
                  <a:txBody>
                    <a:bodyPr/>
                    <a:lstStyle/>
                    <a:p>
                      <a:r>
                        <a:rPr sz="1450" b="1" i="0">
                          <a:solidFill>
                            <a:srgbClr val="FFFFFF"/>
                          </a:solidFill>
                          <a:latin typeface="Calibri"/>
                        </a:rPr>
                        <a:t>Count</a:t>
                      </a:r>
                    </a:p>
                  </a:txBody>
                  <a:tcPr marL="101600" marR="101600" marT="38100" marB="38100" anchor="ctr">
                    <a:solidFill>
                      <a:srgbClr val="1A0F5C"/>
                    </a:solidFill>
                  </a:tcPr>
                </a:tc>
              </a:tr>
              <a:tr h="369824">
                <a:tc>
                  <a:txBody>
                    <a:bodyPr/>
                    <a:lstStyle/>
                    <a:p>
                      <a:r>
                        <a:rPr sz="1400" b="0" i="0">
                          <a:solidFill>
                            <a:srgbClr val="1A1440"/>
                          </a:solidFill>
                          <a:latin typeface="Calibri"/>
                        </a:rPr>
                        <a:t>Sessions with a search</a:t>
                      </a:r>
                    </a:p>
                  </a:txBody>
                  <a:tcPr marL="101600" marR="101600" marT="38100" marB="38100" anchor="ctr">
                    <a:solidFill>
                      <a:srgbClr val="FFFFFF"/>
                    </a:solidFill>
                  </a:tcPr>
                </a:tc>
                <a:tc>
                  <a:txBody>
                    <a:bodyPr/>
                    <a:lstStyle/>
                    <a:p>
                      <a:r>
                        <a:rPr sz="1400" b="0" i="0">
                          <a:solidFill>
                            <a:srgbClr val="1A1440"/>
                          </a:solidFill>
                          <a:latin typeface="Calibri"/>
                        </a:rPr>
                        <a:t>131,974</a:t>
                      </a:r>
                    </a:p>
                  </a:txBody>
                  <a:tcPr marL="101600" marR="101600" marT="38100" marB="38100" anchor="ctr">
                    <a:solidFill>
                      <a:srgbClr val="FFFFFF"/>
                    </a:solidFill>
                  </a:tcPr>
                </a:tc>
              </a:tr>
              <a:tr h="369824">
                <a:tc>
                  <a:txBody>
                    <a:bodyPr/>
                    <a:lstStyle/>
                    <a:p>
                      <a:r>
                        <a:rPr sz="1400" b="0" i="0">
                          <a:solidFill>
                            <a:srgbClr val="1A1440"/>
                          </a:solidFill>
                          <a:latin typeface="Calibri"/>
                        </a:rPr>
                        <a:t>Sessions with a menu view</a:t>
                      </a:r>
                    </a:p>
                  </a:txBody>
                  <a:tcPr marL="101600" marR="101600" marT="38100" marB="38100" anchor="ctr">
                    <a:solidFill>
                      <a:srgbClr val="F4F2FA"/>
                    </a:solidFill>
                  </a:tcPr>
                </a:tc>
                <a:tc>
                  <a:txBody>
                    <a:bodyPr/>
                    <a:lstStyle/>
                    <a:p>
                      <a:r>
                        <a:rPr sz="1400" b="0" i="0">
                          <a:solidFill>
                            <a:srgbClr val="1A1440"/>
                          </a:solidFill>
                          <a:latin typeface="Calibri"/>
                        </a:rPr>
                        <a:t>155,729</a:t>
                      </a:r>
                    </a:p>
                  </a:txBody>
                  <a:tcPr marL="101600" marR="101600" marT="38100" marB="38100" anchor="ctr">
                    <a:solidFill>
                      <a:srgbClr val="F4F2FA"/>
                    </a:solidFill>
                  </a:tcPr>
                </a:tc>
              </a:tr>
              <a:tr h="369824">
                <a:tc>
                  <a:txBody>
                    <a:bodyPr/>
                    <a:lstStyle/>
                    <a:p>
                      <a:r>
                        <a:rPr sz="1400" b="0" i="0">
                          <a:solidFill>
                            <a:srgbClr val="1A1440"/>
                          </a:solidFill>
                          <a:latin typeface="Calibri"/>
                        </a:rPr>
                        <a:t>Sessions with a menu view and no search: the home carousel</a:t>
                      </a:r>
                    </a:p>
                  </a:txBody>
                  <a:tcPr marL="101600" marR="101600" marT="38100" marB="38100" anchor="ctr">
                    <a:solidFill>
                      <a:srgbClr val="FFFFFF"/>
                    </a:solidFill>
                  </a:tcPr>
                </a:tc>
                <a:tc>
                  <a:txBody>
                    <a:bodyPr/>
                    <a:lstStyle/>
                    <a:p>
                      <a:r>
                        <a:rPr sz="1400" b="0" i="0">
                          <a:solidFill>
                            <a:srgbClr val="1A1440"/>
                          </a:solidFill>
                          <a:latin typeface="Calibri"/>
                        </a:rPr>
                        <a:t>38,932</a:t>
                      </a:r>
                    </a:p>
                  </a:txBody>
                  <a:tcPr marL="101600" marR="101600" marT="38100" marB="38100" anchor="ctr">
                    <a:solidFill>
                      <a:srgbClr val="FFFFFF"/>
                    </a:solidFill>
                  </a:tcPr>
                </a:tc>
              </a:tr>
              <a:tr h="369824">
                <a:tc>
                  <a:txBody>
                    <a:bodyPr/>
                    <a:lstStyle/>
                    <a:p>
                      <a:r>
                        <a:rPr sz="1400" b="0" i="0">
                          <a:solidFill>
                            <a:srgbClr val="1A1440"/>
                          </a:solidFill>
                          <a:latin typeface="Calibri"/>
                        </a:rPr>
                        <a:t>Sessions with a search and a menu view</a:t>
                      </a:r>
                    </a:p>
                  </a:txBody>
                  <a:tcPr marL="101600" marR="101600" marT="38100" marB="38100" anchor="ctr">
                    <a:solidFill>
                      <a:srgbClr val="F4F2FA"/>
                    </a:solidFill>
                  </a:tcPr>
                </a:tc>
                <a:tc>
                  <a:txBody>
                    <a:bodyPr/>
                    <a:lstStyle/>
                    <a:p>
                      <a:r>
                        <a:rPr sz="1400" b="0" i="0">
                          <a:solidFill>
                            <a:srgbClr val="1A1440"/>
                          </a:solidFill>
                          <a:latin typeface="Calibri"/>
                        </a:rPr>
                        <a:t>116,797, which is 89 percent of 131,974</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532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476300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427728"/>
            <a:ext cx="9987991" cy="1200912"/>
          </a:xfrm>
          <a:prstGeom prst="rect">
            <a:avLst/>
          </a:prstGeom>
          <a:noFill/>
        </p:spPr>
        <p:txBody>
          <a:bodyPr wrap="square" anchor="t" lIns="0" rIns="0" tIns="0" bIns="0">
            <a:spAutoFit/>
          </a:bodyPr>
          <a:lstStyle/>
          <a:p>
            <a:r>
              <a:rPr sz="1500" b="0" i="0">
                <a:solidFill>
                  <a:srgbClr val="1A1440"/>
                </a:solidFill>
                <a:latin typeface="Calibri"/>
              </a:rPr>
              <a:t>"Search to menu view is 118 percent, our best step." The home carousel opens a restaurant's menu without a search, so the ratio divides two counts of different sessions: search is a step members can skip, and the 118 is an artefact, a number made by the way the count is taken. </a:t>
            </a:r>
            <a:r>
              <a:rPr sz="1500" b="1" i="0">
                <a:solidFill>
                  <a:srgbClr val="1A1440"/>
                </a:solidFill>
                <a:latin typeface="Calibri"/>
              </a:rPr>
              <a:t>The fix.</a:t>
            </a:r>
            <a:r>
              <a:rPr sz="1500" b="0" i="0">
                <a:solidFill>
                  <a:srgbClr val="1A1440"/>
                </a:solidFill>
                <a:latin typeface="Calibri"/>
              </a:rPr>
              <a:t> Count menu views only among sessions that searched: 89 percent.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7" name="Oval 16"/>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9" name="Oval 18"/>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per member, what does menu to cart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Menu view to add-to-cart reads 34 percent per session. Counted per member, what does it read?</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same, 34 percent</a:t>
            </a:r>
          </a:p>
          <a:p>
            <a:pPr>
              <a:spcAft>
                <a:spcPts val="800"/>
              </a:spcAft>
            </a:pPr>
            <a:r>
              <a:rPr sz="1600" b="0" i="0">
                <a:solidFill>
                  <a:srgbClr val="1A1440"/>
                </a:solidFill>
                <a:latin typeface="Calibri"/>
              </a:rPr>
              <a:t>b) Lower, because members browse many times</a:t>
            </a:r>
          </a:p>
          <a:p>
            <a:pPr>
              <a:spcAft>
                <a:spcPts val="800"/>
              </a:spcAft>
            </a:pPr>
            <a:r>
              <a:rPr sz="1600" b="0" i="0">
                <a:solidFill>
                  <a:srgbClr val="1A1440"/>
                </a:solidFill>
                <a:latin typeface="Calibri"/>
              </a:rPr>
              <a:t>c) Higher, because a member who browses five times and buys once counts once</a:t>
            </a:r>
          </a:p>
          <a:p>
            <a:pPr>
              <a:spcAft>
                <a:spcPts val="800"/>
              </a:spcAft>
            </a:pPr>
            <a:r>
              <a:rPr sz="1600" b="0" i="0">
                <a:solidFill>
                  <a:srgbClr val="1A1440"/>
                </a:solidFill>
                <a:latin typeface="Calibri"/>
              </a:rPr>
              <a:t>d) Above 100 percent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40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61 per member, 34 per session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unit answer, and which does the chart name?</a:t>
            </a:r>
          </a:p>
        </p:txBody>
      </p:sp>
      <p:pic>
        <p:nvPicPr>
          <p:cNvPr id="9" name="mermaid diagram" descr="C2_W04_D04_funnel_two_units_STUDENT.png"/>
          <p:cNvPicPr>
            <a:picLocks noChangeAspect="1"/>
          </p:cNvPicPr>
          <p:nvPr/>
        </p:nvPicPr>
        <p:blipFill>
          <a:blip r:embed="rId4"/>
          <a:stretch>
            <a:fillRect/>
          </a:stretch>
        </p:blipFill>
        <p:spPr>
          <a:xfrm>
            <a:off x="2427574" y="1664208"/>
            <a:ext cx="7336546" cy="2835656"/>
          </a:xfrm>
          <a:prstGeom prst="rect">
            <a:avLst/>
          </a:prstGeom>
        </p:spPr>
      </p:pic>
      <p:sp>
        <p:nvSpPr>
          <p:cNvPr id="10" name="picture caption"/>
          <p:cNvSpPr txBox="1"/>
          <p:nvPr/>
        </p:nvSpPr>
        <p:spPr>
          <a:xfrm>
            <a:off x="530352" y="4536440"/>
            <a:ext cx="11130991" cy="316992"/>
          </a:xfrm>
          <a:prstGeom prst="rect">
            <a:avLst/>
          </a:prstGeom>
          <a:noFill/>
        </p:spPr>
        <p:txBody>
          <a:bodyPr wrap="square" anchor="t" lIns="0" rIns="0" tIns="0" bIns="0">
            <a:spAutoFit/>
          </a:bodyPr>
          <a:lstStyle/>
          <a:p>
            <a:pPr algn="ctr"/>
            <a:r>
              <a:rPr sz="1200" b="0" i="0">
                <a:solidFill>
                  <a:srgbClr val="6B6690"/>
                </a:solidFill>
                <a:latin typeface="Calibri"/>
              </a:rPr>
              <a:t>September, Gold members: one funnel, two units</a:t>
            </a:r>
          </a:p>
        </p:txBody>
      </p:sp>
      <p:sp>
        <p:nvSpPr>
          <p:cNvPr id="11" name="TextBox 10"/>
          <p:cNvSpPr txBox="1"/>
          <p:nvPr/>
        </p:nvSpPr>
        <p:spPr>
          <a:xfrm>
            <a:off x="530352" y="4862576"/>
            <a:ext cx="11130991" cy="1337056"/>
          </a:xfrm>
          <a:prstGeom prst="rect">
            <a:avLst/>
          </a:prstGeom>
          <a:noFill/>
        </p:spPr>
        <p:txBody>
          <a:bodyPr wrap="square" anchor="t" lIns="0" rIns="0" tIns="0" bIns="0">
            <a:spAutoFit/>
          </a:bodyPr>
          <a:lstStyle/>
          <a:p>
            <a:r>
              <a:rPr sz="1400" b="0" i="0">
                <a:solidFill>
                  <a:srgbClr val="1A1440"/>
                </a:solidFill>
                <a:latin typeface="Calibri"/>
              </a:rPr>
              <a:t>The answer is c. Per session asks how often a menu visit becomes a cart; per member asks how many members who browsed ever added to a cart that month. Neither is wrong, and a chart that does not name its unit invites the wrong one. Every step reads higher per member, since a member who fails in one session can succeed in another; search to menu view still reads 101. This chart pools every platform and all of September, so neither panel shows the ticket's loss: the split by platform and date does.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whose conversion fell after 14 September?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Add-to-cart to order: before is 1 August to 13 September, after is 14 to 30 September. Whose rate fell?</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Everyone's, on every platform</a:t>
            </a:r>
          </a:p>
          <a:p>
            <a:pPr>
              <a:spcAft>
                <a:spcPts val="800"/>
              </a:spcAft>
            </a:pPr>
            <a:r>
              <a:rPr sz="1600" b="0" i="0">
                <a:solidFill>
                  <a:srgbClr val="1A1440"/>
                </a:solidFill>
                <a:latin typeface="Calibri"/>
              </a:rPr>
              <a:t>b) Members', on every platform</a:t>
            </a:r>
          </a:p>
          <a:p>
            <a:pPr>
              <a:spcAft>
                <a:spcPts val="800"/>
              </a:spcAft>
            </a:pPr>
            <a:r>
              <a:rPr sz="1600" b="0" i="0">
                <a:solidFill>
                  <a:srgbClr val="1A1440"/>
                </a:solidFill>
                <a:latin typeface="Calibri"/>
              </a:rPr>
              <a:t>c) Members' on Android</a:t>
            </a:r>
          </a:p>
          <a:p>
            <a:pPr>
              <a:spcAft>
                <a:spcPts val="800"/>
              </a:spcAft>
            </a:pPr>
            <a:r>
              <a:rPr sz="1600" b="0" i="0">
                <a:solidFill>
                  <a:srgbClr val="1A1440"/>
                </a:solidFill>
                <a:latin typeface="Calibri"/>
              </a:rPr>
              <a:t>d) Non-members' on Android</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2" name="Oval 11"/>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4" name="Oval 13"/>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members on Android, from the release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add-to-cart to order move by membership, platform and week?</a:t>
            </a:r>
          </a:p>
        </p:txBody>
      </p:sp>
      <p:pic>
        <p:nvPicPr>
          <p:cNvPr id="9" name="mermaid diagram" descr="C2_W04_D04_release_split_STUDENT.png"/>
          <p:cNvPicPr>
            <a:picLocks noChangeAspect="1"/>
          </p:cNvPicPr>
          <p:nvPr/>
        </p:nvPicPr>
        <p:blipFill>
          <a:blip r:embed="rId4"/>
          <a:stretch>
            <a:fillRect/>
          </a:stretch>
        </p:blipFill>
        <p:spPr>
          <a:xfrm>
            <a:off x="3035838" y="1664208"/>
            <a:ext cx="6120017"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Only members on Android fall, and only from the release week</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answer is c. Members on Android: 58 to 44 percent, about 58 in each of the seven weeks before the release, then 45, 43 and 44. Members on iOS: 57 to 56. Non-members on Android: 52 to 51. Moving the cut a week either way keeps the fall, 58 to 47 with the cut on 7 September and 56 to 43 on 21 September, so the fall does not depend on where the line is drawn.</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step that broke: checkout start to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two steps inside the checkout changed, and is the app team's chart wrong?</a:t>
            </a:r>
          </a:p>
        </p:txBody>
      </p:sp>
      <p:pic>
        <p:nvPicPr>
          <p:cNvPr id="9" name="mermaid diagram" descr="C2_W04_D04_stage_split_STUDENT.png"/>
          <p:cNvPicPr>
            <a:picLocks noChangeAspect="1"/>
          </p:cNvPicPr>
          <p:nvPr/>
        </p:nvPicPr>
        <p:blipFill>
          <a:blip r:embed="rId4"/>
          <a:stretch>
            <a:fillRect/>
          </a:stretch>
        </p:blipFill>
        <p:spPr>
          <a:xfrm>
            <a:off x="3144426" y="1664208"/>
            <a:ext cx="5902841" cy="2662936"/>
          </a:xfrm>
          <a:prstGeom prst="rect">
            <a:avLst/>
          </a:prstGeom>
        </p:spPr>
      </p:pic>
      <p:sp>
        <p:nvSpPr>
          <p:cNvPr id="10" name="picture caption"/>
          <p:cNvSpPr txBox="1"/>
          <p:nvPr/>
        </p:nvSpPr>
        <p:spPr>
          <a:xfrm>
            <a:off x="530352" y="4363720"/>
            <a:ext cx="11130991" cy="316992"/>
          </a:xfrm>
          <a:prstGeom prst="rect">
            <a:avLst/>
          </a:prstGeom>
          <a:noFill/>
        </p:spPr>
        <p:txBody>
          <a:bodyPr wrap="square" anchor="t" lIns="0" rIns="0" tIns="0" bIns="0">
            <a:spAutoFit/>
          </a:bodyPr>
          <a:lstStyle/>
          <a:p>
            <a:pPr algn="ctr"/>
            <a:r>
              <a:rPr sz="1200" b="0" i="0">
                <a:solidFill>
                  <a:srgbClr val="6B6690"/>
                </a:solidFill>
                <a:latin typeface="Calibri"/>
              </a:rPr>
              <a:t>Android members: the step that changed is checkout to order</a:t>
            </a:r>
          </a:p>
        </p:txBody>
      </p:sp>
      <p:sp>
        <p:nvSpPr>
          <p:cNvPr id="11" name="TextBox 10"/>
          <p:cNvSpPr txBox="1"/>
          <p:nvPr/>
        </p:nvSpPr>
        <p:spPr>
          <a:xfrm>
            <a:off x="530352" y="4689856"/>
            <a:ext cx="11130991" cy="1509775"/>
          </a:xfrm>
          <a:prstGeom prst="rect">
            <a:avLst/>
          </a:prstGeom>
          <a:noFill/>
        </p:spPr>
        <p:txBody>
          <a:bodyPr wrap="square" anchor="t" lIns="0" rIns="0" tIns="0" bIns="0">
            <a:spAutoFit/>
          </a:bodyPr>
          <a:lstStyle/>
          <a:p>
            <a:r>
              <a:rPr sz="1600" b="0" i="0">
                <a:solidFill>
                  <a:srgbClr val="1A1440"/>
                </a:solidFill>
                <a:latin typeface="Calibri"/>
              </a:rPr>
              <a:t>Android members still start checkout from 80 percent of carts, before and after. Completing the order once checkout has started fell from 72.5 to 55 percent, and the two steps multiply to the ticket's numbers: 0.80 × 72.5 = 58, 0.80 × 55 = 44. On this same step, iOS members went from 71 to 70 and non-members on Android from 65 to 64. The app team's chart, carts that start checkout, reads 80 percent flat: true, and it measures the step that did not break.</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4" name="Oval 13"/>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6" name="Oval 15"/>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38 / 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checks before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could still make the call wrong, and which check settles each?</a:t>
            </a:r>
          </a:p>
        </p:txBody>
      </p:sp>
      <p:graphicFrame>
        <p:nvGraphicFramePr>
          <p:cNvPr id="9" name="Table 8"/>
          <p:cNvGraphicFramePr>
            <a:graphicFrameLocks noGrp="1"/>
          </p:cNvGraphicFramePr>
          <p:nvPr/>
        </p:nvGraphicFramePr>
        <p:xfrm>
          <a:off x="530352" y="1682496"/>
          <a:ext cx="11130990" cy="3462528"/>
        </p:xfrm>
        <a:graphic>
          <a:graphicData uri="http://schemas.openxmlformats.org/drawingml/2006/table">
            <a:tbl>
              <a:tblPr firstRow="0" bandRow="0">
                <a:tableStyleId>{2D5ABB26-0587-4C30-8999-92F81FD0307C}</a:tableStyleId>
              </a:tblPr>
              <a:tblGrid>
                <a:gridCol w="3575224"/>
                <a:gridCol w="3777883"/>
                <a:gridCol w="3777883"/>
              </a:tblGrid>
              <a:tr h="310896">
                <a:tc>
                  <a:txBody>
                    <a:bodyPr/>
                    <a:lstStyle/>
                    <a:p>
                      <a:r>
                        <a:rPr sz="1050" b="1" i="0">
                          <a:solidFill>
                            <a:srgbClr val="FFFFFF"/>
                          </a:solidFill>
                          <a:latin typeface="Calibri"/>
                        </a:rPr>
                        <a:t>Caveat</a:t>
                      </a:r>
                    </a:p>
                  </a:txBody>
                  <a:tcPr marL="101600" marR="101600" marT="38100" marB="38100" anchor="ctr">
                    <a:solidFill>
                      <a:srgbClr val="1A0F5C"/>
                    </a:solidFill>
                  </a:tcPr>
                </a:tc>
                <a:tc>
                  <a:txBody>
                    <a:bodyPr/>
                    <a:lstStyle/>
                    <a:p>
                      <a:r>
                        <a:rPr sz="1050" b="1" i="0">
                          <a:solidFill>
                            <a:srgbClr val="FFFFFF"/>
                          </a:solidFill>
                          <a:latin typeface="Calibri"/>
                        </a:rPr>
                        <a:t>The check</a:t>
                      </a:r>
                    </a:p>
                  </a:txBody>
                  <a:tcPr marL="101600" marR="101600" marT="38100" marB="38100" anchor="ctr">
                    <a:solidFill>
                      <a:srgbClr val="1A0F5C"/>
                    </a:solidFill>
                  </a:tcPr>
                </a:tc>
                <a:tc>
                  <a:txBody>
                    <a:bodyPr/>
                    <a:lstStyle/>
                    <a:p>
                      <a:r>
                        <a:rPr sz="1050" b="1" i="0">
                          <a:solidFill>
                            <a:srgbClr val="FFFFFF"/>
                          </a:solidFill>
                          <a:latin typeface="Calibri"/>
                        </a:rPr>
                        <a:t>What it found</a:t>
                      </a:r>
                    </a:p>
                  </a:txBody>
                  <a:tcPr marL="101600" marR="101600" marT="38100" marB="38100" anchor="ctr">
                    <a:solidFill>
                      <a:srgbClr val="1A0F5C"/>
                    </a:solidFill>
                  </a:tcPr>
                </a:tc>
              </a:tr>
              <a:tr h="473456">
                <a:tc>
                  <a:txBody>
                    <a:bodyPr/>
                    <a:lstStyle/>
                    <a:p>
                      <a:r>
                        <a:rPr sz="1000" b="0" i="0">
                          <a:solidFill>
                            <a:srgbClr val="1A1440"/>
                          </a:solidFill>
                          <a:latin typeface="Calibri"/>
                        </a:rPr>
                        <a:t>Selection: the sale-week members were bought on a discount</a:t>
                      </a:r>
                    </a:p>
                  </a:txBody>
                  <a:tcPr marL="101600" marR="101600" marT="38100" marB="38100" anchor="ctr">
                    <a:solidFill>
                      <a:srgbClr val="FFFFFF"/>
                    </a:solidFill>
                  </a:tcPr>
                </a:tc>
                <a:tc>
                  <a:txBody>
                    <a:bodyPr/>
                    <a:lstStyle/>
                    <a:p>
                      <a:r>
                        <a:rPr sz="1000" b="0" i="0">
                          <a:solidFill>
                            <a:srgbClr val="1A1440"/>
                          </a:solidFill>
                          <a:latin typeface="Calibri"/>
                        </a:rPr>
                        <a:t>The August cohort's organic members beside July's cohort</a:t>
                      </a:r>
                    </a:p>
                  </a:txBody>
                  <a:tcPr marL="101600" marR="101600" marT="38100" marB="38100" anchor="ctr">
                    <a:solidFill>
                      <a:srgbClr val="FFFFFF"/>
                    </a:solidFill>
                  </a:tcPr>
                </a:tc>
                <a:tc>
                  <a:txBody>
                    <a:bodyPr/>
                    <a:lstStyle/>
                    <a:p>
                      <a:r>
                        <a:rPr sz="1000" b="0" i="0">
                          <a:solidFill>
                            <a:srgbClr val="1A1440"/>
                          </a:solidFill>
                          <a:latin typeface="Calibri"/>
                        </a:rPr>
                        <a:t>49 against 49 percent; the sale-week members alone sit at 20</a:t>
                      </a:r>
                    </a:p>
                  </a:txBody>
                  <a:tcPr marL="101600" marR="101600" marT="38100" marB="38100" anchor="ctr">
                    <a:solidFill>
                      <a:srgbClr val="FFFFFF"/>
                    </a:solidFill>
                  </a:tcPr>
                </a:tc>
              </a:tr>
              <a:tr h="473456">
                <a:tc>
                  <a:txBody>
                    <a:bodyPr/>
                    <a:lstStyle/>
                    <a:p>
                      <a:r>
                        <a:rPr sz="1000" b="0" i="0">
                          <a:solidFill>
                            <a:srgbClr val="1A1440"/>
                          </a:solidFill>
                          <a:latin typeface="Calibri"/>
                        </a:rPr>
                        <a:t>Censoring: the newest cohorts have few months on record</a:t>
                      </a:r>
                    </a:p>
                  </a:txBody>
                  <a:tcPr marL="101600" marR="101600" marT="38100" marB="38100" anchor="ctr">
                    <a:solidFill>
                      <a:srgbClr val="F4F2FA"/>
                    </a:solidFill>
                  </a:tcPr>
                </a:tc>
                <a:tc>
                  <a:txBody>
                    <a:bodyPr/>
                    <a:lstStyle/>
                    <a:p>
                      <a:r>
                        <a:rPr sz="1000" b="0" i="0">
                          <a:solidFill>
                            <a:srgbClr val="1A1440"/>
                          </a:solidFill>
                          <a:latin typeface="Calibri"/>
                        </a:rPr>
                        <a:t>Compare cohorts only at ages all have reached; an empty cell is a month not yet lived</a:t>
                      </a:r>
                    </a:p>
                  </a:txBody>
                  <a:tcPr marL="101600" marR="101600" marT="38100" marB="38100" anchor="ctr">
                    <a:solidFill>
                      <a:srgbClr val="F4F2FA"/>
                    </a:solidFill>
                  </a:tcPr>
                </a:tc>
                <a:tc>
                  <a:txBody>
                    <a:bodyPr/>
                    <a:lstStyle/>
                    <a:p>
                      <a:r>
                        <a:rPr sz="1000" b="0" i="0">
                          <a:solidFill>
                            <a:srgbClr val="1A1440"/>
                          </a:solidFill>
                          <a:latin typeface="Calibri"/>
                        </a:rPr>
                        <a:t>Named here; the IITGN faculty session W4-3 (tentative) takes it up</a:t>
                      </a:r>
                    </a:p>
                  </a:txBody>
                  <a:tcPr marL="101600" marR="101600" marT="38100" marB="38100" anchor="ctr">
                    <a:solidFill>
                      <a:srgbClr val="F4F2FA"/>
                    </a:solidFill>
                  </a:tcPr>
                </a:tc>
              </a:tr>
              <a:tr h="473456">
                <a:tc>
                  <a:txBody>
                    <a:bodyPr/>
                    <a:lstStyle/>
                    <a:p>
                      <a:r>
                        <a:rPr sz="1000" b="0" i="0">
                          <a:solidFill>
                            <a:srgbClr val="1A1440"/>
                          </a:solidFill>
                          <a:latin typeface="Calibri"/>
                        </a:rPr>
                        <a:t>Seasonality: exam months in a student-heavy zone (hypothetical)</a:t>
                      </a:r>
                    </a:p>
                  </a:txBody>
                  <a:tcPr marL="101600" marR="101600" marT="38100" marB="38100" anchor="ctr">
                    <a:solidFill>
                      <a:srgbClr val="FFFFFF"/>
                    </a:solidFill>
                  </a:tcPr>
                </a:tc>
                <a:tc>
                  <a:txBody>
                    <a:bodyPr/>
                    <a:lstStyle/>
                    <a:p>
                      <a:r>
                        <a:rPr sz="1000" b="0" i="0">
                          <a:solidFill>
                            <a:srgbClr val="1A1440"/>
                          </a:solidFill>
                          <a:latin typeface="Calibri"/>
                        </a:rPr>
                        <a:t>September split by zone (notebook 02)</a:t>
                      </a:r>
                    </a:p>
                  </a:txBody>
                  <a:tcPr marL="101600" marR="101600" marT="38100" marB="38100" anchor="ctr">
                    <a:solidFill>
                      <a:srgbClr val="FFFFFF"/>
                    </a:solidFill>
                  </a:tcPr>
                </a:tc>
                <a:tc>
                  <a:txBody>
                    <a:bodyPr/>
                    <a:lstStyle/>
                    <a:p>
                      <a:r>
                        <a:rPr sz="1000" b="0" i="0">
                          <a:solidFill>
                            <a:srgbClr val="1A1440"/>
                          </a:solidFill>
                          <a:latin typeface="Calibri"/>
                        </a:rPr>
                        <a:t>No zone more than 0.9 points from the city</a:t>
                      </a:r>
                    </a:p>
                  </a:txBody>
                  <a:tcPr marL="101600" marR="101600" marT="38100" marB="38100" anchor="ctr">
                    <a:solidFill>
                      <a:srgbClr val="FFFFFF"/>
                    </a:solidFill>
                  </a:tcPr>
                </a:tc>
              </a:tr>
              <a:tr h="473456">
                <a:tc>
                  <a:txBody>
                    <a:bodyPr/>
                    <a:lstStyle/>
                    <a:p>
                      <a:r>
                        <a:rPr sz="1000" b="0" i="0">
                          <a:solidFill>
                            <a:srgbClr val="1A1440"/>
                          </a:solidFill>
                          <a:latin typeface="Calibri"/>
                        </a:rPr>
                        <a:t>Tracking: the release renamed an Android event</a:t>
                      </a:r>
                    </a:p>
                  </a:txBody>
                  <a:tcPr marL="101600" marR="101600" marT="38100" marB="38100" anchor="ctr">
                    <a:solidFill>
                      <a:srgbClr val="F4F2FA"/>
                    </a:solidFill>
                  </a:tcPr>
                </a:tc>
                <a:tc>
                  <a:txBody>
                    <a:bodyPr/>
                    <a:lstStyle/>
                    <a:p>
                      <a:r>
                        <a:rPr sz="1000" b="0" i="0">
                          <a:solidFill>
                            <a:srgbClr val="1A1440"/>
                          </a:solidFill>
                          <a:latin typeface="Calibri"/>
                        </a:rPr>
                        <a:t>Orders in member_months, which event names do not touch, against the event log</a:t>
                      </a:r>
                    </a:p>
                  </a:txBody>
                  <a:tcPr marL="101600" marR="101600" marT="38100" marB="38100" anchor="ctr">
                    <a:solidFill>
                      <a:srgbClr val="F4F2FA"/>
                    </a:solidFill>
                  </a:tcPr>
                </a:tc>
                <a:tc>
                  <a:txBody>
                    <a:bodyPr/>
                    <a:lstStyle/>
                    <a:p>
                      <a:r>
                        <a:rPr sz="1000" b="0" i="0">
                          <a:solidFill>
                            <a:srgbClr val="1A1440"/>
                          </a:solidFill>
                          <a:latin typeface="Calibri"/>
                        </a:rPr>
                        <a:t>The same 27,212 member orders in September: none went missing</a:t>
                      </a:r>
                    </a:p>
                  </a:txBody>
                  <a:tcPr marL="101600" marR="101600" marT="38100" marB="38100" anchor="ctr">
                    <a:solidFill>
                      <a:srgbClr val="F4F2FA"/>
                    </a:solidFill>
                  </a:tcPr>
                </a:tc>
              </a:tr>
              <a:tr h="473456">
                <a:tc>
                  <a:txBody>
                    <a:bodyPr/>
                    <a:lstStyle/>
                    <a:p>
                      <a:r>
                        <a:rPr sz="1000" b="0" i="0">
                          <a:solidFill>
                            <a:srgbClr val="1A1440"/>
                          </a:solidFill>
                          <a:latin typeface="Calibri"/>
                        </a:rPr>
                        <a:t>Mix inside the split: the August cohort aged across 14 September</a:t>
                      </a:r>
                    </a:p>
                  </a:txBody>
                  <a:tcPr marL="101600" marR="101600" marT="38100" marB="38100" anchor="ctr">
                    <a:solidFill>
                      <a:srgbClr val="FFFFFF"/>
                    </a:solidFill>
                  </a:tcPr>
                </a:tc>
                <a:tc>
                  <a:txBody>
                    <a:bodyPr/>
                    <a:lstStyle/>
                    <a:p>
                      <a:r>
                        <a:rPr sz="1000" b="0" i="0">
                          <a:solidFill>
                            <a:srgbClr val="1A1440"/>
                          </a:solidFill>
                          <a:latin typeface="Calibri"/>
                        </a:rPr>
                        <a:t>Members who joined before August, on the same step</a:t>
                      </a:r>
                    </a:p>
                  </a:txBody>
                  <a:tcPr marL="101600" marR="101600" marT="38100" marB="38100" anchor="ctr">
                    <a:solidFill>
                      <a:srgbClr val="FFFFFF"/>
                    </a:solidFill>
                  </a:tcPr>
                </a:tc>
                <a:tc>
                  <a:txBody>
                    <a:bodyPr/>
                    <a:lstStyle/>
                    <a:p>
                      <a:r>
                        <a:rPr sz="1000" b="0" i="0">
                          <a:solidFill>
                            <a:srgbClr val="1A1440"/>
                          </a:solidFill>
                          <a:latin typeface="Calibri"/>
                        </a:rPr>
                        <a:t>Android 70.3 to 53.6; iOS 68.6 to 69.3</a:t>
                      </a:r>
                    </a:p>
                  </a:txBody>
                  <a:tcPr marL="101600" marR="101600" marT="38100" marB="38100" anchor="ctr">
                    <a:solidFill>
                      <a:srgbClr val="FFFFFF"/>
                    </a:solidFill>
                  </a:tcPr>
                </a:tc>
              </a:tr>
              <a:tr h="310896">
                <a:tc>
                  <a:txBody>
                    <a:bodyPr/>
                    <a:lstStyle/>
                    <a:p>
                      <a:r>
                        <a:rPr sz="1000" b="0" i="0">
                          <a:solidFill>
                            <a:srgbClr val="1A1440"/>
                          </a:solidFill>
                          <a:latin typeface="Calibri"/>
                        </a:rPr>
                        <a:t>Sessions against members</a:t>
                      </a:r>
                    </a:p>
                  </a:txBody>
                  <a:tcPr marL="101600" marR="101600" marT="38100" marB="38100" anchor="ctr">
                    <a:solidFill>
                      <a:srgbClr val="F4F2FA"/>
                    </a:solidFill>
                  </a:tcPr>
                </a:tc>
                <a:tc>
                  <a:txBody>
                    <a:bodyPr/>
                    <a:lstStyle/>
                    <a:p>
                      <a:r>
                        <a:rPr sz="1000" b="0" i="0">
                          <a:solidFill>
                            <a:srgbClr val="1A1440"/>
                          </a:solidFill>
                          <a:latin typeface="Calibri"/>
                        </a:rPr>
                        <a:t>The unit named on every chart</a:t>
                      </a:r>
                    </a:p>
                  </a:txBody>
                  <a:tcPr marL="101600" marR="101600" marT="38100" marB="38100" anchor="ctr">
                    <a:solidFill>
                      <a:srgbClr val="F4F2FA"/>
                    </a:solidFill>
                  </a:tcPr>
                </a:tc>
                <a:tc>
                  <a:txBody>
                    <a:bodyPr/>
                    <a:lstStyle/>
                    <a:p>
                      <a:r>
                        <a:rPr sz="1000" b="0" i="0">
                          <a:solidFill>
                            <a:srgbClr val="1A1440"/>
                          </a:solidFill>
                          <a:latin typeface="Calibri"/>
                        </a:rPr>
                        <a:t>34 per session, 61 per member, both true</a:t>
                      </a:r>
                    </a:p>
                  </a:txBody>
                  <a:tcPr marL="101600" marR="101600" marT="38100" marB="38100" anchor="ctr">
                    <a:solidFill>
                      <a:srgbClr val="F4F2FA"/>
                    </a:solidFill>
                  </a:tcPr>
                </a:tc>
              </a:tr>
              <a:tr h="473456">
                <a:tc>
                  <a:txBody>
                    <a:bodyPr/>
                    <a:lstStyle/>
                    <a:p>
                      <a:r>
                        <a:rPr sz="1000" b="0" i="0">
                          <a:solidFill>
                            <a:srgbClr val="1A1440"/>
                          </a:solidFill>
                          <a:latin typeface="Calibri"/>
                        </a:rPr>
                        <a:t>Joiners' orders rising after they join</a:t>
                      </a:r>
                    </a:p>
                  </a:txBody>
                  <a:tcPr marL="101600" marR="101600" marT="38100" marB="38100" anchor="ctr">
                    <a:solidFill>
                      <a:srgbClr val="FFFFFF"/>
                    </a:solidFill>
                  </a:tcPr>
                </a:tc>
                <a:tc>
                  <a:txBody>
                    <a:bodyPr/>
                    <a:lstStyle/>
                    <a:p>
                      <a:r>
                        <a:rPr sz="1000" b="0" i="0">
                          <a:solidFill>
                            <a:srgbClr val="1A1440"/>
                          </a:solidFill>
                          <a:latin typeface="Calibri"/>
                        </a:rPr>
                        <a:t>Zomato Gold's frequency rose about 60 percent after joining</a:t>
                      </a:r>
                    </a:p>
                  </a:txBody>
                  <a:tcPr marL="101600" marR="101600" marT="38100" marB="38100" anchor="ctr">
                    <a:solidFill>
                      <a:srgbClr val="FFFFFF"/>
                    </a:solidFill>
                  </a:tcPr>
                </a:tc>
                <a:tc>
                  <a:txBody>
                    <a:bodyPr/>
                    <a:lstStyle/>
                    <a:p>
                      <a:r>
                        <a:rPr sz="1000" b="0" i="0">
                          <a:solidFill>
                            <a:srgbClr val="1A1440"/>
                          </a:solidFill>
                          <a:latin typeface="Calibri"/>
                        </a:rPr>
                        <a:t>Members join when they expect to order more; the release split has a comparison, this has none</a:t>
                      </a:r>
                    </a:p>
                  </a:txBody>
                  <a:tcPr marL="101600" marR="101600" marT="38100" marB="38100" anchor="ctr">
                    <a:solidFill>
                      <a:srgbClr val="FFFFFF"/>
                    </a:solidFill>
                  </a:tcPr>
                </a:tc>
              </a:tr>
            </a:tbl>
          </a:graphicData>
        </a:graphic>
      </p:graphicFrame>
      <p:sp>
        <p:nvSpPr>
          <p:cNvPr id="10" name="TextBox 9"/>
          <p:cNvSpPr txBox="1"/>
          <p:nvPr/>
        </p:nvSpPr>
        <p:spPr>
          <a:xfrm>
            <a:off x="530352" y="5401056"/>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Zomato's 60 percent comes from its shareholder letter of 19 May 2023 (checked 12 October 2026); it describes members, and says nothing about what Gold caused.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13" name="Oval 12"/>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15" name="Oval 14"/>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39 / 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ZOMATO GOLD, CHENNAI,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3 close: one step, one platform, one date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stage owns the loss, for whom, since when, and how big is it?</a:t>
            </a:r>
          </a:p>
        </p:txBody>
      </p:sp>
      <p:pic>
        <p:nvPicPr>
          <p:cNvPr id="9" name="mermaid diagram" descr="631100b542aac93e.png"/>
          <p:cNvPicPr>
            <a:picLocks noChangeAspect="1"/>
          </p:cNvPicPr>
          <p:nvPr/>
        </p:nvPicPr>
        <p:blipFill>
          <a:blip r:embed="rId6"/>
          <a:stretch>
            <a:fillRect/>
          </a:stretch>
        </p:blipFill>
        <p:spPr>
          <a:xfrm>
            <a:off x="530352" y="1830683"/>
            <a:ext cx="11130991" cy="1962193"/>
          </a:xfrm>
          <a:prstGeom prst="rect">
            <a:avLst/>
          </a:prstGeom>
        </p:spPr>
      </p:pic>
      <p:sp>
        <p:nvSpPr>
          <p:cNvPr id="10" name="Rounded Rectangle 9"/>
          <p:cNvSpPr/>
          <p:nvPr/>
        </p:nvSpPr>
        <p:spPr>
          <a:xfrm>
            <a:off x="530352" y="4005072"/>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33088"/>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23944"/>
            <a:ext cx="10564063" cy="1158240"/>
          </a:xfrm>
          <a:prstGeom prst="rect">
            <a:avLst/>
          </a:prstGeom>
          <a:noFill/>
        </p:spPr>
        <p:txBody>
          <a:bodyPr wrap="square" anchor="ctr" lIns="0" rIns="0" tIns="0" bIns="0">
            <a:spAutoFit/>
          </a:bodyPr>
          <a:lstStyle/>
          <a:p>
            <a:r>
              <a:rPr sz="1500" b="1">
                <a:solidFill>
                  <a:srgbClr val="5B3FD6"/>
                </a:solidFill>
                <a:latin typeface="Calibri"/>
              </a:rPr>
              <a:t>The size. </a:t>
            </a:r>
            <a:r>
              <a:rPr sz="1500" b="0" i="0">
                <a:solidFill>
                  <a:srgbClr val="1A1440"/>
                </a:solidFill>
                <a:latin typeface="Calibri"/>
              </a:rPr>
              <a:t>0.14 × 22,841 carts is about 3,198 orders in 17 days: 188 a day, 1,317 a week if none came back; counted in orders placed, 1,133 to 1,266 a week, a quarter of Android members' 5,064. At Rs 300 to Rs 500 an order (an assumption), Rs 3.4 to 6.6 lakh of order value a week, of which Zomato keeps its commission and fees.</a:t>
            </a:r>
          </a:p>
        </p:txBody>
      </p:sp>
      <p:sp>
        <p:nvSpPr>
          <p:cNvPr id="13" name="Rounded Rectangle 12"/>
          <p:cNvSpPr/>
          <p:nvPr/>
        </p:nvSpPr>
        <p:spPr>
          <a:xfrm>
            <a:off x="530352" y="551078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758952" y="58430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list-checks_bd88901d2a37.png"/>
          <p:cNvPicPr>
            <a:picLocks noChangeAspect="1"/>
          </p:cNvPicPr>
          <p:nvPr/>
        </p:nvPicPr>
        <p:blipFill>
          <a:blip r:embed="rId5"/>
          <a:stretch>
            <a:fillRect/>
          </a:stretch>
        </p:blipFill>
        <p:spPr>
          <a:xfrm>
            <a:off x="868680" y="5952744"/>
            <a:ext cx="237744" cy="237744"/>
          </a:xfrm>
          <a:prstGeom prst="rect">
            <a:avLst/>
          </a:prstGeom>
        </p:spPr>
      </p:pic>
      <p:sp>
        <p:nvSpPr>
          <p:cNvPr id="16" name="TextBox 15"/>
          <p:cNvSpPr txBox="1"/>
          <p:nvPr/>
        </p:nvSpPr>
        <p:spPr>
          <a:xfrm>
            <a:off x="1399031" y="56570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7" name="TextBox 16"/>
          <p:cNvSpPr txBox="1"/>
          <p:nvPr/>
        </p:nvSpPr>
        <p:spPr>
          <a:xfrm>
            <a:off x="1399031" y="5876544"/>
            <a:ext cx="9987991" cy="682752"/>
          </a:xfrm>
          <a:prstGeom prst="rect">
            <a:avLst/>
          </a:prstGeom>
          <a:noFill/>
        </p:spPr>
        <p:txBody>
          <a:bodyPr wrap="square" anchor="t" lIns="0" rIns="0" tIns="0" bIns="0">
            <a:spAutoFit/>
          </a:bodyPr>
          <a:lstStyle/>
          <a:p>
            <a:r>
              <a:rPr sz="1500" b="0" i="0">
                <a:solidFill>
                  <a:srgbClr val="1A1440"/>
                </a:solidFill>
                <a:latin typeface="Calibri"/>
              </a:rPr>
              <a:t>Name the unit, split by who, where and when, and find the step that changed before blaming the step that is low.</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Who entered when?</a:t>
            </a:r>
          </a:p>
        </p:txBody>
      </p:sp>
      <p:sp>
        <p:nvSpPr>
          <p:cNvPr id="20" name="Oval 19"/>
          <p:cNvSpPr/>
          <p:nvPr/>
        </p:nvSpPr>
        <p:spPr>
          <a:xfrm>
            <a:off x="17879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897665"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is the 38 made of?</a:t>
            </a:r>
          </a:p>
        </p:txBody>
      </p:sp>
      <p:sp>
        <p:nvSpPr>
          <p:cNvPr id="22" name="Oval 21"/>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6"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stage owns the loss?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40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