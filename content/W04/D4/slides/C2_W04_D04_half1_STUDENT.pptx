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real members of the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four sale-week members, named</a:t>
            </a:r>
          </a:p>
          <a:p>
            <a:r>
              <a:t>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6666cc6ddfa3b618.png"/>
          <p:cNvPicPr>
            <a:picLocks noChangeAspect="1"/>
          </p:cNvPicPr>
          <p:nvPr/>
        </p:nvPicPr>
        <p:blipFill>
          <a:blip r:embed="rId5"/>
          <a:stretch>
            <a:fillRect/>
          </a:stretch>
        </p:blipFill>
        <p:spPr>
          <a:xfrm>
            <a:off x="779525" y="1682496"/>
            <a:ext cx="1063264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1,223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ZG41000, ZG41529,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 each</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publish cohorts, not one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against the quarter it joined</a:t>
            </a:r>
          </a:p>
        </p:txBody>
      </p:sp>
      <p:sp>
        <p:nvSpPr>
          <p:cNvPr id="20" name="TextBox 19"/>
          <p:cNvSpPr txBox="1"/>
          <p:nvPr/>
        </p:nvSpPr>
        <p:spPr>
          <a:xfrm>
            <a:off x="6388455"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The cohort that joined in Q4 FY24 (January to March 2024) spends 4.14 times in its sixth quarter what it spent in its first.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682496"/>
            <a:ext cx="11130991" cy="1243975"/>
          </a:xfrm>
          <a:prstGeom prst="rect">
            <a:avLst/>
          </a:prstGeom>
        </p:spPr>
      </p:pic>
      <p:sp>
        <p:nvSpPr>
          <p:cNvPr id="10" name="Rounded Rectangle 9"/>
          <p:cNvSpPr/>
          <p:nvPr/>
        </p:nvSpPr>
        <p:spPr>
          <a:xfrm>
            <a:off x="530352" y="3072775"/>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345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44275"/>
            <a:ext cx="237744" cy="237744"/>
          </a:xfrm>
          <a:prstGeom prst="rect">
            <a:avLst/>
          </a:prstGeom>
        </p:spPr>
      </p:pic>
      <p:sp>
        <p:nvSpPr>
          <p:cNvPr id="13" name="TextBox 12"/>
          <p:cNvSpPr txBox="1"/>
          <p:nvPr/>
        </p:nvSpPr>
        <p:spPr>
          <a:xfrm>
            <a:off x="1399031" y="32190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438535"/>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61811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988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9611"/>
            <a:ext cx="237744" cy="237744"/>
          </a:xfrm>
          <a:prstGeom prst="rect">
            <a:avLst/>
          </a:prstGeom>
        </p:spPr>
      </p:pic>
      <p:sp>
        <p:nvSpPr>
          <p:cNvPr id="18" name="TextBox 17"/>
          <p:cNvSpPr txBox="1"/>
          <p:nvPr/>
        </p:nvSpPr>
        <p:spPr>
          <a:xfrm>
            <a:off x="1399031" y="476441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983871"/>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7696b2b83291b3e.png"/>
          <p:cNvPicPr>
            <a:picLocks noChangeAspect="1"/>
          </p:cNvPicPr>
          <p:nvPr/>
        </p:nvPicPr>
        <p:blipFill>
          <a:blip r:embed="rId5"/>
          <a:stretch>
            <a:fillRect/>
          </a:stretch>
        </p:blipFill>
        <p:spPr>
          <a:xfrm>
            <a:off x="530352" y="1956816"/>
            <a:ext cx="11130991" cy="712476"/>
          </a:xfrm>
          <a:prstGeom prst="rect">
            <a:avLst/>
          </a:prstGeom>
        </p:spPr>
      </p:pic>
      <p:sp>
        <p:nvSpPr>
          <p:cNvPr id="10" name="TextBox 9"/>
          <p:cNvSpPr txBox="1"/>
          <p:nvPr/>
        </p:nvSpPr>
        <p:spPr>
          <a:xfrm>
            <a:off x="530352" y="281559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310bdaed764530a6.png"/>
          <p:cNvPicPr>
            <a:picLocks noChangeAspect="1"/>
          </p:cNvPicPr>
          <p:nvPr/>
        </p:nvPicPr>
        <p:blipFill>
          <a:blip r:embed="rId6"/>
          <a:stretch>
            <a:fillRect/>
          </a:stretch>
        </p:blipFill>
        <p:spPr>
          <a:xfrm>
            <a:off x="530352" y="1956816"/>
            <a:ext cx="11130991" cy="1149395"/>
          </a:xfrm>
          <a:prstGeom prst="rect">
            <a:avLst/>
          </a:prstGeom>
        </p:spPr>
      </p:pic>
      <p:sp>
        <p:nvSpPr>
          <p:cNvPr id="10" name="Rounded Rectangle 9"/>
          <p:cNvSpPr/>
          <p:nvPr/>
        </p:nvSpPr>
        <p:spPr>
          <a:xfrm>
            <a:off x="530352" y="325251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80531"/>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71387"/>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or 1,223 net of the point the comparators also lost, about a quarter of Android members' 5,064 orders a week. At Rs 300 to Rs 500 an order (an assumption), Rs 3.7 to 6.6 lakh of order value a week, of which Zomato keeps its commission and fees.</a:t>
            </a:r>
          </a:p>
        </p:txBody>
      </p:sp>
      <p:sp>
        <p:nvSpPr>
          <p:cNvPr id="13" name="Rounded Rectangle 12"/>
          <p:cNvSpPr/>
          <p:nvPr/>
        </p:nvSpPr>
        <p:spPr>
          <a:xfrm>
            <a:off x="530352" y="475822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09045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200187"/>
            <a:ext cx="237744" cy="237744"/>
          </a:xfrm>
          <a:prstGeom prst="rect">
            <a:avLst/>
          </a:prstGeom>
        </p:spPr>
      </p:pic>
      <p:sp>
        <p:nvSpPr>
          <p:cNvPr id="16" name="TextBox 15"/>
          <p:cNvSpPr txBox="1"/>
          <p:nvPr/>
        </p:nvSpPr>
        <p:spPr>
          <a:xfrm>
            <a:off x="1399031" y="490453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123987"/>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