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fifth topic on the college (10), the fix-first call on Zomato Gold,</a:t>
            </a:r>
          </a:p>
          <a:p>
            <a:r>
              <a:t>unguided (25), the interview walk and the AI-company variant (10), the Kahoot and the close (15).</a:t>
            </a:r>
          </a:p>
          <a:p>
            <a:r>
              <a:t>Then the IITGN faculty session W4-3 runs (tentative), or the weaned-users fallback if it slips.</a:t>
            </a:r>
          </a:p>
          <a:p>
            <a:r>
              <a:t>LIVE, 10 minutes. Laptops closed; notebook 08 afterwards or in the lab; drill c5 runs in the lab.</a:t>
            </a:r>
          </a:p>
          <a:p>
            <a:r>
              <a:t>If late: S70 in one sentence. Styles: Veritasium (the</a:t>
            </a:r>
          </a:p>
          <a:p>
            <a:r>
              <a:t>bigger count against the step that moved), the case method (the admissions office's claim,</a:t>
            </a:r>
          </a:p>
          <a:p>
            <a:r>
              <a:t>partly right), Feynman (the page in five plain lines).</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college is the morning's, from SECTION 4: the same programme, the same two</a:t>
            </a:r>
          </a:p>
          <a:p>
            <a:r>
              <a:t>cycles, plus the one before them.</a:t>
            </a:r>
          </a:p>
          <a:p>
            <a:r>
              <a:t>Transition: the dean's two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Expect b: 200 students sounds bigger than a fall of 15 points.</a:t>
            </a:r>
          </a:p>
          <a:p>
            <a:r>
              <a:t>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things turn a fall into a case: the group it hurts, the date it started,</a:t>
            </a:r>
          </a:p>
          <a:p>
            <a:r>
              <a:t>and a comparator on the same step that held. Ask which of the three the dean would ask for first.</a:t>
            </a:r>
          </a:p>
          <a:p>
            <a:r>
              <a:t>Transition: how big it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is counted in joiners, since fees come from students who join; the</a:t>
            </a:r>
          </a:p>
          <a:p>
            <a:r>
              <a:t>two routes to 48 must agree before the number goes on the page. The fee is an assumption with its</a:t>
            </a:r>
          </a:p>
          <a:p>
            <a:r>
              <a:t>range, said as one.</a:t>
            </a:r>
          </a:p>
          <a:p>
            <a:r>
              <a:t>Transition: the objection.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Tuesday's four moves: restate, answer from the evidence, concede what is true,</a:t>
            </a:r>
          </a:p>
          <a:p>
            <a:r>
              <a:t>say what would change your mind. A reply that calls the office wrong has lost the room.</a:t>
            </a:r>
          </a:p>
          <a:p>
            <a:r>
              <a:t>Transition: the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page is the chapter's rules: learners photograph it. Before blaming anyone,</a:t>
            </a:r>
          </a:p>
          <a:p>
            <a:r>
              <a:t>the morning's board runs in order: the count, the definition, the cohorts, everyone, then the</a:t>
            </a:r>
          </a:p>
          <a:p>
            <a:r>
              <a:t>step. The five-line page is this programme's own form, built on Tuesday's claim, evidence,</a:t>
            </a:r>
          </a:p>
          <a:p>
            <a:r>
              <a:t>caveat and action.</a:t>
            </a:r>
          </a:p>
          <a:p>
            <a:r>
              <a:t>Transition: where the page goes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last node on the concept map. The college's page has the same five lines</a:t>
            </a:r>
          </a:p>
          <a:p>
            <a:r>
              <a:t>the groups now write for the membership lead.</a:t>
            </a:r>
          </a:p>
          <a:p>
            <a:r>
              <a:t>Transition: SECTION 9, the call on Zomato Gold.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unguided, in the nine groups: 12 minutes of slides and 13 of writing; the set's</a:t>
            </a:r>
          </a:p>
          <a:p>
            <a:r>
              <a:t>items run in the lab. Hand out: the fix-first set and the role card to the TA. If late: S76 in one</a:t>
            </a:r>
          </a:p>
          <a:p>
            <a:r>
              <a:t>sentence.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set up; the groups write for 13 minutes in all, between this slide and the</a:t>
            </a:r>
          </a:p>
          <a:p>
            <a:r>
              <a:t>call. Circulate with one question per group: which line of your evidence would the app team's</a:t>
            </a:r>
          </a:p>
          <a:p>
            <a:r>
              <a:t>lead attack first? Groups that write "fix retention" with no stage are sent back to SECTION 7's</a:t>
            </a:r>
          </a:p>
          <a:p>
            <a:r>
              <a:t>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Keep S73 up while the TA, playing the app team's lead from the role card (TRAINER</a:t>
            </a:r>
          </a:p>
          <a:p>
            <a:r>
              <a:t>role card), reads the claim; one group answers in the four moves from Tuesday, and only then does</a:t>
            </a:r>
          </a:p>
          <a:p>
            <a:r>
              <a:t>this slide, the model answer, go up. The four moves: restate, answer from the evidence, concede what is true, say what</a:t>
            </a:r>
          </a:p>
          <a:p>
            <a:r>
              <a:t>would change your mind. A response that calls the app team wrong has lost; the chart is right</a:t>
            </a:r>
          </a:p>
          <a:p>
            <a:r>
              <a:t>about the step it measures. It is the college's admissions office again, on a real company.</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number with its assumption. The 1,317 assumes no failed cart came back</a:t>
            </a:r>
          </a:p>
          <a:p>
            <a:r>
              <a:t>as a later order. Some did: the share of failures followed by an order within a day held near 36</a:t>
            </a:r>
          </a:p>
          <a:p>
            <a:r>
              <a:t>percent, but failures nearly doubled (1,921 to 3,386 a week), so recoveries rose from 701 to 1,189 a</a:t>
            </a:r>
          </a:p>
          <a:p>
            <a:r>
              <a:t>week. Counted in orders placed, which keeps them, Android members' weekly orders fell 18 percent</a:t>
            </a:r>
          </a:p>
          <a:p>
            <a:r>
              <a:t>while iOS members' rose 7: a loss of 1,266 a week against iOS members, 1,133 against non-members on</a:t>
            </a:r>
          </a:p>
          <a:p>
            <a:r>
              <a:t>Android.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deck opens on it).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L6. If late: S80 read in two sentences. Pairs work from S79's table only: one asks the question, one answers in the</a:t>
            </a:r>
          </a:p>
          <a:p>
            <a:r>
              <a:t>hire-grade order, and they swap; the full transcript in the extras folder is for the evening. The</a:t>
            </a:r>
          </a:p>
          <a:p>
            <a:r>
              <a:t>AI variant is read aloud, 3 minutes, no discussion; explorer scene Th4 carries it.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step of the walk is one of the morning's topics; name each as it comes.</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read only this table: one asks, one answers in the hire-grade order, then</a:t>
            </a:r>
          </a:p>
          <a:p>
            <a:r>
              <a:t>swap. The 3.6 and the 3.2, worked: counted for everyone, the month read 39.5 in August and 35.9 in</a:t>
            </a:r>
          </a:p>
          <a:p>
            <a:r>
              <a:t>September, a fall of 3.6 points; with a normal August cohort, 5,000 members at July's 49 percent in</a:t>
            </a:r>
          </a:p>
          <a:p>
            <a:r>
              <a:t>month one, September would read 39.2, a fall of about 0.4, so about 3.2 of the 3.6 is the August</a:t>
            </a:r>
          </a:p>
          <a:p>
            <a:r>
              <a:t>cohort.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aloud, no discussion. Programme-written, every number a toy (explorer scene</a:t>
            </a:r>
          </a:p>
          <a:p>
            <a:r>
              <a:t>Th4 shows the same toy). The transfer: a launch cohort is the sale-week members of an AI product.</a:t>
            </a:r>
          </a:p>
          <a:p>
            <a:r>
              <a:t>Two months after launch, the launch cohort and the next few weekly cohorts have all reached week</a:t>
            </a:r>
          </a:p>
          <a:p>
            <a:r>
              <a:t>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two questions (1), the Kahoot (10) and the close (4). If late: the close</a:t>
            </a:r>
          </a:p>
          <a:p>
            <a:r>
              <a:t>keeps the sentence and Friday's ticket.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questions.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 and name the topic it tests.</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and its evidence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call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When two problems compete for one team, choose the step that moved, show it with a comparator, a date and a cost, and concede the true part of the objection, on the same college's two problems.</a:t>
            </a:r>
          </a:p>
        </p:txBody>
      </p:sp>
      <p:sp>
        <p:nvSpPr>
          <p:cNvPr id="11" name="Rounded Rectangle 10"/>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decision: four questions, one dean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college's dean (invented), who has one admissions team for one fix before the next cycle; the wrong fix leaves the lost students lost for another year.</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on the same college the funnel chapter counted.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of two problems goes first?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bigger count, or the step that moved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Whom does the loss hurt, since when?</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split by group and date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big is it, and what does it cost?</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Students and fees, with a range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answers the objection?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true part conceded first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38" name="Oval 3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problem does the dean fix first?</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dean has two problems: 200 of 1,000 applications never sat the entrance test this cycle, the same 20 percent as every cycle, and offer acceptance fell from 90 to 75 percent (invented). Which goes first?</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5430105"/>
                <a:gridCol w="2267028"/>
                <a:gridCol w="1716928"/>
                <a:gridCol w="1716928"/>
              </a:tblGrid>
              <a:tr h="335280">
                <a:tc>
                  <a:txBody>
                    <a:bodyPr/>
                    <a:lstStyle/>
                    <a:p>
                      <a:r>
                        <a:rPr sz="1250" b="1" i="0">
                          <a:solidFill>
                            <a:srgbClr val="FFFFFF"/>
                          </a:solidFill>
                          <a:latin typeface="Calibri"/>
                        </a:rPr>
                        <a:t>The college's two problems (invented)</a:t>
                      </a:r>
                    </a:p>
                  </a:txBody>
                  <a:tcPr marL="101600" marR="101600" marT="38100" marB="38100" anchor="ctr">
                    <a:solidFill>
                      <a:srgbClr val="1A0F5C"/>
                    </a:solidFill>
                  </a:tcPr>
                </a:tc>
                <a:tc>
                  <a:txBody>
                    <a:bodyPr/>
                    <a:lstStyle/>
                    <a:p>
                      <a:r>
                        <a:rPr sz="1250" b="1" i="0">
                          <a:solidFill>
                            <a:srgbClr val="FFFFFF"/>
                          </a:solidFill>
                          <a:latin typeface="Calibri"/>
                        </a:rPr>
                        <a:t>Two cycles ago</a:t>
                      </a:r>
                    </a:p>
                  </a:txBody>
                  <a:tcPr marL="101600" marR="101600" marT="38100" marB="38100" anchor="ctr">
                    <a:solidFill>
                      <a:srgbClr val="1A0F5C"/>
                    </a:solidFill>
                  </a:tcPr>
                </a:tc>
                <a:tc>
                  <a:txBody>
                    <a:bodyPr/>
                    <a:lstStyle/>
                    <a:p>
                      <a:r>
                        <a:rPr sz="1250" b="1" i="0">
                          <a:solidFill>
                            <a:srgbClr val="FFFFFF"/>
                          </a:solidFill>
                          <a:latin typeface="Calibri"/>
                        </a:rPr>
                        <a:t>Last cycle</a:t>
                      </a:r>
                    </a:p>
                  </a:txBody>
                  <a:tcPr marL="101600" marR="101600" marT="38100" marB="38100" anchor="ctr">
                    <a:solidFill>
                      <a:srgbClr val="1A0F5C"/>
                    </a:solidFill>
                  </a:tcPr>
                </a:tc>
                <a:tc>
                  <a:txBody>
                    <a:bodyPr/>
                    <a:lstStyle/>
                    <a:p>
                      <a:r>
                        <a:rPr sz="1250" b="1" i="0">
                          <a:solidFill>
                            <a:srgbClr val="FFFFFF"/>
                          </a:solidFill>
                          <a:latin typeface="Calibri"/>
                        </a:rPr>
                        <a:t>This cycle</a:t>
                      </a:r>
                    </a:p>
                  </a:txBody>
                  <a:tcPr marL="101600" marR="101600" marT="38100" marB="38100" anchor="ctr">
                    <a:solidFill>
                      <a:srgbClr val="1A0F5C"/>
                    </a:solidFill>
                  </a:tcPr>
                </a:tc>
              </a:tr>
              <a:tr h="335280">
                <a:tc>
                  <a:txBody>
                    <a:bodyPr/>
                    <a:lstStyle/>
                    <a:p>
                      <a:r>
                        <a:rPr sz="1200" b="0" i="0">
                          <a:solidFill>
                            <a:srgbClr val="1A1440"/>
                          </a:solidFill>
                          <a:latin typeface="Calibri"/>
                        </a:rPr>
                        <a:t>Applications that sat the test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r>
              <a:tr h="335280">
                <a:tc>
                  <a:txBody>
                    <a:bodyPr/>
                    <a:lstStyle/>
                    <a:p>
                      <a:r>
                        <a:rPr sz="1200" b="0" i="0">
                          <a:solidFill>
                            <a:srgbClr val="1A1440"/>
                          </a:solidFill>
                          <a:latin typeface="Calibri"/>
                        </a:rPr>
                        <a:t>Offers accepted</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75 percent</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Both at once, split across the team</a:t>
            </a:r>
          </a:p>
          <a:p>
            <a:pPr>
              <a:spcAft>
                <a:spcPts val="800"/>
              </a:spcAft>
            </a:pPr>
            <a:r>
              <a:rPr sz="1600" b="0" i="0">
                <a:solidFill>
                  <a:srgbClr val="1A1440"/>
                </a:solidFill>
                <a:latin typeface="Calibri"/>
              </a:rPr>
              <a:t>b) The test's no-show, the bigger count at 200</a:t>
            </a:r>
          </a:p>
          <a:p>
            <a:pPr>
              <a:spcAft>
                <a:spcPts val="800"/>
              </a:spcAft>
            </a:pPr>
            <a:r>
              <a:rPr sz="1600" b="0" i="0">
                <a:solidFill>
                  <a:srgbClr val="1A1440"/>
                </a:solidFill>
                <a:latin typeface="Calibri"/>
              </a:rPr>
              <a:t>c) Offer acceptance</a:t>
            </a:r>
          </a:p>
          <a:p>
            <a:pPr>
              <a:spcAft>
                <a:spcPts val="800"/>
              </a:spcAft>
            </a:pPr>
            <a:r>
              <a:rPr sz="1600" b="0" i="0">
                <a:solidFill>
                  <a:srgbClr val="1A1440"/>
                </a:solidFill>
                <a:latin typeface="Calibri"/>
              </a:rPr>
              <a:t>d) Neither, until the next cycle confirms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acceptance, for other-state students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problem moved, for whom, and since when?</a:t>
            </a:r>
          </a:p>
        </p:txBody>
      </p:sp>
      <p:pic>
        <p:nvPicPr>
          <p:cNvPr id="9" name="mermaid diagram" descr="C2_W04_D04_college_acceptance_STUDENT.png"/>
          <p:cNvPicPr>
            <a:picLocks noChangeAspect="1"/>
          </p:cNvPicPr>
          <p:nvPr/>
        </p:nvPicPr>
        <p:blipFill>
          <a:blip r:embed="rId4"/>
          <a:stretch>
            <a:fillRect/>
          </a:stretch>
        </p:blipFill>
        <p:spPr>
          <a:xfrm>
            <a:off x="3007620" y="1664208"/>
            <a:ext cx="6176454"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Offers accepted by home state, three cycles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The test's no-show has read 20 percent for three cycles, so it is how the test runs, and nothing changed there. Acceptance fell for one group: students from other states went from 87 to 50 percent, from the cycle the fee-payment deadline was cut from 21 to 7 days after the offer, while in-state students on the same step, who met the same shorter deadline, held at 92 to 90: the comparator places the fall in one group, and the date ties it to the change.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size and the cost, with the assumption ranged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students did the fall cost, and what are they worth?</a:t>
            </a:r>
          </a:p>
        </p:txBody>
      </p:sp>
      <p:graphicFrame>
        <p:nvGraphicFramePr>
          <p:cNvPr id="9" name="Table 8"/>
          <p:cNvGraphicFramePr>
            <a:graphicFrameLocks noGrp="1"/>
          </p:cNvGraphicFramePr>
          <p:nvPr/>
        </p:nvGraphicFramePr>
        <p:xfrm>
          <a:off x="530352" y="1812544"/>
          <a:ext cx="11130991" cy="1554480"/>
        </p:xfrm>
        <a:graphic>
          <a:graphicData uri="http://schemas.openxmlformats.org/drawingml/2006/table">
            <a:tbl>
              <a:tblPr firstRow="0" bandRow="0">
                <a:tableStyleId>{2D5ABB26-0587-4C30-8999-92F81FD0307C}</a:tableStyleId>
              </a:tblPr>
              <a:tblGrid>
                <a:gridCol w="7189490"/>
                <a:gridCol w="914400"/>
                <a:gridCol w="2112701"/>
                <a:gridCol w="914400"/>
              </a:tblGrid>
              <a:tr h="310896">
                <a:tc>
                  <a:txBody>
                    <a:bodyPr/>
                    <a:lstStyle/>
                    <a:p>
                      <a:r>
                        <a:rPr sz="1050" b="1" i="0">
                          <a:solidFill>
                            <a:srgbClr val="FFFFFF"/>
                          </a:solidFill>
                          <a:latin typeface="Calibri"/>
                        </a:rPr>
                        <a:t>This cycle against last cycle's rates (invented)</a:t>
                      </a:r>
                    </a:p>
                  </a:txBody>
                  <a:tcPr marL="101600" marR="101600" marT="38100" marB="38100" anchor="ctr">
                    <a:solidFill>
                      <a:srgbClr val="1A0F5C"/>
                    </a:solidFill>
                  </a:tcPr>
                </a:tc>
                <a:tc>
                  <a:txBody>
                    <a:bodyPr/>
                    <a:lstStyle/>
                    <a:p>
                      <a:r>
                        <a:rPr sz="1050" b="1" i="0">
                          <a:solidFill>
                            <a:srgbClr val="FFFFFF"/>
                          </a:solidFill>
                          <a:latin typeface="Calibri"/>
                        </a:rPr>
                        <a:t>In-state</a:t>
                      </a:r>
                    </a:p>
                  </a:txBody>
                  <a:tcPr marL="101600" marR="101600" marT="38100" marB="38100" anchor="ctr">
                    <a:solidFill>
                      <a:srgbClr val="1A0F5C"/>
                    </a:solidFill>
                  </a:tcPr>
                </a:tc>
                <a:tc>
                  <a:txBody>
                    <a:bodyPr/>
                    <a:lstStyle/>
                    <a:p>
                      <a:r>
                        <a:rPr sz="1050" b="1" i="0">
                          <a:solidFill>
                            <a:srgbClr val="FFFFFF"/>
                          </a:solidFill>
                          <a:latin typeface="Calibri"/>
                        </a:rPr>
                        <a:t>Other states</a:t>
                      </a:r>
                    </a:p>
                  </a:txBody>
                  <a:tcPr marL="101600" marR="101600" marT="38100" marB="38100" anchor="ctr">
                    <a:solidFill>
                      <a:srgbClr val="1A0F5C"/>
                    </a:solidFill>
                  </a:tcPr>
                </a:tc>
                <a:tc>
                  <a:txBody>
                    <a:bodyPr/>
                    <a:lstStyle/>
                    <a:p>
                      <a:r>
                        <a:rPr sz="1050" b="1" i="0">
                          <a:solidFill>
                            <a:srgbClr val="FFFFFF"/>
                          </a:solidFill>
                          <a:latin typeface="Calibri"/>
                        </a:rPr>
                        <a:t>Together</a:t>
                      </a:r>
                    </a:p>
                  </a:txBody>
                  <a:tcPr marL="101600" marR="101600" marT="38100" marB="38100" anchor="ctr">
                    <a:solidFill>
                      <a:srgbClr val="1A0F5C"/>
                    </a:solidFill>
                  </a:tcPr>
                </a:tc>
              </a:tr>
              <a:tr h="310896">
                <a:tc>
                  <a:txBody>
                    <a:bodyPr/>
                    <a:lstStyle/>
                    <a:p>
                      <a:r>
                        <a:rPr sz="1000" b="0" i="0">
                          <a:solidFill>
                            <a:srgbClr val="1A1440"/>
                          </a:solidFill>
                          <a:latin typeface="Calibri"/>
                        </a:rPr>
                        <a:t>Shortlisted, each offered a place</a:t>
                      </a:r>
                    </a:p>
                  </a:txBody>
                  <a:tcPr marL="101600" marR="101600" marT="38100" marB="38100" anchor="ctr">
                    <a:solidFill>
                      <a:srgbClr val="FFFFFF"/>
                    </a:solidFill>
                  </a:tcPr>
                </a:tc>
                <a:tc>
                  <a:txBody>
                    <a:bodyPr/>
                    <a:lstStyle/>
                    <a:p>
                      <a:r>
                        <a:rPr sz="1000" b="0" i="0">
                          <a:solidFill>
                            <a:srgbClr val="1A1440"/>
                          </a:solidFill>
                          <a:latin typeface="Calibri"/>
                        </a:rPr>
                        <a:t>250</a:t>
                      </a:r>
                    </a:p>
                  </a:txBody>
                  <a:tcPr marL="101600" marR="101600" marT="38100" marB="38100" anchor="ctr">
                    <a:solidFill>
                      <a:srgbClr val="FFFFFF"/>
                    </a:solidFill>
                  </a:tcPr>
                </a:tc>
                <a:tc>
                  <a:txBody>
                    <a:bodyPr/>
                    <a:lstStyle/>
                    <a:p>
                      <a:r>
                        <a:rPr sz="1000" b="0" i="0">
                          <a:solidFill>
                            <a:srgbClr val="1A1440"/>
                          </a:solidFill>
                          <a:latin typeface="Calibri"/>
                        </a:rPr>
                        <a:t>150</a:t>
                      </a:r>
                    </a:p>
                  </a:txBody>
                  <a:tcPr marL="101600" marR="101600" marT="38100" marB="38100" anchor="ctr">
                    <a:solidFill>
                      <a:srgbClr val="FFFFFF"/>
                    </a:solidFill>
                  </a:tcPr>
                </a:tc>
                <a:tc>
                  <a:txBody>
                    <a:bodyPr/>
                    <a:lstStyle/>
                    <a:p>
                      <a:r>
                        <a:rPr sz="1000" b="0" i="0">
                          <a:solidFill>
                            <a:srgbClr val="1A1440"/>
                          </a:solidFill>
                          <a:latin typeface="Calibri"/>
                        </a:rPr>
                        <a:t>400</a:t>
                      </a:r>
                    </a:p>
                  </a:txBody>
                  <a:tcPr marL="101600" marR="101600" marT="38100" marB="38100" anchor="ctr">
                    <a:solidFill>
                      <a:srgbClr val="FFFFFF"/>
                    </a:solidFill>
                  </a:tcPr>
                </a:tc>
              </a:tr>
              <a:tr h="310896">
                <a:tc>
                  <a:txBody>
                    <a:bodyPr/>
                    <a:lstStyle/>
                    <a:p>
                      <a:r>
                        <a:rPr sz="1000" b="0" i="0">
                          <a:solidFill>
                            <a:srgbClr val="1A1440"/>
                          </a:solidFill>
                          <a:latin typeface="Calibri"/>
                        </a:rPr>
                        <a:t>Expected to accept at last cycle's rates</a:t>
                      </a:r>
                    </a:p>
                  </a:txBody>
                  <a:tcPr marL="101600" marR="101600" marT="38100" marB="38100" anchor="ctr">
                    <a:solidFill>
                      <a:srgbClr val="F4F2FA"/>
                    </a:solidFill>
                  </a:tcPr>
                </a:tc>
                <a:tc>
                  <a:txBody>
                    <a:bodyPr/>
                    <a:lstStyle/>
                    <a:p>
                      <a:r>
                        <a:rPr sz="1000" b="0" i="0">
                          <a:solidFill>
                            <a:srgbClr val="1A1440"/>
                          </a:solidFill>
                          <a:latin typeface="Calibri"/>
                        </a:rPr>
                        <a:t>230</a:t>
                      </a:r>
                    </a:p>
                  </a:txBody>
                  <a:tcPr marL="101600" marR="101600" marT="38100" marB="38100" anchor="ctr">
                    <a:solidFill>
                      <a:srgbClr val="F4F2FA"/>
                    </a:solidFill>
                  </a:tcPr>
                </a:tc>
                <a:tc>
                  <a:txBody>
                    <a:bodyPr/>
                    <a:lstStyle/>
                    <a:p>
                      <a:r>
                        <a:rPr sz="1000" b="0" i="0">
                          <a:solidFill>
                            <a:srgbClr val="1A1440"/>
                          </a:solidFill>
                          <a:latin typeface="Calibri"/>
                        </a:rPr>
                        <a:t>130</a:t>
                      </a:r>
                    </a:p>
                  </a:txBody>
                  <a:tcPr marL="101600" marR="101600" marT="38100" marB="38100" anchor="ctr">
                    <a:solidFill>
                      <a:srgbClr val="F4F2FA"/>
                    </a:solidFill>
                  </a:tcPr>
                </a:tc>
                <a:tc>
                  <a:txBody>
                    <a:bodyPr/>
                    <a:lstStyle/>
                    <a:p>
                      <a:r>
                        <a:rPr sz="1000" b="0" i="0">
                          <a:solidFill>
                            <a:srgbClr val="1A1440"/>
                          </a:solidFill>
                          <a:latin typeface="Calibri"/>
                        </a:rPr>
                        <a:t>360</a:t>
                      </a:r>
                    </a:p>
                  </a:txBody>
                  <a:tcPr marL="101600" marR="101600" marT="38100" marB="38100" anchor="ctr">
                    <a:solidFill>
                      <a:srgbClr val="F4F2FA"/>
                    </a:solidFill>
                  </a:tcPr>
                </a:tc>
              </a:tr>
              <a:tr h="310896">
                <a:tc>
                  <a:txBody>
                    <a:bodyPr/>
                    <a:lstStyle/>
                    <a:p>
                      <a:r>
                        <a:rPr sz="1000" b="0" i="0">
                          <a:solidFill>
                            <a:srgbClr val="1A1440"/>
                          </a:solidFill>
                          <a:latin typeface="Calibri"/>
                        </a:rPr>
                        <a:t>Accepted</a:t>
                      </a:r>
                    </a:p>
                  </a:txBody>
                  <a:tcPr marL="101600" marR="101600" marT="38100" marB="38100" anchor="ctr">
                    <a:solidFill>
                      <a:srgbClr val="FFFFFF"/>
                    </a:solidFill>
                  </a:tcPr>
                </a:tc>
                <a:tc>
                  <a:txBody>
                    <a:bodyPr/>
                    <a:lstStyle/>
                    <a:p>
                      <a:r>
                        <a:rPr sz="1000" b="0" i="0">
                          <a:solidFill>
                            <a:srgbClr val="1A1440"/>
                          </a:solidFill>
                          <a:latin typeface="Calibri"/>
                        </a:rPr>
                        <a:t>225</a:t>
                      </a:r>
                    </a:p>
                  </a:txBody>
                  <a:tcPr marL="101600" marR="101600" marT="38100" marB="38100" anchor="ctr">
                    <a:solidFill>
                      <a:srgbClr val="FFFFFF"/>
                    </a:solidFill>
                  </a:tcPr>
                </a:tc>
                <a:tc>
                  <a:txBody>
                    <a:bodyPr/>
                    <a:lstStyle/>
                    <a:p>
                      <a:r>
                        <a:rPr sz="1000" b="0" i="0">
                          <a:solidFill>
                            <a:srgbClr val="1A1440"/>
                          </a:solidFill>
                          <a:latin typeface="Calibri"/>
                        </a:rPr>
                        <a:t>75</a:t>
                      </a:r>
                    </a:p>
                  </a:txBody>
                  <a:tcPr marL="101600" marR="101600" marT="38100" marB="38100" anchor="ctr">
                    <a:solidFill>
                      <a:srgbClr val="FFFFFF"/>
                    </a:solidFill>
                  </a:tcPr>
                </a:tc>
                <a:tc>
                  <a:txBody>
                    <a:bodyPr/>
                    <a:lstStyle/>
                    <a:p>
                      <a:r>
                        <a:rPr sz="1000" b="0" i="0">
                          <a:solidFill>
                            <a:srgbClr val="1A1440"/>
                          </a:solidFill>
                          <a:latin typeface="Calibri"/>
                        </a:rPr>
                        <a:t>300</a:t>
                      </a:r>
                    </a:p>
                  </a:txBody>
                  <a:tcPr marL="101600" marR="101600" marT="38100" marB="38100" anchor="ctr">
                    <a:solidFill>
                      <a:srgbClr val="FFFFFF"/>
                    </a:solidFill>
                  </a:tcPr>
                </a:tc>
              </a:tr>
              <a:tr h="310896">
                <a:tc>
                  <a:txBody>
                    <a:bodyPr/>
                    <a:lstStyle/>
                    <a:p>
                      <a:r>
                        <a:rPr sz="1000" b="0" i="0">
                          <a:solidFill>
                            <a:srgbClr val="1A1440"/>
                          </a:solidFill>
                          <a:latin typeface="Calibri"/>
                        </a:rPr>
                        <a:t>Fewer acceptances</a:t>
                      </a:r>
                    </a:p>
                  </a:txBody>
                  <a:tcPr marL="101600" marR="101600" marT="38100" marB="38100" anchor="ctr">
                    <a:solidFill>
                      <a:srgbClr val="F4F2FA"/>
                    </a:solidFill>
                  </a:tcPr>
                </a:tc>
                <a:tc>
                  <a:txBody>
                    <a:bodyPr/>
                    <a:lstStyle/>
                    <a:p>
                      <a:r>
                        <a:rPr sz="1000" b="0" i="0">
                          <a:solidFill>
                            <a:srgbClr val="1A1440"/>
                          </a:solidFill>
                          <a:latin typeface="Calibri"/>
                        </a:rPr>
                        <a:t>5</a:t>
                      </a:r>
                    </a:p>
                  </a:txBody>
                  <a:tcPr marL="101600" marR="101600" marT="38100" marB="38100" anchor="ctr">
                    <a:solidFill>
                      <a:srgbClr val="F4F2FA"/>
                    </a:solidFill>
                  </a:tcPr>
                </a:tc>
                <a:tc>
                  <a:txBody>
                    <a:bodyPr/>
                    <a:lstStyle/>
                    <a:p>
                      <a:r>
                        <a:rPr sz="1000" b="0" i="0">
                          <a:solidFill>
                            <a:srgbClr val="1A1440"/>
                          </a:solidFill>
                          <a:latin typeface="Calibri"/>
                        </a:rPr>
                        <a:t>55</a:t>
                      </a:r>
                    </a:p>
                  </a:txBody>
                  <a:tcPr marL="101600" marR="101600" marT="38100" marB="38100" anchor="ctr">
                    <a:solidFill>
                      <a:srgbClr val="F4F2FA"/>
                    </a:solidFill>
                  </a:tcPr>
                </a:tc>
                <a:tc>
                  <a:txBody>
                    <a:bodyPr/>
                    <a:lstStyle/>
                    <a:p>
                      <a:r>
                        <a:rPr sz="1000" b="0" i="0">
                          <a:solidFill>
                            <a:srgbClr val="1A1440"/>
                          </a:solidFill>
                          <a:latin typeface="Calibri"/>
                        </a:rPr>
                        <a:t>60</a:t>
                      </a:r>
                    </a:p>
                  </a:txBody>
                  <a:tcPr marL="101600" marR="101600" marT="38100" marB="38100" anchor="ctr">
                    <a:solidFill>
                      <a:srgbClr val="F4F2FA"/>
                    </a:solidFill>
                  </a:tcPr>
                </a:tc>
              </a:tr>
            </a:tbl>
          </a:graphicData>
        </a:graphic>
      </p:graphicFrame>
      <p:sp>
        <p:nvSpPr>
          <p:cNvPr id="10" name="TextBox 9"/>
          <p:cNvSpPr txBox="1"/>
          <p:nvPr/>
        </p:nvSpPr>
        <p:spPr>
          <a:xfrm>
            <a:off x="530352" y="3623056"/>
            <a:ext cx="11130991" cy="1428496"/>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Since 80 percent of those who accept join, 60 fewer acceptances are 48 fewer students, and the joiners counted directly say the same: 288 last cycle, 240 this cycle. At a first-year fee of Rs 1 to 1.5 lakh, an assumption, that is Rs 48 to 72 lakh of first-year fees, Rs 57.6 lakh at Rs 1.2 lakh. The no-show, sized the same way: if half of the 200 sat the test and passed on at this cycle's rates, an assumption, about 30 more would join. That gain is worth planning for, and it is how the test has always run; the 48 is a loss that started this cycle.</a:t>
            </a:r>
          </a:p>
        </p:txBody>
      </p:sp>
      <p:sp>
        <p:nvSpPr>
          <p:cNvPr id="11" name="Rounded Rectangle 10"/>
          <p:cNvSpPr/>
          <p:nvPr/>
        </p:nvSpPr>
        <p:spPr>
          <a:xfrm>
            <a:off x="530352" y="5179568"/>
            <a:ext cx="11130991" cy="89001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530758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530758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530758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5508752"/>
            <a:ext cx="10673791" cy="48767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lost = shortlisted * accepted_last / shortlisted_last - accepted   # 230 - 225 = 5; 130 - 75 = 55</a:t>
            </a:r>
          </a:p>
          <a:p>
            <a:pPr>
              <a:spcAft>
                <a:spcPts val="200"/>
              </a:spcAft>
            </a:pPr>
            <a:r>
              <a:rPr sz="1200" b="0" i="0">
                <a:solidFill>
                  <a:srgbClr val="E4E1F1"/>
                </a:solidFill>
                <a:latin typeface="Consolas"/>
              </a:rPr>
              <a:t>joiners_lost = lost.sum() * 0.8                                    # 48; 288 - 240 says the same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objection: "our offers go out in two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the admissions office's answer, and what answers the rest?</a:t>
            </a:r>
          </a:p>
        </p:txBody>
      </p:sp>
      <p:pic>
        <p:nvPicPr>
          <p:cNvPr id="9" name="mermaid diagram" descr="c816b16ad8fddf0c.png"/>
          <p:cNvPicPr>
            <a:picLocks noChangeAspect="1"/>
          </p:cNvPicPr>
          <p:nvPr/>
        </p:nvPicPr>
        <p:blipFill>
          <a:blip r:embed="rId5"/>
          <a:stretch>
            <a:fillRect/>
          </a:stretch>
        </p:blipFill>
        <p:spPr>
          <a:xfrm>
            <a:off x="530352" y="1956816"/>
            <a:ext cx="11130991" cy="1046974"/>
          </a:xfrm>
          <a:prstGeom prst="rect">
            <a:avLst/>
          </a:prstGeom>
        </p:spPr>
      </p:pic>
      <p:sp>
        <p:nvSpPr>
          <p:cNvPr id="10" name="Rounded Rectangle 9"/>
          <p:cNvSpPr/>
          <p:nvPr/>
        </p:nvSpPr>
        <p:spPr>
          <a:xfrm>
            <a:off x="530352" y="315009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781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68966"/>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"Our offers go out within two days of the shortlist, every one, so acceptance is not our problem." </a:t>
            </a:r>
            <a:r>
              <a:rPr sz="1500" b="1" i="0">
                <a:solidFill>
                  <a:srgbClr val="1A1440"/>
                </a:solidFill>
                <a:latin typeface="Calibri"/>
              </a:rPr>
              <a:t>What is true.</a:t>
            </a:r>
            <a:r>
              <a:rPr sz="1500" b="0" i="0">
                <a:solidFill>
                  <a:srgbClr val="1A1440"/>
                </a:solidFill>
                <a:latin typeface="Calibri"/>
              </a:rPr>
              <a:t> The offers held: every shortlisted student got an offer on time in both cycles. </a:t>
            </a:r>
            <a:r>
              <a:rPr sz="1500" b="1" i="0">
                <a:solidFill>
                  <a:srgbClr val="1A1440"/>
                </a:solidFill>
                <a:latin typeface="Calibri"/>
              </a:rPr>
              <a:t>What answers it.</a:t>
            </a:r>
            <a:r>
              <a:rPr sz="1500" b="0" i="0">
                <a:solidFill>
                  <a:srgbClr val="1A1440"/>
                </a:solidFill>
                <a:latin typeface="Calibri"/>
              </a:rPr>
              <a:t> The fall sits after the offer, in the days allowed to pay, for one group, from the cycle the deadline shrank. Concede the true part, then bring the split.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page: five lines, each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call carry to survive the meeting, filled in for the dean?</a:t>
            </a:r>
          </a:p>
        </p:txBody>
      </p:sp>
      <p:sp>
        <p:nvSpPr>
          <p:cNvPr id="9" name="TextBox 8"/>
          <p:cNvSpPr txBox="1"/>
          <p:nvPr/>
        </p:nvSpPr>
        <p:spPr>
          <a:xfrm>
            <a:off x="530352" y="1855724"/>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92300"/>
            <a:ext cx="10564063" cy="558800"/>
          </a:xfrm>
          <a:prstGeom prst="rect">
            <a:avLst/>
          </a:prstGeom>
          <a:noFill/>
        </p:spPr>
        <p:txBody>
          <a:bodyPr wrap="square" anchor="t" lIns="0" rIns="0" tIns="0" bIns="0">
            <a:spAutoFit/>
          </a:bodyPr>
          <a:lstStyle/>
          <a:p>
            <a:r>
              <a:rPr sz="1300" b="1" i="0">
                <a:solidFill>
                  <a:srgbClr val="1A1440"/>
                </a:solidFill>
                <a:latin typeface="Calibri"/>
              </a:rPr>
              <a:t>The call.</a:t>
            </a:r>
            <a:r>
              <a:rPr sz="1300" b="0" i="0">
                <a:solidFill>
                  <a:srgbClr val="1A1440"/>
                </a:solidFill>
                <a:latin typeface="Calibri"/>
              </a:rPr>
              <a:t> Give other-state offers their 21-day fee deadline back in the next round, a cheap change that can be undone; the test's no-show waits, since it never moved.</a:t>
            </a:r>
          </a:p>
        </p:txBody>
      </p:sp>
      <p:sp>
        <p:nvSpPr>
          <p:cNvPr id="11" name="TextBox 10"/>
          <p:cNvSpPr txBox="1"/>
          <p:nvPr/>
        </p:nvSpPr>
        <p:spPr>
          <a:xfrm>
            <a:off x="530352" y="248767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524252"/>
            <a:ext cx="10564063" cy="558800"/>
          </a:xfrm>
          <a:prstGeom prst="rect">
            <a:avLst/>
          </a:prstGeom>
          <a:noFill/>
        </p:spPr>
        <p:txBody>
          <a:bodyPr wrap="square" anchor="t" lIns="0" rIns="0" tIns="0" bIns="0">
            <a:spAutoFit/>
          </a:bodyPr>
          <a:lstStyle/>
          <a:p>
            <a:r>
              <a:rPr sz="1300" b="1" i="0">
                <a:solidFill>
                  <a:srgbClr val="1A1440"/>
                </a:solidFill>
                <a:latin typeface="Calibri"/>
              </a:rPr>
              <a:t>The evidence.</a:t>
            </a:r>
            <a:r>
              <a:rPr sz="1300" b="0" i="0">
                <a:solidFill>
                  <a:srgbClr val="1A1440"/>
                </a:solidFill>
                <a:latin typeface="Calibri"/>
              </a:rPr>
              <a:t> Offer acceptance fell from 90 to 75 percent; for other-state students from 87 to 50, while in-state held at 92 to 90 on the same step, from the cycle the deadline went from 21 to 7 days.</a:t>
            </a:r>
          </a:p>
        </p:txBody>
      </p:sp>
      <p:sp>
        <p:nvSpPr>
          <p:cNvPr id="13" name="TextBox 12"/>
          <p:cNvSpPr txBox="1"/>
          <p:nvPr/>
        </p:nvSpPr>
        <p:spPr>
          <a:xfrm>
            <a:off x="530352" y="311962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3156204"/>
            <a:ext cx="10564063" cy="334264"/>
          </a:xfrm>
          <a:prstGeom prst="rect">
            <a:avLst/>
          </a:prstGeom>
          <a:noFill/>
        </p:spPr>
        <p:txBody>
          <a:bodyPr wrap="square" anchor="t" lIns="0" rIns="0" tIns="0" bIns="0">
            <a:spAutoFit/>
          </a:bodyPr>
          <a:lstStyle/>
          <a:p>
            <a:r>
              <a:rPr sz="1300" b="1" i="0">
                <a:solidFill>
                  <a:srgbClr val="1A1440"/>
                </a:solidFill>
                <a:latin typeface="Calibri"/>
              </a:rPr>
              <a:t>The cost.</a:t>
            </a:r>
            <a:r>
              <a:rPr sz="1300" b="0" i="0">
                <a:solidFill>
                  <a:srgbClr val="1A1440"/>
                </a:solidFill>
                <a:latin typeface="Calibri"/>
              </a:rPr>
              <a:t> 60 fewer acceptances, 48 fewer students, Rs 48 to 72 lakh of first-year fees at an assumed Rs 1 to 1.5 lakh.</a:t>
            </a:r>
          </a:p>
        </p:txBody>
      </p:sp>
      <p:sp>
        <p:nvSpPr>
          <p:cNvPr id="15" name="TextBox 14"/>
          <p:cNvSpPr txBox="1"/>
          <p:nvPr/>
        </p:nvSpPr>
        <p:spPr>
          <a:xfrm>
            <a:off x="530352" y="352704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563620"/>
            <a:ext cx="10564063" cy="558800"/>
          </a:xfrm>
          <a:prstGeom prst="rect">
            <a:avLst/>
          </a:prstGeom>
          <a:noFill/>
        </p:spPr>
        <p:txBody>
          <a:bodyPr wrap="square" anchor="t" lIns="0" rIns="0" tIns="0" bIns="0">
            <a:spAutoFit/>
          </a:bodyPr>
          <a:lstStyle/>
          <a:p>
            <a:r>
              <a:rPr sz="1300" b="1" i="0">
                <a:solidFill>
                  <a:srgbClr val="1A1440"/>
                </a:solidFill>
                <a:latin typeface="Calibri"/>
              </a:rPr>
              <a:t>The objection.</a:t>
            </a:r>
            <a:r>
              <a:rPr sz="1300" b="0" i="0">
                <a:solidFill>
                  <a:srgbClr val="1A1440"/>
                </a:solidFill>
                <a:latin typeface="Calibri"/>
              </a:rPr>
              <a:t> Offers did go out in two days, which is true; the fall came after the offer, for one group, after one change.</a:t>
            </a:r>
          </a:p>
        </p:txBody>
      </p:sp>
      <p:sp>
        <p:nvSpPr>
          <p:cNvPr id="17" name="TextBox 16"/>
          <p:cNvSpPr txBox="1"/>
          <p:nvPr/>
        </p:nvSpPr>
        <p:spPr>
          <a:xfrm>
            <a:off x="530352" y="4158996"/>
            <a:ext cx="502920" cy="300735"/>
          </a:xfrm>
          <a:prstGeom prst="rect">
            <a:avLst/>
          </a:prstGeom>
          <a:noFill/>
        </p:spPr>
        <p:txBody>
          <a:bodyPr wrap="square" anchor="t" lIns="0" rIns="0" tIns="0" bIns="0">
            <a:spAutoFit/>
          </a:bodyPr>
          <a:lstStyle/>
          <a:p>
            <a:pPr algn="l"/>
            <a:r>
              <a:rPr sz="1600" b="0" i="0">
                <a:solidFill>
                  <a:srgbClr val="5B3FD6"/>
                </a:solidFill>
                <a:latin typeface="Georgia"/>
              </a:rPr>
              <a:t>05</a:t>
            </a:r>
          </a:p>
        </p:txBody>
      </p:sp>
      <p:sp>
        <p:nvSpPr>
          <p:cNvPr id="18" name="TextBox 17"/>
          <p:cNvSpPr txBox="1"/>
          <p:nvPr/>
        </p:nvSpPr>
        <p:spPr>
          <a:xfrm>
            <a:off x="1097280" y="4195572"/>
            <a:ext cx="10564063" cy="558800"/>
          </a:xfrm>
          <a:prstGeom prst="rect">
            <a:avLst/>
          </a:prstGeom>
          <a:noFill/>
        </p:spPr>
        <p:txBody>
          <a:bodyPr wrap="square" anchor="t" lIns="0" rIns="0" tIns="0" bIns="0">
            <a:spAutoFit/>
          </a:bodyPr>
          <a:lstStyle/>
          <a:p>
            <a:r>
              <a:rPr sz="1300" b="1" i="0">
                <a:solidFill>
                  <a:srgbClr val="1A1440"/>
                </a:solidFill>
                <a:latin typeface="Calibri"/>
              </a:rPr>
              <a:t>What would change it.</a:t>
            </a:r>
            <a:r>
              <a:rPr sz="1300" b="0" i="0">
                <a:solidFill>
                  <a:srgbClr val="1A1440"/>
                </a:solidFill>
                <a:latin typeface="Calibri"/>
              </a:rPr>
              <a:t> Other-state acceptance falling before the deadline changed; it read 86 and 87 in the two cycles before.</a:t>
            </a:r>
          </a:p>
        </p:txBody>
      </p:sp>
      <p:sp>
        <p:nvSpPr>
          <p:cNvPr id="19" name="Rounded Rectangle 18"/>
          <p:cNvSpPr/>
          <p:nvPr/>
        </p:nvSpPr>
        <p:spPr>
          <a:xfrm>
            <a:off x="530352" y="4937252"/>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5234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4"/>
          <a:stretch>
            <a:fillRect/>
          </a:stretch>
        </p:blipFill>
        <p:spPr>
          <a:xfrm>
            <a:off x="868680" y="5344668"/>
            <a:ext cx="237744" cy="237744"/>
          </a:xfrm>
          <a:prstGeom prst="rect">
            <a:avLst/>
          </a:prstGeom>
        </p:spPr>
      </p:pic>
      <p:sp>
        <p:nvSpPr>
          <p:cNvPr id="22" name="TextBox 21"/>
          <p:cNvSpPr txBox="1"/>
          <p:nvPr/>
        </p:nvSpPr>
        <p:spPr>
          <a:xfrm>
            <a:off x="1399031" y="50835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5303012"/>
            <a:ext cx="9987991" cy="613664"/>
          </a:xfrm>
          <a:prstGeom prst="rect">
            <a:avLst/>
          </a:prstGeom>
          <a:noFill/>
        </p:spPr>
        <p:txBody>
          <a:bodyPr wrap="square" anchor="t" lIns="0" rIns="0" tIns="0" bIns="0">
            <a:spAutoFit/>
          </a:bodyPr>
          <a:lstStyle/>
          <a:p>
            <a:r>
              <a:rPr sz="1300" b="0" i="0">
                <a:solidFill>
                  <a:srgbClr val="1A1440"/>
                </a:solidFill>
                <a:latin typeface="Calibri"/>
              </a:rPr>
              <a:t>[D] "What evidence do you bring when the owning team says its step is fine?" The step against its own past, the group and the date, a comparator that held, the size with its range, and the true part of their claim conceded.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0" name="Oval 2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goes to Gold next, then to Kalpa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5d6084029445328.png"/>
          <p:cNvPicPr>
            <a:picLocks noChangeAspect="1"/>
          </p:cNvPicPr>
          <p:nvPr/>
        </p:nvPicPr>
        <p:blipFill>
          <a:blip r:embed="rId5"/>
          <a:stretch>
            <a:fillRect/>
          </a:stretch>
        </p:blipFill>
        <p:spPr>
          <a:xfrm>
            <a:off x="2349825" y="1664208"/>
            <a:ext cx="7492044"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All five topics are now on the map; the rest of the day applies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on Zomato Gold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With the page SECTION 8 built, which goes first, on what evidence, at what cost, and what does the app team's lead say?</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does a fix-first call carry, in what order?</a:t>
            </a:r>
          </a:p>
        </p:txBody>
      </p:sp>
      <p:sp>
        <p:nvSpPr>
          <p:cNvPr id="9" name="Rounded Rectangle 8"/>
          <p:cNvSpPr/>
          <p:nvPr/>
        </p:nvSpPr>
        <p:spPr>
          <a:xfrm>
            <a:off x="530352" y="168249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takes one call to Friday's review. Applies: The fix-first decision and its evidence (SECTION 8).</a:t>
            </a:r>
          </a:p>
        </p:txBody>
      </p:sp>
      <p:sp>
        <p:nvSpPr>
          <p:cNvPr id="12" name="Rectangle 11"/>
          <p:cNvSpPr/>
          <p:nvPr/>
        </p:nvSpPr>
        <p:spPr>
          <a:xfrm>
            <a:off x="1570299" y="322173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7" name="TextBox 16"/>
          <p:cNvSpPr txBox="1"/>
          <p:nvPr/>
        </p:nvSpPr>
        <p:spPr>
          <a:xfrm>
            <a:off x="694944" y="397586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8" name="TextBox 17"/>
          <p:cNvSpPr txBox="1"/>
          <p:nvPr/>
        </p:nvSpPr>
        <p:spPr>
          <a:xfrm>
            <a:off x="2793126"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22" name="TextBox 21"/>
          <p:cNvSpPr txBox="1"/>
          <p:nvPr/>
        </p:nvSpPr>
        <p:spPr>
          <a:xfrm>
            <a:off x="2957718"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3" name="TextBox 22"/>
          <p:cNvSpPr txBox="1"/>
          <p:nvPr/>
        </p:nvSpPr>
        <p:spPr>
          <a:xfrm>
            <a:off x="5055900"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7" name="TextBox 26"/>
          <p:cNvSpPr txBox="1"/>
          <p:nvPr/>
        </p:nvSpPr>
        <p:spPr>
          <a:xfrm>
            <a:off x="5220492"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8" name="TextBox 27"/>
          <p:cNvSpPr txBox="1"/>
          <p:nvPr/>
        </p:nvSpPr>
        <p:spPr>
          <a:xfrm>
            <a:off x="7318674"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32" name="TextBox 31"/>
          <p:cNvSpPr txBox="1"/>
          <p:nvPr/>
        </p:nvSpPr>
        <p:spPr>
          <a:xfrm>
            <a:off x="7483266"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3" name="TextBox 32"/>
          <p:cNvSpPr txBox="1"/>
          <p:nvPr/>
        </p:nvSpPr>
        <p:spPr>
          <a:xfrm>
            <a:off x="9581448"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13029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54177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68808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7" name="TextBox 36"/>
          <p:cNvSpPr txBox="1"/>
          <p:nvPr/>
        </p:nvSpPr>
        <p:spPr>
          <a:xfrm>
            <a:off x="9746040" y="397586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8" name="TextBox 37"/>
          <p:cNvSpPr txBox="1"/>
          <p:nvPr/>
        </p:nvSpPr>
        <p:spPr>
          <a:xfrm>
            <a:off x="530352" y="497433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41" name="Oval 40"/>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43" name="Oval 4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5" name="Oval 44"/>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1,133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1,317 from 22,841 carts at 58 against 44 percent if none came back; 1,133 counted in orders placed against non-members on Android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3.4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8" name="Oval 2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e4c4bcbdbd94f946.png"/>
          <p:cNvPicPr>
            <a:picLocks noChangeAspect="1"/>
          </p:cNvPicPr>
          <p:nvPr/>
        </p:nvPicPr>
        <p:blipFill>
          <a:blip r:embed="rId7"/>
          <a:stretch>
            <a:fillRect/>
          </a:stretch>
        </p:blipFill>
        <p:spPr>
          <a:xfrm>
            <a:off x="2152497" y="1855756"/>
            <a:ext cx="7886700" cy="1357312"/>
          </a:xfrm>
          <a:prstGeom prst="rect">
            <a:avLst/>
          </a:prstGeom>
        </p:spPr>
      </p:pic>
      <p:sp>
        <p:nvSpPr>
          <p:cNvPr id="10" name="Rounded Rectangle 9"/>
          <p:cNvSpPr/>
          <p:nvPr/>
        </p:nvSpPr>
        <p:spPr>
          <a:xfrm>
            <a:off x="530352" y="33593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1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133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25132"/>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456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7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17128"/>
            <a:ext cx="237744" cy="237744"/>
          </a:xfrm>
          <a:prstGeom prst="rect">
            <a:avLst/>
          </a:prstGeom>
        </p:spPr>
      </p:pic>
      <p:sp>
        <p:nvSpPr>
          <p:cNvPr id="18" name="TextBox 17"/>
          <p:cNvSpPr txBox="1"/>
          <p:nvPr/>
        </p:nvSpPr>
        <p:spPr>
          <a:xfrm>
            <a:off x="1399031" y="47919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1388"/>
            <a:ext cx="9987991" cy="941832"/>
          </a:xfrm>
          <a:prstGeom prst="rect">
            <a:avLst/>
          </a:prstGeom>
          <a:noFill/>
        </p:spPr>
        <p:txBody>
          <a:bodyPr wrap="square" anchor="t" lIns="0" rIns="0" tIns="0" bIns="0">
            <a:spAutoFit/>
          </a:bodyPr>
          <a:lstStyle/>
          <a:p>
            <a:r>
              <a:rPr sz="1500" b="0" i="0">
                <a:solidFill>
                  <a:srgbClr val="1A1440"/>
                </a:solidFill>
                <a:latin typeface="Calibri"/>
              </a:rPr>
              <a:t>Before another sale, set a sale-week member's 0.23 orders in month one, against an organic member's 0.61, beside her discount and the margin; until then the payback is open. Leave search to menu view alone: 118 was never a broken step.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3741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3485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58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member path of the new Android checkout first: it loses about 1,133 to 1,317 orders a week, a quarter of Android members' orders, and non-members on the same checkout held, so the fault sits in what only members see. Until the fix ships, switch Android members back to the old checkout today, or give half of them the old path for two days, which confirms the cause and stops most of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3.4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most members who failed had come back and ordered later, the release would cost a delay rather than orders and the sale would go first; counted in orders placed, Android members' weekly orders fell 18 percent while iOS members' rose 7, so most did not.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4" name="Oval 1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retention walk in an interview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hire say?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one whose answer gets the job, order it with all five topics, and how does the same idea apply to an AI product?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three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at a product company or a GCC (global capability centre), where this question comes in the first minutes. Applies: all five topics, from cohort construction to the fix-first decision and its evidence.</a:t>
            </a:r>
          </a:p>
        </p:txBody>
      </p:sp>
      <p:sp>
        <p:nvSpPr>
          <p:cNvPr id="12" name="Rectangle 11"/>
          <p:cNvSpPr/>
          <p:nvPr/>
        </p:nvSpPr>
        <p:spPr>
          <a:xfrm>
            <a:off x="2324557" y="37627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In what order does the walk run?</a:t>
            </a:r>
          </a:p>
        </p:txBody>
      </p:sp>
      <p:sp>
        <p:nvSpPr>
          <p:cNvPr id="17" name="TextBox 16"/>
          <p:cNvSpPr txBox="1"/>
          <p:nvPr/>
        </p:nvSpPr>
        <p:spPr>
          <a:xfrm>
            <a:off x="69494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The board's five causes, then the call</a:t>
            </a:r>
          </a:p>
        </p:txBody>
      </p:sp>
      <p:sp>
        <p:nvSpPr>
          <p:cNvPr id="18" name="TextBox 17"/>
          <p:cNvSpPr txBox="1"/>
          <p:nvPr/>
        </p:nvSpPr>
        <p:spPr>
          <a:xfrm>
            <a:off x="430164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How does an AI product ask it?</a:t>
            </a:r>
          </a:p>
        </p:txBody>
      </p:sp>
      <p:sp>
        <p:nvSpPr>
          <p:cNvPr id="22" name="TextBox 21"/>
          <p:cNvSpPr txBox="1"/>
          <p:nvPr/>
        </p:nvSpPr>
        <p:spPr>
          <a:xfrm>
            <a:off x="446623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Novelty or habit, cohort by cohort</a:t>
            </a:r>
          </a:p>
        </p:txBody>
      </p:sp>
      <p:sp>
        <p:nvSpPr>
          <p:cNvPr id="23" name="TextBox 22"/>
          <p:cNvSpPr txBox="1"/>
          <p:nvPr/>
        </p:nvSpPr>
        <p:spPr>
          <a:xfrm>
            <a:off x="807293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40827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4229100"/>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comes after the walk?</a:t>
            </a:r>
          </a:p>
        </p:txBody>
      </p:sp>
      <p:sp>
        <p:nvSpPr>
          <p:cNvPr id="27" name="TextBox 26"/>
          <p:cNvSpPr txBox="1"/>
          <p:nvPr/>
        </p:nvSpPr>
        <p:spPr>
          <a:xfrm>
            <a:off x="8237524" y="45168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member who has not left yet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30" name="Oval 2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2" name="Oval 3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34" name="Oval 3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030806693f9436c7.png"/>
          <p:cNvPicPr>
            <a:picLocks noChangeAspect="1"/>
          </p:cNvPicPr>
          <p:nvPr/>
        </p:nvPicPr>
        <p:blipFill>
          <a:blip r:embed="rId5"/>
          <a:stretch>
            <a:fillRect/>
          </a:stretch>
        </p:blipFill>
        <p:spPr>
          <a:xfrm>
            <a:off x="530352" y="1956816"/>
            <a:ext cx="11130991" cy="1450581"/>
          </a:xfrm>
          <a:prstGeom prst="rect">
            <a:avLst/>
          </a:prstGeom>
        </p:spPr>
      </p:pic>
      <p:graphicFrame>
        <p:nvGraphicFramePr>
          <p:cNvPr id="10" name="Table 9"/>
          <p:cNvGraphicFramePr>
            <a:graphicFrameLocks noGrp="1"/>
          </p:cNvGraphicFramePr>
          <p:nvPr/>
        </p:nvGraphicFramePr>
        <p:xfrm>
          <a:off x="530352" y="3553701"/>
          <a:ext cx="11130990" cy="2298192"/>
        </p:xfrm>
        <a:graphic>
          <a:graphicData uri="http://schemas.openxmlformats.org/drawingml/2006/table">
            <a:tbl>
              <a:tblPr firstRow="0" bandRow="0">
                <a:tableStyleId>{2D5ABB26-0587-4C30-8999-92F81FD0307C}</a:tableStyleId>
              </a:tblPr>
              <a:tblGrid>
                <a:gridCol w="1504890"/>
                <a:gridCol w="3298283"/>
                <a:gridCol w="6327817"/>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First sentence</a:t>
                      </a:r>
                    </a:p>
                  </a:txBody>
                  <a:tcPr marL="101600" marR="101600" marT="38100" marB="38100" anchor="ctr">
                    <a:solidFill>
                      <a:srgbClr val="FFFFFF"/>
                    </a:solidFill>
                  </a:tcPr>
                </a:tc>
                <a:tc>
                  <a:txBody>
                    <a:bodyPr/>
                    <a:lstStyle/>
                    <a:p>
                      <a:r>
                        <a:rPr sz="12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200" b="0" i="0">
                          <a:solidFill>
                            <a:srgbClr val="1A1440"/>
                          </a:solidFill>
                          <a:latin typeface="Calibri"/>
                        </a:rPr>
                        <a:t>"Before a cause, I'd check the count, then what the number counts."</a:t>
                      </a:r>
                    </a:p>
                  </a:txBody>
                  <a:tcPr marL="101600" marR="101600" marT="38100" marB="38100" anchor="ctr">
                    <a:solidFill>
                      <a:srgbClr val="FFFFFF"/>
                    </a:solidFill>
                  </a:tcPr>
                </a:tc>
              </a:tr>
              <a:tr h="335280">
                <a:tc>
                  <a:txBody>
                    <a:bodyPr/>
                    <a:lstStyle/>
                    <a:p>
                      <a:r>
                        <a:rPr sz="1200" b="0" i="0">
                          <a:solidFill>
                            <a:srgbClr val="1A1440"/>
                          </a:solidFill>
                          <a:latin typeface="Calibri"/>
                        </a:rPr>
                        <a:t>The flat 38</a:t>
                      </a:r>
                    </a:p>
                  </a:txBody>
                  <a:tcPr marL="101600" marR="101600" marT="38100" marB="38100" anchor="ctr">
                    <a:solidFill>
                      <a:srgbClr val="F4F2FA"/>
                    </a:solidFill>
                  </a:tcPr>
                </a:tc>
                <a:tc>
                  <a:txBody>
                    <a:bodyPr/>
                    <a:lstStyle/>
                    <a:p>
                      <a:r>
                        <a:rPr sz="1200" b="0" i="0">
                          <a:solidFill>
                            <a:srgbClr val="1A1440"/>
                          </a:solidFill>
                          <a:latin typeface="Calibri"/>
                        </a:rPr>
                        <a:t>Accepts it</a:t>
                      </a:r>
                    </a:p>
                  </a:txBody>
                  <a:tcPr marL="101600" marR="101600" marT="38100" marB="38100" anchor="ctr">
                    <a:solidFill>
                      <a:srgbClr val="F4F2FA"/>
                    </a:solidFill>
                  </a:tcPr>
                </a:tc>
                <a:tc>
                  <a:txBody>
                    <a:bodyPr/>
                    <a:lstStyle/>
                    <a:p>
                      <a:r>
                        <a:rPr sz="1200" b="0" i="0">
                          <a:solidFill>
                            <a:srgbClr val="1A1440"/>
                          </a:solidFill>
                          <a:latin typeface="Calibri"/>
                        </a:rPr>
                        <a:t>"Who does month-two retention count, and from when?"</a:t>
                      </a:r>
                    </a:p>
                  </a:txBody>
                  <a:tcPr marL="101600" marR="101600" marT="38100" marB="38100" anchor="ctr">
                    <a:solidFill>
                      <a:srgbClr val="F4F2FA"/>
                    </a:solidFill>
                  </a:tcPr>
                </a:tc>
              </a:tr>
              <a:tr h="542544">
                <a:tc>
                  <a:txBody>
                    <a:bodyPr/>
                    <a:lstStyle/>
                    <a:p>
                      <a:r>
                        <a:rPr sz="1200" b="0" i="0">
                          <a:solidFill>
                            <a:srgbClr val="1A1440"/>
                          </a:solidFill>
                          <a:latin typeface="Calibri"/>
                        </a:rPr>
                        <a:t>The split</a:t>
                      </a:r>
                    </a:p>
                  </a:txBody>
                  <a:tcPr marL="101600" marR="101600" marT="38100" marB="38100" anchor="ctr">
                    <a:solidFill>
                      <a:srgbClr val="FFFFFF"/>
                    </a:solidFill>
                  </a:tcPr>
                </a:tc>
                <a:tc>
                  <a:txBody>
                    <a:bodyPr/>
                    <a:lstStyle/>
                    <a:p>
                      <a:r>
                        <a:rPr sz="1200" b="0" i="0">
                          <a:solidFill>
                            <a:srgbClr val="1A1440"/>
                          </a:solidFill>
                          <a:latin typeface="Calibri"/>
                        </a:rPr>
                        <a:t>Overall conversion</a:t>
                      </a:r>
                    </a:p>
                  </a:txBody>
                  <a:tcPr marL="101600" marR="101600" marT="38100" marB="38100" anchor="ctr">
                    <a:solidFill>
                      <a:srgbClr val="FFFFFF"/>
                    </a:solidFill>
                  </a:tcPr>
                </a:tc>
                <a:tc>
                  <a:txBody>
                    <a:bodyPr/>
                    <a:lstStyle/>
                    <a:p>
                      <a:r>
                        <a:rPr sz="12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749808">
                <a:tc>
                  <a:txBody>
                    <a:bodyPr/>
                    <a:lstStyle/>
                    <a:p>
                      <a:r>
                        <a:rPr sz="1200" b="0" i="0">
                          <a:solidFill>
                            <a:srgbClr val="1A1440"/>
                          </a:solidFill>
                          <a:latin typeface="Calibri"/>
                        </a:rPr>
                        <a:t>The close</a:t>
                      </a:r>
                    </a:p>
                  </a:txBody>
                  <a:tcPr marL="101600" marR="101600" marT="38100" marB="38100" anchor="ctr">
                    <a:solidFill>
                      <a:srgbClr val="F4F2FA"/>
                    </a:solidFill>
                  </a:tcPr>
                </a:tc>
                <a:tc>
                  <a:txBody>
                    <a:bodyPr/>
                    <a:lstStyle/>
                    <a:p>
                      <a:r>
                        <a:rPr sz="1200" b="0" i="0">
                          <a:solidFill>
                            <a:srgbClr val="1A1440"/>
                          </a:solidFill>
                          <a:latin typeface="Calibri"/>
                        </a:rPr>
                        <a:t>"Retention dropped."</a:t>
                      </a:r>
                    </a:p>
                  </a:txBody>
                  <a:tcPr marL="101600" marR="101600" marT="38100" marB="38100" anchor="ctr">
                    <a:solidFill>
                      <a:srgbClr val="F4F2FA"/>
                    </a:solidFill>
                  </a:tcPr>
                </a:tc>
                <a:tc>
                  <a:txBody>
                    <a:bodyPr/>
                    <a:lstStyle/>
                    <a:p>
                      <a:r>
                        <a:rPr sz="1200" b="0" i="0">
                          <a:solidFill>
                            <a:srgbClr val="1A1440"/>
                          </a:solidFill>
                          <a:latin typeface="Calibri"/>
                        </a:rPr>
                        <a:t>"About 3.2 of the 3.6-point fall is the August cohort; the checkout loses 1,133 to 1,317 orders a week that retention cannot see; then whether the sale pays back; October reads about 33 on one assumption."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graphicFrame>
        <p:nvGraphicFramePr>
          <p:cNvPr id="9" name="Table 8"/>
          <p:cNvGraphicFramePr>
            <a:graphicFrameLocks noGrp="1"/>
          </p:cNvGraphicFramePr>
          <p:nvPr/>
        </p:nvGraphicFramePr>
        <p:xfrm>
          <a:off x="530352" y="1682496"/>
          <a:ext cx="5291175" cy="1627632"/>
        </p:xfrm>
        <a:graphic>
          <a:graphicData uri="http://schemas.openxmlformats.org/drawingml/2006/table">
            <a:tbl>
              <a:tblPr firstRow="0" bandRow="0">
                <a:tableStyleId>{2D5ABB26-0587-4C30-8999-92F81FD0307C}</a:tableStyleId>
              </a:tblPr>
              <a:tblGrid>
                <a:gridCol w="1763725"/>
                <a:gridCol w="1763725"/>
                <a:gridCol w="1763725"/>
              </a:tblGrid>
              <a:tr h="310896">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later weekly cohort</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438912">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pic>
        <p:nvPicPr>
          <p:cNvPr id="10" name="mermaid diagram" descr="c9e86ba6a1db3319.png"/>
          <p:cNvPicPr>
            <a:picLocks noChangeAspect="1"/>
          </p:cNvPicPr>
          <p:nvPr/>
        </p:nvPicPr>
        <p:blipFill>
          <a:blip r:embed="rId5"/>
          <a:stretch>
            <a:fillRect/>
          </a:stretch>
        </p:blipFill>
        <p:spPr>
          <a:xfrm>
            <a:off x="1880789" y="3566160"/>
            <a:ext cx="2590300" cy="2633472"/>
          </a:xfrm>
          <a:prstGeom prst="rect">
            <a:avLst/>
          </a:prstGeom>
        </p:spPr>
      </p:pic>
      <p:sp>
        <p:nvSpPr>
          <p:cNvPr id="11" name="Rounded Rectangle 10"/>
          <p:cNvSpPr/>
          <p:nvPr/>
        </p:nvSpPr>
        <p:spPr>
          <a:xfrm>
            <a:off x="6370167" y="1682496"/>
            <a:ext cx="5291175"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check the week's model and pricing changes first; then read each cohort's curve by weeks since signup, week four or later (the programme's rule of thumb). If later cohorts flatten while the launch cohort keeps sliding, the product sticks for the users who came looking. The blended count still sizes load and spend; it cannot say whether anyone formed a habit.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table leaves a young cohort's later ages empty, and a member who has not left yet has no end date. Treat her as retained for ever and every curve looks better than it is. After the close, the faculty session (tentative) gives that member a name, censored, and shows when two curves really differ by more than chance."</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five topics recalled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one topic at a time, and what does the day close on before Friday's ticket?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close: two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tonight, before the take-home: a call missed in the Kahoot is a call likely to reach the membership lead wrong. Applies: all five topics.</a:t>
            </a:r>
          </a:p>
        </p:txBody>
      </p:sp>
      <p:sp>
        <p:nvSpPr>
          <p:cNvPr id="12" name="Rectangle 11"/>
          <p:cNvSpPr/>
          <p:nvPr/>
        </p:nvSpPr>
        <p:spPr>
          <a:xfrm>
            <a:off x="3267379" y="3496056"/>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Which calls can you make in seconds?</a:t>
            </a:r>
          </a:p>
        </p:txBody>
      </p:sp>
      <p:sp>
        <p:nvSpPr>
          <p:cNvPr id="17" name="TextBox 16"/>
          <p:cNvSpPr txBox="1"/>
          <p:nvPr/>
        </p:nvSpPr>
        <p:spPr>
          <a:xfrm>
            <a:off x="694944"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At least one Kahoot item per topic, and Wednesday's return question</a:t>
            </a:r>
          </a:p>
        </p:txBody>
      </p:sp>
      <p:sp>
        <p:nvSpPr>
          <p:cNvPr id="18" name="TextBox 17"/>
          <p:cNvSpPr txBox="1"/>
          <p:nvPr/>
        </p:nvSpPr>
        <p:spPr>
          <a:xfrm>
            <a:off x="6187287"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8823731"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87287" y="3816096"/>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51879" y="3962400"/>
            <a:ext cx="5144871" cy="251205"/>
          </a:xfrm>
          <a:prstGeom prst="rect">
            <a:avLst/>
          </a:prstGeom>
          <a:noFill/>
        </p:spPr>
        <p:txBody>
          <a:bodyPr wrap="square" anchor="t" lIns="0" rIns="0" tIns="0" bIns="0">
            <a:spAutoFit/>
          </a:bodyPr>
          <a:lstStyle/>
          <a:p>
            <a:pPr algn="l"/>
            <a:r>
              <a:rPr sz="1300" b="1" i="0">
                <a:solidFill>
                  <a:srgbClr val="FFFFFF"/>
                </a:solidFill>
                <a:latin typeface="Calibri"/>
              </a:rPr>
              <a:t>What does the day close on?</a:t>
            </a:r>
          </a:p>
        </p:txBody>
      </p:sp>
      <p:sp>
        <p:nvSpPr>
          <p:cNvPr id="22" name="TextBox 21"/>
          <p:cNvSpPr txBox="1"/>
          <p:nvPr/>
        </p:nvSpPr>
        <p:spPr>
          <a:xfrm>
            <a:off x="6351879" y="4250182"/>
            <a:ext cx="5144871" cy="201676"/>
          </a:xfrm>
          <a:prstGeom prst="rect">
            <a:avLst/>
          </a:prstGeom>
          <a:noFill/>
        </p:spPr>
        <p:txBody>
          <a:bodyPr wrap="square" anchor="t" lIns="0" rIns="0" tIns="0" bIns="0">
            <a:spAutoFit/>
          </a:bodyPr>
          <a:lstStyle/>
          <a:p>
            <a:pPr algn="l"/>
            <a:r>
              <a:rPr sz="1000" b="0" i="0">
                <a:solidFill>
                  <a:srgbClr val="CFC9EE"/>
                </a:solidFill>
                <a:latin typeface="Calibri"/>
              </a:rPr>
              <a:t>The sentence to the membership lead, then Friday's ticket</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5" name="Oval 2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the blend and the curves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Cohort construction: what a cohort fixes; blended numbers against cohort truth: a blend that holds while two old cohorts fall; retention curves: what the floor says</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Funnel stages, drop-off, denominators</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8 AND 6</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The fix-first decision, then Wednesday</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Which of Gold's two problems goes first, and why; then 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on one assumption, reads about 33; the orders were lost in one step, on one platform, after one date.</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curve's floor, by our rule, is read only once two ages agree within a point. A blend is a size-weighted average and counts who it counts. Each funnel step divides by the step before, in one named unit. When the overall falls, the step that moved owns the fall, and a fix-first call carries its comparator, its date and its cost.</a:t>
            </a:r>
          </a:p>
        </p:txBody>
      </p:sp>
      <p:sp>
        <p:nvSpPr>
          <p:cNvPr id="15" name="Rounded Rectangle 14"/>
          <p:cNvSpPr/>
          <p:nvPr/>
        </p:nvSpPr>
        <p:spPr>
          <a:xfrm>
            <a:off x="530352" y="47015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Friday's five topics, as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4" name="Oval 23"/>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