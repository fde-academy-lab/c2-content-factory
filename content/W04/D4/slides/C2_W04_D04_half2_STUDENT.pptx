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fix-first call unguided (30), the interview walk and the AI-company</a:t>
            </a:r>
          </a:p>
          <a:p>
            <a:r>
              <a:t>variant (15), the Kahoot and the close (15). Then the IITGN faculty session W4-3 runs (tentative),</a:t>
            </a:r>
          </a:p>
          <a:p>
            <a:r>
              <a:t>or the weaned-users fallback if it slips.</a:t>
            </a:r>
          </a:p>
          <a:p>
            <a:r>
              <a:t>LIVE, 30 minutes, unguided, in the nine groups.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set up, then 18 minutes of writing. Circulate with one question per group:</a:t>
            </a:r>
          </a:p>
          <a:p>
            <a:r>
              <a:t>which line of your evidence would the app team's lead attack first? Groups that write "fix</a:t>
            </a:r>
          </a:p>
          <a:p>
            <a:r>
              <a:t>retention" with no stage are sent back to the chapter 3 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learner reads the role card aloud (TRAINER role card); one group answers in</a:t>
            </a:r>
          </a:p>
          <a:p>
            <a:r>
              <a:t>the four moves from Tuesday: restate, answer from the evidence, concede what is true, say what</a:t>
            </a:r>
          </a:p>
          <a:p>
            <a:r>
              <a:t>would change your mind. A response that calls the app team wrong has lost; the chart is right</a:t>
            </a:r>
          </a:p>
          <a:p>
            <a:r>
              <a:t>about the step it measures.</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number with its assumption. The 1,317 assumes the carts that failed</a:t>
            </a:r>
          </a:p>
          <a:p>
            <a:r>
              <a:t>would have converted at the old rate. If members had retried and ordered later, it would overstate</a:t>
            </a:r>
          </a:p>
          <a:p>
            <a:r>
              <a:t>the loss; they did not: after a checkout with no order, the member ordered within a day 36.5</a:t>
            </a:r>
          </a:p>
          <a:p>
            <a:r>
              <a:t>percent of the time before the release and 35.1 after. Held to members who joined before August,</a:t>
            </a:r>
          </a:p>
          <a:p>
            <a:r>
              <a:t>Android members also ordered less each (1.45 to 1.24 orders per ordering member) while iOS held</a:t>
            </a:r>
          </a:p>
          <a:p>
            <a:r>
              <a:t>(1.44 and 1.45).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block's first part).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L6. Pairs read the transcript in the extras folder: one plays the interviewer,</a:t>
            </a:r>
          </a:p>
          <a:p>
            <a:r>
              <a:t>one the candidate; they score the hire-grade answer on the scorecard's seven lines and swap.</a:t>
            </a:r>
          </a:p>
          <a:p>
            <a:r>
              <a:t>Explorer scene Th4 carries the AI-company variant.</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Programme-written, every number a toy (explorer scene Th4 shows the same toy).</a:t>
            </a:r>
          </a:p>
          <a:p>
            <a:r>
              <a:t>The transfer: a launch cohort is the sale-week members of an AI product. Two months after launch,</a:t>
            </a:r>
          </a:p>
          <a:p>
            <a:r>
              <a:t>the launch cohort and the next few weekly cohorts have all reached week 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(10) and the close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9" name="TextBox 8"/>
          <p:cNvSpPr txBox="1"/>
          <p:nvPr/>
        </p:nvSpPr>
        <p:spPr>
          <a:xfrm>
            <a:off x="731519" y="3520440"/>
            <a:ext cx="9509760" cy="1027176"/>
          </a:xfrm>
          <a:prstGeom prst="rect">
            <a:avLst/>
          </a:prstGeom>
          <a:noFill/>
        </p:spPr>
        <p:txBody>
          <a:bodyPr wrap="square" anchor="t" lIns="0" rIns="0" tIns="0" bIns="0">
            <a:spAutoFit/>
          </a:bodyPr>
          <a:lstStyle/>
          <a:p>
            <a:pPr algn="l"/>
            <a:r>
              <a:rPr sz="1500" b="0" i="0">
                <a:solidFill>
                  <a:srgbClr val="E4E1F1"/>
                </a:solidFill>
                <a:latin typeface="Calibri"/>
              </a:rPr>
              <a:t>The morning's three chapters found two problems, a dashboard that reads 38 because of who it counts and one broken step on Android; the afternoon's three sections use them and add no new idea. Which problem goes first, on what evidence, at what cost, and what does the app team's lead say?</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fix-first call carry,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5" name="TextBox 34"/>
          <p:cNvSpPr txBox="1"/>
          <p:nvPr/>
        </p:nvSpPr>
        <p:spPr>
          <a:xfrm>
            <a:off x="530352" y="42763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8" name="Oval 3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40" name="Oval 3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1,223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not placed after the release: 22,841 Android member carts in 17 days at 58 against 44 percent, less the point the comparators lost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3.7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0" name="Oval 2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bd7ce74142568b98.png"/>
          <p:cNvPicPr>
            <a:picLocks noChangeAspect="1"/>
          </p:cNvPicPr>
          <p:nvPr/>
        </p:nvPicPr>
        <p:blipFill>
          <a:blip r:embed="rId7"/>
          <a:stretch>
            <a:fillRect/>
          </a:stretch>
        </p:blipFill>
        <p:spPr>
          <a:xfrm>
            <a:off x="1452410" y="1848612"/>
            <a:ext cx="9286875" cy="1371600"/>
          </a:xfrm>
          <a:prstGeom prst="rect">
            <a:avLst/>
          </a:prstGeom>
        </p:spPr>
      </p:pic>
      <p:sp>
        <p:nvSpPr>
          <p:cNvPr id="10" name="Rounded Rectangle 9"/>
          <p:cNvSpPr/>
          <p:nvPr/>
        </p:nvSpPr>
        <p:spPr>
          <a:xfrm>
            <a:off x="530352" y="33665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87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8476"/>
            <a:ext cx="237744" cy="237744"/>
          </a:xfrm>
          <a:prstGeom prst="rect">
            <a:avLst/>
          </a:prstGeom>
        </p:spPr>
      </p:pic>
      <p:sp>
        <p:nvSpPr>
          <p:cNvPr id="13" name="TextBox 12"/>
          <p:cNvSpPr txBox="1"/>
          <p:nvPr/>
        </p:nvSpPr>
        <p:spPr>
          <a:xfrm>
            <a:off x="1399031" y="35128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32276"/>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527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14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24272"/>
            <a:ext cx="237744" cy="237744"/>
          </a:xfrm>
          <a:prstGeom prst="rect">
            <a:avLst/>
          </a:prstGeom>
        </p:spPr>
      </p:pic>
      <p:sp>
        <p:nvSpPr>
          <p:cNvPr id="18" name="TextBox 17"/>
          <p:cNvSpPr txBox="1"/>
          <p:nvPr/>
        </p:nvSpPr>
        <p:spPr>
          <a:xfrm>
            <a:off x="1399031" y="47990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8532"/>
            <a:ext cx="9987991" cy="941832"/>
          </a:xfrm>
          <a:prstGeom prst="rect">
            <a:avLst/>
          </a:prstGeom>
          <a:noFill/>
        </p:spPr>
        <p:txBody>
          <a:bodyPr wrap="square" anchor="t" lIns="0" rIns="0" tIns="0" bIns="0">
            <a:spAutoFit/>
          </a:bodyPr>
          <a:lstStyle/>
          <a:p>
            <a:r>
              <a:rPr sz="1500" b="0" i="0">
                <a:solidFill>
                  <a:srgbClr val="1A1440"/>
                </a:solidFill>
                <a:latin typeface="Calibri"/>
              </a:rPr>
              <a:t>Before buying another sale, work out what a sale-week member returns over her first months against the discount she was given: at 0.23 orders in month one against 0.61 for an organic member, this sale has not paid back yet. Leave search to menu view alone: its 118 percent was never a broken step.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4" name="Oval 23"/>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last step of the new Android checkout for members first: it loses about 1,223 to 1,317 orders a week, a quarter of Android members' orders, and a code fix ends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3.7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members who failed had come back and ordered later, the release would cost a delay rather than orders and the sale would go first; within a day, 36.5 percent did so before the release and 35.1 after.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6" name="Oval 15"/>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one whose answer gets the job, order it, and how does the same idea apply to an AI product?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eb34e4910fc13270.png"/>
          <p:cNvPicPr>
            <a:picLocks noChangeAspect="1"/>
          </p:cNvPicPr>
          <p:nvPr/>
        </p:nvPicPr>
        <p:blipFill>
          <a:blip r:embed="rId5"/>
          <a:stretch>
            <a:fillRect/>
          </a:stretch>
        </p:blipFill>
        <p:spPr>
          <a:xfrm>
            <a:off x="530352" y="1897637"/>
            <a:ext cx="11130991" cy="882390"/>
          </a:xfrm>
          <a:prstGeom prst="rect">
            <a:avLst/>
          </a:prstGeom>
        </p:spPr>
      </p:pic>
      <p:graphicFrame>
        <p:nvGraphicFramePr>
          <p:cNvPr id="10" name="Table 9"/>
          <p:cNvGraphicFramePr>
            <a:graphicFrameLocks noGrp="1"/>
          </p:cNvGraphicFramePr>
          <p:nvPr/>
        </p:nvGraphicFramePr>
        <p:xfrm>
          <a:off x="530352" y="2926331"/>
          <a:ext cx="11130990" cy="3058160"/>
        </p:xfrm>
        <a:graphic>
          <a:graphicData uri="http://schemas.openxmlformats.org/drawingml/2006/table">
            <a:tbl>
              <a:tblPr firstRow="0" bandRow="0">
                <a:tableStyleId>{2D5ABB26-0587-4C30-8999-92F81FD0307C}</a:tableStyleId>
              </a:tblPr>
              <a:tblGrid>
                <a:gridCol w="1610338"/>
                <a:gridCol w="3575952"/>
                <a:gridCol w="5944700"/>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First sentence</a:t>
                      </a:r>
                    </a:p>
                  </a:txBody>
                  <a:tcPr marL="101600" marR="101600" marT="38100" marB="38100" anchor="ctr">
                    <a:solidFill>
                      <a:srgbClr val="FFFFFF"/>
                    </a:solidFill>
                  </a:tcPr>
                </a:tc>
                <a:tc>
                  <a:txBody>
                    <a:bodyPr/>
                    <a:lstStyle/>
                    <a:p>
                      <a:r>
                        <a:rPr sz="14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400" b="0" i="0">
                          <a:solidFill>
                            <a:srgbClr val="1A1440"/>
                          </a:solidFill>
                          <a:latin typeface="Calibri"/>
                        </a:rPr>
                        <a:t>"Before a cause, I'd check the count, then what the number counts."</a:t>
                      </a:r>
                    </a:p>
                  </a:txBody>
                  <a:tcPr marL="101600" marR="101600" marT="38100" marB="38100" anchor="ctr">
                    <a:solidFill>
                      <a:srgbClr val="FFFFFF"/>
                    </a:solidFill>
                  </a:tcPr>
                </a:tc>
              </a:tr>
              <a:tr h="369824">
                <a:tc>
                  <a:txBody>
                    <a:bodyPr/>
                    <a:lstStyle/>
                    <a:p>
                      <a:r>
                        <a:rPr sz="1400" b="0" i="0">
                          <a:solidFill>
                            <a:srgbClr val="1A1440"/>
                          </a:solidFill>
                          <a:latin typeface="Calibri"/>
                        </a:rPr>
                        <a:t>The flat 38</a:t>
                      </a:r>
                    </a:p>
                  </a:txBody>
                  <a:tcPr marL="101600" marR="101600" marT="38100" marB="38100" anchor="ctr">
                    <a:solidFill>
                      <a:srgbClr val="F4F2FA"/>
                    </a:solidFill>
                  </a:tcPr>
                </a:tc>
                <a:tc>
                  <a:txBody>
                    <a:bodyPr/>
                    <a:lstStyle/>
                    <a:p>
                      <a:r>
                        <a:rPr sz="1400" b="0" i="0">
                          <a:solidFill>
                            <a:srgbClr val="1A1440"/>
                          </a:solidFill>
                          <a:latin typeface="Calibri"/>
                        </a:rPr>
                        <a:t>Accepts it</a:t>
                      </a:r>
                    </a:p>
                  </a:txBody>
                  <a:tcPr marL="101600" marR="101600" marT="38100" marB="38100" anchor="ctr">
                    <a:solidFill>
                      <a:srgbClr val="F4F2FA"/>
                    </a:solidFill>
                  </a:tcPr>
                </a:tc>
                <a:tc>
                  <a:txBody>
                    <a:bodyPr/>
                    <a:lstStyle/>
                    <a:p>
                      <a:r>
                        <a:rPr sz="1400" b="0" i="0">
                          <a:solidFill>
                            <a:srgbClr val="1A1440"/>
                          </a:solidFill>
                          <a:latin typeface="Calibri"/>
                        </a:rPr>
                        <a:t>"Who does month-two retention count, and from when?"</a:t>
                      </a:r>
                    </a:p>
                  </a:txBody>
                  <a:tcPr marL="101600" marR="101600" marT="38100" marB="38100" anchor="ctr">
                    <a:solidFill>
                      <a:srgbClr val="F4F2FA"/>
                    </a:solidFill>
                  </a:tcPr>
                </a:tc>
              </a:tr>
              <a:tr h="853440">
                <a:tc>
                  <a:txBody>
                    <a:bodyPr/>
                    <a:lstStyle/>
                    <a:p>
                      <a:r>
                        <a:rPr sz="1400" b="0" i="0">
                          <a:solidFill>
                            <a:srgbClr val="1A1440"/>
                          </a:solidFill>
                          <a:latin typeface="Calibri"/>
                        </a:rPr>
                        <a:t>The split</a:t>
                      </a:r>
                    </a:p>
                  </a:txBody>
                  <a:tcPr marL="101600" marR="101600" marT="38100" marB="38100" anchor="ctr">
                    <a:solidFill>
                      <a:srgbClr val="FFFFFF"/>
                    </a:solidFill>
                  </a:tcPr>
                </a:tc>
                <a:tc>
                  <a:txBody>
                    <a:bodyPr/>
                    <a:lstStyle/>
                    <a:p>
                      <a:r>
                        <a:rPr sz="1400" b="0" i="0">
                          <a:solidFill>
                            <a:srgbClr val="1A1440"/>
                          </a:solidFill>
                          <a:latin typeface="Calibri"/>
                        </a:rPr>
                        <a:t>Overall conversion</a:t>
                      </a:r>
                    </a:p>
                  </a:txBody>
                  <a:tcPr marL="101600" marR="101600" marT="38100" marB="38100" anchor="ctr">
                    <a:solidFill>
                      <a:srgbClr val="FFFFFF"/>
                    </a:solidFill>
                  </a:tcPr>
                </a:tc>
                <a:tc>
                  <a:txBody>
                    <a:bodyPr/>
                    <a:lstStyle/>
                    <a:p>
                      <a:r>
                        <a:rPr sz="14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853440">
                <a:tc>
                  <a:txBody>
                    <a:bodyPr/>
                    <a:lstStyle/>
                    <a:p>
                      <a:r>
                        <a:rPr sz="1400" b="0" i="0">
                          <a:solidFill>
                            <a:srgbClr val="1A1440"/>
                          </a:solidFill>
                          <a:latin typeface="Calibri"/>
                        </a:rPr>
                        <a:t>The close</a:t>
                      </a:r>
                    </a:p>
                  </a:txBody>
                  <a:tcPr marL="101600" marR="101600" marT="38100" marB="38100" anchor="ctr">
                    <a:solidFill>
                      <a:srgbClr val="F4F2FA"/>
                    </a:solidFill>
                  </a:tcPr>
                </a:tc>
                <a:tc>
                  <a:txBody>
                    <a:bodyPr/>
                    <a:lstStyle/>
                    <a:p>
                      <a:r>
                        <a:rPr sz="1400" b="0" i="0">
                          <a:solidFill>
                            <a:srgbClr val="1A1440"/>
                          </a:solidFill>
                          <a:latin typeface="Calibri"/>
                        </a:rPr>
                        <a:t>"Retention dropped."</a:t>
                      </a:r>
                    </a:p>
                  </a:txBody>
                  <a:tcPr marL="101600" marR="101600" marT="38100" marB="38100" anchor="ctr">
                    <a:solidFill>
                      <a:srgbClr val="F4F2FA"/>
                    </a:solidFill>
                  </a:tcPr>
                </a:tc>
                <a:tc>
                  <a:txBody>
                    <a:bodyPr/>
                    <a:lstStyle/>
                    <a:p>
                      <a:r>
                        <a:rPr sz="1400" b="0" i="0">
                          <a:solidFill>
                            <a:srgbClr val="1A1440"/>
                          </a:solidFill>
                          <a:latin typeface="Calibri"/>
                        </a:rPr>
                        <a:t>"One step on Android since 14 September, about 1,223 to 1,317 orders a week; then whether the sale paid back; October reads about 33."</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Oval 14"/>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pic>
        <p:nvPicPr>
          <p:cNvPr id="9" name="mermaid diagram" descr="e133d57b8616769c.png"/>
          <p:cNvPicPr>
            <a:picLocks noChangeAspect="1"/>
          </p:cNvPicPr>
          <p:nvPr/>
        </p:nvPicPr>
        <p:blipFill>
          <a:blip r:embed="rId5"/>
          <a:stretch>
            <a:fillRect/>
          </a:stretch>
        </p:blipFill>
        <p:spPr>
          <a:xfrm>
            <a:off x="530352" y="2721020"/>
            <a:ext cx="4786326" cy="2440087"/>
          </a:xfrm>
          <a:prstGeom prst="rect">
            <a:avLst/>
          </a:prstGeom>
        </p:spPr>
      </p:pic>
      <p:graphicFrame>
        <p:nvGraphicFramePr>
          <p:cNvPr id="10" name="Table 9"/>
          <p:cNvGraphicFramePr>
            <a:graphicFrameLocks noGrp="1"/>
          </p:cNvGraphicFramePr>
          <p:nvPr/>
        </p:nvGraphicFramePr>
        <p:xfrm>
          <a:off x="5761917" y="1795272"/>
          <a:ext cx="5899424" cy="1627632"/>
        </p:xfrm>
        <a:graphic>
          <a:graphicData uri="http://schemas.openxmlformats.org/drawingml/2006/table">
            <a:tbl>
              <a:tblPr firstRow="0" bandRow="0">
                <a:tableStyleId>{2D5ABB26-0587-4C30-8999-92F81FD0307C}</a:tableStyleId>
              </a:tblPr>
              <a:tblGrid>
                <a:gridCol w="1896848"/>
                <a:gridCol w="2001288"/>
                <a:gridCol w="2001288"/>
              </a:tblGrid>
              <a:tr h="438912">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cohort that found the app on its own</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310896">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sp>
        <p:nvSpPr>
          <p:cNvPr id="11" name="Rounded Rectangle 10"/>
          <p:cNvSpPr/>
          <p:nvPr/>
        </p:nvSpPr>
        <p:spPr>
          <a:xfrm>
            <a:off x="5761917" y="367893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80695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797808"/>
            <a:ext cx="5332497" cy="22250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and read each cohort at the same age, week four or later (the programme's rule of thumb), with the share of drafts kept and the cost per retained user beside it. The blended count still sizes load and spend; it cannot say whether anyone formed a habit. The structure is Chennai's: a mix that hides a fall.</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7" name="Oval 16"/>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and what does the day close on before Friday's ticket?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and the blend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a cohort fixes; a blend that holds while two old cohorts fall; what a curve's level after month one says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funnel</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6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Wednesday, then the interview</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Bread to milk, confidence 0.74 and lift 1.04, the verdict in one breath; then the first move in a retention walk</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1" name="Oval 30"/>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reads about 33; the orders were lost in one step, on one platform, after one date.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blend is a size-weighted average and counts who it counts. Each funnel step divides by the step before, in one named unit. A low step is not a loss until it moves.</a:t>
            </a:r>
          </a:p>
        </p:txBody>
      </p:sp>
      <p:sp>
        <p:nvSpPr>
          <p:cNvPr id="15" name="Rounded Rectangle 14"/>
          <p:cNvSpPr/>
          <p:nvPr/>
        </p:nvSpPr>
        <p:spPr>
          <a:xfrm>
            <a:off x="530352" y="41681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five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2" name="Oval 21"/>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