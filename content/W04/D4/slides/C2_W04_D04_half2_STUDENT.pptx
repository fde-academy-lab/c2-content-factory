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trainer minutes: the fix-first call unguided (30), the interview walk and the AI-company</a:t>
            </a:r>
          </a:p>
          <a:p>
            <a:r>
              <a:t>variant (15), the Kahoot and the close (15). Then the IITGN faculty session W4-3 runs (tentative),</a:t>
            </a:r>
          </a:p>
          <a:p>
            <a:r>
              <a:t>or the weaned-users fallback if it slips.</a:t>
            </a:r>
          </a:p>
          <a:p>
            <a:r>
              <a:t>LIVE, 30 minutes, unguided, in the nine groups. L5. Styles: the case method (the app team's lead</a:t>
            </a:r>
          </a:p>
          <a:p>
            <a:r>
              <a:t>argues from a role card and is partly right), Feynman (the call in one sentence a membership lead</a:t>
            </a:r>
          </a:p>
          <a:p>
            <a:r>
              <a:t>could repeat).</a:t>
            </a:r>
          </a:p>
          <a:p>
            <a:r>
              <a:t>Transition: the task.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to set up, then 18 minutes of writing. Circulate with one question per group:</a:t>
            </a:r>
          </a:p>
          <a:p>
            <a:r>
              <a:t>which line of your evidence would the app team's lead attack first? Groups that write "fix</a:t>
            </a:r>
          </a:p>
          <a:p>
            <a:r>
              <a:t>retention" with no stage are sent back to the chapter 3 split.</a:t>
            </a:r>
          </a:p>
          <a:p>
            <a:r>
              <a:t>Transition: the app team's lead.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 learner reads the role card aloud (TRAINER role card); one group answers in</a:t>
            </a:r>
          </a:p>
          <a:p>
            <a:r>
              <a:t>the four moves from Tuesday: restate, answer from the evidence, concede what is true, say what</a:t>
            </a:r>
          </a:p>
          <a:p>
            <a:r>
              <a:t>would change your mind. A response that calls the app team wrong has lost; the chart is right</a:t>
            </a:r>
          </a:p>
          <a:p>
            <a:r>
              <a:t>about the step it measures.</a:t>
            </a:r>
          </a:p>
          <a:p>
            <a:r>
              <a:t>Transition: what each problem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each number with its assumption. The 1,317 assumes the carts that failed</a:t>
            </a:r>
          </a:p>
          <a:p>
            <a:r>
              <a:t>would have converted at the old rate. If members had retried and ordered later, it would overstate</a:t>
            </a:r>
          </a:p>
          <a:p>
            <a:r>
              <a:t>the loss; they did not: after a checkout with no order, the member ordered within a day 36.5</a:t>
            </a:r>
          </a:p>
          <a:p>
            <a:r>
              <a:t>percent of the time before the release and 35.1 after. Held to members who joined before August,</a:t>
            </a:r>
          </a:p>
          <a:p>
            <a:r>
              <a:t>Android members also ordered less each (1.45 to 1.24 orders per ordering member) while iOS held</a:t>
            </a:r>
          </a:p>
          <a:p>
            <a:r>
              <a:t>(1.44 and 1.45). Ask which number the membership lead can act on this week.</a:t>
            </a:r>
          </a:p>
          <a:p>
            <a:r>
              <a:t>Transition: the wrong fix.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Two traps of L5: acquiring your way out of a retention problem, and fixing the</a:t>
            </a:r>
          </a:p>
          <a:p>
            <a:r>
              <a:t>skippable stage. If a group asks what a real company did instead: Swiggy went the other way and</a:t>
            </a:r>
          </a:p>
          <a:p>
            <a:r>
              <a:t>weaned away more than 4 million unprofitable Instamart users (its Q1 FY27 letter, the fallback</a:t>
            </a:r>
          </a:p>
          <a:p>
            <a:r>
              <a:t>block's first part). Then the groups finish their page.</a:t>
            </a:r>
          </a:p>
          <a:p>
            <a:r>
              <a:t>Source:</a:t>
            </a:r>
          </a:p>
          <a:p>
            <a:r>
              <a:t>https://nsearchives.nseindia.com/corporate/SWIGGY_30072026154100_Covering_Letter_Letter_to_Shareholders_-_signed.pdf (checked 12 October 2026)</a:t>
            </a:r>
          </a:p>
          <a:p>
            <a:r>
              <a:t>Transition: the call, said in one breath.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group reads its call; the room scores it against the five lines. This is the</a:t>
            </a:r>
          </a:p>
          <a:p>
            <a:r>
              <a:t>model, and a group that puts the sale-week members first with a reason that holds has made a</a:t>
            </a:r>
          </a:p>
          <a:p>
            <a:r>
              <a:t>defensible call; the room should hear why.</a:t>
            </a:r>
          </a:p>
          <a:p>
            <a:r>
              <a:t>Transition: the interview.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L6. Pairs read the transcript in the extras folder: one plays the interviewer,</a:t>
            </a:r>
          </a:p>
          <a:p>
            <a:r>
              <a:t>one the candidate; they score the hire-grade answer on the scorecard's seven lines and swap.</a:t>
            </a:r>
          </a:p>
          <a:p>
            <a:r>
              <a:t>Explorer scene Th4 carries the AI-company variant.</a:t>
            </a:r>
          </a:p>
          <a:p>
            <a:r>
              <a:t>Transition: the order of the walk.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The steps are the morning's hypothesis board. Aced's guide to analyst interviews</a:t>
            </a:r>
          </a:p>
          <a:p>
            <a:r>
              <a:t>says the same about a metric drop: rule out a data issue first, segment before a root cause, and</a:t>
            </a:r>
          </a:p>
          <a:p>
            <a:r>
              <a:t>keep fewer users apart from fewer views each (checked 12 October 2026). The weak answer names a</a:t>
            </a:r>
          </a:p>
          <a:p>
            <a:r>
              <a:t>cause in its first sentence.</a:t>
            </a:r>
          </a:p>
          <a:p>
            <a:r>
              <a:t>Source:</a:t>
            </a:r>
          </a:p>
          <a:p>
            <a:r>
              <a:t>https://www.aced.io/blog/top-data-analyst-interview-questions (checked 12 October 2026)</a:t>
            </a:r>
          </a:p>
          <a:p>
            <a:r>
              <a:t>Transition: the AI-company variant.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Programme-written, every number a toy (explorer scene Th4 shows the same toy).</a:t>
            </a:r>
          </a:p>
          <a:p>
            <a:r>
              <a:t>The transfer: a launch cohort is the sale-week members of an AI product. Two months after launch,</a:t>
            </a:r>
          </a:p>
          <a:p>
            <a:r>
              <a:t>the launch cohort and the next few weekly cohorts have all reached week four.</a:t>
            </a:r>
          </a:p>
          <a:p>
            <a:r>
              <a:t>Transition: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the handoff line word for word and stop. If the block has slipped, open the</a:t>
            </a:r>
          </a:p>
          <a:p>
            <a:r>
              <a:t>fallback deck (the weaned-users block). Park any "is the difference real" question for the block.</a:t>
            </a:r>
          </a:p>
          <a:p>
            <a:r>
              <a:t>Transition: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The Kahoot (10) and the close (5).</a:t>
            </a:r>
          </a:p>
          <a:p>
            <a:r>
              <a:t>Transition: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Ungraded, scored on correctness and speed. The trap item uses a blend other than</a:t>
            </a:r>
          </a:p>
          <a:p>
            <a:r>
              <a:t>38. Read the most-missed item's answer aloud before the close.</a:t>
            </a:r>
          </a:p>
          <a:p>
            <a:r>
              <a:t>Transition: the close.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Say the sentence twice. The TA lab after the block runs the same method on Kalpa</a:t>
            </a:r>
          </a:p>
          <a:p>
            <a:r>
              <a:t>Retail's Retail-Plus tier. The cohort axis built today is Friday's time axis.</a:t>
            </a:r>
          </a:p>
          <a:p>
            <a:r>
              <a:t>Transition: the faculty block (tentative) or the fallback.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is fixed first?</a:t>
            </a:r>
          </a:p>
        </p:txBody>
      </p:sp>
      <p:sp>
        <p:nvSpPr>
          <p:cNvPr id="9" name="TextBox 8"/>
          <p:cNvSpPr txBox="1"/>
          <p:nvPr/>
        </p:nvSpPr>
        <p:spPr>
          <a:xfrm>
            <a:off x="731519" y="3520440"/>
            <a:ext cx="9509760" cy="1027176"/>
          </a:xfrm>
          <a:prstGeom prst="rect">
            <a:avLst/>
          </a:prstGeom>
          <a:noFill/>
        </p:spPr>
        <p:txBody>
          <a:bodyPr wrap="square" anchor="t" lIns="0" rIns="0" tIns="0" bIns="0">
            <a:spAutoFit/>
          </a:bodyPr>
          <a:lstStyle/>
          <a:p>
            <a:pPr algn="l"/>
            <a:r>
              <a:rPr sz="1500" b="0" i="0">
                <a:solidFill>
                  <a:srgbClr val="E4E1F1"/>
                </a:solidFill>
                <a:latin typeface="Calibri"/>
              </a:rPr>
              <a:t>The morning's three chapters found two problems, a dashboard that reads 38 because of who it counts and one broken step on Android; the afternoon's three sections use them and add no new idea. Which problem goes first, on what evidence, at what cost, and what does the app team's lead say?</a:t>
            </a:r>
          </a:p>
        </p:txBody>
      </p:sp>
      <p:sp>
        <p:nvSpPr>
          <p:cNvPr id="10" name="Rounded Rectangle 9"/>
          <p:cNvSpPr/>
          <p:nvPr/>
        </p:nvSpPr>
        <p:spPr>
          <a:xfrm>
            <a:off x="731519"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is fixed first?</a:t>
            </a:r>
          </a:p>
        </p:txBody>
      </p:sp>
      <p:sp>
        <p:nvSpPr>
          <p:cNvPr id="11" name="Rounded Rectangle 10"/>
          <p:cNvSpPr/>
          <p:nvPr/>
        </p:nvSpPr>
        <p:spPr>
          <a:xfrm>
            <a:off x="2391327"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interviewer hear?</a:t>
            </a:r>
          </a:p>
        </p:txBody>
      </p:sp>
      <p:sp>
        <p:nvSpPr>
          <p:cNvPr id="12" name="Rounded Rectangle 11"/>
          <p:cNvSpPr/>
          <p:nvPr/>
        </p:nvSpPr>
        <p:spPr>
          <a:xfrm>
            <a:off x="4649895"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carry out?</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fix-first call and the interview walk</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task: one call, five lines, one page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fix-first call carry, and in what order?</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call</a:t>
            </a:r>
          </a:p>
        </p:txBody>
      </p:sp>
      <p:sp>
        <p:nvSpPr>
          <p:cNvPr id="14" name="TextBox 13"/>
          <p:cNvSpPr txBox="1"/>
          <p:nvPr/>
        </p:nvSpPr>
        <p:spPr>
          <a:xfrm>
            <a:off x="694944"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What gets fixed first, in one sentence</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evidence</a:t>
            </a:r>
          </a:p>
        </p:txBody>
      </p:sp>
      <p:sp>
        <p:nvSpPr>
          <p:cNvPr id="19" name="TextBox 18"/>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stage, the segment and the date, each with its number</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cost</a:t>
            </a:r>
          </a:p>
        </p:txBody>
      </p:sp>
      <p:sp>
        <p:nvSpPr>
          <p:cNvPr id="24" name="TextBox 23"/>
          <p:cNvSpPr txBox="1"/>
          <p:nvPr/>
        </p:nvSpPr>
        <p:spPr>
          <a:xfrm>
            <a:off x="5220492"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Orders a week and rupees, with every assumption named and ranged</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objection</a:t>
            </a:r>
          </a:p>
        </p:txBody>
      </p:sp>
      <p:sp>
        <p:nvSpPr>
          <p:cNvPr id="29" name="TextBox 28"/>
          <p:cNvSpPr txBox="1"/>
          <p:nvPr/>
        </p:nvSpPr>
        <p:spPr>
          <a:xfrm>
            <a:off x="7483266"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app team's lead, answered with the split that settles it</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FFFFFF"/>
                </a:solidFill>
                <a:latin typeface="Calibri"/>
              </a:rPr>
              <a:t>What would change it</a:t>
            </a:r>
          </a:p>
        </p:txBody>
      </p:sp>
      <p:sp>
        <p:nvSpPr>
          <p:cNvPr id="34" name="TextBox 33"/>
          <p:cNvSpPr txBox="1"/>
          <p:nvPr/>
        </p:nvSpPr>
        <p:spPr>
          <a:xfrm>
            <a:off x="9746040" y="3277870"/>
            <a:ext cx="1750710" cy="366776"/>
          </a:xfrm>
          <a:prstGeom prst="rect">
            <a:avLst/>
          </a:prstGeom>
          <a:noFill/>
        </p:spPr>
        <p:txBody>
          <a:bodyPr wrap="square" anchor="t" lIns="0" rIns="0" tIns="0" bIns="0">
            <a:spAutoFit/>
          </a:bodyPr>
          <a:lstStyle/>
          <a:p>
            <a:pPr algn="l"/>
            <a:r>
              <a:rPr sz="1000" b="0" i="0">
                <a:solidFill>
                  <a:srgbClr val="CFC9EE"/>
                </a:solidFill>
                <a:latin typeface="Calibri"/>
              </a:rPr>
              <a:t>The one fact that would reverse the order</a:t>
            </a:r>
          </a:p>
        </p:txBody>
      </p:sp>
      <p:sp>
        <p:nvSpPr>
          <p:cNvPr id="35" name="TextBox 34"/>
          <p:cNvSpPr txBox="1"/>
          <p:nvPr/>
        </p:nvSpPr>
        <p:spPr>
          <a:xfrm>
            <a:off x="530352" y="4276344"/>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group writes the five lines for the membership lead on one page, the fix-first set's page, and then answers its items. After the lab, the Kalpa set's second page asks for the same five lines for Kalpa's head of Retail-Plus. Every number comes from the morning's notebooks.</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is fixed first?</a:t>
            </a:r>
          </a:p>
        </p:txBody>
      </p:sp>
      <p:sp>
        <p:nvSpPr>
          <p:cNvPr id="38" name="Oval 3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40" name="Oval 39"/>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S38  ·  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app team's lead: "our checkout is fine"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app team's lead claim, what is true in it, and what answers it?</a:t>
            </a:r>
          </a:p>
        </p:txBody>
      </p:sp>
      <p:pic>
        <p:nvPicPr>
          <p:cNvPr id="9" name="mermaid diagram" descr="C2_W04_D04_stage_split_STUDENT.png"/>
          <p:cNvPicPr>
            <a:picLocks noChangeAspect="1"/>
          </p:cNvPicPr>
          <p:nvPr/>
        </p:nvPicPr>
        <p:blipFill>
          <a:blip r:embed="rId4"/>
          <a:stretch>
            <a:fillRect/>
          </a:stretch>
        </p:blipFill>
        <p:spPr>
          <a:xfrm>
            <a:off x="3139922" y="1664208"/>
            <a:ext cx="5911850" cy="2667000"/>
          </a:xfrm>
          <a:prstGeom prst="rect">
            <a:avLst/>
          </a:prstGeom>
        </p:spPr>
      </p:pic>
      <p:sp>
        <p:nvSpPr>
          <p:cNvPr id="10" name="picture caption"/>
          <p:cNvSpPr txBox="1"/>
          <p:nvPr/>
        </p:nvSpPr>
        <p:spPr>
          <a:xfrm>
            <a:off x="530352" y="43677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Android members: the step that changed is checkout to order</a:t>
            </a:r>
          </a:p>
        </p:txBody>
      </p:sp>
      <p:sp>
        <p:nvSpPr>
          <p:cNvPr id="11" name="Rounded Rectangle 10"/>
          <p:cNvSpPr/>
          <p:nvPr/>
        </p:nvSpPr>
        <p:spPr>
          <a:xfrm>
            <a:off x="530352" y="469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2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12792"/>
            <a:ext cx="10564063" cy="1158240"/>
          </a:xfrm>
          <a:prstGeom prst="rect">
            <a:avLst/>
          </a:prstGeom>
          <a:noFill/>
        </p:spPr>
        <p:txBody>
          <a:bodyPr wrap="square" anchor="ctr" lIns="0" rIns="0" tIns="0" bIns="0">
            <a:spAutoFit/>
          </a:bodyPr>
          <a:lstStyle/>
          <a:p>
            <a:r>
              <a:rPr sz="1500" b="1">
                <a:solidFill>
                  <a:srgbClr val="5B3FD6"/>
                </a:solidFill>
                <a:latin typeface="Calibri"/>
              </a:rPr>
              <a:t>The claim. </a:t>
            </a:r>
            <a:r>
              <a:rPr sz="1500" b="0" i="0">
                <a:solidFill>
                  <a:srgbClr val="1A1440"/>
                </a:solidFill>
                <a:latin typeface="Calibri"/>
              </a:rPr>
              <a:t>"Carts that start checkout held at 80 percent on every platform, before and after 14 September, so the new flow works." </a:t>
            </a:r>
            <a:r>
              <a:rPr sz="1500" b="1" i="0">
                <a:solidFill>
                  <a:srgbClr val="1A1440"/>
                </a:solidFill>
                <a:latin typeface="Calibri"/>
              </a:rPr>
              <a:t>What is true.</a:t>
            </a:r>
            <a:r>
              <a:rPr sz="1500" b="0" i="0">
                <a:solidFill>
                  <a:srgbClr val="1A1440"/>
                </a:solidFill>
                <a:latin typeface="Calibri"/>
              </a:rPr>
              <a:t> Starting checkout did not break. </a:t>
            </a:r>
            <a:r>
              <a:rPr sz="1500" b="1" i="0">
                <a:solidFill>
                  <a:srgbClr val="1A1440"/>
                </a:solidFill>
                <a:latin typeface="Calibri"/>
              </a:rPr>
              <a:t>What answers it.</a:t>
            </a:r>
            <a:r>
              <a:rPr sz="1500" b="0" i="0">
                <a:solidFill>
                  <a:srgbClr val="1A1440"/>
                </a:solidFill>
                <a:latin typeface="Calibri"/>
              </a:rPr>
              <a:t> Completing the order once checkout has started fell from 72.5 to 55 percent, for members on Android, from the release week. Concede the true part, restate the question, bring the split.</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is fixed first?</a:t>
            </a:r>
          </a:p>
        </p:txBody>
      </p:sp>
      <p:sp>
        <p:nvSpPr>
          <p:cNvPr id="16" name="Oval 15"/>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18" name="Oval 17"/>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S39  ·  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each problem costs, side by side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big is each loss, in orders and rupees, and how sure is each number?</a:t>
            </a:r>
          </a:p>
        </p:txBody>
      </p:sp>
      <p:sp>
        <p:nvSpPr>
          <p:cNvPr id="9" name="TextBox 8"/>
          <p:cNvSpPr txBox="1"/>
          <p:nvPr/>
        </p:nvSpPr>
        <p:spPr>
          <a:xfrm>
            <a:off x="530352" y="1956816"/>
            <a:ext cx="2577007" cy="317500"/>
          </a:xfrm>
          <a:prstGeom prst="rect">
            <a:avLst/>
          </a:prstGeom>
          <a:noFill/>
        </p:spPr>
        <p:txBody>
          <a:bodyPr wrap="square" anchor="t" lIns="0" rIns="0" tIns="0" bIns="0">
            <a:spAutoFit/>
          </a:bodyPr>
          <a:lstStyle/>
          <a:p>
            <a:pPr algn="l"/>
            <a:r>
              <a:rPr sz="2000" b="0" i="0">
                <a:solidFill>
                  <a:srgbClr val="5B3FD6"/>
                </a:solidFill>
                <a:latin typeface="Georgia"/>
              </a:rPr>
              <a:t>1,223 to 1,317</a:t>
            </a:r>
          </a:p>
        </p:txBody>
      </p:sp>
      <p:sp>
        <p:nvSpPr>
          <p:cNvPr id="10" name="TextBox 9"/>
          <p:cNvSpPr txBox="1"/>
          <p:nvPr/>
        </p:nvSpPr>
        <p:spPr>
          <a:xfrm>
            <a:off x="530352" y="2310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ORDERS A WEEK</a:t>
            </a:r>
          </a:p>
        </p:txBody>
      </p:sp>
      <p:sp>
        <p:nvSpPr>
          <p:cNvPr id="11" name="TextBox 10"/>
          <p:cNvSpPr txBox="1"/>
          <p:nvPr/>
        </p:nvSpPr>
        <p:spPr>
          <a:xfrm>
            <a:off x="530352" y="2512060"/>
            <a:ext cx="2577007" cy="663956"/>
          </a:xfrm>
          <a:prstGeom prst="rect">
            <a:avLst/>
          </a:prstGeom>
          <a:noFill/>
        </p:spPr>
        <p:txBody>
          <a:bodyPr wrap="square" anchor="t" lIns="0" rIns="0" tIns="0" bIns="0">
            <a:spAutoFit/>
          </a:bodyPr>
          <a:lstStyle/>
          <a:p>
            <a:pPr algn="l"/>
            <a:r>
              <a:rPr sz="950" b="0" i="0">
                <a:solidFill>
                  <a:srgbClr val="6B6690"/>
                </a:solidFill>
                <a:latin typeface="Calibri"/>
              </a:rPr>
              <a:t>not placed after the release: 22,841 Android member carts in 17 days at 58 against 44 percent, less the point the comparators lost</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317500"/>
          </a:xfrm>
          <a:prstGeom prst="rect">
            <a:avLst/>
          </a:prstGeom>
          <a:noFill/>
        </p:spPr>
        <p:txBody>
          <a:bodyPr wrap="square" anchor="t" lIns="0" rIns="0" tIns="0" bIns="0">
            <a:spAutoFit/>
          </a:bodyPr>
          <a:lstStyle/>
          <a:p>
            <a:pPr algn="l"/>
            <a:r>
              <a:rPr sz="2000" b="0" i="0">
                <a:solidFill>
                  <a:srgbClr val="5B3FD6"/>
                </a:solidFill>
                <a:latin typeface="Georgia"/>
              </a:rPr>
              <a:t>Rs 3.7 to 6.6 lakh</a:t>
            </a:r>
          </a:p>
        </p:txBody>
      </p:sp>
      <p:sp>
        <p:nvSpPr>
          <p:cNvPr id="14" name="TextBox 13"/>
          <p:cNvSpPr txBox="1"/>
          <p:nvPr/>
        </p:nvSpPr>
        <p:spPr>
          <a:xfrm>
            <a:off x="3381679" y="2310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OF ORDER VALUE A WEEK</a:t>
            </a:r>
          </a:p>
        </p:txBody>
      </p:sp>
      <p:sp>
        <p:nvSpPr>
          <p:cNvPr id="15" name="TextBox 14"/>
          <p:cNvSpPr txBox="1"/>
          <p:nvPr/>
        </p:nvSpPr>
        <p:spPr>
          <a:xfrm>
            <a:off x="3381679" y="2512060"/>
            <a:ext cx="2577007" cy="507111"/>
          </a:xfrm>
          <a:prstGeom prst="rect">
            <a:avLst/>
          </a:prstGeom>
          <a:noFill/>
        </p:spPr>
        <p:txBody>
          <a:bodyPr wrap="square" anchor="t" lIns="0" rIns="0" tIns="0" bIns="0">
            <a:spAutoFit/>
          </a:bodyPr>
          <a:lstStyle/>
          <a:p>
            <a:pPr algn="l"/>
            <a:r>
              <a:rPr sz="950" b="0" i="0">
                <a:solidFill>
                  <a:srgbClr val="6B6690"/>
                </a:solidFill>
                <a:latin typeface="Calibri"/>
              </a:rPr>
              <a:t>at Rs 300 to Rs 500 an order, an assumption; Zomato keeps its commission and fees from it</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317500"/>
          </a:xfrm>
          <a:prstGeom prst="rect">
            <a:avLst/>
          </a:prstGeom>
          <a:noFill/>
        </p:spPr>
        <p:txBody>
          <a:bodyPr wrap="square" anchor="t" lIns="0" rIns="0" tIns="0" bIns="0">
            <a:spAutoFit/>
          </a:bodyPr>
          <a:lstStyle/>
          <a:p>
            <a:pPr algn="l"/>
            <a:r>
              <a:rPr sz="2000" b="0" i="0">
                <a:solidFill>
                  <a:srgbClr val="5B3FD6"/>
                </a:solidFill>
                <a:latin typeface="Georgia"/>
              </a:rPr>
              <a:t>0.23</a:t>
            </a:r>
          </a:p>
        </p:txBody>
      </p:sp>
      <p:sp>
        <p:nvSpPr>
          <p:cNvPr id="18" name="TextBox 17"/>
          <p:cNvSpPr txBox="1"/>
          <p:nvPr/>
        </p:nvSpPr>
        <p:spPr>
          <a:xfrm>
            <a:off x="6233007" y="2310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ORDERS PER SALE-WEEK MEMBER</a:t>
            </a:r>
          </a:p>
        </p:txBody>
      </p:sp>
      <p:sp>
        <p:nvSpPr>
          <p:cNvPr id="19" name="TextBox 18"/>
          <p:cNvSpPr txBox="1"/>
          <p:nvPr/>
        </p:nvSpPr>
        <p:spPr>
          <a:xfrm>
            <a:off x="6233007" y="2512060"/>
            <a:ext cx="2577007" cy="350266"/>
          </a:xfrm>
          <a:prstGeom prst="rect">
            <a:avLst/>
          </a:prstGeom>
          <a:noFill/>
        </p:spPr>
        <p:txBody>
          <a:bodyPr wrap="square" anchor="t" lIns="0" rIns="0" tIns="0" bIns="0">
            <a:spAutoFit/>
          </a:bodyPr>
          <a:lstStyle/>
          <a:p>
            <a:pPr algn="l"/>
            <a:r>
              <a:rPr sz="950" b="0" i="0">
                <a:solidFill>
                  <a:srgbClr val="6B6690"/>
                </a:solidFill>
                <a:latin typeface="Calibri"/>
              </a:rPr>
              <a:t>in month one, against 0.61 for an organic August member</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317500"/>
          </a:xfrm>
          <a:prstGeom prst="rect">
            <a:avLst/>
          </a:prstGeom>
          <a:noFill/>
        </p:spPr>
        <p:txBody>
          <a:bodyPr wrap="square" anchor="t" lIns="0" rIns="0" tIns="0" bIns="0">
            <a:spAutoFit/>
          </a:bodyPr>
          <a:lstStyle/>
          <a:p>
            <a:pPr algn="l"/>
            <a:r>
              <a:rPr sz="2000" b="0" i="0">
                <a:solidFill>
                  <a:srgbClr val="5B3FD6"/>
                </a:solidFill>
                <a:latin typeface="Georgia"/>
              </a:rPr>
              <a:t>33</a:t>
            </a:r>
          </a:p>
        </p:txBody>
      </p:sp>
      <p:sp>
        <p:nvSpPr>
          <p:cNvPr id="22" name="TextBox 21"/>
          <p:cNvSpPr txBox="1"/>
          <p:nvPr/>
        </p:nvSpPr>
        <p:spPr>
          <a:xfrm>
            <a:off x="9084335" y="2310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PERCENT, OCTOBER</a:t>
            </a:r>
          </a:p>
        </p:txBody>
      </p:sp>
      <p:sp>
        <p:nvSpPr>
          <p:cNvPr id="23" name="TextBox 22"/>
          <p:cNvSpPr txBox="1"/>
          <p:nvPr/>
        </p:nvSpPr>
        <p:spPr>
          <a:xfrm>
            <a:off x="9084335" y="2512060"/>
            <a:ext cx="2577007" cy="507111"/>
          </a:xfrm>
          <a:prstGeom prst="rect">
            <a:avLst/>
          </a:prstGeom>
          <a:noFill/>
        </p:spPr>
        <p:txBody>
          <a:bodyPr wrap="square" anchor="t" lIns="0" rIns="0" tIns="0" bIns="0">
            <a:spAutoFit/>
          </a:bodyPr>
          <a:lstStyle/>
          <a:p>
            <a:pPr algn="l"/>
            <a:r>
              <a:rPr sz="950" b="0" i="0">
                <a:solidFill>
                  <a:srgbClr val="6B6690"/>
                </a:solidFill>
                <a:latin typeface="Calibri"/>
              </a:rPr>
              <a:t>the dashboard once the August cohort enters, if it loses July's 10.5 points (32 to 34)</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release costs orders every week it stays live, and a code fix ends it. The August cohort's discount is already paid for; what can still change is whether the next sale runs, which waits on whether this one's members pay their discount back.</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is fixed first?</a:t>
            </a:r>
          </a:p>
        </p:txBody>
      </p:sp>
      <p:sp>
        <p:nvSpPr>
          <p:cNvPr id="28" name="Oval 27"/>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30" name="Oval 29"/>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S40  ·  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fix: buy more sale members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would "fix retention" with more acquisition do to the number, and to the business?</a:t>
            </a:r>
          </a:p>
        </p:txBody>
      </p:sp>
      <p:pic>
        <p:nvPicPr>
          <p:cNvPr id="9" name="mermaid diagram" descr="bd7ce74142568b98.png"/>
          <p:cNvPicPr>
            <a:picLocks noChangeAspect="1"/>
          </p:cNvPicPr>
          <p:nvPr/>
        </p:nvPicPr>
        <p:blipFill>
          <a:blip r:embed="rId7"/>
          <a:stretch>
            <a:fillRect/>
          </a:stretch>
        </p:blipFill>
        <p:spPr>
          <a:xfrm>
            <a:off x="1452410" y="1848612"/>
            <a:ext cx="9286875" cy="1371600"/>
          </a:xfrm>
          <a:prstGeom prst="rect">
            <a:avLst/>
          </a:prstGeom>
        </p:spPr>
      </p:pic>
      <p:sp>
        <p:nvSpPr>
          <p:cNvPr id="10" name="Rounded Rectangle 9"/>
          <p:cNvSpPr/>
          <p:nvPr/>
        </p:nvSpPr>
        <p:spPr>
          <a:xfrm>
            <a:off x="530352" y="3366516"/>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6987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5"/>
          <a:stretch>
            <a:fillRect/>
          </a:stretch>
        </p:blipFill>
        <p:spPr>
          <a:xfrm>
            <a:off x="868680" y="3808476"/>
            <a:ext cx="237744" cy="237744"/>
          </a:xfrm>
          <a:prstGeom prst="rect">
            <a:avLst/>
          </a:prstGeom>
        </p:spPr>
      </p:pic>
      <p:sp>
        <p:nvSpPr>
          <p:cNvPr id="13" name="TextBox 12"/>
          <p:cNvSpPr txBox="1"/>
          <p:nvPr/>
        </p:nvSpPr>
        <p:spPr>
          <a:xfrm>
            <a:off x="1399031" y="351282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3732276"/>
            <a:ext cx="9987991" cy="682752"/>
          </a:xfrm>
          <a:prstGeom prst="rect">
            <a:avLst/>
          </a:prstGeom>
          <a:noFill/>
        </p:spPr>
        <p:txBody>
          <a:bodyPr wrap="square" anchor="t" lIns="0" rIns="0" tIns="0" bIns="0">
            <a:spAutoFit/>
          </a:bodyPr>
          <a:lstStyle/>
          <a:p>
            <a:r>
              <a:rPr sz="1500" b="0" i="0">
                <a:solidFill>
                  <a:srgbClr val="1A1440"/>
                </a:solidFill>
                <a:latin typeface="Calibri"/>
              </a:rPr>
              <a:t>"Retention will recover if we run another sale." The next discounted cohort enters the count at its month two and, if it behaves like this one, pulls the dashboard down again at the discount's cost.</a:t>
            </a:r>
          </a:p>
        </p:txBody>
      </p:sp>
      <p:sp>
        <p:nvSpPr>
          <p:cNvPr id="15" name="Rounded Rectangle 14"/>
          <p:cNvSpPr/>
          <p:nvPr/>
        </p:nvSpPr>
        <p:spPr>
          <a:xfrm>
            <a:off x="530352" y="4652772"/>
            <a:ext cx="11130991" cy="138074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1145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checks_bd88901d2a37.png"/>
          <p:cNvPicPr>
            <a:picLocks noChangeAspect="1"/>
          </p:cNvPicPr>
          <p:nvPr/>
        </p:nvPicPr>
        <p:blipFill>
          <a:blip r:embed="rId6"/>
          <a:stretch>
            <a:fillRect/>
          </a:stretch>
        </p:blipFill>
        <p:spPr>
          <a:xfrm>
            <a:off x="868680" y="5224272"/>
            <a:ext cx="237744" cy="237744"/>
          </a:xfrm>
          <a:prstGeom prst="rect">
            <a:avLst/>
          </a:prstGeom>
        </p:spPr>
      </p:pic>
      <p:sp>
        <p:nvSpPr>
          <p:cNvPr id="18" name="TextBox 17"/>
          <p:cNvSpPr txBox="1"/>
          <p:nvPr/>
        </p:nvSpPr>
        <p:spPr>
          <a:xfrm>
            <a:off x="1399031" y="479907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THE RULE</a:t>
            </a:r>
          </a:p>
        </p:txBody>
      </p:sp>
      <p:sp>
        <p:nvSpPr>
          <p:cNvPr id="19" name="TextBox 18"/>
          <p:cNvSpPr txBox="1"/>
          <p:nvPr/>
        </p:nvSpPr>
        <p:spPr>
          <a:xfrm>
            <a:off x="1399031" y="5018532"/>
            <a:ext cx="9987991" cy="941832"/>
          </a:xfrm>
          <a:prstGeom prst="rect">
            <a:avLst/>
          </a:prstGeom>
          <a:noFill/>
        </p:spPr>
        <p:txBody>
          <a:bodyPr wrap="square" anchor="t" lIns="0" rIns="0" tIns="0" bIns="0">
            <a:spAutoFit/>
          </a:bodyPr>
          <a:lstStyle/>
          <a:p>
            <a:r>
              <a:rPr sz="1500" b="0" i="0">
                <a:solidFill>
                  <a:srgbClr val="1A1440"/>
                </a:solidFill>
                <a:latin typeface="Calibri"/>
              </a:rPr>
              <a:t>Before buying another sale, work out what a sale-week member returns over her first months against the discount she was given: at 0.23 orders in month one against 0.61 for an organic member, this sale has not paid back yet. Leave search to menu view alone: its 118 percent was never a broken step.</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is fixed first?</a:t>
            </a:r>
          </a:p>
        </p:txBody>
      </p:sp>
      <p:sp>
        <p:nvSpPr>
          <p:cNvPr id="22" name="Oval 21"/>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24" name="Oval 23"/>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S41  ·  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call: the Android checkout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strong call say, in the order the membership lead needs it?</a:t>
            </a:r>
          </a:p>
        </p:txBody>
      </p:sp>
      <p:sp>
        <p:nvSpPr>
          <p:cNvPr id="9" name="Rounded Rectangle 8"/>
          <p:cNvSpPr/>
          <p:nvPr/>
        </p:nvSpPr>
        <p:spPr>
          <a:xfrm>
            <a:off x="530352" y="1956816"/>
            <a:ext cx="11130991" cy="29413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26852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27584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Fix the last step of the new Android checkout for members first: it loses about 1,223 to 1,317 orders a week, a quarter of Android members' orders, and a code fix ends the loss. </a:t>
            </a:r>
            <a:r>
              <a:rPr sz="1500" b="1" i="0">
                <a:solidFill>
                  <a:srgbClr val="1A1440"/>
                </a:solidFill>
                <a:latin typeface="Calibri"/>
              </a:rPr>
              <a:t>The evidence.</a:t>
            </a:r>
            <a:r>
              <a:rPr sz="1500" b="0" i="0">
                <a:solidFill>
                  <a:srgbClr val="1A1440"/>
                </a:solidFill>
                <a:latin typeface="Calibri"/>
              </a:rPr>
              <a:t> Checkout start to order placed fell from 72.5 to 55 percent for members on Android from the release week; starting checkout held at 80; on the same step iOS members went from 71 to 70 and non-members on Android from 65 to 64; the order records match the event log. </a:t>
            </a:r>
            <a:r>
              <a:rPr sz="1500" b="1" i="0">
                <a:solidFill>
                  <a:srgbClr val="1A1440"/>
                </a:solidFill>
                <a:latin typeface="Calibri"/>
              </a:rPr>
              <a:t>The cost.</a:t>
            </a:r>
            <a:r>
              <a:rPr sz="1500" b="0" i="0">
                <a:solidFill>
                  <a:srgbClr val="1A1440"/>
                </a:solidFill>
                <a:latin typeface="Calibri"/>
              </a:rPr>
              <a:t> Rs 3.7 to 6.6 lakh of order value a week at Rs 300 to Rs 500 an order, of which Zomato keeps its commission and fees. </a:t>
            </a:r>
            <a:r>
              <a:rPr sz="1500" b="1" i="0">
                <a:solidFill>
                  <a:srgbClr val="1A1440"/>
                </a:solidFill>
                <a:latin typeface="Calibri"/>
              </a:rPr>
              <a:t>The second problem.</a:t>
            </a:r>
            <a:r>
              <a:rPr sz="1500" b="0" i="0">
                <a:solidFill>
                  <a:srgbClr val="1A1440"/>
                </a:solidFill>
                <a:latin typeface="Calibri"/>
              </a:rPr>
              <a:t> The sale-week members kept 20 percent in month one against 49 for organic August members; before another sale, work out whether these members pay back their discount. </a:t>
            </a:r>
            <a:r>
              <a:rPr sz="1500" b="1" i="0">
                <a:solidFill>
                  <a:srgbClr val="1A1440"/>
                </a:solidFill>
                <a:latin typeface="Calibri"/>
              </a:rPr>
              <a:t>What would change the order.</a:t>
            </a:r>
            <a:r>
              <a:rPr sz="1500" b="0" i="0">
                <a:solidFill>
                  <a:srgbClr val="1A1440"/>
                </a:solidFill>
                <a:latin typeface="Calibri"/>
              </a:rPr>
              <a:t> If members who failed had come back and ordered later, the release would cost a delay rather than orders and the sale would go first; within a day, 36.5 percent did so before the release and 35.1 after.</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What is fixed first?</a:t>
            </a:r>
          </a:p>
        </p:txBody>
      </p:sp>
      <p:sp>
        <p:nvSpPr>
          <p:cNvPr id="14" name="Oval 13"/>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16" name="Oval 15"/>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S42  ·  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the interviewer hear?</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"Retention dropped; walk me through your investigation." How does a hire-grade candidate, one whose answer gets the job, order it, and how does the same idea apply to an AI product?</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fixed first?</a:t>
            </a:r>
          </a:p>
        </p:txBody>
      </p:sp>
      <p:sp>
        <p:nvSpPr>
          <p:cNvPr id="11" name="Rounded Rectangle 10"/>
          <p:cNvSpPr/>
          <p:nvPr/>
        </p:nvSpPr>
        <p:spPr>
          <a:xfrm>
            <a:off x="2391327" y="5074920"/>
            <a:ext cx="2148840"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the interviewer hear?</a:t>
            </a:r>
          </a:p>
        </p:txBody>
      </p:sp>
      <p:sp>
        <p:nvSpPr>
          <p:cNvPr id="12" name="Rounded Rectangle 11"/>
          <p:cNvSpPr/>
          <p:nvPr/>
        </p:nvSpPr>
        <p:spPr>
          <a:xfrm>
            <a:off x="4649895"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room carry out?</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fix-first call and the interview walk</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walk: the morning's five causes, then the call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In what order does a strong candidate investigate a retention drop?</a:t>
            </a:r>
          </a:p>
        </p:txBody>
      </p:sp>
      <p:pic>
        <p:nvPicPr>
          <p:cNvPr id="9" name="mermaid diagram" descr="eb34e4910fc13270.png"/>
          <p:cNvPicPr>
            <a:picLocks noChangeAspect="1"/>
          </p:cNvPicPr>
          <p:nvPr/>
        </p:nvPicPr>
        <p:blipFill>
          <a:blip r:embed="rId5"/>
          <a:stretch>
            <a:fillRect/>
          </a:stretch>
        </p:blipFill>
        <p:spPr>
          <a:xfrm>
            <a:off x="530352" y="1897637"/>
            <a:ext cx="11130991" cy="882390"/>
          </a:xfrm>
          <a:prstGeom prst="rect">
            <a:avLst/>
          </a:prstGeom>
        </p:spPr>
      </p:pic>
      <p:graphicFrame>
        <p:nvGraphicFramePr>
          <p:cNvPr id="10" name="Table 9"/>
          <p:cNvGraphicFramePr>
            <a:graphicFrameLocks noGrp="1"/>
          </p:cNvGraphicFramePr>
          <p:nvPr/>
        </p:nvGraphicFramePr>
        <p:xfrm>
          <a:off x="530352" y="2926331"/>
          <a:ext cx="11130990" cy="3058160"/>
        </p:xfrm>
        <a:graphic>
          <a:graphicData uri="http://schemas.openxmlformats.org/drawingml/2006/table">
            <a:tbl>
              <a:tblPr firstRow="0" bandRow="0">
                <a:tableStyleId>{2D5ABB26-0587-4C30-8999-92F81FD0307C}</a:tableStyleId>
              </a:tblPr>
              <a:tblGrid>
                <a:gridCol w="1610338"/>
                <a:gridCol w="3575952"/>
                <a:gridCol w="5944700"/>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A weak answer</a:t>
                      </a:r>
                    </a:p>
                  </a:txBody>
                  <a:tcPr marL="101600" marR="101600" marT="38100" marB="38100" anchor="ctr">
                    <a:solidFill>
                      <a:srgbClr val="1A0F5C"/>
                    </a:solidFill>
                  </a:tcPr>
                </a:tc>
                <a:tc>
                  <a:txBody>
                    <a:bodyPr/>
                    <a:lstStyle/>
                    <a:p>
                      <a:r>
                        <a:rPr sz="1450" b="1" i="0">
                          <a:solidFill>
                            <a:srgbClr val="FFFFFF"/>
                          </a:solidFill>
                          <a:latin typeface="Calibri"/>
                        </a:rPr>
                        <a:t>A hire-grade answer</a:t>
                      </a:r>
                    </a:p>
                  </a:txBody>
                  <a:tcPr marL="101600" marR="101600" marT="38100" marB="38100" anchor="ctr">
                    <a:solidFill>
                      <a:srgbClr val="1A0F5C"/>
                    </a:solidFill>
                  </a:tcPr>
                </a:tc>
              </a:tr>
              <a:tr h="611632">
                <a:tc>
                  <a:txBody>
                    <a:bodyPr/>
                    <a:lstStyle/>
                    <a:p>
                      <a:r>
                        <a:rPr sz="1400" b="0" i="0">
                          <a:solidFill>
                            <a:srgbClr val="1A1440"/>
                          </a:solidFill>
                          <a:latin typeface="Calibri"/>
                        </a:rPr>
                        <a:t>First sentence</a:t>
                      </a:r>
                    </a:p>
                  </a:txBody>
                  <a:tcPr marL="101600" marR="101600" marT="38100" marB="38100" anchor="ctr">
                    <a:solidFill>
                      <a:srgbClr val="FFFFFF"/>
                    </a:solidFill>
                  </a:tcPr>
                </a:tc>
                <a:tc>
                  <a:txBody>
                    <a:bodyPr/>
                    <a:lstStyle/>
                    <a:p>
                      <a:r>
                        <a:rPr sz="1400" b="0" i="0">
                          <a:solidFill>
                            <a:srgbClr val="1A1440"/>
                          </a:solidFill>
                          <a:latin typeface="Calibri"/>
                        </a:rPr>
                        <a:t>"It's probably the August cohort."</a:t>
                      </a:r>
                    </a:p>
                  </a:txBody>
                  <a:tcPr marL="101600" marR="101600" marT="38100" marB="38100" anchor="ctr">
                    <a:solidFill>
                      <a:srgbClr val="FFFFFF"/>
                    </a:solidFill>
                  </a:tcPr>
                </a:tc>
                <a:tc>
                  <a:txBody>
                    <a:bodyPr/>
                    <a:lstStyle/>
                    <a:p>
                      <a:r>
                        <a:rPr sz="1400" b="0" i="0">
                          <a:solidFill>
                            <a:srgbClr val="1A1440"/>
                          </a:solidFill>
                          <a:latin typeface="Calibri"/>
                        </a:rPr>
                        <a:t>"Before a cause, I'd check the count, then what the number counts."</a:t>
                      </a:r>
                    </a:p>
                  </a:txBody>
                  <a:tcPr marL="101600" marR="101600" marT="38100" marB="38100" anchor="ctr">
                    <a:solidFill>
                      <a:srgbClr val="FFFFFF"/>
                    </a:solidFill>
                  </a:tcPr>
                </a:tc>
              </a:tr>
              <a:tr h="369824">
                <a:tc>
                  <a:txBody>
                    <a:bodyPr/>
                    <a:lstStyle/>
                    <a:p>
                      <a:r>
                        <a:rPr sz="1400" b="0" i="0">
                          <a:solidFill>
                            <a:srgbClr val="1A1440"/>
                          </a:solidFill>
                          <a:latin typeface="Calibri"/>
                        </a:rPr>
                        <a:t>The flat 38</a:t>
                      </a:r>
                    </a:p>
                  </a:txBody>
                  <a:tcPr marL="101600" marR="101600" marT="38100" marB="38100" anchor="ctr">
                    <a:solidFill>
                      <a:srgbClr val="F4F2FA"/>
                    </a:solidFill>
                  </a:tcPr>
                </a:tc>
                <a:tc>
                  <a:txBody>
                    <a:bodyPr/>
                    <a:lstStyle/>
                    <a:p>
                      <a:r>
                        <a:rPr sz="1400" b="0" i="0">
                          <a:solidFill>
                            <a:srgbClr val="1A1440"/>
                          </a:solidFill>
                          <a:latin typeface="Calibri"/>
                        </a:rPr>
                        <a:t>Accepts it</a:t>
                      </a:r>
                    </a:p>
                  </a:txBody>
                  <a:tcPr marL="101600" marR="101600" marT="38100" marB="38100" anchor="ctr">
                    <a:solidFill>
                      <a:srgbClr val="F4F2FA"/>
                    </a:solidFill>
                  </a:tcPr>
                </a:tc>
                <a:tc>
                  <a:txBody>
                    <a:bodyPr/>
                    <a:lstStyle/>
                    <a:p>
                      <a:r>
                        <a:rPr sz="1400" b="0" i="0">
                          <a:solidFill>
                            <a:srgbClr val="1A1440"/>
                          </a:solidFill>
                          <a:latin typeface="Calibri"/>
                        </a:rPr>
                        <a:t>"Who does month-two retention count, and from when?"</a:t>
                      </a:r>
                    </a:p>
                  </a:txBody>
                  <a:tcPr marL="101600" marR="101600" marT="38100" marB="38100" anchor="ctr">
                    <a:solidFill>
                      <a:srgbClr val="F4F2FA"/>
                    </a:solidFill>
                  </a:tcPr>
                </a:tc>
              </a:tr>
              <a:tr h="853440">
                <a:tc>
                  <a:txBody>
                    <a:bodyPr/>
                    <a:lstStyle/>
                    <a:p>
                      <a:r>
                        <a:rPr sz="1400" b="0" i="0">
                          <a:solidFill>
                            <a:srgbClr val="1A1440"/>
                          </a:solidFill>
                          <a:latin typeface="Calibri"/>
                        </a:rPr>
                        <a:t>The split</a:t>
                      </a:r>
                    </a:p>
                  </a:txBody>
                  <a:tcPr marL="101600" marR="101600" marT="38100" marB="38100" anchor="ctr">
                    <a:solidFill>
                      <a:srgbClr val="FFFFFF"/>
                    </a:solidFill>
                  </a:tcPr>
                </a:tc>
                <a:tc>
                  <a:txBody>
                    <a:bodyPr/>
                    <a:lstStyle/>
                    <a:p>
                      <a:r>
                        <a:rPr sz="1400" b="0" i="0">
                          <a:solidFill>
                            <a:srgbClr val="1A1440"/>
                          </a:solidFill>
                          <a:latin typeface="Calibri"/>
                        </a:rPr>
                        <a:t>Overall conversion</a:t>
                      </a:r>
                    </a:p>
                  </a:txBody>
                  <a:tcPr marL="101600" marR="101600" marT="38100" marB="38100" anchor="ctr">
                    <a:solidFill>
                      <a:srgbClr val="FFFFFF"/>
                    </a:solidFill>
                  </a:tcPr>
                </a:tc>
                <a:tc>
                  <a:txBody>
                    <a:bodyPr/>
                    <a:lstStyle/>
                    <a:p>
                      <a:r>
                        <a:rPr sz="1400" b="0" i="0">
                          <a:solidFill>
                            <a:srgbClr val="1A1440"/>
                          </a:solidFill>
                          <a:latin typeface="Calibri"/>
                        </a:rPr>
                        <a:t>Cohorts at the same age, then platform and date on the same step, then fewer users against fewer orders each, cohorts held fixed</a:t>
                      </a:r>
                    </a:p>
                  </a:txBody>
                  <a:tcPr marL="101600" marR="101600" marT="38100" marB="38100" anchor="ctr">
                    <a:solidFill>
                      <a:srgbClr val="FFFFFF"/>
                    </a:solidFill>
                  </a:tcPr>
                </a:tc>
              </a:tr>
              <a:tr h="853440">
                <a:tc>
                  <a:txBody>
                    <a:bodyPr/>
                    <a:lstStyle/>
                    <a:p>
                      <a:r>
                        <a:rPr sz="1400" b="0" i="0">
                          <a:solidFill>
                            <a:srgbClr val="1A1440"/>
                          </a:solidFill>
                          <a:latin typeface="Calibri"/>
                        </a:rPr>
                        <a:t>The close</a:t>
                      </a:r>
                    </a:p>
                  </a:txBody>
                  <a:tcPr marL="101600" marR="101600" marT="38100" marB="38100" anchor="ctr">
                    <a:solidFill>
                      <a:srgbClr val="F4F2FA"/>
                    </a:solidFill>
                  </a:tcPr>
                </a:tc>
                <a:tc>
                  <a:txBody>
                    <a:bodyPr/>
                    <a:lstStyle/>
                    <a:p>
                      <a:r>
                        <a:rPr sz="1400" b="0" i="0">
                          <a:solidFill>
                            <a:srgbClr val="1A1440"/>
                          </a:solidFill>
                          <a:latin typeface="Calibri"/>
                        </a:rPr>
                        <a:t>"Retention dropped."</a:t>
                      </a:r>
                    </a:p>
                  </a:txBody>
                  <a:tcPr marL="101600" marR="101600" marT="38100" marB="38100" anchor="ctr">
                    <a:solidFill>
                      <a:srgbClr val="F4F2FA"/>
                    </a:solidFill>
                  </a:tcPr>
                </a:tc>
                <a:tc>
                  <a:txBody>
                    <a:bodyPr/>
                    <a:lstStyle/>
                    <a:p>
                      <a:r>
                        <a:rPr sz="1400" b="0" i="0">
                          <a:solidFill>
                            <a:srgbClr val="1A1440"/>
                          </a:solidFill>
                          <a:latin typeface="Calibri"/>
                        </a:rPr>
                        <a:t>"One step on Android since 14 September, about 1,223 to 1,317 orders a week; then whether the sale paid back; October reads about 33."</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is fixed first?</a:t>
            </a:r>
          </a:p>
        </p:txBody>
      </p:sp>
      <p:sp>
        <p:nvSpPr>
          <p:cNvPr id="13" name="Oval 12"/>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035682"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What does the interviewer hear?</a:t>
            </a:r>
          </a:p>
        </p:txBody>
      </p:sp>
      <p:sp>
        <p:nvSpPr>
          <p:cNvPr id="15" name="Oval 14"/>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S43  ·  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AI variant: judge each cohort at week four</a:t>
            </a:r>
          </a:p>
        </p:txBody>
      </p:sp>
      <p:sp>
        <p:nvSpPr>
          <p:cNvPr id="8" name="TextBox 7"/>
          <p:cNvSpPr txBox="1"/>
          <p:nvPr/>
        </p:nvSpPr>
        <p:spPr>
          <a:xfrm>
            <a:off x="530352" y="1243584"/>
            <a:ext cx="11130991" cy="218186"/>
          </a:xfrm>
          <a:prstGeom prst="rect">
            <a:avLst/>
          </a:prstGeom>
          <a:noFill/>
        </p:spPr>
        <p:txBody>
          <a:bodyPr wrap="square" anchor="t" lIns="0" rIns="0" tIns="0" bIns="0">
            <a:spAutoFit/>
          </a:bodyPr>
          <a:lstStyle/>
          <a:p>
            <a:pPr algn="l"/>
            <a:r>
              <a:rPr sz="1100" b="0" i="0">
                <a:solidFill>
                  <a:srgbClr val="6B6690"/>
                </a:solidFill>
                <a:latin typeface="Calibri"/>
              </a:rPr>
              <a:t>An AI writing assistant launched two months ago and its launch week brought its biggest cohort ever. How do you know whether it is habit or novelty?</a:t>
            </a:r>
          </a:p>
        </p:txBody>
      </p:sp>
      <p:pic>
        <p:nvPicPr>
          <p:cNvPr id="9" name="mermaid diagram" descr="e133d57b8616769c.png"/>
          <p:cNvPicPr>
            <a:picLocks noChangeAspect="1"/>
          </p:cNvPicPr>
          <p:nvPr/>
        </p:nvPicPr>
        <p:blipFill>
          <a:blip r:embed="rId5"/>
          <a:stretch>
            <a:fillRect/>
          </a:stretch>
        </p:blipFill>
        <p:spPr>
          <a:xfrm>
            <a:off x="530352" y="2721020"/>
            <a:ext cx="4786326" cy="2440087"/>
          </a:xfrm>
          <a:prstGeom prst="rect">
            <a:avLst/>
          </a:prstGeom>
        </p:spPr>
      </p:pic>
      <p:graphicFrame>
        <p:nvGraphicFramePr>
          <p:cNvPr id="10" name="Table 9"/>
          <p:cNvGraphicFramePr>
            <a:graphicFrameLocks noGrp="1"/>
          </p:cNvGraphicFramePr>
          <p:nvPr/>
        </p:nvGraphicFramePr>
        <p:xfrm>
          <a:off x="5761917" y="1795272"/>
          <a:ext cx="5899424" cy="1627632"/>
        </p:xfrm>
        <a:graphic>
          <a:graphicData uri="http://schemas.openxmlformats.org/drawingml/2006/table">
            <a:tbl>
              <a:tblPr firstRow="0" bandRow="0">
                <a:tableStyleId>{2D5ABB26-0587-4C30-8999-92F81FD0307C}</a:tableStyleId>
              </a:tblPr>
              <a:tblGrid>
                <a:gridCol w="1896848"/>
                <a:gridCol w="2001288"/>
                <a:gridCol w="2001288"/>
              </a:tblGrid>
              <a:tr h="438912">
                <a:tc>
                  <a:txBody>
                    <a:bodyPr/>
                    <a:lstStyle/>
                    <a:p/>
                  </a:txBody>
                  <a:tcPr marL="101600" marR="101600" marT="38100" marB="38100" anchor="ctr">
                    <a:solidFill>
                      <a:srgbClr val="1A0F5C"/>
                    </a:solidFill>
                  </a:tcPr>
                </a:tc>
                <a:tc>
                  <a:txBody>
                    <a:bodyPr/>
                    <a:lstStyle/>
                    <a:p>
                      <a:r>
                        <a:rPr sz="950" b="1" i="0">
                          <a:solidFill>
                            <a:srgbClr val="FFFFFF"/>
                          </a:solidFill>
                          <a:latin typeface="Calibri"/>
                        </a:rPr>
                        <a:t>Launch-week cohort</a:t>
                      </a:r>
                    </a:p>
                  </a:txBody>
                  <a:tcPr marL="101600" marR="101600" marT="38100" marB="38100" anchor="ctr">
                    <a:solidFill>
                      <a:srgbClr val="1A0F5C"/>
                    </a:solidFill>
                  </a:tcPr>
                </a:tc>
                <a:tc>
                  <a:txBody>
                    <a:bodyPr/>
                    <a:lstStyle/>
                    <a:p>
                      <a:r>
                        <a:rPr sz="950" b="1" i="0">
                          <a:solidFill>
                            <a:srgbClr val="FFFFFF"/>
                          </a:solidFill>
                          <a:latin typeface="Calibri"/>
                        </a:rPr>
                        <a:t>A cohort that found the app on its own</a:t>
                      </a:r>
                    </a:p>
                  </a:txBody>
                  <a:tcPr marL="101600" marR="101600" marT="38100" marB="38100" anchor="ctr">
                    <a:solidFill>
                      <a:srgbClr val="1A0F5C"/>
                    </a:solidFill>
                  </a:tcPr>
                </a:tc>
              </a:tr>
              <a:tr h="438912">
                <a:tc>
                  <a:txBody>
                    <a:bodyPr/>
                    <a:lstStyle/>
                    <a:p>
                      <a:r>
                        <a:rPr sz="900" b="0" i="0">
                          <a:solidFill>
                            <a:srgbClr val="1A1440"/>
                          </a:solidFill>
                          <a:latin typeface="Calibri"/>
                        </a:rPr>
                        <a:t>Week one</a:t>
                      </a:r>
                    </a:p>
                  </a:txBody>
                  <a:tcPr marL="101600" marR="101600" marT="38100" marB="38100" anchor="ctr">
                    <a:solidFill>
                      <a:srgbClr val="FFFFFF"/>
                    </a:solidFill>
                  </a:tcPr>
                </a:tc>
                <a:tc>
                  <a:txBody>
                    <a:bodyPr/>
                    <a:lstStyle/>
                    <a:p>
                      <a:r>
                        <a:rPr sz="900" b="0" i="0">
                          <a:solidFill>
                            <a:srgbClr val="1A1440"/>
                          </a:solidFill>
                          <a:latin typeface="Calibri"/>
                        </a:rPr>
                        <a:t>Looks strong: the feature is new</a:t>
                      </a:r>
                    </a:p>
                  </a:txBody>
                  <a:tcPr marL="101600" marR="101600" marT="38100" marB="38100" anchor="ctr">
                    <a:solidFill>
                      <a:srgbClr val="FFFFFF"/>
                    </a:solidFill>
                  </a:tcPr>
                </a:tc>
                <a:tc>
                  <a:txBody>
                    <a:bodyPr/>
                    <a:lstStyle/>
                    <a:p>
                      <a:r>
                        <a:rPr sz="900" b="0" i="0">
                          <a:solidFill>
                            <a:srgbClr val="1A1440"/>
                          </a:solidFill>
                          <a:latin typeface="Calibri"/>
                        </a:rPr>
                        <a:t>Looks normal</a:t>
                      </a:r>
                    </a:p>
                  </a:txBody>
                  <a:tcPr marL="101600" marR="101600" marT="38100" marB="38100" anchor="ctr">
                    <a:solidFill>
                      <a:srgbClr val="FFFFFF"/>
                    </a:solidFill>
                  </a:tcPr>
                </a:tc>
              </a:tr>
              <a:tr h="310896">
                <a:tc>
                  <a:txBody>
                    <a:bodyPr/>
                    <a:lstStyle/>
                    <a:p>
                      <a:r>
                        <a:rPr sz="900" b="0" i="0">
                          <a:solidFill>
                            <a:srgbClr val="1A1440"/>
                          </a:solidFill>
                          <a:latin typeface="Calibri"/>
                        </a:rPr>
                        <a:t>Week four (invented numbers)</a:t>
                      </a:r>
                    </a:p>
                  </a:txBody>
                  <a:tcPr marL="101600" marR="101600" marT="38100" marB="38100" anchor="ctr">
                    <a:solidFill>
                      <a:srgbClr val="F4F2FA"/>
                    </a:solidFill>
                  </a:tcPr>
                </a:tc>
                <a:tc>
                  <a:txBody>
                    <a:bodyPr/>
                    <a:lstStyle/>
                    <a:p>
                      <a:r>
                        <a:rPr sz="900" b="0" i="0">
                          <a:solidFill>
                            <a:srgbClr val="1A1440"/>
                          </a:solidFill>
                          <a:latin typeface="Calibri"/>
                        </a:rPr>
                        <a:t>24 percent still active</a:t>
                      </a:r>
                    </a:p>
                  </a:txBody>
                  <a:tcPr marL="101600" marR="101600" marT="38100" marB="38100" anchor="ctr">
                    <a:solidFill>
                      <a:srgbClr val="F4F2FA"/>
                    </a:solidFill>
                  </a:tcPr>
                </a:tc>
                <a:tc>
                  <a:txBody>
                    <a:bodyPr/>
                    <a:lstStyle/>
                    <a:p>
                      <a:r>
                        <a:rPr sz="900" b="0" i="0">
                          <a:solidFill>
                            <a:srgbClr val="1A1440"/>
                          </a:solidFill>
                          <a:latin typeface="Calibri"/>
                        </a:rPr>
                        <a:t>36 percent still active</a:t>
                      </a:r>
                    </a:p>
                  </a:txBody>
                  <a:tcPr marL="101600" marR="101600" marT="38100" marB="38100" anchor="ctr">
                    <a:solidFill>
                      <a:srgbClr val="F4F2FA"/>
                    </a:solidFill>
                  </a:tcPr>
                </a:tc>
              </a:tr>
              <a:tr h="438912">
                <a:tc>
                  <a:txBody>
                    <a:bodyPr/>
                    <a:lstStyle/>
                    <a:p>
                      <a:r>
                        <a:rPr sz="900" b="0" i="0">
                          <a:solidFill>
                            <a:srgbClr val="1A1440"/>
                          </a:solidFill>
                          <a:latin typeface="Calibri"/>
                        </a:rPr>
                        <a:t>The blended weekly actives</a:t>
                      </a:r>
                    </a:p>
                  </a:txBody>
                  <a:tcPr marL="101600" marR="101600" marT="38100" marB="38100" anchor="ctr">
                    <a:solidFill>
                      <a:srgbClr val="FFFFFF"/>
                    </a:solidFill>
                  </a:tcPr>
                </a:tc>
                <a:tc>
                  <a:txBody>
                    <a:bodyPr/>
                    <a:lstStyle/>
                    <a:p>
                      <a:r>
                        <a:rPr sz="900" b="0" i="0">
                          <a:solidFill>
                            <a:srgbClr val="1A1440"/>
                          </a:solidFill>
                          <a:latin typeface="Calibri"/>
                        </a:rPr>
                        <a:t>Jump in launch week, then stay near the record</a:t>
                      </a:r>
                    </a:p>
                  </a:txBody>
                  <a:tcPr marL="101600" marR="101600" marT="38100" marB="38100" anchor="ctr">
                    <a:solidFill>
                      <a:srgbClr val="FFFFFF"/>
                    </a:solidFill>
                  </a:tcPr>
                </a:tc>
                <a:tc>
                  <a:txBody>
                    <a:bodyPr/>
                    <a:lstStyle/>
                    <a:p>
                      <a:r>
                        <a:rPr sz="900" b="0" i="0">
                          <a:solidFill>
                            <a:srgbClr val="1A1440"/>
                          </a:solidFill>
                          <a:latin typeface="Calibri"/>
                        </a:rPr>
                        <a:t>Each week's new cohort adds to the count</a:t>
                      </a:r>
                    </a:p>
                  </a:txBody>
                  <a:tcPr marL="101600" marR="101600" marT="38100" marB="38100" anchor="ctr">
                    <a:solidFill>
                      <a:srgbClr val="FFFFFF"/>
                    </a:solidFill>
                  </a:tcPr>
                </a:tc>
              </a:tr>
            </a:tbl>
          </a:graphicData>
        </a:graphic>
      </p:graphicFrame>
      <p:sp>
        <p:nvSpPr>
          <p:cNvPr id="11" name="Rounded Rectangle 10"/>
          <p:cNvSpPr/>
          <p:nvPr/>
        </p:nvSpPr>
        <p:spPr>
          <a:xfrm>
            <a:off x="5761917" y="3678936"/>
            <a:ext cx="5899425" cy="24079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908221" y="3806952"/>
            <a:ext cx="45720" cy="21518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109389" y="3797808"/>
            <a:ext cx="5332497" cy="22250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Count a user as active only on the core action, a draft she keeps, and read each cohort at the same age, week four or later (the programme's rule of thumb), with the share of drafts kept and the cost per retained user beside it. The blended count still sizes load and spend; it cannot say whether anyone formed a habit. The structure is Chennai's: a mix that hides a fall.</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is fixed first?</a:t>
            </a:r>
          </a:p>
        </p:txBody>
      </p:sp>
      <p:sp>
        <p:nvSpPr>
          <p:cNvPr id="16" name="Oval 15"/>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35682"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What does the interviewer hear?</a:t>
            </a:r>
          </a:p>
        </p:txBody>
      </p:sp>
      <p:sp>
        <p:nvSpPr>
          <p:cNvPr id="18" name="Oval 17"/>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S44  ·  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handoff: the member who has not left yet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cohort table get wrong about its newest members, and who picks it up?</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handoff line. </a:t>
            </a:r>
            <a:r>
              <a:rPr sz="1500" b="0" i="0">
                <a:solidFill>
                  <a:srgbClr val="1A1440"/>
                </a:solidFill>
                <a:latin typeface="Calibri"/>
              </a:rPr>
              <a:t>"Your cohort table treats a member who has not left yet as if she were retained for ever, and that flatters every curve. The next 120 minutes give that member a name, censored, and show when two curves really differ by more than chance."</a:t>
            </a:r>
          </a:p>
        </p:txBody>
      </p:sp>
      <p:sp>
        <p:nvSpPr>
          <p:cNvPr id="12" name="TextBox 11"/>
          <p:cNvSpPr txBox="1"/>
          <p:nvPr/>
        </p:nvSpPr>
        <p:spPr>
          <a:xfrm>
            <a:off x="530352" y="319582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next block is the IITGN faculty session W4-3 on survival curves, censoring and hazard, tentative until IIT Gandhinagar confirms it.</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is fixed first?</a:t>
            </a:r>
          </a:p>
        </p:txBody>
      </p:sp>
      <p:sp>
        <p:nvSpPr>
          <p:cNvPr id="15" name="Oval 14"/>
          <p:cNvSpPr/>
          <p:nvPr/>
        </p:nvSpPr>
        <p:spPr>
          <a:xfrm>
            <a:off x="192595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035682" y="6437376"/>
            <a:ext cx="1700498" cy="152146"/>
          </a:xfrm>
          <a:prstGeom prst="rect">
            <a:avLst/>
          </a:prstGeom>
          <a:noFill/>
        </p:spPr>
        <p:txBody>
          <a:bodyPr wrap="square" anchor="t" lIns="0" rIns="0" tIns="0" bIns="0">
            <a:spAutoFit/>
          </a:bodyPr>
          <a:lstStyle/>
          <a:p>
            <a:pPr algn="l"/>
            <a:r>
              <a:rPr sz="700" b="1" i="0">
                <a:solidFill>
                  <a:srgbClr val="5B3FD6"/>
                </a:solidFill>
                <a:latin typeface="Calibri"/>
              </a:rPr>
              <a:t>What does the interviewer hear?</a:t>
            </a:r>
          </a:p>
        </p:txBody>
      </p:sp>
      <p:sp>
        <p:nvSpPr>
          <p:cNvPr id="17" name="Oval 16"/>
          <p:cNvSpPr/>
          <p:nvPr/>
        </p:nvSpPr>
        <p:spPr>
          <a:xfrm>
            <a:off x="382762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37349"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What does the room carry out?</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S45  ·  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the room carry out?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of the day's calls can the room make in seconds, and what does the day close on before Friday's ticket?</a:t>
            </a:r>
          </a:p>
        </p:txBody>
      </p:sp>
      <p:sp>
        <p:nvSpPr>
          <p:cNvPr id="10" name="Rounded Rectangle 9"/>
          <p:cNvSpPr/>
          <p:nvPr/>
        </p:nvSpPr>
        <p:spPr>
          <a:xfrm>
            <a:off x="73151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is fixed first?</a:t>
            </a:r>
          </a:p>
        </p:txBody>
      </p:sp>
      <p:sp>
        <p:nvSpPr>
          <p:cNvPr id="11" name="Rounded Rectangle 10"/>
          <p:cNvSpPr/>
          <p:nvPr/>
        </p:nvSpPr>
        <p:spPr>
          <a:xfrm>
            <a:off x="2391327" y="5074920"/>
            <a:ext cx="2148840"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the interviewer hear?</a:t>
            </a:r>
          </a:p>
        </p:txBody>
      </p:sp>
      <p:sp>
        <p:nvSpPr>
          <p:cNvPr id="12" name="Rounded Rectangle 11"/>
          <p:cNvSpPr/>
          <p:nvPr/>
        </p:nvSpPr>
        <p:spPr>
          <a:xfrm>
            <a:off x="4649895" y="5074920"/>
            <a:ext cx="208302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the room carry out?</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fix-first call and the interview walk</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Kahoot: eight items, one from Wednesday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day's calls can the room make in seconds?</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s_11340fce0adc.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ITEMS 1, 3 AND 4</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Cohorts and the blend</a:t>
            </a:r>
          </a:p>
        </p:txBody>
      </p:sp>
      <p:sp>
        <p:nvSpPr>
          <p:cNvPr id="14" name="TextBox 13"/>
          <p:cNvSpPr txBox="1"/>
          <p:nvPr/>
        </p:nvSpPr>
        <p:spPr>
          <a:xfrm>
            <a:off x="731519"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What a cohort fixes; a blend that holds while two old cohorts fall; what a curve's level after month one says</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ilter_c3942426586e.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ITEMS 2, 5 AND 7</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funnel</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The step that owns the Android loss; a step above 100 percent; per session against per member</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otate-ccw_eba0c1ea828c.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ITEMS 6 AND 8</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Wednesday, then the interview</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Bread to milk, confidence 0.74 and lift 1.04, the verdict in one breath; then the first move in a retention walk</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is fixed first?</a:t>
            </a:r>
          </a:p>
        </p:txBody>
      </p:sp>
      <p:sp>
        <p:nvSpPr>
          <p:cNvPr id="29" name="Oval 28"/>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31" name="Oval 30"/>
          <p:cNvSpPr/>
          <p:nvPr/>
        </p:nvSpPr>
        <p:spPr>
          <a:xfrm>
            <a:off x="382762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37349"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does the room carry out?</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S46  ·  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ZOMATO GOLD, CHENNAI,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day in one sentence, and Friday's ticket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Thursday close on, and what is Friday's question?</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The sentence. </a:t>
            </a:r>
            <a:r>
              <a:rPr sz="1500" b="0" i="0">
                <a:solidFill>
                  <a:srgbClr val="1A1440"/>
                </a:solidFill>
                <a:latin typeface="Calibri"/>
              </a:rPr>
              <a:t>The dashboard was flat because of who it counts: every cohort fell after month one, each newer one started lower, and the August cohort is outside the count until October, when the dashboard reads about 33; the orders were lost in one step, on one platform, after one date.</a:t>
            </a:r>
          </a:p>
        </p:txBody>
      </p:sp>
      <p:sp>
        <p:nvSpPr>
          <p:cNvPr id="12" name="Rounded Rectangle 11"/>
          <p:cNvSpPr/>
          <p:nvPr/>
        </p:nvSpPr>
        <p:spPr>
          <a:xfrm>
            <a:off x="530352" y="319582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32384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314700"/>
            <a:ext cx="10564063" cy="624840"/>
          </a:xfrm>
          <a:prstGeom prst="rect">
            <a:avLst/>
          </a:prstGeom>
          <a:noFill/>
        </p:spPr>
        <p:txBody>
          <a:bodyPr wrap="square" anchor="ctr" lIns="0" rIns="0" tIns="0" bIns="0">
            <a:spAutoFit/>
          </a:bodyPr>
          <a:lstStyle/>
          <a:p>
            <a:r>
              <a:rPr sz="1500" b="1">
                <a:solidFill>
                  <a:srgbClr val="5B3FD6"/>
                </a:solidFill>
                <a:latin typeface="Calibri"/>
              </a:rPr>
              <a:t>The crux lines. </a:t>
            </a:r>
            <a:r>
              <a:rPr sz="1500" b="0" i="0">
                <a:solidFill>
                  <a:srgbClr val="1A1440"/>
                </a:solidFill>
                <a:latin typeface="Calibri"/>
              </a:rPr>
              <a:t>A cohort fixes the entry moment. A blend is a size-weighted average and counts who it counts. Each funnel step divides by the step before, in one named unit. A low step is not a loss until it moves.</a:t>
            </a:r>
          </a:p>
        </p:txBody>
      </p:sp>
      <p:sp>
        <p:nvSpPr>
          <p:cNvPr id="15" name="Rounded Rectangle 14"/>
          <p:cNvSpPr/>
          <p:nvPr/>
        </p:nvSpPr>
        <p:spPr>
          <a:xfrm>
            <a:off x="530352" y="4168139"/>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4296155"/>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4287011"/>
            <a:ext cx="10564063" cy="891540"/>
          </a:xfrm>
          <a:prstGeom prst="rect">
            <a:avLst/>
          </a:prstGeom>
          <a:noFill/>
        </p:spPr>
        <p:txBody>
          <a:bodyPr wrap="square" anchor="ctr" lIns="0" rIns="0" tIns="0" bIns="0">
            <a:spAutoFit/>
          </a:bodyPr>
          <a:lstStyle/>
          <a:p>
            <a:r>
              <a:rPr sz="1500" b="1">
                <a:solidFill>
                  <a:srgbClr val="5B3FD6"/>
                </a:solidFill>
                <a:latin typeface="Calibri"/>
              </a:rPr>
              <a:t>Friday. </a:t>
            </a:r>
            <a:r>
              <a:rPr sz="1500" b="0" i="0">
                <a:solidFill>
                  <a:srgbClr val="1A1440"/>
                </a:solidFill>
                <a:latin typeface="Calibri"/>
              </a:rPr>
              <a:t>Flipkart's Lucknow fulfilment centre must book packer shifts for the festive weeks, and two forecasts sit eighteen points apart: which one goes to the plan, and how wrong could it be? The pre-read ships tonight: the ticket's first lines and five terms.</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What is fixed first?</a:t>
            </a:r>
          </a:p>
        </p:txBody>
      </p:sp>
      <p:sp>
        <p:nvSpPr>
          <p:cNvPr id="20" name="Oval 19"/>
          <p:cNvSpPr/>
          <p:nvPr/>
        </p:nvSpPr>
        <p:spPr>
          <a:xfrm>
            <a:off x="192595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035682" y="6437376"/>
            <a:ext cx="1700498" cy="152146"/>
          </a:xfrm>
          <a:prstGeom prst="rect">
            <a:avLst/>
          </a:prstGeom>
          <a:noFill/>
        </p:spPr>
        <p:txBody>
          <a:bodyPr wrap="square" anchor="t" lIns="0" rIns="0" tIns="0" bIns="0">
            <a:spAutoFit/>
          </a:bodyPr>
          <a:lstStyle/>
          <a:p>
            <a:pPr algn="l"/>
            <a:r>
              <a:rPr sz="700" b="0" i="0">
                <a:solidFill>
                  <a:srgbClr val="6B6690"/>
                </a:solidFill>
                <a:latin typeface="Calibri"/>
              </a:rPr>
              <a:t>What does the interviewer hear?</a:t>
            </a:r>
          </a:p>
        </p:txBody>
      </p:sp>
      <p:sp>
        <p:nvSpPr>
          <p:cNvPr id="22" name="Oval 21"/>
          <p:cNvSpPr/>
          <p:nvPr/>
        </p:nvSpPr>
        <p:spPr>
          <a:xfrm>
            <a:off x="382762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937349"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What does the room carry out?</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S47  ·  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