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trainer minutes: the fifth topic on the college (10), the fix-first call on Zomato Gold,</a:t>
            </a:r>
          </a:p>
          <a:p>
            <a:r>
              <a:t>unguided (25), the interview walk and the AI-company variant (10), the Kahoot and the close (15).</a:t>
            </a:r>
          </a:p>
          <a:p>
            <a:r>
              <a:t>Then the IITGN faculty session W4-3 runs (tentative), or the weaned-users fallback if it slips.</a:t>
            </a:r>
          </a:p>
          <a:p>
            <a:r>
              <a:t>LIVE, 10 minutes. Laptops closed; notebook 08 afterwards or in the lab. Styles: Veritasium (the</a:t>
            </a:r>
          </a:p>
          <a:p>
            <a:r>
              <a:t>bigger count against the step that moved), the case method (the admissions office's claim,</a:t>
            </a:r>
          </a:p>
          <a:p>
            <a:r>
              <a:t>partly right), Feynman (the page in five plain lines).</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college is the morning's, from SECTION 4: the same programme, the same two</a:t>
            </a:r>
          </a:p>
          <a:p>
            <a:r>
              <a:t>cycles, plus the one before them.</a:t>
            </a:r>
          </a:p>
          <a:p>
            <a:r>
              <a:t>Transition: the dean's two problems.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Expect b: 200 students sounds bigger than a fall of 15 points.</a:t>
            </a:r>
          </a:p>
          <a:p>
            <a:r>
              <a:t>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Three things turn a fall into a case: the group it hurts, the date it started,</a:t>
            </a:r>
          </a:p>
          <a:p>
            <a:r>
              <a:t>and a comparator on the same step that held. Ask which of the three the dean would ask for first.</a:t>
            </a:r>
          </a:p>
          <a:p>
            <a:r>
              <a:t>Transition: how big it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 is counted in joiners, since fees come from students who join; the</a:t>
            </a:r>
          </a:p>
          <a:p>
            <a:r>
              <a:t>two routes to 48 must agree before the number goes on the page. The fee is an assumption with its</a:t>
            </a:r>
          </a:p>
          <a:p>
            <a:r>
              <a:t>range, said as one.</a:t>
            </a:r>
          </a:p>
          <a:p>
            <a:r>
              <a:t>Transition: the objection.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Tuesday's four moves: restate, answer from the evidence, concede what is true,</a:t>
            </a:r>
          </a:p>
          <a:p>
            <a:r>
              <a:t>say what would change your mind. A reply that calls the office wrong has lost the room.</a:t>
            </a:r>
          </a:p>
          <a:p>
            <a:r>
              <a:t>Transition: the page.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page is the chapter's rules: learners photograph it. Before blaming anyone,</a:t>
            </a:r>
          </a:p>
          <a:p>
            <a:r>
              <a:t>the morning's board runs in order: the count, the definition, the cohorts, everyone, then the</a:t>
            </a:r>
          </a:p>
          <a:p>
            <a:r>
              <a:t>step. The five-line page is this programme's own form, built on Tuesday's claim, evidence,</a:t>
            </a:r>
          </a:p>
          <a:p>
            <a:r>
              <a:t>caveat and action.</a:t>
            </a:r>
          </a:p>
          <a:p>
            <a:r>
              <a:t>Transition: where the page goes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Light the last node on the concept map. The college's page has the same five lines</a:t>
            </a:r>
          </a:p>
          <a:p>
            <a:r>
              <a:t>the groups now write for the membership lead.</a:t>
            </a:r>
          </a:p>
          <a:p>
            <a:r>
              <a:t>Transition: SECTION 9, the call on Zomato Gold.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unguided, in the nine groups. L5. Styles: the case method (the app team's lead</a:t>
            </a:r>
          </a:p>
          <a:p>
            <a:r>
              <a:t>argues from a role card and is partly right), Feynman (the call in one sentence a membership lead</a:t>
            </a:r>
          </a:p>
          <a:p>
            <a:r>
              <a:t>could repeat).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to set up; the groups write for 13 minutes in all, between this slide and the</a:t>
            </a:r>
          </a:p>
          <a:p>
            <a:r>
              <a:t>call. Circulate with one question per group: which line of your evidence would the app team's</a:t>
            </a:r>
          </a:p>
          <a:p>
            <a:r>
              <a:t>lead attack first? Groups that write "fix retention" with no stage are sent back to SECTION 7's</a:t>
            </a:r>
          </a:p>
          <a:p>
            <a:r>
              <a:t>split.</a:t>
            </a:r>
          </a:p>
          <a:p>
            <a:r>
              <a:t>Transition: the app team's lead.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learner reads the role card aloud (TRAINER role card); one group answers in</a:t>
            </a:r>
          </a:p>
          <a:p>
            <a:r>
              <a:t>the four moves from Tuesday: restate, answer from the evidence, concede what is true, say what</a:t>
            </a:r>
          </a:p>
          <a:p>
            <a:r>
              <a:t>would change your mind. A response that calls the app team wrong has lost; the chart is right</a:t>
            </a:r>
          </a:p>
          <a:p>
            <a:r>
              <a:t>about the step it measures. It is the college's admissions office again, on a real company.</a:t>
            </a:r>
          </a:p>
          <a:p>
            <a:r>
              <a:t>Transition: what each problem costs.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each number with its assumption. The 1,317 assumes no failed cart came back</a:t>
            </a:r>
          </a:p>
          <a:p>
            <a:r>
              <a:t>as a later order. Some did: the share of failures followed by an order within a day held near 36</a:t>
            </a:r>
          </a:p>
          <a:p>
            <a:r>
              <a:t>percent, but failures nearly doubled (1,921 to 3,386 a week), so recoveries rose from 701 to 1,189 a</a:t>
            </a:r>
          </a:p>
          <a:p>
            <a:r>
              <a:t>week. Counted in orders placed, which keeps them, Android members' weekly orders fell 18 percent</a:t>
            </a:r>
          </a:p>
          <a:p>
            <a:r>
              <a:t>while iOS members' rose 7: a loss of 1,266 a week against iOS members, 1,133 against non-members on</a:t>
            </a:r>
          </a:p>
          <a:p>
            <a:r>
              <a:t>Android. Ask which number the membership lead can act on this week.</a:t>
            </a:r>
          </a:p>
          <a:p>
            <a:r>
              <a:t>Transition: the wrong fix.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traps of L5: acquiring your way out of a retention problem, and fixing the</a:t>
            </a:r>
          </a:p>
          <a:p>
            <a:r>
              <a:t>skippable stage. If a group asks what a real company did instead: Swiggy went the other way and</a:t>
            </a:r>
          </a:p>
          <a:p>
            <a:r>
              <a:t>weaned away more than 4 million unprofitable Instamart users (its Q1 FY27 letter, the fallback</a:t>
            </a:r>
          </a:p>
          <a:p>
            <a:r>
              <a:t>block's first part). Then the groups finish their page.</a:t>
            </a:r>
          </a:p>
          <a:p>
            <a:r>
              <a:t>Source:</a:t>
            </a:r>
          </a:p>
          <a:p>
            <a:r>
              <a:t>https://nsearchives.nseindia.com/corporate/SWIGGY_30072026154100_Covering_Letter_Letter_to_Shareholders_-_signed.pdf (checked 12 October 2026)</a:t>
            </a:r>
          </a:p>
          <a:p>
            <a:r>
              <a:t>Transition: the call, said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group reads its call; the room scores it against the five lines. This is the</a:t>
            </a:r>
          </a:p>
          <a:p>
            <a:r>
              <a:t>model, and a group that puts the sale-week members first with a reason that holds has made a</a:t>
            </a:r>
          </a:p>
          <a:p>
            <a:r>
              <a:t>defensible call; the room should hear why.</a:t>
            </a:r>
          </a:p>
          <a:p>
            <a:r>
              <a:t>Transition: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L6. Pairs read the transcript in the extras folder: one plays the interviewer,</a:t>
            </a:r>
          </a:p>
          <a:p>
            <a:r>
              <a:t>one the candidate; they score the hire-grade answer on the scorecard's seven lines and swap.</a:t>
            </a:r>
          </a:p>
          <a:p>
            <a:r>
              <a:t>Explorer scene Th4 carries the AI-company variant.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 step of the walk is one of the morning's topics; name each as it comes.</a:t>
            </a:r>
          </a:p>
          <a:p>
            <a:r>
              <a:t>Transition: the order of the walk.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steps are the morning's hypothesis board. Aced's guide to analyst interviews</a:t>
            </a:r>
          </a:p>
          <a:p>
            <a:r>
              <a:t>says the same about a metric drop: rule out a data issue first, segment before a root cause, and</a:t>
            </a:r>
          </a:p>
          <a:p>
            <a:r>
              <a:t>keep fewer users apart from fewer views each (checked 12 October 2026). The weak answer names a</a:t>
            </a:r>
          </a:p>
          <a:p>
            <a:r>
              <a:t>cause in its first sentence.</a:t>
            </a:r>
          </a:p>
          <a:p>
            <a:r>
              <a:t>Source:</a:t>
            </a:r>
          </a:p>
          <a:p>
            <a:r>
              <a:t>https://www.aced.io/blog/top-data-analyst-interview-questions (checked 12 October 2026)</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aloud, no discussion. Programme-written, every number a toy (explorer scene</a:t>
            </a:r>
          </a:p>
          <a:p>
            <a:r>
              <a:t>Th4 shows the same toy). The transfer: a launch cohort is the sale-week members of an AI product.</a:t>
            </a:r>
          </a:p>
          <a:p>
            <a:r>
              <a:t>Two months after launch, the launch cohort and the next few weekly cohorts have all reached week</a:t>
            </a:r>
          </a:p>
          <a:p>
            <a:r>
              <a:t>four.</a:t>
            </a:r>
          </a:p>
          <a:p>
            <a:r>
              <a:t>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handoff line word for word and stop. If the block has slipped, open the</a:t>
            </a:r>
          </a:p>
          <a:p>
            <a:r>
              <a:t>fallback deck (the weaned-users block). Park any "is the difference real" question for the block.</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map (1), the Kahoot (10) and the close (4).</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questions.</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Ungraded, scored on correctness and speed. The trap item uses a blend other than</a:t>
            </a:r>
          </a:p>
          <a:p>
            <a:r>
              <a:t>38. Read the most-missed item's answer aloud before the close, and name the topic it tests.</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sentence twice. The TA lab after the block runs the same method on Kalpa</a:t>
            </a:r>
          </a:p>
          <a:p>
            <a:r>
              <a:t>Retail's Retail-Plus tier. The cohort axis built today is Friday's time axis.</a:t>
            </a:r>
          </a:p>
          <a:p>
            <a:r>
              <a:t>Transition: the faculty block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fix-first decision and its evidence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call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When two problems compete for one team, choose the step that moved, show it with a comparator, a date and a cost, and concede the true part of the objection, on the same college's two problems.</a:t>
            </a:r>
          </a:p>
        </p:txBody>
      </p:sp>
      <p:sp>
        <p:nvSpPr>
          <p:cNvPr id="11" name="Rounded Rectangle 10"/>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3" name="Rounded Rectangle 12"/>
          <p:cNvSpPr/>
          <p:nvPr/>
        </p:nvSpPr>
        <p:spPr>
          <a:xfrm>
            <a:off x="422878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hire say?</a:t>
            </a:r>
          </a:p>
        </p:txBody>
      </p:sp>
      <p:sp>
        <p:nvSpPr>
          <p:cNvPr id="14" name="Rounded Rectangle 13"/>
          <p:cNvSpPr/>
          <p:nvPr/>
        </p:nvSpPr>
        <p:spPr>
          <a:xfrm>
            <a:off x="594780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fix-first decision: four questions, one dean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college's dean (invented), who has one admissions team for one fix before the next cycle; the wrong fix leaves the lost students lost for another year.</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on the same college the funnel chapter counted.</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of two problems goes first?</a:t>
            </a:r>
          </a:p>
        </p:txBody>
      </p:sp>
      <p:sp>
        <p:nvSpPr>
          <p:cNvPr id="20" name="TextBox 19"/>
          <p:cNvSpPr txBox="1"/>
          <p:nvPr/>
        </p:nvSpPr>
        <p:spPr>
          <a:xfrm>
            <a:off x="694944"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bigger count, or the step that moved</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Whom does the loss hurt, since when?</a:t>
            </a:r>
          </a:p>
        </p:txBody>
      </p:sp>
      <p:sp>
        <p:nvSpPr>
          <p:cNvPr id="25" name="TextBox 24"/>
          <p:cNvSpPr txBox="1"/>
          <p:nvPr/>
        </p:nvSpPr>
        <p:spPr>
          <a:xfrm>
            <a:off x="3523411"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split by group and date</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big is it, and what does it cost?</a:t>
            </a:r>
          </a:p>
        </p:txBody>
      </p:sp>
      <p:sp>
        <p:nvSpPr>
          <p:cNvPr id="30" name="TextBox 29"/>
          <p:cNvSpPr txBox="1"/>
          <p:nvPr/>
        </p:nvSpPr>
        <p:spPr>
          <a:xfrm>
            <a:off x="6351879"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Students and fees, with a range</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answers the objection?</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true part conceded first</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38" name="Oval 3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problem does the dean fix first?</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dean has two problems: 200 of 1,000 applications skip the entrance test every cycle, and offer acceptance fell from 90 to 75 percent this cycle (invented). Which goes first?</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5430105"/>
                <a:gridCol w="2267028"/>
                <a:gridCol w="1716928"/>
                <a:gridCol w="1716928"/>
              </a:tblGrid>
              <a:tr h="335280">
                <a:tc>
                  <a:txBody>
                    <a:bodyPr/>
                    <a:lstStyle/>
                    <a:p>
                      <a:r>
                        <a:rPr sz="1250" b="1" i="0">
                          <a:solidFill>
                            <a:srgbClr val="FFFFFF"/>
                          </a:solidFill>
                          <a:latin typeface="Calibri"/>
                        </a:rPr>
                        <a:t>The college's two problems (invented)</a:t>
                      </a:r>
                    </a:p>
                  </a:txBody>
                  <a:tcPr marL="101600" marR="101600" marT="38100" marB="38100" anchor="ctr">
                    <a:solidFill>
                      <a:srgbClr val="1A0F5C"/>
                    </a:solidFill>
                  </a:tcPr>
                </a:tc>
                <a:tc>
                  <a:txBody>
                    <a:bodyPr/>
                    <a:lstStyle/>
                    <a:p>
                      <a:r>
                        <a:rPr sz="1250" b="1" i="0">
                          <a:solidFill>
                            <a:srgbClr val="FFFFFF"/>
                          </a:solidFill>
                          <a:latin typeface="Calibri"/>
                        </a:rPr>
                        <a:t>Two cycles ago</a:t>
                      </a:r>
                    </a:p>
                  </a:txBody>
                  <a:tcPr marL="101600" marR="101600" marT="38100" marB="38100" anchor="ctr">
                    <a:solidFill>
                      <a:srgbClr val="1A0F5C"/>
                    </a:solidFill>
                  </a:tcPr>
                </a:tc>
                <a:tc>
                  <a:txBody>
                    <a:bodyPr/>
                    <a:lstStyle/>
                    <a:p>
                      <a:r>
                        <a:rPr sz="1250" b="1" i="0">
                          <a:solidFill>
                            <a:srgbClr val="FFFFFF"/>
                          </a:solidFill>
                          <a:latin typeface="Calibri"/>
                        </a:rPr>
                        <a:t>Last cycle</a:t>
                      </a:r>
                    </a:p>
                  </a:txBody>
                  <a:tcPr marL="101600" marR="101600" marT="38100" marB="38100" anchor="ctr">
                    <a:solidFill>
                      <a:srgbClr val="1A0F5C"/>
                    </a:solidFill>
                  </a:tcPr>
                </a:tc>
                <a:tc>
                  <a:txBody>
                    <a:bodyPr/>
                    <a:lstStyle/>
                    <a:p>
                      <a:r>
                        <a:rPr sz="1250" b="1" i="0">
                          <a:solidFill>
                            <a:srgbClr val="FFFFFF"/>
                          </a:solidFill>
                          <a:latin typeface="Calibri"/>
                        </a:rPr>
                        <a:t>This cycle</a:t>
                      </a:r>
                    </a:p>
                  </a:txBody>
                  <a:tcPr marL="101600" marR="101600" marT="38100" marB="38100" anchor="ctr">
                    <a:solidFill>
                      <a:srgbClr val="1A0F5C"/>
                    </a:solidFill>
                  </a:tcPr>
                </a:tc>
              </a:tr>
              <a:tr h="335280">
                <a:tc>
                  <a:txBody>
                    <a:bodyPr/>
                    <a:lstStyle/>
                    <a:p>
                      <a:r>
                        <a:rPr sz="1200" b="0" i="0">
                          <a:solidFill>
                            <a:srgbClr val="1A1440"/>
                          </a:solidFill>
                          <a:latin typeface="Calibri"/>
                        </a:rPr>
                        <a:t>Applications that sat the test</a:t>
                      </a:r>
                    </a:p>
                  </a:txBody>
                  <a:tcPr marL="101600" marR="101600" marT="38100" marB="38100" anchor="ctr">
                    <a:solidFill>
                      <a:srgbClr val="FFFFFF"/>
                    </a:solidFill>
                  </a:tcPr>
                </a:tc>
                <a:tc>
                  <a:txBody>
                    <a:bodyPr/>
                    <a:lstStyle/>
                    <a:p>
                      <a:r>
                        <a:rPr sz="1200" b="0" i="0">
                          <a:solidFill>
                            <a:srgbClr val="1A1440"/>
                          </a:solidFill>
                          <a:latin typeface="Calibri"/>
                        </a:rPr>
                        <a:t>80 percent</a:t>
                      </a:r>
                    </a:p>
                  </a:txBody>
                  <a:tcPr marL="101600" marR="101600" marT="38100" marB="38100" anchor="ctr">
                    <a:solidFill>
                      <a:srgbClr val="FFFFFF"/>
                    </a:solidFill>
                  </a:tcPr>
                </a:tc>
                <a:tc>
                  <a:txBody>
                    <a:bodyPr/>
                    <a:lstStyle/>
                    <a:p>
                      <a:r>
                        <a:rPr sz="1200" b="0" i="0">
                          <a:solidFill>
                            <a:srgbClr val="1A1440"/>
                          </a:solidFill>
                          <a:latin typeface="Calibri"/>
                        </a:rPr>
                        <a:t>80 percent</a:t>
                      </a:r>
                    </a:p>
                  </a:txBody>
                  <a:tcPr marL="101600" marR="101600" marT="38100" marB="38100" anchor="ctr">
                    <a:solidFill>
                      <a:srgbClr val="FFFFFF"/>
                    </a:solidFill>
                  </a:tcPr>
                </a:tc>
                <a:tc>
                  <a:txBody>
                    <a:bodyPr/>
                    <a:lstStyle/>
                    <a:p>
                      <a:r>
                        <a:rPr sz="1200" b="0" i="0">
                          <a:solidFill>
                            <a:srgbClr val="1A1440"/>
                          </a:solidFill>
                          <a:latin typeface="Calibri"/>
                        </a:rPr>
                        <a:t>80 percent</a:t>
                      </a:r>
                    </a:p>
                  </a:txBody>
                  <a:tcPr marL="101600" marR="101600" marT="38100" marB="38100" anchor="ctr">
                    <a:solidFill>
                      <a:srgbClr val="FFFFFF"/>
                    </a:solidFill>
                  </a:tcPr>
                </a:tc>
              </a:tr>
              <a:tr h="335280">
                <a:tc>
                  <a:txBody>
                    <a:bodyPr/>
                    <a:lstStyle/>
                    <a:p>
                      <a:r>
                        <a:rPr sz="1200" b="0" i="0">
                          <a:solidFill>
                            <a:srgbClr val="1A1440"/>
                          </a:solidFill>
                          <a:latin typeface="Calibri"/>
                        </a:rPr>
                        <a:t>Offers accepted</a:t>
                      </a:r>
                    </a:p>
                  </a:txBody>
                  <a:tcPr marL="101600" marR="101600" marT="38100" marB="38100" anchor="ctr">
                    <a:solidFill>
                      <a:srgbClr val="F4F2FA"/>
                    </a:solidFill>
                  </a:tcPr>
                </a:tc>
                <a:tc>
                  <a:txBody>
                    <a:bodyPr/>
                    <a:lstStyle/>
                    <a:p>
                      <a:r>
                        <a:rPr sz="1200" b="0" i="0">
                          <a:solidFill>
                            <a:srgbClr val="1A1440"/>
                          </a:solidFill>
                          <a:latin typeface="Calibri"/>
                        </a:rPr>
                        <a:t>90 percent</a:t>
                      </a:r>
                    </a:p>
                  </a:txBody>
                  <a:tcPr marL="101600" marR="101600" marT="38100" marB="38100" anchor="ctr">
                    <a:solidFill>
                      <a:srgbClr val="F4F2FA"/>
                    </a:solidFill>
                  </a:tcPr>
                </a:tc>
                <a:tc>
                  <a:txBody>
                    <a:bodyPr/>
                    <a:lstStyle/>
                    <a:p>
                      <a:r>
                        <a:rPr sz="1200" b="0" i="0">
                          <a:solidFill>
                            <a:srgbClr val="1A1440"/>
                          </a:solidFill>
                          <a:latin typeface="Calibri"/>
                        </a:rPr>
                        <a:t>90 percent</a:t>
                      </a:r>
                    </a:p>
                  </a:txBody>
                  <a:tcPr marL="101600" marR="101600" marT="38100" marB="38100" anchor="ctr">
                    <a:solidFill>
                      <a:srgbClr val="F4F2FA"/>
                    </a:solidFill>
                  </a:tcPr>
                </a:tc>
                <a:tc>
                  <a:txBody>
                    <a:bodyPr/>
                    <a:lstStyle/>
                    <a:p>
                      <a:r>
                        <a:rPr sz="1200" b="0" i="0">
                          <a:solidFill>
                            <a:srgbClr val="1A1440"/>
                          </a:solidFill>
                          <a:latin typeface="Calibri"/>
                        </a:rPr>
                        <a:t>75 percent</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Both at once, split across the team</a:t>
            </a:r>
          </a:p>
          <a:p>
            <a:pPr>
              <a:spcAft>
                <a:spcPts val="800"/>
              </a:spcAft>
            </a:pPr>
            <a:r>
              <a:rPr sz="1600" b="0" i="0">
                <a:solidFill>
                  <a:srgbClr val="1A1440"/>
                </a:solidFill>
                <a:latin typeface="Calibri"/>
              </a:rPr>
              <a:t>b) The test's no-show, the bigger count at 200</a:t>
            </a:r>
          </a:p>
          <a:p>
            <a:pPr>
              <a:spcAft>
                <a:spcPts val="800"/>
              </a:spcAft>
            </a:pPr>
            <a:r>
              <a:rPr sz="1600" b="0" i="0">
                <a:solidFill>
                  <a:srgbClr val="1A1440"/>
                </a:solidFill>
                <a:latin typeface="Calibri"/>
              </a:rPr>
              <a:t>c) Offer acceptance</a:t>
            </a:r>
          </a:p>
          <a:p>
            <a:pPr>
              <a:spcAft>
                <a:spcPts val="800"/>
              </a:spcAft>
            </a:pPr>
            <a:r>
              <a:rPr sz="1600" b="0" i="0">
                <a:solidFill>
                  <a:srgbClr val="1A1440"/>
                </a:solidFill>
                <a:latin typeface="Calibri"/>
              </a:rPr>
              <a:t>d) Neither, until the next cycle confirms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acceptance, for other-state students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problem moved, for whom, and since when?</a:t>
            </a:r>
          </a:p>
        </p:txBody>
      </p:sp>
      <p:pic>
        <p:nvPicPr>
          <p:cNvPr id="9" name="mermaid diagram" descr="C2_W04_D04_college_acceptance_STUDENT.png"/>
          <p:cNvPicPr>
            <a:picLocks noChangeAspect="1"/>
          </p:cNvPicPr>
          <p:nvPr/>
        </p:nvPicPr>
        <p:blipFill>
          <a:blip r:embed="rId4"/>
          <a:stretch>
            <a:fillRect/>
          </a:stretch>
        </p:blipFill>
        <p:spPr>
          <a:xfrm>
            <a:off x="2687132" y="1664208"/>
            <a:ext cx="6817429" cy="2939287"/>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Offers accepted by home state, three cycles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The test's no-show has read 20 percent for three cycles, so it is how the test runs, and nothing changed there. Acceptance fell for one group: students from other states went from 87 to 50 percent, from the cycle the fee-payment deadline was cut from 21 to 7 days after the offer, while in-state students, the comparator on the same step, held at 92 to 90.</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4" name="Oval 1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size and the cost, with the assumption ranged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students did the fall cost, and what are they worth?</a:t>
            </a:r>
          </a:p>
        </p:txBody>
      </p:sp>
      <p:graphicFrame>
        <p:nvGraphicFramePr>
          <p:cNvPr id="9" name="Table 8"/>
          <p:cNvGraphicFramePr>
            <a:graphicFrameLocks noGrp="1"/>
          </p:cNvGraphicFramePr>
          <p:nvPr/>
        </p:nvGraphicFramePr>
        <p:xfrm>
          <a:off x="530352" y="1905508"/>
          <a:ext cx="11130990" cy="1676400"/>
        </p:xfrm>
        <a:graphic>
          <a:graphicData uri="http://schemas.openxmlformats.org/drawingml/2006/table">
            <a:tbl>
              <a:tblPr firstRow="0" bandRow="0">
                <a:tableStyleId>{2D5ABB26-0587-4C30-8999-92F81FD0307C}</a:tableStyleId>
              </a:tblPr>
              <a:tblGrid>
                <a:gridCol w="6538934"/>
                <a:gridCol w="1357987"/>
                <a:gridCol w="1876082"/>
                <a:gridCol w="1357987"/>
              </a:tblGrid>
              <a:tr h="335280">
                <a:tc>
                  <a:txBody>
                    <a:bodyPr/>
                    <a:lstStyle/>
                    <a:p>
                      <a:r>
                        <a:rPr sz="1250" b="1" i="0">
                          <a:solidFill>
                            <a:srgbClr val="FFFFFF"/>
                          </a:solidFill>
                          <a:latin typeface="Calibri"/>
                        </a:rPr>
                        <a:t>This cycle against last cycle's rates (invented)</a:t>
                      </a:r>
                    </a:p>
                  </a:txBody>
                  <a:tcPr marL="101600" marR="101600" marT="38100" marB="38100" anchor="ctr">
                    <a:solidFill>
                      <a:srgbClr val="1A0F5C"/>
                    </a:solidFill>
                  </a:tcPr>
                </a:tc>
                <a:tc>
                  <a:txBody>
                    <a:bodyPr/>
                    <a:lstStyle/>
                    <a:p>
                      <a:r>
                        <a:rPr sz="1250" b="1" i="0">
                          <a:solidFill>
                            <a:srgbClr val="FFFFFF"/>
                          </a:solidFill>
                          <a:latin typeface="Calibri"/>
                        </a:rPr>
                        <a:t>In-state</a:t>
                      </a:r>
                    </a:p>
                  </a:txBody>
                  <a:tcPr marL="101600" marR="101600" marT="38100" marB="38100" anchor="ctr">
                    <a:solidFill>
                      <a:srgbClr val="1A0F5C"/>
                    </a:solidFill>
                  </a:tcPr>
                </a:tc>
                <a:tc>
                  <a:txBody>
                    <a:bodyPr/>
                    <a:lstStyle/>
                    <a:p>
                      <a:r>
                        <a:rPr sz="1250" b="1" i="0">
                          <a:solidFill>
                            <a:srgbClr val="FFFFFF"/>
                          </a:solidFill>
                          <a:latin typeface="Calibri"/>
                        </a:rPr>
                        <a:t>Other states</a:t>
                      </a:r>
                    </a:p>
                  </a:txBody>
                  <a:tcPr marL="101600" marR="101600" marT="38100" marB="38100" anchor="ctr">
                    <a:solidFill>
                      <a:srgbClr val="1A0F5C"/>
                    </a:solidFill>
                  </a:tcPr>
                </a:tc>
                <a:tc>
                  <a:txBody>
                    <a:bodyPr/>
                    <a:lstStyle/>
                    <a:p>
                      <a:r>
                        <a:rPr sz="1250" b="1" i="0">
                          <a:solidFill>
                            <a:srgbClr val="FFFFFF"/>
                          </a:solidFill>
                          <a:latin typeface="Calibri"/>
                        </a:rPr>
                        <a:t>Together</a:t>
                      </a:r>
                    </a:p>
                  </a:txBody>
                  <a:tcPr marL="101600" marR="101600" marT="38100" marB="38100" anchor="ctr">
                    <a:solidFill>
                      <a:srgbClr val="1A0F5C"/>
                    </a:solidFill>
                  </a:tcPr>
                </a:tc>
              </a:tr>
              <a:tr h="335280">
                <a:tc>
                  <a:txBody>
                    <a:bodyPr/>
                    <a:lstStyle/>
                    <a:p>
                      <a:r>
                        <a:rPr sz="1200" b="0" i="0">
                          <a:solidFill>
                            <a:srgbClr val="1A1440"/>
                          </a:solidFill>
                          <a:latin typeface="Calibri"/>
                        </a:rPr>
                        <a:t>Shortlisted, each offered a place</a:t>
                      </a:r>
                    </a:p>
                  </a:txBody>
                  <a:tcPr marL="101600" marR="101600" marT="38100" marB="38100" anchor="ctr">
                    <a:solidFill>
                      <a:srgbClr val="FFFFFF"/>
                    </a:solidFill>
                  </a:tcPr>
                </a:tc>
                <a:tc>
                  <a:txBody>
                    <a:bodyPr/>
                    <a:lstStyle/>
                    <a:p>
                      <a:r>
                        <a:rPr sz="1200" b="0" i="0">
                          <a:solidFill>
                            <a:srgbClr val="1A1440"/>
                          </a:solidFill>
                          <a:latin typeface="Calibri"/>
                        </a:rPr>
                        <a:t>250</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c>
                  <a:txBody>
                    <a:bodyPr/>
                    <a:lstStyle/>
                    <a:p>
                      <a:r>
                        <a:rPr sz="1200" b="0" i="0">
                          <a:solidFill>
                            <a:srgbClr val="1A1440"/>
                          </a:solidFill>
                          <a:latin typeface="Calibri"/>
                        </a:rPr>
                        <a:t>400</a:t>
                      </a:r>
                    </a:p>
                  </a:txBody>
                  <a:tcPr marL="101600" marR="101600" marT="38100" marB="38100" anchor="ctr">
                    <a:solidFill>
                      <a:srgbClr val="FFFFFF"/>
                    </a:solidFill>
                  </a:tcPr>
                </a:tc>
              </a:tr>
              <a:tr h="335280">
                <a:tc>
                  <a:txBody>
                    <a:bodyPr/>
                    <a:lstStyle/>
                    <a:p>
                      <a:r>
                        <a:rPr sz="1200" b="0" i="0">
                          <a:solidFill>
                            <a:srgbClr val="1A1440"/>
                          </a:solidFill>
                          <a:latin typeface="Calibri"/>
                        </a:rPr>
                        <a:t>Expected to accept at last cycle's rates</a:t>
                      </a:r>
                    </a:p>
                  </a:txBody>
                  <a:tcPr marL="101600" marR="101600" marT="38100" marB="38100" anchor="ctr">
                    <a:solidFill>
                      <a:srgbClr val="F4F2FA"/>
                    </a:solidFill>
                  </a:tcPr>
                </a:tc>
                <a:tc>
                  <a:txBody>
                    <a:bodyPr/>
                    <a:lstStyle/>
                    <a:p>
                      <a:r>
                        <a:rPr sz="1200" b="0" i="0">
                          <a:solidFill>
                            <a:srgbClr val="1A1440"/>
                          </a:solidFill>
                          <a:latin typeface="Calibri"/>
                        </a:rPr>
                        <a:t>230</a:t>
                      </a:r>
                    </a:p>
                  </a:txBody>
                  <a:tcPr marL="101600" marR="101600" marT="38100" marB="38100" anchor="ctr">
                    <a:solidFill>
                      <a:srgbClr val="F4F2FA"/>
                    </a:solidFill>
                  </a:tcPr>
                </a:tc>
                <a:tc>
                  <a:txBody>
                    <a:bodyPr/>
                    <a:lstStyle/>
                    <a:p>
                      <a:r>
                        <a:rPr sz="1200" b="0" i="0">
                          <a:solidFill>
                            <a:srgbClr val="1A1440"/>
                          </a:solidFill>
                          <a:latin typeface="Calibri"/>
                        </a:rPr>
                        <a:t>130</a:t>
                      </a:r>
                    </a:p>
                  </a:txBody>
                  <a:tcPr marL="101600" marR="101600" marT="38100" marB="38100" anchor="ctr">
                    <a:solidFill>
                      <a:srgbClr val="F4F2FA"/>
                    </a:solidFill>
                  </a:tcPr>
                </a:tc>
                <a:tc>
                  <a:txBody>
                    <a:bodyPr/>
                    <a:lstStyle/>
                    <a:p>
                      <a:r>
                        <a:rPr sz="1200" b="0" i="0">
                          <a:solidFill>
                            <a:srgbClr val="1A1440"/>
                          </a:solidFill>
                          <a:latin typeface="Calibri"/>
                        </a:rPr>
                        <a:t>360</a:t>
                      </a:r>
                    </a:p>
                  </a:txBody>
                  <a:tcPr marL="101600" marR="101600" marT="38100" marB="38100" anchor="ctr">
                    <a:solidFill>
                      <a:srgbClr val="F4F2FA"/>
                    </a:solidFill>
                  </a:tcPr>
                </a:tc>
              </a:tr>
              <a:tr h="335280">
                <a:tc>
                  <a:txBody>
                    <a:bodyPr/>
                    <a:lstStyle/>
                    <a:p>
                      <a:r>
                        <a:rPr sz="1200" b="0" i="0">
                          <a:solidFill>
                            <a:srgbClr val="1A1440"/>
                          </a:solidFill>
                          <a:latin typeface="Calibri"/>
                        </a:rPr>
                        <a:t>Accepted</a:t>
                      </a:r>
                    </a:p>
                  </a:txBody>
                  <a:tcPr marL="101600" marR="101600" marT="38100" marB="38100" anchor="ctr">
                    <a:solidFill>
                      <a:srgbClr val="FFFFFF"/>
                    </a:solidFill>
                  </a:tcPr>
                </a:tc>
                <a:tc>
                  <a:txBody>
                    <a:bodyPr/>
                    <a:lstStyle/>
                    <a:p>
                      <a:r>
                        <a:rPr sz="1200" b="0" i="0">
                          <a:solidFill>
                            <a:srgbClr val="1A1440"/>
                          </a:solidFill>
                          <a:latin typeface="Calibri"/>
                        </a:rPr>
                        <a:t>225</a:t>
                      </a:r>
                    </a:p>
                  </a:txBody>
                  <a:tcPr marL="101600" marR="101600" marT="38100" marB="38100" anchor="ctr">
                    <a:solidFill>
                      <a:srgbClr val="FFFFFF"/>
                    </a:solidFill>
                  </a:tcPr>
                </a:tc>
                <a:tc>
                  <a:txBody>
                    <a:bodyPr/>
                    <a:lstStyle/>
                    <a:p>
                      <a:r>
                        <a:rPr sz="1200" b="0" i="0">
                          <a:solidFill>
                            <a:srgbClr val="1A1440"/>
                          </a:solidFill>
                          <a:latin typeface="Calibri"/>
                        </a:rPr>
                        <a:t>75</a:t>
                      </a:r>
                    </a:p>
                  </a:txBody>
                  <a:tcPr marL="101600" marR="101600" marT="38100" marB="38100" anchor="ctr">
                    <a:solidFill>
                      <a:srgbClr val="FFFFFF"/>
                    </a:solidFill>
                  </a:tcPr>
                </a:tc>
                <a:tc>
                  <a:txBody>
                    <a:bodyPr/>
                    <a:lstStyle/>
                    <a:p>
                      <a:r>
                        <a:rPr sz="1200" b="0" i="0">
                          <a:solidFill>
                            <a:srgbClr val="1A1440"/>
                          </a:solidFill>
                          <a:latin typeface="Calibri"/>
                        </a:rPr>
                        <a:t>300</a:t>
                      </a:r>
                    </a:p>
                  </a:txBody>
                  <a:tcPr marL="101600" marR="101600" marT="38100" marB="38100" anchor="ctr">
                    <a:solidFill>
                      <a:srgbClr val="FFFFFF"/>
                    </a:solidFill>
                  </a:tcPr>
                </a:tc>
              </a:tr>
              <a:tr h="335280">
                <a:tc>
                  <a:txBody>
                    <a:bodyPr/>
                    <a:lstStyle/>
                    <a:p>
                      <a:r>
                        <a:rPr sz="1200" b="0" i="0">
                          <a:solidFill>
                            <a:srgbClr val="1A1440"/>
                          </a:solidFill>
                          <a:latin typeface="Calibri"/>
                        </a:rPr>
                        <a:t>Fewer acceptances</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55</a:t>
                      </a:r>
                    </a:p>
                  </a:txBody>
                  <a:tcPr marL="101600" marR="101600" marT="38100" marB="38100" anchor="ctr">
                    <a:solidFill>
                      <a:srgbClr val="F4F2FA"/>
                    </a:solidFill>
                  </a:tcPr>
                </a:tc>
                <a:tc>
                  <a:txBody>
                    <a:bodyPr/>
                    <a:lstStyle/>
                    <a:p>
                      <a:r>
                        <a:rPr sz="1200" b="0" i="0">
                          <a:solidFill>
                            <a:srgbClr val="1A1440"/>
                          </a:solidFill>
                          <a:latin typeface="Calibri"/>
                        </a:rPr>
                        <a:t>60</a:t>
                      </a:r>
                    </a:p>
                  </a:txBody>
                  <a:tcPr marL="101600" marR="101600" marT="38100" marB="38100" anchor="ctr">
                    <a:solidFill>
                      <a:srgbClr val="F4F2FA"/>
                    </a:solidFill>
                  </a:tcPr>
                </a:tc>
              </a:tr>
            </a:tbl>
          </a:graphicData>
        </a:graphic>
      </p:graphicFrame>
      <p:sp>
        <p:nvSpPr>
          <p:cNvPr id="10" name="TextBox 9"/>
          <p:cNvSpPr txBox="1"/>
          <p:nvPr/>
        </p:nvSpPr>
        <p:spPr>
          <a:xfrm>
            <a:off x="530352" y="383794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Since 80 percent of those who accept join, 60 fewer acceptances are 48 fewer students, and the joiners counted directly say the same: 288 last cycle, 240 this cycle. At a first-year fee of Rs 1 to 1.5 lakh, an assumption, that is Rs 48 to 72 lakh of fee income a year, Rs 57.6 lakh at Rs 1.2 lakh.</a:t>
            </a:r>
          </a:p>
        </p:txBody>
      </p:sp>
      <p:sp>
        <p:nvSpPr>
          <p:cNvPr id="11" name="Rounded Rectangle 10"/>
          <p:cNvSpPr/>
          <p:nvPr/>
        </p:nvSpPr>
        <p:spPr>
          <a:xfrm>
            <a:off x="530352" y="5014467"/>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5142483"/>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5142483"/>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5142483"/>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534365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lost = (shortlisted * last_cycle_rate - accepted).round()   # 5 in-state, 55 other states</a:t>
            </a:r>
          </a:p>
          <a:p>
            <a:pPr>
              <a:spcAft>
                <a:spcPts val="200"/>
              </a:spcAft>
            </a:pPr>
            <a:r>
              <a:rPr sz="1400" b="0" i="0">
                <a:solidFill>
                  <a:srgbClr val="E4E1F1"/>
                </a:solidFill>
                <a:latin typeface="Consolas"/>
              </a:rPr>
              <a:t>joiners_lost = lost.sum() * 0.8                              # 48; 288 - 240 says the same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objection: "our offers go out in two days"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true in the admissions office's answer, and what answers the rest?</a:t>
            </a:r>
          </a:p>
        </p:txBody>
      </p:sp>
      <p:pic>
        <p:nvPicPr>
          <p:cNvPr id="9" name="mermaid diagram" descr="c816b16ad8fddf0c.png"/>
          <p:cNvPicPr>
            <a:picLocks noChangeAspect="1"/>
          </p:cNvPicPr>
          <p:nvPr/>
        </p:nvPicPr>
        <p:blipFill>
          <a:blip r:embed="rId5"/>
          <a:stretch>
            <a:fillRect/>
          </a:stretch>
        </p:blipFill>
        <p:spPr>
          <a:xfrm>
            <a:off x="530352" y="1956816"/>
            <a:ext cx="11130991" cy="1046974"/>
          </a:xfrm>
          <a:prstGeom prst="rect">
            <a:avLst/>
          </a:prstGeom>
        </p:spPr>
      </p:pic>
      <p:sp>
        <p:nvSpPr>
          <p:cNvPr id="10" name="Rounded Rectangle 9"/>
          <p:cNvSpPr/>
          <p:nvPr/>
        </p:nvSpPr>
        <p:spPr>
          <a:xfrm>
            <a:off x="530352" y="3150094"/>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7811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68966"/>
            <a:ext cx="10564063"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"Our offers go out within two days of the shortlist, every one, so acceptance is not our problem." </a:t>
            </a:r>
            <a:r>
              <a:rPr sz="1500" b="1" i="0">
                <a:solidFill>
                  <a:srgbClr val="1A1440"/>
                </a:solidFill>
                <a:latin typeface="Calibri"/>
              </a:rPr>
              <a:t>What is true.</a:t>
            </a:r>
            <a:r>
              <a:rPr sz="1500" b="0" i="0">
                <a:solidFill>
                  <a:srgbClr val="1A1440"/>
                </a:solidFill>
                <a:latin typeface="Calibri"/>
              </a:rPr>
              <a:t> The offers held: every shortlisted student got an offer on time in both cycles. </a:t>
            </a:r>
            <a:r>
              <a:rPr sz="1500" b="1" i="0">
                <a:solidFill>
                  <a:srgbClr val="1A1440"/>
                </a:solidFill>
                <a:latin typeface="Calibri"/>
              </a:rPr>
              <a:t>What answers it.</a:t>
            </a:r>
            <a:r>
              <a:rPr sz="1500" b="0" i="0">
                <a:solidFill>
                  <a:srgbClr val="1A1440"/>
                </a:solidFill>
                <a:latin typeface="Calibri"/>
              </a:rPr>
              <a:t> The fall sits after the offer, in the days allowed to pay, for one group, from the cycle the deadline shrank. Concede the true part, then bring the split.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fix-first page: five lines, each with a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call carry to survive the meeting, filled in for the dean?</a:t>
            </a:r>
          </a:p>
        </p:txBody>
      </p:sp>
      <p:sp>
        <p:nvSpPr>
          <p:cNvPr id="9" name="TextBox 8"/>
          <p:cNvSpPr txBox="1"/>
          <p:nvPr/>
        </p:nvSpPr>
        <p:spPr>
          <a:xfrm>
            <a:off x="530352" y="192024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956816"/>
            <a:ext cx="10564063" cy="334264"/>
          </a:xfrm>
          <a:prstGeom prst="rect">
            <a:avLst/>
          </a:prstGeom>
          <a:noFill/>
        </p:spPr>
        <p:txBody>
          <a:bodyPr wrap="square" anchor="t" lIns="0" rIns="0" tIns="0" bIns="0">
            <a:spAutoFit/>
          </a:bodyPr>
          <a:lstStyle/>
          <a:p>
            <a:r>
              <a:rPr sz="1300" b="1" i="0">
                <a:solidFill>
                  <a:srgbClr val="1A1440"/>
                </a:solidFill>
                <a:latin typeface="Calibri"/>
              </a:rPr>
              <a:t>The call.</a:t>
            </a:r>
            <a:r>
              <a:rPr sz="1300" b="0" i="0">
                <a:solidFill>
                  <a:srgbClr val="1A1440"/>
                </a:solidFill>
                <a:latin typeface="Calibri"/>
              </a:rPr>
              <a:t> Give other-state offers a longer fee deadline first; the test's no-show waits, since it never moved.</a:t>
            </a:r>
          </a:p>
        </p:txBody>
      </p:sp>
      <p:sp>
        <p:nvSpPr>
          <p:cNvPr id="11" name="TextBox 10"/>
          <p:cNvSpPr txBox="1"/>
          <p:nvPr/>
        </p:nvSpPr>
        <p:spPr>
          <a:xfrm>
            <a:off x="530352" y="232765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364232"/>
            <a:ext cx="10564063" cy="558800"/>
          </a:xfrm>
          <a:prstGeom prst="rect">
            <a:avLst/>
          </a:prstGeom>
          <a:noFill/>
        </p:spPr>
        <p:txBody>
          <a:bodyPr wrap="square" anchor="t" lIns="0" rIns="0" tIns="0" bIns="0">
            <a:spAutoFit/>
          </a:bodyPr>
          <a:lstStyle/>
          <a:p>
            <a:r>
              <a:rPr sz="1300" b="1" i="0">
                <a:solidFill>
                  <a:srgbClr val="1A1440"/>
                </a:solidFill>
                <a:latin typeface="Calibri"/>
              </a:rPr>
              <a:t>The evidence.</a:t>
            </a:r>
            <a:r>
              <a:rPr sz="1300" b="0" i="0">
                <a:solidFill>
                  <a:srgbClr val="1A1440"/>
                </a:solidFill>
                <a:latin typeface="Calibri"/>
              </a:rPr>
              <a:t> Offer acceptance fell from 90 to 75 percent; for other-state students from 87 to 50, while in-state held at 92 to 90 on the same step, from the cycle the deadline went from 21 to 7 days.</a:t>
            </a:r>
          </a:p>
        </p:txBody>
      </p:sp>
      <p:sp>
        <p:nvSpPr>
          <p:cNvPr id="13" name="TextBox 12"/>
          <p:cNvSpPr txBox="1"/>
          <p:nvPr/>
        </p:nvSpPr>
        <p:spPr>
          <a:xfrm>
            <a:off x="530352" y="2959608"/>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996184"/>
            <a:ext cx="10564063" cy="334264"/>
          </a:xfrm>
          <a:prstGeom prst="rect">
            <a:avLst/>
          </a:prstGeom>
          <a:noFill/>
        </p:spPr>
        <p:txBody>
          <a:bodyPr wrap="square" anchor="t" lIns="0" rIns="0" tIns="0" bIns="0">
            <a:spAutoFit/>
          </a:bodyPr>
          <a:lstStyle/>
          <a:p>
            <a:r>
              <a:rPr sz="1300" b="1" i="0">
                <a:solidFill>
                  <a:srgbClr val="1A1440"/>
                </a:solidFill>
                <a:latin typeface="Calibri"/>
              </a:rPr>
              <a:t>The cost.</a:t>
            </a:r>
            <a:r>
              <a:rPr sz="1300" b="0" i="0">
                <a:solidFill>
                  <a:srgbClr val="1A1440"/>
                </a:solidFill>
                <a:latin typeface="Calibri"/>
              </a:rPr>
              <a:t> 60 fewer acceptances, 48 fewer students, Rs 48 to 72 lakh of first-year fees at an assumed Rs 1 to 1.5 lakh.</a:t>
            </a:r>
          </a:p>
        </p:txBody>
      </p:sp>
      <p:sp>
        <p:nvSpPr>
          <p:cNvPr id="15" name="TextBox 14"/>
          <p:cNvSpPr txBox="1"/>
          <p:nvPr/>
        </p:nvSpPr>
        <p:spPr>
          <a:xfrm>
            <a:off x="530352" y="3367024"/>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3403600"/>
            <a:ext cx="10564063" cy="558800"/>
          </a:xfrm>
          <a:prstGeom prst="rect">
            <a:avLst/>
          </a:prstGeom>
          <a:noFill/>
        </p:spPr>
        <p:txBody>
          <a:bodyPr wrap="square" anchor="t" lIns="0" rIns="0" tIns="0" bIns="0">
            <a:spAutoFit/>
          </a:bodyPr>
          <a:lstStyle/>
          <a:p>
            <a:r>
              <a:rPr sz="1300" b="1" i="0">
                <a:solidFill>
                  <a:srgbClr val="1A1440"/>
                </a:solidFill>
                <a:latin typeface="Calibri"/>
              </a:rPr>
              <a:t>The objection.</a:t>
            </a:r>
            <a:r>
              <a:rPr sz="1300" b="0" i="0">
                <a:solidFill>
                  <a:srgbClr val="1A1440"/>
                </a:solidFill>
                <a:latin typeface="Calibri"/>
              </a:rPr>
              <a:t> Offers did go out in two days, which is true; the fall came after the offer, for one group, after one change.</a:t>
            </a:r>
          </a:p>
        </p:txBody>
      </p:sp>
      <p:sp>
        <p:nvSpPr>
          <p:cNvPr id="17" name="TextBox 16"/>
          <p:cNvSpPr txBox="1"/>
          <p:nvPr/>
        </p:nvSpPr>
        <p:spPr>
          <a:xfrm>
            <a:off x="530352" y="3998976"/>
            <a:ext cx="502920" cy="300735"/>
          </a:xfrm>
          <a:prstGeom prst="rect">
            <a:avLst/>
          </a:prstGeom>
          <a:noFill/>
        </p:spPr>
        <p:txBody>
          <a:bodyPr wrap="square" anchor="t" lIns="0" rIns="0" tIns="0" bIns="0">
            <a:spAutoFit/>
          </a:bodyPr>
          <a:lstStyle/>
          <a:p>
            <a:pPr algn="l"/>
            <a:r>
              <a:rPr sz="1600" b="0" i="0">
                <a:solidFill>
                  <a:srgbClr val="5B3FD6"/>
                </a:solidFill>
                <a:latin typeface="Georgia"/>
              </a:rPr>
              <a:t>05</a:t>
            </a:r>
          </a:p>
        </p:txBody>
      </p:sp>
      <p:sp>
        <p:nvSpPr>
          <p:cNvPr id="18" name="TextBox 17"/>
          <p:cNvSpPr txBox="1"/>
          <p:nvPr/>
        </p:nvSpPr>
        <p:spPr>
          <a:xfrm>
            <a:off x="1097280" y="4035552"/>
            <a:ext cx="10564063" cy="558800"/>
          </a:xfrm>
          <a:prstGeom prst="rect">
            <a:avLst/>
          </a:prstGeom>
          <a:noFill/>
        </p:spPr>
        <p:txBody>
          <a:bodyPr wrap="square" anchor="t" lIns="0" rIns="0" tIns="0" bIns="0">
            <a:spAutoFit/>
          </a:bodyPr>
          <a:lstStyle/>
          <a:p>
            <a:r>
              <a:rPr sz="1300" b="1" i="0">
                <a:solidFill>
                  <a:srgbClr val="1A1440"/>
                </a:solidFill>
                <a:latin typeface="Calibri"/>
              </a:rPr>
              <a:t>What would change it.</a:t>
            </a:r>
            <a:r>
              <a:rPr sz="1300" b="0" i="0">
                <a:solidFill>
                  <a:srgbClr val="1A1440"/>
                </a:solidFill>
                <a:latin typeface="Calibri"/>
              </a:rPr>
              <a:t> Other-state acceptance falling before the deadline changed; it read 86 and 87 in the two cycles before.</a:t>
            </a:r>
          </a:p>
        </p:txBody>
      </p:sp>
      <p:sp>
        <p:nvSpPr>
          <p:cNvPr id="19" name="Rounded Rectangle 18"/>
          <p:cNvSpPr/>
          <p:nvPr/>
        </p:nvSpPr>
        <p:spPr>
          <a:xfrm>
            <a:off x="530352" y="4777232"/>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8952" y="5074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ic_caee7398c80d.png"/>
          <p:cNvPicPr>
            <a:picLocks noChangeAspect="1"/>
          </p:cNvPicPr>
          <p:nvPr/>
        </p:nvPicPr>
        <p:blipFill>
          <a:blip r:embed="rId4"/>
          <a:stretch>
            <a:fillRect/>
          </a:stretch>
        </p:blipFill>
        <p:spPr>
          <a:xfrm>
            <a:off x="868680" y="5184648"/>
            <a:ext cx="237744" cy="237744"/>
          </a:xfrm>
          <a:prstGeom prst="rect">
            <a:avLst/>
          </a:prstGeom>
        </p:spPr>
      </p:pic>
      <p:sp>
        <p:nvSpPr>
          <p:cNvPr id="22" name="TextBox 21"/>
          <p:cNvSpPr txBox="1"/>
          <p:nvPr/>
        </p:nvSpPr>
        <p:spPr>
          <a:xfrm>
            <a:off x="1399031" y="4923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3" name="TextBox 22"/>
          <p:cNvSpPr txBox="1"/>
          <p:nvPr/>
        </p:nvSpPr>
        <p:spPr>
          <a:xfrm>
            <a:off x="1399031" y="5142992"/>
            <a:ext cx="9987991" cy="613664"/>
          </a:xfrm>
          <a:prstGeom prst="rect">
            <a:avLst/>
          </a:prstGeom>
          <a:noFill/>
        </p:spPr>
        <p:txBody>
          <a:bodyPr wrap="square" anchor="t" lIns="0" rIns="0" tIns="0" bIns="0">
            <a:spAutoFit/>
          </a:bodyPr>
          <a:lstStyle/>
          <a:p>
            <a:r>
              <a:rPr sz="1300" b="0" i="0">
                <a:solidFill>
                  <a:srgbClr val="1A1440"/>
                </a:solidFill>
                <a:latin typeface="Calibri"/>
              </a:rPr>
              <a:t>[D] "What evidence do you bring when the owning team says its step is fine?" The step against its own past, the group and the date, a comparator that held, the size with its range, and the true part of their claim conceded.</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26" name="Oval 2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30" name="Oval 2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goes to Gold next, then to Kalpa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85d6084029445328.png"/>
          <p:cNvPicPr>
            <a:picLocks noChangeAspect="1"/>
          </p:cNvPicPr>
          <p:nvPr/>
        </p:nvPicPr>
        <p:blipFill>
          <a:blip r:embed="rId5"/>
          <a:stretch>
            <a:fillRect/>
          </a:stretch>
        </p:blipFill>
        <p:spPr>
          <a:xfrm>
            <a:off x="2349825" y="1664208"/>
            <a:ext cx="7492044"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All five topics are now on the map; the rest of the day applies them.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fix-first decision on Zomato Gold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fixed first?</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morning found two problems, a dashboard that reads 38 because of who it counts and one broken step on Android. With the page SECTION 8 built, which goes first, on what evidence, at what cost, and what does the app team's lead say?</a:t>
            </a:r>
          </a:p>
        </p:txBody>
      </p:sp>
      <p:sp>
        <p:nvSpPr>
          <p:cNvPr id="11" name="Rounded Rectangle 10"/>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fixed first?</a:t>
            </a:r>
          </a:p>
        </p:txBody>
      </p:sp>
      <p:sp>
        <p:nvSpPr>
          <p:cNvPr id="13" name="Rounded Rectangle 12"/>
          <p:cNvSpPr/>
          <p:nvPr/>
        </p:nvSpPr>
        <p:spPr>
          <a:xfrm>
            <a:off x="422878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hire say?</a:t>
            </a:r>
          </a:p>
        </p:txBody>
      </p:sp>
      <p:sp>
        <p:nvSpPr>
          <p:cNvPr id="14" name="Rounded Rectangle 13"/>
          <p:cNvSpPr/>
          <p:nvPr/>
        </p:nvSpPr>
        <p:spPr>
          <a:xfrm>
            <a:off x="594780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one call,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does a fix-first call carry, in what order?</a:t>
            </a:r>
          </a:p>
        </p:txBody>
      </p:sp>
      <p:sp>
        <p:nvSpPr>
          <p:cNvPr id="9" name="Rounded Rectangle 8"/>
          <p:cNvSpPr/>
          <p:nvPr/>
        </p:nvSpPr>
        <p:spPr>
          <a:xfrm>
            <a:off x="530352" y="168249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takes one call to Friday's review. Applies: The fix-first decision and its evidence (SECTION 8).</a:t>
            </a:r>
          </a:p>
        </p:txBody>
      </p:sp>
      <p:sp>
        <p:nvSpPr>
          <p:cNvPr id="12" name="Rectangle 11"/>
          <p:cNvSpPr/>
          <p:nvPr/>
        </p:nvSpPr>
        <p:spPr>
          <a:xfrm>
            <a:off x="1570299" y="322173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13029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54177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68808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call</a:t>
            </a:r>
          </a:p>
        </p:txBody>
      </p:sp>
      <p:sp>
        <p:nvSpPr>
          <p:cNvPr id="17" name="TextBox 16"/>
          <p:cNvSpPr txBox="1"/>
          <p:nvPr/>
        </p:nvSpPr>
        <p:spPr>
          <a:xfrm>
            <a:off x="694944" y="397586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gets fixed first, in one sentence</a:t>
            </a:r>
          </a:p>
        </p:txBody>
      </p:sp>
      <p:sp>
        <p:nvSpPr>
          <p:cNvPr id="18" name="TextBox 17"/>
          <p:cNvSpPr txBox="1"/>
          <p:nvPr/>
        </p:nvSpPr>
        <p:spPr>
          <a:xfrm>
            <a:off x="2793126"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13029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54177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68808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evidence</a:t>
            </a:r>
          </a:p>
        </p:txBody>
      </p:sp>
      <p:sp>
        <p:nvSpPr>
          <p:cNvPr id="22" name="TextBox 21"/>
          <p:cNvSpPr txBox="1"/>
          <p:nvPr/>
        </p:nvSpPr>
        <p:spPr>
          <a:xfrm>
            <a:off x="2957718" y="3975862"/>
            <a:ext cx="1750710" cy="531876"/>
          </a:xfrm>
          <a:prstGeom prst="rect">
            <a:avLst/>
          </a:prstGeom>
          <a:noFill/>
        </p:spPr>
        <p:txBody>
          <a:bodyPr wrap="square" anchor="t" lIns="0" rIns="0" tIns="0" bIns="0">
            <a:spAutoFit/>
          </a:bodyPr>
          <a:lstStyle/>
          <a:p>
            <a:pPr algn="l"/>
            <a:r>
              <a:rPr sz="1000" b="0" i="0">
                <a:solidFill>
                  <a:srgbClr val="6B6690"/>
                </a:solidFill>
                <a:latin typeface="Calibri"/>
              </a:rPr>
              <a:t>The stage, the segment and the date, each with its number</a:t>
            </a:r>
          </a:p>
        </p:txBody>
      </p:sp>
      <p:sp>
        <p:nvSpPr>
          <p:cNvPr id="23" name="TextBox 22"/>
          <p:cNvSpPr txBox="1"/>
          <p:nvPr/>
        </p:nvSpPr>
        <p:spPr>
          <a:xfrm>
            <a:off x="5055900"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13029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54177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68808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cost</a:t>
            </a:r>
          </a:p>
        </p:txBody>
      </p:sp>
      <p:sp>
        <p:nvSpPr>
          <p:cNvPr id="27" name="TextBox 26"/>
          <p:cNvSpPr txBox="1"/>
          <p:nvPr/>
        </p:nvSpPr>
        <p:spPr>
          <a:xfrm>
            <a:off x="5220492" y="3975862"/>
            <a:ext cx="1750710" cy="531876"/>
          </a:xfrm>
          <a:prstGeom prst="rect">
            <a:avLst/>
          </a:prstGeom>
          <a:noFill/>
        </p:spPr>
        <p:txBody>
          <a:bodyPr wrap="square" anchor="t" lIns="0" rIns="0" tIns="0" bIns="0">
            <a:spAutoFit/>
          </a:bodyPr>
          <a:lstStyle/>
          <a:p>
            <a:pPr algn="l"/>
            <a:r>
              <a:rPr sz="1000" b="0" i="0">
                <a:solidFill>
                  <a:srgbClr val="6B6690"/>
                </a:solidFill>
                <a:latin typeface="Calibri"/>
              </a:rPr>
              <a:t>Orders a week and rupees, with every assumption named and ranged</a:t>
            </a:r>
          </a:p>
        </p:txBody>
      </p:sp>
      <p:sp>
        <p:nvSpPr>
          <p:cNvPr id="28" name="TextBox 27"/>
          <p:cNvSpPr txBox="1"/>
          <p:nvPr/>
        </p:nvSpPr>
        <p:spPr>
          <a:xfrm>
            <a:off x="7318674"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13029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54177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68808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objection</a:t>
            </a:r>
          </a:p>
        </p:txBody>
      </p:sp>
      <p:sp>
        <p:nvSpPr>
          <p:cNvPr id="32" name="TextBox 31"/>
          <p:cNvSpPr txBox="1"/>
          <p:nvPr/>
        </p:nvSpPr>
        <p:spPr>
          <a:xfrm>
            <a:off x="7483266" y="3975862"/>
            <a:ext cx="1750710" cy="531876"/>
          </a:xfrm>
          <a:prstGeom prst="rect">
            <a:avLst/>
          </a:prstGeom>
          <a:noFill/>
        </p:spPr>
        <p:txBody>
          <a:bodyPr wrap="square" anchor="t" lIns="0" rIns="0" tIns="0" bIns="0">
            <a:spAutoFit/>
          </a:bodyPr>
          <a:lstStyle/>
          <a:p>
            <a:pPr algn="l"/>
            <a:r>
              <a:rPr sz="1000" b="0" i="0">
                <a:solidFill>
                  <a:srgbClr val="6B6690"/>
                </a:solidFill>
                <a:latin typeface="Calibri"/>
              </a:rPr>
              <a:t>The app team's lead, answered with the split that settles it</a:t>
            </a:r>
          </a:p>
        </p:txBody>
      </p:sp>
      <p:sp>
        <p:nvSpPr>
          <p:cNvPr id="33" name="TextBox 32"/>
          <p:cNvSpPr txBox="1"/>
          <p:nvPr/>
        </p:nvSpPr>
        <p:spPr>
          <a:xfrm>
            <a:off x="9581448"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13029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54177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688080"/>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would change it</a:t>
            </a:r>
          </a:p>
        </p:txBody>
      </p:sp>
      <p:sp>
        <p:nvSpPr>
          <p:cNvPr id="37" name="TextBox 36"/>
          <p:cNvSpPr txBox="1"/>
          <p:nvPr/>
        </p:nvSpPr>
        <p:spPr>
          <a:xfrm>
            <a:off x="9746040" y="397586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one fact that would reverse the order</a:t>
            </a:r>
          </a:p>
        </p:txBody>
      </p:sp>
      <p:sp>
        <p:nvSpPr>
          <p:cNvPr id="38" name="TextBox 37"/>
          <p:cNvSpPr txBox="1"/>
          <p:nvPr/>
        </p:nvSpPr>
        <p:spPr>
          <a:xfrm>
            <a:off x="530352" y="497433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group writes the five lines for the membership lead on one page, the fix-first set's page, and then answers its items. After the lab, the Kalpa set's second page asks for the same five lines for Kalpa's head of Retail-Plus. Every number comes from the morning's notebooks.</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41" name="Oval 40"/>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43" name="Oval 42"/>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45" name="Oval 44"/>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app team's lead: "our checkout is fine"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app team's lead claim, what is true in it, and what answers it?</a:t>
            </a:r>
          </a:p>
        </p:txBody>
      </p:sp>
      <p:pic>
        <p:nvPicPr>
          <p:cNvPr id="9" name="mermaid diagram" descr="C2_W04_D04_stage_split_STUDENT.png"/>
          <p:cNvPicPr>
            <a:picLocks noChangeAspect="1"/>
          </p:cNvPicPr>
          <p:nvPr/>
        </p:nvPicPr>
        <p:blipFill>
          <a:blip r:embed="rId4"/>
          <a:stretch>
            <a:fillRect/>
          </a:stretch>
        </p:blipFill>
        <p:spPr>
          <a:xfrm>
            <a:off x="3139922" y="1664208"/>
            <a:ext cx="5911850"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"Carts that start checkout held at 80 percent on every platform, before and after 14 September, so the new flow works." </a:t>
            </a:r>
            <a:r>
              <a:rPr sz="1500" b="1" i="0">
                <a:solidFill>
                  <a:srgbClr val="1A1440"/>
                </a:solidFill>
                <a:latin typeface="Calibri"/>
              </a:rPr>
              <a:t>What is true.</a:t>
            </a:r>
            <a:r>
              <a:rPr sz="1500" b="0" i="0">
                <a:solidFill>
                  <a:srgbClr val="1A1440"/>
                </a:solidFill>
                <a:latin typeface="Calibri"/>
              </a:rPr>
              <a:t> Starting checkout did not break. </a:t>
            </a:r>
            <a:r>
              <a:rPr sz="1500" b="1" i="0">
                <a:solidFill>
                  <a:srgbClr val="1A1440"/>
                </a:solidFill>
                <a:latin typeface="Calibri"/>
              </a:rPr>
              <a:t>What answers it.</a:t>
            </a:r>
            <a:r>
              <a:rPr sz="1500" b="0" i="0">
                <a:solidFill>
                  <a:srgbClr val="1A1440"/>
                </a:solidFill>
                <a:latin typeface="Calibri"/>
              </a:rPr>
              <a:t> Completing the order once checkout has started fell from 72.5 to 55 percent, for members on Android, from the release week. Concede the true part, restate the question, bring the split.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6" name="Oval 1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0" name="Oval 1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problem costs,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each loss, in orders and rupees, and how sure is each number?</a:t>
            </a:r>
          </a:p>
        </p:txBody>
      </p:sp>
      <p:sp>
        <p:nvSpPr>
          <p:cNvPr id="9" name="TextBox 8"/>
          <p:cNvSpPr txBox="1"/>
          <p:nvPr/>
        </p:nvSpPr>
        <p:spPr>
          <a:xfrm>
            <a:off x="530352"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1,133 to 1,317</a:t>
            </a:r>
          </a:p>
        </p:txBody>
      </p:sp>
      <p:sp>
        <p:nvSpPr>
          <p:cNvPr id="10" name="TextBox 9"/>
          <p:cNvSpPr txBox="1"/>
          <p:nvPr/>
        </p:nvSpPr>
        <p:spPr>
          <a:xfrm>
            <a:off x="530352"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A WEEK</a:t>
            </a:r>
          </a:p>
        </p:txBody>
      </p:sp>
      <p:sp>
        <p:nvSpPr>
          <p:cNvPr id="11" name="TextBox 10"/>
          <p:cNvSpPr txBox="1"/>
          <p:nvPr/>
        </p:nvSpPr>
        <p:spPr>
          <a:xfrm>
            <a:off x="530352" y="2512060"/>
            <a:ext cx="2577007" cy="663956"/>
          </a:xfrm>
          <a:prstGeom prst="rect">
            <a:avLst/>
          </a:prstGeom>
          <a:noFill/>
        </p:spPr>
        <p:txBody>
          <a:bodyPr wrap="square" anchor="t" lIns="0" rIns="0" tIns="0" bIns="0">
            <a:spAutoFit/>
          </a:bodyPr>
          <a:lstStyle/>
          <a:p>
            <a:pPr algn="l"/>
            <a:r>
              <a:rPr sz="950" b="0" i="0">
                <a:solidFill>
                  <a:srgbClr val="6B6690"/>
                </a:solidFill>
                <a:latin typeface="Calibri"/>
              </a:rPr>
              <a:t>1,317 from 22,841 carts at 58 against 44 percent if none came back; 1,133 counted in orders placed against non-members on Android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3.4 to 6.6 lakh</a:t>
            </a:r>
          </a:p>
        </p:txBody>
      </p:sp>
      <p:sp>
        <p:nvSpPr>
          <p:cNvPr id="14" name="TextBox 13"/>
          <p:cNvSpPr txBox="1"/>
          <p:nvPr/>
        </p:nvSpPr>
        <p:spPr>
          <a:xfrm>
            <a:off x="3381679"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OF ORDER VALUE A WEEK</a:t>
            </a:r>
          </a:p>
        </p:txBody>
      </p:sp>
      <p:sp>
        <p:nvSpPr>
          <p:cNvPr id="15" name="TextBox 14"/>
          <p:cNvSpPr txBox="1"/>
          <p:nvPr/>
        </p:nvSpPr>
        <p:spPr>
          <a:xfrm>
            <a:off x="3381679" y="2512060"/>
            <a:ext cx="2577007" cy="507111"/>
          </a:xfrm>
          <a:prstGeom prst="rect">
            <a:avLst/>
          </a:prstGeom>
          <a:noFill/>
        </p:spPr>
        <p:txBody>
          <a:bodyPr wrap="square" anchor="t" lIns="0" rIns="0" tIns="0" bIns="0">
            <a:spAutoFit/>
          </a:bodyPr>
          <a:lstStyle/>
          <a:p>
            <a:pPr algn="l"/>
            <a:r>
              <a:rPr sz="950" b="0" i="0">
                <a:solidFill>
                  <a:srgbClr val="6B6690"/>
                </a:solidFill>
                <a:latin typeface="Calibri"/>
              </a:rPr>
              <a:t>at Rs 300 to Rs 500 an order, an assumption; Zomato keeps its commission and fees from it</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0.23</a:t>
            </a:r>
          </a:p>
        </p:txBody>
      </p:sp>
      <p:sp>
        <p:nvSpPr>
          <p:cNvPr id="18" name="TextBox 17"/>
          <p:cNvSpPr txBox="1"/>
          <p:nvPr/>
        </p:nvSpPr>
        <p:spPr>
          <a:xfrm>
            <a:off x="6233007"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PER SALE-WEEK MEMBER</a:t>
            </a:r>
          </a:p>
        </p:txBody>
      </p:sp>
      <p:sp>
        <p:nvSpPr>
          <p:cNvPr id="19" name="TextBox 18"/>
          <p:cNvSpPr txBox="1"/>
          <p:nvPr/>
        </p:nvSpPr>
        <p:spPr>
          <a:xfrm>
            <a:off x="6233007" y="2512060"/>
            <a:ext cx="2577007" cy="350266"/>
          </a:xfrm>
          <a:prstGeom prst="rect">
            <a:avLst/>
          </a:prstGeom>
          <a:noFill/>
        </p:spPr>
        <p:txBody>
          <a:bodyPr wrap="square" anchor="t" lIns="0" rIns="0" tIns="0" bIns="0">
            <a:spAutoFit/>
          </a:bodyPr>
          <a:lstStyle/>
          <a:p>
            <a:pPr algn="l"/>
            <a:r>
              <a:rPr sz="950" b="0" i="0">
                <a:solidFill>
                  <a:srgbClr val="6B6690"/>
                </a:solidFill>
                <a:latin typeface="Calibri"/>
              </a:rPr>
              <a:t>in month one, against 0.61 for an organic August member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33</a:t>
            </a:r>
          </a:p>
        </p:txBody>
      </p:sp>
      <p:sp>
        <p:nvSpPr>
          <p:cNvPr id="22" name="TextBox 21"/>
          <p:cNvSpPr txBox="1"/>
          <p:nvPr/>
        </p:nvSpPr>
        <p:spPr>
          <a:xfrm>
            <a:off x="9084335"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PERCENT, OCTOBER</a:t>
            </a:r>
          </a:p>
        </p:txBody>
      </p:sp>
      <p:sp>
        <p:nvSpPr>
          <p:cNvPr id="23" name="TextBox 22"/>
          <p:cNvSpPr txBox="1"/>
          <p:nvPr/>
        </p:nvSpPr>
        <p:spPr>
          <a:xfrm>
            <a:off x="9084335" y="2512060"/>
            <a:ext cx="2577007" cy="507111"/>
          </a:xfrm>
          <a:prstGeom prst="rect">
            <a:avLst/>
          </a:prstGeom>
          <a:noFill/>
        </p:spPr>
        <p:txBody>
          <a:bodyPr wrap="square" anchor="t" lIns="0" rIns="0" tIns="0" bIns="0">
            <a:spAutoFit/>
          </a:bodyPr>
          <a:lstStyle/>
          <a:p>
            <a:pPr algn="l"/>
            <a:r>
              <a:rPr sz="950" b="0" i="0">
                <a:solidFill>
                  <a:srgbClr val="6B6690"/>
                </a:solidFill>
                <a:latin typeface="Calibri"/>
              </a:rPr>
              <a:t>the dashboard once the August cohort enters, if it loses July's 10.5 points (32 to 34)</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release costs orders every week it stays live, and a code fix ends it. The August cohort's discount is already paid for; what can still change is whether the next sale runs, which waits on whether this one's members pay their discount back.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8" name="Oval 27"/>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32" name="Oval 3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fix: buy more sale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"fix retention" with more acquisition do to the number, and to the business?</a:t>
            </a:r>
          </a:p>
        </p:txBody>
      </p:sp>
      <p:pic>
        <p:nvPicPr>
          <p:cNvPr id="9" name="mermaid diagram" descr="e4c4bcbdbd94f946.png"/>
          <p:cNvPicPr>
            <a:picLocks noChangeAspect="1"/>
          </p:cNvPicPr>
          <p:nvPr/>
        </p:nvPicPr>
        <p:blipFill>
          <a:blip r:embed="rId7"/>
          <a:stretch>
            <a:fillRect/>
          </a:stretch>
        </p:blipFill>
        <p:spPr>
          <a:xfrm>
            <a:off x="2152497" y="1855756"/>
            <a:ext cx="7886700" cy="1357312"/>
          </a:xfrm>
          <a:prstGeom prst="rect">
            <a:avLst/>
          </a:prstGeom>
        </p:spPr>
      </p:pic>
      <p:sp>
        <p:nvSpPr>
          <p:cNvPr id="10" name="Rounded Rectangle 9"/>
          <p:cNvSpPr/>
          <p:nvPr/>
        </p:nvSpPr>
        <p:spPr>
          <a:xfrm>
            <a:off x="530352" y="33593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916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80133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725132"/>
            <a:ext cx="9987991" cy="682752"/>
          </a:xfrm>
          <a:prstGeom prst="rect">
            <a:avLst/>
          </a:prstGeom>
          <a:noFill/>
        </p:spPr>
        <p:txBody>
          <a:bodyPr wrap="square" anchor="t" lIns="0" rIns="0" tIns="0" bIns="0">
            <a:spAutoFit/>
          </a:bodyPr>
          <a:lstStyle/>
          <a:p>
            <a:r>
              <a:rPr sz="1500" b="0" i="0">
                <a:solidFill>
                  <a:srgbClr val="1A1440"/>
                </a:solidFill>
                <a:latin typeface="Calibri"/>
              </a:rPr>
              <a:t>"Retention will recover if we run another sale." The next discounted cohort enters the count at its month two and, if it behaves like this one, pulls the dashboard down again at the discount's cost.</a:t>
            </a:r>
          </a:p>
        </p:txBody>
      </p:sp>
      <p:sp>
        <p:nvSpPr>
          <p:cNvPr id="15" name="Rounded Rectangle 14"/>
          <p:cNvSpPr/>
          <p:nvPr/>
        </p:nvSpPr>
        <p:spPr>
          <a:xfrm>
            <a:off x="530352" y="46456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074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6"/>
          <a:stretch>
            <a:fillRect/>
          </a:stretch>
        </p:blipFill>
        <p:spPr>
          <a:xfrm>
            <a:off x="868680" y="5217128"/>
            <a:ext cx="237744" cy="237744"/>
          </a:xfrm>
          <a:prstGeom prst="rect">
            <a:avLst/>
          </a:prstGeom>
        </p:spPr>
      </p:pic>
      <p:sp>
        <p:nvSpPr>
          <p:cNvPr id="18" name="TextBox 17"/>
          <p:cNvSpPr txBox="1"/>
          <p:nvPr/>
        </p:nvSpPr>
        <p:spPr>
          <a:xfrm>
            <a:off x="1399031" y="47919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5011388"/>
            <a:ext cx="9987991" cy="941832"/>
          </a:xfrm>
          <a:prstGeom prst="rect">
            <a:avLst/>
          </a:prstGeom>
          <a:noFill/>
        </p:spPr>
        <p:txBody>
          <a:bodyPr wrap="square" anchor="t" lIns="0" rIns="0" tIns="0" bIns="0">
            <a:spAutoFit/>
          </a:bodyPr>
          <a:lstStyle/>
          <a:p>
            <a:r>
              <a:rPr sz="1500" b="0" i="0">
                <a:solidFill>
                  <a:srgbClr val="1A1440"/>
                </a:solidFill>
                <a:latin typeface="Calibri"/>
              </a:rPr>
              <a:t>Before buying another sale, set what a sale-week member returns against her discount: 0.23 orders in month one against 0.61 for an organic member, so this sale has not paid back. Leave search to menu view alone: 118 percent was never a broken step.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2" name="Oval 21"/>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Android checkout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strong call say, in the order the membership lead needs it?</a:t>
            </a:r>
          </a:p>
        </p:txBody>
      </p:sp>
      <p:sp>
        <p:nvSpPr>
          <p:cNvPr id="9" name="Rounded Rectangle 8"/>
          <p:cNvSpPr/>
          <p:nvPr/>
        </p:nvSpPr>
        <p:spPr>
          <a:xfrm>
            <a:off x="530352" y="1956816"/>
            <a:ext cx="11130991" cy="3208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951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025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Fix the member path of the new Android checkout first: it loses about 1,133 to 1,317 orders a week, a quarter of Android members' orders, and non-members on the same checkout held, so the fault sits in what only members see. </a:t>
            </a:r>
            <a:r>
              <a:rPr sz="1500" b="1" i="0">
                <a:solidFill>
                  <a:srgbClr val="1A1440"/>
                </a:solidFill>
                <a:latin typeface="Calibri"/>
              </a:rPr>
              <a:t>The evidence.</a:t>
            </a:r>
            <a:r>
              <a:rPr sz="1500" b="0" i="0">
                <a:solidFill>
                  <a:srgbClr val="1A1440"/>
                </a:solidFill>
                <a:latin typeface="Calibri"/>
              </a:rPr>
              <a:t> Checkout start to order placed fell from 72.5 to 55 percent for members on Android from the release week; starting checkout held at 80; on the same step iOS members went from 71 to 70 and non-members on Android from 65 to 64; the order records match the event log. </a:t>
            </a:r>
            <a:r>
              <a:rPr sz="1500" b="1" i="0">
                <a:solidFill>
                  <a:srgbClr val="1A1440"/>
                </a:solidFill>
                <a:latin typeface="Calibri"/>
              </a:rPr>
              <a:t>The cost.</a:t>
            </a:r>
            <a:r>
              <a:rPr sz="1500" b="0" i="0">
                <a:solidFill>
                  <a:srgbClr val="1A1440"/>
                </a:solidFill>
                <a:latin typeface="Calibri"/>
              </a:rPr>
              <a:t> Rs 3.4 to 6.6 lakh of order value a week at Rs 300 to Rs 500 an order, of which Zomato keeps its commission and fees. </a:t>
            </a:r>
            <a:r>
              <a:rPr sz="1500" b="1" i="0">
                <a:solidFill>
                  <a:srgbClr val="1A1440"/>
                </a:solidFill>
                <a:latin typeface="Calibri"/>
              </a:rPr>
              <a:t>The second problem.</a:t>
            </a:r>
            <a:r>
              <a:rPr sz="1500" b="0" i="0">
                <a:solidFill>
                  <a:srgbClr val="1A1440"/>
                </a:solidFill>
                <a:latin typeface="Calibri"/>
              </a:rPr>
              <a:t> The sale-week members kept 20 percent in month one against 49 for organic August members; before another sale, work out whether these members pay back their discount. </a:t>
            </a:r>
            <a:r>
              <a:rPr sz="1500" b="1" i="0">
                <a:solidFill>
                  <a:srgbClr val="1A1440"/>
                </a:solidFill>
                <a:latin typeface="Calibri"/>
              </a:rPr>
              <a:t>What would change the order.</a:t>
            </a:r>
            <a:r>
              <a:rPr sz="1500" b="0" i="0">
                <a:solidFill>
                  <a:srgbClr val="1A1440"/>
                </a:solidFill>
                <a:latin typeface="Calibri"/>
              </a:rPr>
              <a:t> If most members who failed had come back and ordered later, the release would cost a delay rather than orders and the sale would go first; counted in orders placed, Android members' weekly orders fell 18 percent while iOS members' rose 7, so most did not.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4" name="Oval 1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retention walk in an interview</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hire say?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"Retention dropped; walk me through your investigation." How does a hire-grade candidate, one whose answer gets the job, order it with all five topics, and how does the same idea apply to an AI product?</a:t>
            </a:r>
          </a:p>
        </p:txBody>
      </p:sp>
      <p:sp>
        <p:nvSpPr>
          <p:cNvPr id="11" name="Rounded Rectangle 10"/>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3" name="Rounded Rectangle 12"/>
          <p:cNvSpPr/>
          <p:nvPr/>
        </p:nvSpPr>
        <p:spPr>
          <a:xfrm>
            <a:off x="4228782"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hire say?</a:t>
            </a:r>
          </a:p>
        </p:txBody>
      </p:sp>
      <p:sp>
        <p:nvSpPr>
          <p:cNvPr id="14" name="Rounded Rectangle 13"/>
          <p:cNvSpPr/>
          <p:nvPr/>
        </p:nvSpPr>
        <p:spPr>
          <a:xfrm>
            <a:off x="594780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three questions, five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screen at a product company or a GCC (global capability centre), where this question comes in the first minutes. Applies: all five topics, from cohort construction to the fix-first decision and its evidence.</a:t>
            </a:r>
          </a:p>
        </p:txBody>
      </p:sp>
      <p:sp>
        <p:nvSpPr>
          <p:cNvPr id="12" name="Rectangle 11"/>
          <p:cNvSpPr/>
          <p:nvPr/>
        </p:nvSpPr>
        <p:spPr>
          <a:xfrm>
            <a:off x="2324557" y="376275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222397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3259226" cy="251205"/>
          </a:xfrm>
          <a:prstGeom prst="rect">
            <a:avLst/>
          </a:prstGeom>
          <a:noFill/>
        </p:spPr>
        <p:txBody>
          <a:bodyPr wrap="square" anchor="t" lIns="0" rIns="0" tIns="0" bIns="0">
            <a:spAutoFit/>
          </a:bodyPr>
          <a:lstStyle/>
          <a:p>
            <a:pPr algn="l"/>
            <a:r>
              <a:rPr sz="1300" b="1" i="0">
                <a:solidFill>
                  <a:srgbClr val="1A0F5C"/>
                </a:solidFill>
                <a:latin typeface="Calibri"/>
              </a:rPr>
              <a:t>In what order does the walk run?</a:t>
            </a:r>
          </a:p>
        </p:txBody>
      </p:sp>
      <p:sp>
        <p:nvSpPr>
          <p:cNvPr id="17" name="TextBox 16"/>
          <p:cNvSpPr txBox="1"/>
          <p:nvPr/>
        </p:nvSpPr>
        <p:spPr>
          <a:xfrm>
            <a:off x="694944" y="4516882"/>
            <a:ext cx="3259226" cy="201676"/>
          </a:xfrm>
          <a:prstGeom prst="rect">
            <a:avLst/>
          </a:prstGeom>
          <a:noFill/>
        </p:spPr>
        <p:txBody>
          <a:bodyPr wrap="square" anchor="t" lIns="0" rIns="0" tIns="0" bIns="0">
            <a:spAutoFit/>
          </a:bodyPr>
          <a:lstStyle/>
          <a:p>
            <a:pPr algn="l"/>
            <a:r>
              <a:rPr sz="1000" b="0" i="0">
                <a:solidFill>
                  <a:srgbClr val="6B6690"/>
                </a:solidFill>
                <a:latin typeface="Calibri"/>
              </a:rPr>
              <a:t>The board's five causes, then the call</a:t>
            </a:r>
          </a:p>
        </p:txBody>
      </p:sp>
      <p:sp>
        <p:nvSpPr>
          <p:cNvPr id="18" name="TextBox 17"/>
          <p:cNvSpPr txBox="1"/>
          <p:nvPr/>
        </p:nvSpPr>
        <p:spPr>
          <a:xfrm>
            <a:off x="430164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4301642" y="40827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466234" y="4229100"/>
            <a:ext cx="3259226" cy="251205"/>
          </a:xfrm>
          <a:prstGeom prst="rect">
            <a:avLst/>
          </a:prstGeom>
          <a:noFill/>
        </p:spPr>
        <p:txBody>
          <a:bodyPr wrap="square" anchor="t" lIns="0" rIns="0" tIns="0" bIns="0">
            <a:spAutoFit/>
          </a:bodyPr>
          <a:lstStyle/>
          <a:p>
            <a:pPr algn="l"/>
            <a:r>
              <a:rPr sz="1300" b="1" i="0">
                <a:solidFill>
                  <a:srgbClr val="1A0F5C"/>
                </a:solidFill>
                <a:latin typeface="Calibri"/>
              </a:rPr>
              <a:t>How does an AI product ask it?</a:t>
            </a:r>
          </a:p>
        </p:txBody>
      </p:sp>
      <p:sp>
        <p:nvSpPr>
          <p:cNvPr id="22" name="TextBox 21"/>
          <p:cNvSpPr txBox="1"/>
          <p:nvPr/>
        </p:nvSpPr>
        <p:spPr>
          <a:xfrm>
            <a:off x="4466234" y="4516882"/>
            <a:ext cx="3259226" cy="201676"/>
          </a:xfrm>
          <a:prstGeom prst="rect">
            <a:avLst/>
          </a:prstGeom>
          <a:noFill/>
        </p:spPr>
        <p:txBody>
          <a:bodyPr wrap="square" anchor="t" lIns="0" rIns="0" tIns="0" bIns="0">
            <a:spAutoFit/>
          </a:bodyPr>
          <a:lstStyle/>
          <a:p>
            <a:pPr algn="l"/>
            <a:r>
              <a:rPr sz="1000" b="0" i="0">
                <a:solidFill>
                  <a:srgbClr val="6B6690"/>
                </a:solidFill>
                <a:latin typeface="Calibri"/>
              </a:rPr>
              <a:t>Novelty or habit, cohort by cohort</a:t>
            </a:r>
          </a:p>
        </p:txBody>
      </p:sp>
      <p:sp>
        <p:nvSpPr>
          <p:cNvPr id="23" name="TextBox 22"/>
          <p:cNvSpPr txBox="1"/>
          <p:nvPr/>
        </p:nvSpPr>
        <p:spPr>
          <a:xfrm>
            <a:off x="807293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9766554"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072932" y="4082796"/>
            <a:ext cx="3588410"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37524" y="4229100"/>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comes after the walk?</a:t>
            </a:r>
          </a:p>
        </p:txBody>
      </p:sp>
      <p:sp>
        <p:nvSpPr>
          <p:cNvPr id="27" name="TextBox 26"/>
          <p:cNvSpPr txBox="1"/>
          <p:nvPr/>
        </p:nvSpPr>
        <p:spPr>
          <a:xfrm>
            <a:off x="8237524" y="4516882"/>
            <a:ext cx="3259226" cy="201676"/>
          </a:xfrm>
          <a:prstGeom prst="rect">
            <a:avLst/>
          </a:prstGeom>
          <a:noFill/>
        </p:spPr>
        <p:txBody>
          <a:bodyPr wrap="square" anchor="t" lIns="0" rIns="0" tIns="0" bIns="0">
            <a:spAutoFit/>
          </a:bodyPr>
          <a:lstStyle/>
          <a:p>
            <a:pPr algn="l"/>
            <a:r>
              <a:rPr sz="1000" b="0" i="0">
                <a:solidFill>
                  <a:srgbClr val="CFC9EE"/>
                </a:solidFill>
                <a:latin typeface="Calibri"/>
              </a:rPr>
              <a:t>The member who has not left yet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30" name="Oval 2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32" name="Oval 31"/>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5693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 hire say?</a:t>
            </a:r>
          </a:p>
        </p:txBody>
      </p:sp>
      <p:sp>
        <p:nvSpPr>
          <p:cNvPr id="34" name="Oval 3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walk: the morning's five causes, then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a strong candidate investigate a retention drop?</a:t>
            </a:r>
          </a:p>
        </p:txBody>
      </p:sp>
      <p:pic>
        <p:nvPicPr>
          <p:cNvPr id="9" name="mermaid diagram" descr="030806693f9436c7.png"/>
          <p:cNvPicPr>
            <a:picLocks noChangeAspect="1"/>
          </p:cNvPicPr>
          <p:nvPr/>
        </p:nvPicPr>
        <p:blipFill>
          <a:blip r:embed="rId5"/>
          <a:stretch>
            <a:fillRect/>
          </a:stretch>
        </p:blipFill>
        <p:spPr>
          <a:xfrm>
            <a:off x="530352" y="1956816"/>
            <a:ext cx="11130991" cy="1450581"/>
          </a:xfrm>
          <a:prstGeom prst="rect">
            <a:avLst/>
          </a:prstGeom>
        </p:spPr>
      </p:pic>
      <p:graphicFrame>
        <p:nvGraphicFramePr>
          <p:cNvPr id="10" name="Table 9"/>
          <p:cNvGraphicFramePr>
            <a:graphicFrameLocks noGrp="1"/>
          </p:cNvGraphicFramePr>
          <p:nvPr/>
        </p:nvGraphicFramePr>
        <p:xfrm>
          <a:off x="530352" y="3553701"/>
          <a:ext cx="11130990" cy="2298192"/>
        </p:xfrm>
        <a:graphic>
          <a:graphicData uri="http://schemas.openxmlformats.org/drawingml/2006/table">
            <a:tbl>
              <a:tblPr firstRow="0" bandRow="0">
                <a:tableStyleId>{2D5ABB26-0587-4C30-8999-92F81FD0307C}</a:tableStyleId>
              </a:tblPr>
              <a:tblGrid>
                <a:gridCol w="1504890"/>
                <a:gridCol w="3298283"/>
                <a:gridCol w="6327817"/>
              </a:tblGrid>
              <a:tr h="335280">
                <a:tc>
                  <a:txBody>
                    <a:bodyPr/>
                    <a:lstStyle/>
                    <a:p/>
                  </a:txBody>
                  <a:tcPr marL="101600" marR="101600" marT="38100" marB="38100" anchor="ctr">
                    <a:solidFill>
                      <a:srgbClr val="1A0F5C"/>
                    </a:solidFill>
                  </a:tcPr>
                </a:tc>
                <a:tc>
                  <a:txBody>
                    <a:bodyPr/>
                    <a:lstStyle/>
                    <a:p>
                      <a:r>
                        <a:rPr sz="1250" b="1" i="0">
                          <a:solidFill>
                            <a:srgbClr val="FFFFFF"/>
                          </a:solidFill>
                          <a:latin typeface="Calibri"/>
                        </a:rPr>
                        <a:t>A weak answer</a:t>
                      </a:r>
                    </a:p>
                  </a:txBody>
                  <a:tcPr marL="101600" marR="101600" marT="38100" marB="38100" anchor="ctr">
                    <a:solidFill>
                      <a:srgbClr val="1A0F5C"/>
                    </a:solidFill>
                  </a:tcPr>
                </a:tc>
                <a:tc>
                  <a:txBody>
                    <a:bodyPr/>
                    <a:lstStyle/>
                    <a:p>
                      <a:r>
                        <a:rPr sz="1250" b="1" i="0">
                          <a:solidFill>
                            <a:srgbClr val="FFFFFF"/>
                          </a:solidFill>
                          <a:latin typeface="Calibri"/>
                        </a:rPr>
                        <a:t>A hire-grade answer</a:t>
                      </a:r>
                    </a:p>
                  </a:txBody>
                  <a:tcPr marL="101600" marR="101600" marT="38100" marB="38100" anchor="ctr">
                    <a:solidFill>
                      <a:srgbClr val="1A0F5C"/>
                    </a:solidFill>
                  </a:tcPr>
                </a:tc>
              </a:tr>
              <a:tr h="335280">
                <a:tc>
                  <a:txBody>
                    <a:bodyPr/>
                    <a:lstStyle/>
                    <a:p>
                      <a:r>
                        <a:rPr sz="1200" b="0" i="0">
                          <a:solidFill>
                            <a:srgbClr val="1A1440"/>
                          </a:solidFill>
                          <a:latin typeface="Calibri"/>
                        </a:rPr>
                        <a:t>First sentence</a:t>
                      </a:r>
                    </a:p>
                  </a:txBody>
                  <a:tcPr marL="101600" marR="101600" marT="38100" marB="38100" anchor="ctr">
                    <a:solidFill>
                      <a:srgbClr val="FFFFFF"/>
                    </a:solidFill>
                  </a:tcPr>
                </a:tc>
                <a:tc>
                  <a:txBody>
                    <a:bodyPr/>
                    <a:lstStyle/>
                    <a:p>
                      <a:r>
                        <a:rPr sz="1200" b="0" i="0">
                          <a:solidFill>
                            <a:srgbClr val="1A1440"/>
                          </a:solidFill>
                          <a:latin typeface="Calibri"/>
                        </a:rPr>
                        <a:t>"It's probably the August cohort."</a:t>
                      </a:r>
                    </a:p>
                  </a:txBody>
                  <a:tcPr marL="101600" marR="101600" marT="38100" marB="38100" anchor="ctr">
                    <a:solidFill>
                      <a:srgbClr val="FFFFFF"/>
                    </a:solidFill>
                  </a:tcPr>
                </a:tc>
                <a:tc>
                  <a:txBody>
                    <a:bodyPr/>
                    <a:lstStyle/>
                    <a:p>
                      <a:r>
                        <a:rPr sz="1200" b="0" i="0">
                          <a:solidFill>
                            <a:srgbClr val="1A1440"/>
                          </a:solidFill>
                          <a:latin typeface="Calibri"/>
                        </a:rPr>
                        <a:t>"Before a cause, I'd check the count, then what the number counts."</a:t>
                      </a:r>
                    </a:p>
                  </a:txBody>
                  <a:tcPr marL="101600" marR="101600" marT="38100" marB="38100" anchor="ctr">
                    <a:solidFill>
                      <a:srgbClr val="FFFFFF"/>
                    </a:solidFill>
                  </a:tcPr>
                </a:tc>
              </a:tr>
              <a:tr h="335280">
                <a:tc>
                  <a:txBody>
                    <a:bodyPr/>
                    <a:lstStyle/>
                    <a:p>
                      <a:r>
                        <a:rPr sz="1200" b="0" i="0">
                          <a:solidFill>
                            <a:srgbClr val="1A1440"/>
                          </a:solidFill>
                          <a:latin typeface="Calibri"/>
                        </a:rPr>
                        <a:t>The flat 38</a:t>
                      </a:r>
                    </a:p>
                  </a:txBody>
                  <a:tcPr marL="101600" marR="101600" marT="38100" marB="38100" anchor="ctr">
                    <a:solidFill>
                      <a:srgbClr val="F4F2FA"/>
                    </a:solidFill>
                  </a:tcPr>
                </a:tc>
                <a:tc>
                  <a:txBody>
                    <a:bodyPr/>
                    <a:lstStyle/>
                    <a:p>
                      <a:r>
                        <a:rPr sz="1200" b="0" i="0">
                          <a:solidFill>
                            <a:srgbClr val="1A1440"/>
                          </a:solidFill>
                          <a:latin typeface="Calibri"/>
                        </a:rPr>
                        <a:t>Accepts it</a:t>
                      </a:r>
                    </a:p>
                  </a:txBody>
                  <a:tcPr marL="101600" marR="101600" marT="38100" marB="38100" anchor="ctr">
                    <a:solidFill>
                      <a:srgbClr val="F4F2FA"/>
                    </a:solidFill>
                  </a:tcPr>
                </a:tc>
                <a:tc>
                  <a:txBody>
                    <a:bodyPr/>
                    <a:lstStyle/>
                    <a:p>
                      <a:r>
                        <a:rPr sz="1200" b="0" i="0">
                          <a:solidFill>
                            <a:srgbClr val="1A1440"/>
                          </a:solidFill>
                          <a:latin typeface="Calibri"/>
                        </a:rPr>
                        <a:t>"Who does month-two retention count, and from when?"</a:t>
                      </a:r>
                    </a:p>
                  </a:txBody>
                  <a:tcPr marL="101600" marR="101600" marT="38100" marB="38100" anchor="ctr">
                    <a:solidFill>
                      <a:srgbClr val="F4F2FA"/>
                    </a:solidFill>
                  </a:tcPr>
                </a:tc>
              </a:tr>
              <a:tr h="542544">
                <a:tc>
                  <a:txBody>
                    <a:bodyPr/>
                    <a:lstStyle/>
                    <a:p>
                      <a:r>
                        <a:rPr sz="1200" b="0" i="0">
                          <a:solidFill>
                            <a:srgbClr val="1A1440"/>
                          </a:solidFill>
                          <a:latin typeface="Calibri"/>
                        </a:rPr>
                        <a:t>The split</a:t>
                      </a:r>
                    </a:p>
                  </a:txBody>
                  <a:tcPr marL="101600" marR="101600" marT="38100" marB="38100" anchor="ctr">
                    <a:solidFill>
                      <a:srgbClr val="FFFFFF"/>
                    </a:solidFill>
                  </a:tcPr>
                </a:tc>
                <a:tc>
                  <a:txBody>
                    <a:bodyPr/>
                    <a:lstStyle/>
                    <a:p>
                      <a:r>
                        <a:rPr sz="1200" b="0" i="0">
                          <a:solidFill>
                            <a:srgbClr val="1A1440"/>
                          </a:solidFill>
                          <a:latin typeface="Calibri"/>
                        </a:rPr>
                        <a:t>Overall conversion</a:t>
                      </a:r>
                    </a:p>
                  </a:txBody>
                  <a:tcPr marL="101600" marR="101600" marT="38100" marB="38100" anchor="ctr">
                    <a:solidFill>
                      <a:srgbClr val="FFFFFF"/>
                    </a:solidFill>
                  </a:tcPr>
                </a:tc>
                <a:tc>
                  <a:txBody>
                    <a:bodyPr/>
                    <a:lstStyle/>
                    <a:p>
                      <a:r>
                        <a:rPr sz="1200" b="0" i="0">
                          <a:solidFill>
                            <a:srgbClr val="1A1440"/>
                          </a:solidFill>
                          <a:latin typeface="Calibri"/>
                        </a:rPr>
                        <a:t>Cohorts at the same age, then platform and date on the same step, then fewer users against fewer orders each, cohorts held fixed</a:t>
                      </a:r>
                    </a:p>
                  </a:txBody>
                  <a:tcPr marL="101600" marR="101600" marT="38100" marB="38100" anchor="ctr">
                    <a:solidFill>
                      <a:srgbClr val="FFFFFF"/>
                    </a:solidFill>
                  </a:tcPr>
                </a:tc>
              </a:tr>
              <a:tr h="749808">
                <a:tc>
                  <a:txBody>
                    <a:bodyPr/>
                    <a:lstStyle/>
                    <a:p>
                      <a:r>
                        <a:rPr sz="1200" b="0" i="0">
                          <a:solidFill>
                            <a:srgbClr val="1A1440"/>
                          </a:solidFill>
                          <a:latin typeface="Calibri"/>
                        </a:rPr>
                        <a:t>The close</a:t>
                      </a:r>
                    </a:p>
                  </a:txBody>
                  <a:tcPr marL="101600" marR="101600" marT="38100" marB="38100" anchor="ctr">
                    <a:solidFill>
                      <a:srgbClr val="F4F2FA"/>
                    </a:solidFill>
                  </a:tcPr>
                </a:tc>
                <a:tc>
                  <a:txBody>
                    <a:bodyPr/>
                    <a:lstStyle/>
                    <a:p>
                      <a:r>
                        <a:rPr sz="1200" b="0" i="0">
                          <a:solidFill>
                            <a:srgbClr val="1A1440"/>
                          </a:solidFill>
                          <a:latin typeface="Calibri"/>
                        </a:rPr>
                        <a:t>"Retention dropped."</a:t>
                      </a:r>
                    </a:p>
                  </a:txBody>
                  <a:tcPr marL="101600" marR="101600" marT="38100" marB="38100" anchor="ctr">
                    <a:solidFill>
                      <a:srgbClr val="F4F2FA"/>
                    </a:solidFill>
                  </a:tcPr>
                </a:tc>
                <a:tc>
                  <a:txBody>
                    <a:bodyPr/>
                    <a:lstStyle/>
                    <a:p>
                      <a:r>
                        <a:rPr sz="1200" b="0" i="0">
                          <a:solidFill>
                            <a:srgbClr val="1A1440"/>
                          </a:solidFill>
                          <a:latin typeface="Calibri"/>
                        </a:rPr>
                        <a:t>"About 3.2 of the 3.6-point fall is the August cohort; the checkout loses 1,133 to 1,317 orders a week that retention cannot see; then whether the sale paid back; October reads about 33."</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 hire say?</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 variant: judge each cohort at week four</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An AI writing assistant launched two months ago and its launch week brought its biggest cohort ever. How do you know whether it is habit or novelty?</a:t>
            </a:r>
          </a:p>
        </p:txBody>
      </p:sp>
      <p:graphicFrame>
        <p:nvGraphicFramePr>
          <p:cNvPr id="9" name="Table 8"/>
          <p:cNvGraphicFramePr>
            <a:graphicFrameLocks noGrp="1"/>
          </p:cNvGraphicFramePr>
          <p:nvPr/>
        </p:nvGraphicFramePr>
        <p:xfrm>
          <a:off x="530352" y="1682496"/>
          <a:ext cx="5291175" cy="1627632"/>
        </p:xfrm>
        <a:graphic>
          <a:graphicData uri="http://schemas.openxmlformats.org/drawingml/2006/table">
            <a:tbl>
              <a:tblPr firstRow="0" bandRow="0">
                <a:tableStyleId>{2D5ABB26-0587-4C30-8999-92F81FD0307C}</a:tableStyleId>
              </a:tblPr>
              <a:tblGrid>
                <a:gridCol w="1763725"/>
                <a:gridCol w="1763725"/>
                <a:gridCol w="1763725"/>
              </a:tblGrid>
              <a:tr h="310896">
                <a:tc>
                  <a:txBody>
                    <a:bodyPr/>
                    <a:lstStyle/>
                    <a:p/>
                  </a:txBody>
                  <a:tcPr marL="101600" marR="101600" marT="38100" marB="38100" anchor="ctr">
                    <a:solidFill>
                      <a:srgbClr val="1A0F5C"/>
                    </a:solidFill>
                  </a:tcPr>
                </a:tc>
                <a:tc>
                  <a:txBody>
                    <a:bodyPr/>
                    <a:lstStyle/>
                    <a:p>
                      <a:r>
                        <a:rPr sz="950" b="1" i="0">
                          <a:solidFill>
                            <a:srgbClr val="FFFFFF"/>
                          </a:solidFill>
                          <a:latin typeface="Calibri"/>
                        </a:rPr>
                        <a:t>Launch-week cohort</a:t>
                      </a:r>
                    </a:p>
                  </a:txBody>
                  <a:tcPr marL="101600" marR="101600" marT="38100" marB="38100" anchor="ctr">
                    <a:solidFill>
                      <a:srgbClr val="1A0F5C"/>
                    </a:solidFill>
                  </a:tcPr>
                </a:tc>
                <a:tc>
                  <a:txBody>
                    <a:bodyPr/>
                    <a:lstStyle/>
                    <a:p>
                      <a:r>
                        <a:rPr sz="950" b="1" i="0">
                          <a:solidFill>
                            <a:srgbClr val="FFFFFF"/>
                          </a:solidFill>
                          <a:latin typeface="Calibri"/>
                        </a:rPr>
                        <a:t>A later weekly cohort</a:t>
                      </a:r>
                    </a:p>
                  </a:txBody>
                  <a:tcPr marL="101600" marR="101600" marT="38100" marB="38100" anchor="ctr">
                    <a:solidFill>
                      <a:srgbClr val="1A0F5C"/>
                    </a:solidFill>
                  </a:tcPr>
                </a:tc>
              </a:tr>
              <a:tr h="438912">
                <a:tc>
                  <a:txBody>
                    <a:bodyPr/>
                    <a:lstStyle/>
                    <a:p>
                      <a:r>
                        <a:rPr sz="900" b="0" i="0">
                          <a:solidFill>
                            <a:srgbClr val="1A1440"/>
                          </a:solidFill>
                          <a:latin typeface="Calibri"/>
                        </a:rPr>
                        <a:t>Week one</a:t>
                      </a:r>
                    </a:p>
                  </a:txBody>
                  <a:tcPr marL="101600" marR="101600" marT="38100" marB="38100" anchor="ctr">
                    <a:solidFill>
                      <a:srgbClr val="FFFFFF"/>
                    </a:solidFill>
                  </a:tcPr>
                </a:tc>
                <a:tc>
                  <a:txBody>
                    <a:bodyPr/>
                    <a:lstStyle/>
                    <a:p>
                      <a:r>
                        <a:rPr sz="900" b="0" i="0">
                          <a:solidFill>
                            <a:srgbClr val="1A1440"/>
                          </a:solidFill>
                          <a:latin typeface="Calibri"/>
                        </a:rPr>
                        <a:t>Looks strong: the feature is new</a:t>
                      </a:r>
                    </a:p>
                  </a:txBody>
                  <a:tcPr marL="101600" marR="101600" marT="38100" marB="38100" anchor="ctr">
                    <a:solidFill>
                      <a:srgbClr val="FFFFFF"/>
                    </a:solidFill>
                  </a:tcPr>
                </a:tc>
                <a:tc>
                  <a:txBody>
                    <a:bodyPr/>
                    <a:lstStyle/>
                    <a:p>
                      <a:r>
                        <a:rPr sz="900" b="0" i="0">
                          <a:solidFill>
                            <a:srgbClr val="1A1440"/>
                          </a:solidFill>
                          <a:latin typeface="Calibri"/>
                        </a:rPr>
                        <a:t>Looks normal</a:t>
                      </a:r>
                    </a:p>
                  </a:txBody>
                  <a:tcPr marL="101600" marR="101600" marT="38100" marB="38100" anchor="ctr">
                    <a:solidFill>
                      <a:srgbClr val="FFFFFF"/>
                    </a:solidFill>
                  </a:tcPr>
                </a:tc>
              </a:tr>
              <a:tr h="438912">
                <a:tc>
                  <a:txBody>
                    <a:bodyPr/>
                    <a:lstStyle/>
                    <a:p>
                      <a:r>
                        <a:rPr sz="900" b="0" i="0">
                          <a:solidFill>
                            <a:srgbClr val="1A1440"/>
                          </a:solidFill>
                          <a:latin typeface="Calibri"/>
                        </a:rPr>
                        <a:t>Week four (invented numbers)</a:t>
                      </a:r>
                    </a:p>
                  </a:txBody>
                  <a:tcPr marL="101600" marR="101600" marT="38100" marB="38100" anchor="ctr">
                    <a:solidFill>
                      <a:srgbClr val="F4F2FA"/>
                    </a:solidFill>
                  </a:tcPr>
                </a:tc>
                <a:tc>
                  <a:txBody>
                    <a:bodyPr/>
                    <a:lstStyle/>
                    <a:p>
                      <a:r>
                        <a:rPr sz="900" b="0" i="0">
                          <a:solidFill>
                            <a:srgbClr val="1A1440"/>
                          </a:solidFill>
                          <a:latin typeface="Calibri"/>
                        </a:rPr>
                        <a:t>24 percent still active</a:t>
                      </a:r>
                    </a:p>
                  </a:txBody>
                  <a:tcPr marL="101600" marR="101600" marT="38100" marB="38100" anchor="ctr">
                    <a:solidFill>
                      <a:srgbClr val="F4F2FA"/>
                    </a:solidFill>
                  </a:tcPr>
                </a:tc>
                <a:tc>
                  <a:txBody>
                    <a:bodyPr/>
                    <a:lstStyle/>
                    <a:p>
                      <a:r>
                        <a:rPr sz="900" b="0" i="0">
                          <a:solidFill>
                            <a:srgbClr val="1A1440"/>
                          </a:solidFill>
                          <a:latin typeface="Calibri"/>
                        </a:rPr>
                        <a:t>36 percent still active</a:t>
                      </a:r>
                    </a:p>
                  </a:txBody>
                  <a:tcPr marL="101600" marR="101600" marT="38100" marB="38100" anchor="ctr">
                    <a:solidFill>
                      <a:srgbClr val="F4F2FA"/>
                    </a:solidFill>
                  </a:tcPr>
                </a:tc>
              </a:tr>
              <a:tr h="438912">
                <a:tc>
                  <a:txBody>
                    <a:bodyPr/>
                    <a:lstStyle/>
                    <a:p>
                      <a:r>
                        <a:rPr sz="900" b="0" i="0">
                          <a:solidFill>
                            <a:srgbClr val="1A1440"/>
                          </a:solidFill>
                          <a:latin typeface="Calibri"/>
                        </a:rPr>
                        <a:t>The blended weekly actives</a:t>
                      </a:r>
                    </a:p>
                  </a:txBody>
                  <a:tcPr marL="101600" marR="101600" marT="38100" marB="38100" anchor="ctr">
                    <a:solidFill>
                      <a:srgbClr val="FFFFFF"/>
                    </a:solidFill>
                  </a:tcPr>
                </a:tc>
                <a:tc>
                  <a:txBody>
                    <a:bodyPr/>
                    <a:lstStyle/>
                    <a:p>
                      <a:r>
                        <a:rPr sz="900" b="0" i="0">
                          <a:solidFill>
                            <a:srgbClr val="1A1440"/>
                          </a:solidFill>
                          <a:latin typeface="Calibri"/>
                        </a:rPr>
                        <a:t>Jump in launch week, then stay near the record</a:t>
                      </a:r>
                    </a:p>
                  </a:txBody>
                  <a:tcPr marL="101600" marR="101600" marT="38100" marB="38100" anchor="ctr">
                    <a:solidFill>
                      <a:srgbClr val="FFFFFF"/>
                    </a:solidFill>
                  </a:tcPr>
                </a:tc>
                <a:tc>
                  <a:txBody>
                    <a:bodyPr/>
                    <a:lstStyle/>
                    <a:p>
                      <a:r>
                        <a:rPr sz="900" b="0" i="0">
                          <a:solidFill>
                            <a:srgbClr val="1A1440"/>
                          </a:solidFill>
                          <a:latin typeface="Calibri"/>
                        </a:rPr>
                        <a:t>Each week's new cohort adds to the count</a:t>
                      </a:r>
                    </a:p>
                  </a:txBody>
                  <a:tcPr marL="101600" marR="101600" marT="38100" marB="38100" anchor="ctr">
                    <a:solidFill>
                      <a:srgbClr val="FFFFFF"/>
                    </a:solidFill>
                  </a:tcPr>
                </a:tc>
              </a:tr>
            </a:tbl>
          </a:graphicData>
        </a:graphic>
      </p:graphicFrame>
      <p:pic>
        <p:nvPicPr>
          <p:cNvPr id="10" name="mermaid diagram" descr="c9e86ba6a1db3319.png"/>
          <p:cNvPicPr>
            <a:picLocks noChangeAspect="1"/>
          </p:cNvPicPr>
          <p:nvPr/>
        </p:nvPicPr>
        <p:blipFill>
          <a:blip r:embed="rId5"/>
          <a:stretch>
            <a:fillRect/>
          </a:stretch>
        </p:blipFill>
        <p:spPr>
          <a:xfrm>
            <a:off x="1880789" y="3566160"/>
            <a:ext cx="2590300" cy="2633472"/>
          </a:xfrm>
          <a:prstGeom prst="rect">
            <a:avLst/>
          </a:prstGeom>
        </p:spPr>
      </p:pic>
      <p:sp>
        <p:nvSpPr>
          <p:cNvPr id="11" name="Rounded Rectangle 10"/>
          <p:cNvSpPr/>
          <p:nvPr/>
        </p:nvSpPr>
        <p:spPr>
          <a:xfrm>
            <a:off x="6370167" y="1682496"/>
            <a:ext cx="5291175" cy="2941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2685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27584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Count a user as active only on the core action, a draft she keeps; check the week's model and pricing changes first; then read each cohort's curve by weeks since signup, week four or later (the programme's rule of thumb). If later cohorts flatten while the launch cohort keeps sliding, the product sticks for the users who came looking. The blended count still sizes load and spend; it cannot say whether anyone formed a habit.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6" name="Oval 1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8" name="Oval 17"/>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 hire say?</a:t>
            </a:r>
          </a:p>
        </p:txBody>
      </p:sp>
      <p:sp>
        <p:nvSpPr>
          <p:cNvPr id="20" name="Oval 1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handoff: the member who has not left yet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cohort table get wrong about its newest members, and who picks it up?</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handoff line. </a:t>
            </a:r>
            <a:r>
              <a:rPr sz="1500" b="0" i="0">
                <a:solidFill>
                  <a:srgbClr val="1A1440"/>
                </a:solidFill>
                <a:latin typeface="Calibri"/>
              </a:rPr>
              <a:t>"Your cohort table treats a member who has not left yet as if she were retained for ever, and that flatters every curve. The next 120 minutes give that member a name, censored, and show when two curves really differ by more than chance."</a:t>
            </a:r>
          </a:p>
        </p:txBody>
      </p:sp>
      <p:sp>
        <p:nvSpPr>
          <p:cNvPr id="12" name="TextBox 11"/>
          <p:cNvSpPr txBox="1"/>
          <p:nvPr/>
        </p:nvSpPr>
        <p:spPr>
          <a:xfrm>
            <a:off x="530352" y="31958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next block is the IITGN faculty session W4-3 on survival curves, censoring and hazard, tentative until IIT Gandhinagar confirms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 hire say?</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five topics recalled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carry?</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day's calls can the room make in seconds, one topic at a time, and what does the day close on before Friday's ticket?</a:t>
            </a:r>
          </a:p>
        </p:txBody>
      </p:sp>
      <p:sp>
        <p:nvSpPr>
          <p:cNvPr id="11" name="Rounded Rectangle 10"/>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3" name="Rounded Rectangle 12"/>
          <p:cNvSpPr/>
          <p:nvPr/>
        </p:nvSpPr>
        <p:spPr>
          <a:xfrm>
            <a:off x="422878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hire say?</a:t>
            </a:r>
          </a:p>
        </p:txBody>
      </p:sp>
      <p:sp>
        <p:nvSpPr>
          <p:cNvPr id="14" name="Rounded Rectangle 13"/>
          <p:cNvSpPr/>
          <p:nvPr/>
        </p:nvSpPr>
        <p:spPr>
          <a:xfrm>
            <a:off x="5947806"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carry?</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close: two questions, five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tonight, before the take-home: a call missed in the Kahoot is a call likely to reach the membership lead wrong. Applies: all five topics.</a:t>
            </a:r>
          </a:p>
        </p:txBody>
      </p:sp>
      <p:sp>
        <p:nvSpPr>
          <p:cNvPr id="12" name="Rectangle 11"/>
          <p:cNvSpPr/>
          <p:nvPr/>
        </p:nvSpPr>
        <p:spPr>
          <a:xfrm>
            <a:off x="3267379" y="3496056"/>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547405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5144871" cy="251205"/>
          </a:xfrm>
          <a:prstGeom prst="rect">
            <a:avLst/>
          </a:prstGeom>
          <a:noFill/>
        </p:spPr>
        <p:txBody>
          <a:bodyPr wrap="square" anchor="t" lIns="0" rIns="0" tIns="0" bIns="0">
            <a:spAutoFit/>
          </a:bodyPr>
          <a:lstStyle/>
          <a:p>
            <a:pPr algn="l"/>
            <a:r>
              <a:rPr sz="1300" b="1" i="0">
                <a:solidFill>
                  <a:srgbClr val="1A0F5C"/>
                </a:solidFill>
                <a:latin typeface="Calibri"/>
              </a:rPr>
              <a:t>Which calls can you make in seconds?</a:t>
            </a:r>
          </a:p>
        </p:txBody>
      </p:sp>
      <p:sp>
        <p:nvSpPr>
          <p:cNvPr id="17" name="TextBox 16"/>
          <p:cNvSpPr txBox="1"/>
          <p:nvPr/>
        </p:nvSpPr>
        <p:spPr>
          <a:xfrm>
            <a:off x="694944" y="4250182"/>
            <a:ext cx="5144871" cy="201676"/>
          </a:xfrm>
          <a:prstGeom prst="rect">
            <a:avLst/>
          </a:prstGeom>
          <a:noFill/>
        </p:spPr>
        <p:txBody>
          <a:bodyPr wrap="square" anchor="t" lIns="0" rIns="0" tIns="0" bIns="0">
            <a:spAutoFit/>
          </a:bodyPr>
          <a:lstStyle/>
          <a:p>
            <a:pPr algn="l"/>
            <a:r>
              <a:rPr sz="1000" b="0" i="0">
                <a:solidFill>
                  <a:srgbClr val="6B6690"/>
                </a:solidFill>
                <a:latin typeface="Calibri"/>
              </a:rPr>
              <a:t>One Kahoot item per topic, and Wednesday's return question</a:t>
            </a:r>
          </a:p>
        </p:txBody>
      </p:sp>
      <p:sp>
        <p:nvSpPr>
          <p:cNvPr id="18" name="TextBox 17"/>
          <p:cNvSpPr txBox="1"/>
          <p:nvPr/>
        </p:nvSpPr>
        <p:spPr>
          <a:xfrm>
            <a:off x="6187287" y="2929128"/>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8823731"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187287" y="3816096"/>
            <a:ext cx="5474055"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51879" y="3962400"/>
            <a:ext cx="5144871" cy="251205"/>
          </a:xfrm>
          <a:prstGeom prst="rect">
            <a:avLst/>
          </a:prstGeom>
          <a:noFill/>
        </p:spPr>
        <p:txBody>
          <a:bodyPr wrap="square" anchor="t" lIns="0" rIns="0" tIns="0" bIns="0">
            <a:spAutoFit/>
          </a:bodyPr>
          <a:lstStyle/>
          <a:p>
            <a:pPr algn="l"/>
            <a:r>
              <a:rPr sz="1300" b="1" i="0">
                <a:solidFill>
                  <a:srgbClr val="FFFFFF"/>
                </a:solidFill>
                <a:latin typeface="Calibri"/>
              </a:rPr>
              <a:t>What does the day close on?</a:t>
            </a:r>
          </a:p>
        </p:txBody>
      </p:sp>
      <p:sp>
        <p:nvSpPr>
          <p:cNvPr id="22" name="TextBox 21"/>
          <p:cNvSpPr txBox="1"/>
          <p:nvPr/>
        </p:nvSpPr>
        <p:spPr>
          <a:xfrm>
            <a:off x="6351879" y="4250182"/>
            <a:ext cx="5144871" cy="201676"/>
          </a:xfrm>
          <a:prstGeom prst="rect">
            <a:avLst/>
          </a:prstGeom>
          <a:noFill/>
        </p:spPr>
        <p:txBody>
          <a:bodyPr wrap="square" anchor="t" lIns="0" rIns="0" tIns="0" bIns="0">
            <a:spAutoFit/>
          </a:bodyPr>
          <a:lstStyle/>
          <a:p>
            <a:pPr algn="l"/>
            <a:r>
              <a:rPr sz="1000" b="0" i="0">
                <a:solidFill>
                  <a:srgbClr val="CFC9EE"/>
                </a:solidFill>
                <a:latin typeface="Calibri"/>
              </a:rPr>
              <a:t>The sentence to the membership lead, then Friday's ticket</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5" name="Oval 2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9" name="Oval 2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Wednesday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calls can the room make in seconds?</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1, 3 AND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Cohorts, the blend and the curves</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Cohort construction: what a cohort fixes; blended numbers against cohort truth: a blend that holds while two old cohorts fall; retention curves: what the floor says</a:t>
            </a:r>
          </a:p>
        </p:txBody>
      </p:sp>
      <p:sp>
        <p:nvSpPr>
          <p:cNvPr id="15" name="Rounded Rectangle 14"/>
          <p:cNvSpPr/>
          <p:nvPr/>
        </p:nvSpPr>
        <p:spPr>
          <a:xfrm>
            <a:off x="430164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ter_c3942426586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2, 5 AND 7</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Funnel stages, drop-off, denominators</a:t>
            </a:r>
          </a:p>
        </p:txBody>
      </p:sp>
      <p:sp>
        <p:nvSpPr>
          <p:cNvPr id="20" name="TextBox 19"/>
          <p:cNvSpPr txBox="1"/>
          <p:nvPr/>
        </p:nvSpPr>
        <p:spPr>
          <a:xfrm>
            <a:off x="4502810" y="353466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step that owns the Android loss; a step above 100 percent; per session against per member</a:t>
            </a:r>
          </a:p>
        </p:txBody>
      </p:sp>
      <p:sp>
        <p:nvSpPr>
          <p:cNvPr id="21" name="Rounded Rectangle 20"/>
          <p:cNvSpPr/>
          <p:nvPr/>
        </p:nvSpPr>
        <p:spPr>
          <a:xfrm>
            <a:off x="807293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otate-ccw_eba0c1ea828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ITEMS 8 AND 6</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The fix-first decision, then Wednesday</a:t>
            </a:r>
          </a:p>
        </p:txBody>
      </p:sp>
      <p:sp>
        <p:nvSpPr>
          <p:cNvPr id="26" name="TextBox 25"/>
          <p:cNvSpPr txBox="1"/>
          <p:nvPr/>
        </p:nvSpPr>
        <p:spPr>
          <a:xfrm>
            <a:off x="8274100" y="353466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first move in a retention walk; then bread to milk, confidence 0.74 and lift 1.04, the verdict in one breath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31" name="Oval 30"/>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33" name="Oval 32"/>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 in one sentence, and Friday's ticket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Thursday close on, and what is Friday's question?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sentence. </a:t>
            </a:r>
            <a:r>
              <a:rPr sz="1500" b="0" i="0">
                <a:solidFill>
                  <a:srgbClr val="1A1440"/>
                </a:solidFill>
                <a:latin typeface="Calibri"/>
              </a:rPr>
              <a:t>The dashboard was flat because of who it counts: every cohort fell after month one, each newer one started lower, and the August cohort is outside the count until October, when the dashboard reads about 33; the orders were lost in one step, on one platform, after one date.</a:t>
            </a:r>
          </a:p>
        </p:txBody>
      </p:sp>
      <p:sp>
        <p:nvSpPr>
          <p:cNvPr id="12" name="Rounded Rectangle 11"/>
          <p:cNvSpPr/>
          <p:nvPr/>
        </p:nvSpPr>
        <p:spPr>
          <a:xfrm>
            <a:off x="530352" y="31958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158240"/>
          </a:xfrm>
          <a:prstGeom prst="rect">
            <a:avLst/>
          </a:prstGeom>
          <a:noFill/>
        </p:spPr>
        <p:txBody>
          <a:bodyPr wrap="square" anchor="ctr" lIns="0" rIns="0" tIns="0" bIns="0">
            <a:spAutoFit/>
          </a:bodyPr>
          <a:lstStyle/>
          <a:p>
            <a:r>
              <a:rPr sz="1500" b="1">
                <a:solidFill>
                  <a:srgbClr val="5B3FD6"/>
                </a:solidFill>
                <a:latin typeface="Calibri"/>
              </a:rPr>
              <a:t>The crux lines. </a:t>
            </a:r>
            <a:r>
              <a:rPr sz="1500" b="0" i="0">
                <a:solidFill>
                  <a:srgbClr val="1A1440"/>
                </a:solidFill>
                <a:latin typeface="Calibri"/>
              </a:rPr>
              <a:t>A cohort fixes the entry moment. A curve's floor is read only once two ages agree. A blend is a size-weighted average and counts who it counts. Each funnel step divides by the step before, in one named unit. A low step is not a loss until it moves, and a fix-first call carries its comparator, its date and its cost.</a:t>
            </a:r>
          </a:p>
        </p:txBody>
      </p:sp>
      <p:sp>
        <p:nvSpPr>
          <p:cNvPr id="15" name="Rounded Rectangle 14"/>
          <p:cNvSpPr/>
          <p:nvPr/>
        </p:nvSpPr>
        <p:spPr>
          <a:xfrm>
            <a:off x="530352" y="47015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295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820412"/>
            <a:ext cx="10564063" cy="891540"/>
          </a:xfrm>
          <a:prstGeom prst="rect">
            <a:avLst/>
          </a:prstGeom>
          <a:noFill/>
        </p:spPr>
        <p:txBody>
          <a:bodyPr wrap="square" anchor="ctr" lIns="0" rIns="0" tIns="0" bIns="0">
            <a:spAutoFit/>
          </a:bodyPr>
          <a:lstStyle/>
          <a:p>
            <a:r>
              <a:rPr sz="1500" b="1">
                <a:solidFill>
                  <a:srgbClr val="5B3FD6"/>
                </a:solidFill>
                <a:latin typeface="Calibri"/>
              </a:rPr>
              <a:t>Friday. </a:t>
            </a:r>
            <a:r>
              <a:rPr sz="1500" b="0" i="0">
                <a:solidFill>
                  <a:srgbClr val="1A1440"/>
                </a:solidFill>
                <a:latin typeface="Calibri"/>
              </a:rPr>
              <a:t>Flipkart's Lucknow fulfilment centre must book packer shifts for the festive weeks, and two forecasts sit eighteen points apart: which one goes to the plan, and how wrong could it be? The pre-read ships tonight: the ticket's first lines and Friday's five topics, as terms.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0" name="Oval 1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4" name="Oval 23"/>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