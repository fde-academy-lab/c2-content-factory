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is 60 trainer minutes before the IITGN block (tentative) at W4-3,</a:t>
            </a:r>
          </a:p>
          <a:p>
            <a:r>
              <a:t>or the weaned-users fallback if the block slips. Read the opening line and the thread: Trust, in</a:t>
            </a:r>
          </a:p>
          <a:p>
            <a:r>
              <a:t>the specific sense of a flat number hiding a collapse.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every row aloud. The teaching move is Veritasium's: name the misconception</a:t>
            </a:r>
          </a:p>
          <a:p>
            <a:r>
              <a:t>first, then the test. Trust the data less than the room thinks, and name what each caveat would</a:t>
            </a:r>
          </a:p>
          <a:p>
            <a:r>
              <a:t>and would not change.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self-selection caveat with its company fact. Say "before and after is</a:t>
            </a:r>
          </a:p>
          <a:p>
            <a:r>
              <a:t>not cause" twice. The R2 citation is Zomato's shareholder letter, verified 12 October 2026. The</a:t>
            </a:r>
          </a:p>
          <a:p>
            <a:r>
              <a:t>transcript in L6 will ask a shorter version of this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State the call, the evidence and the cost in exactly this order. Lead with the</a:t>
            </a:r>
          </a:p>
          <a:p>
            <a:r>
              <a:t>call, not the number: a city head wants the sentence first. The cost is a labelled number with</a:t>
            </a:r>
          </a:p>
          <a:p>
            <a:r>
              <a:t>its assumption named, which is what L5 asks for in the hire-grade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move is the case-method's: concede what is true (overall is flat), restate</a:t>
            </a:r>
          </a:p>
          <a:p>
            <a:r>
              <a:t>what the question asked (members on Android after 14 September), and bring the chart that answers</a:t>
            </a:r>
          </a:p>
          <a:p>
            <a:r>
              <a:t>the question asked. The response is a dispute answered, not a dispute won.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arithmetic aloud. The teaching move is Krish Naik's: compute the number</a:t>
            </a:r>
          </a:p>
          <a:p>
            <a:r>
              <a:t>with the room, name what each assumption is, and name what makes it change. Lifetime value is</a:t>
            </a:r>
          </a:p>
          <a:p>
            <a:r>
              <a:t>Week 5, not today.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two columns side by side. The hire-grade answer opens on method and</a:t>
            </a:r>
          </a:p>
          <a:p>
            <a:r>
              <a:t>closes on a decision; the weak one opens on a cause and skips the method. The scorecard is in</a:t>
            </a:r>
          </a:p>
          <a:p>
            <a:r>
              <a:t>trainer/C2_W04_D04_transcript_TRAINER (finishing session owns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programme-written AI variant. It carries no company figure; it uses</a:t>
            </a:r>
          </a:p>
          <a:p>
            <a:r>
              <a:t>the structure the day has already taught. The transfer from a membership app to an AI product is</a:t>
            </a:r>
          </a:p>
          <a:p>
            <a:r>
              <a:t>the move the Saturday paper tests across companies.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Pick one and tell its story: the Swiggy MTU-against-frequency split is clean,</a:t>
            </a:r>
          </a:p>
          <a:p>
            <a:r>
              <a:t>quick and loud. The links are in the facts file and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handoff. If the block slips, pivot to the fallback: Swiggy's weaned</a:t>
            </a:r>
          </a:p>
          <a:p>
            <a:r>
              <a:t>users, the row's monthly-against-weekly re-run, the Zomato frequency rise and the second</a:t>
            </a:r>
          </a:p>
          <a:p>
            <a:r>
              <a:t>transcript. Trainer owns the choice when the day runs.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with Kahoot. The trap item (Q3) uses a blend other than 38 and never 41, so the</a:t>
            </a:r>
          </a:p>
          <a:p>
            <a:r>
              <a:t>plant stays Kalpa's. The return question is from Wednesday, with the quick-breath verdict.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sentence. The pre-read ships tonight, terms only; no technique. The TA</a:t>
            </a:r>
          </a:p>
          <a:p>
            <a:r>
              <a:t>lab after this block owns L1 to L3 on Kalpa's Retail-Plus, with the plant found in the lab's</a:t>
            </a:r>
          </a:p>
          <a:p>
            <a:r>
              <a:t>empty your-turn cell.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THURSDAY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the data cannot show, what to fix first, and the interview walk</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 have a stage, a segment and a date. Before you call the fix, name what the data cannot show. And then walk me through the investigation in the order a hiring screen expects.”</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to the team's own analyst, and the hire-grade shape for the transcript that follows.</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2" name="TextBox 11"/>
          <p:cNvSpPr txBox="1"/>
          <p:nvPr/>
        </p:nvSpPr>
        <p:spPr>
          <a:xfrm>
            <a:off x="1005839" y="5870448"/>
            <a:ext cx="1839087" cy="185166"/>
          </a:xfrm>
          <a:prstGeom prst="rect">
            <a:avLst/>
          </a:prstGeom>
          <a:noFill/>
        </p:spPr>
        <p:txBody>
          <a:bodyPr wrap="square" anchor="t" lIns="0" rIns="0" tIns="0" bIns="0">
            <a:spAutoFit/>
          </a:bodyPr>
          <a:lstStyle/>
          <a:p>
            <a:pPr algn="l"/>
            <a:r>
              <a:rPr sz="900" b="0" i="0">
                <a:solidFill>
                  <a:srgbClr val="FFFFFF"/>
                </a:solidFill>
                <a:latin typeface="Calibri"/>
              </a:rPr>
              <a:t>What can the table not show?</a:t>
            </a:r>
          </a:p>
        </p:txBody>
      </p:sp>
      <p:sp>
        <p:nvSpPr>
          <p:cNvPr id="13" name="TextBox 12"/>
          <p:cNvSpPr txBox="1"/>
          <p:nvPr/>
        </p:nvSpPr>
        <p:spPr>
          <a:xfrm>
            <a:off x="302780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4" name="TextBox 13"/>
          <p:cNvSpPr txBox="1"/>
          <p:nvPr/>
        </p:nvSpPr>
        <p:spPr>
          <a:xfrm>
            <a:off x="3411855"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What is fixed first, and what does it cost?</a:t>
            </a:r>
          </a:p>
        </p:txBody>
      </p:sp>
      <p:sp>
        <p:nvSpPr>
          <p:cNvPr id="15" name="TextBox 14"/>
          <p:cNvSpPr txBox="1"/>
          <p:nvPr/>
        </p:nvSpPr>
        <p:spPr>
          <a:xfrm>
            <a:off x="558812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6" name="TextBox 15"/>
          <p:cNvSpPr txBox="1"/>
          <p:nvPr/>
        </p:nvSpPr>
        <p:spPr>
          <a:xfrm>
            <a:off x="5972175" y="5870448"/>
            <a:ext cx="1247584" cy="185166"/>
          </a:xfrm>
          <a:prstGeom prst="rect">
            <a:avLst/>
          </a:prstGeom>
          <a:noFill/>
        </p:spPr>
        <p:txBody>
          <a:bodyPr wrap="square" anchor="t" lIns="0" rIns="0" tIns="0" bIns="0">
            <a:spAutoFit/>
          </a:bodyPr>
          <a:lstStyle/>
          <a:p>
            <a:pPr algn="l"/>
            <a:r>
              <a:rPr sz="900" b="0" i="0">
                <a:solidFill>
                  <a:srgbClr val="FFFFFF"/>
                </a:solidFill>
                <a:latin typeface="Calibri"/>
              </a:rPr>
              <a:t>The interview walk</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the data cannot show, what to fix first, and the interview walk</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can the table not show?</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caveats the engineer must say aloud before any fix moves.</a:t>
            </a:r>
          </a:p>
        </p:txBody>
      </p:sp>
      <p:sp>
        <p:nvSpPr>
          <p:cNvPr id="10" name="Rounded Rectangle 9"/>
          <p:cNvSpPr/>
          <p:nvPr/>
        </p:nvSpPr>
        <p:spPr>
          <a:xfrm>
            <a:off x="731519"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can the table not show?</a:t>
            </a:r>
          </a:p>
        </p:txBody>
      </p:sp>
      <p:sp>
        <p:nvSpPr>
          <p:cNvPr id="11" name="Rounded Rectangle 10"/>
          <p:cNvSpPr/>
          <p:nvPr/>
        </p:nvSpPr>
        <p:spPr>
          <a:xfrm>
            <a:off x="2865055"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 and what does it cost?</a:t>
            </a:r>
          </a:p>
        </p:txBody>
      </p:sp>
      <p:sp>
        <p:nvSpPr>
          <p:cNvPr id="12" name="Rounded Rectangle 11"/>
          <p:cNvSpPr/>
          <p:nvPr/>
        </p:nvSpPr>
        <p:spPr>
          <a:xfrm>
            <a:off x="5123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walk</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half two: caveats, call and transcript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caveats, each with the check that would settle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might make the morning's call wrong, and how is each one tested?</a:t>
            </a:r>
          </a:p>
        </p:txBody>
      </p:sp>
      <p:graphicFrame>
        <p:nvGraphicFramePr>
          <p:cNvPr id="9" name="Table 8"/>
          <p:cNvGraphicFramePr>
            <a:graphicFrameLocks noGrp="1"/>
          </p:cNvGraphicFramePr>
          <p:nvPr/>
        </p:nvGraphicFramePr>
        <p:xfrm>
          <a:off x="530352" y="1956816"/>
          <a:ext cx="11130989" cy="3815080"/>
        </p:xfrm>
        <a:graphic>
          <a:graphicData uri="http://schemas.openxmlformats.org/drawingml/2006/table">
            <a:tbl>
              <a:tblPr firstRow="0" bandRow="0">
                <a:tableStyleId>{2D5ABB26-0587-4C30-8999-92F81FD0307C}</a:tableStyleId>
              </a:tblPr>
              <a:tblGrid>
                <a:gridCol w="3408077"/>
                <a:gridCol w="3861456"/>
                <a:gridCol w="3861456"/>
              </a:tblGrid>
              <a:tr h="352552">
                <a:tc>
                  <a:txBody>
                    <a:bodyPr/>
                    <a:lstStyle/>
                    <a:p>
                      <a:r>
                        <a:rPr sz="1350" b="1" i="0">
                          <a:solidFill>
                            <a:srgbClr val="FFFFFF"/>
                          </a:solidFill>
                          <a:latin typeface="Calibri"/>
                        </a:rPr>
                        <a:t>Caveat</a:t>
                      </a:r>
                    </a:p>
                  </a:txBody>
                  <a:tcPr marL="101600" marR="101600" marT="38100" marB="38100" anchor="ctr">
                    <a:solidFill>
                      <a:srgbClr val="1A0F5C"/>
                    </a:solidFill>
                  </a:tcPr>
                </a:tc>
                <a:tc>
                  <a:txBody>
                    <a:bodyPr/>
                    <a:lstStyle/>
                    <a:p>
                      <a:r>
                        <a:rPr sz="1350" b="1" i="0">
                          <a:solidFill>
                            <a:srgbClr val="FFFFFF"/>
                          </a:solidFill>
                          <a:latin typeface="Calibri"/>
                        </a:rPr>
                        <a:t>Why it matters</a:t>
                      </a:r>
                    </a:p>
                  </a:txBody>
                  <a:tcPr marL="101600" marR="101600" marT="38100" marB="38100" anchor="ctr">
                    <a:solidFill>
                      <a:srgbClr val="1A0F5C"/>
                    </a:solidFill>
                  </a:tcPr>
                </a:tc>
                <a:tc>
                  <a:txBody>
                    <a:bodyPr/>
                    <a:lstStyle/>
                    <a:p>
                      <a:r>
                        <a:rPr sz="1350" b="1" i="0">
                          <a:solidFill>
                            <a:srgbClr val="FFFFFF"/>
                          </a:solidFill>
                          <a:latin typeface="Calibri"/>
                        </a:rPr>
                        <a:t>The check</a:t>
                      </a:r>
                    </a:p>
                  </a:txBody>
                  <a:tcPr marL="101600" marR="101600" marT="38100" marB="38100" anchor="ctr">
                    <a:solidFill>
                      <a:srgbClr val="1A0F5C"/>
                    </a:solidFill>
                  </a:tcPr>
                </a:tc>
              </a:tr>
              <a:tr h="577088">
                <a:tc>
                  <a:txBody>
                    <a:bodyPr/>
                    <a:lstStyle/>
                    <a:p>
                      <a:r>
                        <a:rPr sz="1300" b="0" i="0">
                          <a:solidFill>
                            <a:srgbClr val="1A1440"/>
                          </a:solidFill>
                          <a:latin typeface="Calibri"/>
                        </a:rPr>
                        <a:t>Selection: the sale cohort was bought on a discount</a:t>
                      </a:r>
                    </a:p>
                  </a:txBody>
                  <a:tcPr marL="101600" marR="101600" marT="38100" marB="38100" anchor="ctr">
                    <a:solidFill>
                      <a:srgbClr val="FFFFFF"/>
                    </a:solidFill>
                  </a:tcPr>
                </a:tc>
                <a:tc>
                  <a:txBody>
                    <a:bodyPr/>
                    <a:lstStyle/>
                    <a:p>
                      <a:r>
                        <a:rPr sz="1300" b="0" i="0">
                          <a:solidFill>
                            <a:srgbClr val="1A1440"/>
                          </a:solidFill>
                          <a:latin typeface="Calibri"/>
                        </a:rPr>
                        <a:t>A sale cohort may churn differently from an organic one</a:t>
                      </a:r>
                    </a:p>
                  </a:txBody>
                  <a:tcPr marL="101600" marR="101600" marT="38100" marB="38100" anchor="ctr">
                    <a:solidFill>
                      <a:srgbClr val="FFFFFF"/>
                    </a:solidFill>
                  </a:tcPr>
                </a:tc>
                <a:tc>
                  <a:txBody>
                    <a:bodyPr/>
                    <a:lstStyle/>
                    <a:p>
                      <a:r>
                        <a:rPr sz="1300" b="0" i="0">
                          <a:solidFill>
                            <a:srgbClr val="1A1440"/>
                          </a:solidFill>
                          <a:latin typeface="Calibri"/>
                        </a:rPr>
                        <a:t>Place the August organic subcohort beside July's organic cohort at the same ages</a:t>
                      </a:r>
                    </a:p>
                  </a:txBody>
                  <a:tcPr marL="101600" marR="101600" marT="38100" marB="38100" anchor="ctr">
                    <a:solidFill>
                      <a:srgbClr val="FFFFFF"/>
                    </a:solidFill>
                  </a:tcPr>
                </a:tc>
              </a:tr>
              <a:tr h="577088">
                <a:tc>
                  <a:txBody>
                    <a:bodyPr/>
                    <a:lstStyle/>
                    <a:p>
                      <a:r>
                        <a:rPr sz="1300" b="0" i="0">
                          <a:solidFill>
                            <a:srgbClr val="1A1440"/>
                          </a:solidFill>
                          <a:latin typeface="Calibri"/>
                        </a:rPr>
                        <a:t>Censoring: the latest cohorts are young</a:t>
                      </a:r>
                    </a:p>
                  </a:txBody>
                  <a:tcPr marL="101600" marR="101600" marT="38100" marB="38100" anchor="ctr">
                    <a:solidFill>
                      <a:srgbClr val="F4F2FA"/>
                    </a:solidFill>
                  </a:tcPr>
                </a:tc>
                <a:tc>
                  <a:txBody>
                    <a:bodyPr/>
                    <a:lstStyle/>
                    <a:p>
                      <a:r>
                        <a:rPr sz="1300" b="0" i="0">
                          <a:solidFill>
                            <a:srgbClr val="1A1440"/>
                          </a:solidFill>
                          <a:latin typeface="Calibri"/>
                        </a:rPr>
                        <a:t>A member who has not left is not retained for ever</a:t>
                      </a:r>
                    </a:p>
                  </a:txBody>
                  <a:tcPr marL="101600" marR="101600" marT="38100" marB="38100" anchor="ctr">
                    <a:solidFill>
                      <a:srgbClr val="F4F2FA"/>
                    </a:solidFill>
                  </a:tcPr>
                </a:tc>
                <a:tc>
                  <a:txBody>
                    <a:bodyPr/>
                    <a:lstStyle/>
                    <a:p>
                      <a:r>
                        <a:rPr sz="1300" b="0" i="0">
                          <a:solidFill>
                            <a:srgbClr val="1A1440"/>
                          </a:solidFill>
                          <a:latin typeface="Calibri"/>
                        </a:rPr>
                        <a:t>Named for W4-3; treat her as censored and read the curve with that in mind</a:t>
                      </a:r>
                    </a:p>
                  </a:txBody>
                  <a:tcPr marL="101600" marR="101600" marT="38100" marB="38100" anchor="ctr">
                    <a:solidFill>
                      <a:srgbClr val="F4F2FA"/>
                    </a:solidFill>
                  </a:tcPr>
                </a:tc>
              </a:tr>
              <a:tr h="577088">
                <a:tc>
                  <a:txBody>
                    <a:bodyPr/>
                    <a:lstStyle/>
                    <a:p>
                      <a:r>
                        <a:rPr sz="1300" b="0" i="0">
                          <a:solidFill>
                            <a:srgbClr val="1A1440"/>
                          </a:solidFill>
                          <a:latin typeface="Calibri"/>
                        </a:rPr>
                        <a:t>Seasonality: exam months in student-heavy zones</a:t>
                      </a:r>
                    </a:p>
                  </a:txBody>
                  <a:tcPr marL="101600" marR="101600" marT="38100" marB="38100" anchor="ctr">
                    <a:solidFill>
                      <a:srgbClr val="FFFFFF"/>
                    </a:solidFill>
                  </a:tcPr>
                </a:tc>
                <a:tc>
                  <a:txBody>
                    <a:bodyPr/>
                    <a:lstStyle/>
                    <a:p>
                      <a:r>
                        <a:rPr sz="1300" b="0" i="0">
                          <a:solidFill>
                            <a:srgbClr val="1A1440"/>
                          </a:solidFill>
                          <a:latin typeface="Calibri"/>
                        </a:rPr>
                        <a:t>A zone effect can masquerade as a cohort effect</a:t>
                      </a:r>
                    </a:p>
                  </a:txBody>
                  <a:tcPr marL="101600" marR="101600" marT="38100" marB="38100" anchor="ctr">
                    <a:solidFill>
                      <a:srgbClr val="FFFFFF"/>
                    </a:solidFill>
                  </a:tcPr>
                </a:tc>
                <a:tc>
                  <a:txBody>
                    <a:bodyPr/>
                    <a:lstStyle/>
                    <a:p>
                      <a:r>
                        <a:rPr sz="1300" b="0" i="0">
                          <a:solidFill>
                            <a:srgbClr val="1A1440"/>
                          </a:solidFill>
                          <a:latin typeface="Calibri"/>
                        </a:rPr>
                        <a:t>Split by zone and look at IT-corridor and south against the city total</a:t>
                      </a:r>
                    </a:p>
                  </a:txBody>
                  <a:tcPr marL="101600" marR="101600" marT="38100" marB="38100" anchor="ctr">
                    <a:solidFill>
                      <a:srgbClr val="FFFFFF"/>
                    </a:solidFill>
                  </a:tcPr>
                </a:tc>
              </a:tr>
              <a:tr h="577088">
                <a:tc>
                  <a:txBody>
                    <a:bodyPr/>
                    <a:lstStyle/>
                    <a:p>
                      <a:r>
                        <a:rPr sz="1300" b="0" i="0">
                          <a:solidFill>
                            <a:srgbClr val="1A1440"/>
                          </a:solidFill>
                          <a:latin typeface="Calibri"/>
                        </a:rPr>
                        <a:t>The tracking change: renamed events on Android</a:t>
                      </a:r>
                    </a:p>
                  </a:txBody>
                  <a:tcPr marL="101600" marR="101600" marT="38100" marB="38100" anchor="ctr">
                    <a:solidFill>
                      <a:srgbClr val="F4F2FA"/>
                    </a:solidFill>
                  </a:tcPr>
                </a:tc>
                <a:tc>
                  <a:txBody>
                    <a:bodyPr/>
                    <a:lstStyle/>
                    <a:p>
                      <a:r>
                        <a:rPr sz="1300" b="0" i="0">
                          <a:solidFill>
                            <a:srgbClr val="1A1440"/>
                          </a:solidFill>
                          <a:latin typeface="Calibri"/>
                        </a:rPr>
                        <a:t>A redefined column shifts the number without changing behaviour</a:t>
                      </a:r>
                    </a:p>
                  </a:txBody>
                  <a:tcPr marL="101600" marR="101600" marT="38100" marB="38100" anchor="ctr">
                    <a:solidFill>
                      <a:srgbClr val="F4F2FA"/>
                    </a:solidFill>
                  </a:tcPr>
                </a:tc>
                <a:tc>
                  <a:txBody>
                    <a:bodyPr/>
                    <a:lstStyle/>
                    <a:p>
                      <a:r>
                        <a:rPr sz="1300" b="0" i="0">
                          <a:solidFill>
                            <a:srgbClr val="1A1440"/>
                          </a:solidFill>
                          <a:latin typeface="Calibri"/>
                        </a:rPr>
                        <a:t>Use the app team's mapping; shift the release date a week either way; the fall holds</a:t>
                      </a:r>
                    </a:p>
                  </a:txBody>
                  <a:tcPr marL="101600" marR="101600" marT="38100" marB="38100" anchor="ctr">
                    <a:solidFill>
                      <a:srgbClr val="F4F2FA"/>
                    </a:solidFill>
                  </a:tcPr>
                </a:tc>
              </a:tr>
              <a:tr h="352552">
                <a:tc>
                  <a:txBody>
                    <a:bodyPr/>
                    <a:lstStyle/>
                    <a:p>
                      <a:r>
                        <a:rPr sz="1300" b="0" i="0">
                          <a:solidFill>
                            <a:srgbClr val="1A1440"/>
                          </a:solidFill>
                          <a:latin typeface="Calibri"/>
                        </a:rPr>
                        <a:t>Sessions against members</a:t>
                      </a:r>
                    </a:p>
                  </a:txBody>
                  <a:tcPr marL="101600" marR="101600" marT="38100" marB="38100" anchor="ctr">
                    <a:solidFill>
                      <a:srgbClr val="FFFFFF"/>
                    </a:solidFill>
                  </a:tcPr>
                </a:tc>
                <a:tc>
                  <a:txBody>
                    <a:bodyPr/>
                    <a:lstStyle/>
                    <a:p>
                      <a:r>
                        <a:rPr sz="1300" b="0" i="0">
                          <a:solidFill>
                            <a:srgbClr val="1A1440"/>
                          </a:solidFill>
                          <a:latin typeface="Calibri"/>
                        </a:rPr>
                        <a:t>The two units mean different things</a:t>
                      </a:r>
                    </a:p>
                  </a:txBody>
                  <a:tcPr marL="101600" marR="101600" marT="38100" marB="38100" anchor="ctr">
                    <a:solidFill>
                      <a:srgbClr val="FFFFFF"/>
                    </a:solidFill>
                  </a:tcPr>
                </a:tc>
                <a:tc>
                  <a:txBody>
                    <a:bodyPr/>
                    <a:lstStyle/>
                    <a:p>
                      <a:r>
                        <a:rPr sz="1300" b="0" i="0">
                          <a:solidFill>
                            <a:srgbClr val="1A1440"/>
                          </a:solidFill>
                          <a:latin typeface="Calibri"/>
                        </a:rPr>
                        <a:t>Name the unit on every chart</a:t>
                      </a:r>
                    </a:p>
                  </a:txBody>
                  <a:tcPr marL="101600" marR="101600" marT="38100" marB="38100" anchor="ctr">
                    <a:solidFill>
                      <a:srgbClr val="FFFFFF"/>
                    </a:solidFill>
                  </a:tcPr>
                </a:tc>
              </a:tr>
              <a:tr h="801624">
                <a:tc>
                  <a:txBody>
                    <a:bodyPr/>
                    <a:lstStyle/>
                    <a:p>
                      <a:r>
                        <a:rPr sz="1300" b="0" i="0">
                          <a:solidFill>
                            <a:srgbClr val="1A1440"/>
                          </a:solidFill>
                          <a:latin typeface="Calibri"/>
                        </a:rPr>
                        <a:t>Before-and-after is not cause</a:t>
                      </a:r>
                    </a:p>
                  </a:txBody>
                  <a:tcPr marL="101600" marR="101600" marT="38100" marB="38100" anchor="ctr">
                    <a:solidFill>
                      <a:srgbClr val="F4F2FA"/>
                    </a:solidFill>
                  </a:tcPr>
                </a:tc>
                <a:tc>
                  <a:txBody>
                    <a:bodyPr/>
                    <a:lstStyle/>
                    <a:p>
                      <a:r>
                        <a:rPr sz="1300" b="0" i="0">
                          <a:solidFill>
                            <a:srgbClr val="1A1440"/>
                          </a:solidFill>
                          <a:latin typeface="Calibri"/>
                        </a:rPr>
                        <a:t>Something else may have changed in the same window</a:t>
                      </a:r>
                    </a:p>
                  </a:txBody>
                  <a:tcPr marL="101600" marR="101600" marT="38100" marB="38100" anchor="ctr">
                    <a:solidFill>
                      <a:srgbClr val="F4F2FA"/>
                    </a:solidFill>
                  </a:tcPr>
                </a:tc>
                <a:tc>
                  <a:txBody>
                    <a:bodyPr/>
                    <a:lstStyle/>
                    <a:p>
                      <a:r>
                        <a:rPr sz="1300" b="0" i="0">
                          <a:solidFill>
                            <a:srgbClr val="1A1440"/>
                          </a:solidFill>
                          <a:latin typeface="Calibri"/>
                        </a:rPr>
                        <a:t>Note Zomato Gold's 60 percent frequency rise after joining (Th4) as the self-selection shape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can the table not show?</a:t>
            </a:r>
          </a:p>
        </p:txBody>
      </p:sp>
      <p:sp>
        <p:nvSpPr>
          <p:cNvPr id="12" name="Oval 11"/>
          <p:cNvSpPr/>
          <p:nvPr/>
        </p:nvSpPr>
        <p:spPr>
          <a:xfrm>
            <a:off x="22940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0372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is fixed first, and what does it cost?</a:t>
            </a:r>
          </a:p>
        </p:txBody>
      </p:sp>
      <p:sp>
        <p:nvSpPr>
          <p:cNvPr id="14" name="Oval 13"/>
          <p:cNvSpPr/>
          <p:nvPr/>
        </p:nvSpPr>
        <p:spPr>
          <a:xfrm>
            <a:off x="46897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79945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interview walk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Zomato's own number: frequency rises after joining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published 60 percent frequency rise after joining Gold say, and what does it not?</a:t>
            </a:r>
          </a:p>
        </p:txBody>
      </p:sp>
      <p:pic>
        <p:nvPicPr>
          <p:cNvPr id="9" name="mermaid diagram" descr="7e53cf796b458faf.png"/>
          <p:cNvPicPr>
            <a:picLocks noChangeAspect="1"/>
          </p:cNvPicPr>
          <p:nvPr/>
        </p:nvPicPr>
        <p:blipFill>
          <a:blip r:embed="rId5"/>
          <a:stretch>
            <a:fillRect/>
          </a:stretch>
        </p:blipFill>
        <p:spPr>
          <a:xfrm>
            <a:off x="3983310" y="1664208"/>
            <a:ext cx="422507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published number is real and does not say Gold caused the rise. A member who joins is also a member who expected to order more that month. The matched comparison is to the member who did not join but could have, which is what L4 demands before any causal claim.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can the table not show?</a:t>
            </a:r>
          </a:p>
        </p:txBody>
      </p:sp>
      <p:sp>
        <p:nvSpPr>
          <p:cNvPr id="13" name="Oval 12"/>
          <p:cNvSpPr/>
          <p:nvPr/>
        </p:nvSpPr>
        <p:spPr>
          <a:xfrm>
            <a:off x="22940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0372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is fixed first, and what does it cost?</a:t>
            </a:r>
          </a:p>
        </p:txBody>
      </p:sp>
      <p:sp>
        <p:nvSpPr>
          <p:cNvPr id="15" name="Oval 14"/>
          <p:cNvSpPr/>
          <p:nvPr/>
        </p:nvSpPr>
        <p:spPr>
          <a:xfrm>
            <a:off x="46897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79945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interview walk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fixed first, and what does it cost?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three-line call, the dispute, and the sale cohort's accounting.</a:t>
            </a:r>
          </a:p>
        </p:txBody>
      </p:sp>
      <p:sp>
        <p:nvSpPr>
          <p:cNvPr id="10" name="Rounded Rectangle 9"/>
          <p:cNvSpPr/>
          <p:nvPr/>
        </p:nvSpPr>
        <p:spPr>
          <a:xfrm>
            <a:off x="73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can the table not show?</a:t>
            </a:r>
          </a:p>
        </p:txBody>
      </p:sp>
      <p:sp>
        <p:nvSpPr>
          <p:cNvPr id="11" name="Rounded Rectangle 10"/>
          <p:cNvSpPr/>
          <p:nvPr/>
        </p:nvSpPr>
        <p:spPr>
          <a:xfrm>
            <a:off x="2865055"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fixed first, and what does it cost?</a:t>
            </a:r>
          </a:p>
        </p:txBody>
      </p:sp>
      <p:sp>
        <p:nvSpPr>
          <p:cNvPr id="12" name="Rounded Rectangle 11"/>
          <p:cNvSpPr/>
          <p:nvPr/>
        </p:nvSpPr>
        <p:spPr>
          <a:xfrm>
            <a:off x="5123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walk</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half two: caveats, call and transcript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Android checkout, members, from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for whom, since when, and what does the room cost into the fix?</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Fix the Android members' checkout flow that shipped on 14 September. Keep the sale-cohort action until L5's lifetime value number lands next week.</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The evidence. </a:t>
            </a:r>
            <a:r>
              <a:rPr sz="1500" b="0" i="0">
                <a:solidFill>
                  <a:srgbClr val="1A1440"/>
                </a:solidFill>
                <a:latin typeface="Calibri"/>
              </a:rPr>
              <a:t>Add-to-cart to order fell from 0.58 to 0.44 on Android. iOS stayed within two points, web was flat. The fall is one stage, one platform, after one date.</a:t>
            </a:r>
          </a:p>
        </p:txBody>
      </p:sp>
      <p:sp>
        <p:nvSpPr>
          <p:cNvPr id="15" name="Rounded Rectangle 14"/>
          <p:cNvSpPr/>
          <p:nvPr/>
        </p:nvSpPr>
        <p:spPr>
          <a:xfrm>
            <a:off x="530352" y="39014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0294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020312"/>
            <a:ext cx="10564063" cy="891540"/>
          </a:xfrm>
          <a:prstGeom prst="rect">
            <a:avLst/>
          </a:prstGeom>
          <a:noFill/>
        </p:spPr>
        <p:txBody>
          <a:bodyPr wrap="square" anchor="ctr" lIns="0" rIns="0" tIns="0" bIns="0">
            <a:spAutoFit/>
          </a:bodyPr>
          <a:lstStyle/>
          <a:p>
            <a:r>
              <a:rPr sz="1500" b="1">
                <a:solidFill>
                  <a:srgbClr val="5B3FD6"/>
                </a:solidFill>
                <a:latin typeface="Calibri"/>
              </a:rPr>
              <a:t>The cost. </a:t>
            </a:r>
            <a:r>
              <a:rPr sz="1500" b="0" i="0">
                <a:solidFill>
                  <a:srgbClr val="1A1440"/>
                </a:solidFill>
                <a:latin typeface="Calibri"/>
              </a:rPr>
              <a:t>The gap times Android members' weekly add-to-cart sessions in September, from the facts file. The multiplier is an average order value with its range, labelled an assumption so Finance can reset it before the number ships.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can the table not show?</a:t>
            </a:r>
          </a:p>
        </p:txBody>
      </p:sp>
      <p:sp>
        <p:nvSpPr>
          <p:cNvPr id="20" name="Oval 19"/>
          <p:cNvSpPr/>
          <p:nvPr/>
        </p:nvSpPr>
        <p:spPr>
          <a:xfrm>
            <a:off x="229400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403728"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is fixed first, and what does it cost?</a:t>
            </a:r>
          </a:p>
        </p:txBody>
      </p:sp>
      <p:sp>
        <p:nvSpPr>
          <p:cNvPr id="22" name="Oval 21"/>
          <p:cNvSpPr/>
          <p:nvPr/>
        </p:nvSpPr>
        <p:spPr>
          <a:xfrm>
            <a:off x="46897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9945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interview walk</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 team's chart, answered on its own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app team shows overall conversion flat across all platforms. What does that chart leave out?</a:t>
            </a:r>
          </a:p>
        </p:txBody>
      </p:sp>
      <p:pic>
        <p:nvPicPr>
          <p:cNvPr id="9" name="mermaid diagram" descr="f0cb92a2aac207f5.png"/>
          <p:cNvPicPr>
            <a:picLocks noChangeAspect="1"/>
          </p:cNvPicPr>
          <p:nvPr/>
        </p:nvPicPr>
        <p:blipFill>
          <a:blip r:embed="rId5"/>
          <a:stretch>
            <a:fillRect/>
          </a:stretch>
        </p:blipFill>
        <p:spPr>
          <a:xfrm>
            <a:off x="1116653" y="1956816"/>
            <a:ext cx="9958387" cy="2100262"/>
          </a:xfrm>
          <a:prstGeom prst="rect">
            <a:avLst/>
          </a:prstGeom>
        </p:spPr>
      </p:pic>
      <p:sp>
        <p:nvSpPr>
          <p:cNvPr id="10" name="TextBox 9"/>
          <p:cNvSpPr txBox="1"/>
          <p:nvPr/>
        </p:nvSpPr>
        <p:spPr>
          <a:xfrm>
            <a:off x="530352" y="42033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app team's chart is correct and useless. The right chart drops the three contrasts their chart averages over: platform, membership and date. Each one is in the data; the room draws it in one groupby.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can the table not show?</a:t>
            </a:r>
          </a:p>
        </p:txBody>
      </p:sp>
      <p:sp>
        <p:nvSpPr>
          <p:cNvPr id="13" name="Oval 12"/>
          <p:cNvSpPr/>
          <p:nvPr/>
        </p:nvSpPr>
        <p:spPr>
          <a:xfrm>
            <a:off x="229400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03728"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is fixed first, and what does it cost?</a:t>
            </a:r>
          </a:p>
        </p:txBody>
      </p:sp>
      <p:sp>
        <p:nvSpPr>
          <p:cNvPr id="15" name="Oval 14"/>
          <p:cNvSpPr/>
          <p:nvPr/>
        </p:nvSpPr>
        <p:spPr>
          <a:xfrm>
            <a:off x="46897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79945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interview walk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sale cohort cost, in orders not received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September gap is the Android fall, and how much is the August cohort's own retention?</a:t>
            </a:r>
          </a:p>
        </p:txBody>
      </p:sp>
      <p:sp>
        <p:nvSpPr>
          <p:cNvPr id="9" name="TextBox 8"/>
          <p:cNvSpPr txBox="1"/>
          <p:nvPr/>
        </p:nvSpPr>
        <p:spPr>
          <a:xfrm>
            <a:off x="530352" y="1956816"/>
            <a:ext cx="11130991" cy="209702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Android fall is 14 points on an add-to-cart base that the facts file sizes for September.</a:t>
            </a:r>
          </a:p>
          <a:p>
            <a:pPr>
              <a:spcAft>
                <a:spcPts val="800"/>
              </a:spcAft>
            </a:pPr>
            <a:r>
              <a:rPr sz="1600" b="0" i="0">
                <a:solidFill>
                  <a:srgbClr val="1A1440"/>
                </a:solidFill>
                <a:latin typeface="Calibri"/>
              </a:rPr>
              <a:t>The August cohort's month-one retention is 31 percent against the organic cohorts' low 50s. On 13,000 members, each extra point of month-one retention is 130 members ordering in September. The two gaps sum to a weekly orders number the city head can hand to Finance.</a:t>
            </a:r>
          </a:p>
          <a:p>
            <a:pPr>
              <a:spcAft>
                <a:spcPts val="800"/>
              </a:spcAft>
            </a:pPr>
            <a:r>
              <a:rPr sz="1600" b="0" i="0">
                <a:solidFill>
                  <a:srgbClr val="1A1440"/>
                </a:solidFill>
                <a:latin typeface="Calibri"/>
              </a:rPr>
              <a:t>The call keeps the stage as the fix-first; the sale-cohort decision waits for Week 5's lifetime value number, which decides whether the discount paid for itself.</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can the table not show?</a:t>
            </a:r>
          </a:p>
        </p:txBody>
      </p:sp>
      <p:sp>
        <p:nvSpPr>
          <p:cNvPr id="12" name="Oval 11"/>
          <p:cNvSpPr/>
          <p:nvPr/>
        </p:nvSpPr>
        <p:spPr>
          <a:xfrm>
            <a:off x="229400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03728"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is fixed first, and what does it cost?</a:t>
            </a:r>
          </a:p>
        </p:txBody>
      </p:sp>
      <p:sp>
        <p:nvSpPr>
          <p:cNvPr id="14" name="Oval 13"/>
          <p:cNvSpPr/>
          <p:nvPr/>
        </p:nvSpPr>
        <p:spPr>
          <a:xfrm>
            <a:off x="46897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79945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interview walk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walk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Retention dropped; walk me through it. And the AI-company variant.</a:t>
            </a:r>
          </a:p>
        </p:txBody>
      </p:sp>
      <p:sp>
        <p:nvSpPr>
          <p:cNvPr id="10" name="Rounded Rectangle 9"/>
          <p:cNvSpPr/>
          <p:nvPr/>
        </p:nvSpPr>
        <p:spPr>
          <a:xfrm>
            <a:off x="731519"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can the table not show?</a:t>
            </a:r>
          </a:p>
        </p:txBody>
      </p:sp>
      <p:sp>
        <p:nvSpPr>
          <p:cNvPr id="11" name="Rounded Rectangle 10"/>
          <p:cNvSpPr/>
          <p:nvPr/>
        </p:nvSpPr>
        <p:spPr>
          <a:xfrm>
            <a:off x="2865055"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 and what does it cost?</a:t>
            </a:r>
          </a:p>
        </p:txBody>
      </p:sp>
      <p:sp>
        <p:nvSpPr>
          <p:cNvPr id="12" name="Rounded Rectangle 11"/>
          <p:cNvSpPr/>
          <p:nvPr/>
        </p:nvSpPr>
        <p:spPr>
          <a:xfrm>
            <a:off x="512362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walk</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half two: caveats, call and transcript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transcript, in Aced's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Retention dropped. Walk me through your investigation. How does a hire-grade candidate open?</a:t>
            </a:r>
          </a:p>
        </p:txBody>
      </p:sp>
      <p:pic>
        <p:nvPicPr>
          <p:cNvPr id="9" name="mermaid diagram" descr="83630b0ccde68b8f.png"/>
          <p:cNvPicPr>
            <a:picLocks noChangeAspect="1"/>
          </p:cNvPicPr>
          <p:nvPr/>
        </p:nvPicPr>
        <p:blipFill>
          <a:blip r:embed="rId5"/>
          <a:stretch>
            <a:fillRect/>
          </a:stretch>
        </p:blipFill>
        <p:spPr>
          <a:xfrm>
            <a:off x="530352" y="1865509"/>
            <a:ext cx="11130991" cy="1450581"/>
          </a:xfrm>
          <a:prstGeom prst="rect">
            <a:avLst/>
          </a:prstGeom>
        </p:spPr>
      </p:pic>
      <p:graphicFrame>
        <p:nvGraphicFramePr>
          <p:cNvPr id="10" name="Table 9"/>
          <p:cNvGraphicFramePr>
            <a:graphicFrameLocks noGrp="1"/>
          </p:cNvGraphicFramePr>
          <p:nvPr/>
        </p:nvGraphicFramePr>
        <p:xfrm>
          <a:off x="530352" y="3462394"/>
          <a:ext cx="11130990" cy="2554224"/>
        </p:xfrm>
        <a:graphic>
          <a:graphicData uri="http://schemas.openxmlformats.org/drawingml/2006/table">
            <a:tbl>
              <a:tblPr firstRow="0" bandRow="0">
                <a:tableStyleId>{2D5ABB26-0587-4C30-8999-92F81FD0307C}</a:tableStyleId>
              </a:tblPr>
              <a:tblGrid>
                <a:gridCol w="2010515"/>
                <a:gridCol w="2892993"/>
                <a:gridCol w="6227482"/>
              </a:tblGrid>
              <a:tr h="335280">
                <a:tc>
                  <a:txBody>
                    <a:bodyPr/>
                    <a:lstStyle/>
                    <a:p>
                      <a:r>
                        <a:rPr sz="1250" b="1" i="0">
                          <a:solidFill>
                            <a:srgbClr val="FFFFFF"/>
                          </a:solidFill>
                          <a:latin typeface="Calibri"/>
                        </a:rPr>
                        <a:t>Beat</a:t>
                      </a:r>
                    </a:p>
                  </a:txBody>
                  <a:tcPr marL="101600" marR="101600" marT="38100" marB="38100" anchor="ctr">
                    <a:solidFill>
                      <a:srgbClr val="1A0F5C"/>
                    </a:solidFill>
                  </a:tcPr>
                </a:tc>
                <a:tc>
                  <a:txBody>
                    <a:bodyPr/>
                    <a:lstStyle/>
                    <a:p>
                      <a:r>
                        <a:rPr sz="1250" b="1" i="0">
                          <a:solidFill>
                            <a:srgbClr val="FFFFFF"/>
                          </a:solidFill>
                          <a:latin typeface="Calibri"/>
                        </a:rPr>
                        <a:t>Weak answer</a:t>
                      </a:r>
                    </a:p>
                  </a:txBody>
                  <a:tcPr marL="101600" marR="101600" marT="38100" marB="38100" anchor="ctr">
                    <a:solidFill>
                      <a:srgbClr val="1A0F5C"/>
                    </a:solidFill>
                  </a:tcPr>
                </a:tc>
                <a:tc>
                  <a:txBody>
                    <a:bodyPr/>
                    <a:lstStyle/>
                    <a:p>
                      <a:r>
                        <a:rPr sz="1250" b="1" i="0">
                          <a:solidFill>
                            <a:srgbClr val="FFFFFF"/>
                          </a:solidFill>
                          <a:latin typeface="Calibri"/>
                        </a:rPr>
                        <a:t>Hire-grade answer</a:t>
                      </a:r>
                    </a:p>
                  </a:txBody>
                  <a:tcPr marL="101600" marR="101600" marT="38100" marB="38100" anchor="ctr">
                    <a:solidFill>
                      <a:srgbClr val="1A0F5C"/>
                    </a:solidFill>
                  </a:tcPr>
                </a:tc>
              </a:tr>
              <a:tr h="335280">
                <a:tc>
                  <a:txBody>
                    <a:bodyPr/>
                    <a:lstStyle/>
                    <a:p>
                      <a:r>
                        <a:rPr sz="1200" b="0" i="0">
                          <a:solidFill>
                            <a:srgbClr val="1A1440"/>
                          </a:solidFill>
                          <a:latin typeface="Calibri"/>
                        </a:rPr>
                        <a:t>Clarifying questions</a:t>
                      </a:r>
                    </a:p>
                  </a:txBody>
                  <a:tcPr marL="101600" marR="101600" marT="38100" marB="38100" anchor="ctr">
                    <a:solidFill>
                      <a:srgbClr val="FFFFFF"/>
                    </a:solidFill>
                  </a:tcPr>
                </a:tc>
                <a:tc>
                  <a:txBody>
                    <a:bodyPr/>
                    <a:lstStyle/>
                    <a:p>
                      <a:r>
                        <a:rPr sz="1200" b="0" i="0">
                          <a:solidFill>
                            <a:srgbClr val="1A1440"/>
                          </a:solidFill>
                          <a:latin typeface="Calibri"/>
                        </a:rPr>
                        <a:t>None; starts naming causes</a:t>
                      </a:r>
                    </a:p>
                  </a:txBody>
                  <a:tcPr marL="101600" marR="101600" marT="38100" marB="38100" anchor="ctr">
                    <a:solidFill>
                      <a:srgbClr val="FFFFFF"/>
                    </a:solidFill>
                  </a:tcPr>
                </a:tc>
                <a:tc>
                  <a:txBody>
                    <a:bodyPr/>
                    <a:lstStyle/>
                    <a:p>
                      <a:r>
                        <a:rPr sz="1200" b="0" i="0">
                          <a:solidFill>
                            <a:srgbClr val="1A1440"/>
                          </a:solidFill>
                          <a:latin typeface="Calibri"/>
                        </a:rPr>
                        <a:t>"Which cohort window, which segment, what is retention here defined as?"</a:t>
                      </a:r>
                    </a:p>
                  </a:txBody>
                  <a:tcPr marL="101600" marR="101600" marT="38100" marB="38100" anchor="ctr">
                    <a:solidFill>
                      <a:srgbClr val="FFFFFF"/>
                    </a:solidFill>
                  </a:tcPr>
                </a:tc>
              </a:tr>
              <a:tr h="335280">
                <a:tc>
                  <a:txBody>
                    <a:bodyPr/>
                    <a:lstStyle/>
                    <a:p>
                      <a:r>
                        <a:rPr sz="1200" b="0" i="0">
                          <a:solidFill>
                            <a:srgbClr val="1A1440"/>
                          </a:solidFill>
                          <a:latin typeface="Calibri"/>
                        </a:rPr>
                        <a:t>First check</a:t>
                      </a:r>
                    </a:p>
                  </a:txBody>
                  <a:tcPr marL="101600" marR="101600" marT="38100" marB="38100" anchor="ctr">
                    <a:solidFill>
                      <a:srgbClr val="F4F2FA"/>
                    </a:solidFill>
                  </a:tcPr>
                </a:tc>
                <a:tc>
                  <a:txBody>
                    <a:bodyPr/>
                    <a:lstStyle/>
                    <a:p>
                      <a:r>
                        <a:rPr sz="1200" b="0" i="0">
                          <a:solidFill>
                            <a:srgbClr val="1A1440"/>
                          </a:solidFill>
                          <a:latin typeface="Calibri"/>
                        </a:rPr>
                        <a:t>"The sale cohort is the cause"</a:t>
                      </a:r>
                    </a:p>
                  </a:txBody>
                  <a:tcPr marL="101600" marR="101600" marT="38100" marB="38100" anchor="ctr">
                    <a:solidFill>
                      <a:srgbClr val="F4F2FA"/>
                    </a:solidFill>
                  </a:tcPr>
                </a:tc>
                <a:tc>
                  <a:txBody>
                    <a:bodyPr/>
                    <a:lstStyle/>
                    <a:p>
                      <a:r>
                        <a:rPr sz="1200" b="0" i="0">
                          <a:solidFill>
                            <a:srgbClr val="1A1440"/>
                          </a:solidFill>
                          <a:latin typeface="Calibri"/>
                        </a:rPr>
                        <a:t>"First the definition and the tracking: did either change?"</a:t>
                      </a:r>
                    </a:p>
                  </a:txBody>
                  <a:tcPr marL="101600" marR="101600" marT="38100" marB="38100" anchor="ctr">
                    <a:solidFill>
                      <a:srgbClr val="F4F2FA"/>
                    </a:solidFill>
                  </a:tcPr>
                </a:tc>
              </a:tr>
              <a:tr h="335280">
                <a:tc>
                  <a:txBody>
                    <a:bodyPr/>
                    <a:lstStyle/>
                    <a:p>
                      <a:r>
                        <a:rPr sz="1200" b="0" i="0">
                          <a:solidFill>
                            <a:srgbClr val="1A1440"/>
                          </a:solidFill>
                          <a:latin typeface="Calibri"/>
                        </a:rPr>
                        <a:t>Second check</a:t>
                      </a:r>
                    </a:p>
                  </a:txBody>
                  <a:tcPr marL="101600" marR="101600" marT="38100" marB="38100" anchor="ctr">
                    <a:solidFill>
                      <a:srgbClr val="FFFFFF"/>
                    </a:solidFill>
                  </a:tcPr>
                </a:tc>
                <a:tc>
                  <a:txBody>
                    <a:bodyPr/>
                    <a:lstStyle/>
                    <a:p>
                      <a:r>
                        <a:rPr sz="1200" b="0" i="0">
                          <a:solidFill>
                            <a:srgbClr val="1A1440"/>
                          </a:solidFill>
                          <a:latin typeface="Calibri"/>
                        </a:rPr>
                        <a:t>Jumps to a product change</a:t>
                      </a:r>
                    </a:p>
                  </a:txBody>
                  <a:tcPr marL="101600" marR="101600" marT="38100" marB="38100" anchor="ctr">
                    <a:solidFill>
                      <a:srgbClr val="FFFFFF"/>
                    </a:solidFill>
                  </a:tcPr>
                </a:tc>
                <a:tc>
                  <a:txBody>
                    <a:bodyPr/>
                    <a:lstStyle/>
                    <a:p>
                      <a:r>
                        <a:rPr sz="1200" b="0" i="0">
                          <a:solidFill>
                            <a:srgbClr val="1A1440"/>
                          </a:solidFill>
                          <a:latin typeface="Calibri"/>
                        </a:rPr>
                        <a:t>"Then the segment cuts: platform, membership, date, zone"</a:t>
                      </a:r>
                    </a:p>
                  </a:txBody>
                  <a:tcPr marL="101600" marR="101600" marT="38100" marB="38100" anchor="ctr">
                    <a:solidFill>
                      <a:srgbClr val="FFFFFF"/>
                    </a:solidFill>
                  </a:tcPr>
                </a:tc>
              </a:tr>
              <a:tr h="335280">
                <a:tc>
                  <a:txBody>
                    <a:bodyPr/>
                    <a:lstStyle/>
                    <a:p>
                      <a:r>
                        <a:rPr sz="1200" b="0" i="0">
                          <a:solidFill>
                            <a:srgbClr val="1A1440"/>
                          </a:solidFill>
                          <a:latin typeface="Calibri"/>
                        </a:rPr>
                        <a:t>Third check</a:t>
                      </a:r>
                    </a:p>
                  </a:txBody>
                  <a:tcPr marL="101600" marR="101600" marT="38100" marB="38100" anchor="ctr">
                    <a:solidFill>
                      <a:srgbClr val="F4F2FA"/>
                    </a:solidFill>
                  </a:tcPr>
                </a:tc>
                <a:tc>
                  <a:txBody>
                    <a:bodyPr/>
                    <a:lstStyle/>
                    <a:p>
                      <a:r>
                        <a:rPr sz="1200" b="0" i="0">
                          <a:solidFill>
                            <a:srgbClr val="1A1440"/>
                          </a:solidFill>
                          <a:latin typeface="Calibri"/>
                        </a:rPr>
                        <a:t>Blames the funnel</a:t>
                      </a:r>
                    </a:p>
                  </a:txBody>
                  <a:tcPr marL="101600" marR="101600" marT="38100" marB="38100" anchor="ctr">
                    <a:solidFill>
                      <a:srgbClr val="F4F2FA"/>
                    </a:solidFill>
                  </a:tcPr>
                </a:tc>
                <a:tc>
                  <a:txBody>
                    <a:bodyPr/>
                    <a:lstStyle/>
                    <a:p>
                      <a:r>
                        <a:rPr sz="1200" b="0" i="0">
                          <a:solidFill>
                            <a:srgbClr val="1A1440"/>
                          </a:solidFill>
                          <a:latin typeface="Calibri"/>
                        </a:rPr>
                        <a:t>"Fewer users or less use per user: separate before blaming either"</a:t>
                      </a:r>
                    </a:p>
                  </a:txBody>
                  <a:tcPr marL="101600" marR="101600" marT="38100" marB="38100" anchor="ctr">
                    <a:solidFill>
                      <a:srgbClr val="F4F2FA"/>
                    </a:solidFill>
                  </a:tcPr>
                </a:tc>
              </a:tr>
              <a:tr h="335280">
                <a:tc>
                  <a:txBody>
                    <a:bodyPr/>
                    <a:lstStyle/>
                    <a:p>
                      <a:r>
                        <a:rPr sz="1200" b="0" i="0">
                          <a:solidFill>
                            <a:srgbClr val="1A1440"/>
                          </a:solidFill>
                          <a:latin typeface="Calibri"/>
                        </a:rPr>
                        <a:t>Fourth check</a:t>
                      </a:r>
                    </a:p>
                  </a:txBody>
                  <a:tcPr marL="101600" marR="101600" marT="38100" marB="38100" anchor="ctr">
                    <a:solidFill>
                      <a:srgbClr val="FFFFFF"/>
                    </a:solidFill>
                  </a:tcPr>
                </a:tc>
                <a:tc>
                  <a:txBody>
                    <a:bodyPr/>
                    <a:lstStyle/>
                    <a:p>
                      <a:r>
                        <a:rPr sz="1200" b="0" i="0">
                          <a:solidFill>
                            <a:srgbClr val="1A1440"/>
                          </a:solidFill>
                          <a:latin typeface="Calibri"/>
                        </a:rPr>
                        <a:t>not reached</a:t>
                      </a:r>
                    </a:p>
                  </a:txBody>
                  <a:tcPr marL="101600" marR="101600" marT="38100" marB="38100" anchor="ctr">
                    <a:solidFill>
                      <a:srgbClr val="FFFFFF"/>
                    </a:solidFill>
                  </a:tcPr>
                </a:tc>
                <a:tc>
                  <a:txBody>
                    <a:bodyPr/>
                    <a:lstStyle/>
                    <a:p>
                      <a:r>
                        <a:rPr sz="1200" b="0" i="0">
                          <a:solidFill>
                            <a:srgbClr val="1A1440"/>
                          </a:solidFill>
                          <a:latin typeface="Calibri"/>
                        </a:rPr>
                        <a:t>"Then the funnel per stage, per unit, per date"</a:t>
                      </a:r>
                    </a:p>
                  </a:txBody>
                  <a:tcPr marL="101600" marR="101600" marT="38100" marB="38100" anchor="ctr">
                    <a:solidFill>
                      <a:srgbClr val="FFFFFF"/>
                    </a:solidFill>
                  </a:tcPr>
                </a:tc>
              </a:tr>
              <a:tr h="542544">
                <a:tc>
                  <a:txBody>
                    <a:bodyPr/>
                    <a:lstStyle/>
                    <a:p>
                      <a:r>
                        <a:rPr sz="1200" b="0" i="0">
                          <a:solidFill>
                            <a:srgbClr val="1A1440"/>
                          </a:solidFill>
                          <a:latin typeface="Calibri"/>
                        </a:rPr>
                        <a:t>Close</a:t>
                      </a:r>
                    </a:p>
                  </a:txBody>
                  <a:tcPr marL="101600" marR="101600" marT="38100" marB="38100" anchor="ctr">
                    <a:solidFill>
                      <a:srgbClr val="F4F2FA"/>
                    </a:solidFill>
                  </a:tcPr>
                </a:tc>
                <a:tc>
                  <a:txBody>
                    <a:bodyPr/>
                    <a:lstStyle/>
                    <a:p>
                      <a:r>
                        <a:rPr sz="1200" b="0" i="0">
                          <a:solidFill>
                            <a:srgbClr val="1A1440"/>
                          </a:solidFill>
                          <a:latin typeface="Calibri"/>
                        </a:rPr>
                        <a:t>"The retention dropped"</a:t>
                      </a:r>
                    </a:p>
                  </a:txBody>
                  <a:tcPr marL="101600" marR="101600" marT="38100" marB="38100" anchor="ctr">
                    <a:solidFill>
                      <a:srgbClr val="F4F2FA"/>
                    </a:solidFill>
                  </a:tcPr>
                </a:tc>
                <a:tc>
                  <a:txBody>
                    <a:bodyPr/>
                    <a:lstStyle/>
                    <a:p>
                      <a:r>
                        <a:rPr sz="1200" b="0" i="0">
                          <a:solidFill>
                            <a:srgbClr val="1A1440"/>
                          </a:solidFill>
                          <a:latin typeface="Calibri"/>
                        </a:rPr>
                        <a:t>"The call, the stage it is in, the evidence that rules out everything else, the cost in orders a week"</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can the table not show?</a:t>
            </a:r>
          </a:p>
        </p:txBody>
      </p:sp>
      <p:sp>
        <p:nvSpPr>
          <p:cNvPr id="13" name="Oval 12"/>
          <p:cNvSpPr/>
          <p:nvPr/>
        </p:nvSpPr>
        <p:spPr>
          <a:xfrm>
            <a:off x="22940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0372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is fixed first, and what does it cost?</a:t>
            </a:r>
          </a:p>
        </p:txBody>
      </p:sp>
      <p:sp>
        <p:nvSpPr>
          <p:cNvPr id="15" name="Oval 14"/>
          <p:cNvSpPr/>
          <p:nvPr/>
        </p:nvSpPr>
        <p:spPr>
          <a:xfrm>
            <a:off x="46897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79945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interview walk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AI-company variant: novelty against habit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separate the launch-week bump from real retention when a new AI feature ships?</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1803138"/>
                <a:gridCol w="4663926"/>
                <a:gridCol w="4663926"/>
              </a:tblGrid>
              <a:tr h="369824">
                <a:tc>
                  <a:txBody>
                    <a:bodyPr/>
                    <a:lstStyle/>
                    <a:p>
                      <a:r>
                        <a:rPr sz="1450" b="1" i="0">
                          <a:solidFill>
                            <a:srgbClr val="FFFFFF"/>
                          </a:solidFill>
                          <a:latin typeface="Calibri"/>
                        </a:rPr>
                        <a:t>What arrives</a:t>
                      </a:r>
                    </a:p>
                  </a:txBody>
                  <a:tcPr marL="101600" marR="101600" marT="38100" marB="38100" anchor="ctr">
                    <a:solidFill>
                      <a:srgbClr val="1A0F5C"/>
                    </a:solidFill>
                  </a:tcPr>
                </a:tc>
                <a:tc>
                  <a:txBody>
                    <a:bodyPr/>
                    <a:lstStyle/>
                    <a:p>
                      <a:r>
                        <a:rPr sz="1450" b="1" i="0">
                          <a:solidFill>
                            <a:srgbClr val="FFFFFF"/>
                          </a:solidFill>
                          <a:latin typeface="Calibri"/>
                        </a:rPr>
                        <a:t>What it looks like at first</a:t>
                      </a:r>
                    </a:p>
                  </a:txBody>
                  <a:tcPr marL="101600" marR="101600" marT="38100" marB="38100" anchor="ctr">
                    <a:solidFill>
                      <a:srgbClr val="1A0F5C"/>
                    </a:solidFill>
                  </a:tcPr>
                </a:tc>
                <a:tc>
                  <a:txBody>
                    <a:bodyPr/>
                    <a:lstStyle/>
                    <a:p>
                      <a:r>
                        <a:rPr sz="1450" b="1" i="0">
                          <a:solidFill>
                            <a:srgbClr val="FFFFFF"/>
                          </a:solidFill>
                          <a:latin typeface="Calibri"/>
                        </a:rPr>
                        <a:t>What it looks like at week four</a:t>
                      </a:r>
                    </a:p>
                  </a:txBody>
                  <a:tcPr marL="101600" marR="101600" marT="38100" marB="38100" anchor="ctr">
                    <a:solidFill>
                      <a:srgbClr val="1A0F5C"/>
                    </a:solidFill>
                  </a:tcPr>
                </a:tc>
              </a:tr>
              <a:tr h="611632">
                <a:tc>
                  <a:txBody>
                    <a:bodyPr/>
                    <a:lstStyle/>
                    <a:p>
                      <a:r>
                        <a:rPr sz="1400" b="0" i="0">
                          <a:solidFill>
                            <a:srgbClr val="1A1440"/>
                          </a:solidFill>
                          <a:latin typeface="Calibri"/>
                        </a:rPr>
                        <a:t>A launch-week cohort</a:t>
                      </a:r>
                    </a:p>
                  </a:txBody>
                  <a:tcPr marL="101600" marR="101600" marT="38100" marB="38100" anchor="ctr">
                    <a:solidFill>
                      <a:srgbClr val="FFFFFF"/>
                    </a:solidFill>
                  </a:tcPr>
                </a:tc>
                <a:tc>
                  <a:txBody>
                    <a:bodyPr/>
                    <a:lstStyle/>
                    <a:p>
                      <a:r>
                        <a:rPr sz="1400" b="0" i="0">
                          <a:solidFill>
                            <a:srgbClr val="1A1440"/>
                          </a:solidFill>
                          <a:latin typeface="Calibri"/>
                        </a:rPr>
                        <a:t>Day-1 and day-2 reads look strong because the feature is new</a:t>
                      </a:r>
                    </a:p>
                  </a:txBody>
                  <a:tcPr marL="101600" marR="101600" marT="38100" marB="38100" anchor="ctr">
                    <a:solidFill>
                      <a:srgbClr val="FFFFFF"/>
                    </a:solidFill>
                  </a:tcPr>
                </a:tc>
                <a:tc>
                  <a:txBody>
                    <a:bodyPr/>
                    <a:lstStyle/>
                    <a:p>
                      <a:r>
                        <a:rPr sz="1400" b="0" i="0">
                          <a:solidFill>
                            <a:srgbClr val="1A1440"/>
                          </a:solidFill>
                          <a:latin typeface="Calibri"/>
                        </a:rPr>
                        <a:t>Retention falls faster than organic cohorts' once novelty fades</a:t>
                      </a:r>
                    </a:p>
                  </a:txBody>
                  <a:tcPr marL="101600" marR="101600" marT="38100" marB="38100" anchor="ctr">
                    <a:solidFill>
                      <a:srgbClr val="FFFFFF"/>
                    </a:solidFill>
                  </a:tcPr>
                </a:tc>
              </a:tr>
              <a:tr h="611632">
                <a:tc>
                  <a:txBody>
                    <a:bodyPr/>
                    <a:lstStyle/>
                    <a:p>
                      <a:r>
                        <a:rPr sz="1400" b="0" i="0">
                          <a:solidFill>
                            <a:srgbClr val="1A1440"/>
                          </a:solidFill>
                          <a:latin typeface="Calibri"/>
                        </a:rPr>
                        <a:t>An organic cohort</a:t>
                      </a:r>
                    </a:p>
                  </a:txBody>
                  <a:tcPr marL="101600" marR="101600" marT="38100" marB="38100" anchor="ctr">
                    <a:solidFill>
                      <a:srgbClr val="F4F2FA"/>
                    </a:solidFill>
                  </a:tcPr>
                </a:tc>
                <a:tc>
                  <a:txBody>
                    <a:bodyPr/>
                    <a:lstStyle/>
                    <a:p>
                      <a:r>
                        <a:rPr sz="1400" b="0" i="0">
                          <a:solidFill>
                            <a:srgbClr val="1A1440"/>
                          </a:solidFill>
                          <a:latin typeface="Calibri"/>
                        </a:rPr>
                        <a:t>Day-1 and day-2 reads look normal</a:t>
                      </a:r>
                    </a:p>
                  </a:txBody>
                  <a:tcPr marL="101600" marR="101600" marT="38100" marB="38100" anchor="ctr">
                    <a:solidFill>
                      <a:srgbClr val="F4F2FA"/>
                    </a:solidFill>
                  </a:tcPr>
                </a:tc>
                <a:tc>
                  <a:txBody>
                    <a:bodyPr/>
                    <a:lstStyle/>
                    <a:p>
                      <a:r>
                        <a:rPr sz="1400" b="0" i="0">
                          <a:solidFill>
                            <a:srgbClr val="1A1440"/>
                          </a:solidFill>
                          <a:latin typeface="Calibri"/>
                        </a:rPr>
                        <a:t>Retention curve follows the shape of earlier organic cohorts</a:t>
                      </a:r>
                    </a:p>
                  </a:txBody>
                  <a:tcPr marL="101600" marR="101600" marT="38100" marB="38100" anchor="ctr">
                    <a:solidFill>
                      <a:srgbClr val="F4F2FA"/>
                    </a:solidFill>
                  </a:tcPr>
                </a:tc>
              </a:tr>
              <a:tr h="611632">
                <a:tc>
                  <a:txBody>
                    <a:bodyPr/>
                    <a:lstStyle/>
                    <a:p>
                      <a:r>
                        <a:rPr sz="1400" b="0" i="0">
                          <a:solidFill>
                            <a:srgbClr val="1A1440"/>
                          </a:solidFill>
                          <a:latin typeface="Calibri"/>
                        </a:rPr>
                        <a:t>A blended MAU reading</a:t>
                      </a:r>
                    </a:p>
                  </a:txBody>
                  <a:tcPr marL="101600" marR="101600" marT="38100" marB="38100" anchor="ctr">
                    <a:solidFill>
                      <a:srgbClr val="FFFFFF"/>
                    </a:solidFill>
                  </a:tcPr>
                </a:tc>
                <a:tc>
                  <a:txBody>
                    <a:bodyPr/>
                    <a:lstStyle/>
                    <a:p>
                      <a:r>
                        <a:rPr sz="1400" b="0" i="0">
                          <a:solidFill>
                            <a:srgbClr val="1A1440"/>
                          </a:solidFill>
                          <a:latin typeface="Calibri"/>
                        </a:rPr>
                        <a:t>Climbs through the launch and holds</a:t>
                      </a:r>
                    </a:p>
                  </a:txBody>
                  <a:tcPr marL="101600" marR="101600" marT="38100" marB="38100" anchor="ctr">
                    <a:solidFill>
                      <a:srgbClr val="FFFFFF"/>
                    </a:solidFill>
                  </a:tcPr>
                </a:tc>
                <a:tc>
                  <a:txBody>
                    <a:bodyPr/>
                    <a:lstStyle/>
                    <a:p>
                      <a:r>
                        <a:rPr sz="1400" b="0" i="0">
                          <a:solidFill>
                            <a:srgbClr val="1A1440"/>
                          </a:solidFill>
                          <a:latin typeface="Calibri"/>
                        </a:rPr>
                        <a:t>Hides the launch cohort's decay beneath the organic prop</a:t>
                      </a:r>
                    </a:p>
                  </a:txBody>
                  <a:tcPr marL="101600" marR="101600" marT="38100" marB="38100" anchor="ctr">
                    <a:solidFill>
                      <a:srgbClr val="FFFFFF"/>
                    </a:solidFill>
                  </a:tcPr>
                </a:tc>
              </a:tr>
            </a:tbl>
          </a:graphicData>
        </a:graphic>
      </p:graphicFrame>
      <p:sp>
        <p:nvSpPr>
          <p:cNvPr id="10" name="TextBox 9"/>
          <p:cNvSpPr txBox="1"/>
          <p:nvPr/>
        </p:nvSpPr>
        <p:spPr>
          <a:xfrm>
            <a:off x="530352" y="44175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call is to compare week-4 retention per cohort, never a blended MAU, when a launch is still inside the window. The structure is the same as Chennai's: a mix shift masks a drop.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can the table not show?</a:t>
            </a:r>
          </a:p>
        </p:txBody>
      </p:sp>
      <p:sp>
        <p:nvSpPr>
          <p:cNvPr id="13" name="Oval 12"/>
          <p:cNvSpPr/>
          <p:nvPr/>
        </p:nvSpPr>
        <p:spPr>
          <a:xfrm>
            <a:off x="22940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0372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is fixed first, and what does it cost?</a:t>
            </a:r>
          </a:p>
        </p:txBody>
      </p:sp>
      <p:sp>
        <p:nvSpPr>
          <p:cNvPr id="15" name="Oval 14"/>
          <p:cNvSpPr/>
          <p:nvPr/>
        </p:nvSpPr>
        <p:spPr>
          <a:xfrm>
            <a:off x="46897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79945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interview walk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anchored to a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pain points carry today's lesson into interviews?</a:t>
            </a:r>
          </a:p>
        </p:txBody>
      </p:sp>
      <p:graphicFrame>
        <p:nvGraphicFramePr>
          <p:cNvPr id="9" name="Table 8"/>
          <p:cNvGraphicFramePr>
            <a:graphicFrameLocks noGrp="1"/>
          </p:cNvGraphicFramePr>
          <p:nvPr/>
        </p:nvGraphicFramePr>
        <p:xfrm>
          <a:off x="530352" y="1956816"/>
          <a:ext cx="11130990" cy="318617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Case anchor</a:t>
                      </a:r>
                    </a:p>
                  </a:txBody>
                  <a:tcPr marL="101600" marR="101600" marT="38100" marB="38100" anchor="ctr">
                    <a:solidFill>
                      <a:srgbClr val="1A0F5C"/>
                    </a:solidFill>
                  </a:tcPr>
                </a:tc>
              </a:tr>
              <a:tr h="611632">
                <a:tc>
                  <a:txBody>
                    <a:bodyPr/>
                    <a:lstStyle/>
                    <a:p>
                      <a:r>
                        <a:rPr sz="1400" b="0" i="0">
                          <a:solidFill>
                            <a:srgbClr val="1A1440"/>
                          </a:solidFill>
                          <a:latin typeface="Calibri"/>
                        </a:rPr>
                        <a:t>A blend cannot separate fewer users from less use per user</a:t>
                      </a:r>
                    </a:p>
                  </a:txBody>
                  <a:tcPr marL="101600" marR="101600" marT="38100" marB="38100" anchor="ctr">
                    <a:solidFill>
                      <a:srgbClr val="FFFFFF"/>
                    </a:solidFill>
                  </a:tcPr>
                </a:tc>
                <a:tc>
                  <a:txBody>
                    <a:bodyPr/>
                    <a:lstStyle/>
                    <a:p>
                      <a:r>
                        <a:rPr sz="1400" b="0" i="0">
                          <a:solidFill>
                            <a:srgbClr val="1A1440"/>
                          </a:solidFill>
                          <a:latin typeface="Calibri"/>
                        </a:rPr>
                        <a:t>Swiggy's letter (Th3): MTU up 27.4 percent while platform frequency fell 6.3 percent</a:t>
                      </a:r>
                    </a:p>
                  </a:txBody>
                  <a:tcPr marL="101600" marR="101600" marT="38100" marB="38100" anchor="ctr">
                    <a:solidFill>
                      <a:srgbClr val="FFFFFF"/>
                    </a:solidFill>
                  </a:tcPr>
                </a:tc>
              </a:tr>
              <a:tr h="611632">
                <a:tc>
                  <a:txBody>
                    <a:bodyPr/>
                    <a:lstStyle/>
                    <a:p>
                      <a:r>
                        <a:rPr sz="1400" b="0" i="0">
                          <a:solidFill>
                            <a:srgbClr val="1A1440"/>
                          </a:solidFill>
                          <a:latin typeface="Calibri"/>
                        </a:rPr>
                        <a:t>A cohort chart with a moving denominator</a:t>
                      </a:r>
                    </a:p>
                  </a:txBody>
                  <a:tcPr marL="101600" marR="101600" marT="38100" marB="38100" anchor="ctr">
                    <a:solidFill>
                      <a:srgbClr val="F4F2FA"/>
                    </a:solidFill>
                  </a:tcPr>
                </a:tc>
                <a:tc>
                  <a:txBody>
                    <a:bodyPr/>
                    <a:lstStyle/>
                    <a:p>
                      <a:r>
                        <a:rPr sz="1400" b="0" i="0">
                          <a:solidFill>
                            <a:srgbClr val="1A1440"/>
                          </a:solidFill>
                          <a:latin typeface="Calibri"/>
                        </a:rPr>
                        <a:t>Swiggy Instamart (Th2): the triangle indexed to Q4 FY24; the denominator question</a:t>
                      </a:r>
                    </a:p>
                  </a:txBody>
                  <a:tcPr marL="101600" marR="101600" marT="38100" marB="38100" anchor="ctr">
                    <a:solidFill>
                      <a:srgbClr val="F4F2FA"/>
                    </a:solidFill>
                  </a:tcPr>
                </a:tc>
              </a:tr>
              <a:tr h="369824">
                <a:tc>
                  <a:txBody>
                    <a:bodyPr/>
                    <a:lstStyle/>
                    <a:p>
                      <a:r>
                        <a:rPr sz="1400" b="0" i="0">
                          <a:solidFill>
                            <a:srgbClr val="1A1440"/>
                          </a:solidFill>
                          <a:latin typeface="Calibri"/>
                        </a:rPr>
                        <a:t>Before-and-after read as cause</a:t>
                      </a:r>
                    </a:p>
                  </a:txBody>
                  <a:tcPr marL="101600" marR="101600" marT="38100" marB="38100" anchor="ctr">
                    <a:solidFill>
                      <a:srgbClr val="FFFFFF"/>
                    </a:solidFill>
                  </a:tcPr>
                </a:tc>
                <a:tc>
                  <a:txBody>
                    <a:bodyPr/>
                    <a:lstStyle/>
                    <a:p>
                      <a:r>
                        <a:rPr sz="1400" b="0" i="0">
                          <a:solidFill>
                            <a:srgbClr val="1A1440"/>
                          </a:solidFill>
                          <a:latin typeface="Calibri"/>
                        </a:rPr>
                        <a:t>Zomato (Th4): Gold frequency rose 60 percent after joining</a:t>
                      </a:r>
                    </a:p>
                  </a:txBody>
                  <a:tcPr marL="101600" marR="101600" marT="38100" marB="38100" anchor="ctr">
                    <a:solidFill>
                      <a:srgbClr val="FFFFFF"/>
                    </a:solidFill>
                  </a:tcPr>
                </a:tc>
              </a:tr>
              <a:tr h="611632">
                <a:tc>
                  <a:txBody>
                    <a:bodyPr/>
                    <a:lstStyle/>
                    <a:p>
                      <a:r>
                        <a:rPr sz="1400" b="0" i="0">
                          <a:solidFill>
                            <a:srgbClr val="1A1440"/>
                          </a:solidFill>
                          <a:latin typeface="Calibri"/>
                        </a:rPr>
                        <a:t>A stage counted in sessions beside a stage counted in members</a:t>
                      </a:r>
                    </a:p>
                  </a:txBody>
                  <a:tcPr marL="101600" marR="101600" marT="38100" marB="38100" anchor="ctr">
                    <a:solidFill>
                      <a:srgbClr val="F4F2FA"/>
                    </a:solidFill>
                  </a:tcPr>
                </a:tc>
                <a:tc>
                  <a:txBody>
                    <a:bodyPr/>
                    <a:lstStyle/>
                    <a:p>
                      <a:r>
                        <a:rPr sz="1400" b="0" i="0">
                          <a:solidFill>
                            <a:srgbClr val="1A1440"/>
                          </a:solidFill>
                          <a:latin typeface="Calibri"/>
                        </a:rPr>
                        <a:t>The case: search-to-menu-view at 1.20 per session, well-behaved per member</a:t>
                      </a:r>
                    </a:p>
                  </a:txBody>
                  <a:tcPr marL="101600" marR="101600" marT="38100" marB="38100" anchor="ctr">
                    <a:solidFill>
                      <a:srgbClr val="F4F2FA"/>
                    </a:solidFill>
                  </a:tcPr>
                </a:tc>
              </a:tr>
              <a:tr h="611632">
                <a:tc>
                  <a:txBody>
                    <a:bodyPr/>
                    <a:lstStyle/>
                    <a:p>
                      <a:r>
                        <a:rPr sz="1400" b="0" i="0">
                          <a:solidFill>
                            <a:srgbClr val="1A1440"/>
                          </a:solidFill>
                          <a:latin typeface="Calibri"/>
                        </a:rPr>
                        <a:t>A universal "good retention" number</a:t>
                      </a:r>
                    </a:p>
                  </a:txBody>
                  <a:tcPr marL="101600" marR="101600" marT="38100" marB="38100" anchor="ctr">
                    <a:solidFill>
                      <a:srgbClr val="FFFFFF"/>
                    </a:solidFill>
                  </a:tcPr>
                </a:tc>
                <a:tc>
                  <a:txBody>
                    <a:bodyPr/>
                    <a:lstStyle/>
                    <a:p>
                      <a:r>
                        <a:rPr sz="1400" b="0" i="0">
                          <a:solidFill>
                            <a:srgbClr val="1A1440"/>
                          </a:solidFill>
                          <a:latin typeface="Calibri"/>
                        </a:rPr>
                        <a:t>Amplitude (Th5): 7 percent day-7 cited as top quartile with a vendor caveat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can the table not show?</a:t>
            </a:r>
          </a:p>
        </p:txBody>
      </p:sp>
      <p:sp>
        <p:nvSpPr>
          <p:cNvPr id="12" name="Oval 11"/>
          <p:cNvSpPr/>
          <p:nvPr/>
        </p:nvSpPr>
        <p:spPr>
          <a:xfrm>
            <a:off x="22940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0372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is fixed first, and what does it cost?</a:t>
            </a:r>
          </a:p>
        </p:txBody>
      </p:sp>
      <p:sp>
        <p:nvSpPr>
          <p:cNvPr id="14" name="Oval 13"/>
          <p:cNvSpPr/>
          <p:nvPr/>
        </p:nvSpPr>
        <p:spPr>
          <a:xfrm>
            <a:off x="46897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79945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interview walk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line to IITGN W4-3 (tentative)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trainer stop, and what does the tentative faculty block pick up?</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Handoff line. </a:t>
            </a:r>
            <a:r>
              <a:rPr sz="1500" b="0" i="0">
                <a:solidFill>
                  <a:srgbClr val="1A1440"/>
                </a:solidFill>
                <a:latin typeface="Calibri"/>
              </a:rPr>
              <a:t>Your cohort table treats a member who has not left yet as if she were retained for ever, and that flatters every curve. The next 120 minutes give that member a name, censored, and show when two retention curves really differ by more than chance.</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faculty block is W4-3 and is tentative until IIT Gandhinagar confirms it. The topic is survival curves, censoring and the log-rank; the fallback is the weaned-users hour on Swiggy's own triangle.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can the table not show?</a:t>
            </a:r>
          </a:p>
        </p:txBody>
      </p:sp>
      <p:sp>
        <p:nvSpPr>
          <p:cNvPr id="15" name="Oval 14"/>
          <p:cNvSpPr/>
          <p:nvPr/>
        </p:nvSpPr>
        <p:spPr>
          <a:xfrm>
            <a:off x="22940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0372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is fixed first, and what does it cost?</a:t>
            </a:r>
          </a:p>
        </p:txBody>
      </p:sp>
      <p:sp>
        <p:nvSpPr>
          <p:cNvPr id="17" name="Oval 16"/>
          <p:cNvSpPr/>
          <p:nvPr/>
        </p:nvSpPr>
        <p:spPr>
          <a:xfrm>
            <a:off x="46897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9945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interview walk</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two returns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still owe the day, and what did Wednesday leave open?</a:t>
            </a:r>
          </a:p>
        </p:txBody>
      </p:sp>
      <p:graphicFrame>
        <p:nvGraphicFramePr>
          <p:cNvPr id="9" name="Table 8"/>
          <p:cNvGraphicFramePr>
            <a:graphicFrameLocks noGrp="1"/>
          </p:cNvGraphicFramePr>
          <p:nvPr/>
        </p:nvGraphicFramePr>
        <p:xfrm>
          <a:off x="530352" y="1793240"/>
          <a:ext cx="11130990" cy="4295648"/>
        </p:xfrm>
        <a:graphic>
          <a:graphicData uri="http://schemas.openxmlformats.org/drawingml/2006/table">
            <a:tbl>
              <a:tblPr firstRow="0" bandRow="0">
                <a:tableStyleId>{2D5ABB26-0587-4C30-8999-92F81FD0307C}</a:tableStyleId>
              </a:tblPr>
              <a:tblGrid>
                <a:gridCol w="1126512"/>
                <a:gridCol w="5090687"/>
                <a:gridCol w="49137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Where it points</a:t>
                      </a:r>
                    </a:p>
                  </a:txBody>
                  <a:tcPr marL="101600" marR="101600" marT="38100" marB="38100" anchor="ctr">
                    <a:solidFill>
                      <a:srgbClr val="1A0F5C"/>
                    </a:solidFill>
                  </a:tcPr>
                </a:tc>
              </a:tr>
              <a:tr h="369824">
                <a:tc>
                  <a:txBody>
                    <a:bodyPr/>
                    <a:lstStyle/>
                    <a:p>
                      <a:r>
                        <a:rPr sz="1400" b="0" i="0">
                          <a:solidFill>
                            <a:srgbClr val="1A1440"/>
                          </a:solidFill>
                          <a:latin typeface="Calibri"/>
                        </a:rPr>
                        <a:t>Q1</a:t>
                      </a:r>
                    </a:p>
                  </a:txBody>
                  <a:tcPr marL="101600" marR="101600" marT="38100" marB="38100" anchor="ctr">
                    <a:solidFill>
                      <a:srgbClr val="FFFFFF"/>
                    </a:solidFill>
                  </a:tcPr>
                </a:tc>
                <a:tc>
                  <a:txBody>
                    <a:bodyPr/>
                    <a:lstStyle/>
                    <a:p>
                      <a:r>
                        <a:rPr sz="1400" b="0" i="0">
                          <a:solidFill>
                            <a:srgbClr val="1A1440"/>
                          </a:solidFill>
                          <a:latin typeface="Calibri"/>
                        </a:rPr>
                        <a:t>What a cohort fixes that a blended average cannot</a:t>
                      </a:r>
                    </a:p>
                  </a:txBody>
                  <a:tcPr marL="101600" marR="101600" marT="38100" marB="38100" anchor="ctr">
                    <a:solidFill>
                      <a:srgbClr val="FFFFFF"/>
                    </a:solidFill>
                  </a:tcPr>
                </a:tc>
                <a:tc>
                  <a:txBody>
                    <a:bodyPr/>
                    <a:lstStyle/>
                    <a:p>
                      <a:r>
                        <a:rPr sz="1400" b="0" i="0">
                          <a:solidFill>
                            <a:srgbClr val="1A1440"/>
                          </a:solidFill>
                          <a:latin typeface="Calibri"/>
                        </a:rPr>
                        <a:t>The entry moment</a:t>
                      </a:r>
                    </a:p>
                  </a:txBody>
                  <a:tcPr marL="101600" marR="101600" marT="38100" marB="38100" anchor="ctr">
                    <a:solidFill>
                      <a:srgbClr val="FFFFFF"/>
                    </a:solidFill>
                  </a:tcPr>
                </a:tc>
              </a:tr>
              <a:tr h="369824">
                <a:tc>
                  <a:txBody>
                    <a:bodyPr/>
                    <a:lstStyle/>
                    <a:p>
                      <a:r>
                        <a:rPr sz="1400" b="0" i="0">
                          <a:solidFill>
                            <a:srgbClr val="1A1440"/>
                          </a:solidFill>
                          <a:latin typeface="Calibri"/>
                        </a:rPr>
                        <a:t>Q2</a:t>
                      </a:r>
                    </a:p>
                  </a:txBody>
                  <a:tcPr marL="101600" marR="101600" marT="38100" marB="38100" anchor="ctr">
                    <a:solidFill>
                      <a:srgbClr val="F4F2FA"/>
                    </a:solidFill>
                  </a:tcPr>
                </a:tc>
                <a:tc>
                  <a:txBody>
                    <a:bodyPr/>
                    <a:lstStyle/>
                    <a:p>
                      <a:r>
                        <a:rPr sz="1400" b="0" i="0">
                          <a:solidFill>
                            <a:srgbClr val="1A1440"/>
                          </a:solidFill>
                          <a:latin typeface="Calibri"/>
                        </a:rPr>
                        <a:t>Read the funnel: which stage owns the loss</a:t>
                      </a:r>
                    </a:p>
                  </a:txBody>
                  <a:tcPr marL="101600" marR="101600" marT="38100" marB="38100" anchor="ctr">
                    <a:solidFill>
                      <a:srgbClr val="F4F2FA"/>
                    </a:solidFill>
                  </a:tcPr>
                </a:tc>
                <a:tc>
                  <a:txBody>
                    <a:bodyPr/>
                    <a:lstStyle/>
                    <a:p>
                      <a:r>
                        <a:rPr sz="1400" b="0" i="0">
                          <a:solidFill>
                            <a:srgbClr val="1A1440"/>
                          </a:solidFill>
                          <a:latin typeface="Calibri"/>
                        </a:rPr>
                        <a:t>The stage, per unit, per date</a:t>
                      </a:r>
                    </a:p>
                  </a:txBody>
                  <a:tcPr marL="101600" marR="101600" marT="38100" marB="38100" anchor="ctr">
                    <a:solidFill>
                      <a:srgbClr val="F4F2FA"/>
                    </a:solidFill>
                  </a:tcPr>
                </a:tc>
              </a:tr>
              <a:tr h="369824">
                <a:tc>
                  <a:txBody>
                    <a:bodyPr/>
                    <a:lstStyle/>
                    <a:p>
                      <a:r>
                        <a:rPr sz="1400" b="0" i="0">
                          <a:solidFill>
                            <a:srgbClr val="1A1440"/>
                          </a:solidFill>
                          <a:latin typeface="Calibri"/>
                        </a:rPr>
                        <a:t>Q3 (trap)</a:t>
                      </a:r>
                    </a:p>
                  </a:txBody>
                  <a:tcPr marL="101600" marR="101600" marT="38100" marB="38100" anchor="ctr">
                    <a:solidFill>
                      <a:srgbClr val="FFFFFF"/>
                    </a:solidFill>
                  </a:tcPr>
                </a:tc>
                <a:tc>
                  <a:txBody>
                    <a:bodyPr/>
                    <a:lstStyle/>
                    <a:p>
                      <a:r>
                        <a:rPr sz="1400" b="0" i="0">
                          <a:solidFill>
                            <a:srgbClr val="1A1440"/>
                          </a:solidFill>
                          <a:latin typeface="Calibri"/>
                        </a:rPr>
                        <a:t>Blended retention flat, every cohort down: how</a:t>
                      </a:r>
                    </a:p>
                  </a:txBody>
                  <a:tcPr marL="101600" marR="101600" marT="38100" marB="38100" anchor="ctr">
                    <a:solidFill>
                      <a:srgbClr val="FFFFFF"/>
                    </a:solidFill>
                  </a:tcPr>
                </a:tc>
                <a:tc>
                  <a:txBody>
                    <a:bodyPr/>
                    <a:lstStyle/>
                    <a:p>
                      <a:r>
                        <a:rPr sz="1400" b="0" i="0">
                          <a:solidFill>
                            <a:srgbClr val="1A1440"/>
                          </a:solidFill>
                          <a:latin typeface="Calibri"/>
                        </a:rPr>
                        <a:t>Mix shift and the weighted average</a:t>
                      </a:r>
                    </a:p>
                  </a:txBody>
                  <a:tcPr marL="101600" marR="101600" marT="38100" marB="38100" anchor="ctr">
                    <a:solidFill>
                      <a:srgbClr val="FFFFFF"/>
                    </a:solidFill>
                  </a:tcPr>
                </a:tc>
              </a:tr>
              <a:tr h="369824">
                <a:tc>
                  <a:txBody>
                    <a:bodyPr/>
                    <a:lstStyle/>
                    <a:p>
                      <a:r>
                        <a:rPr sz="1400" b="0" i="0">
                          <a:solidFill>
                            <a:srgbClr val="1A1440"/>
                          </a:solidFill>
                          <a:latin typeface="Calibri"/>
                        </a:rPr>
                        <a:t>Q4</a:t>
                      </a:r>
                    </a:p>
                  </a:txBody>
                  <a:tcPr marL="101600" marR="101600" marT="38100" marB="38100" anchor="ctr">
                    <a:solidFill>
                      <a:srgbClr val="F4F2FA"/>
                    </a:solidFill>
                  </a:tcPr>
                </a:tc>
                <a:tc>
                  <a:txBody>
                    <a:bodyPr/>
                    <a:lstStyle/>
                    <a:p>
                      <a:r>
                        <a:rPr sz="1400" b="0" i="0">
                          <a:solidFill>
                            <a:srgbClr val="1A1440"/>
                          </a:solidFill>
                          <a:latin typeface="Calibri"/>
                        </a:rPr>
                        <a:t>The retention curve's floor means what</a:t>
                      </a:r>
                    </a:p>
                  </a:txBody>
                  <a:tcPr marL="101600" marR="101600" marT="38100" marB="38100" anchor="ctr">
                    <a:solidFill>
                      <a:srgbClr val="F4F2FA"/>
                    </a:solidFill>
                  </a:tcPr>
                </a:tc>
                <a:tc>
                  <a:txBody>
                    <a:bodyPr/>
                    <a:lstStyle/>
                    <a:p>
                      <a:r>
                        <a:rPr sz="1400" b="0" i="0">
                          <a:solidFill>
                            <a:srgbClr val="1A1440"/>
                          </a:solidFill>
                          <a:latin typeface="Calibri"/>
                        </a:rPr>
                        <a:t>A steady state is a cohort's long-run share</a:t>
                      </a:r>
                    </a:p>
                  </a:txBody>
                  <a:tcPr marL="101600" marR="101600" marT="38100" marB="38100" anchor="ctr">
                    <a:solidFill>
                      <a:srgbClr val="F4F2FA"/>
                    </a:solidFill>
                  </a:tcPr>
                </a:tc>
              </a:tr>
              <a:tr h="611632">
                <a:tc>
                  <a:txBody>
                    <a:bodyPr/>
                    <a:lstStyle/>
                    <a:p>
                      <a:r>
                        <a:rPr sz="1400" b="0" i="0">
                          <a:solidFill>
                            <a:srgbClr val="1A1440"/>
                          </a:solidFill>
                          <a:latin typeface="Calibri"/>
                        </a:rPr>
                        <a:t>Q5</a:t>
                      </a:r>
                    </a:p>
                  </a:txBody>
                  <a:tcPr marL="101600" marR="101600" marT="38100" marB="38100" anchor="ctr">
                    <a:solidFill>
                      <a:srgbClr val="FFFFFF"/>
                    </a:solidFill>
                  </a:tcPr>
                </a:tc>
                <a:tc>
                  <a:txBody>
                    <a:bodyPr/>
                    <a:lstStyle/>
                    <a:p>
                      <a:r>
                        <a:rPr sz="1400" b="0" i="0">
                          <a:solidFill>
                            <a:srgbClr val="1A1440"/>
                          </a:solidFill>
                          <a:latin typeface="Calibri"/>
                        </a:rPr>
                        <a:t>Which stage's drop is a denominator artefact</a:t>
                      </a:r>
                    </a:p>
                  </a:txBody>
                  <a:tcPr marL="101600" marR="101600" marT="38100" marB="38100" anchor="ctr">
                    <a:solidFill>
                      <a:srgbClr val="FFFFFF"/>
                    </a:solidFill>
                  </a:tcPr>
                </a:tc>
                <a:tc>
                  <a:txBody>
                    <a:bodyPr/>
                    <a:lstStyle/>
                    <a:p>
                      <a:r>
                        <a:rPr sz="1400" b="0" i="0">
                          <a:solidFill>
                            <a:srgbClr val="1A1440"/>
                          </a:solidFill>
                          <a:latin typeface="Calibri"/>
                        </a:rPr>
                        <a:t>The one above 100 percent, or the one whose unit changed</a:t>
                      </a:r>
                    </a:p>
                  </a:txBody>
                  <a:tcPr marL="101600" marR="101600" marT="38100" marB="38100" anchor="ctr">
                    <a:solidFill>
                      <a:srgbClr val="FFFFFF"/>
                    </a:solidFill>
                  </a:tcPr>
                </a:tc>
              </a:tr>
              <a:tr h="611632">
                <a:tc>
                  <a:txBody>
                    <a:bodyPr/>
                    <a:lstStyle/>
                    <a:p>
                      <a:r>
                        <a:rPr sz="1400" b="0" i="0">
                          <a:solidFill>
                            <a:srgbClr val="1A1440"/>
                          </a:solidFill>
                          <a:latin typeface="Calibri"/>
                        </a:rPr>
                        <a:t>Q6 (return)</a:t>
                      </a:r>
                    </a:p>
                  </a:txBody>
                  <a:tcPr marL="101600" marR="101600" marT="38100" marB="38100" anchor="ctr">
                    <a:solidFill>
                      <a:srgbClr val="F4F2FA"/>
                    </a:solidFill>
                  </a:tcPr>
                </a:tc>
                <a:tc>
                  <a:txBody>
                    <a:bodyPr/>
                    <a:lstStyle/>
                    <a:p>
                      <a:r>
                        <a:rPr sz="1400" b="0" i="0">
                          <a:solidFill>
                            <a:srgbClr val="1A1440"/>
                          </a:solidFill>
                          <a:latin typeface="Calibri"/>
                        </a:rPr>
                        <a:t>Lift 0.97 at confidence 0.82: verdict in one breath</a:t>
                      </a:r>
                    </a:p>
                  </a:txBody>
                  <a:tcPr marL="101600" marR="101600" marT="38100" marB="38100" anchor="ctr">
                    <a:solidFill>
                      <a:srgbClr val="F4F2FA"/>
                    </a:solidFill>
                  </a:tcPr>
                </a:tc>
                <a:tc>
                  <a:txBody>
                    <a:bodyPr/>
                    <a:lstStyle/>
                    <a:p>
                      <a:r>
                        <a:rPr sz="1400" b="0" i="0">
                          <a:solidFill>
                            <a:srgbClr val="1A1440"/>
                          </a:solidFill>
                          <a:latin typeface="Calibri"/>
                        </a:rPr>
                        <a:t>A one-off; confidence is popularity</a:t>
                      </a:r>
                    </a:p>
                  </a:txBody>
                  <a:tcPr marL="101600" marR="101600" marT="38100" marB="38100" anchor="ctr">
                    <a:solidFill>
                      <a:srgbClr val="F4F2FA"/>
                    </a:solidFill>
                  </a:tcPr>
                </a:tc>
              </a:tr>
              <a:tr h="611632">
                <a:tc>
                  <a:txBody>
                    <a:bodyPr/>
                    <a:lstStyle/>
                    <a:p>
                      <a:r>
                        <a:rPr sz="1400" b="0" i="0">
                          <a:solidFill>
                            <a:srgbClr val="1A1440"/>
                          </a:solidFill>
                          <a:latin typeface="Calibri"/>
                        </a:rPr>
                        <a:t>Q7</a:t>
                      </a:r>
                    </a:p>
                  </a:txBody>
                  <a:tcPr marL="101600" marR="101600" marT="38100" marB="38100" anchor="ctr">
                    <a:solidFill>
                      <a:srgbClr val="FFFFFF"/>
                    </a:solidFill>
                  </a:tcPr>
                </a:tc>
                <a:tc>
                  <a:txBody>
                    <a:bodyPr/>
                    <a:lstStyle/>
                    <a:p>
                      <a:r>
                        <a:rPr sz="1400" b="0" i="0">
                          <a:solidFill>
                            <a:srgbClr val="1A1440"/>
                          </a:solidFill>
                          <a:latin typeface="Calibri"/>
                        </a:rPr>
                        <a:t>What does "members on Android after 14 September" rule out</a:t>
                      </a:r>
                    </a:p>
                  </a:txBody>
                  <a:tcPr marL="101600" marR="101600" marT="38100" marB="38100" anchor="ctr">
                    <a:solidFill>
                      <a:srgbClr val="FFFFFF"/>
                    </a:solidFill>
                  </a:tcPr>
                </a:tc>
                <a:tc>
                  <a:txBody>
                    <a:bodyPr/>
                    <a:lstStyle/>
                    <a:p>
                      <a:r>
                        <a:rPr sz="1400" b="0" i="0">
                          <a:solidFill>
                            <a:srgbClr val="1A1440"/>
                          </a:solidFill>
                          <a:latin typeface="Calibri"/>
                        </a:rPr>
                        <a:t>Everyone else, so the comparator is iOS</a:t>
                      </a:r>
                    </a:p>
                  </a:txBody>
                  <a:tcPr marL="101600" marR="101600" marT="38100" marB="38100" anchor="ctr">
                    <a:solidFill>
                      <a:srgbClr val="FFFFFF"/>
                    </a:solidFill>
                  </a:tcPr>
                </a:tc>
              </a:tr>
              <a:tr h="611632">
                <a:tc>
                  <a:txBody>
                    <a:bodyPr/>
                    <a:lstStyle/>
                    <a:p>
                      <a:r>
                        <a:rPr sz="1400" b="0" i="0">
                          <a:solidFill>
                            <a:srgbClr val="1A1440"/>
                          </a:solidFill>
                          <a:latin typeface="Calibri"/>
                        </a:rPr>
                        <a:t>Q8</a:t>
                      </a:r>
                    </a:p>
                  </a:txBody>
                  <a:tcPr marL="101600" marR="101600" marT="38100" marB="38100" anchor="ctr">
                    <a:solidFill>
                      <a:srgbClr val="F4F2FA"/>
                    </a:solidFill>
                  </a:tcPr>
                </a:tc>
                <a:tc>
                  <a:txBody>
                    <a:bodyPr/>
                    <a:lstStyle/>
                    <a:p>
                      <a:r>
                        <a:rPr sz="1400" b="0" i="0">
                          <a:solidFill>
                            <a:srgbClr val="1A1440"/>
                          </a:solidFill>
                          <a:latin typeface="Calibri"/>
                        </a:rPr>
                        <a:t>The AI variant: when does a blended MAU hide a launch cohort's decay</a:t>
                      </a:r>
                    </a:p>
                  </a:txBody>
                  <a:tcPr marL="101600" marR="101600" marT="38100" marB="38100" anchor="ctr">
                    <a:solidFill>
                      <a:srgbClr val="F4F2FA"/>
                    </a:solidFill>
                  </a:tcPr>
                </a:tc>
                <a:tc>
                  <a:txBody>
                    <a:bodyPr/>
                    <a:lstStyle/>
                    <a:p>
                      <a:r>
                        <a:rPr sz="1400" b="0" i="0">
                          <a:solidFill>
                            <a:srgbClr val="1A1440"/>
                          </a:solidFill>
                          <a:latin typeface="Calibri"/>
                        </a:rPr>
                        <a:t>Inside the launch window, before week 4</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can the table not show?</a:t>
            </a:r>
          </a:p>
        </p:txBody>
      </p:sp>
      <p:sp>
        <p:nvSpPr>
          <p:cNvPr id="12" name="Oval 11"/>
          <p:cNvSpPr/>
          <p:nvPr/>
        </p:nvSpPr>
        <p:spPr>
          <a:xfrm>
            <a:off x="22940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0372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is fixed first, and what does it cost?</a:t>
            </a:r>
          </a:p>
        </p:txBody>
      </p:sp>
      <p:sp>
        <p:nvSpPr>
          <p:cNvPr id="14" name="Oval 13"/>
          <p:cNvSpPr/>
          <p:nvPr/>
        </p:nvSpPr>
        <p:spPr>
          <a:xfrm>
            <a:off x="46897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79945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interview walk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 in one sentence, and tomorrow's pre-read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Thursday close on, and what should Friday's room walk in holding?</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dashboard was flat because the mix shifted. Every cohort fell with age. One stage, on one platform, after one date, drove members' loss. The call is a fix in one place and a cohort-level comparison the sale-week decision waits on.</a:t>
            </a:r>
          </a:p>
          <a:p>
            <a:pPr>
              <a:spcAft>
                <a:spcPts val="800"/>
              </a:spcAft>
            </a:pPr>
            <a:r>
              <a:rPr sz="1600" b="0" i="0">
                <a:solidFill>
                  <a:srgbClr val="1A1440"/>
                </a:solidFill>
                <a:latin typeface="Calibri"/>
              </a:rPr>
              <a:t>Tomorrow is Flipkart's Lucknow fulfilment centre and the forecast that must beat a seasonal naive. Pre-read: the ticket's first lines and the terms baseline, trend, seasonality, hold-out, error.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can the table not show?</a:t>
            </a:r>
          </a:p>
        </p:txBody>
      </p:sp>
      <p:sp>
        <p:nvSpPr>
          <p:cNvPr id="12" name="Oval 11"/>
          <p:cNvSpPr/>
          <p:nvPr/>
        </p:nvSpPr>
        <p:spPr>
          <a:xfrm>
            <a:off x="22940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0372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is fixed first, and what does it cost?</a:t>
            </a:r>
          </a:p>
        </p:txBody>
      </p:sp>
      <p:sp>
        <p:nvSpPr>
          <p:cNvPr id="14" name="Oval 13"/>
          <p:cNvSpPr/>
          <p:nvPr/>
        </p:nvSpPr>
        <p:spPr>
          <a:xfrm>
            <a:off x="46897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79945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interview walk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