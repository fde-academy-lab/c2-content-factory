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trainer minutes: the fix-first call unguided (30), the interview walk and the AI-company</a:t>
            </a:r>
          </a:p>
          <a:p>
            <a:r>
              <a:t>variant (15), the Kahoot and the close (15). Then the IITGN faculty session W4-3 runs (tentative),</a:t>
            </a:r>
          </a:p>
          <a:p>
            <a:r>
              <a:t>or the weaned-users fallback if it slips.</a:t>
            </a:r>
          </a:p>
          <a:p>
            <a:r>
              <a:t>LIVE, 30 minutes, unguided, in the nine groups. L5. Styles: the case method (the app team's lead</a:t>
            </a:r>
          </a:p>
          <a:p>
            <a:r>
              <a:t>argues from a role card and is partly right), Feynman (the call in one sentence a membership lead</a:t>
            </a:r>
          </a:p>
          <a:p>
            <a:r>
              <a:t>could repeat).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to set up, then 18 minutes of writing. Circulate with one question per group:</a:t>
            </a:r>
          </a:p>
          <a:p>
            <a:r>
              <a:t>which line of your evidence would the app team's lead attack first? Groups that write "fix</a:t>
            </a:r>
          </a:p>
          <a:p>
            <a:r>
              <a:t>retention" with no stage are sent back to the chapter 3 split.</a:t>
            </a:r>
          </a:p>
          <a:p>
            <a:r>
              <a:t>Transition: the app team's lead.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 learner reads the role card aloud (TRAINER role card); one group answers in</a:t>
            </a:r>
          </a:p>
          <a:p>
            <a:r>
              <a:t>the four moves from Tuesday: restate, answer from the evidence, concede what is true, say what</a:t>
            </a:r>
          </a:p>
          <a:p>
            <a:r>
              <a:t>would change your mind. A response that calls the app team wrong has lost; the chart is right</a:t>
            </a:r>
          </a:p>
          <a:p>
            <a:r>
              <a:t>about the step it measures.</a:t>
            </a:r>
          </a:p>
          <a:p>
            <a:r>
              <a:t>Transition: what each problem costs.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number with its assumption. The 1,317 assumes no failed cart came back</a:t>
            </a:r>
          </a:p>
          <a:p>
            <a:r>
              <a:t>as a later order. Some did: the share of failures followed by an order within a day held near 36</a:t>
            </a:r>
          </a:p>
          <a:p>
            <a:r>
              <a:t>percent, but failures nearly doubled (1,921 to 3,386 a week), so recoveries rose from 701 to 1,189 a</a:t>
            </a:r>
          </a:p>
          <a:p>
            <a:r>
              <a:t>week. Counted in orders placed, which keeps them, Android members' weekly orders fell 18 percent</a:t>
            </a:r>
          </a:p>
          <a:p>
            <a:r>
              <a:t>while iOS members' rose 7: a loss of 1,266 a week against iOS members, 1,133 against non-members on</a:t>
            </a:r>
          </a:p>
          <a:p>
            <a:r>
              <a:t>Android. Ask which number the membership lead can act on this week.</a:t>
            </a:r>
          </a:p>
          <a:p>
            <a:r>
              <a:t>Transition: the wrong fix.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traps of L5: acquiring your way out of a retention problem, and fixing the</a:t>
            </a:r>
          </a:p>
          <a:p>
            <a:r>
              <a:t>skippable stage. If a group asks what a real company did instead: Swiggy went the other way and</a:t>
            </a:r>
          </a:p>
          <a:p>
            <a:r>
              <a:t>weaned away more than 4 million unprofitable Instamart users (its Q1 FY27 letter, the fallback</a:t>
            </a:r>
          </a:p>
          <a:p>
            <a:r>
              <a:t>block's first part). Then the groups finish their page.</a:t>
            </a:r>
          </a:p>
          <a:p>
            <a:r>
              <a:t>Source:</a:t>
            </a:r>
          </a:p>
          <a:p>
            <a:r>
              <a:t>https://nsearchives.nseindia.com/corporate/SWIGGY_30072026154100_Covering_Letter_Letter_to_Shareholders_-_signed.pdf (checked 12 October 2026)</a:t>
            </a:r>
          </a:p>
          <a:p>
            <a:r>
              <a:t>Transition: the call, said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group reads its call; the room scores it against the five lines. This is the</a:t>
            </a:r>
          </a:p>
          <a:p>
            <a:r>
              <a:t>model, and a group that puts the sale-week members first with a reason that holds has made a</a:t>
            </a:r>
          </a:p>
          <a:p>
            <a:r>
              <a:t>defensible call; the room should hear why.</a:t>
            </a:r>
          </a:p>
          <a:p>
            <a:r>
              <a:t>Transition: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L6. Pairs read the transcript in the extras folder: one plays the interviewer,</a:t>
            </a:r>
          </a:p>
          <a:p>
            <a:r>
              <a:t>one the candidate; they score the hire-grade answer on the scorecard's seven lines and swap.</a:t>
            </a:r>
          </a:p>
          <a:p>
            <a:r>
              <a:t>Explorer scene Th4 carries the AI-company variant.</a:t>
            </a:r>
          </a:p>
          <a:p>
            <a:r>
              <a:t>Transition: the order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steps are the morning's hypothesis board. Aced's guide to analyst interviews</a:t>
            </a:r>
          </a:p>
          <a:p>
            <a:r>
              <a:t>says the same about a metric drop: rule out a data issue first, segment before a root cause, and</a:t>
            </a:r>
          </a:p>
          <a:p>
            <a:r>
              <a:t>keep fewer users apart from fewer views each (checked 12 October 2026). The weak answer names a</a:t>
            </a:r>
          </a:p>
          <a:p>
            <a:r>
              <a:t>cause in its first sentence.</a:t>
            </a:r>
          </a:p>
          <a:p>
            <a:r>
              <a:t>Source:</a:t>
            </a:r>
          </a:p>
          <a:p>
            <a:r>
              <a:t>https://www.aced.io/blog/top-data-analyst-interview-questions (checked 12 October 2026)</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Programme-written, every number a toy (explorer scene Th4 shows the same toy).</a:t>
            </a:r>
          </a:p>
          <a:p>
            <a:r>
              <a:t>The transfer: a launch cohort is the sale-week members of an AI product. Two months after launch,</a:t>
            </a:r>
          </a:p>
          <a:p>
            <a:r>
              <a:t>the launch cohort and the next few weekly cohorts have all reached week four.</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line word for word and stop. If the block has slipped, open the</a:t>
            </a:r>
          </a:p>
          <a:p>
            <a:r>
              <a:t>fallback deck (the weaned-users block). Park any "is the difference real" question for the block.</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(10) and the close (5).</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Ungraded, scored on correctness and speed. The trap item uses a blend other than</a:t>
            </a:r>
          </a:p>
          <a:p>
            <a:r>
              <a:t>38. Read the most-missed item's answer aloud before the close.</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sentence twice. The TA lab after the block runs the same method on Kalpa</a:t>
            </a:r>
          </a:p>
          <a:p>
            <a:r>
              <a:t>Retail's Retail-Plus tier. The cohort axis built today is Friday's time axis.</a:t>
            </a:r>
          </a:p>
          <a:p>
            <a:r>
              <a:t>Transition: the faculty block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fixed first?</a:t>
            </a:r>
          </a:p>
        </p:txBody>
      </p:sp>
      <p:sp>
        <p:nvSpPr>
          <p:cNvPr id="9" name="TextBox 8"/>
          <p:cNvSpPr txBox="1"/>
          <p:nvPr/>
        </p:nvSpPr>
        <p:spPr>
          <a:xfrm>
            <a:off x="731519" y="3520440"/>
            <a:ext cx="9509760" cy="1027176"/>
          </a:xfrm>
          <a:prstGeom prst="rect">
            <a:avLst/>
          </a:prstGeom>
          <a:noFill/>
        </p:spPr>
        <p:txBody>
          <a:bodyPr wrap="square" anchor="t" lIns="0" rIns="0" tIns="0" bIns="0">
            <a:spAutoFit/>
          </a:bodyPr>
          <a:lstStyle/>
          <a:p>
            <a:pPr algn="l"/>
            <a:r>
              <a:rPr sz="1500" b="0" i="0">
                <a:solidFill>
                  <a:srgbClr val="E4E1F1"/>
                </a:solidFill>
                <a:latin typeface="Calibri"/>
              </a:rPr>
              <a:t>The morning's three chapters found two problems, a dashboard that reads 38 because of who it counts and one broken step on Android; the afternoon's three sections use them and add no new idea. Which problem goes first, on what evidence, at what cost, and what does the app team's lead say?</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one call,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fix-first call carry, and in what order?</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call</a:t>
            </a:r>
          </a:p>
        </p:txBody>
      </p:sp>
      <p:sp>
        <p:nvSpPr>
          <p:cNvPr id="14" name="TextBox 13"/>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gets fixed first, in one sentence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evidence</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stage, the segment and the date, each with its number</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cost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 week and rupees, with every assumption named and ranged</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objection</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app team's lead, answered with the split that settles it</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would change it</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one fact that would reverse the order</a:t>
            </a:r>
          </a:p>
        </p:txBody>
      </p:sp>
      <p:sp>
        <p:nvSpPr>
          <p:cNvPr id="35" name="TextBox 34"/>
          <p:cNvSpPr txBox="1"/>
          <p:nvPr/>
        </p:nvSpPr>
        <p:spPr>
          <a:xfrm>
            <a:off x="530352" y="42763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group writes the five lines for the membership lead on one page, the fix-first set's page, and then answers its items. After the lab, the Kalpa set's second page asks for the same five lines for Kalpa's head of Retail-Plus. Every number comes from the morning's notebooks.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8" name="Oval 3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40" name="Oval 39"/>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 team's lead: "our checkout is fine"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app team's lead claim, what is true in it, and what answers it?</a:t>
            </a:r>
          </a:p>
        </p:txBody>
      </p:sp>
      <p:pic>
        <p:nvPicPr>
          <p:cNvPr id="9" name="mermaid diagram" descr="C2_W04_D04_stage_split_STUDENT.png"/>
          <p:cNvPicPr>
            <a:picLocks noChangeAspect="1"/>
          </p:cNvPicPr>
          <p:nvPr/>
        </p:nvPicPr>
        <p:blipFill>
          <a:blip r:embed="rId4"/>
          <a:stretch>
            <a:fillRect/>
          </a:stretch>
        </p:blipFill>
        <p:spPr>
          <a:xfrm>
            <a:off x="3139922" y="1664208"/>
            <a:ext cx="5911850"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"Carts that start checkout held at 80 percent on every platform, before and after 14 September, so the new flow works." </a:t>
            </a:r>
            <a:r>
              <a:rPr sz="1500" b="1" i="0">
                <a:solidFill>
                  <a:srgbClr val="1A1440"/>
                </a:solidFill>
                <a:latin typeface="Calibri"/>
              </a:rPr>
              <a:t>What is true.</a:t>
            </a:r>
            <a:r>
              <a:rPr sz="1500" b="0" i="0">
                <a:solidFill>
                  <a:srgbClr val="1A1440"/>
                </a:solidFill>
                <a:latin typeface="Calibri"/>
              </a:rPr>
              <a:t> Starting checkout did not break. </a:t>
            </a:r>
            <a:r>
              <a:rPr sz="1500" b="1" i="0">
                <a:solidFill>
                  <a:srgbClr val="1A1440"/>
                </a:solidFill>
                <a:latin typeface="Calibri"/>
              </a:rPr>
              <a:t>What answers it.</a:t>
            </a:r>
            <a:r>
              <a:rPr sz="1500" b="0" i="0">
                <a:solidFill>
                  <a:srgbClr val="1A1440"/>
                </a:solidFill>
                <a:latin typeface="Calibri"/>
              </a:rPr>
              <a:t> Completing the order once checkout has started fell from 72.5 to 55 percent, for members on Android, from the release week. Concede the true part, restate the question, bring the split.</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8" name="Oval 17"/>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problem costs,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each loss, in orders and rupees, and how sure is each number?</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1,133 to 1,317</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A WEEK</a:t>
            </a:r>
          </a:p>
        </p:txBody>
      </p:sp>
      <p:sp>
        <p:nvSpPr>
          <p:cNvPr id="11" name="TextBox 10"/>
          <p:cNvSpPr txBox="1"/>
          <p:nvPr/>
        </p:nvSpPr>
        <p:spPr>
          <a:xfrm>
            <a:off x="530352" y="2512060"/>
            <a:ext cx="2577007" cy="663956"/>
          </a:xfrm>
          <a:prstGeom prst="rect">
            <a:avLst/>
          </a:prstGeom>
          <a:noFill/>
        </p:spPr>
        <p:txBody>
          <a:bodyPr wrap="square" anchor="t" lIns="0" rIns="0" tIns="0" bIns="0">
            <a:spAutoFit/>
          </a:bodyPr>
          <a:lstStyle/>
          <a:p>
            <a:pPr algn="l"/>
            <a:r>
              <a:rPr sz="950" b="0" i="0">
                <a:solidFill>
                  <a:srgbClr val="6B6690"/>
                </a:solidFill>
                <a:latin typeface="Calibri"/>
              </a:rPr>
              <a:t>1,317 from 22,841 carts at 58 against 44 percent if none came back; 1,133 counted in orders placed against non-members on Android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3.4 to 6.6 lakh</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OF ORDER VALUE A WEEK</a:t>
            </a:r>
          </a:p>
        </p:txBody>
      </p:sp>
      <p:sp>
        <p:nvSpPr>
          <p:cNvPr id="15" name="TextBox 14"/>
          <p:cNvSpPr txBox="1"/>
          <p:nvPr/>
        </p:nvSpPr>
        <p:spPr>
          <a:xfrm>
            <a:off x="3381679"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at Rs 300 to Rs 500 an order, an assumption; Zomato keeps its commission and fees from it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0.23</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PER SALE-WEEK MEMBER</a:t>
            </a:r>
          </a:p>
        </p:txBody>
      </p:sp>
      <p:sp>
        <p:nvSpPr>
          <p:cNvPr id="19" name="TextBox 18"/>
          <p:cNvSpPr txBox="1"/>
          <p:nvPr/>
        </p:nvSpPr>
        <p:spPr>
          <a:xfrm>
            <a:off x="6233007" y="2512060"/>
            <a:ext cx="2577007" cy="350266"/>
          </a:xfrm>
          <a:prstGeom prst="rect">
            <a:avLst/>
          </a:prstGeom>
          <a:noFill/>
        </p:spPr>
        <p:txBody>
          <a:bodyPr wrap="square" anchor="t" lIns="0" rIns="0" tIns="0" bIns="0">
            <a:spAutoFit/>
          </a:bodyPr>
          <a:lstStyle/>
          <a:p>
            <a:pPr algn="l"/>
            <a:r>
              <a:rPr sz="950" b="0" i="0">
                <a:solidFill>
                  <a:srgbClr val="6B6690"/>
                </a:solidFill>
                <a:latin typeface="Calibri"/>
              </a:rPr>
              <a:t>in month one, against 0.61 for an organic August member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33</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PERCENT, OCTOBER</a:t>
            </a:r>
          </a:p>
        </p:txBody>
      </p:sp>
      <p:sp>
        <p:nvSpPr>
          <p:cNvPr id="23" name="TextBox 22"/>
          <p:cNvSpPr txBox="1"/>
          <p:nvPr/>
        </p:nvSpPr>
        <p:spPr>
          <a:xfrm>
            <a:off x="9084335"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the dashboard once the August cohort enters, if it loses July's 10.5 points (32 to 34)</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release costs orders every week it stays live, and a code fix ends it. The August cohort's discount is already paid for; what can still change is whether the next sale runs, which waits on whether this one's members pay their discount back.</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0" name="Oval 29"/>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fix: buy more sale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"fix retention" with more acquisition do to the number, and to the business?</a:t>
            </a:r>
          </a:p>
        </p:txBody>
      </p:sp>
      <p:pic>
        <p:nvPicPr>
          <p:cNvPr id="9" name="mermaid diagram" descr="bd7ce74142568b98.png"/>
          <p:cNvPicPr>
            <a:picLocks noChangeAspect="1"/>
          </p:cNvPicPr>
          <p:nvPr/>
        </p:nvPicPr>
        <p:blipFill>
          <a:blip r:embed="rId7"/>
          <a:stretch>
            <a:fillRect/>
          </a:stretch>
        </p:blipFill>
        <p:spPr>
          <a:xfrm>
            <a:off x="1452410" y="1848612"/>
            <a:ext cx="9286875" cy="1371600"/>
          </a:xfrm>
          <a:prstGeom prst="rect">
            <a:avLst/>
          </a:prstGeom>
        </p:spPr>
      </p:pic>
      <p:sp>
        <p:nvSpPr>
          <p:cNvPr id="10" name="Rounded Rectangle 9"/>
          <p:cNvSpPr/>
          <p:nvPr/>
        </p:nvSpPr>
        <p:spPr>
          <a:xfrm>
            <a:off x="530352" y="33665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87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08476"/>
            <a:ext cx="237744" cy="237744"/>
          </a:xfrm>
          <a:prstGeom prst="rect">
            <a:avLst/>
          </a:prstGeom>
        </p:spPr>
      </p:pic>
      <p:sp>
        <p:nvSpPr>
          <p:cNvPr id="13" name="TextBox 12"/>
          <p:cNvSpPr txBox="1"/>
          <p:nvPr/>
        </p:nvSpPr>
        <p:spPr>
          <a:xfrm>
            <a:off x="1399031" y="35128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732276"/>
            <a:ext cx="9987991" cy="682752"/>
          </a:xfrm>
          <a:prstGeom prst="rect">
            <a:avLst/>
          </a:prstGeom>
          <a:noFill/>
        </p:spPr>
        <p:txBody>
          <a:bodyPr wrap="square" anchor="t" lIns="0" rIns="0" tIns="0" bIns="0">
            <a:spAutoFit/>
          </a:bodyPr>
          <a:lstStyle/>
          <a:p>
            <a:r>
              <a:rPr sz="1500" b="0" i="0">
                <a:solidFill>
                  <a:srgbClr val="1A1440"/>
                </a:solidFill>
                <a:latin typeface="Calibri"/>
              </a:rPr>
              <a:t>"Retention will recover if we run another sale." The next discounted cohort enters the count at its month two and, if it behaves like this one, pulls the dashboard down again at the discount's cost.</a:t>
            </a:r>
          </a:p>
        </p:txBody>
      </p:sp>
      <p:sp>
        <p:nvSpPr>
          <p:cNvPr id="15" name="Rounded Rectangle 14"/>
          <p:cNvSpPr/>
          <p:nvPr/>
        </p:nvSpPr>
        <p:spPr>
          <a:xfrm>
            <a:off x="530352" y="46527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14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6"/>
          <a:stretch>
            <a:fillRect/>
          </a:stretch>
        </p:blipFill>
        <p:spPr>
          <a:xfrm>
            <a:off x="868680" y="5224272"/>
            <a:ext cx="237744" cy="237744"/>
          </a:xfrm>
          <a:prstGeom prst="rect">
            <a:avLst/>
          </a:prstGeom>
        </p:spPr>
      </p:pic>
      <p:sp>
        <p:nvSpPr>
          <p:cNvPr id="18" name="TextBox 17"/>
          <p:cNvSpPr txBox="1"/>
          <p:nvPr/>
        </p:nvSpPr>
        <p:spPr>
          <a:xfrm>
            <a:off x="1399031" y="47990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5018532"/>
            <a:ext cx="9987991" cy="941832"/>
          </a:xfrm>
          <a:prstGeom prst="rect">
            <a:avLst/>
          </a:prstGeom>
          <a:noFill/>
        </p:spPr>
        <p:txBody>
          <a:bodyPr wrap="square" anchor="t" lIns="0" rIns="0" tIns="0" bIns="0">
            <a:spAutoFit/>
          </a:bodyPr>
          <a:lstStyle/>
          <a:p>
            <a:r>
              <a:rPr sz="1500" b="0" i="0">
                <a:solidFill>
                  <a:srgbClr val="1A1440"/>
                </a:solidFill>
                <a:latin typeface="Calibri"/>
              </a:rPr>
              <a:t>Before buying another sale, work out what a sale-week member returns over her first months against the discount she was given: at 0.23 orders in month one against 0.61 for an organic member, this sale has not paid back yet. Leave search to menu view alone: its 118 percent was never a broken step.</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4" name="Oval 23"/>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Android checkout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strong call say, in the order the membership lead needs it?</a:t>
            </a:r>
          </a:p>
        </p:txBody>
      </p:sp>
      <p:sp>
        <p:nvSpPr>
          <p:cNvPr id="9" name="Rounded Rectangle 8"/>
          <p:cNvSpPr/>
          <p:nvPr/>
        </p:nvSpPr>
        <p:spPr>
          <a:xfrm>
            <a:off x="530352" y="1956816"/>
            <a:ext cx="11130991" cy="3208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951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025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Fix the member path of the new Android checkout first: it loses about 1,133 to 1,317 orders a week, a quarter of Android members' orders, and non-members on the same checkout held, so the fault sits in what only members see. </a:t>
            </a:r>
            <a:r>
              <a:rPr sz="1500" b="1" i="0">
                <a:solidFill>
                  <a:srgbClr val="1A1440"/>
                </a:solidFill>
                <a:latin typeface="Calibri"/>
              </a:rPr>
              <a:t>The evidence.</a:t>
            </a:r>
            <a:r>
              <a:rPr sz="1500" b="0" i="0">
                <a:solidFill>
                  <a:srgbClr val="1A1440"/>
                </a:solidFill>
                <a:latin typeface="Calibri"/>
              </a:rPr>
              <a:t> Checkout start to order placed fell from 72.5 to 55 percent for members on Android from the release week; starting checkout held at 80; on the same step iOS members went from 71 to 70 and non-members on Android from 65 to 64; the order records match the event log. </a:t>
            </a:r>
            <a:r>
              <a:rPr sz="1500" b="1" i="0">
                <a:solidFill>
                  <a:srgbClr val="1A1440"/>
                </a:solidFill>
                <a:latin typeface="Calibri"/>
              </a:rPr>
              <a:t>The cost.</a:t>
            </a:r>
            <a:r>
              <a:rPr sz="1500" b="0" i="0">
                <a:solidFill>
                  <a:srgbClr val="1A1440"/>
                </a:solidFill>
                <a:latin typeface="Calibri"/>
              </a:rPr>
              <a:t> Rs 3.4 to 6.6 lakh of order value a week at Rs 300 to Rs 500 an order, of which Zomato keeps its commission and fees. </a:t>
            </a:r>
            <a:r>
              <a:rPr sz="1500" b="1" i="0">
                <a:solidFill>
                  <a:srgbClr val="1A1440"/>
                </a:solidFill>
                <a:latin typeface="Calibri"/>
              </a:rPr>
              <a:t>The second problem.</a:t>
            </a:r>
            <a:r>
              <a:rPr sz="1500" b="0" i="0">
                <a:solidFill>
                  <a:srgbClr val="1A1440"/>
                </a:solidFill>
                <a:latin typeface="Calibri"/>
              </a:rPr>
              <a:t> The sale-week members kept 20 percent in month one against 49 for organic August members; before another sale, work out whether these members pay back their discount. </a:t>
            </a:r>
            <a:r>
              <a:rPr sz="1500" b="1" i="0">
                <a:solidFill>
                  <a:srgbClr val="1A1440"/>
                </a:solidFill>
                <a:latin typeface="Calibri"/>
              </a:rPr>
              <a:t>What would change the order.</a:t>
            </a:r>
            <a:r>
              <a:rPr sz="1500" b="0" i="0">
                <a:solidFill>
                  <a:srgbClr val="1A1440"/>
                </a:solidFill>
                <a:latin typeface="Calibri"/>
              </a:rPr>
              <a:t> If most members who failed had come back and ordered later, the release would cost a delay rather than orders and the sale would go first; counted in orders placed, Android members' weekly orders fell 18 percent while iOS members' rose 7, so most did not.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6" name="Oval 15"/>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interviewer hear?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"Retention dropped; walk me through your investigation." How does a hire-grade candidate, one whose answer gets the job, order it, and how does the same idea apply to an AI product?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walk: the morning's five causes, then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 strong candidate investigate a retention drop?</a:t>
            </a:r>
          </a:p>
        </p:txBody>
      </p:sp>
      <p:pic>
        <p:nvPicPr>
          <p:cNvPr id="9" name="mermaid diagram" descr="eb34e4910fc13270.png"/>
          <p:cNvPicPr>
            <a:picLocks noChangeAspect="1"/>
          </p:cNvPicPr>
          <p:nvPr/>
        </p:nvPicPr>
        <p:blipFill>
          <a:blip r:embed="rId5"/>
          <a:stretch>
            <a:fillRect/>
          </a:stretch>
        </p:blipFill>
        <p:spPr>
          <a:xfrm>
            <a:off x="530352" y="1956816"/>
            <a:ext cx="11130991" cy="882390"/>
          </a:xfrm>
          <a:prstGeom prst="rect">
            <a:avLst/>
          </a:prstGeom>
        </p:spPr>
      </p:pic>
      <p:graphicFrame>
        <p:nvGraphicFramePr>
          <p:cNvPr id="10" name="Table 9"/>
          <p:cNvGraphicFramePr>
            <a:graphicFrameLocks noGrp="1"/>
          </p:cNvGraphicFramePr>
          <p:nvPr/>
        </p:nvGraphicFramePr>
        <p:xfrm>
          <a:off x="530352" y="2985510"/>
          <a:ext cx="11130990" cy="2298192"/>
        </p:xfrm>
        <a:graphic>
          <a:graphicData uri="http://schemas.openxmlformats.org/drawingml/2006/table">
            <a:tbl>
              <a:tblPr firstRow="0" bandRow="0">
                <a:tableStyleId>{2D5ABB26-0587-4C30-8999-92F81FD0307C}</a:tableStyleId>
              </a:tblPr>
              <a:tblGrid>
                <a:gridCol w="1504890"/>
                <a:gridCol w="3298283"/>
                <a:gridCol w="6327817"/>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A weak answer</a:t>
                      </a:r>
                    </a:p>
                  </a:txBody>
                  <a:tcPr marL="101600" marR="101600" marT="38100" marB="38100" anchor="ctr">
                    <a:solidFill>
                      <a:srgbClr val="1A0F5C"/>
                    </a:solidFill>
                  </a:tcPr>
                </a:tc>
                <a:tc>
                  <a:txBody>
                    <a:bodyPr/>
                    <a:lstStyle/>
                    <a:p>
                      <a:r>
                        <a:rPr sz="1250" b="1" i="0">
                          <a:solidFill>
                            <a:srgbClr val="FFFFFF"/>
                          </a:solidFill>
                          <a:latin typeface="Calibri"/>
                        </a:rPr>
                        <a:t>A hire-grade answer</a:t>
                      </a:r>
                    </a:p>
                  </a:txBody>
                  <a:tcPr marL="101600" marR="101600" marT="38100" marB="38100" anchor="ctr">
                    <a:solidFill>
                      <a:srgbClr val="1A0F5C"/>
                    </a:solidFill>
                  </a:tcPr>
                </a:tc>
              </a:tr>
              <a:tr h="335280">
                <a:tc>
                  <a:txBody>
                    <a:bodyPr/>
                    <a:lstStyle/>
                    <a:p>
                      <a:r>
                        <a:rPr sz="1200" b="0" i="0">
                          <a:solidFill>
                            <a:srgbClr val="1A1440"/>
                          </a:solidFill>
                          <a:latin typeface="Calibri"/>
                        </a:rPr>
                        <a:t>First sentence</a:t>
                      </a:r>
                    </a:p>
                  </a:txBody>
                  <a:tcPr marL="101600" marR="101600" marT="38100" marB="38100" anchor="ctr">
                    <a:solidFill>
                      <a:srgbClr val="FFFFFF"/>
                    </a:solidFill>
                  </a:tcPr>
                </a:tc>
                <a:tc>
                  <a:txBody>
                    <a:bodyPr/>
                    <a:lstStyle/>
                    <a:p>
                      <a:r>
                        <a:rPr sz="1200" b="0" i="0">
                          <a:solidFill>
                            <a:srgbClr val="1A1440"/>
                          </a:solidFill>
                          <a:latin typeface="Calibri"/>
                        </a:rPr>
                        <a:t>"It's probably the August cohort."</a:t>
                      </a:r>
                    </a:p>
                  </a:txBody>
                  <a:tcPr marL="101600" marR="101600" marT="38100" marB="38100" anchor="ctr">
                    <a:solidFill>
                      <a:srgbClr val="FFFFFF"/>
                    </a:solidFill>
                  </a:tcPr>
                </a:tc>
                <a:tc>
                  <a:txBody>
                    <a:bodyPr/>
                    <a:lstStyle/>
                    <a:p>
                      <a:r>
                        <a:rPr sz="1200" b="0" i="0">
                          <a:solidFill>
                            <a:srgbClr val="1A1440"/>
                          </a:solidFill>
                          <a:latin typeface="Calibri"/>
                        </a:rPr>
                        <a:t>"Before a cause, I'd check the count, then what the number counts."</a:t>
                      </a:r>
                    </a:p>
                  </a:txBody>
                  <a:tcPr marL="101600" marR="101600" marT="38100" marB="38100" anchor="ctr">
                    <a:solidFill>
                      <a:srgbClr val="FFFFFF"/>
                    </a:solidFill>
                  </a:tcPr>
                </a:tc>
              </a:tr>
              <a:tr h="335280">
                <a:tc>
                  <a:txBody>
                    <a:bodyPr/>
                    <a:lstStyle/>
                    <a:p>
                      <a:r>
                        <a:rPr sz="1200" b="0" i="0">
                          <a:solidFill>
                            <a:srgbClr val="1A1440"/>
                          </a:solidFill>
                          <a:latin typeface="Calibri"/>
                        </a:rPr>
                        <a:t>The flat 38</a:t>
                      </a:r>
                    </a:p>
                  </a:txBody>
                  <a:tcPr marL="101600" marR="101600" marT="38100" marB="38100" anchor="ctr">
                    <a:solidFill>
                      <a:srgbClr val="F4F2FA"/>
                    </a:solidFill>
                  </a:tcPr>
                </a:tc>
                <a:tc>
                  <a:txBody>
                    <a:bodyPr/>
                    <a:lstStyle/>
                    <a:p>
                      <a:r>
                        <a:rPr sz="1200" b="0" i="0">
                          <a:solidFill>
                            <a:srgbClr val="1A1440"/>
                          </a:solidFill>
                          <a:latin typeface="Calibri"/>
                        </a:rPr>
                        <a:t>Accepts it</a:t>
                      </a:r>
                    </a:p>
                  </a:txBody>
                  <a:tcPr marL="101600" marR="101600" marT="38100" marB="38100" anchor="ctr">
                    <a:solidFill>
                      <a:srgbClr val="F4F2FA"/>
                    </a:solidFill>
                  </a:tcPr>
                </a:tc>
                <a:tc>
                  <a:txBody>
                    <a:bodyPr/>
                    <a:lstStyle/>
                    <a:p>
                      <a:r>
                        <a:rPr sz="1200" b="0" i="0">
                          <a:solidFill>
                            <a:srgbClr val="1A1440"/>
                          </a:solidFill>
                          <a:latin typeface="Calibri"/>
                        </a:rPr>
                        <a:t>"Who does month-two retention count, and from when?"</a:t>
                      </a:r>
                    </a:p>
                  </a:txBody>
                  <a:tcPr marL="101600" marR="101600" marT="38100" marB="38100" anchor="ctr">
                    <a:solidFill>
                      <a:srgbClr val="F4F2FA"/>
                    </a:solidFill>
                  </a:tcPr>
                </a:tc>
              </a:tr>
              <a:tr h="542544">
                <a:tc>
                  <a:txBody>
                    <a:bodyPr/>
                    <a:lstStyle/>
                    <a:p>
                      <a:r>
                        <a:rPr sz="1200" b="0" i="0">
                          <a:solidFill>
                            <a:srgbClr val="1A1440"/>
                          </a:solidFill>
                          <a:latin typeface="Calibri"/>
                        </a:rPr>
                        <a:t>The split</a:t>
                      </a:r>
                    </a:p>
                  </a:txBody>
                  <a:tcPr marL="101600" marR="101600" marT="38100" marB="38100" anchor="ctr">
                    <a:solidFill>
                      <a:srgbClr val="FFFFFF"/>
                    </a:solidFill>
                  </a:tcPr>
                </a:tc>
                <a:tc>
                  <a:txBody>
                    <a:bodyPr/>
                    <a:lstStyle/>
                    <a:p>
                      <a:r>
                        <a:rPr sz="1200" b="0" i="0">
                          <a:solidFill>
                            <a:srgbClr val="1A1440"/>
                          </a:solidFill>
                          <a:latin typeface="Calibri"/>
                        </a:rPr>
                        <a:t>Overall conversion</a:t>
                      </a:r>
                    </a:p>
                  </a:txBody>
                  <a:tcPr marL="101600" marR="101600" marT="38100" marB="38100" anchor="ctr">
                    <a:solidFill>
                      <a:srgbClr val="FFFFFF"/>
                    </a:solidFill>
                  </a:tcPr>
                </a:tc>
                <a:tc>
                  <a:txBody>
                    <a:bodyPr/>
                    <a:lstStyle/>
                    <a:p>
                      <a:r>
                        <a:rPr sz="1200" b="0" i="0">
                          <a:solidFill>
                            <a:srgbClr val="1A1440"/>
                          </a:solidFill>
                          <a:latin typeface="Calibri"/>
                        </a:rPr>
                        <a:t>Cohorts at the same age, then platform and date on the same step, then fewer users against fewer orders each, cohorts held fixed</a:t>
                      </a:r>
                    </a:p>
                  </a:txBody>
                  <a:tcPr marL="101600" marR="101600" marT="38100" marB="38100" anchor="ctr">
                    <a:solidFill>
                      <a:srgbClr val="FFFFFF"/>
                    </a:solidFill>
                  </a:tcPr>
                </a:tc>
              </a:tr>
              <a:tr h="749808">
                <a:tc>
                  <a:txBody>
                    <a:bodyPr/>
                    <a:lstStyle/>
                    <a:p>
                      <a:r>
                        <a:rPr sz="1200" b="0" i="0">
                          <a:solidFill>
                            <a:srgbClr val="1A1440"/>
                          </a:solidFill>
                          <a:latin typeface="Calibri"/>
                        </a:rPr>
                        <a:t>The close</a:t>
                      </a:r>
                    </a:p>
                  </a:txBody>
                  <a:tcPr marL="101600" marR="101600" marT="38100" marB="38100" anchor="ctr">
                    <a:solidFill>
                      <a:srgbClr val="F4F2FA"/>
                    </a:solidFill>
                  </a:tcPr>
                </a:tc>
                <a:tc>
                  <a:txBody>
                    <a:bodyPr/>
                    <a:lstStyle/>
                    <a:p>
                      <a:r>
                        <a:rPr sz="1200" b="0" i="0">
                          <a:solidFill>
                            <a:srgbClr val="1A1440"/>
                          </a:solidFill>
                          <a:latin typeface="Calibri"/>
                        </a:rPr>
                        <a:t>"Retention dropped."</a:t>
                      </a:r>
                    </a:p>
                  </a:txBody>
                  <a:tcPr marL="101600" marR="101600" marT="38100" marB="38100" anchor="ctr">
                    <a:solidFill>
                      <a:srgbClr val="F4F2FA"/>
                    </a:solidFill>
                  </a:tcPr>
                </a:tc>
                <a:tc>
                  <a:txBody>
                    <a:bodyPr/>
                    <a:lstStyle/>
                    <a:p>
                      <a:r>
                        <a:rPr sz="1200" b="0" i="0">
                          <a:solidFill>
                            <a:srgbClr val="1A1440"/>
                          </a:solidFill>
                          <a:latin typeface="Calibri"/>
                        </a:rPr>
                        <a:t>"About 3.2 of the 3.6-point fall is the August cohort; the checkout loses 1,133 to 1,317 orders a week that retention cannot see; then whether the sale paid back; October reads about 33."</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Oval 14"/>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judge each cohort at week four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An AI writing assistant launched two months ago and its launch week brought its biggest cohort ever. How do you know whether it is habit or novelty?</a:t>
            </a:r>
          </a:p>
        </p:txBody>
      </p:sp>
      <p:graphicFrame>
        <p:nvGraphicFramePr>
          <p:cNvPr id="9" name="Table 8"/>
          <p:cNvGraphicFramePr>
            <a:graphicFrameLocks noGrp="1"/>
          </p:cNvGraphicFramePr>
          <p:nvPr/>
        </p:nvGraphicFramePr>
        <p:xfrm>
          <a:off x="530352" y="1682496"/>
          <a:ext cx="5291175" cy="1627632"/>
        </p:xfrm>
        <a:graphic>
          <a:graphicData uri="http://schemas.openxmlformats.org/drawingml/2006/table">
            <a:tbl>
              <a:tblPr firstRow="0" bandRow="0">
                <a:tableStyleId>{2D5ABB26-0587-4C30-8999-92F81FD0307C}</a:tableStyleId>
              </a:tblPr>
              <a:tblGrid>
                <a:gridCol w="1763725"/>
                <a:gridCol w="1763725"/>
                <a:gridCol w="1763725"/>
              </a:tblGrid>
              <a:tr h="310896">
                <a:tc>
                  <a:txBody>
                    <a:bodyPr/>
                    <a:lstStyle/>
                    <a:p/>
                  </a:txBody>
                  <a:tcPr marL="101600" marR="101600" marT="38100" marB="38100" anchor="ctr">
                    <a:solidFill>
                      <a:srgbClr val="1A0F5C"/>
                    </a:solidFill>
                  </a:tcPr>
                </a:tc>
                <a:tc>
                  <a:txBody>
                    <a:bodyPr/>
                    <a:lstStyle/>
                    <a:p>
                      <a:r>
                        <a:rPr sz="950" b="1" i="0">
                          <a:solidFill>
                            <a:srgbClr val="FFFFFF"/>
                          </a:solidFill>
                          <a:latin typeface="Calibri"/>
                        </a:rPr>
                        <a:t>Launch-week cohort</a:t>
                      </a:r>
                    </a:p>
                  </a:txBody>
                  <a:tcPr marL="101600" marR="101600" marT="38100" marB="38100" anchor="ctr">
                    <a:solidFill>
                      <a:srgbClr val="1A0F5C"/>
                    </a:solidFill>
                  </a:tcPr>
                </a:tc>
                <a:tc>
                  <a:txBody>
                    <a:bodyPr/>
                    <a:lstStyle/>
                    <a:p>
                      <a:r>
                        <a:rPr sz="950" b="1" i="0">
                          <a:solidFill>
                            <a:srgbClr val="FFFFFF"/>
                          </a:solidFill>
                          <a:latin typeface="Calibri"/>
                        </a:rPr>
                        <a:t>A later weekly cohort</a:t>
                      </a:r>
                    </a:p>
                  </a:txBody>
                  <a:tcPr marL="101600" marR="101600" marT="38100" marB="38100" anchor="ctr">
                    <a:solidFill>
                      <a:srgbClr val="1A0F5C"/>
                    </a:solidFill>
                  </a:tcPr>
                </a:tc>
              </a:tr>
              <a:tr h="438912">
                <a:tc>
                  <a:txBody>
                    <a:bodyPr/>
                    <a:lstStyle/>
                    <a:p>
                      <a:r>
                        <a:rPr sz="900" b="0" i="0">
                          <a:solidFill>
                            <a:srgbClr val="1A1440"/>
                          </a:solidFill>
                          <a:latin typeface="Calibri"/>
                        </a:rPr>
                        <a:t>Week one</a:t>
                      </a:r>
                    </a:p>
                  </a:txBody>
                  <a:tcPr marL="101600" marR="101600" marT="38100" marB="38100" anchor="ctr">
                    <a:solidFill>
                      <a:srgbClr val="FFFFFF"/>
                    </a:solidFill>
                  </a:tcPr>
                </a:tc>
                <a:tc>
                  <a:txBody>
                    <a:bodyPr/>
                    <a:lstStyle/>
                    <a:p>
                      <a:r>
                        <a:rPr sz="900" b="0" i="0">
                          <a:solidFill>
                            <a:srgbClr val="1A1440"/>
                          </a:solidFill>
                          <a:latin typeface="Calibri"/>
                        </a:rPr>
                        <a:t>Looks strong: the feature is new</a:t>
                      </a:r>
                    </a:p>
                  </a:txBody>
                  <a:tcPr marL="101600" marR="101600" marT="38100" marB="38100" anchor="ctr">
                    <a:solidFill>
                      <a:srgbClr val="FFFFFF"/>
                    </a:solidFill>
                  </a:tcPr>
                </a:tc>
                <a:tc>
                  <a:txBody>
                    <a:bodyPr/>
                    <a:lstStyle/>
                    <a:p>
                      <a:r>
                        <a:rPr sz="900" b="0" i="0">
                          <a:solidFill>
                            <a:srgbClr val="1A1440"/>
                          </a:solidFill>
                          <a:latin typeface="Calibri"/>
                        </a:rPr>
                        <a:t>Looks normal</a:t>
                      </a:r>
                    </a:p>
                  </a:txBody>
                  <a:tcPr marL="101600" marR="101600" marT="38100" marB="38100" anchor="ctr">
                    <a:solidFill>
                      <a:srgbClr val="FFFFFF"/>
                    </a:solidFill>
                  </a:tcPr>
                </a:tc>
              </a:tr>
              <a:tr h="438912">
                <a:tc>
                  <a:txBody>
                    <a:bodyPr/>
                    <a:lstStyle/>
                    <a:p>
                      <a:r>
                        <a:rPr sz="900" b="0" i="0">
                          <a:solidFill>
                            <a:srgbClr val="1A1440"/>
                          </a:solidFill>
                          <a:latin typeface="Calibri"/>
                        </a:rPr>
                        <a:t>Week four (invented numbers)</a:t>
                      </a:r>
                    </a:p>
                  </a:txBody>
                  <a:tcPr marL="101600" marR="101600" marT="38100" marB="38100" anchor="ctr">
                    <a:solidFill>
                      <a:srgbClr val="F4F2FA"/>
                    </a:solidFill>
                  </a:tcPr>
                </a:tc>
                <a:tc>
                  <a:txBody>
                    <a:bodyPr/>
                    <a:lstStyle/>
                    <a:p>
                      <a:r>
                        <a:rPr sz="900" b="0" i="0">
                          <a:solidFill>
                            <a:srgbClr val="1A1440"/>
                          </a:solidFill>
                          <a:latin typeface="Calibri"/>
                        </a:rPr>
                        <a:t>24 percent still active</a:t>
                      </a:r>
                    </a:p>
                  </a:txBody>
                  <a:tcPr marL="101600" marR="101600" marT="38100" marB="38100" anchor="ctr">
                    <a:solidFill>
                      <a:srgbClr val="F4F2FA"/>
                    </a:solidFill>
                  </a:tcPr>
                </a:tc>
                <a:tc>
                  <a:txBody>
                    <a:bodyPr/>
                    <a:lstStyle/>
                    <a:p>
                      <a:r>
                        <a:rPr sz="900" b="0" i="0">
                          <a:solidFill>
                            <a:srgbClr val="1A1440"/>
                          </a:solidFill>
                          <a:latin typeface="Calibri"/>
                        </a:rPr>
                        <a:t>36 percent still active</a:t>
                      </a:r>
                    </a:p>
                  </a:txBody>
                  <a:tcPr marL="101600" marR="101600" marT="38100" marB="38100" anchor="ctr">
                    <a:solidFill>
                      <a:srgbClr val="F4F2FA"/>
                    </a:solidFill>
                  </a:tcPr>
                </a:tc>
              </a:tr>
              <a:tr h="438912">
                <a:tc>
                  <a:txBody>
                    <a:bodyPr/>
                    <a:lstStyle/>
                    <a:p>
                      <a:r>
                        <a:rPr sz="900" b="0" i="0">
                          <a:solidFill>
                            <a:srgbClr val="1A1440"/>
                          </a:solidFill>
                          <a:latin typeface="Calibri"/>
                        </a:rPr>
                        <a:t>The blended weekly actives</a:t>
                      </a:r>
                    </a:p>
                  </a:txBody>
                  <a:tcPr marL="101600" marR="101600" marT="38100" marB="38100" anchor="ctr">
                    <a:solidFill>
                      <a:srgbClr val="FFFFFF"/>
                    </a:solidFill>
                  </a:tcPr>
                </a:tc>
                <a:tc>
                  <a:txBody>
                    <a:bodyPr/>
                    <a:lstStyle/>
                    <a:p>
                      <a:r>
                        <a:rPr sz="900" b="0" i="0">
                          <a:solidFill>
                            <a:srgbClr val="1A1440"/>
                          </a:solidFill>
                          <a:latin typeface="Calibri"/>
                        </a:rPr>
                        <a:t>Jump in launch week, then stay near the record</a:t>
                      </a:r>
                    </a:p>
                  </a:txBody>
                  <a:tcPr marL="101600" marR="101600" marT="38100" marB="38100" anchor="ctr">
                    <a:solidFill>
                      <a:srgbClr val="FFFFFF"/>
                    </a:solidFill>
                  </a:tcPr>
                </a:tc>
                <a:tc>
                  <a:txBody>
                    <a:bodyPr/>
                    <a:lstStyle/>
                    <a:p>
                      <a:r>
                        <a:rPr sz="900" b="0" i="0">
                          <a:solidFill>
                            <a:srgbClr val="1A1440"/>
                          </a:solidFill>
                          <a:latin typeface="Calibri"/>
                        </a:rPr>
                        <a:t>Each week's new cohort adds to the count</a:t>
                      </a:r>
                    </a:p>
                  </a:txBody>
                  <a:tcPr marL="101600" marR="101600" marT="38100" marB="38100" anchor="ctr">
                    <a:solidFill>
                      <a:srgbClr val="FFFFFF"/>
                    </a:solidFill>
                  </a:tcPr>
                </a:tc>
              </a:tr>
            </a:tbl>
          </a:graphicData>
        </a:graphic>
      </p:graphicFrame>
      <p:pic>
        <p:nvPicPr>
          <p:cNvPr id="10" name="mermaid diagram" descr="c0003f6a36f6d20f.png"/>
          <p:cNvPicPr>
            <a:picLocks noChangeAspect="1"/>
          </p:cNvPicPr>
          <p:nvPr/>
        </p:nvPicPr>
        <p:blipFill>
          <a:blip r:embed="rId5"/>
          <a:stretch>
            <a:fillRect/>
          </a:stretch>
        </p:blipFill>
        <p:spPr>
          <a:xfrm>
            <a:off x="530352" y="3566160"/>
            <a:ext cx="5291175" cy="2507040"/>
          </a:xfrm>
          <a:prstGeom prst="rect">
            <a:avLst/>
          </a:prstGeom>
        </p:spPr>
      </p:pic>
      <p:sp>
        <p:nvSpPr>
          <p:cNvPr id="11" name="Rounded Rectangle 10"/>
          <p:cNvSpPr/>
          <p:nvPr/>
        </p:nvSpPr>
        <p:spPr>
          <a:xfrm>
            <a:off x="6370167" y="1682496"/>
            <a:ext cx="5291175" cy="2941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2685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27584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Count a user as active only on the core action, a draft she keeps; check the week's model and pricing changes first; then read each cohort's curve by weeks since signup, week four or later (the programme's rule of thumb). If later cohorts flatten while the launch cohort keeps sliding, the product sticks for the users who came looking. The blended count still sizes load and spend; it cannot say whether anyone formed a habit.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8" name="Oval 17"/>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member who has not left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cohort table get wrong about its newest members, and who picks it up?</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cohort table treats a member who has not left yet as if she were retained for ever, and that flatters every curve. The next 120 minutes give that member a name, censored, and show when two curves really differ by more than chance."</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next block is the IITGN faculty session W4-3 on survival curves, censoring and hazard, tentative until IIT Gandhinagar confirms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7" name="Oval 16"/>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 out?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day's calls can the room make in seconds, and what does the day close on before Friday's ticket?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Wednesday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calls can the room make in seconds?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3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Cohorts and the blend</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What a cohort fixes; a blend that holds while two old cohorts fall; what a curve's level after month one says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ter_c3942426586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2, 5 AND 7</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funnel</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step that owns the Android loss; a step above 100 percent; per session against per member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6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Wednesday, then the interview</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Bread to milk, confidence 0.74 and lift 1.04, the verdict in one breath; then the first move in a retention walk</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1" name="Oval 30"/>
          <p:cNvSpPr/>
          <p:nvPr/>
        </p:nvSpPr>
        <p:spPr>
          <a:xfrm>
            <a:off x="382762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3734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 in one sentence, and Friday's ticket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Thursday close on, and what is Friday's question?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dashboard was flat because of who it counts: every cohort fell after month one, each newer one started lower, and the August cohort is outside the count until October, when the dashboard reads about 33; the orders were lost in one step, on one platform, after one date.</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cohort fixes the entry moment. A blend is a size-weighted average and counts who it counts. Each funnel step divides by the step before, in one named unit. A low step is not a loss until it moves.</a:t>
            </a:r>
          </a:p>
        </p:txBody>
      </p:sp>
      <p:sp>
        <p:nvSpPr>
          <p:cNvPr id="15" name="Rounded Rectangle 14"/>
          <p:cNvSpPr/>
          <p:nvPr/>
        </p:nvSpPr>
        <p:spPr>
          <a:xfrm>
            <a:off x="530352" y="41681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891540"/>
          </a:xfrm>
          <a:prstGeom prst="rect">
            <a:avLst/>
          </a:prstGeom>
          <a:noFill/>
        </p:spPr>
        <p:txBody>
          <a:bodyPr wrap="square" anchor="ctr" lIns="0" rIns="0" tIns="0" bIns="0">
            <a:spAutoFit/>
          </a:bodyPr>
          <a:lstStyle/>
          <a:p>
            <a:r>
              <a:rPr sz="1500" b="1">
                <a:solidFill>
                  <a:srgbClr val="5B3FD6"/>
                </a:solidFill>
                <a:latin typeface="Calibri"/>
              </a:rPr>
              <a:t>Friday. </a:t>
            </a:r>
            <a:r>
              <a:rPr sz="1500" b="0" i="0">
                <a:solidFill>
                  <a:srgbClr val="1A1440"/>
                </a:solidFill>
                <a:latin typeface="Calibri"/>
              </a:rPr>
              <a:t>Flipkart's Lucknow fulfilment centre must book packer shifts for the festive weeks, and two forecasts sit eighteen points apart: which one goes to the plan, and how wrong could it be? The pre-read ships tonight: the ticket's first lines and five terms.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2" name="Oval 21"/>
          <p:cNvSpPr/>
          <p:nvPr/>
        </p:nvSpPr>
        <p:spPr>
          <a:xfrm>
            <a:off x="382762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3734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