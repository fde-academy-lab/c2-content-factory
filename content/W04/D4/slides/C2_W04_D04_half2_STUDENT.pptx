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trainer minutes: the fix-first call unguided (30), the interview walk and the AI-company</a:t>
            </a:r>
          </a:p>
          <a:p>
            <a:r>
              <a:t>variant (15), the Kahoot and the close (15). Then the IITGN faculty session W4-3 runs (tentative),</a:t>
            </a:r>
          </a:p>
          <a:p>
            <a:r>
              <a:t>or the weaned-users fallback if it slips.</a:t>
            </a:r>
          </a:p>
          <a:p>
            <a:r>
              <a:t>LIVE, 30 minutes, unguided, in the nine groups. L5. Styles: the case method (the app team's lead</a:t>
            </a:r>
          </a:p>
          <a:p>
            <a:r>
              <a:t>argues from a role card and is partly right), Feynman (the call in one sentence a membership lead</a:t>
            </a:r>
          </a:p>
          <a:p>
            <a:r>
              <a:t>could repeat).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to set up, then 18 minutes of writing. Circulate with one question per group:</a:t>
            </a:r>
          </a:p>
          <a:p>
            <a:r>
              <a:t>which line of your evidence would the app team's lead attack first? Groups that write "fix</a:t>
            </a:r>
          </a:p>
          <a:p>
            <a:r>
              <a:t>retention" with no stage are sent back to the chapter 3 split.</a:t>
            </a:r>
          </a:p>
          <a:p>
            <a:r>
              <a:t>Transition: the app team's lead.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 learner reads the role card aloud (TRAINER role card); one group answers in</a:t>
            </a:r>
          </a:p>
          <a:p>
            <a:r>
              <a:t>the four moves from Tuesday: restate, answer from the evidence, concede what is true, say what</a:t>
            </a:r>
          </a:p>
          <a:p>
            <a:r>
              <a:t>would change your mind. A response that calls the app team wrong has lost; the chart is right</a:t>
            </a:r>
          </a:p>
          <a:p>
            <a:r>
              <a:t>about the step it measures.</a:t>
            </a:r>
          </a:p>
          <a:p>
            <a:r>
              <a:t>Transition: what each problem costs.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number with its assumption. The 1,317 assumes the carts that failed</a:t>
            </a:r>
          </a:p>
          <a:p>
            <a:r>
              <a:t>would have converted at the old rate; members who retried and ordered later make it an upper</a:t>
            </a:r>
          </a:p>
          <a:p>
            <a:r>
              <a:t>bound, which orders per active Android member (1.36 in August, 1.20 in September, against iOS</a:t>
            </a:r>
          </a:p>
          <a:p>
            <a:r>
              <a:t>1.34 and 1.40) bear out. Ask which number the membership lead can act on this week.</a:t>
            </a:r>
          </a:p>
          <a:p>
            <a:r>
              <a:t>Transition: the wrong fix.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traps of L5: acquiring your way out of a retention problem, and fixing the</a:t>
            </a:r>
          </a:p>
          <a:p>
            <a:r>
              <a:t>skippable stage. If a group asks what a real company did instead: Swiggy went the other way and</a:t>
            </a:r>
          </a:p>
          <a:p>
            <a:r>
              <a:t>weaned away more than 4 million unprofitable Instamart users (its Q1 FY27 letter, the fallback</a:t>
            </a:r>
          </a:p>
          <a:p>
            <a:r>
              <a:t>block's first part). Then the groups finish their page.</a:t>
            </a:r>
          </a:p>
          <a:p>
            <a:r>
              <a:t>Source:</a:t>
            </a:r>
          </a:p>
          <a:p>
            <a:r>
              <a:t>https://nsearchives.nseindia.com/corporate/SWIGGY_30072026154100_Covering_Letter_Letter_to_Shareholders_-_signed.pdf (checked 12 October 2026)</a:t>
            </a:r>
          </a:p>
          <a:p>
            <a:r>
              <a:t>Transition: the call, said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group reads its call; the room scores it against the five lines. This is the</a:t>
            </a:r>
          </a:p>
          <a:p>
            <a:r>
              <a:t>model, not the only answer: a group that puts the sale-week members first with a reason that holds has</a:t>
            </a:r>
          </a:p>
          <a:p>
            <a:r>
              <a:t>made a defensible call, and the room should hear why.</a:t>
            </a:r>
          </a:p>
          <a:p>
            <a:r>
              <a:t>Transition: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L6. Pairs read the transcript in the extras folder: one plays the interviewer,</a:t>
            </a:r>
          </a:p>
          <a:p>
            <a:r>
              <a:t>one the candidate; they score the hire-grade answer on the scorecard's seven lines and swap.</a:t>
            </a:r>
          </a:p>
          <a:p>
            <a:r>
              <a:t>Explorer scene Th4 carries the AI-company variant.</a:t>
            </a:r>
          </a:p>
          <a:p>
            <a:r>
              <a:t>Transition: the order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order is Aced's (T2): rule out data issues first, isolate by segment, then</a:t>
            </a:r>
          </a:p>
          <a:p>
            <a:r>
              <a:t>separate fewer users from less use per user. The weak answer names a cause in its first sentence.</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Programme-written, every number a toy (explorer scene Th4 shows the same toy).</a:t>
            </a:r>
          </a:p>
          <a:p>
            <a:r>
              <a:t>The transfer: a launch cohort is the sale-week members of an AI product.</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line word for word and stop. If the block has slipped, open the</a:t>
            </a:r>
          </a:p>
          <a:p>
            <a:r>
              <a:t>fallback deck (the weaned-users block). Park any "is the difference real" question for the block.</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(10) and the close (5).</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Ungraded, scored on correctness and speed. The trap item uses a blend other than</a:t>
            </a:r>
          </a:p>
          <a:p>
            <a:r>
              <a:t>38. Read the most-missed item's answer aloud before the close.</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sentence twice. The TA lab after the block runs the same method on Kalpa</a:t>
            </a:r>
          </a:p>
          <a:p>
            <a:r>
              <a:t>Retail's Retail-Plus tier. The cohort axis built today is Friday's time axis.</a:t>
            </a:r>
          </a:p>
          <a:p>
            <a:r>
              <a:t>Transition: the faculty block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fixed first?</a:t>
            </a:r>
          </a:p>
        </p:txBody>
      </p:sp>
      <p:sp>
        <p:nvSpPr>
          <p:cNvPr id="9" name="TextBox 8"/>
          <p:cNvSpPr txBox="1"/>
          <p:nvPr/>
        </p:nvSpPr>
        <p:spPr>
          <a:xfrm>
            <a:off x="731519" y="352044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morning found two problems, a dashboard that reads 38 because of who it counts and one broken step on Android: which goes first, on what evidence, at what cost, and what does the app team's lead say?</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one call,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fix-first call carry, and in what order?</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call</a:t>
            </a:r>
          </a:p>
        </p:txBody>
      </p:sp>
      <p:sp>
        <p:nvSpPr>
          <p:cNvPr id="14" name="TextBox 13"/>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gets fixed first, in one sentence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evidence</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stage, the segment and the date, each with its number</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cost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 week and rupees, with every assumption named and ranged</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objection</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app team's lead, answered with the split that settles it</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would change it</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one fact that would reverse the order</a:t>
            </a:r>
          </a:p>
        </p:txBody>
      </p:sp>
      <p:sp>
        <p:nvSpPr>
          <p:cNvPr id="35" name="TextBox 34"/>
          <p:cNvSpPr txBox="1"/>
          <p:nvPr/>
        </p:nvSpPr>
        <p:spPr>
          <a:xfrm>
            <a:off x="530352" y="42763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group writes the five lines for the membership lead on one page, then a second page doing the same for Kalpa's head of Retail-Plus after the lab. Every number comes from the morning's notebooks.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8" name="Oval 3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40" name="Oval 39"/>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 team's lead: "our checkout is fine"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app team's lead claim, what is true in it, and what answers it?</a:t>
            </a:r>
          </a:p>
        </p:txBody>
      </p:sp>
      <p:pic>
        <p:nvPicPr>
          <p:cNvPr id="9" name="mermaid diagram" descr="C2_W04_D04_stage_split_STUDENT.png"/>
          <p:cNvPicPr>
            <a:picLocks noChangeAspect="1"/>
          </p:cNvPicPr>
          <p:nvPr/>
        </p:nvPicPr>
        <p:blipFill>
          <a:blip r:embed="rId4"/>
          <a:stretch>
            <a:fillRect/>
          </a:stretch>
        </p:blipFill>
        <p:spPr>
          <a:xfrm>
            <a:off x="3139922" y="1664208"/>
            <a:ext cx="5911850"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"Carts that start checkout held at 80 percent on every platform, before and after 14 September, so the new flow works." </a:t>
            </a:r>
            <a:r>
              <a:rPr sz="1500" b="1" i="0">
                <a:solidFill>
                  <a:srgbClr val="1A1440"/>
                </a:solidFill>
                <a:latin typeface="Calibri"/>
              </a:rPr>
              <a:t>What is true.</a:t>
            </a:r>
            <a:r>
              <a:rPr sz="1500" b="0" i="0">
                <a:solidFill>
                  <a:srgbClr val="1A1440"/>
                </a:solidFill>
                <a:latin typeface="Calibri"/>
              </a:rPr>
              <a:t> Starting checkout did not break. </a:t>
            </a:r>
            <a:r>
              <a:rPr sz="1500" b="1" i="0">
                <a:solidFill>
                  <a:srgbClr val="1A1440"/>
                </a:solidFill>
                <a:latin typeface="Calibri"/>
              </a:rPr>
              <a:t>What answers it.</a:t>
            </a:r>
            <a:r>
              <a:rPr sz="1500" b="0" i="0">
                <a:solidFill>
                  <a:srgbClr val="1A1440"/>
                </a:solidFill>
                <a:latin typeface="Calibri"/>
              </a:rPr>
              <a:t> Completing the order once checkout has started fell from 72.5 to 55 percent, for members on Android, from the release week. Concede the true part, restate the question, bring the split.</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8" name="Oval 17"/>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problem costs,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each loss, in orders and rupees, and how sure is each number?</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1,317</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A WEEK</a:t>
            </a:r>
          </a:p>
        </p:txBody>
      </p:sp>
      <p:sp>
        <p:nvSpPr>
          <p:cNvPr id="11" name="TextBox 10"/>
          <p:cNvSpPr txBox="1"/>
          <p:nvPr/>
        </p:nvSpPr>
        <p:spPr>
          <a:xfrm>
            <a:off x="530352" y="2639060"/>
            <a:ext cx="2577007" cy="507111"/>
          </a:xfrm>
          <a:prstGeom prst="rect">
            <a:avLst/>
          </a:prstGeom>
          <a:noFill/>
        </p:spPr>
        <p:txBody>
          <a:bodyPr wrap="square" anchor="t" lIns="0" rIns="0" tIns="0" bIns="0">
            <a:spAutoFit/>
          </a:bodyPr>
          <a:lstStyle/>
          <a:p>
            <a:pPr algn="l"/>
            <a:r>
              <a:rPr sz="950" b="0" i="0">
                <a:solidFill>
                  <a:srgbClr val="6B6690"/>
                </a:solidFill>
                <a:latin typeface="Calibri"/>
              </a:rPr>
              <a:t>not placed after the release: 22,841 Android member carts in 17 days, at 58 against 44 percent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5.3 lakh</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OF ORDERS A WEEK</a:t>
            </a:r>
          </a:p>
        </p:txBody>
      </p:sp>
      <p:sp>
        <p:nvSpPr>
          <p:cNvPr id="15" name="TextBox 14"/>
          <p:cNvSpPr txBox="1"/>
          <p:nvPr/>
        </p:nvSpPr>
        <p:spPr>
          <a:xfrm>
            <a:off x="3381679" y="2639060"/>
            <a:ext cx="2577007" cy="507111"/>
          </a:xfrm>
          <a:prstGeom prst="rect">
            <a:avLst/>
          </a:prstGeom>
          <a:noFill/>
        </p:spPr>
        <p:txBody>
          <a:bodyPr wrap="square" anchor="t" lIns="0" rIns="0" tIns="0" bIns="0">
            <a:spAutoFit/>
          </a:bodyPr>
          <a:lstStyle/>
          <a:p>
            <a:pPr algn="l"/>
            <a:r>
              <a:rPr sz="950" b="0" i="0">
                <a:solidFill>
                  <a:srgbClr val="6B6690"/>
                </a:solidFill>
                <a:latin typeface="Calibri"/>
              </a:rPr>
              <a:t>at Rs 400 an order, an assumption from Rs 300 (Rs 4.0 lakh) to Rs 500 (Rs 6.6 lakh)</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0.23</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PER SALE-WEEK MEMBER</a:t>
            </a:r>
          </a:p>
        </p:txBody>
      </p:sp>
      <p:sp>
        <p:nvSpPr>
          <p:cNvPr id="19" name="TextBox 18"/>
          <p:cNvSpPr txBox="1"/>
          <p:nvPr/>
        </p:nvSpPr>
        <p:spPr>
          <a:xfrm>
            <a:off x="6233007" y="2639060"/>
            <a:ext cx="2577007" cy="350266"/>
          </a:xfrm>
          <a:prstGeom prst="rect">
            <a:avLst/>
          </a:prstGeom>
          <a:noFill/>
        </p:spPr>
        <p:txBody>
          <a:bodyPr wrap="square" anchor="t" lIns="0" rIns="0" tIns="0" bIns="0">
            <a:spAutoFit/>
          </a:bodyPr>
          <a:lstStyle/>
          <a:p>
            <a:pPr algn="l"/>
            <a:r>
              <a:rPr sz="950" b="0" i="0">
                <a:solidFill>
                  <a:srgbClr val="6B6690"/>
                </a:solidFill>
                <a:latin typeface="Calibri"/>
              </a:rPr>
              <a:t>in month one, against 0.61 for an organic August member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33</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PERCENT, OCTOBER</a:t>
            </a:r>
          </a:p>
        </p:txBody>
      </p:sp>
      <p:sp>
        <p:nvSpPr>
          <p:cNvPr id="23" name="TextBox 22"/>
          <p:cNvSpPr txBox="1"/>
          <p:nvPr/>
        </p:nvSpPr>
        <p:spPr>
          <a:xfrm>
            <a:off x="9084335" y="2639060"/>
            <a:ext cx="2577007" cy="350266"/>
          </a:xfrm>
          <a:prstGeom prst="rect">
            <a:avLst/>
          </a:prstGeom>
          <a:noFill/>
        </p:spPr>
        <p:txBody>
          <a:bodyPr wrap="square" anchor="t" lIns="0" rIns="0" tIns="0" bIns="0">
            <a:spAutoFit/>
          </a:bodyPr>
          <a:lstStyle/>
          <a:p>
            <a:pPr algn="l"/>
            <a:r>
              <a:rPr sz="950" b="0" i="0">
                <a:solidFill>
                  <a:srgbClr val="6B6690"/>
                </a:solidFill>
                <a:latin typeface="Calibri"/>
              </a:rPr>
              <a:t>the dashboard once the August cohort enters, if it falls as July's did (32 to 34)</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release costs orders every week it stays live, and a code fix ends it. The August cohort's weakness is already bought; what can still change is the next sale's design.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0" name="Oval 29"/>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fix: buy more sale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"fix retention" with more acquisition do to the number, and to the business?</a:t>
            </a:r>
          </a:p>
        </p:txBody>
      </p:sp>
      <p:pic>
        <p:nvPicPr>
          <p:cNvPr id="9" name="mermaid diagram" descr="bd7ce74142568b98.png"/>
          <p:cNvPicPr>
            <a:picLocks noChangeAspect="1"/>
          </p:cNvPicPr>
          <p:nvPr/>
        </p:nvPicPr>
        <p:blipFill>
          <a:blip r:embed="rId7"/>
          <a:stretch>
            <a:fillRect/>
          </a:stretch>
        </p:blipFill>
        <p:spPr>
          <a:xfrm>
            <a:off x="1452410" y="1956816"/>
            <a:ext cx="9286875" cy="1371600"/>
          </a:xfrm>
          <a:prstGeom prst="rect">
            <a:avLst/>
          </a:prstGeom>
        </p:spPr>
      </p:pic>
      <p:sp>
        <p:nvSpPr>
          <p:cNvPr id="10" name="Rounded Rectangle 9"/>
          <p:cNvSpPr/>
          <p:nvPr/>
        </p:nvSpPr>
        <p:spPr>
          <a:xfrm>
            <a:off x="530352" y="34747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069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16680"/>
            <a:ext cx="237744" cy="237744"/>
          </a:xfrm>
          <a:prstGeom prst="rect">
            <a:avLst/>
          </a:prstGeom>
        </p:spPr>
      </p:pic>
      <p:sp>
        <p:nvSpPr>
          <p:cNvPr id="13" name="TextBox 12"/>
          <p:cNvSpPr txBox="1"/>
          <p:nvPr/>
        </p:nvSpPr>
        <p:spPr>
          <a:xfrm>
            <a:off x="1399031" y="36210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40480"/>
            <a:ext cx="9987991" cy="682752"/>
          </a:xfrm>
          <a:prstGeom prst="rect">
            <a:avLst/>
          </a:prstGeom>
          <a:noFill/>
        </p:spPr>
        <p:txBody>
          <a:bodyPr wrap="square" anchor="t" lIns="0" rIns="0" tIns="0" bIns="0">
            <a:spAutoFit/>
          </a:bodyPr>
          <a:lstStyle/>
          <a:p>
            <a:r>
              <a:rPr sz="1500" b="0" i="0">
                <a:solidFill>
                  <a:srgbClr val="1A1440"/>
                </a:solidFill>
                <a:latin typeface="Calibri"/>
              </a:rPr>
              <a:t>"Retention will recover if we run another sale." The next discounted cohort enters the count at its month two and, if it behaves like this one, pulls the dashboard down again at the discount's cost.</a:t>
            </a:r>
          </a:p>
        </p:txBody>
      </p:sp>
      <p:sp>
        <p:nvSpPr>
          <p:cNvPr id="15" name="Rounded Rectangle 14"/>
          <p:cNvSpPr/>
          <p:nvPr/>
        </p:nvSpPr>
        <p:spPr>
          <a:xfrm>
            <a:off x="530352" y="47609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93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6"/>
          <a:stretch>
            <a:fillRect/>
          </a:stretch>
        </p:blipFill>
        <p:spPr>
          <a:xfrm>
            <a:off x="868680" y="5202936"/>
            <a:ext cx="237744" cy="237744"/>
          </a:xfrm>
          <a:prstGeom prst="rect">
            <a:avLst/>
          </a:prstGeom>
        </p:spPr>
      </p:pic>
      <p:sp>
        <p:nvSpPr>
          <p:cNvPr id="18" name="TextBox 17"/>
          <p:cNvSpPr txBox="1"/>
          <p:nvPr/>
        </p:nvSpPr>
        <p:spPr>
          <a:xfrm>
            <a:off x="1399031" y="49072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5126736"/>
            <a:ext cx="9987991" cy="682752"/>
          </a:xfrm>
          <a:prstGeom prst="rect">
            <a:avLst/>
          </a:prstGeom>
          <a:noFill/>
        </p:spPr>
        <p:txBody>
          <a:bodyPr wrap="square" anchor="t" lIns="0" rIns="0" tIns="0" bIns="0">
            <a:spAutoFit/>
          </a:bodyPr>
          <a:lstStyle/>
          <a:p>
            <a:r>
              <a:rPr sz="1500" b="0" i="0">
                <a:solidFill>
                  <a:srgbClr val="1A1440"/>
                </a:solidFill>
                <a:latin typeface="Calibri"/>
              </a:rPr>
              <a:t>Judge the next sale on its own cohort curve before buying it, and leave search to menu view alone: its 118 percent was never a broken step.</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4" name="Oval 23"/>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Android checkout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hire-grade call say, in the order the membership lead needs it?</a:t>
            </a:r>
          </a:p>
        </p:txBody>
      </p:sp>
      <p:sp>
        <p:nvSpPr>
          <p:cNvPr id="9" name="Rounded Rectangle 8"/>
          <p:cNvSpPr/>
          <p:nvPr/>
        </p:nvSpPr>
        <p:spPr>
          <a:xfrm>
            <a:off x="530352" y="1956816"/>
            <a:ext cx="11130991" cy="26746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4185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2491739"/>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Fix the last step of the new Android checkout for members first: it loses about 1,317 orders a week, and a code fix ends the loss. </a:t>
            </a:r>
            <a:r>
              <a:rPr sz="1500" b="1" i="0">
                <a:solidFill>
                  <a:srgbClr val="1A1440"/>
                </a:solidFill>
                <a:latin typeface="Calibri"/>
              </a:rPr>
              <a:t>The evidence.</a:t>
            </a:r>
            <a:r>
              <a:rPr sz="1500" b="0" i="0">
                <a:solidFill>
                  <a:srgbClr val="1A1440"/>
                </a:solidFill>
                <a:latin typeface="Calibri"/>
              </a:rPr>
              <a:t> Checkout start to order placed fell from 72.5 to 55 percent for members on Android from the release week; starting checkout held at 80; iOS members (57 to 56) and non-members on Android (52 to 51) held; the fall holds with the cut moved a week either way. </a:t>
            </a:r>
            <a:r>
              <a:rPr sz="1500" b="1" i="0">
                <a:solidFill>
                  <a:srgbClr val="1A1440"/>
                </a:solidFill>
                <a:latin typeface="Calibri"/>
              </a:rPr>
              <a:t>The cost.</a:t>
            </a:r>
            <a:r>
              <a:rPr sz="1500" b="0" i="0">
                <a:solidFill>
                  <a:srgbClr val="1A1440"/>
                </a:solidFill>
                <a:latin typeface="Calibri"/>
              </a:rPr>
              <a:t> About Rs 5.3 lakh of orders a week at Rs 400 an order, Rs 4.0 to 6.6 lakh across the assumption's range. </a:t>
            </a:r>
            <a:r>
              <a:rPr sz="1500" b="1" i="0">
                <a:solidFill>
                  <a:srgbClr val="1A1440"/>
                </a:solidFill>
                <a:latin typeface="Calibri"/>
              </a:rPr>
              <a:t>The second problem.</a:t>
            </a:r>
            <a:r>
              <a:rPr sz="1500" b="0" i="0">
                <a:solidFill>
                  <a:srgbClr val="1A1440"/>
                </a:solidFill>
                <a:latin typeface="Calibri"/>
              </a:rPr>
              <a:t> The sale-week members kept 20 percent in month one against 49 for organic August members; judge the next sale on its own cohort curve before running it. </a:t>
            </a:r>
            <a:r>
              <a:rPr sz="1500" b="1" i="0">
                <a:solidFill>
                  <a:srgbClr val="1A1440"/>
                </a:solidFill>
                <a:latin typeface="Calibri"/>
              </a:rPr>
              <a:t>What would change the order.</a:t>
            </a:r>
            <a:r>
              <a:rPr sz="1500" b="0" i="0">
                <a:solidFill>
                  <a:srgbClr val="1A1440"/>
                </a:solidFill>
                <a:latin typeface="Calibri"/>
              </a:rPr>
              <a:t> If the lost carts were mostly retried and ordered later, the release costs friction rather than orders, and the next sale's design would go first.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6" name="Oval 15"/>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interviewer hear?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"Retention dropped; walk me through your investigation." How does a hire-grade candidate order it, and how does the same idea apply to an AI product?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walk: tracking, definition, segments, users, step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 strong candidate investigate a retention drop?</a:t>
            </a:r>
          </a:p>
        </p:txBody>
      </p:sp>
      <p:pic>
        <p:nvPicPr>
          <p:cNvPr id="9" name="mermaid diagram" descr="b04361b047c2fb8c.png"/>
          <p:cNvPicPr>
            <a:picLocks noChangeAspect="1"/>
          </p:cNvPicPr>
          <p:nvPr/>
        </p:nvPicPr>
        <p:blipFill>
          <a:blip r:embed="rId5"/>
          <a:stretch>
            <a:fillRect/>
          </a:stretch>
        </p:blipFill>
        <p:spPr>
          <a:xfrm>
            <a:off x="530352" y="1956816"/>
            <a:ext cx="11130991" cy="709151"/>
          </a:xfrm>
          <a:prstGeom prst="rect">
            <a:avLst/>
          </a:prstGeom>
        </p:spPr>
      </p:pic>
      <p:graphicFrame>
        <p:nvGraphicFramePr>
          <p:cNvPr id="10" name="Table 9"/>
          <p:cNvGraphicFramePr>
            <a:graphicFrameLocks noGrp="1"/>
          </p:cNvGraphicFramePr>
          <p:nvPr/>
        </p:nvGraphicFramePr>
        <p:xfrm>
          <a:off x="530352" y="2812271"/>
          <a:ext cx="11130990" cy="2574544"/>
        </p:xfrm>
        <a:graphic>
          <a:graphicData uri="http://schemas.openxmlformats.org/drawingml/2006/table">
            <a:tbl>
              <a:tblPr firstRow="0" bandRow="0">
                <a:tableStyleId>{2D5ABB26-0587-4C30-8999-92F81FD0307C}</a:tableStyleId>
              </a:tblPr>
              <a:tblGrid>
                <a:gridCol w="1610338"/>
                <a:gridCol w="3575952"/>
                <a:gridCol w="5944700"/>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First sentence</a:t>
                      </a:r>
                    </a:p>
                  </a:txBody>
                  <a:tcPr marL="101600" marR="101600" marT="38100" marB="38100" anchor="ctr">
                    <a:solidFill>
                      <a:srgbClr val="FFFFFF"/>
                    </a:solidFill>
                  </a:tcPr>
                </a:tc>
                <a:tc>
                  <a:txBody>
                    <a:bodyPr/>
                    <a:lstStyle/>
                    <a:p>
                      <a:r>
                        <a:rPr sz="1400" b="0" i="0">
                          <a:solidFill>
                            <a:srgbClr val="1A1440"/>
                          </a:solidFill>
                          <a:latin typeface="Calibri"/>
                        </a:rPr>
                        <a:t>"It's probably the August cohort."</a:t>
                      </a:r>
                    </a:p>
                  </a:txBody>
                  <a:tcPr marL="101600" marR="101600" marT="38100" marB="38100" anchor="ctr">
                    <a:solidFill>
                      <a:srgbClr val="FFFFFF"/>
                    </a:solidFill>
                  </a:tcPr>
                </a:tc>
                <a:tc>
                  <a:txBody>
                    <a:bodyPr/>
                    <a:lstStyle/>
                    <a:p>
                      <a:r>
                        <a:rPr sz="1400" b="0" i="0">
                          <a:solidFill>
                            <a:srgbClr val="1A1440"/>
                          </a:solidFill>
                          <a:latin typeface="Calibri"/>
                        </a:rPr>
                        <a:t>"Before a cause, I'd check the count, then what the number counts."</a:t>
                      </a:r>
                    </a:p>
                  </a:txBody>
                  <a:tcPr marL="101600" marR="101600" marT="38100" marB="38100" anchor="ctr">
                    <a:solidFill>
                      <a:srgbClr val="FFFFFF"/>
                    </a:solidFill>
                  </a:tcPr>
                </a:tc>
              </a:tr>
              <a:tr h="369824">
                <a:tc>
                  <a:txBody>
                    <a:bodyPr/>
                    <a:lstStyle/>
                    <a:p>
                      <a:r>
                        <a:rPr sz="1400" b="0" i="0">
                          <a:solidFill>
                            <a:srgbClr val="1A1440"/>
                          </a:solidFill>
                          <a:latin typeface="Calibri"/>
                        </a:rPr>
                        <a:t>The flat 38</a:t>
                      </a:r>
                    </a:p>
                  </a:txBody>
                  <a:tcPr marL="101600" marR="101600" marT="38100" marB="38100" anchor="ctr">
                    <a:solidFill>
                      <a:srgbClr val="F4F2FA"/>
                    </a:solidFill>
                  </a:tcPr>
                </a:tc>
                <a:tc>
                  <a:txBody>
                    <a:bodyPr/>
                    <a:lstStyle/>
                    <a:p>
                      <a:r>
                        <a:rPr sz="1400" b="0" i="0">
                          <a:solidFill>
                            <a:srgbClr val="1A1440"/>
                          </a:solidFill>
                          <a:latin typeface="Calibri"/>
                        </a:rPr>
                        <a:t>Accepts it</a:t>
                      </a:r>
                    </a:p>
                  </a:txBody>
                  <a:tcPr marL="101600" marR="101600" marT="38100" marB="38100" anchor="ctr">
                    <a:solidFill>
                      <a:srgbClr val="F4F2FA"/>
                    </a:solidFill>
                  </a:tcPr>
                </a:tc>
                <a:tc>
                  <a:txBody>
                    <a:bodyPr/>
                    <a:lstStyle/>
                    <a:p>
                      <a:r>
                        <a:rPr sz="1400" b="0" i="0">
                          <a:solidFill>
                            <a:srgbClr val="1A1440"/>
                          </a:solidFill>
                          <a:latin typeface="Calibri"/>
                        </a:rPr>
                        <a:t>"Who does month-two retention count, and from when?"</a:t>
                      </a:r>
                    </a:p>
                  </a:txBody>
                  <a:tcPr marL="101600" marR="101600" marT="38100" marB="38100" anchor="ctr">
                    <a:solidFill>
                      <a:srgbClr val="F4F2FA"/>
                    </a:solidFill>
                  </a:tcPr>
                </a:tc>
              </a:tr>
              <a:tr h="611632">
                <a:tc>
                  <a:txBody>
                    <a:bodyPr/>
                    <a:lstStyle/>
                    <a:p>
                      <a:r>
                        <a:rPr sz="1400" b="0" i="0">
                          <a:solidFill>
                            <a:srgbClr val="1A1440"/>
                          </a:solidFill>
                          <a:latin typeface="Calibri"/>
                        </a:rPr>
                        <a:t>The split</a:t>
                      </a:r>
                    </a:p>
                  </a:txBody>
                  <a:tcPr marL="101600" marR="101600" marT="38100" marB="38100" anchor="ctr">
                    <a:solidFill>
                      <a:srgbClr val="FFFFFF"/>
                    </a:solidFill>
                  </a:tcPr>
                </a:tc>
                <a:tc>
                  <a:txBody>
                    <a:bodyPr/>
                    <a:lstStyle/>
                    <a:p>
                      <a:r>
                        <a:rPr sz="1400" b="0" i="0">
                          <a:solidFill>
                            <a:srgbClr val="1A1440"/>
                          </a:solidFill>
                          <a:latin typeface="Calibri"/>
                        </a:rPr>
                        <a:t>Overall conversion</a:t>
                      </a:r>
                    </a:p>
                  </a:txBody>
                  <a:tcPr marL="101600" marR="101600" marT="38100" marB="38100" anchor="ctr">
                    <a:solidFill>
                      <a:srgbClr val="FFFFFF"/>
                    </a:solidFill>
                  </a:tcPr>
                </a:tc>
                <a:tc>
                  <a:txBody>
                    <a:bodyPr/>
                    <a:lstStyle/>
                    <a:p>
                      <a:r>
                        <a:rPr sz="1400" b="0" i="0">
                          <a:solidFill>
                            <a:srgbClr val="1A1440"/>
                          </a:solidFill>
                          <a:latin typeface="Calibri"/>
                        </a:rPr>
                        <a:t>Cohort, platform and date, then fewer users against fewer orders each</a:t>
                      </a:r>
                    </a:p>
                  </a:txBody>
                  <a:tcPr marL="101600" marR="101600" marT="38100" marB="38100" anchor="ctr">
                    <a:solidFill>
                      <a:srgbClr val="FFFFFF"/>
                    </a:solidFill>
                  </a:tcPr>
                </a:tc>
              </a:tr>
              <a:tr h="611632">
                <a:tc>
                  <a:txBody>
                    <a:bodyPr/>
                    <a:lstStyle/>
                    <a:p>
                      <a:r>
                        <a:rPr sz="1400" b="0" i="0">
                          <a:solidFill>
                            <a:srgbClr val="1A1440"/>
                          </a:solidFill>
                          <a:latin typeface="Calibri"/>
                        </a:rPr>
                        <a:t>The close</a:t>
                      </a:r>
                    </a:p>
                  </a:txBody>
                  <a:tcPr marL="101600" marR="101600" marT="38100" marB="38100" anchor="ctr">
                    <a:solidFill>
                      <a:srgbClr val="F4F2FA"/>
                    </a:solidFill>
                  </a:tcPr>
                </a:tc>
                <a:tc>
                  <a:txBody>
                    <a:bodyPr/>
                    <a:lstStyle/>
                    <a:p>
                      <a:r>
                        <a:rPr sz="1400" b="0" i="0">
                          <a:solidFill>
                            <a:srgbClr val="1A1440"/>
                          </a:solidFill>
                          <a:latin typeface="Calibri"/>
                        </a:rPr>
                        <a:t>"Retention dropped."</a:t>
                      </a:r>
                    </a:p>
                  </a:txBody>
                  <a:tcPr marL="101600" marR="101600" marT="38100" marB="38100" anchor="ctr">
                    <a:solidFill>
                      <a:srgbClr val="F4F2FA"/>
                    </a:solidFill>
                  </a:tcPr>
                </a:tc>
                <a:tc>
                  <a:txBody>
                    <a:bodyPr/>
                    <a:lstStyle/>
                    <a:p>
                      <a:r>
                        <a:rPr sz="1400" b="0" i="0">
                          <a:solidFill>
                            <a:srgbClr val="1A1440"/>
                          </a:solidFill>
                          <a:latin typeface="Calibri"/>
                        </a:rPr>
                        <a:t>"One step on Android since 14 September, about 1,317 orders a week; the sale-week members next."</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Oval 14"/>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judge each cohort at week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 AI app's launch week brings its biggest cohort ever. How do you know whether it is habit or novelty?</a:t>
            </a:r>
          </a:p>
        </p:txBody>
      </p:sp>
      <p:pic>
        <p:nvPicPr>
          <p:cNvPr id="9" name="mermaid diagram" descr="5a56a68effa19849.png"/>
          <p:cNvPicPr>
            <a:picLocks noChangeAspect="1"/>
          </p:cNvPicPr>
          <p:nvPr/>
        </p:nvPicPr>
        <p:blipFill>
          <a:blip r:embed="rId5"/>
          <a:stretch>
            <a:fillRect/>
          </a:stretch>
        </p:blipFill>
        <p:spPr>
          <a:xfrm>
            <a:off x="530352" y="2741599"/>
            <a:ext cx="4786326" cy="2398929"/>
          </a:xfrm>
          <a:prstGeom prst="rect">
            <a:avLst/>
          </a:prstGeom>
        </p:spPr>
      </p:pic>
      <p:graphicFrame>
        <p:nvGraphicFramePr>
          <p:cNvPr id="10" name="Table 9"/>
          <p:cNvGraphicFramePr>
            <a:graphicFrameLocks noGrp="1"/>
          </p:cNvGraphicFramePr>
          <p:nvPr/>
        </p:nvGraphicFramePr>
        <p:xfrm>
          <a:off x="5761917" y="1798320"/>
          <a:ext cx="5899424" cy="2688336"/>
        </p:xfrm>
        <a:graphic>
          <a:graphicData uri="http://schemas.openxmlformats.org/drawingml/2006/table">
            <a:tbl>
              <a:tblPr firstRow="0" bandRow="0">
                <a:tableStyleId>{2D5ABB26-0587-4C30-8999-92F81FD0307C}</a:tableStyleId>
              </a:tblPr>
              <a:tblGrid>
                <a:gridCol w="1896848"/>
                <a:gridCol w="2001288"/>
                <a:gridCol w="2001288"/>
              </a:tblGrid>
              <a:tr h="611632">
                <a:tc>
                  <a:txBody>
                    <a:bodyPr/>
                    <a:lstStyle/>
                    <a:p/>
                  </a:txBody>
                  <a:tcPr marL="101600" marR="101600" marT="38100" marB="38100" anchor="ctr">
                    <a:solidFill>
                      <a:srgbClr val="1A0F5C"/>
                    </a:solidFill>
                  </a:tcPr>
                </a:tc>
                <a:tc>
                  <a:txBody>
                    <a:bodyPr/>
                    <a:lstStyle/>
                    <a:p>
                      <a:r>
                        <a:rPr sz="1450" b="1" i="0">
                          <a:solidFill>
                            <a:srgbClr val="FFFFFF"/>
                          </a:solidFill>
                          <a:latin typeface="Calibri"/>
                        </a:rPr>
                        <a:t>Launch-week cohort</a:t>
                      </a:r>
                    </a:p>
                  </a:txBody>
                  <a:tcPr marL="101600" marR="101600" marT="38100" marB="38100" anchor="ctr">
                    <a:solidFill>
                      <a:srgbClr val="1A0F5C"/>
                    </a:solidFill>
                  </a:tcPr>
                </a:tc>
                <a:tc>
                  <a:txBody>
                    <a:bodyPr/>
                    <a:lstStyle/>
                    <a:p>
                      <a:r>
                        <a:rPr sz="1450" b="1" i="0">
                          <a:solidFill>
                            <a:srgbClr val="FFFFFF"/>
                          </a:solidFill>
                          <a:latin typeface="Calibri"/>
                        </a:rPr>
                        <a:t>A cohort that found the app on its own</a:t>
                      </a:r>
                    </a:p>
                  </a:txBody>
                  <a:tcPr marL="101600" marR="101600" marT="38100" marB="38100" anchor="ctr">
                    <a:solidFill>
                      <a:srgbClr val="1A0F5C"/>
                    </a:solidFill>
                  </a:tcPr>
                </a:tc>
              </a:tr>
              <a:tr h="611632">
                <a:tc>
                  <a:txBody>
                    <a:bodyPr/>
                    <a:lstStyle/>
                    <a:p>
                      <a:r>
                        <a:rPr sz="1400" b="0" i="0">
                          <a:solidFill>
                            <a:srgbClr val="1A1440"/>
                          </a:solidFill>
                          <a:latin typeface="Calibri"/>
                        </a:rPr>
                        <a:t>Week one</a:t>
                      </a:r>
                    </a:p>
                  </a:txBody>
                  <a:tcPr marL="101600" marR="101600" marT="38100" marB="38100" anchor="ctr">
                    <a:solidFill>
                      <a:srgbClr val="FFFFFF"/>
                    </a:solidFill>
                  </a:tcPr>
                </a:tc>
                <a:tc>
                  <a:txBody>
                    <a:bodyPr/>
                    <a:lstStyle/>
                    <a:p>
                      <a:r>
                        <a:rPr sz="1400" b="0" i="0">
                          <a:solidFill>
                            <a:srgbClr val="1A1440"/>
                          </a:solidFill>
                          <a:latin typeface="Calibri"/>
                        </a:rPr>
                        <a:t>Looks strong: the feature is new</a:t>
                      </a:r>
                    </a:p>
                  </a:txBody>
                  <a:tcPr marL="101600" marR="101600" marT="38100" marB="38100" anchor="ctr">
                    <a:solidFill>
                      <a:srgbClr val="FFFFFF"/>
                    </a:solidFill>
                  </a:tcPr>
                </a:tc>
                <a:tc>
                  <a:txBody>
                    <a:bodyPr/>
                    <a:lstStyle/>
                    <a:p>
                      <a:r>
                        <a:rPr sz="1400" b="0" i="0">
                          <a:solidFill>
                            <a:srgbClr val="1A1440"/>
                          </a:solidFill>
                          <a:latin typeface="Calibri"/>
                        </a:rPr>
                        <a:t>Looks normal</a:t>
                      </a:r>
                    </a:p>
                  </a:txBody>
                  <a:tcPr marL="101600" marR="101600" marT="38100" marB="38100" anchor="ctr">
                    <a:solidFill>
                      <a:srgbClr val="FFFFFF"/>
                    </a:solidFill>
                  </a:tcPr>
                </a:tc>
              </a:tr>
              <a:tr h="611632">
                <a:tc>
                  <a:txBody>
                    <a:bodyPr/>
                    <a:lstStyle/>
                    <a:p>
                      <a:r>
                        <a:rPr sz="1400" b="0" i="0">
                          <a:solidFill>
                            <a:srgbClr val="1A1440"/>
                          </a:solidFill>
                          <a:latin typeface="Calibri"/>
                        </a:rPr>
                        <a:t>Week four (invented numbers)</a:t>
                      </a:r>
                    </a:p>
                  </a:txBody>
                  <a:tcPr marL="101600" marR="101600" marT="38100" marB="38100" anchor="ctr">
                    <a:solidFill>
                      <a:srgbClr val="F4F2FA"/>
                    </a:solidFill>
                  </a:tcPr>
                </a:tc>
                <a:tc>
                  <a:txBody>
                    <a:bodyPr/>
                    <a:lstStyle/>
                    <a:p>
                      <a:r>
                        <a:rPr sz="1400" b="0" i="0">
                          <a:solidFill>
                            <a:srgbClr val="1A1440"/>
                          </a:solidFill>
                          <a:latin typeface="Calibri"/>
                        </a:rPr>
                        <a:t>24 percent still active</a:t>
                      </a:r>
                    </a:p>
                  </a:txBody>
                  <a:tcPr marL="101600" marR="101600" marT="38100" marB="38100" anchor="ctr">
                    <a:solidFill>
                      <a:srgbClr val="F4F2FA"/>
                    </a:solidFill>
                  </a:tcPr>
                </a:tc>
                <a:tc>
                  <a:txBody>
                    <a:bodyPr/>
                    <a:lstStyle/>
                    <a:p>
                      <a:r>
                        <a:rPr sz="1400" b="0" i="0">
                          <a:solidFill>
                            <a:srgbClr val="1A1440"/>
                          </a:solidFill>
                          <a:latin typeface="Calibri"/>
                        </a:rPr>
                        <a:t>36 percent still active</a:t>
                      </a:r>
                    </a:p>
                  </a:txBody>
                  <a:tcPr marL="101600" marR="101600" marT="38100" marB="38100" anchor="ctr">
                    <a:solidFill>
                      <a:srgbClr val="F4F2FA"/>
                    </a:solidFill>
                  </a:tcPr>
                </a:tc>
              </a:tr>
              <a:tr h="853440">
                <a:tc>
                  <a:txBody>
                    <a:bodyPr/>
                    <a:lstStyle/>
                    <a:p>
                      <a:r>
                        <a:rPr sz="1400" b="0" i="0">
                          <a:solidFill>
                            <a:srgbClr val="1A1440"/>
                          </a:solidFill>
                          <a:latin typeface="Calibri"/>
                        </a:rPr>
                        <a:t>The blended weekly actives</a:t>
                      </a:r>
                    </a:p>
                  </a:txBody>
                  <a:tcPr marL="101600" marR="101600" marT="38100" marB="38100" anchor="ctr">
                    <a:solidFill>
                      <a:srgbClr val="FFFFFF"/>
                    </a:solidFill>
                  </a:tcPr>
                </a:tc>
                <a:tc>
                  <a:txBody>
                    <a:bodyPr/>
                    <a:lstStyle/>
                    <a:p>
                      <a:r>
                        <a:rPr sz="1400" b="0" i="0">
                          <a:solidFill>
                            <a:srgbClr val="1A1440"/>
                          </a:solidFill>
                          <a:latin typeface="Calibri"/>
                        </a:rPr>
                        <a:t>Climb through the launch and look like recovery later</a:t>
                      </a:r>
                    </a:p>
                  </a:txBody>
                  <a:tcPr marL="101600" marR="101600" marT="38100" marB="38100" anchor="ctr">
                    <a:solidFill>
                      <a:srgbClr val="FFFFFF"/>
                    </a:solidFill>
                  </a:tcPr>
                </a:tc>
                <a:tc>
                  <a:txBody>
                    <a:bodyPr/>
                    <a:lstStyle/>
                    <a:p>
                      <a:r>
                        <a:rPr sz="1400" b="0" i="0">
                          <a:solidFill>
                            <a:srgbClr val="1A1440"/>
                          </a:solidFill>
                          <a:latin typeface="Calibri"/>
                        </a:rPr>
                        <a:t>Keep arriving and prop the blend</a:t>
                      </a:r>
                    </a:p>
                  </a:txBody>
                  <a:tcPr marL="101600" marR="101600" marT="38100" marB="38100" anchor="ctr">
                    <a:solidFill>
                      <a:srgbClr val="FFFFFF"/>
                    </a:solidFill>
                  </a:tcPr>
                </a:tc>
              </a:tr>
            </a:tbl>
          </a:graphicData>
        </a:graphic>
      </p:graphicFrame>
      <p:sp>
        <p:nvSpPr>
          <p:cNvPr id="11" name="Rounded Rectangle 10"/>
          <p:cNvSpPr/>
          <p:nvPr/>
        </p:nvSpPr>
        <p:spPr>
          <a:xfrm>
            <a:off x="5761917" y="474268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487070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486156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Judge each cohort at the age where habit shows, week four or later, and never the blended count of active users, which new cohorts keep propping up. The structure is Chennai's: a mix that hides a fall.</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8" name="Oval 17"/>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member who has not left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cohort table get wrong about its newest members, and who picks it up?</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cohort table treats a member who has not left yet as if she were retained for ever, and that flatters every curve. The next 120 minutes give that member a name, censored, and show when two curves really differ by more than chance."</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next block is the IITGN faculty session W4-3 on survival curves, censoring and hazard, tentative until IIT Gandhinagar confirms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7" name="Oval 16"/>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 out?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day's calls can the room make in seconds, and what does the day close on before Friday's ticket?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Wednesday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calls can the room make in seconds?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TO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Cohorts and the blend</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What a cohort fixes; a blend that holds while cohorts fall; what the dashboard counts; the retention curve's floor</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ter_c3942426586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5 TO 7</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funnel</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step that owns a loss; a step above 100 percent; per session against per member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Back to Wednesday</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Bread to milk, confidence 0.74 and lift 1.04: the verdict in one breath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1" name="Oval 30"/>
          <p:cNvSpPr/>
          <p:nvPr/>
        </p:nvSpPr>
        <p:spPr>
          <a:xfrm>
            <a:off x="382762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3734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 in one sentence, and Friday's ticket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Thursday close on, and what is Friday's question?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dashboard was flat because of who it counts: every cohort fell, the newest started lower, and the August cohort is outside the count until October; the orders were lost in one step, on one platform, after one date.</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cohort fixes the entry moment. A blend is a size-weighted average and counts who it counts. Each funnel step divides by the step before, in one named unit. A low step is not a loss until it moves.</a:t>
            </a:r>
          </a:p>
        </p:txBody>
      </p:sp>
      <p:sp>
        <p:nvSpPr>
          <p:cNvPr id="15" name="Rounded Rectangle 14"/>
          <p:cNvSpPr/>
          <p:nvPr/>
        </p:nvSpPr>
        <p:spPr>
          <a:xfrm>
            <a:off x="530352" y="41681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891540"/>
          </a:xfrm>
          <a:prstGeom prst="rect">
            <a:avLst/>
          </a:prstGeom>
          <a:noFill/>
        </p:spPr>
        <p:txBody>
          <a:bodyPr wrap="square" anchor="ctr" lIns="0" rIns="0" tIns="0" bIns="0">
            <a:spAutoFit/>
          </a:bodyPr>
          <a:lstStyle/>
          <a:p>
            <a:r>
              <a:rPr sz="1500" b="1">
                <a:solidFill>
                  <a:srgbClr val="5B3FD6"/>
                </a:solidFill>
                <a:latin typeface="Calibri"/>
              </a:rPr>
              <a:t>Friday. </a:t>
            </a:r>
            <a:r>
              <a:rPr sz="1500" b="0" i="0">
                <a:solidFill>
                  <a:srgbClr val="1A1440"/>
                </a:solidFill>
                <a:latin typeface="Calibri"/>
              </a:rPr>
              <a:t>Flipkart's Lucknow fulfilment centre must book packer shifts for the festive weeks, and two forecasts sit eighteen points apart: which one goes to the plan, and how wrong could it be? The pre-read ships tonight: the ticket's first lines and five terms.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2" name="Oval 21"/>
          <p:cNvSpPr/>
          <p:nvPr/>
        </p:nvSpPr>
        <p:spPr>
          <a:xfrm>
            <a:off x="382762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3734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