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before the clock starts. Leave the ticket up while the room settles. The whole room has</a:t>
            </a:r>
          </a:p>
          <a:p>
            <a:r>
              <a:t>one week to pick a forecast: the vendor's curve promises plus 22 percent, finance's rule says plus</a:t>
            </a:r>
          </a:p>
          <a:p>
            <a:r>
              <a:t>4, and nobody has priced being wrong in each direction. The morning climbs L1 to L5. Tuesday's war</a:t>
            </a:r>
          </a:p>
          <a:p>
            <a:r>
              <a:t>game and Thursday's cohort split are already on the week map.</a:t>
            </a:r>
          </a:p>
          <a:p>
            <a:r>
              <a:t>Transition: the ticket, read as an analyst would read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aloud. The company's real festive capacity (14 million cubic</a:t>
            </a:r>
          </a:p>
          <a:p>
            <a:r>
              <a:t>feet of warehouse space added, more than 2.5 lakh festive jobs, F6) is the frame; everything else</a:t>
            </a:r>
          </a:p>
          <a:p>
            <a:r>
              <a:t>is this class's data. Point out that the 104 weeks hold two festive peaks only, and ask whether</a:t>
            </a:r>
          </a:p>
          <a:p>
            <a:r>
              <a:t>two festive peaks make a seasonal pattern. Leave the question open; L4 answers it.</a:t>
            </a:r>
          </a:p>
          <a:p>
            <a:r>
              <a:t>Transition: the week map, with Monday to Thursday's numbers already on their nodes.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each node left to right so the room sees that Friday's question joins the</a:t>
            </a:r>
          </a:p>
          <a:p>
            <a:r>
              <a:t>week's chain: Monday chose a north star that bounds the forecast, Thursday gave the forecast a</a:t>
            </a:r>
          </a:p>
          <a:p>
            <a:r>
              <a:t>time axis, and Friday asks what the plan will be held to. Say that today's method survives on</a:t>
            </a:r>
          </a:p>
          <a:p>
            <a:r>
              <a:t>Saturday to Ola or Rapido, Blinkit or Zepto, Amazon India and Swiggy One, and to Kalpa's four</a:t>
            </a:r>
          </a:p>
          <a:p>
            <a:r>
              <a:t>units in the lab.</a:t>
            </a:r>
          </a:p>
          <a:p>
            <a:r>
              <a:t>Transition: today ends with a packer plan and an error bar, which S3 shows now.</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three cards together are what the planner sends up by Friday. The vendor's</a:t>
            </a:r>
          </a:p>
          <a:p>
            <a:r>
              <a:t>plus 22 percent and finance's plus 4 percent are each answered later in the deck: the vendor's</a:t>
            </a:r>
          </a:p>
          <a:p>
            <a:r>
              <a:t>error on hold-out costs trust, and finance's rule is a festival-window naive with drift that</a:t>
            </a:r>
          </a:p>
          <a:p>
            <a:r>
              <a:t>misses the Diwali week. The 0.82 quantile falls out of the two unit costs; L5 derives it.</a:t>
            </a:r>
          </a:p>
          <a:p>
            <a:r>
              <a:t>Transition: the opening question of chapter 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counting S4 to S10 at 50 and 60 and S11's hand count on the twelve rows. The</a:t>
            </a:r>
          </a:p>
          <a:p>
            <a:r>
              <a:t>chapter opens on four small panels because we need the room to see the four shapes before any</a:t>
            </a:r>
          </a:p>
          <a:p>
            <a:r>
              <a:t>rule names one. The twelve rows then get counted on the board; the three rules are each one</a:t>
            </a:r>
          </a:p>
          <a:p>
            <a:r>
              <a:t>line of pandas or arithmetic. The industry example sits at the chapter close.</a:t>
            </a:r>
          </a:p>
          <a:p>
            <a:r>
              <a:t>Transition: S4, the four shapes a weekly series can carry.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3Blue1Brown's move: start from a picture the eye reads, and let the names arrive</a:t>
            </a:r>
          </a:p>
          <a:p>
            <a:r>
              <a:t>only after the shapes are clear. The toy numbers 100 ± 50 are invented and labelled so, and the</a:t>
            </a:r>
          </a:p>
          <a:p>
            <a:r>
              <a:t>real series lives on slide 7. Ask the room which of the four shapes a planner can plan around</a:t>
            </a:r>
          </a:p>
          <a:p>
            <a:r>
              <a:t>(the first three; noise one has to pay for).</a:t>
            </a:r>
          </a:p>
          <a:p>
            <a:r>
              <a:t>Transition: S5, the misconception the room has to commit to before the shape is drawn.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Veritasium's move: the room commits before any evidence lands. Hand out two cards</a:t>
            </a:r>
          </a:p>
          <a:p>
            <a:r>
              <a:t>or ask for hands. Take the vote on each option, keep both counts on the board. The reveal is on</a:t>
            </a:r>
          </a:p>
          <a:p>
            <a:r>
              <a:t>S6, where the twelve rows show the ramp peaks at ratio 1.9 two weeks before Diwali and the Diwali</a:t>
            </a:r>
          </a:p>
          <a:p>
            <a:r>
              <a:t>week is at 1.4. The reveal lands harder because the vote is honest first.</a:t>
            </a:r>
          </a:p>
          <a:p>
            <a:r>
              <a:t>Transition: S6, the twelve rows the hand count reads.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bars left to right. Count aloud: three weeks before Diwali 2024 sits at</a:t>
            </a:r>
          </a:p>
          <a:p>
            <a:r>
              <a:t>313,600 (1.5 times 210,000, that week's ordinary baseline); two weeks before at 400,600 (1.9</a:t>
            </a:r>
          </a:p>
          <a:p>
            <a:r>
              <a:t>times); one week before at 356,800 (1.7); Diwali week at 296,400 (1.4); the week after at 186,300</a:t>
            </a:r>
          </a:p>
          <a:p>
            <a:r>
              <a:t>(0.9); the next ordinary week at 204,500. The 2025 pattern repeats the shape, with growth, and</a:t>
            </a:r>
          </a:p>
          <a:p>
            <a:r>
              <a:t>the peak sits at 419,000 two weeks before Diwali 2025. If the room voted "Diwali week itself" on</a:t>
            </a:r>
          </a:p>
          <a:p>
            <a:r>
              <a:t>S5, hold their vote back and ask what the two drops after the peak tell them about buyer timing.</a:t>
            </a:r>
          </a:p>
          <a:p>
            <a:r>
              <a:t>Transition: S7, where this shape sits in the full 104 weeks.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Point out that two festive peaks is two observations in two years, which L4 will</a:t>
            </a:r>
          </a:p>
          <a:p>
            <a:r>
              <a:t>cash in as a caveat. The hold-out shows no festival, which matters for how we judge forecasts</a:t>
            </a:r>
          </a:p>
          <a:p>
            <a:r>
              <a:t>later: the festive weeks of 2025 are the only festival we can judge a method on. Ask the room</a:t>
            </a:r>
          </a:p>
          <a:p>
            <a:r>
              <a:t>whether the June to September summer dip looks like noise or like a pattern. (It is a pattern,</a:t>
            </a:r>
          </a:p>
          <a:p>
            <a:r>
              <a:t>captured by same-week-last-year.)</a:t>
            </a:r>
          </a:p>
          <a:p>
            <a:r>
              <a:t>Transition: S8, the three simple rules on one week.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StatQuest's move: say every arithmetic step aloud. Naive just uses last week.</a:t>
            </a:r>
          </a:p>
          <a:p>
            <a:r>
              <a:t>Same-week-last-year reaches 52 Mondays earlier, which is 2024-10-21 (one week before Diwali 2024,</a:t>
            </a:r>
          </a:p>
          <a:p>
            <a:r>
              <a:t>when ratio was 1.7). Festival-aligned looks for "same offset from Diwali": 2025-10-20 is zero</a:t>
            </a:r>
          </a:p>
          <a:p>
            <a:r>
              <a:t>weeks from Diwali 2025 (Mon 20 Oct), so the source is Diwali 2024 week (Mon 28 Oct), with</a:t>
            </a:r>
          </a:p>
          <a:p>
            <a:r>
              <a:t>one year of 4 percent growth added. If the room thinks naive and same-week-last-year did fine,</a:t>
            </a:r>
          </a:p>
          <a:p>
            <a:r>
              <a:t>show the hand check: both over-forecast by about 50,000 shipments.</a:t>
            </a:r>
          </a:p>
          <a:p>
            <a:r>
              <a:t>Transition: S9, the trap the two shifts share.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misconception on S5 is the first half of the trap; the second half is this:</a:t>
            </a:r>
          </a:p>
          <a:p>
            <a:r>
              <a:t>the shift ignores the festival. The company bot that uses same-week-last-year still has the peak,</a:t>
            </a:r>
          </a:p>
          <a:p>
            <a:r>
              <a:t>but the peak lands two weeks early. Ask the room what a plan built on that bot would do: hire</a:t>
            </a:r>
          </a:p>
          <a:p>
            <a:r>
              <a:t>packers two weeks before the real need, idle them during the real peak, then run short. L5 prices</a:t>
            </a:r>
          </a:p>
          <a:p>
            <a:r>
              <a:t>that miss in rupees.</a:t>
            </a:r>
          </a:p>
          <a:p>
            <a:r>
              <a:t>Transition: S10, the real company this chapter closes 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Flipkart facts are from the company's own announcement, checked 12 October</a:t>
            </a:r>
          </a:p>
          <a:p>
            <a:r>
              <a:t>2026. Read them as decisions already in motion: the warehouse space is built, the jobs are</a:t>
            </a:r>
          </a:p>
          <a:p>
            <a:r>
              <a:t>posted. The forecast is what the planner sends up to decide how many of those jobs are needed</a:t>
            </a:r>
          </a:p>
          <a:p>
            <a:r>
              <a:t>in Lucknow this year. No Kalpa character comments here; this is Flipkart's chapter, so a senior</a:t>
            </a:r>
          </a:p>
          <a:p>
            <a:r>
              <a:t>analyst's check closes it: did the model beat the baseline on weeks it had not seen?</a:t>
            </a:r>
          </a:p>
          <a:p>
            <a:r>
              <a:t>Transition: S11, the chapter's map node is lit; S12 opens chapter 2.</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45 minutes, counting S12 to S19. Chapter 2 is the heart of the morning: hold out the last</a:t>
            </a:r>
          </a:p>
          <a:p>
            <a:r>
              <a:t>thirteen weeks, score every method the same way, and read the scoreboard. The vendor's fit on</a:t>
            </a:r>
          </a:p>
          <a:p>
            <a:r>
              <a:t>the training weeks is near-perfect; its hold-out MAE is 199 percent above the festival-aligned</a:t>
            </a:r>
          </a:p>
          <a:p>
            <a:r>
              <a:t>baseline. The code-along cell runs in notebook 02.</a:t>
            </a:r>
          </a:p>
          <a:p>
            <a:r>
              <a:t>Transition: S12, the chapter map.</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The four questions get their own slide each; the scoreboard arrives on S17.</a:t>
            </a:r>
          </a:p>
          <a:p>
            <a:r>
              <a:t>Transition: S13, why hold out.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hold-out rule in one line: a method that cannot forecast your horizon out of</a:t>
            </a:r>
          </a:p>
          <a:p>
            <a:r>
              <a:t>sample is not fit to be your plan. Ask the room what breaks if a model is trained to the week</a:t>
            </a:r>
          </a:p>
          <a:p>
            <a:r>
              <a:t>before the forecast window and scored on four weeks only. Three answers come: luck shows, the</a:t>
            </a:r>
          </a:p>
          <a:p>
            <a:r>
              <a:t>seasonality falls outside the window, and the vendor's quick-win week looks like capability.</a:t>
            </a:r>
          </a:p>
          <a:p>
            <a:r>
              <a:t>Transition: S14, MAE in shipments.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Why not MAPE? Because a 10 percent miss on 100,000 shipments is 10,000, and a</a:t>
            </a:r>
          </a:p>
          <a:p>
            <a:r>
              <a:t>10 percent miss on 400,000 shipments is 40,000: the same percent is a very different staffing</a:t>
            </a:r>
          </a:p>
          <a:p>
            <a:r>
              <a:t>decision. MAE in shipments lets the planner multiply by the per-shipment cost and get rupees.</a:t>
            </a:r>
          </a:p>
          <a:p>
            <a:r>
              <a:t>MAPE lives in a trainer's note as an alternative, nothing more. Note that the toy's absolute</a:t>
            </a:r>
          </a:p>
          <a:p>
            <a:r>
              <a:t>error ignores sign, which L3 picks up again.</a:t>
            </a:r>
          </a:p>
          <a:p>
            <a:r>
              <a:t>Transition: S15, predict which method lands lowest.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Krish Naik's move: the panel on the left is what the vendor's model draws when</a:t>
            </a:r>
          </a:p>
          <a:p>
            <a:r>
              <a:t>asked for its history, and it looks beautiful. The panel on the right is what it does on weeks</a:t>
            </a:r>
          </a:p>
          <a:p>
            <a:r>
              <a:t>it has not seen. The gap between fit and forecast is the lesson of the day. Say that in the</a:t>
            </a:r>
          </a:p>
          <a:p>
            <a:r>
              <a:t>notebook's code cell the vendor's prediction for each hold-out week sits 7 to 15 percent above</a:t>
            </a:r>
          </a:p>
          <a:p>
            <a:r>
              <a:t>the actual: a pattern of over-forecasting that costs idle packer-shifts if trusted.</a:t>
            </a:r>
          </a:p>
          <a:p>
            <a:r>
              <a:t>Transition: S16, predict which baseline wins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hold-out holds no festival, so festival-aligned reduces to SWLY plus drift</a:t>
            </a:r>
          </a:p>
          <a:p>
            <a:r>
              <a:t>on these weeks. The honest answer is: on summer weeks, naive and drift lose to SWLY because the</a:t>
            </a:r>
          </a:p>
          <a:p>
            <a:r>
              <a:t>monthly seasonality SWLY captures. The vote collects the room's intuition; S17 reveals.</a:t>
            </a:r>
          </a:p>
          <a:p>
            <a:r>
              <a:t>Transition: S17, the scoreboard.</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the ranking from the bottom up. On this hold-out (summer, no festival),</a:t>
            </a:r>
          </a:p>
          <a:p>
            <a:r>
              <a:t>finance's rule and festival-aligned both reduce to a 4 percent growth bump on SWLY, which the</a:t>
            </a:r>
          </a:p>
          <a:p>
            <a:r>
              <a:t>noise cannot beat. Naive and drift lose because the monthly in-month cycle is captured by SWLY</a:t>
            </a:r>
          </a:p>
          <a:p>
            <a:r>
              <a:t>but not by naive. The vendor is three times worse than festival-aligned. Pause here: the room</a:t>
            </a:r>
          </a:p>
          <a:p>
            <a:r>
              <a:t>that voted on S15 can now read how far their intuition landed.</a:t>
            </a:r>
          </a:p>
          <a:p>
            <a:r>
              <a:t>Transition: S18, direction of error, which the signed differences hid in S14.</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Direction matters because the two unit costs are not equal. Spell out the</a:t>
            </a:r>
          </a:p>
          <a:p>
            <a:r>
              <a:t>vendor's pattern: it over-fits the 2025 festive spike and extrapolates upwards everywhere. SWLY</a:t>
            </a:r>
          </a:p>
          <a:p>
            <a:r>
              <a:t>under-forecasts a growing series by about 4 percent, so finance (SWLY + 4 percent) corrects that</a:t>
            </a:r>
          </a:p>
          <a:p>
            <a:r>
              <a:t>and lands close.</a:t>
            </a:r>
          </a:p>
          <a:p>
            <a:r>
              <a:t>Transition: S19, which forecast earns the plan's trust.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Close the chapter on this one rule and read it twice. The industry anchor is</a:t>
            </a:r>
          </a:p>
          <a:p>
            <a:r>
              <a:t>PLOS ONE 2018 (F1): on 1,045 time series, better in-sample fit did not translate to better</a:t>
            </a:r>
          </a:p>
          <a:p>
            <a:r>
              <a:t>out-of-sample forecasts; Naive 2 beat half the machine-learning methods tested. Save the detail</a:t>
            </a:r>
          </a:p>
          <a:p>
            <a:r>
              <a:t>for the study notes.</a:t>
            </a:r>
          </a:p>
          <a:p>
            <a:r>
              <a:t>Transition: S20, chapter 3 opens on the 2026 festive window the plan has to book.</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75 minutes, counting S20 to S30. Chapter 3 is the day's answer. It opens on the forecast</a:t>
            </a:r>
          </a:p>
          <a:p>
            <a:r>
              <a:t>window, picks the forecast, sets its error bar, prices the error in rupees, and ends on the</a:t>
            </a:r>
          </a:p>
          <a:p>
            <a:r>
              <a:t>staffing note.</a:t>
            </a:r>
          </a:p>
          <a:p>
            <a:r>
              <a:t>Transition: S20.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Point out that this year's festival is in a different week from either of the</a:t>
            </a:r>
          </a:p>
          <a:p>
            <a:r>
              <a:t>last two years: Diwali 2024 was in October, Diwali 2025 was in October, and Diwali 2026 is in</a:t>
            </a:r>
          </a:p>
          <a:p>
            <a:r>
              <a:t>November. A method that uses the calendar week names rather than the festival position will miss.</a:t>
            </a:r>
          </a:p>
          <a:p>
            <a:r>
              <a:t>Transition: S21, the four forecasts side by side.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Each coloured group of bars is one week. The vendor's bars are the tallest</a:t>
            </a:r>
          </a:p>
          <a:p>
            <a:r>
              <a:t>because its 22 percent is applied to the last year's shape, so its peak sits at Mon 19 Oct 2026,</a:t>
            </a:r>
          </a:p>
          <a:p>
            <a:r>
              <a:t>two weeks early. The festival-aligned bars move the peak to Mon 26 Oct 2026, which is -1 week</a:t>
            </a:r>
          </a:p>
          <a:p>
            <a:r>
              <a:t>from Diwali 2026. Ask: which forecast puts the biggest shipment in the right week?</a:t>
            </a:r>
          </a:p>
          <a:p>
            <a:r>
              <a:t>Transition: S22, the predict-then-reveal that catches the bot in the wrong week.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Peer instruction: everyone picks, neighbours argue for one minute, then revote.</a:t>
            </a:r>
          </a:p>
          <a:p>
            <a:r>
              <a:t>The right answer is B, Mon 19 Oct 2026, which is -2 weeks from Diwali 2026 (Mon 2 Nov). Reveal:</a:t>
            </a:r>
          </a:p>
          <a:p>
            <a:r>
              <a:t>the vendor also puts its peak two weeks early, but at Mon 19 Oct 2026 by coincidence, not</a:t>
            </a:r>
          </a:p>
          <a:p>
            <a:r>
              <a:t>because its model knows about the festival. L4 will show why that is dangerous.</a:t>
            </a:r>
          </a:p>
          <a:p>
            <a:r>
              <a:t>Transition: S23, the sign the error carries matters now that we have a plan.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two rows: the SWLY (bot) forecast places the peak at Mon 19 Oct 2026</a:t>
            </a:r>
          </a:p>
          <a:p>
            <a:r>
              <a:t>but demand peaks at the same week only by chance. Over the eight weeks it over-forecasts by</a:t>
            </a:r>
          </a:p>
          <a:p>
            <a:r>
              <a:t>94,000 shipments in aggregate and under-forecasts by 24,000. The two columns in rupees are the</a:t>
            </a:r>
          </a:p>
          <a:p>
            <a:r>
              <a:t>cost of trusting a method that does not know about the festival; the festival-aligned baseline</a:t>
            </a:r>
          </a:p>
          <a:p>
            <a:r>
              <a:t>cuts both. Note that the Rs 5.42 is 650 divided by 120 packer-shifts per shipment-equivalent, and</a:t>
            </a:r>
          </a:p>
          <a:p>
            <a:r>
              <a:t>Rs 25 is the late-shipment cost; both are labelled assumptions with ranges.</a:t>
            </a:r>
          </a:p>
          <a:p>
            <a:r>
              <a:t>Transition: S24, L4's six caveats before the plan is signed.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keeps the chapter break; S24 to S29 are seven caveat slides.</a:t>
            </a:r>
          </a:p>
          <a:p>
            <a:r>
              <a:t>Transition: S24, the caveats slide.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Walk one caveat at a time. The point is honesty: the plan carries each caveat</a:t>
            </a:r>
          </a:p>
          <a:p>
            <a:r>
              <a:t>on the appendix page, so a stakeholder reading it knows which fact would move the number. The</a:t>
            </a:r>
          </a:p>
          <a:p>
            <a:r>
              <a:t>GST cut is a confounder for any vendor model trained on a national retail series; our centre's</a:t>
            </a:r>
          </a:p>
          <a:p>
            <a:r>
              <a:t>series is slow enough that it is unlikely to show it directly. The capacity cap is why the</a:t>
            </a:r>
          </a:p>
          <a:p>
            <a:r>
              <a:t>observed peak sits at 1.9 times ordinary and not higher.</a:t>
            </a:r>
          </a:p>
          <a:p>
            <a:r>
              <a:t>Transition: S25, chapter 5's opening question.</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30 minutes, counting S25 to S30. The afternoon runs the unguided exercise on the staffing</a:t>
            </a:r>
          </a:p>
          <a:p>
            <a:r>
              <a:t>note, which is set in half 2; this chapter sets the number everyone starts from.</a:t>
            </a:r>
          </a:p>
          <a:p>
            <a:r>
              <a:t>Transition: S25, the cost curve.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curve: late cost rises as the plan sits below demand, idle cost rises</a:t>
            </a:r>
          </a:p>
          <a:p>
            <a:r>
              <a:t>as it sits above. Their sum has a minimum well above the median. The 0.82 quantile comes from</a:t>
            </a:r>
          </a:p>
          <a:p>
            <a:r>
              <a:t>the ratio of the two unit costs. If the costs change (and they can, within the ranges in the</a:t>
            </a:r>
          </a:p>
          <a:p>
            <a:r>
              <a:t>facts file), the plan moves with them.</a:t>
            </a:r>
          </a:p>
          <a:p>
            <a:r>
              <a:t>Transition: S26, the pick.</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State the pick in one line: festival-aligned beats both. Finance is partly</a:t>
            </a:r>
          </a:p>
          <a:p>
            <a:r>
              <a:t>right about the total (last year's eight-week total times 1.04 is close to our 6 percent above</a:t>
            </a:r>
          </a:p>
          <a:p>
            <a:r>
              <a:t>festival-aligned total), so finance will argue for the total and have to concede on the shape.</a:t>
            </a:r>
          </a:p>
          <a:p>
            <a:r>
              <a:t>The vendor is wrong on both. L6 says this in interview-grade words.</a:t>
            </a:r>
          </a:p>
          <a:p>
            <a:r>
              <a:t>Transition: S27, the error bar.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that the error bar is honest when it comes from the hold-out, and the</a:t>
            </a:r>
          </a:p>
          <a:p>
            <a:r>
              <a:t>festival error has to be stated separately because the hold-out window did not contain one. The</a:t>
            </a:r>
          </a:p>
          <a:p>
            <a:r>
              <a:t>2025 festive weeks forecast errors are in the trainer notes; the room reads them in the</a:t>
            </a:r>
          </a:p>
          <a:p>
            <a:r>
              <a:t>notebook.</a:t>
            </a:r>
          </a:p>
          <a:p>
            <a:r>
              <a:t>Transition: S28, the plan in packers.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Walk the first and the peak rows aloud. The division by 120 is the packer rate;</a:t>
            </a:r>
          </a:p>
          <a:p>
            <a:r>
              <a:t>the plan quantile adds a cushion that is small on each row and material over the eight weeks.</a:t>
            </a:r>
          </a:p>
          <a:p>
            <a:r>
              <a:t>Note that the Diwali week itself (Mon 2 Nov) is not the peak: the peak is one week before Diwali</a:t>
            </a:r>
          </a:p>
          <a:p>
            <a:r>
              <a:t>at 419,000 shipments, which is where the festival-aligned shape places it. If a stakeholder</a:t>
            </a:r>
          </a:p>
          <a:p>
            <a:r>
              <a:t>challenges the Mon 19 Oct plan, the shape is the answer.</a:t>
            </a:r>
          </a:p>
          <a:p>
            <a:r>
              <a:t>Transition: S29, the finance versus vendor war game as a one-slide answer.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two cards are the war game's answers, one line each. Hold the shape point</a:t>
            </a:r>
          </a:p>
          <a:p>
            <a:r>
              <a:t>for finance: concede the total, defend the shape. Hold the hold-out point for the vendor: the</a:t>
            </a:r>
          </a:p>
          <a:p>
            <a:r>
              <a:t>appendix carries the fitted-vs-forecast chart.</a:t>
            </a:r>
          </a:p>
          <a:p>
            <a:r>
              <a:t>Transition: S30, the morning's close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Read the line twice. This is the handoff to chapter 3's close and the</a:t>
            </a:r>
          </a:p>
          <a:p>
            <a:r>
              <a:t>afternoon's unguided exercise. The study notes carry the three rules of thumb: hold out as many</a:t>
            </a:r>
          </a:p>
          <a:p>
            <a:r>
              <a:t>periods as the horizon, measure in the business's unit, and compare with the naive and the</a:t>
            </a:r>
          </a:p>
          <a:p>
            <a:r>
              <a:t>seasonal naive before judging any model.</a:t>
            </a:r>
          </a:p>
          <a:p>
            <a:r>
              <a:t>Transition: half 2, which opens on the staffing note.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xml"/><Relationship Id="rId5" Type="http://schemas.openxmlformats.org/officeDocument/2006/relationships/image" Target="../media/image5.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4.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8.png"/><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0.png"/><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1.png"/><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6.png"/><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7.png"/><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1.png"/><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2.png"/><Relationship Id="rId5" Type="http://schemas.openxmlformats.org/officeDocument/2006/relationships/image" Target="../media/image23.png"/><Relationship Id="rId6"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2.png"/><Relationship Id="rId4" Type="http://schemas.openxmlformats.org/officeDocument/2006/relationships/notesSlide" Target="../notesSlides/notesSlide3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621792" y="566928"/>
            <a:ext cx="1051560" cy="1051560"/>
          </a:xfrm>
          <a:prstGeom prst="rect">
            <a:avLst/>
          </a:prstGeom>
        </p:spPr>
      </p:pic>
      <p:sp>
        <p:nvSpPr>
          <p:cNvPr id="4" name="TextBox 3"/>
          <p:cNvSpPr txBox="1"/>
          <p:nvPr/>
        </p:nvSpPr>
        <p:spPr>
          <a:xfrm>
            <a:off x="1901952" y="804672"/>
            <a:ext cx="6858000" cy="300735"/>
          </a:xfrm>
          <a:prstGeom prst="rect">
            <a:avLst/>
          </a:prstGeom>
          <a:noFill/>
        </p:spPr>
        <p:txBody>
          <a:bodyPr wrap="square" anchor="t" lIns="0" rIns="0" tIns="0" bIns="0">
            <a:spAutoFit/>
          </a:bodyPr>
          <a:lstStyle/>
          <a:p>
            <a:pPr algn="l"/>
            <a:r>
              <a:rPr sz="1600" b="1" i="0">
                <a:solidFill>
                  <a:srgbClr val="FFFFFF"/>
                </a:solidFill>
                <a:latin typeface="Calibri"/>
              </a:rPr>
              <a:t>Indian Institute of Technology Gandhinagar</a:t>
            </a:r>
          </a:p>
        </p:txBody>
      </p:sp>
      <p:sp>
        <p:nvSpPr>
          <p:cNvPr id="5" name="TextBox 4"/>
          <p:cNvSpPr txBox="1"/>
          <p:nvPr/>
        </p:nvSpPr>
        <p:spPr>
          <a:xfrm>
            <a:off x="1901952" y="1133856"/>
            <a:ext cx="7772400" cy="152146"/>
          </a:xfrm>
          <a:prstGeom prst="rect">
            <a:avLst/>
          </a:prstGeom>
          <a:noFill/>
        </p:spPr>
        <p:txBody>
          <a:bodyPr wrap="square" anchor="t" lIns="0" rIns="0" tIns="0" bIns="0">
            <a:spAutoFit/>
          </a:bodyPr>
          <a:lstStyle/>
          <a:p>
            <a:pPr algn="l"/>
            <a:r>
              <a:rPr sz="700" b="1" i="0" spc="300">
                <a:solidFill>
                  <a:srgbClr val="D9A7FF"/>
                </a:solidFill>
                <a:latin typeface="Calibri"/>
              </a:rPr>
              <a:t>ADMINISTERED THROUGH THE COMPETENCY ADVANCEMENT ACADEMY</a:t>
            </a:r>
          </a:p>
        </p:txBody>
      </p:sp>
      <p:sp>
        <p:nvSpPr>
          <p:cNvPr id="6" name="Rectangle 5"/>
          <p:cNvSpPr/>
          <p:nvPr/>
        </p:nvSpPr>
        <p:spPr>
          <a:xfrm>
            <a:off x="621792" y="1938528"/>
            <a:ext cx="10948111" cy="10972"/>
          </a:xfrm>
          <a:prstGeom prst="rect">
            <a:avLst/>
          </a:prstGeom>
          <a:solidFill>
            <a:srgbClr val="A9A3D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ounded Rectangle 6"/>
          <p:cNvSpPr/>
          <p:nvPr/>
        </p:nvSpPr>
        <p:spPr>
          <a:xfrm>
            <a:off x="621792" y="2240280"/>
            <a:ext cx="3196228" cy="329184"/>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900" b="1" spc="250">
                <a:solidFill>
                  <a:srgbClr val="FFFFFF"/>
                </a:solidFill>
                <a:latin typeface="Calibri"/>
              </a:rPr>
              <a:t>WEEK 4  ·  FRIDAY  ·  MORNING</a:t>
            </a:r>
          </a:p>
        </p:txBody>
      </p:sp>
      <p:sp>
        <p:nvSpPr>
          <p:cNvPr id="8" name="TextBox 7"/>
          <p:cNvSpPr txBox="1"/>
          <p:nvPr/>
        </p:nvSpPr>
        <p:spPr>
          <a:xfrm>
            <a:off x="621792" y="2807208"/>
            <a:ext cx="10582351" cy="663956"/>
          </a:xfrm>
          <a:prstGeom prst="rect">
            <a:avLst/>
          </a:prstGeom>
          <a:noFill/>
        </p:spPr>
        <p:txBody>
          <a:bodyPr wrap="square" anchor="t" lIns="0" rIns="0" tIns="0" bIns="0">
            <a:spAutoFit/>
          </a:bodyPr>
          <a:lstStyle/>
          <a:p>
            <a:pPr algn="l"/>
            <a:r>
              <a:rPr sz="3800" b="0" i="0">
                <a:solidFill>
                  <a:srgbClr val="FFFFFF"/>
                </a:solidFill>
                <a:latin typeface="Georgia"/>
              </a:rPr>
              <a:t>The forecast that earns the plan's trust</a:t>
            </a:r>
          </a:p>
        </p:txBody>
      </p:sp>
      <p:sp>
        <p:nvSpPr>
          <p:cNvPr id="9" name="TextBox 8"/>
          <p:cNvSpPr txBox="1"/>
          <p:nvPr/>
        </p:nvSpPr>
        <p:spPr>
          <a:xfrm>
            <a:off x="621792" y="3635756"/>
            <a:ext cx="10033711" cy="663956"/>
          </a:xfrm>
          <a:prstGeom prst="rect">
            <a:avLst/>
          </a:prstGeom>
          <a:noFill/>
        </p:spPr>
        <p:txBody>
          <a:bodyPr wrap="square" anchor="t" lIns="0" rIns="0" tIns="0" bIns="0">
            <a:spAutoFit/>
          </a:bodyPr>
          <a:lstStyle/>
          <a:p>
            <a:pPr algn="l"/>
            <a:r>
              <a:rPr sz="1900" b="0" i="1">
                <a:solidFill>
                  <a:srgbClr val="D9A7FF"/>
                </a:solidFill>
                <a:latin typeface="Georgia"/>
              </a:rPr>
              <a:t>“Two forecasts, eighteen points apart. Which one goes to the staffing plan, and how wrong could it be?”</a:t>
            </a:r>
          </a:p>
        </p:txBody>
      </p:sp>
      <p:sp>
        <p:nvSpPr>
          <p:cNvPr id="10" name="TextBox 9"/>
          <p:cNvSpPr txBox="1"/>
          <p:nvPr/>
        </p:nvSpPr>
        <p:spPr>
          <a:xfrm>
            <a:off x="621792" y="4354576"/>
            <a:ext cx="10033711" cy="218186"/>
          </a:xfrm>
          <a:prstGeom prst="rect">
            <a:avLst/>
          </a:prstGeom>
          <a:noFill/>
        </p:spPr>
        <p:txBody>
          <a:bodyPr wrap="square" anchor="t" lIns="0" rIns="0" tIns="0" bIns="0">
            <a:spAutoFit/>
          </a:bodyPr>
          <a:lstStyle/>
          <a:p>
            <a:pPr algn="l"/>
            <a:r>
              <a:rPr sz="1100" b="0" i="0">
                <a:solidFill>
                  <a:srgbClr val="CFC9EE"/>
                </a:solidFill>
                <a:latin typeface="Calibri"/>
              </a:rPr>
              <a:t>the FC planner at Flipkart's Lucknow fulfilment centre, with the regional operations head copied</a:t>
            </a:r>
          </a:p>
        </p:txBody>
      </p:sp>
      <p:sp>
        <p:nvSpPr>
          <p:cNvPr id="11" name="TextBox 10"/>
          <p:cNvSpPr txBox="1"/>
          <p:nvPr/>
        </p:nvSpPr>
        <p:spPr>
          <a:xfrm>
            <a:off x="62179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01</a:t>
            </a:r>
          </a:p>
        </p:txBody>
      </p:sp>
      <p:sp>
        <p:nvSpPr>
          <p:cNvPr id="12" name="TextBox 11"/>
          <p:cNvSpPr txBox="1"/>
          <p:nvPr/>
        </p:nvSpPr>
        <p:spPr>
          <a:xfrm>
            <a:off x="1005839"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What shape do the 104 weeks have?</a:t>
            </a:r>
          </a:p>
        </p:txBody>
      </p:sp>
      <p:sp>
        <p:nvSpPr>
          <p:cNvPr id="13" name="TextBox 12"/>
          <p:cNvSpPr txBox="1"/>
          <p:nvPr/>
        </p:nvSpPr>
        <p:spPr>
          <a:xfrm>
            <a:off x="318211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02</a:t>
            </a:r>
          </a:p>
        </p:txBody>
      </p:sp>
      <p:sp>
        <p:nvSpPr>
          <p:cNvPr id="14" name="TextBox 13"/>
          <p:cNvSpPr txBox="1"/>
          <p:nvPr/>
        </p:nvSpPr>
        <p:spPr>
          <a:xfrm>
            <a:off x="3566160" y="5248656"/>
            <a:ext cx="1993392" cy="185166"/>
          </a:xfrm>
          <a:prstGeom prst="rect">
            <a:avLst/>
          </a:prstGeom>
          <a:noFill/>
        </p:spPr>
        <p:txBody>
          <a:bodyPr wrap="square" anchor="t" lIns="0" rIns="0" tIns="0" bIns="0">
            <a:spAutoFit/>
          </a:bodyPr>
          <a:lstStyle/>
          <a:p>
            <a:pPr algn="l"/>
            <a:r>
              <a:rPr sz="900" b="0" i="0">
                <a:solidFill>
                  <a:srgbClr val="FFFFFF"/>
                </a:solidFill>
                <a:latin typeface="Calibri"/>
              </a:rPr>
              <a:t>Score each method on the hold-out</a:t>
            </a:r>
          </a:p>
        </p:txBody>
      </p:sp>
      <p:sp>
        <p:nvSpPr>
          <p:cNvPr id="15" name="TextBox 14"/>
          <p:cNvSpPr txBox="1"/>
          <p:nvPr/>
        </p:nvSpPr>
        <p:spPr>
          <a:xfrm>
            <a:off x="574243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03</a:t>
            </a:r>
          </a:p>
        </p:txBody>
      </p:sp>
      <p:sp>
        <p:nvSpPr>
          <p:cNvPr id="16" name="TextBox 15"/>
          <p:cNvSpPr txBox="1"/>
          <p:nvPr/>
        </p:nvSpPr>
        <p:spPr>
          <a:xfrm>
            <a:off x="6126480"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Pick the forecast, price the error</a:t>
            </a:r>
          </a:p>
        </p:txBody>
      </p:sp>
      <p:sp>
        <p:nvSpPr>
          <p:cNvPr id="17" name="TextBox 16"/>
          <p:cNvSpPr txBox="1"/>
          <p:nvPr/>
        </p:nvSpPr>
        <p:spPr>
          <a:xfrm>
            <a:off x="8302752" y="5212080"/>
            <a:ext cx="365760" cy="251205"/>
          </a:xfrm>
          <a:prstGeom prst="rect">
            <a:avLst/>
          </a:prstGeom>
          <a:noFill/>
        </p:spPr>
        <p:txBody>
          <a:bodyPr wrap="square" anchor="t" lIns="0" rIns="0" tIns="0" bIns="0">
            <a:spAutoFit/>
          </a:bodyPr>
          <a:lstStyle/>
          <a:p>
            <a:pPr algn="l"/>
            <a:r>
              <a:rPr sz="1300" b="0" i="0">
                <a:solidFill>
                  <a:srgbClr val="D9A7FF"/>
                </a:solidFill>
                <a:latin typeface="Georgia"/>
              </a:rPr>
              <a:t>04</a:t>
            </a:r>
          </a:p>
        </p:txBody>
      </p:sp>
      <p:sp>
        <p:nvSpPr>
          <p:cNvPr id="18" name="TextBox 17"/>
          <p:cNvSpPr txBox="1"/>
          <p:nvPr/>
        </p:nvSpPr>
        <p:spPr>
          <a:xfrm>
            <a:off x="8686800" y="5248656"/>
            <a:ext cx="1993392" cy="333756"/>
          </a:xfrm>
          <a:prstGeom prst="rect">
            <a:avLst/>
          </a:prstGeom>
          <a:noFill/>
        </p:spPr>
        <p:txBody>
          <a:bodyPr wrap="square" anchor="t" lIns="0" rIns="0" tIns="0" bIns="0">
            <a:spAutoFit/>
          </a:bodyPr>
          <a:lstStyle/>
          <a:p>
            <a:pPr algn="l"/>
            <a:r>
              <a:rPr sz="900" b="0" i="0">
                <a:solidFill>
                  <a:srgbClr val="FFFFFF"/>
                </a:solidFill>
                <a:latin typeface="Calibri"/>
              </a:rPr>
              <a:t>What can two years of weeks not tell us?</a:t>
            </a:r>
          </a:p>
        </p:txBody>
      </p:sp>
      <p:sp>
        <p:nvSpPr>
          <p:cNvPr id="19" name="TextBox 18"/>
          <p:cNvSpPr txBox="1"/>
          <p:nvPr/>
        </p:nvSpPr>
        <p:spPr>
          <a:xfrm>
            <a:off x="621792" y="5632704"/>
            <a:ext cx="365760" cy="251205"/>
          </a:xfrm>
          <a:prstGeom prst="rect">
            <a:avLst/>
          </a:prstGeom>
          <a:noFill/>
        </p:spPr>
        <p:txBody>
          <a:bodyPr wrap="square" anchor="t" lIns="0" rIns="0" tIns="0" bIns="0">
            <a:spAutoFit/>
          </a:bodyPr>
          <a:lstStyle/>
          <a:p>
            <a:pPr algn="l"/>
            <a:r>
              <a:rPr sz="1300" b="0" i="0">
                <a:solidFill>
                  <a:srgbClr val="D9A7FF"/>
                </a:solidFill>
                <a:latin typeface="Georgia"/>
              </a:rPr>
              <a:t>05</a:t>
            </a:r>
          </a:p>
        </p:txBody>
      </p:sp>
      <p:sp>
        <p:nvSpPr>
          <p:cNvPr id="20" name="TextBox 19"/>
          <p:cNvSpPr txBox="1"/>
          <p:nvPr/>
        </p:nvSpPr>
        <p:spPr>
          <a:xfrm>
            <a:off x="1005839" y="5669280"/>
            <a:ext cx="1993392" cy="333756"/>
          </a:xfrm>
          <a:prstGeom prst="rect">
            <a:avLst/>
          </a:prstGeom>
          <a:noFill/>
        </p:spPr>
        <p:txBody>
          <a:bodyPr wrap="square" anchor="t" lIns="0" rIns="0" tIns="0" bIns="0">
            <a:spAutoFit/>
          </a:bodyPr>
          <a:lstStyle/>
          <a:p>
            <a:pPr algn="l"/>
            <a:r>
              <a:rPr sz="900" b="0" i="0">
                <a:solidFill>
                  <a:srgbClr val="FFFFFF"/>
                </a:solidFill>
                <a:latin typeface="Calibri"/>
              </a:rPr>
              <a:t>Turn the forecast into packer shifts</a:t>
            </a:r>
          </a:p>
        </p:txBody>
      </p:sp>
      <p:sp>
        <p:nvSpPr>
          <p:cNvPr id="21" name="TextBox 20"/>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The forecast that earns the plan's trust</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 / 35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Lucknow: 104 weeks, two forecasts, one plan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planner know, and what does the ticket ask by Friday?</a:t>
            </a:r>
          </a:p>
        </p:txBody>
      </p:sp>
      <p:graphicFrame>
        <p:nvGraphicFramePr>
          <p:cNvPr id="9" name="Table 8"/>
          <p:cNvGraphicFramePr>
            <a:graphicFrameLocks noGrp="1"/>
          </p:cNvGraphicFramePr>
          <p:nvPr/>
        </p:nvGraphicFramePr>
        <p:xfrm>
          <a:off x="530352" y="1956816"/>
          <a:ext cx="11130990" cy="3556000"/>
        </p:xfrm>
        <a:graphic>
          <a:graphicData uri="http://schemas.openxmlformats.org/drawingml/2006/table">
            <a:tbl>
              <a:tblPr firstRow="0" bandRow="0">
                <a:tableStyleId>{2D5ABB26-0587-4C30-8999-92F81FD0307C}</a:tableStyleId>
              </a:tblPr>
              <a:tblGrid>
                <a:gridCol w="4251807"/>
                <a:gridCol w="6879183"/>
              </a:tblGrid>
              <a:tr h="369824">
                <a:tc>
                  <a:txBody>
                    <a:bodyPr/>
                    <a:lstStyle/>
                    <a:p>
                      <a:r>
                        <a:rPr sz="1450" b="1" i="0">
                          <a:solidFill>
                            <a:srgbClr val="FFFFFF"/>
                          </a:solidFill>
                          <a:latin typeface="Calibri"/>
                        </a:rPr>
                        <a:t>Measure</a:t>
                      </a:r>
                    </a:p>
                  </a:txBody>
                  <a:tcPr marL="101600" marR="101600" marT="38100" marB="38100" anchor="ctr">
                    <a:solidFill>
                      <a:srgbClr val="1A0F5C"/>
                    </a:solidFill>
                  </a:tcPr>
                </a:tc>
                <a:tc>
                  <a:txBody>
                    <a:bodyPr/>
                    <a:lstStyle/>
                    <a:p>
                      <a:r>
                        <a:rPr sz="1450" b="1" i="0">
                          <a:solidFill>
                            <a:srgbClr val="FFFFFF"/>
                          </a:solidFill>
                          <a:latin typeface="Calibri"/>
                        </a:rPr>
                        <a:t>Value</a:t>
                      </a:r>
                    </a:p>
                  </a:txBody>
                  <a:tcPr marL="101600" marR="101600" marT="38100" marB="38100" anchor="ctr">
                    <a:solidFill>
                      <a:srgbClr val="1A0F5C"/>
                    </a:solidFill>
                  </a:tcPr>
                </a:tc>
              </a:tr>
              <a:tr h="369824">
                <a:tc>
                  <a:txBody>
                    <a:bodyPr/>
                    <a:lstStyle/>
                    <a:p>
                      <a:r>
                        <a:rPr sz="1400" b="0" i="0">
                          <a:solidFill>
                            <a:srgbClr val="1A1440"/>
                          </a:solidFill>
                          <a:latin typeface="Calibri"/>
                        </a:rPr>
                        <a:t>Company and surface</a:t>
                      </a:r>
                    </a:p>
                  </a:txBody>
                  <a:tcPr marL="101600" marR="101600" marT="38100" marB="38100" anchor="ctr">
                    <a:solidFill>
                      <a:srgbClr val="FFFFFF"/>
                    </a:solidFill>
                  </a:tcPr>
                </a:tc>
                <a:tc>
                  <a:txBody>
                    <a:bodyPr/>
                    <a:lstStyle/>
                    <a:p>
                      <a:r>
                        <a:rPr sz="1400" b="0" i="0">
                          <a:solidFill>
                            <a:srgbClr val="1A1440"/>
                          </a:solidFill>
                          <a:latin typeface="Calibri"/>
                        </a:rPr>
                        <a:t>Flipkart, the Lucknow fulfilment centre, outbound shipments</a:t>
                      </a:r>
                    </a:p>
                  </a:txBody>
                  <a:tcPr marL="101600" marR="101600" marT="38100" marB="38100" anchor="ctr">
                    <a:solidFill>
                      <a:srgbClr val="FFFFFF"/>
                    </a:solidFill>
                  </a:tcPr>
                </a:tc>
              </a:tr>
              <a:tr h="369824">
                <a:tc>
                  <a:txBody>
                    <a:bodyPr/>
                    <a:lstStyle/>
                    <a:p>
                      <a:r>
                        <a:rPr sz="1400" b="0" i="0">
                          <a:solidFill>
                            <a:srgbClr val="1A1440"/>
                          </a:solidFill>
                          <a:latin typeface="Calibri"/>
                        </a:rPr>
                        <a:t>History</a:t>
                      </a:r>
                    </a:p>
                  </a:txBody>
                  <a:tcPr marL="101600" marR="101600" marT="38100" marB="38100" anchor="ctr">
                    <a:solidFill>
                      <a:srgbClr val="F4F2FA"/>
                    </a:solidFill>
                  </a:tcPr>
                </a:tc>
                <a:tc>
                  <a:txBody>
                    <a:bodyPr/>
                    <a:lstStyle/>
                    <a:p>
                      <a:r>
                        <a:rPr sz="1400" b="0" i="0">
                          <a:solidFill>
                            <a:srgbClr val="1A1440"/>
                          </a:solidFill>
                          <a:latin typeface="Calibri"/>
                        </a:rPr>
                        <a:t>104 weeks of weekly shipments, Mon 30 Sep 2024 to Mon 21 Sep 2026</a:t>
                      </a:r>
                    </a:p>
                  </a:txBody>
                  <a:tcPr marL="101600" marR="101600" marT="38100" marB="38100" anchor="ctr">
                    <a:solidFill>
                      <a:srgbClr val="F4F2FA"/>
                    </a:solidFill>
                  </a:tcPr>
                </a:tc>
              </a:tr>
              <a:tr h="369824">
                <a:tc>
                  <a:txBody>
                    <a:bodyPr/>
                    <a:lstStyle/>
                    <a:p>
                      <a:r>
                        <a:rPr sz="1400" b="0" i="0">
                          <a:solidFill>
                            <a:srgbClr val="1A1440"/>
                          </a:solidFill>
                          <a:latin typeface="Calibri"/>
                        </a:rPr>
                        <a:t>Ordinary weekly shipments late 2024</a:t>
                      </a:r>
                    </a:p>
                  </a:txBody>
                  <a:tcPr marL="101600" marR="101600" marT="38100" marB="38100" anchor="ctr">
                    <a:solidFill>
                      <a:srgbClr val="FFFFFF"/>
                    </a:solidFill>
                  </a:tcPr>
                </a:tc>
                <a:tc>
                  <a:txBody>
                    <a:bodyPr/>
                    <a:lstStyle/>
                    <a:p>
                      <a:r>
                        <a:rPr sz="1400" b="0" i="0">
                          <a:solidFill>
                            <a:srgbClr val="1A1440"/>
                          </a:solidFill>
                          <a:latin typeface="Calibri"/>
                        </a:rPr>
                        <a:t>about 210,000</a:t>
                      </a:r>
                    </a:p>
                  </a:txBody>
                  <a:tcPr marL="101600" marR="101600" marT="38100" marB="38100" anchor="ctr">
                    <a:solidFill>
                      <a:srgbClr val="FFFFFF"/>
                    </a:solidFill>
                  </a:tcPr>
                </a:tc>
              </a:tr>
              <a:tr h="611632">
                <a:tc>
                  <a:txBody>
                    <a:bodyPr/>
                    <a:lstStyle/>
                    <a:p>
                      <a:r>
                        <a:rPr sz="1400" b="0" i="0">
                          <a:solidFill>
                            <a:srgbClr val="1A1440"/>
                          </a:solidFill>
                          <a:latin typeface="Calibri"/>
                        </a:rPr>
                        <a:t>Festive peak each year</a:t>
                      </a:r>
                    </a:p>
                  </a:txBody>
                  <a:tcPr marL="101600" marR="101600" marT="38100" marB="38100" anchor="ctr">
                    <a:solidFill>
                      <a:srgbClr val="F4F2FA"/>
                    </a:solidFill>
                  </a:tcPr>
                </a:tc>
                <a:tc>
                  <a:txBody>
                    <a:bodyPr/>
                    <a:lstStyle/>
                    <a:p>
                      <a:r>
                        <a:rPr sz="1400" b="0" i="0">
                          <a:solidFill>
                            <a:srgbClr val="1A1440"/>
                          </a:solidFill>
                          <a:latin typeface="Calibri"/>
                        </a:rPr>
                        <a:t>three weeks before Diwali at 1.5, 1.9, 1.7 times ordinary; Diwali week at 1.4; the week after at 0.9</a:t>
                      </a:r>
                    </a:p>
                  </a:txBody>
                  <a:tcPr marL="101600" marR="101600" marT="38100" marB="38100" anchor="ctr">
                    <a:solidFill>
                      <a:srgbClr val="F4F2FA"/>
                    </a:solidFill>
                  </a:tcPr>
                </a:tc>
              </a:tr>
              <a:tr h="853440">
                <a:tc>
                  <a:txBody>
                    <a:bodyPr/>
                    <a:lstStyle/>
                    <a:p>
                      <a:r>
                        <a:rPr sz="1400" b="0" i="0">
                          <a:solidFill>
                            <a:srgbClr val="1A1440"/>
                          </a:solidFill>
                          <a:latin typeface="Calibri"/>
                        </a:rPr>
                        <a:t>The ask, due Friday</a:t>
                      </a:r>
                    </a:p>
                  </a:txBody>
                  <a:tcPr marL="101600" marR="101600" marT="38100" marB="38100" anchor="ctr">
                    <a:solidFill>
                      <a:srgbClr val="FFFFFF"/>
                    </a:solidFill>
                  </a:tcPr>
                </a:tc>
                <a:tc>
                  <a:txBody>
                    <a:bodyPr/>
                    <a:lstStyle/>
                    <a:p>
                      <a:r>
                        <a:rPr sz="1400" b="0" i="0">
                          <a:solidFill>
                            <a:srgbClr val="1A1440"/>
                          </a:solidFill>
                          <a:latin typeface="Calibri"/>
                        </a:rPr>
                        <a:t>which forecast goes to the staffing plan for the eight festive weeks beginning 12 Oct to 30 Nov 2026, how wrong could it be, and how many packers per week</a:t>
                      </a:r>
                    </a:p>
                  </a:txBody>
                  <a:tcPr marL="101600" marR="101600" marT="38100" marB="38100" anchor="ctr">
                    <a:solidFill>
                      <a:srgbClr val="FFFFFF"/>
                    </a:solidFill>
                  </a:tcPr>
                </a:tc>
              </a:tr>
              <a:tr h="611632">
                <a:tc>
                  <a:txBody>
                    <a:bodyPr/>
                    <a:lstStyle/>
                    <a:p>
                      <a:r>
                        <a:rPr sz="1400" b="0" i="0">
                          <a:solidFill>
                            <a:srgbClr val="1A1440"/>
                          </a:solidFill>
                          <a:latin typeface="Calibri"/>
                        </a:rPr>
                        <a:t>Illustrative case</a:t>
                      </a:r>
                    </a:p>
                  </a:txBody>
                  <a:tcPr marL="101600" marR="101600" marT="38100" marB="38100" anchor="ctr">
                    <a:solidFill>
                      <a:srgbClr val="F4F2FA"/>
                    </a:solidFill>
                  </a:tcPr>
                </a:tc>
                <a:tc>
                  <a:txBody>
                    <a:bodyPr/>
                    <a:lstStyle/>
                    <a:p>
                      <a:r>
                        <a:rPr sz="1400" b="0" i="0">
                          <a:solidFill>
                            <a:srgbClr val="1A1440"/>
                          </a:solidFill>
                          <a:latin typeface="Calibri"/>
                        </a:rPr>
                        <a:t>the company is real, the situation and the data are synthetic, built for this class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2 / 35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map: Friday asks how much is coming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the forecasting case sit against the four cases the week already climbed?</a:t>
            </a:r>
          </a:p>
        </p:txBody>
      </p:sp>
      <p:pic>
        <p:nvPicPr>
          <p:cNvPr id="9" name="mermaid diagram" descr="b58829d0b33f0ce7.png"/>
          <p:cNvPicPr>
            <a:picLocks noChangeAspect="1"/>
          </p:cNvPicPr>
          <p:nvPr/>
        </p:nvPicPr>
        <p:blipFill>
          <a:blip r:embed="rId5"/>
          <a:stretch>
            <a:fillRect/>
          </a:stretch>
        </p:blipFill>
        <p:spPr>
          <a:xfrm>
            <a:off x="530352" y="1956816"/>
            <a:ext cx="11130991" cy="1805825"/>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3 / 35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Today ends on a plan, an error bar, a shift count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learner leave the room with by the close of the afternoon?</a:t>
            </a:r>
          </a:p>
        </p:txBody>
      </p:sp>
      <p:sp>
        <p:nvSpPr>
          <p:cNvPr id="9" name="Rounded Rectangle 8"/>
          <p:cNvSpPr/>
          <p:nvPr/>
        </p:nvSpPr>
        <p:spPr>
          <a:xfrm>
            <a:off x="53035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hart-line_ded8d80bd4ff.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PLAN</a:t>
            </a:r>
          </a:p>
        </p:txBody>
      </p:sp>
      <p:sp>
        <p:nvSpPr>
          <p:cNvPr id="13" name="TextBox 12"/>
          <p:cNvSpPr txBox="1"/>
          <p:nvPr/>
        </p:nvSpPr>
        <p:spPr>
          <a:xfrm>
            <a:off x="731519" y="2962656"/>
            <a:ext cx="3186074" cy="498856"/>
          </a:xfrm>
          <a:prstGeom prst="rect">
            <a:avLst/>
          </a:prstGeom>
          <a:noFill/>
        </p:spPr>
        <p:txBody>
          <a:bodyPr wrap="square" anchor="t" lIns="0" rIns="0" tIns="0" bIns="0">
            <a:spAutoFit/>
          </a:bodyPr>
          <a:lstStyle/>
          <a:p>
            <a:pPr algn="l"/>
            <a:r>
              <a:rPr sz="1400" b="1" i="0">
                <a:solidFill>
                  <a:srgbClr val="1A0F5C"/>
                </a:solidFill>
                <a:latin typeface="Calibri"/>
              </a:rPr>
              <a:t>Festival-aligned baseline with drift</a:t>
            </a:r>
          </a:p>
        </p:txBody>
      </p:sp>
      <p:sp>
        <p:nvSpPr>
          <p:cNvPr id="14" name="TextBox 13"/>
          <p:cNvSpPr txBox="1"/>
          <p:nvPr/>
        </p:nvSpPr>
        <p:spPr>
          <a:xfrm>
            <a:off x="731519" y="3534664"/>
            <a:ext cx="3186074" cy="581406"/>
          </a:xfrm>
          <a:prstGeom prst="rect">
            <a:avLst/>
          </a:prstGeom>
          <a:noFill/>
        </p:spPr>
        <p:txBody>
          <a:bodyPr wrap="square" anchor="t" lIns="0" rIns="0" tIns="0" bIns="0">
            <a:spAutoFit/>
          </a:bodyPr>
          <a:lstStyle/>
          <a:p>
            <a:pPr algn="l"/>
            <a:r>
              <a:rPr sz="1100" b="0" i="0">
                <a:solidFill>
                  <a:srgbClr val="6B6690"/>
                </a:solidFill>
                <a:latin typeface="Calibri"/>
              </a:rPr>
              <a:t>Shipments per week for the eight festive weeks, drawn from the series the vendor could not beat on the hold-out.</a:t>
            </a:r>
          </a:p>
        </p:txBody>
      </p:sp>
      <p:sp>
        <p:nvSpPr>
          <p:cNvPr id="15" name="Rounded Rectangle 14"/>
          <p:cNvSpPr/>
          <p:nvPr/>
        </p:nvSpPr>
        <p:spPr>
          <a:xfrm>
            <a:off x="4301642" y="1956816"/>
            <a:ext cx="3588410" cy="238556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shield_1aa1fb982097.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ERROR BAR</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Hold-out MAE</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What the chosen method missed by, on the weeks it never saw, priced in rupees.</a:t>
            </a:r>
          </a:p>
        </p:txBody>
      </p:sp>
      <p:sp>
        <p:nvSpPr>
          <p:cNvPr id="21" name="Rounded Rectangle 20"/>
          <p:cNvSpPr/>
          <p:nvPr/>
        </p:nvSpPr>
        <p:spPr>
          <a:xfrm>
            <a:off x="8072932" y="1956816"/>
            <a:ext cx="3588410" cy="238556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badge-check_df01016c75a5.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STAFFING CALL</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Packers per week</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CFC9EE"/>
                </a:solidFill>
                <a:latin typeface="Calibri"/>
              </a:rPr>
              <a:t>Shipments divided by 120, raised toward the 0.82 quantile of the error bar.</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29" name="Oval 28"/>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31" name="Oval 30"/>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33" name="Oval 32"/>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35" name="Oval 34"/>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4 / 35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shape do the 104 weeks have?</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trend, season, cycle and noise look like, and how do three simple rules forecast one week?</a:t>
            </a:r>
          </a:p>
        </p:txBody>
      </p:sp>
      <p:sp>
        <p:nvSpPr>
          <p:cNvPr id="10" name="Rounded Rectangle 9"/>
          <p:cNvSpPr/>
          <p:nvPr/>
        </p:nvSpPr>
        <p:spPr>
          <a:xfrm>
            <a:off x="731519" y="5074920"/>
            <a:ext cx="20835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shape do the 104 weeks have?</a:t>
            </a:r>
          </a:p>
        </p:txBody>
      </p:sp>
      <p:sp>
        <p:nvSpPr>
          <p:cNvPr id="11" name="Rounded Rectangle 10"/>
          <p:cNvSpPr/>
          <p:nvPr/>
        </p:nvSpPr>
        <p:spPr>
          <a:xfrm>
            <a:off x="292479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Score each method on the hold-out</a:t>
            </a:r>
          </a:p>
        </p:txBody>
      </p:sp>
      <p:sp>
        <p:nvSpPr>
          <p:cNvPr id="12" name="Rounded Rectangle 11"/>
          <p:cNvSpPr/>
          <p:nvPr/>
        </p:nvSpPr>
        <p:spPr>
          <a:xfrm>
            <a:off x="511807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Pick the forecast, price the error</a:t>
            </a:r>
          </a:p>
        </p:txBody>
      </p:sp>
      <p:sp>
        <p:nvSpPr>
          <p:cNvPr id="13" name="Rounded Rectangle 12"/>
          <p:cNvSpPr/>
          <p:nvPr/>
        </p:nvSpPr>
        <p:spPr>
          <a:xfrm>
            <a:off x="731135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two years of weeks not tell us?</a:t>
            </a:r>
          </a:p>
        </p:txBody>
      </p:sp>
      <p:sp>
        <p:nvSpPr>
          <p:cNvPr id="14" name="Rounded Rectangle 13"/>
          <p:cNvSpPr/>
          <p:nvPr/>
        </p:nvSpPr>
        <p:spPr>
          <a:xfrm>
            <a:off x="950463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Turn the forecast into packer shifts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5 / 35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series is trend plus season plus cycle plus noise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of these four shapes do shipments at a fulfilment centre carry, and in what order should a forecaster read them?</a:t>
            </a:r>
          </a:p>
        </p:txBody>
      </p:sp>
      <p:pic>
        <p:nvPicPr>
          <p:cNvPr id="9" name="mermaid diagram" descr="C2_W04_D05_four_pattern_panel_STUDENT.png"/>
          <p:cNvPicPr>
            <a:picLocks noChangeAspect="1"/>
          </p:cNvPicPr>
          <p:nvPr/>
        </p:nvPicPr>
        <p:blipFill>
          <a:blip r:embed="rId4"/>
          <a:stretch>
            <a:fillRect/>
          </a:stretch>
        </p:blipFill>
        <p:spPr>
          <a:xfrm>
            <a:off x="530352" y="1691260"/>
            <a:ext cx="11130991" cy="3161535"/>
          </a:xfrm>
          <a:prstGeom prst="rect">
            <a:avLst/>
          </a:prstGeom>
        </p:spPr>
      </p:pic>
      <p:sp>
        <p:nvSpPr>
          <p:cNvPr id="10" name="picture caption"/>
          <p:cNvSpPr txBox="1"/>
          <p:nvPr/>
        </p:nvSpPr>
        <p:spPr>
          <a:xfrm>
            <a:off x="530352" y="4889371"/>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four shapes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four panels are toys, with numbers invented so the shapes are plain, and the real series has to be read in the same order: the long slope first, the yearly repeat second, the slower cycle third, and the week-to-week wobble last.</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6 / 35</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Vote: Diwali week or the week before, which is bigger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Does the Diwali week carry the biggest shipment of the year, or does the week before beat it?</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The committed prediction. </a:t>
            </a:r>
            <a:r>
              <a:rPr sz="1500" b="0" i="0">
                <a:solidFill>
                  <a:srgbClr val="1A1440"/>
                </a:solidFill>
                <a:latin typeface="Calibri"/>
              </a:rPr>
              <a:t>On a card, one of the two: the Diwali week is bigger because the festival is on it, or the week before is bigger because the room has to receive its parcels in time to open them.</a:t>
            </a:r>
          </a:p>
        </p:txBody>
      </p:sp>
      <p:sp>
        <p:nvSpPr>
          <p:cNvPr id="12" name="Rectangle 11"/>
          <p:cNvSpPr/>
          <p:nvPr/>
        </p:nvSpPr>
        <p:spPr>
          <a:xfrm>
            <a:off x="3267379" y="3496056"/>
            <a:ext cx="5656935"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VOTE 1</a:t>
            </a:r>
          </a:p>
        </p:txBody>
      </p:sp>
      <p:sp>
        <p:nvSpPr>
          <p:cNvPr id="14" name="Oval 13"/>
          <p:cNvSpPr/>
          <p:nvPr/>
        </p:nvSpPr>
        <p:spPr>
          <a:xfrm>
            <a:off x="3166795"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The Diwali week itself</a:t>
            </a:r>
          </a:p>
        </p:txBody>
      </p:sp>
      <p:sp>
        <p:nvSpPr>
          <p:cNvPr id="17" name="TextBox 16"/>
          <p:cNvSpPr txBox="1"/>
          <p:nvPr/>
        </p:nvSpPr>
        <p:spPr>
          <a:xfrm>
            <a:off x="694944"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The festival week carries the peak because sales promotions crown the moment.</a:t>
            </a:r>
          </a:p>
        </p:txBody>
      </p:sp>
      <p:sp>
        <p:nvSpPr>
          <p:cNvPr id="18" name="TextBox 17"/>
          <p:cNvSpPr txBox="1"/>
          <p:nvPr/>
        </p:nvSpPr>
        <p:spPr>
          <a:xfrm>
            <a:off x="6187287" y="2929128"/>
            <a:ext cx="5474055" cy="168656"/>
          </a:xfrm>
          <a:prstGeom prst="rect">
            <a:avLst/>
          </a:prstGeom>
          <a:noFill/>
        </p:spPr>
        <p:txBody>
          <a:bodyPr wrap="square" anchor="t" lIns="0" rIns="0" tIns="0" bIns="0">
            <a:spAutoFit/>
          </a:bodyPr>
          <a:lstStyle/>
          <a:p>
            <a:pPr algn="ctr"/>
            <a:r>
              <a:rPr sz="800" b="1" i="0" spc="250">
                <a:solidFill>
                  <a:srgbClr val="5B3FD6"/>
                </a:solidFill>
                <a:latin typeface="Calibri"/>
              </a:rPr>
              <a:t>VOTE 2</a:t>
            </a:r>
          </a:p>
        </p:txBody>
      </p:sp>
      <p:sp>
        <p:nvSpPr>
          <p:cNvPr id="19" name="Oval 18"/>
          <p:cNvSpPr/>
          <p:nvPr/>
        </p:nvSpPr>
        <p:spPr>
          <a:xfrm>
            <a:off x="882373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6187287" y="3816096"/>
            <a:ext cx="5474055" cy="90424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351879" y="3962400"/>
            <a:ext cx="5144871" cy="251205"/>
          </a:xfrm>
          <a:prstGeom prst="rect">
            <a:avLst/>
          </a:prstGeom>
          <a:noFill/>
        </p:spPr>
        <p:txBody>
          <a:bodyPr wrap="square" anchor="t" lIns="0" rIns="0" tIns="0" bIns="0">
            <a:spAutoFit/>
          </a:bodyPr>
          <a:lstStyle/>
          <a:p>
            <a:pPr algn="l"/>
            <a:r>
              <a:rPr sz="1300" b="1" i="0">
                <a:solidFill>
                  <a:srgbClr val="1A0F5C"/>
                </a:solidFill>
                <a:latin typeface="Calibri"/>
              </a:rPr>
              <a:t>The week before Diwali</a:t>
            </a:r>
          </a:p>
        </p:txBody>
      </p:sp>
      <p:sp>
        <p:nvSpPr>
          <p:cNvPr id="22" name="TextBox 21"/>
          <p:cNvSpPr txBox="1"/>
          <p:nvPr/>
        </p:nvSpPr>
        <p:spPr>
          <a:xfrm>
            <a:off x="6351879" y="4250182"/>
            <a:ext cx="5144871" cy="201676"/>
          </a:xfrm>
          <a:prstGeom prst="rect">
            <a:avLst/>
          </a:prstGeom>
          <a:noFill/>
        </p:spPr>
        <p:txBody>
          <a:bodyPr wrap="square" anchor="t" lIns="0" rIns="0" tIns="0" bIns="0">
            <a:spAutoFit/>
          </a:bodyPr>
          <a:lstStyle/>
          <a:p>
            <a:pPr algn="l"/>
            <a:r>
              <a:rPr sz="1000" b="0" i="0">
                <a:solidFill>
                  <a:srgbClr val="6B6690"/>
                </a:solidFill>
                <a:latin typeface="Calibri"/>
              </a:rPr>
              <a:t>Shipments go out in the week before so parcels land on doormats in time.</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25" name="Oval 2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27" name="Oval 26"/>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29" name="Oval 28"/>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31" name="Oval 30"/>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33" name="TextBox 3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7 / 35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rows around two Diwalis,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shipments do in each of the six weeks around each Diwali, and where is the peak?</a:t>
            </a:r>
          </a:p>
        </p:txBody>
      </p:sp>
      <p:pic>
        <p:nvPicPr>
          <p:cNvPr id="9" name="mermaid diagram" descr="C2_W04_D05_twelve_rows_bar_STUDENT.png"/>
          <p:cNvPicPr>
            <a:picLocks noChangeAspect="1"/>
          </p:cNvPicPr>
          <p:nvPr/>
        </p:nvPicPr>
        <p:blipFill>
          <a:blip r:embed="rId4"/>
          <a:stretch>
            <a:fillRect/>
          </a:stretch>
        </p:blipFill>
        <p:spPr>
          <a:xfrm>
            <a:off x="1430317" y="1664208"/>
            <a:ext cx="9331060"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Twelve rows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peak sits two weeks before Diwali in both years at 400,600 shipments in 2024 and 419,000 in 2025, while the Diwali week sits at 296,400 and 309,500. The week after Diwali falls to 186,300 and 195,000.</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8 / 35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104 weeks hold two peaks and a hold-out window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Diwali sit in two years of weekly shipments, and which thirteen weeks will we score forecasts on?</a:t>
            </a:r>
          </a:p>
        </p:txBody>
      </p:sp>
      <p:pic>
        <p:nvPicPr>
          <p:cNvPr id="9" name="mermaid diagram" descr="C2_W04_D05_actual_series_STUDENT.png"/>
          <p:cNvPicPr>
            <a:picLocks noChangeAspect="1"/>
          </p:cNvPicPr>
          <p:nvPr/>
        </p:nvPicPr>
        <p:blipFill>
          <a:blip r:embed="rId4"/>
          <a:stretch>
            <a:fillRect/>
          </a:stretch>
        </p:blipFill>
        <p:spPr>
          <a:xfrm>
            <a:off x="1444405" y="1664208"/>
            <a:ext cx="9302884" cy="3491992"/>
          </a:xfrm>
          <a:prstGeom prst="rect">
            <a:avLst/>
          </a:prstGeom>
        </p:spPr>
      </p:pic>
      <p:sp>
        <p:nvSpPr>
          <p:cNvPr id="10" name="picture caption"/>
          <p:cNvSpPr txBox="1"/>
          <p:nvPr/>
        </p:nvSpPr>
        <p:spPr>
          <a:xfrm>
            <a:off x="530352" y="5192776"/>
            <a:ext cx="11130991" cy="316992"/>
          </a:xfrm>
          <a:prstGeom prst="rect">
            <a:avLst/>
          </a:prstGeom>
          <a:noFill/>
        </p:spPr>
        <p:txBody>
          <a:bodyPr wrap="square" anchor="t" lIns="0" rIns="0" tIns="0" bIns="0">
            <a:spAutoFit/>
          </a:bodyPr>
          <a:lstStyle/>
          <a:p>
            <a:pPr algn="ctr"/>
            <a:r>
              <a:rPr sz="1200" b="0" i="0">
                <a:solidFill>
                  <a:srgbClr val="6B6690"/>
                </a:solidFill>
                <a:latin typeface="Calibri"/>
              </a:rPr>
              <a:t>104 weeks of shipments</a:t>
            </a:r>
          </a:p>
        </p:txBody>
      </p:sp>
      <p:sp>
        <p:nvSpPr>
          <p:cNvPr id="11" name="TextBox 10"/>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The lavender band in the summer of 2026 is the hold-out: the last thirteen weeks of history, Mon 29 Jun 2026 to Mon 21 Sep 2026, held back so a forecasting method is scored on weeks it has not seen.</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9 / 35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Three simple rules, one week, worked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would naive, same-week-last-year and festival-aligned forecast the Diwali 2025 week?</a:t>
            </a:r>
          </a:p>
        </p:txBody>
      </p:sp>
      <p:graphicFrame>
        <p:nvGraphicFramePr>
          <p:cNvPr id="9" name="Table 8"/>
          <p:cNvGraphicFramePr>
            <a:graphicFrameLocks noGrp="1"/>
          </p:cNvGraphicFramePr>
          <p:nvPr/>
        </p:nvGraphicFramePr>
        <p:xfrm>
          <a:off x="530352" y="1956816"/>
          <a:ext cx="11130990" cy="1721104"/>
        </p:xfrm>
        <a:graphic>
          <a:graphicData uri="http://schemas.openxmlformats.org/drawingml/2006/table">
            <a:tbl>
              <a:tblPr firstRow="0" bandRow="0">
                <a:tableStyleId>{2D5ABB26-0587-4C30-8999-92F81FD0307C}</a:tableStyleId>
              </a:tblPr>
              <a:tblGrid>
                <a:gridCol w="2436259"/>
                <a:gridCol w="5014852"/>
                <a:gridCol w="3679879"/>
              </a:tblGrid>
              <a:tr h="369824">
                <a:tc>
                  <a:txBody>
                    <a:bodyPr/>
                    <a:lstStyle/>
                    <a:p>
                      <a:r>
                        <a:rPr sz="1450" b="1" i="0">
                          <a:solidFill>
                            <a:srgbClr val="FFFFFF"/>
                          </a:solidFill>
                          <a:latin typeface="Calibri"/>
                        </a:rPr>
                        <a:t>Rule</a:t>
                      </a:r>
                    </a:p>
                  </a:txBody>
                  <a:tcPr marL="101600" marR="101600" marT="38100" marB="38100" anchor="ctr">
                    <a:solidFill>
                      <a:srgbClr val="1A0F5C"/>
                    </a:solidFill>
                  </a:tcPr>
                </a:tc>
                <a:tc>
                  <a:txBody>
                    <a:bodyPr/>
                    <a:lstStyle/>
                    <a:p>
                      <a:r>
                        <a:rPr sz="1450" b="1" i="0">
                          <a:solidFill>
                            <a:srgbClr val="FFFFFF"/>
                          </a:solidFill>
                          <a:latin typeface="Calibri"/>
                        </a:rPr>
                        <a:t>What it does</a:t>
                      </a:r>
                    </a:p>
                  </a:txBody>
                  <a:tcPr marL="101600" marR="101600" marT="38100" marB="38100" anchor="ctr">
                    <a:solidFill>
                      <a:srgbClr val="1A0F5C"/>
                    </a:solidFill>
                  </a:tcPr>
                </a:tc>
                <a:tc>
                  <a:txBody>
                    <a:bodyPr/>
                    <a:lstStyle/>
                    <a:p>
                      <a:r>
                        <a:rPr sz="1450" b="1" i="0">
                          <a:solidFill>
                            <a:srgbClr val="FFFFFF"/>
                          </a:solidFill>
                          <a:latin typeface="Calibri"/>
                        </a:rPr>
                        <a:t>Forecast for 2025-10-20 (Diwali week)</a:t>
                      </a:r>
                    </a:p>
                  </a:txBody>
                  <a:tcPr marL="101600" marR="101600" marT="38100" marB="38100" anchor="ctr">
                    <a:solidFill>
                      <a:srgbClr val="1A0F5C"/>
                    </a:solidFill>
                  </a:tcPr>
                </a:tc>
              </a:tr>
              <a:tr h="369824">
                <a:tc>
                  <a:txBody>
                    <a:bodyPr/>
                    <a:lstStyle/>
                    <a:p>
                      <a:r>
                        <a:rPr sz="1400" b="0" i="0">
                          <a:solidFill>
                            <a:srgbClr val="1A1440"/>
                          </a:solidFill>
                          <a:latin typeface="Calibri"/>
                        </a:rPr>
                        <a:t>Naive</a:t>
                      </a:r>
                    </a:p>
                  </a:txBody>
                  <a:tcPr marL="101600" marR="101600" marT="38100" marB="38100" anchor="ctr">
                    <a:solidFill>
                      <a:srgbClr val="FFFFFF"/>
                    </a:solidFill>
                  </a:tcPr>
                </a:tc>
                <a:tc>
                  <a:txBody>
                    <a:bodyPr/>
                    <a:lstStyle/>
                    <a:p>
                      <a:r>
                        <a:rPr sz="1400" b="0" i="0">
                          <a:solidFill>
                            <a:srgbClr val="1A1440"/>
                          </a:solidFill>
                          <a:latin typeface="Calibri"/>
                        </a:rPr>
                        <a:t>Carry forward last week's actual</a:t>
                      </a:r>
                    </a:p>
                  </a:txBody>
                  <a:tcPr marL="101600" marR="101600" marT="38100" marB="38100" anchor="ctr">
                    <a:solidFill>
                      <a:srgbClr val="FFFFFF"/>
                    </a:solidFill>
                  </a:tcPr>
                </a:tc>
                <a:tc>
                  <a:txBody>
                    <a:bodyPr/>
                    <a:lstStyle/>
                    <a:p>
                      <a:r>
                        <a:rPr sz="1400" b="0" i="0">
                          <a:solidFill>
                            <a:srgbClr val="1A1440"/>
                          </a:solidFill>
                          <a:latin typeface="Calibri"/>
                        </a:rPr>
                        <a:t>371,400 shipments (from 2025-10-13)</a:t>
                      </a:r>
                    </a:p>
                  </a:txBody>
                  <a:tcPr marL="101600" marR="101600" marT="38100" marB="38100" anchor="ctr">
                    <a:solidFill>
                      <a:srgbClr val="FFFFFF"/>
                    </a:solidFill>
                  </a:tcPr>
                </a:tc>
              </a:tr>
              <a:tr h="369824">
                <a:tc>
                  <a:txBody>
                    <a:bodyPr/>
                    <a:lstStyle/>
                    <a:p>
                      <a:r>
                        <a:rPr sz="1400" b="0" i="0">
                          <a:solidFill>
                            <a:srgbClr val="1A1440"/>
                          </a:solidFill>
                          <a:latin typeface="Calibri"/>
                        </a:rPr>
                        <a:t>Same-week-last-year</a:t>
                      </a:r>
                    </a:p>
                  </a:txBody>
                  <a:tcPr marL="101600" marR="101600" marT="38100" marB="38100" anchor="ctr">
                    <a:solidFill>
                      <a:srgbClr val="F4F2FA"/>
                    </a:solidFill>
                  </a:tcPr>
                </a:tc>
                <a:tc>
                  <a:txBody>
                    <a:bodyPr/>
                    <a:lstStyle/>
                    <a:p>
                      <a:r>
                        <a:rPr sz="1400" b="0" i="0">
                          <a:solidFill>
                            <a:srgbClr val="1A1440"/>
                          </a:solidFill>
                          <a:latin typeface="Calibri"/>
                        </a:rPr>
                        <a:t>Copy the shipment 52 Mondays earlier</a:t>
                      </a:r>
                    </a:p>
                  </a:txBody>
                  <a:tcPr marL="101600" marR="101600" marT="38100" marB="38100" anchor="ctr">
                    <a:solidFill>
                      <a:srgbClr val="F4F2FA"/>
                    </a:solidFill>
                  </a:tcPr>
                </a:tc>
                <a:tc>
                  <a:txBody>
                    <a:bodyPr/>
                    <a:lstStyle/>
                    <a:p>
                      <a:r>
                        <a:rPr sz="1400" b="0" i="0">
                          <a:solidFill>
                            <a:srgbClr val="1A1440"/>
                          </a:solidFill>
                          <a:latin typeface="Calibri"/>
                        </a:rPr>
                        <a:t>356,800 shipments (from 2024-10-21)</a:t>
                      </a:r>
                    </a:p>
                  </a:txBody>
                  <a:tcPr marL="101600" marR="101600" marT="38100" marB="38100" anchor="ctr">
                    <a:solidFill>
                      <a:srgbClr val="F4F2FA"/>
                    </a:solidFill>
                  </a:tcPr>
                </a:tc>
              </a:tr>
              <a:tr h="611632">
                <a:tc>
                  <a:txBody>
                    <a:bodyPr/>
                    <a:lstStyle/>
                    <a:p>
                      <a:r>
                        <a:rPr sz="1400" b="0" i="0">
                          <a:solidFill>
                            <a:srgbClr val="1A1440"/>
                          </a:solidFill>
                          <a:latin typeface="Calibri"/>
                        </a:rPr>
                        <a:t>Festival-aligned with drift</a:t>
                      </a:r>
                    </a:p>
                  </a:txBody>
                  <a:tcPr marL="101600" marR="101600" marT="38100" marB="38100" anchor="ctr">
                    <a:solidFill>
                      <a:srgbClr val="FFFFFF"/>
                    </a:solidFill>
                  </a:tcPr>
                </a:tc>
                <a:tc>
                  <a:txBody>
                    <a:bodyPr/>
                    <a:lstStyle/>
                    <a:p>
                      <a:r>
                        <a:rPr sz="1400" b="0" i="0">
                          <a:solidFill>
                            <a:srgbClr val="1A1440"/>
                          </a:solidFill>
                          <a:latin typeface="Calibri"/>
                        </a:rPr>
                        <a:t>Copy the week at the same offset from the previous Diwali week and add 4 percent growth</a:t>
                      </a:r>
                    </a:p>
                  </a:txBody>
                  <a:tcPr marL="101600" marR="101600" marT="38100" marB="38100" anchor="ctr">
                    <a:solidFill>
                      <a:srgbClr val="FFFFFF"/>
                    </a:solidFill>
                  </a:tcPr>
                </a:tc>
                <a:tc>
                  <a:txBody>
                    <a:bodyPr/>
                    <a:lstStyle/>
                    <a:p>
                      <a:r>
                        <a:rPr sz="1400" b="0" i="0">
                          <a:solidFill>
                            <a:srgbClr val="1A1440"/>
                          </a:solidFill>
                          <a:latin typeface="Calibri"/>
                        </a:rPr>
                        <a:t>308,256 shipments (from 2024-10-28 x 1.04)</a:t>
                      </a:r>
                    </a:p>
                  </a:txBody>
                  <a:tcPr marL="101600" marR="101600" marT="38100" marB="38100" anchor="ctr">
                    <a:solidFill>
                      <a:srgbClr val="FFFFFF"/>
                    </a:solidFill>
                  </a:tcPr>
                </a:tc>
              </a:tr>
            </a:tbl>
          </a:graphicData>
        </a:graphic>
      </p:graphicFrame>
      <p:sp>
        <p:nvSpPr>
          <p:cNvPr id="10" name="TextBox 9"/>
          <p:cNvSpPr txBox="1"/>
          <p:nvPr/>
        </p:nvSpPr>
        <p:spPr>
          <a:xfrm>
            <a:off x="530352" y="3933952"/>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Actual that week: 309,500 shipments. Festival-aligned lands within 1,244; naive is 61,900 high; same-week-last-year is 47,300 high.</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5" name="Oval 1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7" name="Oval 1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9" name="Oval 18"/>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10 / 35</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trap: SWLY lands peaks on the wrong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Diwali moves from one year to the next, and the forecast copies the week with the old date?</a:t>
            </a:r>
          </a:p>
        </p:txBody>
      </p:sp>
      <p:pic>
        <p:nvPicPr>
          <p:cNvPr id="9" name="mermaid diagram" descr="C2_W04_D05_swly_two_weeks_early_STUDENT.png"/>
          <p:cNvPicPr>
            <a:picLocks noChangeAspect="1"/>
          </p:cNvPicPr>
          <p:nvPr/>
        </p:nvPicPr>
        <p:blipFill>
          <a:blip r:embed="rId4"/>
          <a:stretch>
            <a:fillRect/>
          </a:stretch>
        </p:blipFill>
        <p:spPr>
          <a:xfrm>
            <a:off x="1601858" y="1664208"/>
            <a:ext cx="8987977"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SWLY peaks land two weeks early</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Diwali 2025 fell on Mon 20 Oct and Diwali 2026 falls on Sun 8 Nov (week beginning Mon 2 Nov). The same-week-last-year shift takes the Diwali 2025 week shipments and places them on Mon 19 Oct 2026, two weeks before the real Diwali week.</a:t>
            </a:r>
          </a:p>
        </p:txBody>
      </p:sp>
      <p:sp>
        <p:nvSpPr>
          <p:cNvPr id="12" name="Oval 11"/>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11 / 35</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Flipkart decided its festive capacity weeks ahead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real company shows the same question as this ticket, and what did it decide about?</a:t>
            </a:r>
          </a:p>
        </p:txBody>
      </p:sp>
      <p:graphicFrame>
        <p:nvGraphicFramePr>
          <p:cNvPr id="9" name="Table 8"/>
          <p:cNvGraphicFramePr>
            <a:graphicFrameLocks noGrp="1"/>
          </p:cNvGraphicFramePr>
          <p:nvPr/>
        </p:nvGraphicFramePr>
        <p:xfrm>
          <a:off x="530352" y="1956816"/>
          <a:ext cx="11130990" cy="2688336"/>
        </p:xfrm>
        <a:graphic>
          <a:graphicData uri="http://schemas.openxmlformats.org/drawingml/2006/table">
            <a:tbl>
              <a:tblPr firstRow="0" bandRow="0">
                <a:tableStyleId>{2D5ABB26-0587-4C30-8999-92F81FD0307C}</a:tableStyleId>
              </a:tblPr>
              <a:tblGrid>
                <a:gridCol w="4521918"/>
                <a:gridCol w="6609072"/>
              </a:tblGrid>
              <a:tr h="369824">
                <a:tc>
                  <a:txBody>
                    <a:bodyPr/>
                    <a:lstStyle/>
                    <a:p>
                      <a:r>
                        <a:rPr sz="1450" b="1" i="0">
                          <a:solidFill>
                            <a:srgbClr val="FFFFFF"/>
                          </a:solidFill>
                          <a:latin typeface="Calibri"/>
                        </a:rPr>
                        <a:t>The metric at stake</a:t>
                      </a:r>
                    </a:p>
                  </a:txBody>
                  <a:tcPr marL="101600" marR="101600" marT="38100" marB="38100" anchor="ctr">
                    <a:solidFill>
                      <a:srgbClr val="1A0F5C"/>
                    </a:solidFill>
                  </a:tcPr>
                </a:tc>
                <a:tc>
                  <a:txBody>
                    <a:bodyPr/>
                    <a:lstStyle/>
                    <a:p>
                      <a:r>
                        <a:rPr sz="1450" b="1" i="0">
                          <a:solidFill>
                            <a:srgbClr val="FFFFFF"/>
                          </a:solidFill>
                          <a:latin typeface="Calibri"/>
                        </a:rPr>
                        <a:t>Festive packer and sorter capacity for the Big Billion Days window.</a:t>
                      </a:r>
                    </a:p>
                  </a:txBody>
                  <a:tcPr marL="101600" marR="101600" marT="38100" marB="38100" anchor="ctr">
                    <a:solidFill>
                      <a:srgbClr val="1A0F5C"/>
                    </a:solidFill>
                  </a:tcPr>
                </a:tc>
              </a:tr>
              <a:tr h="853440">
                <a:tc>
                  <a:txBody>
                    <a:bodyPr/>
                    <a:lstStyle/>
                    <a:p>
                      <a:r>
                        <a:rPr sz="1400" b="0" i="0">
                          <a:solidFill>
                            <a:srgbClr val="1A1440"/>
                          </a:solidFill>
                          <a:latin typeface="Calibri"/>
                        </a:rPr>
                        <a:t>What Flipkart's own statement said (F6)</a:t>
                      </a:r>
                    </a:p>
                  </a:txBody>
                  <a:tcPr marL="101600" marR="101600" marT="38100" marB="38100" anchor="ctr">
                    <a:solidFill>
                      <a:srgbClr val="FFFFFF"/>
                    </a:solidFill>
                  </a:tcPr>
                </a:tc>
                <a:tc>
                  <a:txBody>
                    <a:bodyPr/>
                    <a:lstStyle/>
                    <a:p>
                      <a:r>
                        <a:rPr sz="1400" b="0" i="0">
                          <a:solidFill>
                            <a:srgbClr val="1A1440"/>
                          </a:solidFill>
                          <a:latin typeface="Calibri"/>
                        </a:rPr>
                        <a:t>For the 2026 Big Billion Days: 14 million cubic feet of warehouse space added; more than 2.5 lakh festive jobs; 6.3 million concurrent users in a minute.</a:t>
                      </a:r>
                    </a:p>
                  </a:txBody>
                  <a:tcPr marL="101600" marR="101600" marT="38100" marB="38100" anchor="ctr">
                    <a:solidFill>
                      <a:srgbClr val="FFFFFF"/>
                    </a:solidFill>
                  </a:tcPr>
                </a:tc>
              </a:tr>
              <a:tr h="853440">
                <a:tc>
                  <a:txBody>
                    <a:bodyPr/>
                    <a:lstStyle/>
                    <a:p>
                      <a:r>
                        <a:rPr sz="1400" b="0" i="0">
                          <a:solidFill>
                            <a:srgbClr val="1A1440"/>
                          </a:solidFill>
                          <a:latin typeface="Calibri"/>
                        </a:rPr>
                        <a:t>What that implies for the planner</a:t>
                      </a:r>
                    </a:p>
                  </a:txBody>
                  <a:tcPr marL="101600" marR="101600" marT="38100" marB="38100" anchor="ctr">
                    <a:solidFill>
                      <a:srgbClr val="F4F2FA"/>
                    </a:solidFill>
                  </a:tcPr>
                </a:tc>
                <a:tc>
                  <a:txBody>
                    <a:bodyPr/>
                    <a:lstStyle/>
                    <a:p>
                      <a:r>
                        <a:rPr sz="1400" b="0" i="0">
                          <a:solidFill>
                            <a:srgbClr val="1A1440"/>
                          </a:solidFill>
                          <a:latin typeface="Calibri"/>
                        </a:rPr>
                        <a:t>Decisions about packer shifts, warehouse space and jobs are made weeks before the festival, not during it. A forecast off by 10 percent is a staffing miss nobody can fix on the day.</a:t>
                      </a:r>
                    </a:p>
                  </a:txBody>
                  <a:tcPr marL="101600" marR="101600" marT="38100" marB="38100" anchor="ctr">
                    <a:solidFill>
                      <a:srgbClr val="F4F2FA"/>
                    </a:solidFill>
                  </a:tcPr>
                </a:tc>
              </a:tr>
              <a:tr h="611632">
                <a:tc>
                  <a:txBody>
                    <a:bodyPr/>
                    <a:lstStyle/>
                    <a:p>
                      <a:r>
                        <a:rPr sz="1400" b="0" i="0">
                          <a:solidFill>
                            <a:srgbClr val="1A1440"/>
                          </a:solidFill>
                          <a:latin typeface="Calibri"/>
                        </a:rPr>
                        <a:t>What a senior analyst checks</a:t>
                      </a:r>
                    </a:p>
                  </a:txBody>
                  <a:tcPr marL="101600" marR="101600" marT="38100" marB="38100" anchor="ctr">
                    <a:solidFill>
                      <a:srgbClr val="FFFFFF"/>
                    </a:solidFill>
                  </a:tcPr>
                </a:tc>
                <a:tc>
                  <a:txBody>
                    <a:bodyPr/>
                    <a:lstStyle/>
                    <a:p>
                      <a:r>
                        <a:rPr sz="1400" b="0" i="0">
                          <a:solidFill>
                            <a:srgbClr val="1A1440"/>
                          </a:solidFill>
                          <a:latin typeface="Calibri"/>
                        </a:rPr>
                        <a:t>The baseline the vendor's model has to beat before any festive capacity is costed to it.</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12 / 35</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Score each method on the hold-out</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What is the hold-out, what is MAE, and which method wins on weeks the model never saw?</a:t>
            </a:r>
          </a:p>
        </p:txBody>
      </p:sp>
      <p:sp>
        <p:nvSpPr>
          <p:cNvPr id="10" name="Rounded Rectangle 9"/>
          <p:cNvSpPr/>
          <p:nvPr/>
        </p:nvSpPr>
        <p:spPr>
          <a:xfrm>
            <a:off x="73151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104 weeks have?</a:t>
            </a:r>
          </a:p>
        </p:txBody>
      </p:sp>
      <p:sp>
        <p:nvSpPr>
          <p:cNvPr id="11" name="Rounded Rectangle 10"/>
          <p:cNvSpPr/>
          <p:nvPr/>
        </p:nvSpPr>
        <p:spPr>
          <a:xfrm>
            <a:off x="2924799" y="5074920"/>
            <a:ext cx="20835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Score each method on the hold-out</a:t>
            </a:r>
          </a:p>
        </p:txBody>
      </p:sp>
      <p:sp>
        <p:nvSpPr>
          <p:cNvPr id="12" name="Rounded Rectangle 11"/>
          <p:cNvSpPr/>
          <p:nvPr/>
        </p:nvSpPr>
        <p:spPr>
          <a:xfrm>
            <a:off x="511807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Pick the forecast, price the error</a:t>
            </a:r>
          </a:p>
        </p:txBody>
      </p:sp>
      <p:sp>
        <p:nvSpPr>
          <p:cNvPr id="13" name="Rounded Rectangle 12"/>
          <p:cNvSpPr/>
          <p:nvPr/>
        </p:nvSpPr>
        <p:spPr>
          <a:xfrm>
            <a:off x="731135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two years of weeks not tell us?</a:t>
            </a:r>
          </a:p>
        </p:txBody>
      </p:sp>
      <p:sp>
        <p:nvSpPr>
          <p:cNvPr id="14" name="Rounded Rectangle 13"/>
          <p:cNvSpPr/>
          <p:nvPr/>
        </p:nvSpPr>
        <p:spPr>
          <a:xfrm>
            <a:off x="950463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Turn the forecast into packer shifts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13 / 35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questions before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needs the hold-out score, and which questions lead there?</a:t>
            </a:r>
          </a:p>
        </p:txBody>
      </p:sp>
      <p:sp>
        <p:nvSpPr>
          <p:cNvPr id="9" name="Rounded Rectangle 8"/>
          <p:cNvSpPr/>
          <p:nvPr/>
        </p:nvSpPr>
        <p:spPr>
          <a:xfrm>
            <a:off x="530352" y="1956816"/>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624840"/>
          </a:xfrm>
          <a:prstGeom prst="rect">
            <a:avLst/>
          </a:prstGeom>
          <a:noFill/>
        </p:spPr>
        <p:txBody>
          <a:bodyPr wrap="square" anchor="ctr" lIns="0" rIns="0" tIns="0" bIns="0">
            <a:spAutoFit/>
          </a:bodyPr>
          <a:lstStyle/>
          <a:p>
            <a:r>
              <a:rPr sz="1500" b="1">
                <a:solidFill>
                  <a:srgbClr val="5B3FD6"/>
                </a:solidFill>
                <a:latin typeface="Calibri"/>
              </a:rPr>
              <a:t>Who needs the answer. </a:t>
            </a:r>
            <a:r>
              <a:rPr sz="1500" b="0" i="0">
                <a:solidFill>
                  <a:srgbClr val="1A1440"/>
                </a:solidFill>
                <a:latin typeface="Calibri"/>
              </a:rPr>
              <a:t>The FC planner, who has to pick one forecast and defend it, and the regional operations head, who has to say yes or no to the vendor's plus 22 percent before any packer shift is booked.</a:t>
            </a:r>
          </a:p>
        </p:txBody>
      </p:sp>
      <p:sp>
        <p:nvSpPr>
          <p:cNvPr id="12" name="Rectangle 11"/>
          <p:cNvSpPr/>
          <p:nvPr/>
        </p:nvSpPr>
        <p:spPr>
          <a:xfrm>
            <a:off x="1853145" y="3496056"/>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1</a:t>
            </a:r>
          </a:p>
        </p:txBody>
      </p:sp>
      <p:sp>
        <p:nvSpPr>
          <p:cNvPr id="14" name="Oval 13"/>
          <p:cNvSpPr/>
          <p:nvPr/>
        </p:nvSpPr>
        <p:spPr>
          <a:xfrm>
            <a:off x="1752561"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Why hold out</a:t>
            </a:r>
          </a:p>
        </p:txBody>
      </p:sp>
      <p:sp>
        <p:nvSpPr>
          <p:cNvPr id="17" name="TextBox 16"/>
          <p:cNvSpPr txBox="1"/>
          <p:nvPr/>
        </p:nvSpPr>
        <p:spPr>
          <a:xfrm>
            <a:off x="694944"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Why hide weeks from a forecasting method, and how many?</a:t>
            </a:r>
          </a:p>
        </p:txBody>
      </p:sp>
      <p:sp>
        <p:nvSpPr>
          <p:cNvPr id="18" name="TextBox 17"/>
          <p:cNvSpPr txBox="1"/>
          <p:nvPr/>
        </p:nvSpPr>
        <p:spPr>
          <a:xfrm>
            <a:off x="3358819"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2</a:t>
            </a:r>
          </a:p>
        </p:txBody>
      </p:sp>
      <p:sp>
        <p:nvSpPr>
          <p:cNvPr id="19" name="Oval 18"/>
          <p:cNvSpPr/>
          <p:nvPr/>
        </p:nvSpPr>
        <p:spPr>
          <a:xfrm>
            <a:off x="4581029"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3358819"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523411"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One number</a:t>
            </a:r>
          </a:p>
        </p:txBody>
      </p:sp>
      <p:sp>
        <p:nvSpPr>
          <p:cNvPr id="22" name="TextBox 21"/>
          <p:cNvSpPr txBox="1"/>
          <p:nvPr/>
        </p:nvSpPr>
        <p:spPr>
          <a:xfrm>
            <a:off x="3523411"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What is MAE, and why in shipments not percent?</a:t>
            </a:r>
          </a:p>
        </p:txBody>
      </p:sp>
      <p:sp>
        <p:nvSpPr>
          <p:cNvPr id="23" name="TextBox 22"/>
          <p:cNvSpPr txBox="1"/>
          <p:nvPr/>
        </p:nvSpPr>
        <p:spPr>
          <a:xfrm>
            <a:off x="6187287"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3</a:t>
            </a:r>
          </a:p>
        </p:txBody>
      </p:sp>
      <p:sp>
        <p:nvSpPr>
          <p:cNvPr id="24" name="Oval 23"/>
          <p:cNvSpPr/>
          <p:nvPr/>
        </p:nvSpPr>
        <p:spPr>
          <a:xfrm>
            <a:off x="7409497" y="340461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6187287" y="3816096"/>
            <a:ext cx="2645587" cy="124968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351879" y="3962400"/>
            <a:ext cx="2316403" cy="251205"/>
          </a:xfrm>
          <a:prstGeom prst="rect">
            <a:avLst/>
          </a:prstGeom>
          <a:noFill/>
        </p:spPr>
        <p:txBody>
          <a:bodyPr wrap="square" anchor="t" lIns="0" rIns="0" tIns="0" bIns="0">
            <a:spAutoFit/>
          </a:bodyPr>
          <a:lstStyle/>
          <a:p>
            <a:pPr algn="l"/>
            <a:r>
              <a:rPr sz="1300" b="1" i="0">
                <a:solidFill>
                  <a:srgbClr val="1A0F5C"/>
                </a:solidFill>
                <a:latin typeface="Calibri"/>
              </a:rPr>
              <a:t>The scoreboard</a:t>
            </a:r>
          </a:p>
        </p:txBody>
      </p:sp>
      <p:sp>
        <p:nvSpPr>
          <p:cNvPr id="27" name="TextBox 26"/>
          <p:cNvSpPr txBox="1"/>
          <p:nvPr/>
        </p:nvSpPr>
        <p:spPr>
          <a:xfrm>
            <a:off x="6351879" y="4250182"/>
            <a:ext cx="2316403" cy="366776"/>
          </a:xfrm>
          <a:prstGeom prst="rect">
            <a:avLst/>
          </a:prstGeom>
          <a:noFill/>
        </p:spPr>
        <p:txBody>
          <a:bodyPr wrap="square" anchor="t" lIns="0" rIns="0" tIns="0" bIns="0">
            <a:spAutoFit/>
          </a:bodyPr>
          <a:lstStyle/>
          <a:p>
            <a:pPr algn="l"/>
            <a:r>
              <a:rPr sz="1000" b="0" i="0">
                <a:solidFill>
                  <a:srgbClr val="6B6690"/>
                </a:solidFill>
                <a:latin typeface="Calibri"/>
              </a:rPr>
              <a:t>Which method wins on the hold-out, and by how much?</a:t>
            </a:r>
          </a:p>
        </p:txBody>
      </p:sp>
      <p:sp>
        <p:nvSpPr>
          <p:cNvPr id="28" name="TextBox 27"/>
          <p:cNvSpPr txBox="1"/>
          <p:nvPr/>
        </p:nvSpPr>
        <p:spPr>
          <a:xfrm>
            <a:off x="9015755" y="2929128"/>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QUESTION 4</a:t>
            </a:r>
          </a:p>
        </p:txBody>
      </p:sp>
      <p:sp>
        <p:nvSpPr>
          <p:cNvPr id="29" name="Oval 28"/>
          <p:cNvSpPr/>
          <p:nvPr/>
        </p:nvSpPr>
        <p:spPr>
          <a:xfrm>
            <a:off x="10237965" y="3404616"/>
            <a:ext cx="201168" cy="201168"/>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9015755" y="3816096"/>
            <a:ext cx="2645587" cy="1249680"/>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9180347" y="3962400"/>
            <a:ext cx="2316403" cy="251205"/>
          </a:xfrm>
          <a:prstGeom prst="rect">
            <a:avLst/>
          </a:prstGeom>
          <a:noFill/>
        </p:spPr>
        <p:txBody>
          <a:bodyPr wrap="square" anchor="t" lIns="0" rIns="0" tIns="0" bIns="0">
            <a:spAutoFit/>
          </a:bodyPr>
          <a:lstStyle/>
          <a:p>
            <a:pPr algn="l"/>
            <a:r>
              <a:rPr sz="1300" b="1" i="0">
                <a:solidFill>
                  <a:srgbClr val="FFFFFF"/>
                </a:solidFill>
                <a:latin typeface="Calibri"/>
              </a:rPr>
              <a:t>The vendor</a:t>
            </a:r>
          </a:p>
        </p:txBody>
      </p:sp>
      <p:sp>
        <p:nvSpPr>
          <p:cNvPr id="32" name="TextBox 31"/>
          <p:cNvSpPr txBox="1"/>
          <p:nvPr/>
        </p:nvSpPr>
        <p:spPr>
          <a:xfrm>
            <a:off x="9180347" y="4250182"/>
            <a:ext cx="2316403" cy="531876"/>
          </a:xfrm>
          <a:prstGeom prst="rect">
            <a:avLst/>
          </a:prstGeom>
          <a:noFill/>
        </p:spPr>
        <p:txBody>
          <a:bodyPr wrap="square" anchor="t" lIns="0" rIns="0" tIns="0" bIns="0">
            <a:spAutoFit/>
          </a:bodyPr>
          <a:lstStyle/>
          <a:p>
            <a:pPr algn="l"/>
            <a:r>
              <a:rPr sz="1000" b="0" i="0">
                <a:solidFill>
                  <a:srgbClr val="CFC9EE"/>
                </a:solidFill>
                <a:latin typeface="Calibri"/>
              </a:rPr>
              <a:t>What does near-perfect fit on training weeks say about forecast accuracy?</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35" name="Oval 34"/>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37" name="Oval 36"/>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39" name="Oval 38"/>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41" name="Oval 40"/>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14 / 35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Hold out at least as many weeks as the horizon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weeks does a planner hide, and why those weeks?</a:t>
            </a:r>
          </a:p>
        </p:txBody>
      </p:sp>
      <p:sp>
        <p:nvSpPr>
          <p:cNvPr id="9" name="Rounded Rectangle 8"/>
          <p:cNvSpPr/>
          <p:nvPr/>
        </p:nvSpPr>
        <p:spPr>
          <a:xfrm>
            <a:off x="53035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_52de2a000930.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HORIZON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Eight festive weeks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2026 festive window the planner must book, Mon 12 Oct to Mon 30 Nov.</a:t>
            </a:r>
          </a:p>
        </p:txBody>
      </p:sp>
      <p:sp>
        <p:nvSpPr>
          <p:cNvPr id="15" name="Rounded Rectangle 14"/>
          <p:cNvSpPr/>
          <p:nvPr/>
        </p:nvSpPr>
        <p:spPr>
          <a:xfrm>
            <a:off x="4301642" y="1956816"/>
            <a:ext cx="3588410"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eye-off_659cbed618bb.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THE HOLD-OUT</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Thirteen weeks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Mon 29 Jun to Mon 21 Sep 2026, hidden from every method.</a:t>
            </a:r>
          </a:p>
        </p:txBody>
      </p:sp>
      <p:sp>
        <p:nvSpPr>
          <p:cNvPr id="21" name="Rounded Rectangle 20"/>
          <p:cNvSpPr/>
          <p:nvPr/>
        </p:nvSpPr>
        <p:spPr>
          <a:xfrm>
            <a:off x="8072932" y="1956816"/>
            <a:ext cx="3588410"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alert_cbcafc1efeef.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D9A7FF"/>
                </a:solidFill>
                <a:latin typeface="Calibri"/>
              </a:rPr>
              <a:t>THE RULE</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FFFFFF"/>
                </a:solidFill>
                <a:latin typeface="Calibri"/>
              </a:rPr>
              <a:t>Hold out &gt;= horizon</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CFC9EE"/>
                </a:solidFill>
                <a:latin typeface="Calibri"/>
              </a:rPr>
              <a:t>A shorter test than the horizon rewards a method that was lucky on the week after training.</a:t>
            </a:r>
          </a:p>
        </p:txBody>
      </p:sp>
      <p:sp>
        <p:nvSpPr>
          <p:cNvPr id="27" name="TextBox 26"/>
          <p:cNvSpPr txBox="1"/>
          <p:nvPr/>
        </p:nvSpPr>
        <p:spPr>
          <a:xfrm>
            <a:off x="530352" y="4294124"/>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spine's "22 June to 21 September 2026" counts 14 Mondays; this day's generator uses the 13 Mondays ending Mon 21 Sep 2026, beginning Mon 29 Jun 2026.</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30" name="Oval 29"/>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32" name="Oval 31"/>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34" name="Oval 33"/>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36" name="Oval 35"/>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38" name="TextBox 3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15 / 35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MAE: mean absolute error, in the business's unit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score forecasts in shipments rather than in percentages?</a:t>
            </a:r>
          </a:p>
        </p:txBody>
      </p:sp>
      <p:graphicFrame>
        <p:nvGraphicFramePr>
          <p:cNvPr id="9" name="Table 8"/>
          <p:cNvGraphicFramePr>
            <a:graphicFrameLocks noGrp="1"/>
          </p:cNvGraphicFramePr>
          <p:nvPr/>
        </p:nvGraphicFramePr>
        <p:xfrm>
          <a:off x="530352" y="1956816"/>
          <a:ext cx="11130990" cy="1109472"/>
        </p:xfrm>
        <a:graphic>
          <a:graphicData uri="http://schemas.openxmlformats.org/drawingml/2006/table">
            <a:tbl>
              <a:tblPr firstRow="0" bandRow="0">
                <a:tableStyleId>{2D5ABB26-0587-4C30-8999-92F81FD0307C}</a:tableStyleId>
              </a:tblPr>
              <a:tblGrid>
                <a:gridCol w="4909645"/>
                <a:gridCol w="2250294"/>
                <a:gridCol w="3971051"/>
              </a:tblGrid>
              <a:tr h="369824">
                <a:tc>
                  <a:txBody>
                    <a:bodyPr/>
                    <a:lstStyle/>
                    <a:p>
                      <a:r>
                        <a:rPr sz="1450" b="1" i="0">
                          <a:solidFill>
                            <a:srgbClr val="FFFFFF"/>
                          </a:solidFill>
                          <a:latin typeface="Calibri"/>
                        </a:rPr>
                        <a:t>Toy</a:t>
                      </a:r>
                    </a:p>
                  </a:txBody>
                  <a:tcPr marL="101600" marR="101600" marT="38100" marB="38100" anchor="ctr">
                    <a:solidFill>
                      <a:srgbClr val="1A0F5C"/>
                    </a:solidFill>
                  </a:tcPr>
                </a:tc>
                <a:tc>
                  <a:txBody>
                    <a:bodyPr/>
                    <a:lstStyle/>
                    <a:p>
                      <a:r>
                        <a:rPr sz="1450" b="1" i="0">
                          <a:solidFill>
                            <a:srgbClr val="FFFFFF"/>
                          </a:solidFill>
                          <a:latin typeface="Calibri"/>
                        </a:rPr>
                        <a:t>Values</a:t>
                      </a:r>
                    </a:p>
                  </a:txBody>
                  <a:tcPr marL="101600" marR="101600" marT="38100" marB="38100" anchor="ctr">
                    <a:solidFill>
                      <a:srgbClr val="1A0F5C"/>
                    </a:solidFill>
                  </a:tcPr>
                </a:tc>
                <a:tc>
                  <a:txBody>
                    <a:bodyPr/>
                    <a:lstStyle/>
                    <a:p>
                      <a:r>
                        <a:rPr sz="1450" b="1" i="0">
                          <a:solidFill>
                            <a:srgbClr val="FFFFFF"/>
                          </a:solidFill>
                          <a:latin typeface="Calibri"/>
                        </a:rPr>
                        <a:t>MAE</a:t>
                      </a:r>
                    </a:p>
                  </a:txBody>
                  <a:tcPr marL="101600" marR="101600" marT="38100" marB="38100" anchor="ctr">
                    <a:solidFill>
                      <a:srgbClr val="1A0F5C"/>
                    </a:solidFill>
                  </a:tcPr>
                </a:tc>
              </a:tr>
              <a:tr h="369824">
                <a:tc>
                  <a:txBody>
                    <a:bodyPr/>
                    <a:lstStyle/>
                    <a:p>
                      <a:r>
                        <a:rPr sz="1400" b="0" i="0">
                          <a:solidFill>
                            <a:srgbClr val="1A1440"/>
                          </a:solidFill>
                          <a:latin typeface="Calibri"/>
                        </a:rPr>
                        <a:t>Three held-out weeks' errors</a:t>
                      </a:r>
                    </a:p>
                  </a:txBody>
                  <a:tcPr marL="101600" marR="101600" marT="38100" marB="38100" anchor="ctr">
                    <a:solidFill>
                      <a:srgbClr val="FFFFFF"/>
                    </a:solidFill>
                  </a:tcPr>
                </a:tc>
                <a:tc>
                  <a:txBody>
                    <a:bodyPr/>
                    <a:lstStyle/>
                    <a:p>
                      <a:r>
                        <a:rPr sz="1400" b="0" i="0">
                          <a:solidFill>
                            <a:srgbClr val="1A1440"/>
                          </a:solidFill>
                          <a:latin typeface="Calibri"/>
                        </a:rPr>
                        <a:t>10, 5, 10</a:t>
                      </a:r>
                    </a:p>
                  </a:txBody>
                  <a:tcPr marL="101600" marR="101600" marT="38100" marB="38100" anchor="ctr">
                    <a:solidFill>
                      <a:srgbClr val="FFFFFF"/>
                    </a:solidFill>
                  </a:tcPr>
                </a:tc>
                <a:tc>
                  <a:txBody>
                    <a:bodyPr/>
                    <a:lstStyle/>
                    <a:p>
                      <a:r>
                        <a:rPr sz="1400" b="0" i="0">
                          <a:solidFill>
                            <a:srgbClr val="1A1440"/>
                          </a:solidFill>
                          <a:latin typeface="Calibri"/>
                        </a:rPr>
                        <a:t>(10 + 5 + 10) / 3 = 8.3</a:t>
                      </a:r>
                    </a:p>
                  </a:txBody>
                  <a:tcPr marL="101600" marR="101600" marT="38100" marB="38100" anchor="ctr">
                    <a:solidFill>
                      <a:srgbClr val="FFFFFF"/>
                    </a:solidFill>
                  </a:tcPr>
                </a:tc>
              </a:tr>
              <a:tr h="369824">
                <a:tc>
                  <a:txBody>
                    <a:bodyPr/>
                    <a:lstStyle/>
                    <a:p>
                      <a:r>
                        <a:rPr sz="1400" b="0" i="0">
                          <a:solidFill>
                            <a:srgbClr val="1A1440"/>
                          </a:solidFill>
                          <a:latin typeface="Calibri"/>
                        </a:rPr>
                        <a:t>Signed errors (plus or minus)</a:t>
                      </a:r>
                    </a:p>
                  </a:txBody>
                  <a:tcPr marL="101600" marR="101600" marT="38100" marB="38100" anchor="ctr">
                    <a:solidFill>
                      <a:srgbClr val="F4F2FA"/>
                    </a:solidFill>
                  </a:tcPr>
                </a:tc>
                <a:tc>
                  <a:txBody>
                    <a:bodyPr/>
                    <a:lstStyle/>
                    <a:p>
                      <a:r>
                        <a:rPr sz="1400" b="0" i="0">
                          <a:solidFill>
                            <a:srgbClr val="1A1440"/>
                          </a:solidFill>
                          <a:latin typeface="Calibri"/>
                        </a:rPr>
                        <a:t>+10, -5, +10</a:t>
                      </a:r>
                    </a:p>
                  </a:txBody>
                  <a:tcPr marL="101600" marR="101600" marT="38100" marB="38100" anchor="ctr">
                    <a:solidFill>
                      <a:srgbClr val="F4F2FA"/>
                    </a:solidFill>
                  </a:tcPr>
                </a:tc>
                <a:tc>
                  <a:txBody>
                    <a:bodyPr/>
                    <a:lstStyle/>
                    <a:p>
                      <a:r>
                        <a:rPr sz="1400" b="0" i="0">
                          <a:solidFill>
                            <a:srgbClr val="1A1440"/>
                          </a:solidFill>
                          <a:latin typeface="Calibri"/>
                        </a:rPr>
                        <a:t>the sign is kept for L3</a:t>
                      </a:r>
                    </a:p>
                  </a:txBody>
                  <a:tcPr marL="101600" marR="101600" marT="38100" marB="38100" anchor="ctr">
                    <a:solidFill>
                      <a:srgbClr val="F4F2FA"/>
                    </a:solidFill>
                  </a:tcPr>
                </a:tc>
              </a:tr>
            </a:tbl>
          </a:graphicData>
        </a:graphic>
      </p:graphicFrame>
      <p:sp>
        <p:nvSpPr>
          <p:cNvPr id="10" name="TextBox 9"/>
          <p:cNvSpPr txBox="1"/>
          <p:nvPr/>
        </p:nvSpPr>
        <p:spPr>
          <a:xfrm>
            <a:off x="530352" y="3322320"/>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Rupees come later from the MAE, through the two unit costs: an idle packer-shift costs about Rs 5.42 per over-forecast shipment, a late shipment costs Rs 25 per under-forecast shipment, so a one-shipment miss is not always worth the same.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3" name="Oval 12"/>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15" name="Oval 1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7" name="Oval 1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9" name="Oval 18"/>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35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Vendor fits training within 2 percent, misses hold-out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well does the vendor's model match the past, and does that tell us how well it will forecast the future?</a:t>
            </a:r>
          </a:p>
        </p:txBody>
      </p:sp>
      <p:pic>
        <p:nvPicPr>
          <p:cNvPr id="9" name="mermaid diagram" descr="C2_W04_D05_fit_vs_forecast_STUDENT.png"/>
          <p:cNvPicPr>
            <a:picLocks noChangeAspect="1"/>
          </p:cNvPicPr>
          <p:nvPr/>
        </p:nvPicPr>
        <p:blipFill>
          <a:blip r:embed="rId4"/>
          <a:stretch>
            <a:fillRect/>
          </a:stretch>
        </p:blipFill>
        <p:spPr>
          <a:xfrm>
            <a:off x="1535440" y="1664208"/>
            <a:ext cx="912081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Vendor's fit vs its forecast</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On the 91 training weeks the vendor's fitted values sit within 2 percent of the actual every week; on the thirteen hold-out weeks the vendor's MAE is about 16,985, roughly 200 percent above the festival-aligned baseline's.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4" name="Oval 13"/>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35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baseline lands lowest MAE?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the scoreboard runs, which of naive, drift, same-week-last-year or festival-aligned will score best on weeks without a festival?</a:t>
            </a:r>
          </a:p>
        </p:txBody>
      </p:sp>
      <p:sp>
        <p:nvSpPr>
          <p:cNvPr id="9" name="Rectangle 8"/>
          <p:cNvSpPr/>
          <p:nvPr/>
        </p:nvSpPr>
        <p:spPr>
          <a:xfrm>
            <a:off x="1853145" y="2523744"/>
            <a:ext cx="84854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VOTE A</a:t>
            </a:r>
          </a:p>
        </p:txBody>
      </p:sp>
      <p:sp>
        <p:nvSpPr>
          <p:cNvPr id="11" name="Oval 10"/>
          <p:cNvSpPr/>
          <p:nvPr/>
        </p:nvSpPr>
        <p:spPr>
          <a:xfrm>
            <a:off x="1752561"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Naive</a:t>
            </a:r>
          </a:p>
        </p:txBody>
      </p:sp>
      <p:sp>
        <p:nvSpPr>
          <p:cNvPr id="14" name="TextBox 13"/>
          <p:cNvSpPr txBox="1"/>
          <p:nvPr/>
        </p:nvSpPr>
        <p:spPr>
          <a:xfrm>
            <a:off x="694944"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Last week carries forward.</a:t>
            </a:r>
          </a:p>
        </p:txBody>
      </p:sp>
      <p:sp>
        <p:nvSpPr>
          <p:cNvPr id="15" name="TextBox 14"/>
          <p:cNvSpPr txBox="1"/>
          <p:nvPr/>
        </p:nvSpPr>
        <p:spPr>
          <a:xfrm>
            <a:off x="3358819"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VOTE B</a:t>
            </a:r>
          </a:p>
        </p:txBody>
      </p:sp>
      <p:sp>
        <p:nvSpPr>
          <p:cNvPr id="16" name="Oval 15"/>
          <p:cNvSpPr/>
          <p:nvPr/>
        </p:nvSpPr>
        <p:spPr>
          <a:xfrm>
            <a:off x="458102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3358819"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523411"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Drift</a:t>
            </a:r>
          </a:p>
        </p:txBody>
      </p:sp>
      <p:sp>
        <p:nvSpPr>
          <p:cNvPr id="19" name="TextBox 18"/>
          <p:cNvSpPr txBox="1"/>
          <p:nvPr/>
        </p:nvSpPr>
        <p:spPr>
          <a:xfrm>
            <a:off x="3523411"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Last week + the series' average weekly change.</a:t>
            </a:r>
          </a:p>
        </p:txBody>
      </p:sp>
      <p:sp>
        <p:nvSpPr>
          <p:cNvPr id="20" name="TextBox 19"/>
          <p:cNvSpPr txBox="1"/>
          <p:nvPr/>
        </p:nvSpPr>
        <p:spPr>
          <a:xfrm>
            <a:off x="6187287"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VOTE C</a:t>
            </a:r>
          </a:p>
        </p:txBody>
      </p:sp>
      <p:sp>
        <p:nvSpPr>
          <p:cNvPr id="21" name="Oval 20"/>
          <p:cNvSpPr/>
          <p:nvPr/>
        </p:nvSpPr>
        <p:spPr>
          <a:xfrm>
            <a:off x="740949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6187287"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351879"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Same-week-last-year</a:t>
            </a:r>
          </a:p>
        </p:txBody>
      </p:sp>
      <p:sp>
        <p:nvSpPr>
          <p:cNvPr id="24" name="TextBox 23"/>
          <p:cNvSpPr txBox="1"/>
          <p:nvPr/>
        </p:nvSpPr>
        <p:spPr>
          <a:xfrm>
            <a:off x="6351879" y="3277870"/>
            <a:ext cx="2316403" cy="201676"/>
          </a:xfrm>
          <a:prstGeom prst="rect">
            <a:avLst/>
          </a:prstGeom>
          <a:noFill/>
        </p:spPr>
        <p:txBody>
          <a:bodyPr wrap="square" anchor="t" lIns="0" rIns="0" tIns="0" bIns="0">
            <a:spAutoFit/>
          </a:bodyPr>
          <a:lstStyle/>
          <a:p>
            <a:pPr algn="l"/>
            <a:r>
              <a:rPr sz="1000" b="0" i="0">
                <a:solidFill>
                  <a:srgbClr val="6B6690"/>
                </a:solidFill>
                <a:latin typeface="Calibri"/>
              </a:rPr>
              <a:t>52 Mondays earlier.</a:t>
            </a:r>
          </a:p>
        </p:txBody>
      </p:sp>
      <p:sp>
        <p:nvSpPr>
          <p:cNvPr id="25" name="TextBox 24"/>
          <p:cNvSpPr txBox="1"/>
          <p:nvPr/>
        </p:nvSpPr>
        <p:spPr>
          <a:xfrm>
            <a:off x="9015755" y="1956816"/>
            <a:ext cx="2645587" cy="168656"/>
          </a:xfrm>
          <a:prstGeom prst="rect">
            <a:avLst/>
          </a:prstGeom>
          <a:noFill/>
        </p:spPr>
        <p:txBody>
          <a:bodyPr wrap="square" anchor="t" lIns="0" rIns="0" tIns="0" bIns="0">
            <a:spAutoFit/>
          </a:bodyPr>
          <a:lstStyle/>
          <a:p>
            <a:pPr algn="ctr"/>
            <a:r>
              <a:rPr sz="800" b="1" i="0" spc="250">
                <a:solidFill>
                  <a:srgbClr val="5B3FD6"/>
                </a:solidFill>
                <a:latin typeface="Calibri"/>
              </a:rPr>
              <a:t>VOTE D</a:t>
            </a:r>
          </a:p>
        </p:txBody>
      </p:sp>
      <p:sp>
        <p:nvSpPr>
          <p:cNvPr id="26" name="Oval 25"/>
          <p:cNvSpPr/>
          <p:nvPr/>
        </p:nvSpPr>
        <p:spPr>
          <a:xfrm>
            <a:off x="1023796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9015755" y="2843784"/>
            <a:ext cx="2645587" cy="107696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9180347" y="2990088"/>
            <a:ext cx="2316403" cy="251205"/>
          </a:xfrm>
          <a:prstGeom prst="rect">
            <a:avLst/>
          </a:prstGeom>
          <a:noFill/>
        </p:spPr>
        <p:txBody>
          <a:bodyPr wrap="square" anchor="t" lIns="0" rIns="0" tIns="0" bIns="0">
            <a:spAutoFit/>
          </a:bodyPr>
          <a:lstStyle/>
          <a:p>
            <a:pPr algn="l"/>
            <a:r>
              <a:rPr sz="1300" b="1" i="0">
                <a:solidFill>
                  <a:srgbClr val="1A0F5C"/>
                </a:solidFill>
                <a:latin typeface="Calibri"/>
              </a:rPr>
              <a:t>Festival-aligned with drift</a:t>
            </a:r>
          </a:p>
        </p:txBody>
      </p:sp>
      <p:sp>
        <p:nvSpPr>
          <p:cNvPr id="29" name="TextBox 28"/>
          <p:cNvSpPr txBox="1"/>
          <p:nvPr/>
        </p:nvSpPr>
        <p:spPr>
          <a:xfrm>
            <a:off x="9180347" y="3277870"/>
            <a:ext cx="2316403" cy="366776"/>
          </a:xfrm>
          <a:prstGeom prst="rect">
            <a:avLst/>
          </a:prstGeom>
          <a:noFill/>
        </p:spPr>
        <p:txBody>
          <a:bodyPr wrap="square" anchor="t" lIns="0" rIns="0" tIns="0" bIns="0">
            <a:spAutoFit/>
          </a:bodyPr>
          <a:lstStyle/>
          <a:p>
            <a:pPr algn="l"/>
            <a:r>
              <a:rPr sz="1000" b="0" i="0">
                <a:solidFill>
                  <a:srgbClr val="6B6690"/>
                </a:solidFill>
                <a:latin typeface="Calibri"/>
              </a:rPr>
              <a:t>Festival-aligned on festive weeks, SWLY elsewhere.</a:t>
            </a:r>
          </a:p>
        </p:txBody>
      </p:sp>
      <p:sp>
        <p:nvSpPr>
          <p:cNvPr id="30" name="Oval 2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32" name="Oval 3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34" name="Oval 3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TextBox 3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36" name="Oval 3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38" name="Oval 3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TextBox 3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40" name="TextBox 3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35</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scoreboard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method missed by how much on the hold-out?</a:t>
            </a:r>
          </a:p>
        </p:txBody>
      </p:sp>
      <p:pic>
        <p:nvPicPr>
          <p:cNvPr id="9" name="mermaid diagram" descr="C2_W04_D05_scoreboard_STUDENT.png"/>
          <p:cNvPicPr>
            <a:picLocks noChangeAspect="1"/>
          </p:cNvPicPr>
          <p:nvPr/>
        </p:nvPicPr>
        <p:blipFill>
          <a:blip r:embed="rId4"/>
          <a:stretch>
            <a:fillRect/>
          </a:stretch>
        </p:blipFill>
        <p:spPr>
          <a:xfrm>
            <a:off x="3212813" y="1664208"/>
            <a:ext cx="5766067" cy="3630168"/>
          </a:xfrm>
          <a:prstGeom prst="rect">
            <a:avLst/>
          </a:prstGeom>
        </p:spPr>
      </p:pic>
      <p:sp>
        <p:nvSpPr>
          <p:cNvPr id="10" name="picture caption"/>
          <p:cNvSpPr txBox="1"/>
          <p:nvPr/>
        </p:nvSpPr>
        <p:spPr>
          <a:xfrm>
            <a:off x="530352" y="5330952"/>
            <a:ext cx="11130991" cy="316992"/>
          </a:xfrm>
          <a:prstGeom prst="rect">
            <a:avLst/>
          </a:prstGeom>
          <a:noFill/>
        </p:spPr>
        <p:txBody>
          <a:bodyPr wrap="square" anchor="t" lIns="0" rIns="0" tIns="0" bIns="0">
            <a:spAutoFit/>
          </a:bodyPr>
          <a:lstStyle/>
          <a:p>
            <a:pPr algn="ctr"/>
            <a:r>
              <a:rPr sz="1200" b="0" i="0">
                <a:solidFill>
                  <a:srgbClr val="6B6690"/>
                </a:solidFill>
                <a:latin typeface="Calibri"/>
              </a:rPr>
              <a:t>The scoreboard: MAE per method</a:t>
            </a:r>
          </a:p>
        </p:txBody>
      </p:sp>
      <p:sp>
        <p:nvSpPr>
          <p:cNvPr id="11" name="TextBox 10"/>
          <p:cNvSpPr txBox="1"/>
          <p:nvPr/>
        </p:nvSpPr>
        <p:spPr>
          <a:xfrm>
            <a:off x="530352" y="5657088"/>
            <a:ext cx="11130991" cy="542544"/>
          </a:xfrm>
          <a:prstGeom prst="rect">
            <a:avLst/>
          </a:prstGeom>
          <a:noFill/>
        </p:spPr>
        <p:txBody>
          <a:bodyPr wrap="square" anchor="t" lIns="0" rIns="0" tIns="0" bIns="0">
            <a:spAutoFit/>
          </a:bodyPr>
          <a:lstStyle/>
          <a:p>
            <a:r>
              <a:rPr sz="1200" b="0" i="0">
                <a:solidFill>
                  <a:srgbClr val="1A1440"/>
                </a:solidFill>
                <a:latin typeface="Calibri"/>
              </a:rPr>
              <a:t>Naive and drift sit on top at about 22,000; the vendor curve is three times worse than festival-aligned; finance's rule and festival-aligned tie near 5,700 because the hold-out holds no festival and finance's plus 4 corrects SWLY's growth gap.</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4" name="Oval 13"/>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35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vendor over-forecasts almost every hold-out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direction is each method wrong in, and does the direction matter?</a:t>
            </a:r>
          </a:p>
        </p:txBody>
      </p:sp>
      <p:graphicFrame>
        <p:nvGraphicFramePr>
          <p:cNvPr id="9" name="Table 8"/>
          <p:cNvGraphicFramePr>
            <a:graphicFrameLocks noGrp="1"/>
          </p:cNvGraphicFramePr>
          <p:nvPr/>
        </p:nvGraphicFramePr>
        <p:xfrm>
          <a:off x="530352" y="1956816"/>
          <a:ext cx="11130990" cy="1341120"/>
        </p:xfrm>
        <a:graphic>
          <a:graphicData uri="http://schemas.openxmlformats.org/drawingml/2006/table">
            <a:tbl>
              <a:tblPr firstRow="0" bandRow="0">
                <a:tableStyleId>{2D5ABB26-0587-4C30-8999-92F81FD0307C}</a:tableStyleId>
              </a:tblPr>
              <a:tblGrid>
                <a:gridCol w="2335622"/>
                <a:gridCol w="2580094"/>
                <a:gridCol w="2700185"/>
                <a:gridCol w="3515089"/>
              </a:tblGrid>
              <a:tr h="335280">
                <a:tc>
                  <a:txBody>
                    <a:bodyPr/>
                    <a:lstStyle/>
                    <a:p>
                      <a:r>
                        <a:rPr sz="1250" b="1" i="0">
                          <a:solidFill>
                            <a:srgbClr val="FFFFFF"/>
                          </a:solidFill>
                          <a:latin typeface="Calibri"/>
                        </a:rPr>
                        <a:t>Method</a:t>
                      </a:r>
                    </a:p>
                  </a:txBody>
                  <a:tcPr marL="101600" marR="101600" marT="38100" marB="38100" anchor="ctr">
                    <a:solidFill>
                      <a:srgbClr val="1A0F5C"/>
                    </a:solidFill>
                  </a:tcPr>
                </a:tc>
                <a:tc>
                  <a:txBody>
                    <a:bodyPr/>
                    <a:lstStyle/>
                    <a:p>
                      <a:r>
                        <a:rPr sz="1250" b="1" i="0">
                          <a:solidFill>
                            <a:srgbClr val="FFFFFF"/>
                          </a:solidFill>
                          <a:latin typeface="Calibri"/>
                        </a:rPr>
                        <a:t>Over-forecast weeks</a:t>
                      </a:r>
                    </a:p>
                  </a:txBody>
                  <a:tcPr marL="101600" marR="101600" marT="38100" marB="38100" anchor="ctr">
                    <a:solidFill>
                      <a:srgbClr val="1A0F5C"/>
                    </a:solidFill>
                  </a:tcPr>
                </a:tc>
                <a:tc>
                  <a:txBody>
                    <a:bodyPr/>
                    <a:lstStyle/>
                    <a:p>
                      <a:r>
                        <a:rPr sz="1250" b="1" i="0">
                          <a:solidFill>
                            <a:srgbClr val="FFFFFF"/>
                          </a:solidFill>
                          <a:latin typeface="Calibri"/>
                        </a:rPr>
                        <a:t>Under-forecast weeks</a:t>
                      </a:r>
                    </a:p>
                  </a:txBody>
                  <a:tcPr marL="101600" marR="101600" marT="38100" marB="38100" anchor="ctr">
                    <a:solidFill>
                      <a:srgbClr val="1A0F5C"/>
                    </a:solidFill>
                  </a:tcPr>
                </a:tc>
                <a:tc>
                  <a:txBody>
                    <a:bodyPr/>
                    <a:lstStyle/>
                    <a:p>
                      <a:r>
                        <a:rPr sz="1250" b="1" i="0">
                          <a:solidFill>
                            <a:srgbClr val="FFFFFF"/>
                          </a:solidFill>
                          <a:latin typeface="Calibri"/>
                        </a:rPr>
                        <a:t>Average direction</a:t>
                      </a:r>
                    </a:p>
                  </a:txBody>
                  <a:tcPr marL="101600" marR="101600" marT="38100" marB="38100" anchor="ctr">
                    <a:solidFill>
                      <a:srgbClr val="1A0F5C"/>
                    </a:solidFill>
                  </a:tcPr>
                </a:tc>
              </a:tr>
              <a:tr h="335280">
                <a:tc>
                  <a:txBody>
                    <a:bodyPr/>
                    <a:lstStyle/>
                    <a:p>
                      <a:r>
                        <a:rPr sz="1200" b="0" i="0">
                          <a:solidFill>
                            <a:srgbClr val="1A1440"/>
                          </a:solidFill>
                          <a:latin typeface="Calibri"/>
                        </a:rPr>
                        <a:t>Naive</a:t>
                      </a:r>
                    </a:p>
                  </a:txBody>
                  <a:tcPr marL="101600" marR="101600" marT="38100" marB="38100" anchor="ctr">
                    <a:solidFill>
                      <a:srgbClr val="FFFFFF"/>
                    </a:solidFill>
                  </a:tcPr>
                </a:tc>
                <a:tc>
                  <a:txBody>
                    <a:bodyPr/>
                    <a:lstStyle/>
                    <a:p>
                      <a:r>
                        <a:rPr sz="1200" b="0" i="0">
                          <a:solidFill>
                            <a:srgbClr val="1A1440"/>
                          </a:solidFill>
                          <a:latin typeface="Calibri"/>
                        </a:rPr>
                        <a:t>7 of 13</a:t>
                      </a:r>
                    </a:p>
                  </a:txBody>
                  <a:tcPr marL="101600" marR="101600" marT="38100" marB="38100" anchor="ctr">
                    <a:solidFill>
                      <a:srgbClr val="FFFFFF"/>
                    </a:solidFill>
                  </a:tcPr>
                </a:tc>
                <a:tc>
                  <a:txBody>
                    <a:bodyPr/>
                    <a:lstStyle/>
                    <a:p>
                      <a:r>
                        <a:rPr sz="1200" b="0" i="0">
                          <a:solidFill>
                            <a:srgbClr val="1A1440"/>
                          </a:solidFill>
                          <a:latin typeface="Calibri"/>
                        </a:rPr>
                        <a:t>6 of 13</a:t>
                      </a:r>
                    </a:p>
                  </a:txBody>
                  <a:tcPr marL="101600" marR="101600" marT="38100" marB="38100" anchor="ctr">
                    <a:solidFill>
                      <a:srgbClr val="FFFFFF"/>
                    </a:solidFill>
                  </a:tcPr>
                </a:tc>
                <a:tc>
                  <a:txBody>
                    <a:bodyPr/>
                    <a:lstStyle/>
                    <a:p>
                      <a:r>
                        <a:rPr sz="1200" b="0" i="0">
                          <a:solidFill>
                            <a:srgbClr val="1A1440"/>
                          </a:solidFill>
                          <a:latin typeface="Calibri"/>
                        </a:rPr>
                        <a:t>roughly balanced</a:t>
                      </a:r>
                    </a:p>
                  </a:txBody>
                  <a:tcPr marL="101600" marR="101600" marT="38100" marB="38100" anchor="ctr">
                    <a:solidFill>
                      <a:srgbClr val="FFFFFF"/>
                    </a:solidFill>
                  </a:tcPr>
                </a:tc>
              </a:tr>
              <a:tr h="335280">
                <a:tc>
                  <a:txBody>
                    <a:bodyPr/>
                    <a:lstStyle/>
                    <a:p>
                      <a:r>
                        <a:rPr sz="1200" b="0" i="0">
                          <a:solidFill>
                            <a:srgbClr val="1A1440"/>
                          </a:solidFill>
                          <a:latin typeface="Calibri"/>
                        </a:rPr>
                        <a:t>Same-week-last-year</a:t>
                      </a:r>
                    </a:p>
                  </a:txBody>
                  <a:tcPr marL="101600" marR="101600" marT="38100" marB="38100" anchor="ctr">
                    <a:solidFill>
                      <a:srgbClr val="F4F2FA"/>
                    </a:solidFill>
                  </a:tcPr>
                </a:tc>
                <a:tc>
                  <a:txBody>
                    <a:bodyPr/>
                    <a:lstStyle/>
                    <a:p>
                      <a:r>
                        <a:rPr sz="1200" b="0" i="0">
                          <a:solidFill>
                            <a:srgbClr val="1A1440"/>
                          </a:solidFill>
                          <a:latin typeface="Calibri"/>
                        </a:rPr>
                        <a:t>11 of 13</a:t>
                      </a:r>
                    </a:p>
                  </a:txBody>
                  <a:tcPr marL="101600" marR="101600" marT="38100" marB="38100" anchor="ctr">
                    <a:solidFill>
                      <a:srgbClr val="F4F2FA"/>
                    </a:solidFill>
                  </a:tcPr>
                </a:tc>
                <a:tc>
                  <a:txBody>
                    <a:bodyPr/>
                    <a:lstStyle/>
                    <a:p>
                      <a:r>
                        <a:rPr sz="1200" b="0" i="0">
                          <a:solidFill>
                            <a:srgbClr val="1A1440"/>
                          </a:solidFill>
                          <a:latin typeface="Calibri"/>
                        </a:rPr>
                        <a:t>2 of 13</a:t>
                      </a:r>
                    </a:p>
                  </a:txBody>
                  <a:tcPr marL="101600" marR="101600" marT="38100" marB="38100" anchor="ctr">
                    <a:solidFill>
                      <a:srgbClr val="F4F2FA"/>
                    </a:solidFill>
                  </a:tcPr>
                </a:tc>
                <a:tc>
                  <a:txBody>
                    <a:bodyPr/>
                    <a:lstStyle/>
                    <a:p>
                      <a:r>
                        <a:rPr sz="1200" b="0" i="0">
                          <a:solidFill>
                            <a:srgbClr val="1A1440"/>
                          </a:solidFill>
                          <a:latin typeface="Calibri"/>
                        </a:rPr>
                        <a:t>over, because of 4% growth</a:t>
                      </a:r>
                    </a:p>
                  </a:txBody>
                  <a:tcPr marL="101600" marR="101600" marT="38100" marB="38100" anchor="ctr">
                    <a:solidFill>
                      <a:srgbClr val="F4F2FA"/>
                    </a:solidFill>
                  </a:tcPr>
                </a:tc>
              </a:tr>
              <a:tr h="335280">
                <a:tc>
                  <a:txBody>
                    <a:bodyPr/>
                    <a:lstStyle/>
                    <a:p>
                      <a:r>
                        <a:rPr sz="1200" b="0" i="0">
                          <a:solidFill>
                            <a:srgbClr val="1A1440"/>
                          </a:solidFill>
                          <a:latin typeface="Calibri"/>
                        </a:rPr>
                        <a:t>Vendor</a:t>
                      </a:r>
                    </a:p>
                  </a:txBody>
                  <a:tcPr marL="101600" marR="101600" marT="38100" marB="38100" anchor="ctr">
                    <a:solidFill>
                      <a:srgbClr val="FFFFFF"/>
                    </a:solidFill>
                  </a:tcPr>
                </a:tc>
                <a:tc>
                  <a:txBody>
                    <a:bodyPr/>
                    <a:lstStyle/>
                    <a:p>
                      <a:r>
                        <a:rPr sz="1200" b="0" i="0">
                          <a:solidFill>
                            <a:srgbClr val="1A1440"/>
                          </a:solidFill>
                          <a:latin typeface="Calibri"/>
                        </a:rPr>
                        <a:t>13 of 13</a:t>
                      </a:r>
                    </a:p>
                  </a:txBody>
                  <a:tcPr marL="101600" marR="101600" marT="38100" marB="38100" anchor="ctr">
                    <a:solidFill>
                      <a:srgbClr val="FFFFFF"/>
                    </a:solidFill>
                  </a:tcPr>
                </a:tc>
                <a:tc>
                  <a:txBody>
                    <a:bodyPr/>
                    <a:lstStyle/>
                    <a:p>
                      <a:r>
                        <a:rPr sz="1200" b="0" i="0">
                          <a:solidFill>
                            <a:srgbClr val="1A1440"/>
                          </a:solidFill>
                          <a:latin typeface="Calibri"/>
                        </a:rPr>
                        <a:t>0</a:t>
                      </a:r>
                    </a:p>
                  </a:txBody>
                  <a:tcPr marL="101600" marR="101600" marT="38100" marB="38100" anchor="ctr">
                    <a:solidFill>
                      <a:srgbClr val="FFFFFF"/>
                    </a:solidFill>
                  </a:tcPr>
                </a:tc>
                <a:tc>
                  <a:txBody>
                    <a:bodyPr/>
                    <a:lstStyle/>
                    <a:p>
                      <a:r>
                        <a:rPr sz="1200" b="0" i="0">
                          <a:solidFill>
                            <a:srgbClr val="1A1440"/>
                          </a:solidFill>
                          <a:latin typeface="Calibri"/>
                        </a:rPr>
                        <a:t>over, by 10 percent on average</a:t>
                      </a:r>
                    </a:p>
                  </a:txBody>
                  <a:tcPr marL="101600" marR="101600" marT="38100" marB="38100" anchor="ctr">
                    <a:solidFill>
                      <a:srgbClr val="FFFFFF"/>
                    </a:solidFill>
                  </a:tcPr>
                </a:tc>
              </a:tr>
            </a:tbl>
          </a:graphicData>
        </a:graphic>
      </p:graphicFrame>
      <p:sp>
        <p:nvSpPr>
          <p:cNvPr id="10" name="TextBox 9"/>
          <p:cNvSpPr txBox="1"/>
          <p:nvPr/>
        </p:nvSpPr>
        <p:spPr>
          <a:xfrm>
            <a:off x="530352" y="35539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An MAE of 17,000 is not one number: 13 over-forecasts in a row costs idle packer-shifts, and 13 under-forecasts in a row costs late shipments. The two cost different amounts, which L5 settles.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3" name="Oval 12"/>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15" name="Oval 1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7" name="Oval 1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9" name="Oval 18"/>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35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lesson: fit is not forecast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earned, and what does it not yet answer?</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Fit on past weeks is a necessary condition for trust and never a sufficient one. The method that goes to the plan has to beat a naive baseline on weeks it has not seen, and the baseline for a seasonal business is same-week-last-year or its festival-aligned twin, not naive.</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1" i="0">
                <a:solidFill>
                  <a:srgbClr val="5B3FD6"/>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35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Pick the forecast, price the error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forecast earns the planner's trust, how wrong could it be, and what does being wrong cost in rupees?</a:t>
            </a:r>
          </a:p>
        </p:txBody>
      </p:sp>
      <p:sp>
        <p:nvSpPr>
          <p:cNvPr id="10" name="Rounded Rectangle 9"/>
          <p:cNvSpPr/>
          <p:nvPr/>
        </p:nvSpPr>
        <p:spPr>
          <a:xfrm>
            <a:off x="73151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104 weeks have?</a:t>
            </a:r>
          </a:p>
        </p:txBody>
      </p:sp>
      <p:sp>
        <p:nvSpPr>
          <p:cNvPr id="11" name="Rounded Rectangle 10"/>
          <p:cNvSpPr/>
          <p:nvPr/>
        </p:nvSpPr>
        <p:spPr>
          <a:xfrm>
            <a:off x="292479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Score each method on the hold-out</a:t>
            </a:r>
          </a:p>
        </p:txBody>
      </p:sp>
      <p:sp>
        <p:nvSpPr>
          <p:cNvPr id="12" name="Rounded Rectangle 11"/>
          <p:cNvSpPr/>
          <p:nvPr/>
        </p:nvSpPr>
        <p:spPr>
          <a:xfrm>
            <a:off x="5118079" y="5074920"/>
            <a:ext cx="20835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Pick the forecast, price the error</a:t>
            </a:r>
          </a:p>
        </p:txBody>
      </p:sp>
      <p:sp>
        <p:nvSpPr>
          <p:cNvPr id="13" name="Rounded Rectangle 12"/>
          <p:cNvSpPr/>
          <p:nvPr/>
        </p:nvSpPr>
        <p:spPr>
          <a:xfrm>
            <a:off x="731135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two years of weeks not tell us?</a:t>
            </a:r>
          </a:p>
        </p:txBody>
      </p:sp>
      <p:sp>
        <p:nvSpPr>
          <p:cNvPr id="14" name="Rounded Rectangle 13"/>
          <p:cNvSpPr/>
          <p:nvPr/>
        </p:nvSpPr>
        <p:spPr>
          <a:xfrm>
            <a:off x="950463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Turn the forecast into packer shifts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22 / 35</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2026 festive window, eight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eight weeks does the planner have to book packer shifts for?</a:t>
            </a:r>
          </a:p>
        </p:txBody>
      </p:sp>
      <p:pic>
        <p:nvPicPr>
          <p:cNvPr id="9" name="mermaid diagram" descr="C2_W04_D05_festival_calendar_STUDENT.png"/>
          <p:cNvPicPr>
            <a:picLocks noChangeAspect="1"/>
          </p:cNvPicPr>
          <p:nvPr/>
        </p:nvPicPr>
        <p:blipFill>
          <a:blip r:embed="rId4"/>
          <a:stretch>
            <a:fillRect/>
          </a:stretch>
        </p:blipFill>
        <p:spPr>
          <a:xfrm>
            <a:off x="530352" y="1856622"/>
            <a:ext cx="11130991" cy="2657075"/>
          </a:xfrm>
          <a:prstGeom prst="rect">
            <a:avLst/>
          </a:prstGeom>
        </p:spPr>
      </p:pic>
      <p:sp>
        <p:nvSpPr>
          <p:cNvPr id="10" name="picture caption"/>
          <p:cNvSpPr txBox="1"/>
          <p:nvPr/>
        </p:nvSpPr>
        <p:spPr>
          <a:xfrm>
            <a:off x="530352" y="4550273"/>
            <a:ext cx="11130991" cy="316992"/>
          </a:xfrm>
          <a:prstGeom prst="rect">
            <a:avLst/>
          </a:prstGeom>
          <a:noFill/>
        </p:spPr>
        <p:txBody>
          <a:bodyPr wrap="square" anchor="t" lIns="0" rIns="0" tIns="0" bIns="0">
            <a:spAutoFit/>
          </a:bodyPr>
          <a:lstStyle/>
          <a:p>
            <a:pPr algn="ctr"/>
            <a:r>
              <a:rPr sz="1200" b="0" i="0">
                <a:solidFill>
                  <a:srgbClr val="6B6690"/>
                </a:solidFill>
                <a:latin typeface="Calibri"/>
              </a:rPr>
              <a:t>Festival calendar</a:t>
            </a:r>
          </a:p>
        </p:txBody>
      </p:sp>
      <p:sp>
        <p:nvSpPr>
          <p:cNvPr id="11" name="TextBox 10"/>
          <p:cNvSpPr txBox="1"/>
          <p:nvPr/>
        </p:nvSpPr>
        <p:spPr>
          <a:xfrm>
            <a:off x="530352" y="4976993"/>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Diwali 2024 fell on Mon 28 Oct; Diwali 2025 on Mon 20 Oct; Diwali 2026 falls on Sun 8 Nov, so the Diwali week begins Mon 2 Nov 2026. The 2026 festive window is Mon 12 Oct to Mon 30 Nov, eight weeks that include the ramp-up and the week after.</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23 / 35</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Four forecasts for the eight festive weeks of 2026</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 the vendor, SWLY, finance's rule and festival-aligned each say for each of the eight weeks?</a:t>
            </a:r>
          </a:p>
        </p:txBody>
      </p:sp>
      <p:pic>
        <p:nvPicPr>
          <p:cNvPr id="9" name="mermaid diagram" descr="C2_W04_D05_festive_window_forecasts_STUDENT.png"/>
          <p:cNvPicPr>
            <a:picLocks noChangeAspect="1"/>
          </p:cNvPicPr>
          <p:nvPr/>
        </p:nvPicPr>
        <p:blipFill>
          <a:blip r:embed="rId4"/>
          <a:stretch>
            <a:fillRect/>
          </a:stretch>
        </p:blipFill>
        <p:spPr>
          <a:xfrm>
            <a:off x="2004305" y="1664208"/>
            <a:ext cx="8183083"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Four forecasts for the festive window</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The vendor's forecast and finance's rule each copy the last year's calendar weeks onto this year's, so both put the biggest shipment two weeks before the real Diwali 2026 week. The festival-aligned forecast moves the shape so the peak lands two weeks before Mon 2 Nov 2026, where it actually belongs.</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24 / 35</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Predict: which 2026 week carries the biggest shipment?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the room could see only the actual shape, which week would carry the peak?</a:t>
            </a:r>
          </a:p>
        </p:txBody>
      </p:sp>
      <p:sp>
        <p:nvSpPr>
          <p:cNvPr id="9" name="Rounded Rectangle 8"/>
          <p:cNvSpPr/>
          <p:nvPr/>
        </p:nvSpPr>
        <p:spPr>
          <a:xfrm>
            <a:off x="530352"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endar-days_958795b4ee9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VOTE A</a:t>
            </a:r>
          </a:p>
        </p:txBody>
      </p:sp>
      <p:sp>
        <p:nvSpPr>
          <p:cNvPr id="13" name="TextBox 12"/>
          <p:cNvSpPr txBox="1"/>
          <p:nvPr/>
        </p:nvSpPr>
        <p:spPr>
          <a:xfrm>
            <a:off x="731519"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Mon 12 Oct 2026</a:t>
            </a:r>
          </a:p>
        </p:txBody>
      </p:sp>
      <p:sp>
        <p:nvSpPr>
          <p:cNvPr id="14" name="TextBox 13"/>
          <p:cNvSpPr txBox="1"/>
          <p:nvPr/>
        </p:nvSpPr>
        <p:spPr>
          <a:xfrm>
            <a:off x="731519"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Three weeks before Diwali, ratio 1.5 on the shape.</a:t>
            </a:r>
          </a:p>
        </p:txBody>
      </p:sp>
      <p:sp>
        <p:nvSpPr>
          <p:cNvPr id="15" name="Rounded Rectangle 14"/>
          <p:cNvSpPr/>
          <p:nvPr/>
        </p:nvSpPr>
        <p:spPr>
          <a:xfrm>
            <a:off x="3358819"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3559987"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alendar-days_958795b4ee92.png"/>
          <p:cNvPicPr>
            <a:picLocks noChangeAspect="1"/>
          </p:cNvPicPr>
          <p:nvPr/>
        </p:nvPicPr>
        <p:blipFill>
          <a:blip r:embed="rId4"/>
          <a:stretch>
            <a:fillRect/>
          </a:stretch>
        </p:blipFill>
        <p:spPr>
          <a:xfrm>
            <a:off x="3669715" y="2267712"/>
            <a:ext cx="237744" cy="237744"/>
          </a:xfrm>
          <a:prstGeom prst="rect">
            <a:avLst/>
          </a:prstGeom>
        </p:spPr>
      </p:pic>
      <p:sp>
        <p:nvSpPr>
          <p:cNvPr id="18" name="TextBox 17"/>
          <p:cNvSpPr txBox="1"/>
          <p:nvPr/>
        </p:nvSpPr>
        <p:spPr>
          <a:xfrm>
            <a:off x="3559987"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VOTE B</a:t>
            </a:r>
          </a:p>
        </p:txBody>
      </p:sp>
      <p:sp>
        <p:nvSpPr>
          <p:cNvPr id="19" name="TextBox 18"/>
          <p:cNvSpPr txBox="1"/>
          <p:nvPr/>
        </p:nvSpPr>
        <p:spPr>
          <a:xfrm>
            <a:off x="3559987"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Mon 19 Oct 2026</a:t>
            </a:r>
          </a:p>
        </p:txBody>
      </p:sp>
      <p:sp>
        <p:nvSpPr>
          <p:cNvPr id="20" name="TextBox 19"/>
          <p:cNvSpPr txBox="1"/>
          <p:nvPr/>
        </p:nvSpPr>
        <p:spPr>
          <a:xfrm>
            <a:off x="3559987" y="3303524"/>
            <a:ext cx="2243251" cy="581406"/>
          </a:xfrm>
          <a:prstGeom prst="rect">
            <a:avLst/>
          </a:prstGeom>
          <a:noFill/>
        </p:spPr>
        <p:txBody>
          <a:bodyPr wrap="square" anchor="t" lIns="0" rIns="0" tIns="0" bIns="0">
            <a:spAutoFit/>
          </a:bodyPr>
          <a:lstStyle/>
          <a:p>
            <a:pPr algn="l"/>
            <a:r>
              <a:rPr sz="1100" b="0" i="0">
                <a:solidFill>
                  <a:srgbClr val="6B6690"/>
                </a:solidFill>
                <a:latin typeface="Calibri"/>
              </a:rPr>
              <a:t>Two weeks before Diwali, ratio 1.9. The peak the shape puts there.</a:t>
            </a:r>
          </a:p>
        </p:txBody>
      </p:sp>
      <p:sp>
        <p:nvSpPr>
          <p:cNvPr id="21" name="Rounded Rectangle 20"/>
          <p:cNvSpPr/>
          <p:nvPr/>
        </p:nvSpPr>
        <p:spPr>
          <a:xfrm>
            <a:off x="6187287" y="1956816"/>
            <a:ext cx="2645587" cy="2154428"/>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alendar-days_958795b4ee92.png"/>
          <p:cNvPicPr>
            <a:picLocks noChangeAspect="1"/>
          </p:cNvPicPr>
          <p:nvPr/>
        </p:nvPicPr>
        <p:blipFill>
          <a:blip r:embed="rId4"/>
          <a:stretch>
            <a:fillRect/>
          </a:stretch>
        </p:blipFill>
        <p:spPr>
          <a:xfrm>
            <a:off x="6498183" y="2267712"/>
            <a:ext cx="237744" cy="237744"/>
          </a:xfrm>
          <a:prstGeom prst="rect">
            <a:avLst/>
          </a:prstGeom>
        </p:spPr>
      </p:pic>
      <p:sp>
        <p:nvSpPr>
          <p:cNvPr id="24" name="TextBox 23"/>
          <p:cNvSpPr txBox="1"/>
          <p:nvPr/>
        </p:nvSpPr>
        <p:spPr>
          <a:xfrm>
            <a:off x="6388455" y="2724912"/>
            <a:ext cx="2243251" cy="160401"/>
          </a:xfrm>
          <a:prstGeom prst="rect">
            <a:avLst/>
          </a:prstGeom>
          <a:noFill/>
        </p:spPr>
        <p:txBody>
          <a:bodyPr wrap="square" anchor="t" lIns="0" rIns="0" tIns="0" bIns="0">
            <a:spAutoFit/>
          </a:bodyPr>
          <a:lstStyle/>
          <a:p>
            <a:pPr algn="l"/>
            <a:r>
              <a:rPr sz="750" b="1" i="0" spc="250">
                <a:solidFill>
                  <a:srgbClr val="5B3FD6"/>
                </a:solidFill>
                <a:latin typeface="Calibri"/>
              </a:rPr>
              <a:t>VOTE C</a:t>
            </a:r>
          </a:p>
        </p:txBody>
      </p:sp>
      <p:sp>
        <p:nvSpPr>
          <p:cNvPr id="25" name="TextBox 24"/>
          <p:cNvSpPr txBox="1"/>
          <p:nvPr/>
        </p:nvSpPr>
        <p:spPr>
          <a:xfrm>
            <a:off x="6388455" y="2962656"/>
            <a:ext cx="2243251" cy="267716"/>
          </a:xfrm>
          <a:prstGeom prst="rect">
            <a:avLst/>
          </a:prstGeom>
          <a:noFill/>
        </p:spPr>
        <p:txBody>
          <a:bodyPr wrap="square" anchor="t" lIns="0" rIns="0" tIns="0" bIns="0">
            <a:spAutoFit/>
          </a:bodyPr>
          <a:lstStyle/>
          <a:p>
            <a:pPr algn="l"/>
            <a:r>
              <a:rPr sz="1400" b="1" i="0">
                <a:solidFill>
                  <a:srgbClr val="1A0F5C"/>
                </a:solidFill>
                <a:latin typeface="Calibri"/>
              </a:rPr>
              <a:t>Mon 26 Oct 2026</a:t>
            </a:r>
          </a:p>
        </p:txBody>
      </p:sp>
      <p:sp>
        <p:nvSpPr>
          <p:cNvPr id="26" name="TextBox 25"/>
          <p:cNvSpPr txBox="1"/>
          <p:nvPr/>
        </p:nvSpPr>
        <p:spPr>
          <a:xfrm>
            <a:off x="6388455" y="3303524"/>
            <a:ext cx="2243251" cy="399796"/>
          </a:xfrm>
          <a:prstGeom prst="rect">
            <a:avLst/>
          </a:prstGeom>
          <a:noFill/>
        </p:spPr>
        <p:txBody>
          <a:bodyPr wrap="square" anchor="t" lIns="0" rIns="0" tIns="0" bIns="0">
            <a:spAutoFit/>
          </a:bodyPr>
          <a:lstStyle/>
          <a:p>
            <a:pPr algn="l"/>
            <a:r>
              <a:rPr sz="1100" b="0" i="0">
                <a:solidFill>
                  <a:srgbClr val="6B6690"/>
                </a:solidFill>
                <a:latin typeface="Calibri"/>
              </a:rPr>
              <a:t>One week before Diwali, ratio 1.7.</a:t>
            </a:r>
          </a:p>
        </p:txBody>
      </p:sp>
      <p:sp>
        <p:nvSpPr>
          <p:cNvPr id="27" name="Rounded Rectangle 26"/>
          <p:cNvSpPr/>
          <p:nvPr/>
        </p:nvSpPr>
        <p:spPr>
          <a:xfrm>
            <a:off x="9015755" y="1956816"/>
            <a:ext cx="2645587" cy="2154428"/>
          </a:xfrm>
          <a:prstGeom prst="roundRect">
            <a:avLst>
              <a:gd name="adj" fmla="val 5000"/>
            </a:avLst>
          </a:prstGeom>
          <a:gradFill rotWithShape="1">
            <a:gsLst>
              <a:gs pos="0">
                <a:srgbClr val="2C1A86"/>
              </a:gs>
              <a:gs pos="100000">
                <a:srgbClr val="1A0F5C"/>
              </a:gs>
            </a:gsLst>
            <a:lin scaled="0" ang="16200000"/>
          </a:gra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9216923" y="2157984"/>
            <a:ext cx="457200" cy="457200"/>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9" name="Picture 28" descr="calendar-days_96c059e5c499.png"/>
          <p:cNvPicPr>
            <a:picLocks noChangeAspect="1"/>
          </p:cNvPicPr>
          <p:nvPr/>
        </p:nvPicPr>
        <p:blipFill>
          <a:blip r:embed="rId5"/>
          <a:stretch>
            <a:fillRect/>
          </a:stretch>
        </p:blipFill>
        <p:spPr>
          <a:xfrm>
            <a:off x="9326651" y="2267712"/>
            <a:ext cx="237744" cy="237744"/>
          </a:xfrm>
          <a:prstGeom prst="rect">
            <a:avLst/>
          </a:prstGeom>
        </p:spPr>
      </p:pic>
      <p:sp>
        <p:nvSpPr>
          <p:cNvPr id="30" name="TextBox 29"/>
          <p:cNvSpPr txBox="1"/>
          <p:nvPr/>
        </p:nvSpPr>
        <p:spPr>
          <a:xfrm>
            <a:off x="9216923" y="2724912"/>
            <a:ext cx="2243251" cy="160401"/>
          </a:xfrm>
          <a:prstGeom prst="rect">
            <a:avLst/>
          </a:prstGeom>
          <a:noFill/>
        </p:spPr>
        <p:txBody>
          <a:bodyPr wrap="square" anchor="t" lIns="0" rIns="0" tIns="0" bIns="0">
            <a:spAutoFit/>
          </a:bodyPr>
          <a:lstStyle/>
          <a:p>
            <a:pPr algn="l"/>
            <a:r>
              <a:rPr sz="750" b="1" i="0" spc="250">
                <a:solidFill>
                  <a:srgbClr val="D9A7FF"/>
                </a:solidFill>
                <a:latin typeface="Calibri"/>
              </a:rPr>
              <a:t>VOTE D</a:t>
            </a:r>
          </a:p>
        </p:txBody>
      </p:sp>
      <p:sp>
        <p:nvSpPr>
          <p:cNvPr id="31" name="TextBox 30"/>
          <p:cNvSpPr txBox="1"/>
          <p:nvPr/>
        </p:nvSpPr>
        <p:spPr>
          <a:xfrm>
            <a:off x="9216923" y="2962656"/>
            <a:ext cx="2243251" cy="267716"/>
          </a:xfrm>
          <a:prstGeom prst="rect">
            <a:avLst/>
          </a:prstGeom>
          <a:noFill/>
        </p:spPr>
        <p:txBody>
          <a:bodyPr wrap="square" anchor="t" lIns="0" rIns="0" tIns="0" bIns="0">
            <a:spAutoFit/>
          </a:bodyPr>
          <a:lstStyle/>
          <a:p>
            <a:pPr algn="l"/>
            <a:r>
              <a:rPr sz="1400" b="1" i="0">
                <a:solidFill>
                  <a:srgbClr val="FFFFFF"/>
                </a:solidFill>
                <a:latin typeface="Calibri"/>
              </a:rPr>
              <a:t>Mon 2 Nov 2026</a:t>
            </a:r>
          </a:p>
        </p:txBody>
      </p:sp>
      <p:sp>
        <p:nvSpPr>
          <p:cNvPr id="32" name="TextBox 31"/>
          <p:cNvSpPr txBox="1"/>
          <p:nvPr/>
        </p:nvSpPr>
        <p:spPr>
          <a:xfrm>
            <a:off x="9216923" y="3303524"/>
            <a:ext cx="2243251" cy="218186"/>
          </a:xfrm>
          <a:prstGeom prst="rect">
            <a:avLst/>
          </a:prstGeom>
          <a:noFill/>
        </p:spPr>
        <p:txBody>
          <a:bodyPr wrap="square" anchor="t" lIns="0" rIns="0" tIns="0" bIns="0">
            <a:spAutoFit/>
          </a:bodyPr>
          <a:lstStyle/>
          <a:p>
            <a:pPr algn="l"/>
            <a:r>
              <a:rPr sz="1100" b="0" i="0">
                <a:solidFill>
                  <a:srgbClr val="CFC9EE"/>
                </a:solidFill>
                <a:latin typeface="Calibri"/>
              </a:rPr>
              <a:t>Diwali week, ratio 1.4.</a:t>
            </a:r>
          </a:p>
        </p:txBody>
      </p:sp>
      <p:sp>
        <p:nvSpPr>
          <p:cNvPr id="33" name="Oval 3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35" name="Oval 34"/>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37" name="Oval 36"/>
          <p:cNvSpPr/>
          <p:nvPr/>
        </p:nvSpPr>
        <p:spPr>
          <a:xfrm>
            <a:off x="45177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627435"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Pick the forecast, price the error</a:t>
            </a:r>
          </a:p>
        </p:txBody>
      </p:sp>
      <p:sp>
        <p:nvSpPr>
          <p:cNvPr id="39" name="Oval 38"/>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41" name="Oval 40"/>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43" name="TextBox 42"/>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25 / 35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the costed miss of a wrong peak week</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it cost in rupees if a plan copies last year's calendar weeks and the festival has moved?</a:t>
            </a:r>
          </a:p>
        </p:txBody>
      </p:sp>
      <p:graphicFrame>
        <p:nvGraphicFramePr>
          <p:cNvPr id="9" name="Table 8"/>
          <p:cNvGraphicFramePr>
            <a:graphicFrameLocks noGrp="1"/>
          </p:cNvGraphicFramePr>
          <p:nvPr/>
        </p:nvGraphicFramePr>
        <p:xfrm>
          <a:off x="530352" y="1956816"/>
          <a:ext cx="11130989" cy="2170176"/>
        </p:xfrm>
        <a:graphic>
          <a:graphicData uri="http://schemas.openxmlformats.org/drawingml/2006/table">
            <a:tbl>
              <a:tblPr firstRow="0" bandRow="0">
                <a:tableStyleId>{2D5ABB26-0587-4C30-8999-92F81FD0307C}</a:tableStyleId>
              </a:tblPr>
              <a:tblGrid>
                <a:gridCol w="1990004"/>
                <a:gridCol w="4181459"/>
                <a:gridCol w="914400"/>
                <a:gridCol w="1366379"/>
                <a:gridCol w="2678747"/>
              </a:tblGrid>
              <a:tr h="542544">
                <a:tc>
                  <a:txBody>
                    <a:bodyPr/>
                    <a:lstStyle/>
                    <a:p>
                      <a:r>
                        <a:rPr sz="1250" b="1" i="0">
                          <a:solidFill>
                            <a:srgbClr val="FFFFFF"/>
                          </a:solidFill>
                          <a:latin typeface="Calibri"/>
                        </a:rPr>
                        <a:t>Direction</a:t>
                      </a:r>
                    </a:p>
                  </a:txBody>
                  <a:tcPr marL="101600" marR="101600" marT="38100" marB="38100" anchor="ctr">
                    <a:solidFill>
                      <a:srgbClr val="1A0F5C"/>
                    </a:solidFill>
                  </a:tcPr>
                </a:tc>
                <a:tc>
                  <a:txBody>
                    <a:bodyPr/>
                    <a:lstStyle/>
                    <a:p>
                      <a:r>
                        <a:rPr sz="1250" b="1" i="0">
                          <a:solidFill>
                            <a:srgbClr val="FFFFFF"/>
                          </a:solidFill>
                          <a:latin typeface="Calibri"/>
                        </a:rPr>
                        <a:t>What happens</a:t>
                      </a:r>
                    </a:p>
                  </a:txBody>
                  <a:tcPr marL="101600" marR="101600" marT="38100" marB="38100" anchor="ctr">
                    <a:solidFill>
                      <a:srgbClr val="1A0F5C"/>
                    </a:solidFill>
                  </a:tcPr>
                </a:tc>
                <a:tc>
                  <a:txBody>
                    <a:bodyPr/>
                    <a:lstStyle/>
                    <a:p>
                      <a:r>
                        <a:rPr sz="1250" b="1" i="0">
                          <a:solidFill>
                            <a:srgbClr val="FFFFFF"/>
                          </a:solidFill>
                          <a:latin typeface="Calibri"/>
                        </a:rPr>
                        <a:t>Shipments</a:t>
                      </a:r>
                    </a:p>
                  </a:txBody>
                  <a:tcPr marL="101600" marR="101600" marT="38100" marB="38100" anchor="ctr">
                    <a:solidFill>
                      <a:srgbClr val="1A0F5C"/>
                    </a:solidFill>
                  </a:tcPr>
                </a:tc>
                <a:tc>
                  <a:txBody>
                    <a:bodyPr/>
                    <a:lstStyle/>
                    <a:p>
                      <a:r>
                        <a:rPr sz="1250" b="1" i="0">
                          <a:solidFill>
                            <a:srgbClr val="FFFFFF"/>
                          </a:solidFill>
                          <a:latin typeface="Calibri"/>
                        </a:rPr>
                        <a:t>Cost per shipment</a:t>
                      </a:r>
                    </a:p>
                  </a:txBody>
                  <a:tcPr marL="101600" marR="101600" marT="38100" marB="38100" anchor="ctr">
                    <a:solidFill>
                      <a:srgbClr val="1A0F5C"/>
                    </a:solidFill>
                  </a:tcPr>
                </a:tc>
                <a:tc>
                  <a:txBody>
                    <a:bodyPr/>
                    <a:lstStyle/>
                    <a:p>
                      <a:r>
                        <a:rPr sz="1250" b="1" i="0">
                          <a:solidFill>
                            <a:srgbClr val="FFFFFF"/>
                          </a:solidFill>
                          <a:latin typeface="Calibri"/>
                        </a:rPr>
                        <a:t>Cost in rupees</a:t>
                      </a:r>
                    </a:p>
                  </a:txBody>
                  <a:tcPr marL="101600" marR="101600" marT="38100" marB="38100" anchor="ctr">
                    <a:solidFill>
                      <a:srgbClr val="1A0F5C"/>
                    </a:solidFill>
                  </a:tcPr>
                </a:tc>
              </a:tr>
              <a:tr h="542544">
                <a:tc>
                  <a:txBody>
                    <a:bodyPr/>
                    <a:lstStyle/>
                    <a:p>
                      <a:r>
                        <a:rPr sz="1200" b="0" i="0">
                          <a:solidFill>
                            <a:srgbClr val="1A1440"/>
                          </a:solidFill>
                          <a:latin typeface="Calibri"/>
                        </a:rPr>
                        <a:t>Over-forecast in weeks early</a:t>
                      </a:r>
                    </a:p>
                  </a:txBody>
                  <a:tcPr marL="101600" marR="101600" marT="38100" marB="38100" anchor="ctr">
                    <a:solidFill>
                      <a:srgbClr val="FFFFFF"/>
                    </a:solidFill>
                  </a:tcPr>
                </a:tc>
                <a:tc>
                  <a:txBody>
                    <a:bodyPr/>
                    <a:lstStyle/>
                    <a:p>
                      <a:r>
                        <a:rPr sz="1200" b="0" i="0">
                          <a:solidFill>
                            <a:srgbClr val="1A1440"/>
                          </a:solidFill>
                          <a:latin typeface="Calibri"/>
                        </a:rPr>
                        <a:t>Packers booked for weeks before demand lands, idle shifts billed</a:t>
                      </a:r>
                    </a:p>
                  </a:txBody>
                  <a:tcPr marL="101600" marR="101600" marT="38100" marB="38100" anchor="ctr">
                    <a:solidFill>
                      <a:srgbClr val="FFFFFF"/>
                    </a:solidFill>
                  </a:tcPr>
                </a:tc>
                <a:tc>
                  <a:txBody>
                    <a:bodyPr/>
                    <a:lstStyle/>
                    <a:p>
                      <a:r>
                        <a:rPr sz="1200" b="0" i="0">
                          <a:solidFill>
                            <a:srgbClr val="1A1440"/>
                          </a:solidFill>
                          <a:latin typeface="Calibri"/>
                        </a:rPr>
                        <a:t>93,970</a:t>
                      </a:r>
                    </a:p>
                  </a:txBody>
                  <a:tcPr marL="101600" marR="101600" marT="38100" marB="38100" anchor="ctr">
                    <a:solidFill>
                      <a:srgbClr val="FFFFFF"/>
                    </a:solidFill>
                  </a:tcPr>
                </a:tc>
                <a:tc>
                  <a:txBody>
                    <a:bodyPr/>
                    <a:lstStyle/>
                    <a:p>
                      <a:r>
                        <a:rPr sz="1200" b="0" i="0">
                          <a:solidFill>
                            <a:srgbClr val="1A1440"/>
                          </a:solidFill>
                          <a:latin typeface="Calibri"/>
                        </a:rPr>
                        <a:t>Rs 5.42</a:t>
                      </a:r>
                    </a:p>
                  </a:txBody>
                  <a:tcPr marL="101600" marR="101600" marT="38100" marB="38100" anchor="ctr">
                    <a:solidFill>
                      <a:srgbClr val="FFFFFF"/>
                    </a:solidFill>
                  </a:tcPr>
                </a:tc>
                <a:tc>
                  <a:txBody>
                    <a:bodyPr/>
                    <a:lstStyle/>
                    <a:p>
                      <a:r>
                        <a:rPr sz="1200" b="0" i="0">
                          <a:solidFill>
                            <a:srgbClr val="1A1440"/>
                          </a:solidFill>
                          <a:latin typeface="Calibri"/>
                        </a:rPr>
                        <a:t>about Rs 5.10 lakh</a:t>
                      </a:r>
                    </a:p>
                  </a:txBody>
                  <a:tcPr marL="101600" marR="101600" marT="38100" marB="38100" anchor="ctr">
                    <a:solidFill>
                      <a:srgbClr val="FFFFFF"/>
                    </a:solidFill>
                  </a:tcPr>
                </a:tc>
              </a:tr>
              <a:tr h="542544">
                <a:tc>
                  <a:txBody>
                    <a:bodyPr/>
                    <a:lstStyle/>
                    <a:p>
                      <a:r>
                        <a:rPr sz="1200" b="0" i="0">
                          <a:solidFill>
                            <a:srgbClr val="1A1440"/>
                          </a:solidFill>
                          <a:latin typeface="Calibri"/>
                        </a:rPr>
                        <a:t>Under-forecast in Diwali week</a:t>
                      </a:r>
                    </a:p>
                  </a:txBody>
                  <a:tcPr marL="101600" marR="101600" marT="38100" marB="38100" anchor="ctr">
                    <a:solidFill>
                      <a:srgbClr val="F4F2FA"/>
                    </a:solidFill>
                  </a:tcPr>
                </a:tc>
                <a:tc>
                  <a:txBody>
                    <a:bodyPr/>
                    <a:lstStyle/>
                    <a:p>
                      <a:r>
                        <a:rPr sz="1200" b="0" i="0">
                          <a:solidFill>
                            <a:srgbClr val="1A1440"/>
                          </a:solidFill>
                          <a:latin typeface="Calibri"/>
                        </a:rPr>
                        <a:t>Shipments late, promised delivery dates missed</a:t>
                      </a:r>
                    </a:p>
                  </a:txBody>
                  <a:tcPr marL="101600" marR="101600" marT="38100" marB="38100" anchor="ctr">
                    <a:solidFill>
                      <a:srgbClr val="F4F2FA"/>
                    </a:solidFill>
                  </a:tcPr>
                </a:tc>
                <a:tc>
                  <a:txBody>
                    <a:bodyPr/>
                    <a:lstStyle/>
                    <a:p>
                      <a:r>
                        <a:rPr sz="1200" b="0" i="0">
                          <a:solidFill>
                            <a:srgbClr val="1A1440"/>
                          </a:solidFill>
                          <a:latin typeface="Calibri"/>
                        </a:rPr>
                        <a:t>23,540</a:t>
                      </a:r>
                    </a:p>
                  </a:txBody>
                  <a:tcPr marL="101600" marR="101600" marT="38100" marB="38100" anchor="ctr">
                    <a:solidFill>
                      <a:srgbClr val="F4F2FA"/>
                    </a:solidFill>
                  </a:tcPr>
                </a:tc>
                <a:tc>
                  <a:txBody>
                    <a:bodyPr/>
                    <a:lstStyle/>
                    <a:p>
                      <a:r>
                        <a:rPr sz="1200" b="0" i="0">
                          <a:solidFill>
                            <a:srgbClr val="1A1440"/>
                          </a:solidFill>
                          <a:latin typeface="Calibri"/>
                        </a:rPr>
                        <a:t>Rs 25</a:t>
                      </a:r>
                    </a:p>
                  </a:txBody>
                  <a:tcPr marL="101600" marR="101600" marT="38100" marB="38100" anchor="ctr">
                    <a:solidFill>
                      <a:srgbClr val="F4F2FA"/>
                    </a:solidFill>
                  </a:tcPr>
                </a:tc>
                <a:tc>
                  <a:txBody>
                    <a:bodyPr/>
                    <a:lstStyle/>
                    <a:p>
                      <a:r>
                        <a:rPr sz="1200" b="0" i="0">
                          <a:solidFill>
                            <a:srgbClr val="1A1440"/>
                          </a:solidFill>
                          <a:latin typeface="Calibri"/>
                        </a:rPr>
                        <a:t>about Rs 5.88 lakh</a:t>
                      </a:r>
                    </a:p>
                  </a:txBody>
                  <a:tcPr marL="101600" marR="101600" marT="38100" marB="38100" anchor="ctr">
                    <a:solidFill>
                      <a:srgbClr val="F4F2FA"/>
                    </a:solidFill>
                  </a:tcPr>
                </a:tc>
              </a:tr>
              <a:tr h="542544">
                <a:tc>
                  <a:txBody>
                    <a:bodyPr/>
                    <a:lstStyle/>
                    <a:p>
                      <a:r>
                        <a:rPr sz="1200" b="0" i="0">
                          <a:solidFill>
                            <a:srgbClr val="1A1440"/>
                          </a:solidFill>
                          <a:latin typeface="Calibri"/>
                        </a:rPr>
                        <a:t>Total costed miss</a:t>
                      </a:r>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txBody>
                  <a:tcPr marL="101600" marR="101600" marT="38100" marB="38100" anchor="ctr">
                    <a:solidFill>
                      <a:srgbClr val="FFFFFF"/>
                    </a:solidFill>
                  </a:tcPr>
                </a:tc>
                <a:tc>
                  <a:txBody>
                    <a:bodyPr/>
                    <a:lstStyle/>
                    <a:p>
                      <a:r>
                        <a:rPr sz="1200" b="0" i="0">
                          <a:solidFill>
                            <a:srgbClr val="1A1440"/>
                          </a:solidFill>
                          <a:latin typeface="Calibri"/>
                        </a:rPr>
                        <a:t>about Rs 10.98 lakh over the eight weeks</a:t>
                      </a:r>
                    </a:p>
                  </a:txBody>
                  <a:tcPr marL="101600" marR="101600" marT="38100" marB="38100" anchor="ctr">
                    <a:solidFill>
                      <a:srgbClr val="FFFFFF"/>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1" i="0">
                <a:solidFill>
                  <a:srgbClr val="5B3FD6"/>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26 / 35</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04</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can two years of weeks not tell us?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Which caveats sit on the forecast, and which fact would settle each?</a:t>
            </a:r>
          </a:p>
        </p:txBody>
      </p:sp>
      <p:sp>
        <p:nvSpPr>
          <p:cNvPr id="10" name="Rounded Rectangle 9"/>
          <p:cNvSpPr/>
          <p:nvPr/>
        </p:nvSpPr>
        <p:spPr>
          <a:xfrm>
            <a:off x="73151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104 weeks have?</a:t>
            </a:r>
          </a:p>
        </p:txBody>
      </p:sp>
      <p:sp>
        <p:nvSpPr>
          <p:cNvPr id="11" name="Rounded Rectangle 10"/>
          <p:cNvSpPr/>
          <p:nvPr/>
        </p:nvSpPr>
        <p:spPr>
          <a:xfrm>
            <a:off x="292479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Score each method on the hold-out</a:t>
            </a:r>
          </a:p>
        </p:txBody>
      </p:sp>
      <p:sp>
        <p:nvSpPr>
          <p:cNvPr id="12" name="Rounded Rectangle 11"/>
          <p:cNvSpPr/>
          <p:nvPr/>
        </p:nvSpPr>
        <p:spPr>
          <a:xfrm>
            <a:off x="511807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Pick the forecast, price the error</a:t>
            </a:r>
          </a:p>
        </p:txBody>
      </p:sp>
      <p:sp>
        <p:nvSpPr>
          <p:cNvPr id="13" name="Rounded Rectangle 12"/>
          <p:cNvSpPr/>
          <p:nvPr/>
        </p:nvSpPr>
        <p:spPr>
          <a:xfrm>
            <a:off x="7311359" y="5074920"/>
            <a:ext cx="20835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can two years of weeks not tell us?</a:t>
            </a:r>
          </a:p>
        </p:txBody>
      </p:sp>
      <p:sp>
        <p:nvSpPr>
          <p:cNvPr id="14" name="Rounded Rectangle 13"/>
          <p:cNvSpPr/>
          <p:nvPr/>
        </p:nvSpPr>
        <p:spPr>
          <a:xfrm>
            <a:off x="950463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Turn the forecast into packer shifts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35</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caveats, one check for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does the data not answer, and which fact would settle each?</a:t>
            </a:r>
          </a:p>
        </p:txBody>
      </p:sp>
      <p:graphicFrame>
        <p:nvGraphicFramePr>
          <p:cNvPr id="9" name="Table 8"/>
          <p:cNvGraphicFramePr>
            <a:graphicFrameLocks noGrp="1"/>
          </p:cNvGraphicFramePr>
          <p:nvPr/>
        </p:nvGraphicFramePr>
        <p:xfrm>
          <a:off x="530352" y="1921256"/>
          <a:ext cx="11130991" cy="4039616"/>
        </p:xfrm>
        <a:graphic>
          <a:graphicData uri="http://schemas.openxmlformats.org/drawingml/2006/table">
            <a:tbl>
              <a:tblPr firstRow="0" bandRow="0">
                <a:tableStyleId>{2D5ABB26-0587-4C30-8999-92F81FD0307C}</a:tableStyleId>
              </a:tblPr>
              <a:tblGrid>
                <a:gridCol w="2350551"/>
                <a:gridCol w="4390220"/>
                <a:gridCol w="4390220"/>
              </a:tblGrid>
              <a:tr h="369824">
                <a:tc>
                  <a:txBody>
                    <a:bodyPr/>
                    <a:lstStyle/>
                    <a:p>
                      <a:r>
                        <a:rPr sz="1450" b="1" i="0">
                          <a:solidFill>
                            <a:srgbClr val="FFFFFF"/>
                          </a:solidFill>
                          <a:latin typeface="Calibri"/>
                        </a:rPr>
                        <a:t>Caveat</a:t>
                      </a:r>
                    </a:p>
                  </a:txBody>
                  <a:tcPr marL="101600" marR="101600" marT="38100" marB="38100" anchor="ctr">
                    <a:solidFill>
                      <a:srgbClr val="1A0F5C"/>
                    </a:solidFill>
                  </a:tcPr>
                </a:tc>
                <a:tc>
                  <a:txBody>
                    <a:bodyPr/>
                    <a:lstStyle/>
                    <a:p>
                      <a:r>
                        <a:rPr sz="1450" b="1" i="0">
                          <a:solidFill>
                            <a:srgbClr val="FFFFFF"/>
                          </a:solidFill>
                          <a:latin typeface="Calibri"/>
                        </a:rPr>
                        <a:t>What it says</a:t>
                      </a:r>
                    </a:p>
                  </a:txBody>
                  <a:tcPr marL="101600" marR="101600" marT="38100" marB="38100" anchor="ctr">
                    <a:solidFill>
                      <a:srgbClr val="1A0F5C"/>
                    </a:solidFill>
                  </a:tcPr>
                </a:tc>
                <a:tc>
                  <a:txBody>
                    <a:bodyPr/>
                    <a:lstStyle/>
                    <a:p>
                      <a:r>
                        <a:rPr sz="1450" b="1" i="0">
                          <a:solidFill>
                            <a:srgbClr val="FFFFFF"/>
                          </a:solidFill>
                          <a:latin typeface="Calibri"/>
                        </a:rPr>
                        <a:t>The check that would settle it</a:t>
                      </a:r>
                    </a:p>
                  </a:txBody>
                  <a:tcPr marL="101600" marR="101600" marT="38100" marB="38100" anchor="ctr">
                    <a:solidFill>
                      <a:srgbClr val="1A0F5C"/>
                    </a:solidFill>
                  </a:tcPr>
                </a:tc>
              </a:tr>
              <a:tr h="611632">
                <a:tc>
                  <a:txBody>
                    <a:bodyPr/>
                    <a:lstStyle/>
                    <a:p>
                      <a:r>
                        <a:rPr sz="1400" b="0" i="0">
                          <a:solidFill>
                            <a:srgbClr val="1A1440"/>
                          </a:solidFill>
                          <a:latin typeface="Calibri"/>
                        </a:rPr>
                        <a:t>The festival moves</a:t>
                      </a:r>
                    </a:p>
                  </a:txBody>
                  <a:tcPr marL="101600" marR="101600" marT="38100" marB="38100" anchor="ctr">
                    <a:solidFill>
                      <a:srgbClr val="FFFFFF"/>
                    </a:solidFill>
                  </a:tcPr>
                </a:tc>
                <a:tc>
                  <a:txBody>
                    <a:bodyPr/>
                    <a:lstStyle/>
                    <a:p>
                      <a:r>
                        <a:rPr sz="1400" b="0" i="0">
                          <a:solidFill>
                            <a:srgbClr val="1A1440"/>
                          </a:solidFill>
                          <a:latin typeface="Calibri"/>
                        </a:rPr>
                        <a:t>And the sale moves with it; a model trained on calendar weeks mislocates both</a:t>
                      </a:r>
                    </a:p>
                  </a:txBody>
                  <a:tcPr marL="101600" marR="101600" marT="38100" marB="38100" anchor="ctr">
                    <a:solidFill>
                      <a:srgbClr val="FFFFFF"/>
                    </a:solidFill>
                  </a:tcPr>
                </a:tc>
                <a:tc>
                  <a:txBody>
                    <a:bodyPr/>
                    <a:lstStyle/>
                    <a:p>
                      <a:r>
                        <a:rPr sz="1400" b="0" i="0">
                          <a:solidFill>
                            <a:srgbClr val="1A1440"/>
                          </a:solidFill>
                          <a:latin typeface="Calibri"/>
                        </a:rPr>
                        <a:t>The 2025 window re-forecast from data to September 2025 by both baselines, errors priced</a:t>
                      </a:r>
                    </a:p>
                  </a:txBody>
                  <a:tcPr marL="101600" marR="101600" marT="38100" marB="38100" anchor="ctr">
                    <a:solidFill>
                      <a:srgbClr val="FFFFFF"/>
                    </a:solidFill>
                  </a:tcPr>
                </a:tc>
              </a:tr>
              <a:tr h="369824">
                <a:tc>
                  <a:txBody>
                    <a:bodyPr/>
                    <a:lstStyle/>
                    <a:p>
                      <a:r>
                        <a:rPr sz="1400" b="0" i="0">
                          <a:solidFill>
                            <a:srgbClr val="1A1440"/>
                          </a:solidFill>
                          <a:latin typeface="Calibri"/>
                        </a:rPr>
                        <a:t>One spike a year</a:t>
                      </a:r>
                    </a:p>
                  </a:txBody>
                  <a:tcPr marL="101600" marR="101600" marT="38100" marB="38100" anchor="ctr">
                    <a:solidFill>
                      <a:srgbClr val="F4F2FA"/>
                    </a:solidFill>
                  </a:tcPr>
                </a:tc>
                <a:tc>
                  <a:txBody>
                    <a:bodyPr/>
                    <a:lstStyle/>
                    <a:p>
                      <a:r>
                        <a:rPr sz="1400" b="0" i="0">
                          <a:solidFill>
                            <a:srgbClr val="1A1440"/>
                          </a:solidFill>
                          <a:latin typeface="Calibri"/>
                        </a:rPr>
                        <a:t>Two Diwalis in 104 weeks is two observations</a:t>
                      </a:r>
                    </a:p>
                  </a:txBody>
                  <a:tcPr marL="101600" marR="101600" marT="38100" marB="38100" anchor="ctr">
                    <a:solidFill>
                      <a:srgbClr val="F4F2FA"/>
                    </a:solidFill>
                  </a:tcPr>
                </a:tc>
                <a:tc>
                  <a:txBody>
                    <a:bodyPr/>
                    <a:lstStyle/>
                    <a:p>
                      <a:r>
                        <a:rPr sz="1400" b="0" i="0">
                          <a:solidFill>
                            <a:srgbClr val="1A1440"/>
                          </a:solidFill>
                          <a:latin typeface="Calibri"/>
                        </a:rPr>
                        <a:t>Said aloud; no in-data check closes it</a:t>
                      </a:r>
                    </a:p>
                  </a:txBody>
                  <a:tcPr marL="101600" marR="101600" marT="38100" marB="38100" anchor="ctr">
                    <a:solidFill>
                      <a:srgbClr val="F4F2FA"/>
                    </a:solidFill>
                  </a:tcPr>
                </a:tc>
              </a:tr>
              <a:tr h="853440">
                <a:tc>
                  <a:txBody>
                    <a:bodyPr/>
                    <a:lstStyle/>
                    <a:p>
                      <a:r>
                        <a:rPr sz="1400" b="0" i="0">
                          <a:solidFill>
                            <a:srgbClr val="1A1440"/>
                          </a:solidFill>
                          <a:latin typeface="Calibri"/>
                        </a:rPr>
                        <a:t>GST cut 2025</a:t>
                      </a:r>
                    </a:p>
                  </a:txBody>
                  <a:tcPr marL="101600" marR="101600" marT="38100" marB="38100" anchor="ctr">
                    <a:solidFill>
                      <a:srgbClr val="FFFFFF"/>
                    </a:solidFill>
                  </a:tcPr>
                </a:tc>
                <a:tc>
                  <a:txBody>
                    <a:bodyPr/>
                    <a:lstStyle/>
                    <a:p>
                      <a:r>
                        <a:rPr sz="1400" b="0" i="0">
                          <a:solidFill>
                            <a:srgbClr val="1A1440"/>
                          </a:solidFill>
                          <a:latin typeface="Calibri"/>
                        </a:rPr>
                        <a:t>FADA (F5) says October 2025 two-wheeler retail 31,49,846 against 12,87,735 in September, part credited to GST cuts</a:t>
                      </a:r>
                    </a:p>
                  </a:txBody>
                  <a:tcPr marL="101600" marR="101600" marT="38100" marB="38100" anchor="ctr">
                    <a:solidFill>
                      <a:srgbClr val="FFFFFF"/>
                    </a:solidFill>
                  </a:tcPr>
                </a:tc>
                <a:tc>
                  <a:txBody>
                    <a:bodyPr/>
                    <a:lstStyle/>
                    <a:p>
                      <a:r>
                        <a:rPr sz="1400" b="0" i="0">
                          <a:solidFill>
                            <a:srgbClr val="1A1440"/>
                          </a:solidFill>
                          <a:latin typeface="Calibri"/>
                        </a:rPr>
                        <a:t>A national series the vendor trained on may carry it; our centre's series does not report it directly</a:t>
                      </a:r>
                    </a:p>
                  </a:txBody>
                  <a:tcPr marL="101600" marR="101600" marT="38100" marB="38100" anchor="ctr">
                    <a:solidFill>
                      <a:srgbClr val="FFFFFF"/>
                    </a:solidFill>
                  </a:tcPr>
                </a:tc>
              </a:tr>
              <a:tr h="611632">
                <a:tc>
                  <a:txBody>
                    <a:bodyPr/>
                    <a:lstStyle/>
                    <a:p>
                      <a:r>
                        <a:rPr sz="1400" b="0" i="0">
                          <a:solidFill>
                            <a:srgbClr val="1A1440"/>
                          </a:solidFill>
                          <a:latin typeface="Calibri"/>
                        </a:rPr>
                        <a:t>No history</a:t>
                      </a:r>
                    </a:p>
                  </a:txBody>
                  <a:tcPr marL="101600" marR="101600" marT="38100" marB="38100" anchor="ctr">
                    <a:solidFill>
                      <a:srgbClr val="F4F2FA"/>
                    </a:solidFill>
                  </a:tcPr>
                </a:tc>
                <a:tc>
                  <a:txBody>
                    <a:bodyPr/>
                    <a:lstStyle/>
                    <a:p>
                      <a:r>
                        <a:rPr sz="1400" b="0" i="0">
                          <a:solidFill>
                            <a:srgbClr val="1A1440"/>
                          </a:solidFill>
                          <a:latin typeface="Calibri"/>
                        </a:rPr>
                        <a:t>A new model with no Lucknow history is an assumption (Target Canada, F4)</a:t>
                      </a:r>
                    </a:p>
                  </a:txBody>
                  <a:tcPr marL="101600" marR="101600" marT="38100" marB="38100" anchor="ctr">
                    <a:solidFill>
                      <a:srgbClr val="F4F2FA"/>
                    </a:solidFill>
                  </a:tcPr>
                </a:tc>
                <a:tc>
                  <a:txBody>
                    <a:bodyPr/>
                    <a:lstStyle/>
                    <a:p>
                      <a:r>
                        <a:rPr sz="1400" b="0" i="0">
                          <a:solidFill>
                            <a:srgbClr val="1A1440"/>
                          </a:solidFill>
                          <a:latin typeface="Calibri"/>
                        </a:rPr>
                        <a:t>Fit the model on another FC's series first and judge errors there</a:t>
                      </a:r>
                    </a:p>
                  </a:txBody>
                  <a:tcPr marL="101600" marR="101600" marT="38100" marB="38100" anchor="ctr">
                    <a:solidFill>
                      <a:srgbClr val="F4F2FA"/>
                    </a:solidFill>
                  </a:tcPr>
                </a:tc>
              </a:tr>
              <a:tr h="611632">
                <a:tc>
                  <a:txBody>
                    <a:bodyPr/>
                    <a:lstStyle/>
                    <a:p>
                      <a:r>
                        <a:rPr sz="1400" b="0" i="0">
                          <a:solidFill>
                            <a:srgbClr val="1A1440"/>
                          </a:solidFill>
                          <a:latin typeface="Calibri"/>
                        </a:rPr>
                        <a:t>The hold-out holds no festival</a:t>
                      </a:r>
                    </a:p>
                  </a:txBody>
                  <a:tcPr marL="101600" marR="101600" marT="38100" marB="38100" anchor="ctr">
                    <a:solidFill>
                      <a:srgbClr val="FFFFFF"/>
                    </a:solidFill>
                  </a:tcPr>
                </a:tc>
                <a:tc>
                  <a:txBody>
                    <a:bodyPr/>
                    <a:lstStyle/>
                    <a:p>
                      <a:r>
                        <a:rPr sz="1400" b="0" i="0">
                          <a:solidFill>
                            <a:srgbClr val="1A1440"/>
                          </a:solidFill>
                          <a:latin typeface="Calibri"/>
                        </a:rPr>
                        <a:t>So any festival error is judged on 2025 alone</a:t>
                      </a:r>
                    </a:p>
                  </a:txBody>
                  <a:tcPr marL="101600" marR="101600" marT="38100" marB="38100" anchor="ctr">
                    <a:solidFill>
                      <a:srgbClr val="FFFFFF"/>
                    </a:solidFill>
                  </a:tcPr>
                </a:tc>
                <a:tc>
                  <a:txBody>
                    <a:bodyPr/>
                    <a:lstStyle/>
                    <a:p>
                      <a:r>
                        <a:rPr sz="1400" b="0" i="0">
                          <a:solidFill>
                            <a:srgbClr val="1A1440"/>
                          </a:solidFill>
                          <a:latin typeface="Calibri"/>
                        </a:rPr>
                        <a:t>2025 festive weeks' errors reported separately</a:t>
                      </a:r>
                    </a:p>
                  </a:txBody>
                  <a:tcPr marL="101600" marR="101600" marT="38100" marB="38100" anchor="ctr">
                    <a:solidFill>
                      <a:srgbClr val="FFFFFF"/>
                    </a:solidFill>
                  </a:tcPr>
                </a:tc>
              </a:tr>
              <a:tr h="611632">
                <a:tc>
                  <a:txBody>
                    <a:bodyPr/>
                    <a:lstStyle/>
                    <a:p>
                      <a:r>
                        <a:rPr sz="1400" b="0" i="0">
                          <a:solidFill>
                            <a:srgbClr val="1A1440"/>
                          </a:solidFill>
                          <a:latin typeface="Calibri"/>
                        </a:rPr>
                        <a:t>Capacity clips demand</a:t>
                      </a:r>
                    </a:p>
                  </a:txBody>
                  <a:tcPr marL="101600" marR="101600" marT="38100" marB="38100" anchor="ctr">
                    <a:solidFill>
                      <a:srgbClr val="F4F2FA"/>
                    </a:solidFill>
                  </a:tcPr>
                </a:tc>
                <a:tc>
                  <a:txBody>
                    <a:bodyPr/>
                    <a:lstStyle/>
                    <a:p>
                      <a:r>
                        <a:rPr sz="1400" b="0" i="0">
                          <a:solidFill>
                            <a:srgbClr val="1A1440"/>
                          </a:solidFill>
                          <a:latin typeface="Calibri"/>
                        </a:rPr>
                        <a:t>The series is demand clipped by the centre's capacity in peak weeks</a:t>
                      </a:r>
                    </a:p>
                  </a:txBody>
                  <a:tcPr marL="101600" marR="101600" marT="38100" marB="38100" anchor="ctr">
                    <a:solidFill>
                      <a:srgbClr val="F4F2FA"/>
                    </a:solidFill>
                  </a:tcPr>
                </a:tc>
                <a:tc>
                  <a:txBody>
                    <a:bodyPr/>
                    <a:lstStyle/>
                    <a:p>
                      <a:r>
                        <a:rPr sz="1400" b="0" i="0">
                          <a:solidFill>
                            <a:srgbClr val="1A1440"/>
                          </a:solidFill>
                          <a:latin typeface="Calibri"/>
                        </a:rPr>
                        <a:t>Peak-week shipments as a share of capacity shown beside the series</a:t>
                      </a:r>
                    </a:p>
                  </a:txBody>
                  <a:tcPr marL="101600" marR="101600" marT="38100" marB="38100" anchor="ctr">
                    <a:solidFill>
                      <a:srgbClr val="F4F2FA"/>
                    </a:solidFill>
                  </a:tcPr>
                </a:tc>
              </a:tr>
            </a:tbl>
          </a:graphicData>
        </a:graphic>
      </p:graphicFrame>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1" i="0">
                <a:solidFill>
                  <a:srgbClr val="5B3FD6"/>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0" i="0">
                <a:solidFill>
                  <a:srgbClr val="6B6690"/>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28 / 35</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05</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Turn the forecast into packer shifts</a:t>
            </a:r>
          </a:p>
        </p:txBody>
      </p:sp>
      <p:sp>
        <p:nvSpPr>
          <p:cNvPr id="9" name="TextBox 8"/>
          <p:cNvSpPr txBox="1"/>
          <p:nvPr/>
        </p:nvSpPr>
        <p:spPr>
          <a:xfrm>
            <a:off x="731519" y="3520440"/>
            <a:ext cx="9509760" cy="284226"/>
          </a:xfrm>
          <a:prstGeom prst="rect">
            <a:avLst/>
          </a:prstGeom>
          <a:noFill/>
        </p:spPr>
        <p:txBody>
          <a:bodyPr wrap="square" anchor="t" lIns="0" rIns="0" tIns="0" bIns="0">
            <a:spAutoFit/>
          </a:bodyPr>
          <a:lstStyle/>
          <a:p>
            <a:pPr algn="l"/>
            <a:r>
              <a:rPr sz="1500" b="0" i="0">
                <a:solidFill>
                  <a:srgbClr val="E4E1F1"/>
                </a:solidFill>
                <a:latin typeface="Calibri"/>
              </a:rPr>
              <a:t>How does the planner pick one forecast and turn its number into shifts per week?</a:t>
            </a:r>
          </a:p>
        </p:txBody>
      </p:sp>
      <p:sp>
        <p:nvSpPr>
          <p:cNvPr id="10" name="Rounded Rectangle 9"/>
          <p:cNvSpPr/>
          <p:nvPr/>
        </p:nvSpPr>
        <p:spPr>
          <a:xfrm>
            <a:off x="73151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shape do the 104 weeks have?</a:t>
            </a:r>
          </a:p>
        </p:txBody>
      </p:sp>
      <p:sp>
        <p:nvSpPr>
          <p:cNvPr id="11" name="Rounded Rectangle 10"/>
          <p:cNvSpPr/>
          <p:nvPr/>
        </p:nvSpPr>
        <p:spPr>
          <a:xfrm>
            <a:off x="292479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Score each method on the hold-out</a:t>
            </a:r>
          </a:p>
        </p:txBody>
      </p:sp>
      <p:sp>
        <p:nvSpPr>
          <p:cNvPr id="12" name="Rounded Rectangle 11"/>
          <p:cNvSpPr/>
          <p:nvPr/>
        </p:nvSpPr>
        <p:spPr>
          <a:xfrm>
            <a:off x="511807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Pick the forecast, price the error</a:t>
            </a:r>
          </a:p>
        </p:txBody>
      </p:sp>
      <p:sp>
        <p:nvSpPr>
          <p:cNvPr id="13" name="Rounded Rectangle 12"/>
          <p:cNvSpPr/>
          <p:nvPr/>
        </p:nvSpPr>
        <p:spPr>
          <a:xfrm>
            <a:off x="7311359" y="5074920"/>
            <a:ext cx="2083551"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can two years of weeks not tell us?</a:t>
            </a:r>
          </a:p>
        </p:txBody>
      </p:sp>
      <p:sp>
        <p:nvSpPr>
          <p:cNvPr id="14" name="Rounded Rectangle 13"/>
          <p:cNvSpPr/>
          <p:nvPr/>
        </p:nvSpPr>
        <p:spPr>
          <a:xfrm>
            <a:off x="9504639" y="5074920"/>
            <a:ext cx="2083551"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Turn the forecast into packer shifts</a:t>
            </a:r>
          </a:p>
        </p:txBody>
      </p:sp>
      <p:sp>
        <p:nvSpPr>
          <p:cNvPr id="15" name="TextBox 14"/>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5: how much is coming, and how wrong could we be?</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29 / 35</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Asymmetric cost: the plan sits above the median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is the right plan above the forecast's middle, and how far above?</a:t>
            </a:r>
          </a:p>
        </p:txBody>
      </p:sp>
      <p:pic>
        <p:nvPicPr>
          <p:cNvPr id="9" name="mermaid diagram" descr="C2_W04_D05_cost_curve_STUDENT.png"/>
          <p:cNvPicPr>
            <a:picLocks noChangeAspect="1"/>
          </p:cNvPicPr>
          <p:nvPr/>
        </p:nvPicPr>
        <p:blipFill>
          <a:blip r:embed="rId4"/>
          <a:stretch>
            <a:fillRect/>
          </a:stretch>
        </p:blipFill>
        <p:spPr>
          <a:xfrm>
            <a:off x="2776665" y="1664208"/>
            <a:ext cx="6638364" cy="3664712"/>
          </a:xfrm>
          <a:prstGeom prst="rect">
            <a:avLst/>
          </a:prstGeom>
        </p:spPr>
      </p:pic>
      <p:sp>
        <p:nvSpPr>
          <p:cNvPr id="10" name="picture caption"/>
          <p:cNvSpPr txBox="1"/>
          <p:nvPr/>
        </p:nvSpPr>
        <p:spPr>
          <a:xfrm>
            <a:off x="530352" y="5365496"/>
            <a:ext cx="11130991" cy="316992"/>
          </a:xfrm>
          <a:prstGeom prst="rect">
            <a:avLst/>
          </a:prstGeom>
          <a:noFill/>
        </p:spPr>
        <p:txBody>
          <a:bodyPr wrap="square" anchor="t" lIns="0" rIns="0" tIns="0" bIns="0">
            <a:spAutoFit/>
          </a:bodyPr>
          <a:lstStyle/>
          <a:p>
            <a:pPr algn="ctr"/>
            <a:r>
              <a:rPr sz="1200" b="0" i="0">
                <a:solidFill>
                  <a:srgbClr val="6B6690"/>
                </a:solidFill>
                <a:latin typeface="Calibri"/>
              </a:rPr>
              <a:t>Cost curve</a:t>
            </a:r>
          </a:p>
        </p:txBody>
      </p:sp>
      <p:sp>
        <p:nvSpPr>
          <p:cNvPr id="11" name="TextBox 10"/>
          <p:cNvSpPr txBox="1"/>
          <p:nvPr/>
        </p:nvSpPr>
        <p:spPr>
          <a:xfrm>
            <a:off x="530352" y="5691632"/>
            <a:ext cx="11130991" cy="507999"/>
          </a:xfrm>
          <a:prstGeom prst="rect">
            <a:avLst/>
          </a:prstGeom>
          <a:noFill/>
        </p:spPr>
        <p:txBody>
          <a:bodyPr wrap="square" anchor="t" lIns="0" rIns="0" tIns="0" bIns="0">
            <a:spAutoFit/>
          </a:bodyPr>
          <a:lstStyle/>
          <a:p>
            <a:r>
              <a:rPr sz="1100" b="0" i="0">
                <a:solidFill>
                  <a:srgbClr val="1A1440"/>
                </a:solidFill>
                <a:latin typeface="Calibri"/>
              </a:rPr>
              <a:t>An idle packer-shift costs about Rs 5.42 per over-forecast shipment and a late shipment costs Rs 25 per under-forecast shipment. The ratio sets the plan quantile at 25 divided by 25 plus 5.42, which is about 0.82. Being short costs about 4.6 times being long.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4" name="Oval 13"/>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6" name="Oval 15"/>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8" name="Oval 17"/>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0" name="Oval 19"/>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30 / 35</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chosen forecast: festival-aligned with drift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method goes to the plan, and why this one?</a:t>
            </a:r>
          </a:p>
        </p:txBody>
      </p:sp>
      <p:sp>
        <p:nvSpPr>
          <p:cNvPr id="9" name="Rounded Rectangle 8"/>
          <p:cNvSpPr/>
          <p:nvPr/>
        </p:nvSpPr>
        <p:spPr>
          <a:xfrm>
            <a:off x="53035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badge-check_d6a22696841d.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CHOSEN</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Festival-aligned with drift</a:t>
            </a:r>
          </a:p>
        </p:txBody>
      </p:sp>
      <p:sp>
        <p:nvSpPr>
          <p:cNvPr id="14" name="TextBox 13"/>
          <p:cNvSpPr txBox="1"/>
          <p:nvPr/>
        </p:nvSpPr>
        <p:spPr>
          <a:xfrm>
            <a:off x="731519"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Beats the vendor by 200 percent on the hold-out, places the peak at the right week, and uses the shape of 2025 corrected for growth.</a:t>
            </a:r>
          </a:p>
        </p:txBody>
      </p:sp>
      <p:sp>
        <p:nvSpPr>
          <p:cNvPr id="15" name="Rounded Rectangle 14"/>
          <p:cNvSpPr/>
          <p:nvPr/>
        </p:nvSpPr>
        <p:spPr>
          <a:xfrm>
            <a:off x="430164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circle-x_d95d955eacba.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REJECTED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Vendor's plus 22 percent</a:t>
            </a:r>
          </a:p>
        </p:txBody>
      </p:sp>
      <p:sp>
        <p:nvSpPr>
          <p:cNvPr id="20" name="TextBox 19"/>
          <p:cNvSpPr txBox="1"/>
          <p:nvPr/>
        </p:nvSpPr>
        <p:spPr>
          <a:xfrm>
            <a:off x="4502810" y="3303524"/>
            <a:ext cx="3186074" cy="763016"/>
          </a:xfrm>
          <a:prstGeom prst="rect">
            <a:avLst/>
          </a:prstGeom>
          <a:noFill/>
        </p:spPr>
        <p:txBody>
          <a:bodyPr wrap="square" anchor="t" lIns="0" rIns="0" tIns="0" bIns="0">
            <a:spAutoFit/>
          </a:bodyPr>
          <a:lstStyle/>
          <a:p>
            <a:pPr algn="l"/>
            <a:r>
              <a:rPr sz="1100" b="0" i="0">
                <a:solidFill>
                  <a:srgbClr val="6B6690"/>
                </a:solidFill>
                <a:latin typeface="Calibri"/>
              </a:rPr>
              <a:t>Its hold-out error is three times festival-aligned's, and its 22 percent is a scale of past weeks that already carries the shape at the wrong calendar position.</a:t>
            </a:r>
          </a:p>
        </p:txBody>
      </p:sp>
      <p:sp>
        <p:nvSpPr>
          <p:cNvPr id="21" name="Rounded Rectangle 20"/>
          <p:cNvSpPr/>
          <p:nvPr/>
        </p:nvSpPr>
        <p:spPr>
          <a:xfrm>
            <a:off x="8072932" y="1956816"/>
            <a:ext cx="3588410" cy="23444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circle-x_d95d955eacba.png"/>
          <p:cNvPicPr>
            <a:picLocks noChangeAspect="1"/>
          </p:cNvPicPr>
          <p:nvPr/>
        </p:nvPicPr>
        <p:blipFill>
          <a:blip r:embed="rId5"/>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REJECTED</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Finance's plus 4 percent</a:t>
            </a:r>
          </a:p>
        </p:txBody>
      </p:sp>
      <p:sp>
        <p:nvSpPr>
          <p:cNvPr id="26" name="TextBox 25"/>
          <p:cNvSpPr txBox="1"/>
          <p:nvPr/>
        </p:nvSpPr>
        <p:spPr>
          <a:xfrm>
            <a:off x="8274100" y="3303524"/>
            <a:ext cx="3186074" cy="581406"/>
          </a:xfrm>
          <a:prstGeom prst="rect">
            <a:avLst/>
          </a:prstGeom>
          <a:noFill/>
        </p:spPr>
        <p:txBody>
          <a:bodyPr wrap="square" anchor="t" lIns="0" rIns="0" tIns="0" bIns="0">
            <a:spAutoFit/>
          </a:bodyPr>
          <a:lstStyle/>
          <a:p>
            <a:pPr algn="l"/>
            <a:r>
              <a:rPr sz="1100" b="0" i="0">
                <a:solidFill>
                  <a:srgbClr val="6B6690"/>
                </a:solidFill>
                <a:latin typeface="Calibri"/>
              </a:rPr>
              <a:t>True for the total, wrong for the week-by-week shape; it carries the vendor's calendar error with less scaling.</a:t>
            </a:r>
          </a:p>
        </p:txBody>
      </p:sp>
      <p:sp>
        <p:nvSpPr>
          <p:cNvPr id="27" name="Oval 26"/>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29" name="Oval 28"/>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31" name="Oval 30"/>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33" name="Oval 32"/>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35" name="Oval 34"/>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37" name="TextBox 3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31 / 35</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error bar: hold-out MAE, priced in rupees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wrong could the chosen forecast be, in shipments and in rupees?</a:t>
            </a:r>
          </a:p>
        </p:txBody>
      </p:sp>
      <p:graphicFrame>
        <p:nvGraphicFramePr>
          <p:cNvPr id="9" name="Table 8"/>
          <p:cNvGraphicFramePr>
            <a:graphicFrameLocks noGrp="1"/>
          </p:cNvGraphicFramePr>
          <p:nvPr/>
        </p:nvGraphicFramePr>
        <p:xfrm>
          <a:off x="530352" y="1956816"/>
          <a:ext cx="11130989" cy="1593088"/>
        </p:xfrm>
        <a:graphic>
          <a:graphicData uri="http://schemas.openxmlformats.org/drawingml/2006/table">
            <a:tbl>
              <a:tblPr firstRow="0" bandRow="0">
                <a:tableStyleId>{2D5ABB26-0587-4C30-8999-92F81FD0307C}</a:tableStyleId>
              </a:tblPr>
              <a:tblGrid>
                <a:gridCol w="3391490"/>
                <a:gridCol w="2101450"/>
                <a:gridCol w="5638049"/>
              </a:tblGrid>
              <a:tr h="369824">
                <a:tc>
                  <a:txBody>
                    <a:bodyPr/>
                    <a:lstStyle/>
                    <a:p/>
                  </a:txBody>
                  <a:tcPr marL="101600" marR="101600" marT="38100" marB="38100" anchor="ctr">
                    <a:solidFill>
                      <a:srgbClr val="1A0F5C"/>
                    </a:solidFill>
                  </a:tcPr>
                </a:tc>
                <a:tc>
                  <a:txBody>
                    <a:bodyPr/>
                    <a:lstStyle/>
                    <a:p>
                      <a:r>
                        <a:rPr sz="1450" b="1" i="0">
                          <a:solidFill>
                            <a:srgbClr val="FFFFFF"/>
                          </a:solidFill>
                          <a:latin typeface="Calibri"/>
                        </a:rPr>
                        <a:t>Shipments per week</a:t>
                      </a:r>
                    </a:p>
                  </a:txBody>
                  <a:tcPr marL="101600" marR="101600" marT="38100" marB="38100" anchor="ctr">
                    <a:solidFill>
                      <a:srgbClr val="1A0F5C"/>
                    </a:solidFill>
                  </a:tcPr>
                </a:tc>
                <a:tc>
                  <a:txBody>
                    <a:bodyPr/>
                    <a:lstStyle/>
                    <a:p>
                      <a:r>
                        <a:rPr sz="1450" b="1" i="0">
                          <a:solidFill>
                            <a:srgbClr val="FFFFFF"/>
                          </a:solidFill>
                          <a:latin typeface="Calibri"/>
                        </a:rPr>
                        <a:t>Rupees per week in each direction</a:t>
                      </a:r>
                    </a:p>
                  </a:txBody>
                  <a:tcPr marL="101600" marR="101600" marT="38100" marB="38100" anchor="ctr">
                    <a:solidFill>
                      <a:srgbClr val="1A0F5C"/>
                    </a:solidFill>
                  </a:tcPr>
                </a:tc>
              </a:tr>
              <a:tr h="611632">
                <a:tc>
                  <a:txBody>
                    <a:bodyPr/>
                    <a:lstStyle/>
                    <a:p>
                      <a:r>
                        <a:rPr sz="1400" b="0" i="0">
                          <a:solidFill>
                            <a:srgbClr val="1A1440"/>
                          </a:solidFill>
                          <a:latin typeface="Calibri"/>
                        </a:rPr>
                        <a:t>MAE on hold-out (festival-aligned)</a:t>
                      </a:r>
                    </a:p>
                  </a:txBody>
                  <a:tcPr marL="101600" marR="101600" marT="38100" marB="38100" anchor="ctr">
                    <a:solidFill>
                      <a:srgbClr val="FFFFFF"/>
                    </a:solidFill>
                  </a:tcPr>
                </a:tc>
                <a:tc>
                  <a:txBody>
                    <a:bodyPr/>
                    <a:lstStyle/>
                    <a:p>
                      <a:r>
                        <a:rPr sz="1400" b="0" i="0">
                          <a:solidFill>
                            <a:srgbClr val="1A1440"/>
                          </a:solidFill>
                          <a:latin typeface="Calibri"/>
                        </a:rPr>
                        <a:t>5,674</a:t>
                      </a:r>
                    </a:p>
                  </a:txBody>
                  <a:tcPr marL="101600" marR="101600" marT="38100" marB="38100" anchor="ctr">
                    <a:solidFill>
                      <a:srgbClr val="FFFFFF"/>
                    </a:solidFill>
                  </a:tcPr>
                </a:tc>
                <a:tc>
                  <a:txBody>
                    <a:bodyPr/>
                    <a:lstStyle/>
                    <a:p>
                      <a:r>
                        <a:rPr sz="1400" b="0" i="0">
                          <a:solidFill>
                            <a:srgbClr val="1A1440"/>
                          </a:solidFill>
                          <a:latin typeface="Calibri"/>
                        </a:rPr>
                        <a:t>Rs 30,760 of idle shifts if over; Rs 1.42 lakh of late shipments if under</a:t>
                      </a:r>
                    </a:p>
                  </a:txBody>
                  <a:tcPr marL="101600" marR="101600" marT="38100" marB="38100" anchor="ctr">
                    <a:solidFill>
                      <a:srgbClr val="FFFFFF"/>
                    </a:solidFill>
                  </a:tcPr>
                </a:tc>
              </a:tr>
              <a:tr h="611632">
                <a:tc>
                  <a:txBody>
                    <a:bodyPr/>
                    <a:lstStyle/>
                    <a:p>
                      <a:r>
                        <a:rPr sz="1400" b="0" i="0">
                          <a:solidFill>
                            <a:srgbClr val="1A1440"/>
                          </a:solidFill>
                          <a:latin typeface="Calibri"/>
                        </a:rPr>
                        <a:t>Over the eight-week festive window</a:t>
                      </a:r>
                    </a:p>
                  </a:txBody>
                  <a:tcPr marL="101600" marR="101600" marT="38100" marB="38100" anchor="ctr">
                    <a:solidFill>
                      <a:srgbClr val="F4F2FA"/>
                    </a:solidFill>
                  </a:tcPr>
                </a:tc>
                <a:tc>
                  <a:txBody>
                    <a:bodyPr/>
                    <a:lstStyle/>
                    <a:p>
                      <a:r>
                        <a:rPr sz="1400" b="0" i="0">
                          <a:solidFill>
                            <a:srgbClr val="1A1440"/>
                          </a:solidFill>
                          <a:latin typeface="Calibri"/>
                        </a:rPr>
                        <a:t>5,674 x 8 = 45,392</a:t>
                      </a:r>
                    </a:p>
                  </a:txBody>
                  <a:tcPr marL="101600" marR="101600" marT="38100" marB="38100" anchor="ctr">
                    <a:solidFill>
                      <a:srgbClr val="F4F2FA"/>
                    </a:solidFill>
                  </a:tcPr>
                </a:tc>
                <a:tc>
                  <a:txBody>
                    <a:bodyPr/>
                    <a:lstStyle/>
                    <a:p>
                      <a:r>
                        <a:rPr sz="1400" b="0" i="0">
                          <a:solidFill>
                            <a:srgbClr val="1A1440"/>
                          </a:solidFill>
                          <a:latin typeface="Calibri"/>
                        </a:rPr>
                        <a:t>Rs 2.46 lakh (over) or Rs 11.35 lakh (under), with the asymmetric cost</a:t>
                      </a:r>
                    </a:p>
                  </a:txBody>
                  <a:tcPr marL="101600" marR="101600" marT="38100" marB="38100" anchor="ctr">
                    <a:solidFill>
                      <a:srgbClr val="F4F2FA"/>
                    </a:solidFill>
                  </a:tcPr>
                </a:tc>
              </a:tr>
            </a:tbl>
          </a:graphicData>
        </a:graphic>
      </p:graphicFrame>
      <p:sp>
        <p:nvSpPr>
          <p:cNvPr id="10" name="TextBox 9"/>
          <p:cNvSpPr txBox="1"/>
          <p:nvPr/>
        </p:nvSpPr>
        <p:spPr>
          <a:xfrm>
            <a:off x="530352" y="3805936"/>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error bar from the hold-out holds no festival; the error on festive weeks is judged separately on the 2025 festive weeks that the method got within 2 percent of actual. The appendix carries both.</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5" name="Oval 1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7" name="Oval 1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9" name="Oval 18"/>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32 / 35</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plan in packers: shifts raised to 0.82 quantile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many packer shifts does each of the eight weeks need?</a:t>
            </a:r>
          </a:p>
        </p:txBody>
      </p:sp>
      <p:graphicFrame>
        <p:nvGraphicFramePr>
          <p:cNvPr id="9" name="Table 8"/>
          <p:cNvGraphicFramePr>
            <a:graphicFrameLocks noGrp="1"/>
          </p:cNvGraphicFramePr>
          <p:nvPr/>
        </p:nvGraphicFramePr>
        <p:xfrm>
          <a:off x="530352" y="1918208"/>
          <a:ext cx="11130989" cy="3017520"/>
        </p:xfrm>
        <a:graphic>
          <a:graphicData uri="http://schemas.openxmlformats.org/drawingml/2006/table">
            <a:tbl>
              <a:tblPr firstRow="0" bandRow="0">
                <a:tableStyleId>{2D5ABB26-0587-4C30-8999-92F81FD0307C}</a:tableStyleId>
              </a:tblPr>
              <a:tblGrid>
                <a:gridCol w="1506258"/>
                <a:gridCol w="3745832"/>
                <a:gridCol w="2417673"/>
                <a:gridCol w="3461226"/>
              </a:tblGrid>
              <a:tr h="335280">
                <a:tc>
                  <a:txBody>
                    <a:bodyPr/>
                    <a:lstStyle/>
                    <a:p>
                      <a:r>
                        <a:rPr sz="1250" b="1" i="0">
                          <a:solidFill>
                            <a:srgbClr val="FFFFFF"/>
                          </a:solidFill>
                          <a:latin typeface="Calibri"/>
                        </a:rPr>
                        <a:t>Week</a:t>
                      </a:r>
                    </a:p>
                  </a:txBody>
                  <a:tcPr marL="101600" marR="101600" marT="38100" marB="38100" anchor="ctr">
                    <a:solidFill>
                      <a:srgbClr val="1A0F5C"/>
                    </a:solidFill>
                  </a:tcPr>
                </a:tc>
                <a:tc>
                  <a:txBody>
                    <a:bodyPr/>
                    <a:lstStyle/>
                    <a:p>
                      <a:r>
                        <a:rPr sz="1250" b="1" i="0">
                          <a:solidFill>
                            <a:srgbClr val="FFFFFF"/>
                          </a:solidFill>
                          <a:latin typeface="Calibri"/>
                        </a:rPr>
                        <a:t>Festival-aligned forecast (shipments)</a:t>
                      </a:r>
                    </a:p>
                  </a:txBody>
                  <a:tcPr marL="101600" marR="101600" marT="38100" marB="38100" anchor="ctr">
                    <a:solidFill>
                      <a:srgbClr val="1A0F5C"/>
                    </a:solidFill>
                  </a:tcPr>
                </a:tc>
                <a:tc>
                  <a:txBody>
                    <a:bodyPr/>
                    <a:lstStyle/>
                    <a:p>
                      <a:r>
                        <a:rPr sz="1250" b="1" i="0">
                          <a:solidFill>
                            <a:srgbClr val="FFFFFF"/>
                          </a:solidFill>
                          <a:latin typeface="Calibri"/>
                        </a:rPr>
                        <a:t>Shifts at 120 per shift</a:t>
                      </a:r>
                    </a:p>
                  </a:txBody>
                  <a:tcPr marL="101600" marR="101600" marT="38100" marB="38100" anchor="ctr">
                    <a:solidFill>
                      <a:srgbClr val="1A0F5C"/>
                    </a:solidFill>
                  </a:tcPr>
                </a:tc>
                <a:tc>
                  <a:txBody>
                    <a:bodyPr/>
                    <a:lstStyle/>
                    <a:p>
                      <a:r>
                        <a:rPr sz="1250" b="1" i="0">
                          <a:solidFill>
                            <a:srgbClr val="FFFFFF"/>
                          </a:solidFill>
                          <a:latin typeface="Calibri"/>
                        </a:rPr>
                        <a:t>Shifts raised to the 0.82 quantile</a:t>
                      </a:r>
                    </a:p>
                  </a:txBody>
                  <a:tcPr marL="101600" marR="101600" marT="38100" marB="38100" anchor="ctr">
                    <a:solidFill>
                      <a:srgbClr val="1A0F5C"/>
                    </a:solidFill>
                  </a:tcPr>
                </a:tc>
              </a:tr>
              <a:tr h="335280">
                <a:tc>
                  <a:txBody>
                    <a:bodyPr/>
                    <a:lstStyle/>
                    <a:p>
                      <a:r>
                        <a:rPr sz="1200" b="0" i="0">
                          <a:solidFill>
                            <a:srgbClr val="1A1440"/>
                          </a:solidFill>
                          <a:latin typeface="Calibri"/>
                        </a:rPr>
                        <a:t>Mon 12 Oct 2026</a:t>
                      </a:r>
                    </a:p>
                  </a:txBody>
                  <a:tcPr marL="101600" marR="101600" marT="38100" marB="38100" anchor="ctr">
                    <a:solidFill>
                      <a:srgbClr val="FFFFFF"/>
                    </a:solidFill>
                  </a:tcPr>
                </a:tc>
                <a:tc>
                  <a:txBody>
                    <a:bodyPr/>
                    <a:lstStyle/>
                    <a:p>
                      <a:r>
                        <a:rPr sz="1200" b="0" i="0">
                          <a:solidFill>
                            <a:srgbClr val="1A1440"/>
                          </a:solidFill>
                          <a:latin typeface="Calibri"/>
                        </a:rPr>
                        <a:t>332,000</a:t>
                      </a:r>
                    </a:p>
                  </a:txBody>
                  <a:tcPr marL="101600" marR="101600" marT="38100" marB="38100" anchor="ctr">
                    <a:solidFill>
                      <a:srgbClr val="FFFFFF"/>
                    </a:solidFill>
                  </a:tcPr>
                </a:tc>
                <a:tc>
                  <a:txBody>
                    <a:bodyPr/>
                    <a:lstStyle/>
                    <a:p>
                      <a:r>
                        <a:rPr sz="1200" b="0" i="0">
                          <a:solidFill>
                            <a:srgbClr val="1A1440"/>
                          </a:solidFill>
                          <a:latin typeface="Calibri"/>
                        </a:rPr>
                        <a:t>2,767</a:t>
                      </a:r>
                    </a:p>
                  </a:txBody>
                  <a:tcPr marL="101600" marR="101600" marT="38100" marB="38100" anchor="ctr">
                    <a:solidFill>
                      <a:srgbClr val="FFFFFF"/>
                    </a:solidFill>
                  </a:tcPr>
                </a:tc>
                <a:tc>
                  <a:txBody>
                    <a:bodyPr/>
                    <a:lstStyle/>
                    <a:p>
                      <a:r>
                        <a:rPr sz="1200" b="0" i="0">
                          <a:solidFill>
                            <a:srgbClr val="1A1440"/>
                          </a:solidFill>
                          <a:latin typeface="Calibri"/>
                        </a:rPr>
                        <a:t>2,814</a:t>
                      </a:r>
                    </a:p>
                  </a:txBody>
                  <a:tcPr marL="101600" marR="101600" marT="38100" marB="38100" anchor="ctr">
                    <a:solidFill>
                      <a:srgbClr val="FFFFFF"/>
                    </a:solidFill>
                  </a:tcPr>
                </a:tc>
              </a:tr>
              <a:tr h="335280">
                <a:tc>
                  <a:txBody>
                    <a:bodyPr/>
                    <a:lstStyle/>
                    <a:p>
                      <a:r>
                        <a:rPr sz="1200" b="0" i="0">
                          <a:solidFill>
                            <a:srgbClr val="1A1440"/>
                          </a:solidFill>
                          <a:latin typeface="Calibri"/>
                        </a:rPr>
                        <a:t>Mon 19 Oct 2026</a:t>
                      </a:r>
                    </a:p>
                  </a:txBody>
                  <a:tcPr marL="101600" marR="101600" marT="38100" marB="38100" anchor="ctr">
                    <a:solidFill>
                      <a:srgbClr val="F4F2FA"/>
                    </a:solidFill>
                  </a:tcPr>
                </a:tc>
                <a:tc>
                  <a:txBody>
                    <a:bodyPr/>
                    <a:lstStyle/>
                    <a:p>
                      <a:r>
                        <a:rPr sz="1200" b="0" i="0">
                          <a:solidFill>
                            <a:srgbClr val="1A1440"/>
                          </a:solidFill>
                          <a:latin typeface="Calibri"/>
                        </a:rPr>
                        <a:t>419,000</a:t>
                      </a:r>
                    </a:p>
                  </a:txBody>
                  <a:tcPr marL="101600" marR="101600" marT="38100" marB="38100" anchor="ctr">
                    <a:solidFill>
                      <a:srgbClr val="F4F2FA"/>
                    </a:solidFill>
                  </a:tcPr>
                </a:tc>
                <a:tc>
                  <a:txBody>
                    <a:bodyPr/>
                    <a:lstStyle/>
                    <a:p>
                      <a:r>
                        <a:rPr sz="1200" b="0" i="0">
                          <a:solidFill>
                            <a:srgbClr val="1A1440"/>
                          </a:solidFill>
                          <a:latin typeface="Calibri"/>
                        </a:rPr>
                        <a:t>3,492</a:t>
                      </a:r>
                    </a:p>
                  </a:txBody>
                  <a:tcPr marL="101600" marR="101600" marT="38100" marB="38100" anchor="ctr">
                    <a:solidFill>
                      <a:srgbClr val="F4F2FA"/>
                    </a:solidFill>
                  </a:tcPr>
                </a:tc>
                <a:tc>
                  <a:txBody>
                    <a:bodyPr/>
                    <a:lstStyle/>
                    <a:p>
                      <a:r>
                        <a:rPr sz="1200" b="0" i="0">
                          <a:solidFill>
                            <a:srgbClr val="1A1440"/>
                          </a:solidFill>
                          <a:latin typeface="Calibri"/>
                        </a:rPr>
                        <a:t>3,551</a:t>
                      </a:r>
                    </a:p>
                  </a:txBody>
                  <a:tcPr marL="101600" marR="101600" marT="38100" marB="38100" anchor="ctr">
                    <a:solidFill>
                      <a:srgbClr val="F4F2FA"/>
                    </a:solidFill>
                  </a:tcPr>
                </a:tc>
              </a:tr>
              <a:tr h="335280">
                <a:tc>
                  <a:txBody>
                    <a:bodyPr/>
                    <a:lstStyle/>
                    <a:p>
                      <a:r>
                        <a:rPr sz="1200" b="0" i="0">
                          <a:solidFill>
                            <a:srgbClr val="1A1440"/>
                          </a:solidFill>
                          <a:latin typeface="Calibri"/>
                        </a:rPr>
                        <a:t>Mon 26 Oct 2026</a:t>
                      </a:r>
                    </a:p>
                  </a:txBody>
                  <a:tcPr marL="101600" marR="101600" marT="38100" marB="38100" anchor="ctr">
                    <a:solidFill>
                      <a:srgbClr val="FFFFFF"/>
                    </a:solidFill>
                  </a:tcPr>
                </a:tc>
                <a:tc>
                  <a:txBody>
                    <a:bodyPr/>
                    <a:lstStyle/>
                    <a:p>
                      <a:r>
                        <a:rPr sz="1200" b="0" i="0">
                          <a:solidFill>
                            <a:srgbClr val="1A1440"/>
                          </a:solidFill>
                          <a:latin typeface="Calibri"/>
                        </a:rPr>
                        <a:t>375,000</a:t>
                      </a:r>
                    </a:p>
                  </a:txBody>
                  <a:tcPr marL="101600" marR="101600" marT="38100" marB="38100" anchor="ctr">
                    <a:solidFill>
                      <a:srgbClr val="FFFFFF"/>
                    </a:solidFill>
                  </a:tcPr>
                </a:tc>
                <a:tc>
                  <a:txBody>
                    <a:bodyPr/>
                    <a:lstStyle/>
                    <a:p>
                      <a:r>
                        <a:rPr sz="1200" b="0" i="0">
                          <a:solidFill>
                            <a:srgbClr val="1A1440"/>
                          </a:solidFill>
                          <a:latin typeface="Calibri"/>
                        </a:rPr>
                        <a:t>3,125</a:t>
                      </a:r>
                    </a:p>
                  </a:txBody>
                  <a:tcPr marL="101600" marR="101600" marT="38100" marB="38100" anchor="ctr">
                    <a:solidFill>
                      <a:srgbClr val="FFFFFF"/>
                    </a:solidFill>
                  </a:tcPr>
                </a:tc>
                <a:tc>
                  <a:txBody>
                    <a:bodyPr/>
                    <a:lstStyle/>
                    <a:p>
                      <a:r>
                        <a:rPr sz="1200" b="0" i="0">
                          <a:solidFill>
                            <a:srgbClr val="1A1440"/>
                          </a:solidFill>
                          <a:latin typeface="Calibri"/>
                        </a:rPr>
                        <a:t>3,178</a:t>
                      </a:r>
                    </a:p>
                  </a:txBody>
                  <a:tcPr marL="101600" marR="101600" marT="38100" marB="38100" anchor="ctr">
                    <a:solidFill>
                      <a:srgbClr val="FFFFFF"/>
                    </a:solidFill>
                  </a:tcPr>
                </a:tc>
              </a:tr>
              <a:tr h="335280">
                <a:tc>
                  <a:txBody>
                    <a:bodyPr/>
                    <a:lstStyle/>
                    <a:p>
                      <a:r>
                        <a:rPr sz="1200" b="0" i="0">
                          <a:solidFill>
                            <a:srgbClr val="1A1440"/>
                          </a:solidFill>
                          <a:latin typeface="Calibri"/>
                        </a:rPr>
                        <a:t>Mon 2 Nov 2026</a:t>
                      </a:r>
                    </a:p>
                  </a:txBody>
                  <a:tcPr marL="101600" marR="101600" marT="38100" marB="38100" anchor="ctr">
                    <a:solidFill>
                      <a:srgbClr val="F4F2FA"/>
                    </a:solidFill>
                  </a:tcPr>
                </a:tc>
                <a:tc>
                  <a:txBody>
                    <a:bodyPr/>
                    <a:lstStyle/>
                    <a:p>
                      <a:r>
                        <a:rPr sz="1200" b="0" i="0">
                          <a:solidFill>
                            <a:srgbClr val="1A1440"/>
                          </a:solidFill>
                          <a:latin typeface="Calibri"/>
                        </a:rPr>
                        <a:t>309,500</a:t>
                      </a:r>
                    </a:p>
                  </a:txBody>
                  <a:tcPr marL="101600" marR="101600" marT="38100" marB="38100" anchor="ctr">
                    <a:solidFill>
                      <a:srgbClr val="F4F2FA"/>
                    </a:solidFill>
                  </a:tcPr>
                </a:tc>
                <a:tc>
                  <a:txBody>
                    <a:bodyPr/>
                    <a:lstStyle/>
                    <a:p>
                      <a:r>
                        <a:rPr sz="1200" b="0" i="0">
                          <a:solidFill>
                            <a:srgbClr val="1A1440"/>
                          </a:solidFill>
                          <a:latin typeface="Calibri"/>
                        </a:rPr>
                        <a:t>2,580</a:t>
                      </a:r>
                    </a:p>
                  </a:txBody>
                  <a:tcPr marL="101600" marR="101600" marT="38100" marB="38100" anchor="ctr">
                    <a:solidFill>
                      <a:srgbClr val="F4F2FA"/>
                    </a:solidFill>
                  </a:tcPr>
                </a:tc>
                <a:tc>
                  <a:txBody>
                    <a:bodyPr/>
                    <a:lstStyle/>
                    <a:p>
                      <a:r>
                        <a:rPr sz="1200" b="0" i="0">
                          <a:solidFill>
                            <a:srgbClr val="1A1440"/>
                          </a:solidFill>
                          <a:latin typeface="Calibri"/>
                        </a:rPr>
                        <a:t>2,624</a:t>
                      </a:r>
                    </a:p>
                  </a:txBody>
                  <a:tcPr marL="101600" marR="101600" marT="38100" marB="38100" anchor="ctr">
                    <a:solidFill>
                      <a:srgbClr val="F4F2FA"/>
                    </a:solidFill>
                  </a:tcPr>
                </a:tc>
              </a:tr>
              <a:tr h="335280">
                <a:tc>
                  <a:txBody>
                    <a:bodyPr/>
                    <a:lstStyle/>
                    <a:p>
                      <a:r>
                        <a:rPr sz="1200" b="0" i="0">
                          <a:solidFill>
                            <a:srgbClr val="1A1440"/>
                          </a:solidFill>
                          <a:latin typeface="Calibri"/>
                        </a:rPr>
                        <a:t>Mon 9 Nov 2026</a:t>
                      </a:r>
                    </a:p>
                  </a:txBody>
                  <a:tcPr marL="101600" marR="101600" marT="38100" marB="38100" anchor="ctr">
                    <a:solidFill>
                      <a:srgbClr val="FFFFFF"/>
                    </a:solidFill>
                  </a:tcPr>
                </a:tc>
                <a:tc>
                  <a:txBody>
                    <a:bodyPr/>
                    <a:lstStyle/>
                    <a:p>
                      <a:r>
                        <a:rPr sz="1200" b="0" i="0">
                          <a:solidFill>
                            <a:srgbClr val="1A1440"/>
                          </a:solidFill>
                          <a:latin typeface="Calibri"/>
                        </a:rPr>
                        <a:t>198,000</a:t>
                      </a:r>
                    </a:p>
                  </a:txBody>
                  <a:tcPr marL="101600" marR="101600" marT="38100" marB="38100" anchor="ctr">
                    <a:solidFill>
                      <a:srgbClr val="FFFFFF"/>
                    </a:solidFill>
                  </a:tcPr>
                </a:tc>
                <a:tc>
                  <a:txBody>
                    <a:bodyPr/>
                    <a:lstStyle/>
                    <a:p>
                      <a:r>
                        <a:rPr sz="1200" b="0" i="0">
                          <a:solidFill>
                            <a:srgbClr val="1A1440"/>
                          </a:solidFill>
                          <a:latin typeface="Calibri"/>
                        </a:rPr>
                        <a:t>1,650</a:t>
                      </a:r>
                    </a:p>
                  </a:txBody>
                  <a:tcPr marL="101600" marR="101600" marT="38100" marB="38100" anchor="ctr">
                    <a:solidFill>
                      <a:srgbClr val="FFFFFF"/>
                    </a:solidFill>
                  </a:tcPr>
                </a:tc>
                <a:tc>
                  <a:txBody>
                    <a:bodyPr/>
                    <a:lstStyle/>
                    <a:p>
                      <a:r>
                        <a:rPr sz="1200" b="0" i="0">
                          <a:solidFill>
                            <a:srgbClr val="1A1440"/>
                          </a:solidFill>
                          <a:latin typeface="Calibri"/>
                        </a:rPr>
                        <a:t>1,678</a:t>
                      </a:r>
                    </a:p>
                  </a:txBody>
                  <a:tcPr marL="101600" marR="101600" marT="38100" marB="38100" anchor="ctr">
                    <a:solidFill>
                      <a:srgbClr val="FFFFFF"/>
                    </a:solidFill>
                  </a:tcPr>
                </a:tc>
              </a:tr>
              <a:tr h="335280">
                <a:tc>
                  <a:txBody>
                    <a:bodyPr/>
                    <a:lstStyle/>
                    <a:p>
                      <a:r>
                        <a:rPr sz="1200" b="0" i="0">
                          <a:solidFill>
                            <a:srgbClr val="1A1440"/>
                          </a:solidFill>
                          <a:latin typeface="Calibri"/>
                        </a:rPr>
                        <a:t>Mon 16 Nov 2026</a:t>
                      </a:r>
                    </a:p>
                  </a:txBody>
                  <a:tcPr marL="101600" marR="101600" marT="38100" marB="38100" anchor="ctr">
                    <a:solidFill>
                      <a:srgbClr val="F4F2FA"/>
                    </a:solidFill>
                  </a:tcPr>
                </a:tc>
                <a:tc>
                  <a:txBody>
                    <a:bodyPr/>
                    <a:lstStyle/>
                    <a:p>
                      <a:r>
                        <a:rPr sz="1200" b="0" i="0">
                          <a:solidFill>
                            <a:srgbClr val="1A1440"/>
                          </a:solidFill>
                          <a:latin typeface="Calibri"/>
                        </a:rPr>
                        <a:t>221,000</a:t>
                      </a:r>
                    </a:p>
                  </a:txBody>
                  <a:tcPr marL="101600" marR="101600" marT="38100" marB="38100" anchor="ctr">
                    <a:solidFill>
                      <a:srgbClr val="F4F2FA"/>
                    </a:solidFill>
                  </a:tcPr>
                </a:tc>
                <a:tc>
                  <a:txBody>
                    <a:bodyPr/>
                    <a:lstStyle/>
                    <a:p>
                      <a:r>
                        <a:rPr sz="1200" b="0" i="0">
                          <a:solidFill>
                            <a:srgbClr val="1A1440"/>
                          </a:solidFill>
                          <a:latin typeface="Calibri"/>
                        </a:rPr>
                        <a:t>1,842</a:t>
                      </a:r>
                    </a:p>
                  </a:txBody>
                  <a:tcPr marL="101600" marR="101600" marT="38100" marB="38100" anchor="ctr">
                    <a:solidFill>
                      <a:srgbClr val="F4F2FA"/>
                    </a:solidFill>
                  </a:tcPr>
                </a:tc>
                <a:tc>
                  <a:txBody>
                    <a:bodyPr/>
                    <a:lstStyle/>
                    <a:p>
                      <a:r>
                        <a:rPr sz="1200" b="0" i="0">
                          <a:solidFill>
                            <a:srgbClr val="1A1440"/>
                          </a:solidFill>
                          <a:latin typeface="Calibri"/>
                        </a:rPr>
                        <a:t>1,873</a:t>
                      </a:r>
                    </a:p>
                  </a:txBody>
                  <a:tcPr marL="101600" marR="101600" marT="38100" marB="38100" anchor="ctr">
                    <a:solidFill>
                      <a:srgbClr val="F4F2FA"/>
                    </a:solidFill>
                  </a:tcPr>
                </a:tc>
              </a:tr>
              <a:tr h="335280">
                <a:tc>
                  <a:txBody>
                    <a:bodyPr/>
                    <a:lstStyle/>
                    <a:p>
                      <a:r>
                        <a:rPr sz="1200" b="0" i="0">
                          <a:solidFill>
                            <a:srgbClr val="1A1440"/>
                          </a:solidFill>
                          <a:latin typeface="Calibri"/>
                        </a:rPr>
                        <a:t>Mon 23 Nov 2026</a:t>
                      </a:r>
                    </a:p>
                  </a:txBody>
                  <a:tcPr marL="101600" marR="101600" marT="38100" marB="38100" anchor="ctr">
                    <a:solidFill>
                      <a:srgbClr val="FFFFFF"/>
                    </a:solidFill>
                  </a:tcPr>
                </a:tc>
                <a:tc>
                  <a:txBody>
                    <a:bodyPr/>
                    <a:lstStyle/>
                    <a:p>
                      <a:r>
                        <a:rPr sz="1200" b="0" i="0">
                          <a:solidFill>
                            <a:srgbClr val="1A1440"/>
                          </a:solidFill>
                          <a:latin typeface="Calibri"/>
                        </a:rPr>
                        <a:t>227,000</a:t>
                      </a:r>
                    </a:p>
                  </a:txBody>
                  <a:tcPr marL="101600" marR="101600" marT="38100" marB="38100" anchor="ctr">
                    <a:solidFill>
                      <a:srgbClr val="FFFFFF"/>
                    </a:solidFill>
                  </a:tcPr>
                </a:tc>
                <a:tc>
                  <a:txBody>
                    <a:bodyPr/>
                    <a:lstStyle/>
                    <a:p>
                      <a:r>
                        <a:rPr sz="1200" b="0" i="0">
                          <a:solidFill>
                            <a:srgbClr val="1A1440"/>
                          </a:solidFill>
                          <a:latin typeface="Calibri"/>
                        </a:rPr>
                        <a:t>1,892</a:t>
                      </a:r>
                    </a:p>
                  </a:txBody>
                  <a:tcPr marL="101600" marR="101600" marT="38100" marB="38100" anchor="ctr">
                    <a:solidFill>
                      <a:srgbClr val="FFFFFF"/>
                    </a:solidFill>
                  </a:tcPr>
                </a:tc>
                <a:tc>
                  <a:txBody>
                    <a:bodyPr/>
                    <a:lstStyle/>
                    <a:p>
                      <a:r>
                        <a:rPr sz="1200" b="0" i="0">
                          <a:solidFill>
                            <a:srgbClr val="1A1440"/>
                          </a:solidFill>
                          <a:latin typeface="Calibri"/>
                        </a:rPr>
                        <a:t>1,924</a:t>
                      </a:r>
                    </a:p>
                  </a:txBody>
                  <a:tcPr marL="101600" marR="101600" marT="38100" marB="38100" anchor="ctr">
                    <a:solidFill>
                      <a:srgbClr val="FFFFFF"/>
                    </a:solidFill>
                  </a:tcPr>
                </a:tc>
              </a:tr>
              <a:tr h="335280">
                <a:tc>
                  <a:txBody>
                    <a:bodyPr/>
                    <a:lstStyle/>
                    <a:p>
                      <a:r>
                        <a:rPr sz="1200" b="0" i="0">
                          <a:solidFill>
                            <a:srgbClr val="1A1440"/>
                          </a:solidFill>
                          <a:latin typeface="Calibri"/>
                        </a:rPr>
                        <a:t>Mon 30 Nov 2026</a:t>
                      </a:r>
                    </a:p>
                  </a:txBody>
                  <a:tcPr marL="101600" marR="101600" marT="38100" marB="38100" anchor="ctr">
                    <a:solidFill>
                      <a:srgbClr val="F4F2FA"/>
                    </a:solidFill>
                  </a:tcPr>
                </a:tc>
                <a:tc>
                  <a:txBody>
                    <a:bodyPr/>
                    <a:lstStyle/>
                    <a:p>
                      <a:r>
                        <a:rPr sz="1200" b="0" i="0">
                          <a:solidFill>
                            <a:srgbClr val="1A1440"/>
                          </a:solidFill>
                          <a:latin typeface="Calibri"/>
                        </a:rPr>
                        <a:t>233,000</a:t>
                      </a:r>
                    </a:p>
                  </a:txBody>
                  <a:tcPr marL="101600" marR="101600" marT="38100" marB="38100" anchor="ctr">
                    <a:solidFill>
                      <a:srgbClr val="F4F2FA"/>
                    </a:solidFill>
                  </a:tcPr>
                </a:tc>
                <a:tc>
                  <a:txBody>
                    <a:bodyPr/>
                    <a:lstStyle/>
                    <a:p>
                      <a:r>
                        <a:rPr sz="1200" b="0" i="0">
                          <a:solidFill>
                            <a:srgbClr val="1A1440"/>
                          </a:solidFill>
                          <a:latin typeface="Calibri"/>
                        </a:rPr>
                        <a:t>1,942</a:t>
                      </a:r>
                    </a:p>
                  </a:txBody>
                  <a:tcPr marL="101600" marR="101600" marT="38100" marB="38100" anchor="ctr">
                    <a:solidFill>
                      <a:srgbClr val="F4F2FA"/>
                    </a:solidFill>
                  </a:tcPr>
                </a:tc>
                <a:tc>
                  <a:txBody>
                    <a:bodyPr/>
                    <a:lstStyle/>
                    <a:p>
                      <a:r>
                        <a:rPr sz="1200" b="0" i="0">
                          <a:solidFill>
                            <a:srgbClr val="1A1440"/>
                          </a:solidFill>
                          <a:latin typeface="Calibri"/>
                        </a:rPr>
                        <a:t>1,975</a:t>
                      </a:r>
                    </a:p>
                  </a:txBody>
                  <a:tcPr marL="101600" marR="101600" marT="38100" marB="38100" anchor="ctr">
                    <a:solidFill>
                      <a:srgbClr val="F4F2FA"/>
                    </a:solidFill>
                  </a:tcPr>
                </a:tc>
              </a:tr>
            </a:tbl>
          </a:graphicData>
        </a:graphic>
      </p:graphicFrame>
      <p:sp>
        <p:nvSpPr>
          <p:cNvPr id="10" name="TextBox 9"/>
          <p:cNvSpPr txBox="1"/>
          <p:nvPr/>
        </p:nvSpPr>
        <p:spPr>
          <a:xfrm>
            <a:off x="530352" y="5191760"/>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raised plan adds about 1.7 percent on each week, which is the hold-out MAE as a share of weekly shipments at the 0.82 quantile.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3" name="Oval 1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5" name="Oval 1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7" name="Oval 1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9" name="Oval 18"/>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21" name="TextBox 2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33 / 35</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two role cards answered in one line each</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chosen plan say to finance's rule and to the vendor's sponsor?</a:t>
            </a:r>
          </a:p>
        </p:txBody>
      </p:sp>
      <p:sp>
        <p:nvSpPr>
          <p:cNvPr id="9" name="Rounded Rectangle 8"/>
          <p:cNvSpPr/>
          <p:nvPr/>
        </p:nvSpPr>
        <p:spPr>
          <a:xfrm>
            <a:off x="530352" y="1956816"/>
            <a:ext cx="5474055"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lculator_852ec1ae1794.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TO FINANCE</a:t>
            </a:r>
          </a:p>
        </p:txBody>
      </p:sp>
      <p:sp>
        <p:nvSpPr>
          <p:cNvPr id="13" name="TextBox 12"/>
          <p:cNvSpPr txBox="1"/>
          <p:nvPr/>
        </p:nvSpPr>
        <p:spPr>
          <a:xfrm>
            <a:off x="731519" y="2962656"/>
            <a:ext cx="5071719" cy="267716"/>
          </a:xfrm>
          <a:prstGeom prst="rect">
            <a:avLst/>
          </a:prstGeom>
          <a:noFill/>
        </p:spPr>
        <p:txBody>
          <a:bodyPr wrap="square" anchor="t" lIns="0" rIns="0" tIns="0" bIns="0">
            <a:spAutoFit/>
          </a:bodyPr>
          <a:lstStyle/>
          <a:p>
            <a:pPr algn="l"/>
            <a:r>
              <a:rPr sz="1400" b="1" i="0">
                <a:solidFill>
                  <a:srgbClr val="1A0F5C"/>
                </a:solidFill>
                <a:latin typeface="Calibri"/>
              </a:rPr>
              <a:t>Right about the total, wrong about the shape</a:t>
            </a:r>
          </a:p>
        </p:txBody>
      </p:sp>
      <p:sp>
        <p:nvSpPr>
          <p:cNvPr id="14" name="TextBox 13"/>
          <p:cNvSpPr txBox="1"/>
          <p:nvPr/>
        </p:nvSpPr>
        <p:spPr>
          <a:xfrm>
            <a:off x="731519" y="3303524"/>
            <a:ext cx="5071719" cy="399796"/>
          </a:xfrm>
          <a:prstGeom prst="rect">
            <a:avLst/>
          </a:prstGeom>
          <a:noFill/>
        </p:spPr>
        <p:txBody>
          <a:bodyPr wrap="square" anchor="t" lIns="0" rIns="0" tIns="0" bIns="0">
            <a:spAutoFit/>
          </a:bodyPr>
          <a:lstStyle/>
          <a:p>
            <a:pPr algn="l"/>
            <a:r>
              <a:rPr sz="1100" b="0" i="0">
                <a:solidFill>
                  <a:srgbClr val="6B6690"/>
                </a:solidFill>
                <a:latin typeface="Calibri"/>
              </a:rPr>
              <a:t>'Last year's eight weeks plus 4 percent' is close to the chosen total; the week-by-week shape places the peak two weeks early.</a:t>
            </a:r>
          </a:p>
        </p:txBody>
      </p:sp>
      <p:sp>
        <p:nvSpPr>
          <p:cNvPr id="15" name="Rounded Rectangle 14"/>
          <p:cNvSpPr/>
          <p:nvPr/>
        </p:nvSpPr>
        <p:spPr>
          <a:xfrm>
            <a:off x="6187287" y="1956816"/>
            <a:ext cx="5474055" cy="219557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6388455"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trending-up_0f9f07881489.png"/>
          <p:cNvPicPr>
            <a:picLocks noChangeAspect="1"/>
          </p:cNvPicPr>
          <p:nvPr/>
        </p:nvPicPr>
        <p:blipFill>
          <a:blip r:embed="rId5"/>
          <a:stretch>
            <a:fillRect/>
          </a:stretch>
        </p:blipFill>
        <p:spPr>
          <a:xfrm>
            <a:off x="6498183" y="2267712"/>
            <a:ext cx="237744" cy="237744"/>
          </a:xfrm>
          <a:prstGeom prst="rect">
            <a:avLst/>
          </a:prstGeom>
        </p:spPr>
      </p:pic>
      <p:sp>
        <p:nvSpPr>
          <p:cNvPr id="18" name="TextBox 17"/>
          <p:cNvSpPr txBox="1"/>
          <p:nvPr/>
        </p:nvSpPr>
        <p:spPr>
          <a:xfrm>
            <a:off x="6388455" y="2724912"/>
            <a:ext cx="5071719" cy="160401"/>
          </a:xfrm>
          <a:prstGeom prst="rect">
            <a:avLst/>
          </a:prstGeom>
          <a:noFill/>
        </p:spPr>
        <p:txBody>
          <a:bodyPr wrap="square" anchor="t" lIns="0" rIns="0" tIns="0" bIns="0">
            <a:spAutoFit/>
          </a:bodyPr>
          <a:lstStyle/>
          <a:p>
            <a:pPr algn="l"/>
            <a:r>
              <a:rPr sz="750" b="1" i="0" spc="250">
                <a:solidFill>
                  <a:srgbClr val="5B3FD6"/>
                </a:solidFill>
                <a:latin typeface="Calibri"/>
              </a:rPr>
              <a:t>TO THE VENDOR</a:t>
            </a:r>
          </a:p>
        </p:txBody>
      </p:sp>
      <p:sp>
        <p:nvSpPr>
          <p:cNvPr id="19" name="TextBox 18"/>
          <p:cNvSpPr txBox="1"/>
          <p:nvPr/>
        </p:nvSpPr>
        <p:spPr>
          <a:xfrm>
            <a:off x="6388455" y="2962656"/>
            <a:ext cx="5071719" cy="498856"/>
          </a:xfrm>
          <a:prstGeom prst="rect">
            <a:avLst/>
          </a:prstGeom>
          <a:noFill/>
        </p:spPr>
        <p:txBody>
          <a:bodyPr wrap="square" anchor="t" lIns="0" rIns="0" tIns="0" bIns="0">
            <a:spAutoFit/>
          </a:bodyPr>
          <a:lstStyle/>
          <a:p>
            <a:pPr algn="l"/>
            <a:r>
              <a:rPr sz="1400" b="1" i="0">
                <a:solidFill>
                  <a:srgbClr val="1A0F5C"/>
                </a:solidFill>
                <a:latin typeface="Calibri"/>
              </a:rPr>
              <a:t>Fit on 91 training weeks is not forecast on 13 held-out weeks</a:t>
            </a:r>
          </a:p>
        </p:txBody>
      </p:sp>
      <p:sp>
        <p:nvSpPr>
          <p:cNvPr id="20" name="TextBox 19"/>
          <p:cNvSpPr txBox="1"/>
          <p:nvPr/>
        </p:nvSpPr>
        <p:spPr>
          <a:xfrm>
            <a:off x="6388455" y="3534664"/>
            <a:ext cx="5071719" cy="399796"/>
          </a:xfrm>
          <a:prstGeom prst="rect">
            <a:avLst/>
          </a:prstGeom>
          <a:noFill/>
        </p:spPr>
        <p:txBody>
          <a:bodyPr wrap="square" anchor="t" lIns="0" rIns="0" tIns="0" bIns="0">
            <a:spAutoFit/>
          </a:bodyPr>
          <a:lstStyle/>
          <a:p>
            <a:pPr algn="l"/>
            <a:r>
              <a:rPr sz="1100" b="0" i="0">
                <a:solidFill>
                  <a:srgbClr val="6B6690"/>
                </a:solidFill>
                <a:latin typeface="Calibri"/>
              </a:rPr>
              <a:t>Within 2 percent on history, 200 percent above the festival-aligned MAE on weeks the model has not seen.</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23" name="Oval 22"/>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25" name="Oval 24"/>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27" name="Oval 26"/>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29" name="Oval 28"/>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31" name="TextBox 3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34 / 35</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5  ·  KALPA GLOBAL CAPABILITY CENTRE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forecast must beat the baseline first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one rule the morning leaves on the board?</a:t>
            </a:r>
          </a:p>
        </p:txBody>
      </p:sp>
      <p:sp>
        <p:nvSpPr>
          <p:cNvPr id="9" name="TextBox 8"/>
          <p:cNvSpPr txBox="1"/>
          <p:nvPr/>
        </p:nvSpPr>
        <p:spPr>
          <a:xfrm>
            <a:off x="530352" y="195681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forecast that cannot beat the simplest baseline on weeks it has not seen is not fit to carry a plan. The baseline for a seasonal business is same-week-last-year or its festival-aligned twin, not naive, and the baseline is the hard thing to beat.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What shape do the 104 weeks have?</a:t>
            </a:r>
          </a:p>
        </p:txBody>
      </p:sp>
      <p:sp>
        <p:nvSpPr>
          <p:cNvPr id="12" name="Oval 11"/>
          <p:cNvSpPr/>
          <p:nvPr/>
        </p:nvSpPr>
        <p:spPr>
          <a:xfrm>
            <a:off x="2524029"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633757" y="6437376"/>
            <a:ext cx="1792509" cy="152146"/>
          </a:xfrm>
          <a:prstGeom prst="rect">
            <a:avLst/>
          </a:prstGeom>
          <a:noFill/>
        </p:spPr>
        <p:txBody>
          <a:bodyPr wrap="square" anchor="t" lIns="0" rIns="0" tIns="0" bIns="0">
            <a:spAutoFit/>
          </a:bodyPr>
          <a:lstStyle/>
          <a:p>
            <a:pPr algn="l"/>
            <a:r>
              <a:rPr sz="700" b="0" i="0">
                <a:solidFill>
                  <a:srgbClr val="6B6690"/>
                </a:solidFill>
                <a:latin typeface="Calibri"/>
              </a:rPr>
              <a:t>Score each method on the hold-out</a:t>
            </a:r>
          </a:p>
        </p:txBody>
      </p:sp>
      <p:sp>
        <p:nvSpPr>
          <p:cNvPr id="14" name="Oval 13"/>
          <p:cNvSpPr/>
          <p:nvPr/>
        </p:nvSpPr>
        <p:spPr>
          <a:xfrm>
            <a:off x="451770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4627435" y="6437376"/>
            <a:ext cx="1838515" cy="152146"/>
          </a:xfrm>
          <a:prstGeom prst="rect">
            <a:avLst/>
          </a:prstGeom>
          <a:noFill/>
        </p:spPr>
        <p:txBody>
          <a:bodyPr wrap="square" anchor="t" lIns="0" rIns="0" tIns="0" bIns="0">
            <a:spAutoFit/>
          </a:bodyPr>
          <a:lstStyle/>
          <a:p>
            <a:pPr algn="l"/>
            <a:r>
              <a:rPr sz="700" b="0" i="0">
                <a:solidFill>
                  <a:srgbClr val="6B6690"/>
                </a:solidFill>
                <a:latin typeface="Calibri"/>
              </a:rPr>
              <a:t>Pick the forecast, price the error</a:t>
            </a:r>
          </a:p>
        </p:txBody>
      </p:sp>
      <p:sp>
        <p:nvSpPr>
          <p:cNvPr id="16" name="Oval 15"/>
          <p:cNvSpPr/>
          <p:nvPr/>
        </p:nvSpPr>
        <p:spPr>
          <a:xfrm>
            <a:off x="6557391"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67119" y="6437376"/>
            <a:ext cx="2114550" cy="152146"/>
          </a:xfrm>
          <a:prstGeom prst="rect">
            <a:avLst/>
          </a:prstGeom>
          <a:noFill/>
        </p:spPr>
        <p:txBody>
          <a:bodyPr wrap="square" anchor="t" lIns="0" rIns="0" tIns="0" bIns="0">
            <a:spAutoFit/>
          </a:bodyPr>
          <a:lstStyle/>
          <a:p>
            <a:pPr algn="l"/>
            <a:r>
              <a:rPr sz="700" b="0" i="0">
                <a:solidFill>
                  <a:srgbClr val="6B6690"/>
                </a:solidFill>
                <a:latin typeface="Calibri"/>
              </a:rPr>
              <a:t>What can two years of weeks not tell us?</a:t>
            </a:r>
          </a:p>
        </p:txBody>
      </p:sp>
      <p:sp>
        <p:nvSpPr>
          <p:cNvPr id="18" name="Oval 17"/>
          <p:cNvSpPr/>
          <p:nvPr/>
        </p:nvSpPr>
        <p:spPr>
          <a:xfrm>
            <a:off x="8873109"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8982837" y="6437376"/>
            <a:ext cx="1930527" cy="152146"/>
          </a:xfrm>
          <a:prstGeom prst="rect">
            <a:avLst/>
          </a:prstGeom>
          <a:noFill/>
        </p:spPr>
        <p:txBody>
          <a:bodyPr wrap="square" anchor="t" lIns="0" rIns="0" tIns="0" bIns="0">
            <a:spAutoFit/>
          </a:bodyPr>
          <a:lstStyle/>
          <a:p>
            <a:pPr algn="l"/>
            <a:r>
              <a:rPr sz="700" b="1" i="0">
                <a:solidFill>
                  <a:srgbClr val="5B3FD6"/>
                </a:solidFill>
                <a:latin typeface="Calibri"/>
              </a:rPr>
              <a:t>Turn the forecast into packer shifts</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35 / 35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