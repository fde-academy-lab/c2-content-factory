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worth its cost. Say each chapter's minutes from the table, then turn to the</a:t>
            </a:r>
          </a:p>
          <a:p>
            <a:r>
              <a:t>concept map.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scene F1.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Monday against last Monday</a:t>
            </a:r>
          </a:p>
          <a:p>
            <a:r>
              <a:t>is a fair comparison, one weekly season apart, and it shows the week's change: nothing you can see,</a:t>
            </a:r>
          </a:p>
          <a:p>
            <a:r>
              <a:t>since a week's growth is tiny under a wobble of a few cups. A year apart shows the year's 10 percent.</a:t>
            </a:r>
          </a:p>
          <a:p>
            <a:r>
              <a:t>Both are season-apart readings, which is why the c1 set's first item keys both. Transition: a whole</a:t>
            </a:r>
          </a:p>
          <a:p>
            <a:r>
              <a:t>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(checked 13 October 2026) and</a:t>
            </a:r>
          </a:p>
          <a:p>
            <a:r>
              <a:t>https://otexts.com/fpp3/decomposition.html#sec-components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it is 52 whole weeks,</a:t>
            </a:r>
          </a:p>
          <a:p>
            <a:r>
              <a:t>so a Monday lands on a Monday and the weekly beat stays in step; anything tied to a date, the 1st of</a:t>
            </a:r>
          </a:p>
          <a:p>
            <a:r>
              <a:t>a month or 15 August, drifts a day a year under it, so each effect is copied by the calendar that</a:t>
            </a:r>
          </a:p>
          <a:p>
            <a:r>
              <a:t>drives it.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If the room is more than 5 minutes behind after the case's own cuts, this is the row's first</a:t>
            </a:r>
          </a:p>
          <a:p>
            <a:r>
              <a:t>cut: give drift as its formula and skip the hand count, 2 minutes saved.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season. Naive</a:t>
            </a:r>
          </a:p>
          <a:p>
            <a:r>
              <a:t>here is re-run every day, a one-step forecast, which chapter 3 will not accept as a hold-out score.</a:t>
            </a:r>
          </a:p>
          <a:p>
            <a:r>
              <a:t>Transition: a 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 Explorer: scene F3, the festival marker.</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If the room is still behind after S17's cut, give this slide's example in one sentence and</a:t>
            </a:r>
          </a:p>
          <a:p>
            <a:r>
              <a:t>keep MAE, 3 minutes saved. Running low is the dear side here, a cup short at Rs 12 against Rs 6 unsold, so MAPE's pull</a:t>
            </a:r>
          </a:p>
          <a:p>
            <a:r>
              <a:t>costs money. Before advancing, ask: two rules both miss by 10 cups a day; does one cost more? Most</a:t>
            </a:r>
          </a:p>
          <a:p>
            <a:r>
              <a:t>rooms say they cost the same.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predicted on S26, before this slide showed the costs. Flipkart's case meets</a:t>
            </a:r>
          </a:p>
          <a:p>
            <a:r>
              <a:t>this again in chapter 6, where a forecast with a worse MAE costs less once priced.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difference table on the board, one row under another: 4, -6, 12; -10, 18;</a:t>
            </a:r>
          </a:p>
          <a:p>
            <a:r>
              <a:t>28. A curve of degree three keeps its last row level, so the next row reads 28, then 46, then 58, and</a:t>
            </a:r>
          </a:p>
          <a:p>
            <a:r>
              <a:t>110 + 58 = 168. An interviewer says in-sample for fit and out-of-sample for forecast error. FPP3,</a:t>
            </a:r>
          </a:p>
          <a:p>
            <a:r>
              <a:t>section 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tonight, and why? Key b: neither yet, order on naive's 110 until</a:t>
            </a:r>
          </a:p>
          <a:p>
            <a:r>
              <a:t>one of them beats it on unseen days.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comes later: notebook 06 measures it on training weeks up to June 2026, so a forecast made in</a:t>
            </a:r>
          </a:p>
          <a:p>
            <a:r>
              <a:t>October 2025 cannot use it; adding it here would borrow growth from the future, the leak chapter 3</a:t>
            </a:r>
          </a:p>
          <a:p>
            <a:r>
              <a:t>forbids. Groups work each rule on the twelve printed rows before voting; 308,900 is already on S42</a:t>
            </a:r>
          </a:p>
          <a:p>
            <a:r>
              <a:t>and on the rows, and the vote is on which rule lands nearest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Festival-aligned copies 296,900 as it stands. The centre grew about 4 percent a</a:t>
            </a:r>
          </a:p>
          <a:p>
            <a:r>
              <a:t>year, which is most of its 12,000 miss, but nobody could measure that growth in October 2025. Ask</a:t>
            </a:r>
          </a:p>
          <a:p>
            <a:r>
              <a:t>which group's own rule came closest, and whether it used anything that week could not know.</a:t>
            </a:r>
          </a:p>
          <a:p>
            <a:r>
              <a:t>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First cut if the room is late: one</a:t>
            </a:r>
          </a:p>
          <a:p>
            <a:r>
              <a:t>sentence, 2 minutes saved.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Explorer: scene F2, the split slider.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The animated version,</a:t>
            </a:r>
          </a:p>
          <a:p>
            <a:r>
              <a:t>whiteboards/C2_W04_D05_holdout_reveal_STUDENT.gif, reveals the hidden weeks one at a time: the vendor</a:t>
            </a:r>
          </a:p>
          <a:p>
            <a:r>
              <a:t>leads in week 1, 3,700 to 12,300, and trails by week 13.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at the ticket's costs, then name what it rests on: the price</a:t>
            </a:r>
          </a:p>
          <a:p>
            <a:r>
              <a:t>of a late shipment. The room should leave with the reason: a late shipment costs 4.6 times a spare</a:t>
            </a:r>
          </a:p>
          <a:p>
            <a:r>
              <a:t>one, the stall's Rs 12 against Rs 6 at Flipkart's scale. Transition: why the vendor still does not</a:t>
            </a:r>
          </a:p>
          <a:p>
            <a:r>
              <a:t>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the row, that is, beyond today's five topics (the fallback session, and notebook 07's</a:t>
            </a:r>
          </a:p>
          <a:p>
            <a:r>
              <a:t>depth section).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Second cut if the</a:t>
            </a:r>
          </a:p>
          <a:p>
            <a:r>
              <a:t>room is late: one sentence.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 tests a curve at the stall (invented) first, the owner's nephew's; the vendor's curve meets the same test at Flipkart in chapter 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1" cy="3590544"/>
        </p:xfrm>
        <a:graphic>
          <a:graphicData uri="http://schemas.openxmlformats.org/drawingml/2006/table">
            <a:tbl>
              <a:tblPr firstRow="0" bandRow="0">
                <a:tableStyleId>{2D5ABB26-0587-4C30-8999-92F81FD0307C}</a:tableStyleId>
              </a:tblPr>
              <a:tblGrid>
                <a:gridCol w="2893056"/>
                <a:gridCol w="8237935"/>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Before: an ordinary week in late 2024 shipped about 210,000. After: the week of 21 September 2026, the latest, shipped 232,200, and 2025's busiest week 418,200; 104 weeks in all</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 spare one, Rs 25 against Rs 5.42</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at the stall (invented),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year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346737" y="1664208"/>
            <a:ext cx="749822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b. Both Sundays sold about 60 (60 and 61), every other day about 100. A repeat on a fixed beat is a </a:t>
            </a:r>
            <a:r>
              <a:rPr sz="1200" b="1" i="0">
                <a:solidFill>
                  <a:srgbClr val="1A1440"/>
                </a:solidFill>
                <a:latin typeface="Calibri"/>
              </a:rPr>
              <a:t>season</a:t>
            </a:r>
            <a:r>
              <a:rPr sz="1200" b="0" i="0">
                <a:solidFill>
                  <a:srgbClr val="1A1440"/>
                </a:solidFill>
                <a:latin typeface="Calibri"/>
              </a:rPr>
              <a:t>, and its </a:t>
            </a:r>
            <a:r>
              <a:rPr sz="1200" b="1" i="0">
                <a:solidFill>
                  <a:srgbClr val="1A1440"/>
                </a:solidFill>
                <a:latin typeface="Calibri"/>
              </a:rPr>
              <a:t>length</a:t>
            </a:r>
            <a:r>
              <a:rPr sz="1200" b="0" i="0">
                <a:solidFill>
                  <a:srgbClr val="1A1440"/>
                </a:solidFill>
                <a:latin typeface="Calibri"/>
              </a:rPr>
              <a:t> is the number of periods before it repeats: 7 days here, 52 weeks in Flipkart's year. </a:t>
            </a:r>
            <a:r>
              <a:rPr sz="1200" b="1" i="0">
                <a:solidFill>
                  <a:srgbClr val="1A1440"/>
                </a:solidFill>
                <a:latin typeface="Calibri"/>
              </a:rPr>
              <a:t>The plausible wrong number:</a:t>
            </a:r>
            <a:r>
              <a:rPr sz="1200" b="0" i="0">
                <a:solidFill>
                  <a:srgbClr val="1A1440"/>
                </a:solidFill>
                <a:latin typeface="Calibri"/>
              </a:rPr>
              <a:t> plus 67 percent, Monday over Sunday. </a:t>
            </a:r>
            <a:r>
              <a:rPr sz="1200" b="1" i="0">
                <a:solidFill>
                  <a:srgbClr val="1A1440"/>
                </a:solidFill>
                <a:latin typeface="Calibri"/>
              </a:rPr>
              <a:t>The decision it misleads:</a:t>
            </a:r>
            <a:r>
              <a:rPr sz="1200" b="0" i="0">
                <a:solidFill>
                  <a:srgbClr val="1A1440"/>
                </a:solidFill>
                <a:latin typeface="Calibri"/>
              </a:rPr>
              <a:t> two-thirds more milk, which sours. </a:t>
            </a:r>
            <a:r>
              <a:rPr sz="1200" b="1" i="0">
                <a:solidFill>
                  <a:srgbClr val="1A1440"/>
                </a:solidFill>
                <a:latin typeface="Calibri"/>
              </a:rPr>
              <a:t>The check:</a:t>
            </a:r>
            <a:r>
              <a:rPr sz="1200" b="0" i="0">
                <a:solidFill>
                  <a:srgbClr val="1A1440"/>
                </a:solidFill>
                <a:latin typeface="Calibri"/>
              </a:rPr>
              <a:t> Monday against the Monday before, 100 against 100. </a:t>
            </a:r>
            <a:r>
              <a:rPr sz="1200" b="1" i="0">
                <a:solidFill>
                  <a:srgbClr val="1A1440"/>
                </a:solidFill>
                <a:latin typeface="Calibri"/>
              </a:rPr>
              <a:t>The fix:</a:t>
            </a:r>
            <a:r>
              <a:rPr sz="1200" b="0" i="0">
                <a:solidFill>
                  <a:srgbClr val="1A1440"/>
                </a:solidFill>
                <a:latin typeface="Calibri"/>
              </a:rPr>
              <a:t> compare the same point a season apart, Monday against a Monday.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year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on the stall's invented cups: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A week apart shows only a week's change, too small to see; a year apart, 364 days, shows the year's growth and clears the yearly seasons too.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436562" y="1664208"/>
            <a:ext cx="7318570" cy="3094735"/>
          </a:xfrm>
          <a:prstGeom prst="rect">
            <a:avLst/>
          </a:prstGeom>
        </p:spPr>
      </p:pic>
      <p:sp>
        <p:nvSpPr>
          <p:cNvPr id="10" name="picture caption"/>
          <p:cNvSpPr txBox="1"/>
          <p:nvPr/>
        </p:nvSpPr>
        <p:spPr>
          <a:xfrm>
            <a:off x="530352" y="47955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121656"/>
            <a:ext cx="11130991" cy="1077976"/>
          </a:xfrm>
          <a:prstGeom prst="rect">
            <a:avLst/>
          </a:prstGeom>
          <a:noFill/>
        </p:spPr>
        <p:txBody>
          <a:bodyPr wrap="square" anchor="t" lIns="0" rIns="0" tIns="0" bIns="0">
            <a:spAutoFit/>
          </a:bodyPr>
          <a:lstStyle/>
          <a:p>
            <a:r>
              <a:rPr sz="11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built from a </a:t>
            </a:r>
            <a:r>
              <a:rPr sz="1100" b="1" i="0">
                <a:solidFill>
                  <a:srgbClr val="1A1440"/>
                </a:solidFill>
                <a:latin typeface="Calibri"/>
              </a:rPr>
              <a:t>trend</a:t>
            </a:r>
            <a:r>
              <a:rPr sz="1100" b="0" i="0">
                <a:solidFill>
                  <a:srgbClr val="1A1440"/>
                </a:solidFill>
                <a:latin typeface="Calibri"/>
              </a:rPr>
              <a:t>, its </a:t>
            </a:r>
            <a:r>
              <a:rPr sz="1100" b="1" i="0">
                <a:solidFill>
                  <a:srgbClr val="1A1440"/>
                </a:solidFill>
                <a:latin typeface="Calibri"/>
              </a:rPr>
              <a:t>seasons</a:t>
            </a:r>
            <a:r>
              <a:rPr sz="1100" b="0" i="0">
                <a:solidFill>
                  <a:srgbClr val="1A1440"/>
                </a:solidFill>
                <a:latin typeface="Calibri"/>
              </a:rPr>
              <a:t> and a </a:t>
            </a:r>
            <a:r>
              <a:rPr sz="1100" b="1" i="0">
                <a:solidFill>
                  <a:srgbClr val="1A1440"/>
                </a:solidFill>
                <a:latin typeface="Calibri"/>
              </a:rPr>
              <a:t>remainder</a:t>
            </a:r>
            <a:r>
              <a:rPr sz="1100" b="0" i="0">
                <a:solidFill>
                  <a:srgbClr val="1A1440"/>
                </a:solidFill>
                <a:latin typeface="Calibri"/>
              </a:rPr>
              <a:t>, the wobble left over. Forecasting: Principles and Practice adds them, y = T + S + R, when the seasons keep their size as the level grows, and multiplies them, y = T x S x R, when they grow with it, as the stall's do. Read in cups, a yearly copy's misses hold the remainder of both years: a typical size, the standard deviation, of about 4.7 cups. A </a:t>
            </a:r>
            <a:r>
              <a:rPr sz="1100" b="1" i="0">
                <a:solidFill>
                  <a:srgbClr val="1A1440"/>
                </a:solidFill>
                <a:latin typeface="Calibri"/>
              </a:rPr>
              <a:t>cycle</a:t>
            </a:r>
            <a:r>
              <a:rPr sz="11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of the stall's invented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Read growth at the same point a season apart, never neighbours: a week apart shows a week's change, a year apart the year's growth.</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a festive peak each year and a smaller one in the August sale's week,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baseline</a:t>
            </a:r>
            <a:r>
              <a:rPr sz="14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(invented), who orders milk tonight with no spreadsheet open, and Flipkart's FC planner, whose tournament this afternoon, a contest that scores every rule on weeks it never saw, sends nothing to the plan that loses to a copy rule.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each rule copy?</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last day, last season, a line.</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Which wins next Sunday?</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one that respects the beat.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a yearly copy miss?</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year's growth.</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breaks when it moves?</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169826" y="1664208"/>
            <a:ext cx="7852041"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answer is c. Next Sunday at the stall (invented) sold 60. </a:t>
            </a:r>
            <a:r>
              <a:rPr sz="1400" b="1" i="0">
                <a:solidFill>
                  <a:srgbClr val="1A1440"/>
                </a:solidFill>
                <a:latin typeface="Calibri"/>
              </a:rPr>
              <a:t>Naive</a:t>
            </a:r>
            <a:r>
              <a:rPr sz="1400" b="0" i="0">
                <a:solidFill>
                  <a:srgbClr val="1A1440"/>
                </a:solidFill>
                <a:latin typeface="Calibri"/>
              </a:rPr>
              <a:t>, the last value repeated, said 103 and missed by 43; </a:t>
            </a:r>
            <a:r>
              <a:rPr sz="1400" b="1" i="0">
                <a:solidFill>
                  <a:srgbClr val="1A1440"/>
                </a:solidFill>
                <a:latin typeface="Calibri"/>
              </a:rPr>
              <a:t>drift</a:t>
            </a:r>
            <a:r>
              <a:rPr sz="1400" b="0" i="0">
                <a:solidFill>
                  <a:srgbClr val="1A1440"/>
                </a:solidFill>
                <a:latin typeface="Calibri"/>
              </a:rPr>
              <a:t>, the line from the first of the four days to the last, extended, said 104.7 and missed by 44.7; the </a:t>
            </a:r>
            <a:r>
              <a:rPr sz="1400" b="1" i="0">
                <a:solidFill>
                  <a:srgbClr val="1A1440"/>
                </a:solidFill>
                <a:latin typeface="Calibri"/>
              </a:rPr>
              <a:t>seasonal naive</a:t>
            </a:r>
            <a:r>
              <a:rPr sz="14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1665635"/>
                <a:gridCol w="6148834"/>
                <a:gridCol w="3316521"/>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611632">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line from the first value to the last, extended, the four days as the whole history</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933952"/>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0619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0619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0619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263136"/>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last_sunday = 61                                # one season, 7 days, back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last_sunday                    # 61; on a whole series, cups.shift(7) copies every day so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at the stall (invented), naive, re-run each day from the day before,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for h up to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invented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 both invented.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The stall's owner (invented) orders milk for the next three days. To judge a rule, which three of the fourteen days from 1 February 2025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of the stall's invented fortnight, 1 to 14 February 2025,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"ideally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89" cy="1341120"/>
        </p:xfrm>
        <a:graphic>
          <a:graphicData uri="http://schemas.openxmlformats.org/drawingml/2006/table">
            <a:tbl>
              <a:tblPr firstRow="0" bandRow="0">
                <a:tableStyleId>{2D5ABB26-0587-4C30-8999-92F81FD0307C}</a:tableStyleId>
              </a:tblPr>
              <a:tblGrid>
                <a:gridCol w="5280887"/>
                <a:gridCol w="1713134"/>
                <a:gridCol w="914400"/>
                <a:gridCol w="3222568"/>
              </a:tblGrid>
              <a:tr h="335280">
                <a:tc>
                  <a:txBody>
                    <a:bodyPr/>
                    <a:lstStyle/>
                    <a:p>
                      <a:r>
                        <a:rPr sz="1250" b="1" i="0">
                          <a:solidFill>
                            <a:srgbClr val="FFFFFF"/>
                          </a:solidFill>
                          <a:latin typeface="Calibri"/>
                        </a:rPr>
                        <a:t>Hidden day, February 2025 (invented)</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586946" y="1664208"/>
            <a:ext cx="7017802" cy="3284728"/>
          </a:xfrm>
          <a:prstGeom prst="rect">
            <a:avLst/>
          </a:prstGeom>
        </p:spPr>
      </p:pic>
      <p:sp>
        <p:nvSpPr>
          <p:cNvPr id="10" name="picture caption"/>
          <p:cNvSpPr txBox="1"/>
          <p:nvPr/>
        </p:nvSpPr>
        <p:spPr>
          <a:xfrm>
            <a:off x="530352" y="498551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311648"/>
            <a:ext cx="11130991" cy="887983"/>
          </a:xfrm>
          <a:prstGeom prst="rect">
            <a:avLst/>
          </a:prstGeom>
          <a:noFill/>
        </p:spPr>
        <p:txBody>
          <a:bodyPr wrap="square" anchor="t" lIns="0" rIns="0" tIns="0" bIns="0">
            <a:spAutoFit/>
          </a:bodyPr>
          <a:lstStyle/>
          <a:p>
            <a:r>
              <a:rPr sz="1100" b="0" i="0">
                <a:solidFill>
                  <a:srgbClr val="1A1440"/>
                </a:solidFill>
                <a:latin typeface="Calibri"/>
              </a:rPr>
              <a:t>Two invented days, apart from the stall's record, each miss by 15 cups: 15 over 85 is 17.6 percent of an ordinary day, and 15 over 5 is 300 percent of a rain day when the stall shut after an hour. Named last: </a:t>
            </a:r>
            <a:r>
              <a:rPr sz="1100" b="1" i="0">
                <a:solidFill>
                  <a:srgbClr val="1A1440"/>
                </a:solidFill>
                <a:latin typeface="Calibri"/>
              </a:rPr>
              <a:t>MAE</a:t>
            </a:r>
            <a:r>
              <a:rPr sz="1100" b="0" i="0">
                <a:solidFill>
                  <a:srgbClr val="1A1440"/>
                </a:solidFill>
                <a:latin typeface="Calibri"/>
              </a:rPr>
              <a:t>, the mean absolute error, is the mean of the misses with their signs dropped, in the unit the cost is in; </a:t>
            </a:r>
            <a:r>
              <a:rPr sz="1100" b="1" i="0">
                <a:solidFill>
                  <a:srgbClr val="1A1440"/>
                </a:solidFill>
                <a:latin typeface="Calibri"/>
              </a:rPr>
              <a:t>MAPE</a:t>
            </a:r>
            <a:r>
              <a:rPr sz="1100" b="0" i="0">
                <a:solidFill>
                  <a:srgbClr val="1A1440"/>
                </a:solidFill>
                <a:latin typeface="Calibri"/>
              </a:rPr>
              <a:t>, the mean absolute percentage error, is the mean of each miss over what sold, which compares stalls of different sizes and runs to extremes when a day sells close to zero. A miss below what sold cannot pass 100 percent while one above has no ceiling, so a rule picked by MAPE runs low.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at the stall (invented):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a staple asked everywhere: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650595" y="1664208"/>
            <a:ext cx="6890504"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and the origin is 22 June; the plan's horizon, counted from the last week of data to the plan's last week, is ten weeks. A spare shipment costs Rs 650 a shift over 120 shipments,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97 plus 2.4 a day: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a, with naive a cup behind. Day 5 sold 102 (invented). The curve fits all four days with an error of 0 and said 168, a miss of 66: its differences run 4, -6, 12; then -10, 18; then 28, held level, so 18 + 28 = 46, 12 + 46 = 58 and 110 + 58 = 168. The straight line, 97 + 2.4 a day, sits about 3.1 cups from the four days,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82219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stall's seven hidden days, 10 to 16 March 2025 (invented)</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1877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08787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21589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21589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21589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41706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march = days.cups.tolist()             # the stall's 3 to 16 March 2025 (invented), as notebook 04 loads them</a:t>
            </a:r>
          </a:p>
          <a:p>
            <a:pPr>
              <a:spcAft>
                <a:spcPts val="200"/>
              </a:spcAft>
            </a:pPr>
            <a:r>
              <a:rPr sz="1400" b="0" i="0">
                <a:solidFill>
                  <a:srgbClr val="E4E1F1"/>
                </a:solidFill>
                <a:latin typeface="Consolas"/>
              </a:rPr>
              <a:t>seen, hidden = march[:7], march[7:]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790899" y="1664208"/>
            <a:ext cx="8609895"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Milk comes in cans of 40 cups (invented), so the owner orders the forecast over 40, rounded up: Monday's copy of 100 cups needs 3 cans, Sunday's 63 needs 2. The seasonal naive orders exactly what a forecast that knew the future would order, on all seven days; the nephew's mean orders a third can on Sunday, Rs 240 of milk that sours. Named last: </a:t>
            </a:r>
            <a:r>
              <a:rPr sz="1400" b="1" i="0">
                <a:solidFill>
                  <a:srgbClr val="1A1440"/>
                </a:solidFill>
                <a:latin typeface="Calibri"/>
              </a:rPr>
              <a:t>good enough</a:t>
            </a:r>
            <a:r>
              <a:rPr sz="1400" b="0" i="0">
                <a:solidFill>
                  <a:srgbClr val="1A1440"/>
                </a:solidFill>
                <a:latin typeface="Calibri"/>
              </a:rPr>
              <a:t> is a claim about the decision, never about the model. A better forecast is worth having only when what it changes in the order is worth more than the work of getting it; here it changes no can, so the owner stops improving.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 (invented)</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with the number and method merged into its title, and adds two: where the festival falls, and a reply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757172"/>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793748"/>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199132"/>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235708"/>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641092"/>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677668"/>
            <a:ext cx="10564063" cy="62788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keep improving only while a better forecast would change the order by more than the work costs.</a:t>
            </a:r>
          </a:p>
        </p:txBody>
      </p:sp>
      <p:sp>
        <p:nvSpPr>
          <p:cNvPr id="15" name="TextBox 14"/>
          <p:cNvSpPr txBox="1"/>
          <p:nvPr/>
        </p:nvSpPr>
        <p:spPr>
          <a:xfrm>
            <a:off x="530352" y="3342132"/>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378708"/>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189476"/>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9103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5020056"/>
            <a:ext cx="237744" cy="237744"/>
          </a:xfrm>
          <a:prstGeom prst="rect">
            <a:avLst/>
          </a:prstGeom>
        </p:spPr>
      </p:pic>
      <p:sp>
        <p:nvSpPr>
          <p:cNvPr id="20" name="TextBox 19"/>
          <p:cNvSpPr txBox="1"/>
          <p:nvPr/>
        </p:nvSpPr>
        <p:spPr>
          <a:xfrm>
            <a:off x="1399031" y="43357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555236"/>
            <a:ext cx="9987991" cy="1459992"/>
          </a:xfrm>
          <a:prstGeom prst="rect">
            <a:avLst/>
          </a:prstGeom>
          <a:noFill/>
        </p:spPr>
        <p:txBody>
          <a:bodyPr wrap="square" anchor="t" lIns="0" rIns="0" tIns="0" bIns="0">
            <a:spAutoFit/>
          </a:bodyPr>
          <a:lstStyle/>
          <a:p>
            <a:r>
              <a:rPr sz="1500" b="0" i="0">
                <a:solidFill>
                  <a:srgbClr val="1A1440"/>
                </a:solidFill>
                <a:latin typeface="Calibri"/>
              </a:rPr>
              <a:t>[F], frequent in GCC and product screens: "What baseline must any forecast beat, and why?" Naive with no season, the seasonal naive with one, plus the growth when it trends, since a model that cannot beat a free copy adds cost for no accuracy. [F] "A vendor promises 22 percent growth; how do you test the claim?" Restate it against the same weeks, score the curve on weeks it never saw, and ask for its record on a festival it did not see.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6b45a1c2a0322299.png"/>
          <p:cNvPicPr>
            <a:picLocks noChangeAspect="1"/>
          </p:cNvPicPr>
          <p:nvPr/>
        </p:nvPicPr>
        <p:blipFill>
          <a:blip r:embed="rId5"/>
          <a:stretch>
            <a:fillRect/>
          </a:stretch>
        </p:blipFill>
        <p:spPr>
          <a:xfrm>
            <a:off x="2351861" y="1664208"/>
            <a:ext cx="7487972"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 The lab hands the method to Anand Iyer, Kalpa's finance controller, who needs a board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 spare one, Rs 25 against Rs 5.42;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A TYPICAL MISS AND A RANGE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average miss on thirteen weeks it never saw, about Rs 35,800 high or Rs 1.65 lakh low; at the peak, 3,413 to 3,906 shifts.</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the year's growth where the data can measure it. In October 2025 they cannot: no week yet has a twin a year earlier outside the festival, so this forecast adds none.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12,000 low, the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199051"/>
                <a:gridCol w="3031129"/>
                <a:gridCol w="1551408"/>
                <a:gridCol w="2349401"/>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a:t>
                      </a:r>
                    </a:p>
                  </a:txBody>
                  <a:tcPr marL="101600" marR="101600" marT="38100" marB="38100" anchor="ctr">
                    <a:solidFill>
                      <a:srgbClr val="FFFFFF"/>
                    </a:solidFill>
                  </a:tcPr>
                </a:tc>
                <a:tc>
                  <a:txBody>
                    <a:bodyPr/>
                    <a:lstStyle/>
                    <a:p>
                      <a:r>
                        <a:rPr sz="1200" b="0" i="0">
                          <a:solidFill>
                            <a:srgbClr val="1A1440"/>
                          </a:solidFill>
                          <a:latin typeface="Calibri"/>
                        </a:rPr>
                        <a:t>296,900</a:t>
                      </a:r>
                    </a:p>
                  </a:txBody>
                  <a:tcPr marL="101600" marR="101600" marT="38100" marB="38100" anchor="ctr">
                    <a:solidFill>
                      <a:srgbClr val="FFFFFF"/>
                    </a:solidFill>
                  </a:tcPr>
                </a:tc>
                <a:tc>
                  <a:txBody>
                    <a:bodyPr/>
                    <a:lstStyle/>
                    <a:p>
                      <a:r>
                        <a:rPr sz="1200" b="0" i="0">
                          <a:solidFill>
                            <a:srgbClr val="1A1440"/>
                          </a:solidFill>
                          <a:latin typeface="Calibri"/>
                        </a:rPr>
                        <a:t>12,000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 Every rule here uses only weeks before 20 October 2025.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05257" y="1664208"/>
            <a:ext cx="7781179" cy="3200400"/>
          </a:xfrm>
          <a:prstGeom prst="rect">
            <a:avLst/>
          </a:prstGeom>
        </p:spPr>
      </p:pic>
      <p:sp>
        <p:nvSpPr>
          <p:cNvPr id="10" name="picture caption"/>
          <p:cNvSpPr txBox="1"/>
          <p:nvPr/>
        </p:nvSpPr>
        <p:spPr>
          <a:xfrm>
            <a:off x="530352" y="49011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2"/>
            <a:ext cx="10564063" cy="6248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copy books 401,000 for the week of 13 October 2025, its biggest week, while 369,000 shipped; the real peak, 418,200 on 6 October, gets 312,900. </a:t>
            </a:r>
            <a:r>
              <a:rPr sz="1000" b="1" i="0">
                <a:solidFill>
                  <a:srgbClr val="1A1440"/>
                </a:solidFill>
                <a:latin typeface="Calibri"/>
              </a:rPr>
              <a:t>The decision it misleads:</a:t>
            </a:r>
            <a:r>
              <a:rPr sz="1000" b="0" i="0">
                <a:solidFill>
                  <a:srgbClr val="1A1440"/>
                </a:solidFill>
                <a:latin typeface="Calibri"/>
              </a:rPr>
              <a:t> the most packers booked a week after the rush. </a:t>
            </a:r>
            <a:r>
              <a:rPr sz="1000" b="1" i="0">
                <a:solidFill>
                  <a:srgbClr val="1A1440"/>
                </a:solidFill>
                <a:latin typeface="Calibri"/>
              </a:rPr>
              <a:t>The check:</a:t>
            </a:r>
            <a:r>
              <a:rPr sz="1000" b="0" i="0">
                <a:solidFill>
                  <a:srgbClr val="1A1440"/>
                </a:solidFill>
                <a:latin typeface="Calibri"/>
              </a:rPr>
              <a:t> line the years up by weeks from Diwali, as on the right. </a:t>
            </a:r>
            <a:r>
              <a:rPr sz="1000" b="1" i="0">
                <a:solidFill>
                  <a:srgbClr val="1A1440"/>
                </a:solidFill>
                <a:latin typeface="Calibri"/>
              </a:rPr>
              <a:t>The fix:</a:t>
            </a:r>
            <a:r>
              <a:rPr sz="1000" b="0" i="0">
                <a:solidFill>
                  <a:srgbClr val="1A1440"/>
                </a:solidFill>
                <a:latin typeface="Calibri"/>
              </a:rPr>
              <a:t> festival-aligned. The stall's calendar copy (invented) landed Diwali's dip a week late in chapter 2 the same way.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2698f957b72a33ac.png"/>
          <p:cNvPicPr>
            <a:picLocks noChangeAspect="1"/>
          </p:cNvPicPr>
          <p:nvPr/>
        </p:nvPicPr>
        <p:blipFill>
          <a:blip r:embed="rId5"/>
          <a:stretch>
            <a:fillRect/>
          </a:stretch>
        </p:blipFill>
        <p:spPr>
          <a:xfrm>
            <a:off x="780897" y="1852676"/>
            <a:ext cx="10629900" cy="1600200"/>
          </a:xfrm>
          <a:prstGeom prst="rect">
            <a:avLst/>
          </a:prstGeom>
        </p:spPr>
      </p:pic>
      <p:sp>
        <p:nvSpPr>
          <p:cNvPr id="10" name="TextBox 9"/>
          <p:cNvSpPr txBox="1"/>
          <p:nvPr/>
        </p:nvSpPr>
        <p:spPr>
          <a:xfrm>
            <a:off x="530352" y="3599180"/>
            <a:ext cx="11130991"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 M5's weighted scaled error divides each series' squared misses by those of a one-step naive copy on its own history, then weights each series by its dollar sales over the last 28 days (the accuracy paper, section 3.4, checked 13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902672" y="1664208"/>
            <a:ext cx="838635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 At the stall (invented), the yearly copy without growth also lost to the copy times 1.10, by 10.5 cups a day to 3.0.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the stall (invented), the nephew's curve fitted four days with an error of 0 and missed day 5 by 66.</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4" name="Oval 4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126079" y="1664208"/>
            <a:ext cx="793953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 as the stall's rule P (invented) cost less than rule Q at the same MAE. The ranking rests on Rs 25 a late shipment: at Rs 15, the low end of the ticket's range, festival-aligned's misses cost Rs 2.7 lakh less than the vendor's, the two cost the same at about Rs 21, and across both cost ranges the vendor is cheaper in 5 of 9 pairings.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the naive rule run on the series with its seasons taken out, beat half of them one step ahead (Makridakis and colleagues, PLOS ONE, 2018, section 3.3: "a random walk model adjusted for seasonality", checked 13 October 2026);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change the plan by more than it costs?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