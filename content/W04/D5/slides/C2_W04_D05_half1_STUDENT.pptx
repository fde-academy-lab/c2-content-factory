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 screen as the room sits down. Read the title, then the table top to bottom, then</a:t>
            </a:r>
          </a:p>
          <a:p>
            <a:r>
              <a:t>the label line. Today is a tournament in three rounds: count by hand, score on hidden weeks, then</a:t>
            </a:r>
          </a:p>
          <a:p>
            <a:r>
              <a:t>place the festival and price the plan. Define one word as it appears: a forecast is a number for</a:t>
            </a:r>
          </a:p>
          <a:p>
            <a:r>
              <a:t>a week nobody has seen yet. Point at</a:t>
            </a:r>
          </a:p>
          <a:p>
            <a:r>
              <a:t>the four tables and their columns; every number today comes from them. Ask the room what would</a:t>
            </a:r>
          </a:p>
          <a:p>
            <a:r>
              <a:t>make each forecast wrong, and write the answers on the board without judging them. Transition:</a:t>
            </a:r>
          </a:p>
          <a:p>
            <a:r>
              <a:t>where today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earlier nodes with their numbers: each was a number the room produced</a:t>
            </a:r>
          </a:p>
          <a:p>
            <a:r>
              <a:t>on its day. Monday's guardrails bound what a forecast may chase, Thursday's cohorts gave the</a:t>
            </a:r>
          </a:p>
          <a:p>
            <a:r>
              <a:t>week a time axis, and today asks what the plan will be held to. The Kalpa node is the lab after</a:t>
            </a:r>
          </a:p>
          <a:p>
            <a:r>
              <a:t>class. Explorer: the home screen, Friday lit.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finished answer once, then earn it. The rule is fixed now, before anyone</a:t>
            </a:r>
          </a:p>
          <a:p>
            <a:r>
              <a:t>scores: mean absolute error in shipments on the thirteen held-out weeks, then the same misses</a:t>
            </a:r>
          </a:p>
          <a:p>
            <a:r>
              <a:t>priced. Groups enter their own hand rule in round one. Transition: chapter 1, counting by hand.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of 3, level L1, round one of the tournament. Twelve printed weeks per</a:t>
            </a:r>
          </a:p>
          <a:p>
            <a:r>
              <a:t>table; no laptop opens in this chapter.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gets a number before the next is asked.</a:t>
            </a:r>
          </a:p>
          <a:p>
            <a:r>
              <a:t>Transition: the first question, voted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holds up a letter. Two minutes for neighbours to argue, then vote again.</a:t>
            </a:r>
          </a:p>
          <a:p>
            <a:r>
              <a:t>Keep both counts on the board. Transition: the twelve weeks.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aloud left to right, StatQuest style. Parcels leave the centre with the</a:t>
            </a:r>
          </a:p>
          <a:p>
            <a:r>
              <a:t>sale, before the festival, so they arrive in time, which is why the peak comes early. If most of the room voted a,</a:t>
            </a:r>
          </a:p>
          <a:p>
            <a:r>
              <a:t>ask what a customer does on Diwali itself. Transition: what a weekly series is made 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3Blue1Brown's move: the picture first, the names after. The real series has a</a:t>
            </a:r>
          </a:p>
          <a:p>
            <a:r>
              <a:t>growth of about 4 percent a year (trend), two seasons, the festival each year and the week holding</a:t>
            </a:r>
          </a:p>
          <a:p>
            <a:r>
              <a:t>the 1st of each month, no cycle two years can show, and a wobble of a few percent (noise). The</a:t>
            </a:r>
          </a:p>
          <a:p>
            <a:r>
              <a:t>definitions follow Forecasting: Principles and Practice, section 2.3. Explorer: scene F1, the</a:t>
            </a:r>
          </a:p>
          <a:p>
            <a:r>
              <a:t>season slider. Transition: four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each rule as one sentence a shift supervisor could repeat. A baseline is a</a:t>
            </a:r>
          </a:p>
          <a:p>
            <a:r>
              <a:t>simple rule any model must beat, and the house bot is the tournament's. The 4 percent is measured,</a:t>
            </a:r>
          </a:p>
          <a:p>
            <a:r>
              <a:t>not borrowed from finance: notebook 02 sets the latest 39 training weeks against the same weeks a</a:t>
            </a:r>
          </a:p>
          <a:p>
            <a:r>
              <a:t>year earlier and gets 4.0 percent. Transition: the three rules on one real week.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work each rule on the twelve printed rows before voting. The actual that</a:t>
            </a:r>
          </a:p>
          <a:p>
            <a:r>
              <a:t>week was 308,900; do not show it until the vote.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the festival-aligned arithmetic aloud: 296,900 times 1.04 is 308,776. Ask</a:t>
            </a:r>
          </a:p>
          <a:p>
            <a:r>
              <a:t>which group's own rule came closest. Transition: the trap hidden in the copy.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Diwali's week came one week earlier in 2025, so every calendar copy is a week out.</a:t>
            </a:r>
          </a:p>
          <a:p>
            <a:r>
              <a:t>Veritasium's move: the reveal follows the vote of S9. Transition: where Diwali falls in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the Mondays on the strip with the room. Do not answer where the copy lands:</a:t>
            </a:r>
          </a:p>
          <a:p>
            <a:r>
              <a:t>round three asks it on S28, and the festival calendar card answers it on S29. Explorer: scene F3,</a:t>
            </a:r>
          </a:p>
          <a:p>
            <a:r>
              <a:t>the Diwali slider. Transition: the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Flipkart's own published numbers; everything else today is this class's</a:t>
            </a:r>
          </a:p>
          <a:p>
            <a:r>
              <a:t>synthetic data. Read them as decisions already in motion. Transition: chapter 1's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map left to right; the dashed box is chapter 2. Transition: chapter 2,</a:t>
            </a:r>
          </a:p>
          <a:p>
            <a:r>
              <a:t>the hold-out.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of 3, levels L2 and L3, round two of the tournament. Notebook 02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the weeks we hide.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Thirteen hidden weeks cover the eight-week horizon with room. Point at the</a:t>
            </a:r>
          </a:p>
          <a:p>
            <a:r>
              <a:t>August sale inside the hidden weeks: a copy of last year knows about it, naive does not. Explorer: scene F2, the split</a:t>
            </a:r>
          </a:p>
          <a:p>
            <a:r>
              <a:t>slider. Transition: how a miss is counted.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the toy aloud. MAPE divides by the actual, so a week that ships almost</a:t>
            </a:r>
          </a:p>
          <a:p>
            <a:r>
              <a:t>nothing makes it explode.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Brilliant's move: the room answers before the scoreboard. Note the tie in d is</a:t>
            </a:r>
          </a:p>
          <a:p>
            <a:r>
              <a:t>announced, not hidden: the next slide says why.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Tufte's small multiples: one rule per panel on the same axes. The bot beats naive</a:t>
            </a:r>
          </a:p>
          <a:p>
            <a:r>
              <a:t>because it carries the August sale; it loses to the 4 percent rules because a growing series</a:t>
            </a:r>
          </a:p>
          <a:p>
            <a:r>
              <a:t>makes last year too low. Transition: the vendor.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Then every learner types the vendor's score into notebook 02's empty</a:t>
            </a:r>
          </a:p>
          <a:p>
            <a:r>
              <a:t>cell and reads the number aloud.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left of the chart, then the right. A fit is drawn through weeks the model</a:t>
            </a:r>
          </a:p>
          <a:p>
            <a:r>
              <a:t>has seen; a forecast is made for weeks it has not. Transition: which way each rule is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idle cost is Rs 650 / 120 = Rs 5.42 for each shipment of spare capacity.</a:t>
            </a:r>
          </a:p>
          <a:p>
            <a:r>
              <a:t>Ask which way each rule's misses run before anyone votes.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Let the result stand; it is true of this data. The room should leave with the</a:t>
            </a:r>
          </a:p>
          <a:p>
            <a:r>
              <a:t>reason: being short costs 4.6 times being long. Transition: why the vendor still does not win.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plan's case rests on two things this hold-out cannot test: the festival's</a:t>
            </a:r>
          </a:p>
          <a:p>
            <a:r>
              <a:t>placement and the size of the cushion. Chapter 3 tests the first on 2025's festival and sizes the</a:t>
            </a:r>
          </a:p>
          <a:p>
            <a:r>
              <a:t>second from the costs. Transition: the same score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02 prints the thirteen misses; the last cell adds them. Transition:</a:t>
            </a:r>
          </a:p>
          <a:p>
            <a:r>
              <a:t>chapter 2's answers.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Ten minutes' break follows. Transition: chapter 3, the festival.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of 3, levels L3 to L5, round three of the tournament. Notebook 03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round three's reveal.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Round three's twist: the house bot itself is wrong about which week Diwali falls</a:t>
            </a:r>
          </a:p>
          <a:p>
            <a:r>
              <a:t>in, and the group that notices wins the plan. Vote, argue, vote again. Explorer: scene F3.</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finance's 5 October and festival-aligned's 19 October: the same 418,200</a:t>
            </a:r>
          </a:p>
          <a:p>
            <a:r>
              <a:t>times 1.04, two weeks apart. The vendor's model never knew the festival moved. Transition: did</a:t>
            </a:r>
          </a:p>
          <a:p>
            <a:r>
              <a:t>the placement matter last year?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back-test is the only festival the data can test the rules on, so it</a:t>
            </a:r>
          </a:p>
          <a:p>
            <a:r>
              <a:t>settles placement and leaves the size of the error open. The vendor has no festive forecast to</a:t>
            </a:r>
          </a:p>
          <a:p>
            <a:r>
              <a:t>score, only its fit. Transition: what plus 22 and plus 4 measure.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calendar window holds only the tail of 2025's festival, because 2025's peak</a:t>
            </a:r>
          </a:p>
          <a:p>
            <a:r>
              <a:t>came before 13 October; 2026's peak falls inside the window. That is why an honest forecast reads</a:t>
            </a:r>
          </a:p>
          <a:p>
            <a:r>
              <a:t>plus 19.5 against it. Transition: how far above the forecast to plan.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Work the 100 weeks on the board first, then read the curve: the average cost of</a:t>
            </a:r>
          </a:p>
          <a:p>
            <a:r>
              <a:t>the week of 19 October with each of the thirteen hidden-week misses tried as its demand. The total</a:t>
            </a:r>
          </a:p>
          <a:p>
            <a:r>
              <a:t>is lowest between 2 and 3 percent above the forecast. The rule is named after a seller deciding</a:t>
            </a:r>
          </a:p>
          <a:p>
            <a:r>
              <a:t>how many newspapers to stock. If the late cost rises toward Rs 40, the low point moves right.</a:t>
            </a:r>
          </a:p>
          <a:p>
            <a:r>
              <a:t>Explorer: scene F4. Transition: reading the 0.82 off thirteen weeks.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10th and 11th dots. With thirteen weeks the true point could sit</a:t>
            </a:r>
          </a:p>
          <a:p>
            <a:r>
              <a:t>anywhere from about 2 to 3 percent, and the curve on S32 is nearly flat there. Notebook 03 prints</a:t>
            </a:r>
          </a:p>
          <a:p>
            <a:r>
              <a:t>the sorted list. Transition: the plan in shifts.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first two rows aloud: 344,448 times 1.026 is 353,404, over 120 and rounded</a:t>
            </a:r>
          </a:p>
          <a:p>
            <a:r>
              <a:t>up is 2,946 shifts. A packer-shift is one packer for one shift; how shifts become people depends on the roster,</a:t>
            </a:r>
          </a:p>
          <a:p>
            <a:r>
              <a:t>which the ticket does not give. Transition: what the other plans would cost.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bot's and finance's costs are mostly late shipments in the weeks of 19</a:t>
            </a:r>
          </a:p>
          <a:p>
            <a:r>
              <a:t>October to 2 November. Transition: what the data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doubt at a time, each with the fact that would settle it. The FADA figure is</a:t>
            </a:r>
          </a:p>
          <a:p>
            <a:r>
              <a:t>a national series; it shows a festive month confounded by a tax change, a warning for any model</a:t>
            </a:r>
          </a:p>
          <a:p>
            <a:r>
              <a:t>trained on national data. Transition: the two role cards.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stakeholder is partly right: concede the true part first. The afternoon</a:t>
            </a:r>
          </a:p>
          <a:p>
            <a:r>
              <a:t>writes the staffing note from these three cards. Transition: lunch, then half two.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image" Target="../media/image19.png"/><Relationship Id="rId6" Type="http://schemas.openxmlformats.org/officeDocument/2006/relationships/image" Target="../media/image3.png"/><Relationship Id="rId7"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forecasts for one festive window, 18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planner been handed, and what is due Friday?</a:t>
            </a:r>
          </a:p>
        </p:txBody>
      </p:sp>
      <p:graphicFrame>
        <p:nvGraphicFramePr>
          <p:cNvPr id="9" name="Table 8"/>
          <p:cNvGraphicFramePr>
            <a:graphicFrameLocks noGrp="1"/>
          </p:cNvGraphicFramePr>
          <p:nvPr/>
        </p:nvGraphicFramePr>
        <p:xfrm>
          <a:off x="530352" y="1682496"/>
          <a:ext cx="11130990" cy="3721608"/>
        </p:xfrm>
        <a:graphic>
          <a:graphicData uri="http://schemas.openxmlformats.org/drawingml/2006/table">
            <a:tbl>
              <a:tblPr firstRow="0" bandRow="0">
                <a:tableStyleId>{2D5ABB26-0587-4C30-8999-92F81FD0307C}</a:tableStyleId>
              </a:tblPr>
              <a:tblGrid>
                <a:gridCol w="2388790"/>
                <a:gridCol w="8742200"/>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surface</a:t>
                      </a:r>
                    </a:p>
                  </a:txBody>
                  <a:tcPr marL="101600" marR="101600" marT="38100" marB="38100" anchor="ctr">
                    <a:solidFill>
                      <a:srgbClr val="FFFFFF"/>
                    </a:solidFill>
                  </a:tcPr>
                </a:tc>
                <a:tc>
                  <a:txBody>
                    <a:bodyPr/>
                    <a:lstStyle/>
                    <a:p>
                      <a:r>
                        <a:rPr sz="900" b="0" i="0">
                          <a:solidFill>
                            <a:srgbClr val="1A1440"/>
                          </a:solidFill>
                          <a:latin typeface="Calibri"/>
                        </a:rPr>
                        <a:t>Flipkart, the Lucknow fulfilment centre (FC), the warehouse where orders are packed and shipped: outbound shipments and packer shifts</a:t>
                      </a:r>
                    </a:p>
                  </a:txBody>
                  <a:tcPr marL="101600" marR="101600" marT="38100" marB="38100" anchor="ctr">
                    <a:solidFill>
                      <a:srgbClr val="FFFFFF"/>
                    </a:solidFill>
                  </a:tcPr>
                </a:tc>
              </a:tr>
              <a:tr h="310896">
                <a:tc>
                  <a:txBody>
                    <a:bodyPr/>
                    <a:lstStyle/>
                    <a:p>
                      <a:r>
                        <a:rPr sz="900" b="0" i="0">
                          <a:solidFill>
                            <a:srgbClr val="1A1440"/>
                          </a:solidFill>
                          <a:latin typeface="Calibri"/>
                        </a:rPr>
                        <a:t>The history</a:t>
                      </a:r>
                    </a:p>
                  </a:txBody>
                  <a:tcPr marL="101600" marR="101600" marT="38100" marB="38100" anchor="ctr">
                    <a:solidFill>
                      <a:srgbClr val="F4F2FA"/>
                    </a:solidFill>
                  </a:tcPr>
                </a:tc>
                <a:tc>
                  <a:txBody>
                    <a:bodyPr/>
                    <a:lstStyle/>
                    <a:p>
                      <a:r>
                        <a:rPr sz="900" b="0" i="0">
                          <a:solidFill>
                            <a:srgbClr val="1A1440"/>
                          </a:solidFill>
                          <a:latin typeface="Calibri"/>
                        </a:rPr>
                        <a:t>104 weeks, the weeks beginning Monday 30 September 2024 to Monday 21 September 2026; an ordinary week in late 2024 ships about 210,000</a:t>
                      </a:r>
                    </a:p>
                  </a:txBody>
                  <a:tcPr marL="101600" marR="101600" marT="38100" marB="38100" anchor="ctr">
                    <a:solidFill>
                      <a:srgbClr val="F4F2FA"/>
                    </a:solidFill>
                  </a:tcPr>
                </a:tc>
              </a:tr>
              <a:tr h="438912">
                <a:tc>
                  <a:txBody>
                    <a:bodyPr/>
                    <a:lstStyle/>
                    <a:p>
                      <a:r>
                        <a:rPr sz="900" b="0" i="0">
                          <a:solidFill>
                            <a:srgbClr val="1A1440"/>
                          </a:solidFill>
                          <a:latin typeface="Calibri"/>
                        </a:rPr>
                        <a:t>The festival</a:t>
                      </a:r>
                    </a:p>
                  </a:txBody>
                  <a:tcPr marL="101600" marR="101600" marT="38100" marB="38100" anchor="ctr">
                    <a:solidFill>
                      <a:srgbClr val="FFFFFF"/>
                    </a:solidFill>
                  </a:tcPr>
                </a:tc>
                <a:tc>
                  <a:txBody>
                    <a:bodyPr/>
                    <a:lstStyle/>
                    <a:p>
                      <a:r>
                        <a:rPr sz="900" b="0" i="0">
                          <a:solidFill>
                            <a:srgbClr val="1A1440"/>
                          </a:solidFill>
                          <a:latin typeface="Calibri"/>
                        </a:rPr>
                        <a:t>Diwali fell on Thursday 31 October 2024 and Monday 20 October 2025, and falls on Sunday 8 November 2026; the calendar table flags each year's festive sale weeks</a:t>
                      </a:r>
                    </a:p>
                  </a:txBody>
                  <a:tcPr marL="101600" marR="101600" marT="38100" marB="38100" anchor="ctr">
                    <a:solidFill>
                      <a:srgbClr val="FFFFFF"/>
                    </a:solidFill>
                  </a:tcPr>
                </a:tc>
              </a:tr>
              <a:tr h="438912">
                <a:tc>
                  <a:txBody>
                    <a:bodyPr/>
                    <a:lstStyle/>
                    <a:p>
                      <a:r>
                        <a:rPr sz="900" b="0" i="0">
                          <a:solidFill>
                            <a:srgbClr val="1A1440"/>
                          </a:solidFill>
                          <a:latin typeface="Calibri"/>
                        </a:rPr>
                        <a:t>The two forecasts</a:t>
                      </a:r>
                    </a:p>
                  </a:txBody>
                  <a:tcPr marL="101600" marR="101600" marT="38100" marB="38100" anchor="ctr">
                    <a:solidFill>
                      <a:srgbClr val="F4F2FA"/>
                    </a:solidFill>
                  </a:tcPr>
                </a:tc>
                <a:tc>
                  <a:txBody>
                    <a:bodyPr/>
                    <a:lstStyle/>
                    <a:p>
                      <a:r>
                        <a:rPr sz="900" b="0" i="0">
                          <a:solidFill>
                            <a:srgbClr val="1A1440"/>
                          </a:solidFill>
                          <a:latin typeface="Calibri"/>
                        </a:rPr>
                        <a:t>A vendor's model promises the window, the eight weeks to staff, 22 percent above the same weeks last year; finance's rule is those weeks plus 4 percent: eighteen percentage points apart. The vendor's sponsor, the manager who brought the model in, backs the 22</a:t>
                      </a:r>
                    </a:p>
                  </a:txBody>
                  <a:tcPr marL="101600" marR="101600" marT="38100" marB="38100" anchor="ctr">
                    <a:solidFill>
                      <a:srgbClr val="F4F2FA"/>
                    </a:solidFill>
                  </a:tcPr>
                </a:tc>
              </a:tr>
              <a:tr h="594360">
                <a:tc>
                  <a:txBody>
                    <a:bodyPr/>
                    <a:lstStyle/>
                    <a:p>
                      <a:r>
                        <a:rPr sz="900" b="0" i="0">
                          <a:solidFill>
                            <a:srgbClr val="1A1440"/>
                          </a:solidFill>
                          <a:latin typeface="Calibri"/>
                        </a:rPr>
                        <a:t>The data</a:t>
                      </a:r>
                    </a:p>
                  </a:txBody>
                  <a:tcPr marL="101600" marR="101600" marT="38100" marB="38100" anchor="ctr">
                    <a:solidFill>
                      <a:srgbClr val="FFFFFF"/>
                    </a:solidFill>
                  </a:tcPr>
                </a:tc>
                <a:tc>
                  <a:txBody>
                    <a:bodyPr/>
                    <a:lstStyle/>
                    <a:p>
                      <a:r>
                        <a:rPr sz="900" b="0" i="0">
                          <a:solidFill>
                            <a:srgbClr val="1A1440"/>
                          </a:solidFill>
                          <a:latin typeface="Calibri"/>
                        </a:rPr>
                        <a:t>weekly_shipments (week_start, shipments, packer_shifts_worked, overtime_shifts); vendor_forecast (week_start, vendor_shipments, kind: fitted for weeks the model was built on, holdout for its forecasts of the hidden weeks, forecast for the weeks ahead); calendar (week_start, diwali_week, sale_week); costs (item, rs, low, high)</a:t>
                      </a:r>
                    </a:p>
                  </a:txBody>
                  <a:tcPr marL="101600" marR="101600" marT="38100" marB="38100" anchor="ctr">
                    <a:solidFill>
                      <a:srgbClr val="FFFFFF"/>
                    </a:solidFill>
                  </a:tcPr>
                </a:tc>
              </a:tr>
              <a:tr h="438912">
                <a:tc>
                  <a:txBody>
                    <a:bodyPr/>
                    <a:lstStyle/>
                    <a:p>
                      <a:r>
                        <a:rPr sz="900" b="0" i="0">
                          <a:solidFill>
                            <a:srgbClr val="1A1440"/>
                          </a:solidFill>
                          <a:latin typeface="Calibri"/>
                        </a:rPr>
                        <a:t>The costs, assumed</a:t>
                      </a:r>
                    </a:p>
                  </a:txBody>
                  <a:tcPr marL="101600" marR="101600" marT="38100" marB="38100" anchor="ctr">
                    <a:solidFill>
                      <a:srgbClr val="F4F2FA"/>
                    </a:solidFill>
                  </a:tcPr>
                </a:tc>
                <a:tc>
                  <a:txBody>
                    <a:bodyPr/>
                    <a:lstStyle/>
                    <a:p>
                      <a:r>
                        <a:rPr sz="900" b="0" i="0">
                          <a:solidFill>
                            <a:srgbClr val="1A1440"/>
                          </a:solidFill>
                          <a:latin typeface="Calibri"/>
                        </a:rPr>
                        <a:t>A packer packs about 120 shipments a shift; a packer-shift is one packer working one shift. A late shipment costs Rs 25 (range Rs 15 to 40). An idle packer-shift costs Rs 650 (range Rs 500 to 800), so a spare shipment, planned for and never shipped, costs Rs 650 / 120 = Rs 5.42</a:t>
                      </a:r>
                    </a:p>
                  </a:txBody>
                  <a:tcPr marL="101600" marR="101600" marT="38100" marB="38100" anchor="ctr">
                    <a:solidFill>
                      <a:srgbClr val="F4F2FA"/>
                    </a:solidFill>
                  </a:tcPr>
                </a:tc>
              </a:tr>
              <a:tr h="438912">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438912">
                <a:tc>
                  <a:txBody>
                    <a:bodyPr/>
                    <a:lstStyle/>
                    <a:p>
                      <a:r>
                        <a:rPr sz="900" b="0" i="0">
                          <a:solidFill>
                            <a:srgbClr val="1A1440"/>
                          </a:solidFill>
                          <a:latin typeface="Calibri"/>
                        </a:rPr>
                        <a:t>Caveats</a:t>
                      </a:r>
                    </a:p>
                  </a:txBody>
                  <a:tcPr marL="101600" marR="101600" marT="38100" marB="38100" anchor="ctr">
                    <a:solidFill>
                      <a:srgbClr val="F4F2FA"/>
                    </a:solidFill>
                  </a:tcPr>
                </a:tc>
                <a:tc>
                  <a:txBody>
                    <a:bodyPr/>
                    <a:lstStyle/>
                    <a:p>
                      <a:r>
                        <a:rPr sz="900" b="0" i="0">
                          <a:solidFill>
                            <a:srgbClr val="1A1440"/>
                          </a:solidFill>
                          <a:latin typeface="Calibri"/>
                        </a:rPr>
                        <a:t>The festival moves by weeks each year and the sale weeks move with it; two years hold two festivals; a late shipment costs more than an idle shift; peak weeks are capped by the centre's own capacity</a:t>
                      </a:r>
                    </a:p>
                  </a:txBody>
                  <a:tcPr marL="101600" marR="101600" marT="38100" marB="38100" anchor="ctr">
                    <a:solidFill>
                      <a:srgbClr val="F4F2FA"/>
                    </a:solidFill>
                  </a:tcPr>
                </a:tc>
              </a:tr>
            </a:tbl>
          </a:graphicData>
        </a:graphic>
      </p:graphicFrame>
      <p:sp>
        <p:nvSpPr>
          <p:cNvPr id="10" name="TextBox 9"/>
          <p:cNvSpPr txBox="1"/>
          <p:nvPr/>
        </p:nvSpPr>
        <p:spPr>
          <a:xfrm>
            <a:off x="530352" y="5660136"/>
            <a:ext cx="11130991" cy="409448"/>
          </a:xfrm>
          <a:prstGeom prst="rect">
            <a:avLst/>
          </a:prstGeom>
          <a:noFill/>
        </p:spPr>
        <p:txBody>
          <a:bodyPr wrap="square" anchor="t" lIns="0" rIns="0" tIns="0" bIns="0">
            <a:spAutoFit/>
          </a:bodyPr>
          <a:lstStyle/>
          <a:p>
            <a:pPr>
              <a:spcAft>
                <a:spcPts val="500"/>
              </a:spcAft>
            </a:pPr>
            <a:r>
              <a:rPr sz="11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asks how much is coming, and how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49557f3c05cfb8d6.png"/>
          <p:cNvPicPr>
            <a:picLocks noChangeAspect="1"/>
          </p:cNvPicPr>
          <p:nvPr/>
        </p:nvPicPr>
        <p:blipFill>
          <a:blip r:embed="rId5"/>
          <a:stretch>
            <a:fillRect/>
          </a:stretch>
        </p:blipFill>
        <p:spPr>
          <a:xfrm>
            <a:off x="530352" y="1956816"/>
            <a:ext cx="11130991" cy="1924240"/>
          </a:xfrm>
          <a:prstGeom prst="rect">
            <a:avLst/>
          </a:prstGeom>
        </p:spPr>
      </p:pic>
      <p:sp>
        <p:nvSpPr>
          <p:cNvPr id="10" name="TextBox 9"/>
          <p:cNvSpPr txBox="1"/>
          <p:nvPr/>
        </p:nvSpPr>
        <p:spPr>
          <a:xfrm>
            <a:off x="530352" y="40273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day asked what a number is compared with, and each node carries the number its day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20,275 shifts, a bar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planner carry out of the room?</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20,275 packer shifts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Over the eight weeks, peaking at 3,719 in the week of 19 October, from a forecast that keeps each week's distance from Diwali.</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 HOW WRONG IT COULD BE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6,615 shipments a week</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Its average miss on thirteen weeks it never saw: about Rs 35,800 of idle shifts if a week lands high, Rs 1.65 lakh of late shipments if low.</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FORECASTS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Neither carries the plan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vendor loses to a copy of last year on hidden weeks; finance's rule copies the calendar, which round three tests.</a:t>
            </a:r>
          </a:p>
        </p:txBody>
      </p:sp>
      <p:sp>
        <p:nvSpPr>
          <p:cNvPr id="27" name="Rounded Rectangle 26"/>
          <p:cNvSpPr/>
          <p:nvPr/>
        </p:nvSpPr>
        <p:spPr>
          <a:xfrm>
            <a:off x="530352" y="44841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891540"/>
          </a:xfrm>
          <a:prstGeom prst="rect">
            <a:avLst/>
          </a:prstGeom>
          <a:noFill/>
        </p:spPr>
        <p:txBody>
          <a:bodyPr wrap="square" anchor="ctr" lIns="0" rIns="0" tIns="0" bIns="0">
            <a:spAutoFit/>
          </a:bodyPr>
          <a:lstStyle/>
          <a:p>
            <a:r>
              <a:rPr sz="1500" b="1">
                <a:solidFill>
                  <a:srgbClr val="5B3FD6"/>
                </a:solidFill>
                <a:latin typeface="Calibri"/>
              </a:rPr>
              <a:t>The tournament's rule. </a:t>
            </a:r>
            <a:r>
              <a:rPr sz="1500" b="0" i="0">
                <a:solidFill>
                  <a:srgbClr val="1A1440"/>
                </a:solidFill>
                <a:latin typeface="Calibri"/>
              </a:rPr>
              <a:t>Nothing goes to the plan unless it beats the house bot, a copy of the same week last year, on the same thirteen hidden weeks, by the same measure: the average miss in shipments, then priced in rupees.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2" name="Oval 3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4" name="Oval 3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shape do the weeks have?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shape do the 104 weeks have, and what would three simple rules say for one week before any code opens?</a:t>
            </a:r>
          </a:p>
        </p:txBody>
      </p:sp>
      <p:sp>
        <p:nvSpPr>
          <p:cNvPr id="10" name="Rounded Rectangle 9"/>
          <p:cNvSpPr/>
          <p:nvPr/>
        </p:nvSpPr>
        <p:spPr>
          <a:xfrm>
            <a:off x="73151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books shifts weeks ahead and cannot add one on the day: a rule that puts the busiest week in the wrong place books packers for a quiet week.</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SHAPE</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is the peak?</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week of the season ships the most, in each year?</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RULES</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rules copy?</a:t>
            </a:r>
          </a:p>
        </p:txBody>
      </p:sp>
      <p:sp>
        <p:nvSpPr>
          <p:cNvPr id="22" name="TextBox 21"/>
          <p:cNvSpPr txBox="1"/>
          <p:nvPr/>
        </p:nvSpPr>
        <p:spPr>
          <a:xfrm>
            <a:off x="3523411" y="4250182"/>
            <a:ext cx="2316403" cy="531876"/>
          </a:xfrm>
          <a:prstGeom prst="rect">
            <a:avLst/>
          </a:prstGeom>
          <a:noFill/>
        </p:spPr>
        <p:txBody>
          <a:bodyPr wrap="square" anchor="t" lIns="0" rIns="0" tIns="0" bIns="0">
            <a:spAutoFit/>
          </a:bodyPr>
          <a:lstStyle/>
          <a:p>
            <a:pPr algn="l"/>
            <a:r>
              <a:rPr sz="1000" b="0" i="0">
                <a:solidFill>
                  <a:srgbClr val="6B6690"/>
                </a:solidFill>
                <a:latin typeface="Calibri"/>
              </a:rPr>
              <a:t>Naive, same week last year, drift and festival-aligned, each in one line.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WEEK</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lands closest?</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rules for Diwali 2025's own week.</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week moves?</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a copy of last year puts the peak.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of the festive season ships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festivals, six weeks each: where does the peak sit, before you see a bar?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Diwali's own week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festival is the moment people shop.</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before Diwali's week</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full week before the festival.</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weeks before Diwali's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Early enough for parcels to arrive.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after Diwali's week</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Gifts bought late, shipped late.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weeks before Diwali, in both years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weeks around two Diwalis ship?</a:t>
            </a:r>
          </a:p>
        </p:txBody>
      </p:sp>
      <p:pic>
        <p:nvPicPr>
          <p:cNvPr id="9" name="mermaid diagram" descr="C2_W04_D05_twelve_rows_STUDENT.png"/>
          <p:cNvPicPr>
            <a:picLocks noChangeAspect="1"/>
          </p:cNvPicPr>
          <p:nvPr/>
        </p:nvPicPr>
        <p:blipFill>
          <a:blip r:embed="rId4"/>
          <a:stretch>
            <a:fillRect/>
          </a:stretch>
        </p:blipFill>
        <p:spPr>
          <a:xfrm>
            <a:off x="2254330" y="1664208"/>
            <a:ext cx="7683035"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around two Diwalis, Diwali's own week in red</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The busiest week is two weeks before Diwali's week both times: 401,000 shipments in the week of 14 October 2024 and 418,200 in the week of 6 October 2025. Both fall in the festive sale, which the calendar table flags in the third and second weeks before Diwali's week. Diwali's own week ships 296,900 and 308,900, and the week after is the lowest.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weekly series carries four shapes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read off a series before any rule is chosen?</a:t>
            </a:r>
          </a:p>
        </p:txBody>
      </p:sp>
      <p:pic>
        <p:nvPicPr>
          <p:cNvPr id="9" name="mermaid diagram" descr="C2_W04_D05_four_patterns_STUDENT.png"/>
          <p:cNvPicPr>
            <a:picLocks noChangeAspect="1"/>
          </p:cNvPicPr>
          <p:nvPr/>
        </p:nvPicPr>
        <p:blipFill>
          <a:blip r:embed="rId4"/>
          <a:stretch>
            <a:fillRect/>
          </a:stretch>
        </p:blipFill>
        <p:spPr>
          <a:xfrm>
            <a:off x="2165572" y="1664208"/>
            <a:ext cx="786055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shapes on invented numbers: trend, season, cycle and noise</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Read them in this order: the slow climb (trend), the repeat on a fixed beat, yearly here (season), the rise and fall with no fixed length (cycle) and what is left over (noise). A series can carry more than one season. A planner books against the first three and buys a cushion for the fourth. The numbers are invented so each shape stands alone.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each a single line of copying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simple forecasting rule copy from the past?</a:t>
            </a:r>
          </a:p>
        </p:txBody>
      </p:sp>
      <p:graphicFrame>
        <p:nvGraphicFramePr>
          <p:cNvPr id="9" name="Table 8"/>
          <p:cNvGraphicFramePr>
            <a:graphicFrameLocks noGrp="1"/>
          </p:cNvGraphicFramePr>
          <p:nvPr/>
        </p:nvGraphicFramePr>
        <p:xfrm>
          <a:off x="530352" y="1956816"/>
          <a:ext cx="11130990" cy="3541776"/>
        </p:xfrm>
        <a:graphic>
          <a:graphicData uri="http://schemas.openxmlformats.org/drawingml/2006/table">
            <a:tbl>
              <a:tblPr firstRow="0" bandRow="0">
                <a:tableStyleId>{2D5ABB26-0587-4C30-8999-92F81FD0307C}</a:tableStyleId>
              </a:tblPr>
              <a:tblGrid>
                <a:gridCol w="3493997"/>
                <a:gridCol w="3886014"/>
                <a:gridCol w="3750979"/>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copies</a:t>
                      </a:r>
                    </a:p>
                  </a:txBody>
                  <a:tcPr marL="101600" marR="101600" marT="38100" marB="38100" anchor="ctr">
                    <a:solidFill>
                      <a:srgbClr val="1A0F5C"/>
                    </a:solidFill>
                  </a:tcPr>
                </a:tc>
                <a:tc>
                  <a:txBody>
                    <a:bodyPr/>
                    <a:lstStyle/>
                    <a:p>
                      <a:r>
                        <a:rPr sz="1450" b="1" i="0">
                          <a:solidFill>
                            <a:srgbClr val="FFFFFF"/>
                          </a:solidFill>
                          <a:latin typeface="Calibri"/>
                        </a:rPr>
                        <a:t>On a canteen's tea (invented)</a:t>
                      </a:r>
                    </a:p>
                  </a:txBody>
                  <a:tcPr marL="101600" marR="101600" marT="38100" marB="38100" anchor="ctr">
                    <a:solidFill>
                      <a:srgbClr val="1A0F5C"/>
                    </a:solidFill>
                  </a:tcPr>
                </a:tc>
              </a:tr>
              <a:tr h="611632">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The last value</a:t>
                      </a:r>
                    </a:p>
                  </a:txBody>
                  <a:tcPr marL="101600" marR="101600" marT="38100" marB="38100" anchor="ctr">
                    <a:solidFill>
                      <a:srgbClr val="FFFFFF"/>
                    </a:solidFill>
                  </a:tcPr>
                </a:tc>
                <a:tc>
                  <a:txBody>
                    <a:bodyPr/>
                    <a:lstStyle/>
                    <a:p>
                      <a:r>
                        <a:rPr sz="1400" b="0" i="0">
                          <a:solidFill>
                            <a:srgbClr val="1A1440"/>
                          </a:solidFill>
                          <a:latin typeface="Calibri"/>
                        </a:rPr>
                        <a:t>50, 52, 49 and 51 cups on four days, so tomorrow is 51</a:t>
                      </a:r>
                    </a:p>
                  </a:txBody>
                  <a:tcPr marL="101600" marR="101600" marT="38100" marB="38100" anchor="ctr">
                    <a:solidFill>
                      <a:srgbClr val="FFFFFF"/>
                    </a:solidFill>
                  </a:tcPr>
                </a:tc>
              </a:tr>
              <a:tr h="611632">
                <a:tc>
                  <a:txBody>
                    <a:bodyPr/>
                    <a:lstStyle/>
                    <a:p>
                      <a:r>
                        <a:rPr sz="1400" b="0" i="0">
                          <a:solidFill>
                            <a:srgbClr val="1A1440"/>
                          </a:solidFill>
                          <a:latin typeface="Calibri"/>
                        </a:rPr>
                        <a:t>Same week last year: the house bot, or seasonal copy</a:t>
                      </a:r>
                    </a:p>
                  </a:txBody>
                  <a:tcPr marL="101600" marR="101600" marT="38100" marB="38100" anchor="ctr">
                    <a:solidFill>
                      <a:srgbClr val="F4F2FA"/>
                    </a:solidFill>
                  </a:tcPr>
                </a:tc>
                <a:tc>
                  <a:txBody>
                    <a:bodyPr/>
                    <a:lstStyle/>
                    <a:p>
                      <a:r>
                        <a:rPr sz="1400" b="0" i="0">
                          <a:solidFill>
                            <a:srgbClr val="1A1440"/>
                          </a:solidFill>
                          <a:latin typeface="Calibri"/>
                        </a:rPr>
                        <a:t>The same point one season back, here 52 weeks</a:t>
                      </a:r>
                    </a:p>
                  </a:txBody>
                  <a:tcPr marL="101600" marR="101600" marT="38100" marB="38100" anchor="ctr">
                    <a:solidFill>
                      <a:srgbClr val="F4F2FA"/>
                    </a:solidFill>
                  </a:tcPr>
                </a:tc>
                <a:tc>
                  <a:txBody>
                    <a:bodyPr/>
                    <a:lstStyle/>
                    <a:p>
                      <a:r>
                        <a:rPr sz="1400" b="0" i="0">
                          <a:solidFill>
                            <a:srgbClr val="1A1440"/>
                          </a:solidFill>
                          <a:latin typeface="Calibri"/>
                        </a:rPr>
                        <a:t>Sundays sell about 80, so next Sunday is 80</a:t>
                      </a:r>
                    </a:p>
                  </a:txBody>
                  <a:tcPr marL="101600" marR="101600" marT="38100" marB="38100" anchor="ctr">
                    <a:solidFill>
                      <a:srgbClr val="F4F2FA"/>
                    </a:solidFill>
                  </a:tcPr>
                </a:tc>
              </a:tr>
              <a:tr h="611632">
                <a:tc>
                  <a:txBody>
                    <a:bodyPr/>
                    <a:lstStyle/>
                    <a:p>
                      <a:r>
                        <a:rPr sz="1400" b="0" i="0">
                          <a:solidFill>
                            <a:srgbClr val="1A1440"/>
                          </a:solidFill>
                          <a:latin typeface="Calibri"/>
                        </a:rPr>
                        <a:t>Drift</a:t>
                      </a:r>
                    </a:p>
                  </a:txBody>
                  <a:tcPr marL="101600" marR="101600" marT="38100" marB="38100" anchor="ctr">
                    <a:solidFill>
                      <a:srgbClr val="FFFFFF"/>
                    </a:solidFill>
                  </a:tcPr>
                </a:tc>
                <a:tc>
                  <a:txBody>
                    <a:bodyPr/>
                    <a:lstStyle/>
                    <a:p>
                      <a:r>
                        <a:rPr sz="1400" b="0" i="0">
                          <a:solidFill>
                            <a:srgbClr val="1A1440"/>
                          </a:solidFill>
                          <a:latin typeface="Calibri"/>
                        </a:rPr>
                        <a:t>The line from the first value to the last, extended</a:t>
                      </a:r>
                    </a:p>
                  </a:txBody>
                  <a:tcPr marL="101600" marR="101600" marT="38100" marB="38100" anchor="ctr">
                    <a:solidFill>
                      <a:srgbClr val="FFFFFF"/>
                    </a:solidFill>
                  </a:tcPr>
                </a:tc>
                <a:tc>
                  <a:txBody>
                    <a:bodyPr/>
                    <a:lstStyle/>
                    <a:p>
                      <a:r>
                        <a:rPr sz="1400" b="0" i="0">
                          <a:solidFill>
                            <a:srgbClr val="1A1440"/>
                          </a:solidFill>
                          <a:latin typeface="Calibri"/>
                        </a:rPr>
                        <a:t>51 plus the average step, (51 - 50) / 3: about 51.3</a:t>
                      </a:r>
                    </a:p>
                  </a:txBody>
                  <a:tcPr marL="101600" marR="101600" marT="38100" marB="38100" anchor="ctr">
                    <a:solidFill>
                      <a:srgbClr val="FFFFFF"/>
                    </a:solidFill>
                  </a:tcPr>
                </a:tc>
              </a:tr>
              <a:tr h="1337056">
                <a:tc>
                  <a:txBody>
                    <a:bodyPr/>
                    <a:lstStyle/>
                    <a:p>
                      <a:r>
                        <a:rPr sz="1400" b="0" i="0">
                          <a:solidFill>
                            <a:srgbClr val="1A1440"/>
                          </a:solidFill>
                          <a:latin typeface="Calibri"/>
                        </a:rPr>
                        <a:t>Festival-aligned</a:t>
                      </a:r>
                    </a:p>
                  </a:txBody>
                  <a:tcPr marL="101600" marR="101600" marT="38100" marB="38100" anchor="ctr">
                    <a:solidFill>
                      <a:srgbClr val="F4F2FA"/>
                    </a:solidFill>
                  </a:tcPr>
                </a:tc>
                <a:tc>
                  <a:txBody>
                    <a:bodyPr/>
                    <a:lstStyle/>
                    <a:p>
                      <a:r>
                        <a:rPr sz="1400" b="0" i="0">
                          <a:solidFill>
                            <a:srgbClr val="1A1440"/>
                          </a:solidFill>
                          <a:latin typeface="Calibri"/>
                        </a:rPr>
                        <a:t>From five weeks before Diwali's week to four after, the week at the same distance from last year's Diwali; otherwise the same calendar week; then plus 4 percent</a:t>
                      </a:r>
                    </a:p>
                  </a:txBody>
                  <a:tcPr marL="101600" marR="101600" marT="38100" marB="38100" anchor="ctr">
                    <a:solidFill>
                      <a:srgbClr val="F4F2FA"/>
                    </a:solidFill>
                  </a:tcPr>
                </a:tc>
                <a:tc>
                  <a:txBody>
                    <a:bodyPr/>
                    <a:lstStyle/>
                    <a:p>
                      <a:r>
                        <a:rPr sz="1400" b="0" i="0">
                          <a:solidFill>
                            <a:srgbClr val="1A1440"/>
                          </a:solidFill>
                          <a:latin typeface="Calibri"/>
                        </a:rPr>
                        <a:t>No canteen version: it exists because the festival moves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lands closest on Diwali 2025's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From the week of 13 October 2025, which rule best forecasts the week of 20 October?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Repeat the week of 13 October 2025.</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Same week last year</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the week of 21 October 2024, 52 weeks back.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Diwali 2024's own week, 28 October, and add 4 percent.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within 10,000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ahead, every rule is close.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within 124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forecast for the week of 20 October 2025, and by how much did it miss?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2849462"/>
                <a:gridCol w="4419226"/>
                <a:gridCol w="1536093"/>
                <a:gridCol w="2326208"/>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The week it copies</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Miss</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13 October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r>
              <a:tr h="335280">
                <a:tc>
                  <a:txBody>
                    <a:bodyPr/>
                    <a:lstStyle/>
                    <a:p>
                      <a:r>
                        <a:rPr sz="1200" b="0" i="0">
                          <a:solidFill>
                            <a:srgbClr val="1A1440"/>
                          </a:solidFill>
                          <a:latin typeface="Calibri"/>
                        </a:rPr>
                        <a:t>Same week last year</a:t>
                      </a:r>
                    </a:p>
                  </a:txBody>
                  <a:tcPr marL="101600" marR="101600" marT="38100" marB="38100" anchor="ctr">
                    <a:solidFill>
                      <a:srgbClr val="F4F2FA"/>
                    </a:solidFill>
                  </a:tcPr>
                </a:tc>
                <a:tc>
                  <a:txBody>
                    <a:bodyPr/>
                    <a:lstStyle/>
                    <a:p>
                      <a:r>
                        <a:rPr sz="1200" b="0" i="0">
                          <a:solidFill>
                            <a:srgbClr val="1A1440"/>
                          </a:solidFill>
                          <a:latin typeface="Calibri"/>
                        </a:rPr>
                        <a:t>21 October 2024</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47,300 too high</a:t>
                      </a:r>
                    </a:p>
                  </a:txBody>
                  <a:tcPr marL="101600" marR="101600" marT="38100" marB="38100" anchor="ctr">
                    <a:solidFill>
                      <a:srgbClr val="F4F2FA"/>
                    </a:solidFill>
                  </a:tcPr>
                </a:tc>
              </a:tr>
              <a:tr h="335280">
                <a:tc>
                  <a:txBody>
                    <a:bodyPr/>
                    <a:lstStyle/>
                    <a:p>
                      <a:r>
                        <a:rPr sz="1200" b="0" i="0">
                          <a:solidFill>
                            <a:srgbClr val="1A1440"/>
                          </a:solidFill>
                          <a:latin typeface="Calibri"/>
                        </a:rPr>
                        <a:t>Festival-aligned</a:t>
                      </a:r>
                    </a:p>
                  </a:txBody>
                  <a:tcPr marL="101600" marR="101600" marT="38100" marB="38100" anchor="ctr">
                    <a:solidFill>
                      <a:srgbClr val="FFFFFF"/>
                    </a:solidFill>
                  </a:tcPr>
                </a:tc>
                <a:tc>
                  <a:txBody>
                    <a:bodyPr/>
                    <a:lstStyle/>
                    <a:p>
                      <a:r>
                        <a:rPr sz="1200" b="0" i="0">
                          <a:solidFill>
                            <a:srgbClr val="1A1440"/>
                          </a:solidFill>
                          <a:latin typeface="Calibri"/>
                        </a:rPr>
                        <a:t>28 October 2024, plus 4 percent</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308,900 shipped. The week 52 weeks back looks like "the same week", but in 2024 it was the week before Diwali, and the week before Diwali ships more than Diwali's own week.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of last year lands 2025's peak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same-week-last-year copy put the peak when Diwali moves?</a:t>
            </a:r>
          </a:p>
        </p:txBody>
      </p:sp>
      <p:pic>
        <p:nvPicPr>
          <p:cNvPr id="9" name="mermaid diagram" descr="C2_W04_D05_festival_plot_STUDENT.png"/>
          <p:cNvPicPr>
            <a:picLocks noChangeAspect="1"/>
          </p:cNvPicPr>
          <p:nvPr/>
        </p:nvPicPr>
        <p:blipFill>
          <a:blip r:embed="rId4"/>
          <a:stretch>
            <a:fillRect/>
          </a:stretch>
        </p:blipFill>
        <p:spPr>
          <a:xfrm>
            <a:off x="2270101" y="1664208"/>
            <a:ext cx="7651492"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by date and by weeks from Diwali</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The copy books 401,000 for the week of 13 October 2025, its biggest week, while 369,000 shipped; the real peak, 418,200 on 6 October, gets 312,900. </a:t>
            </a:r>
            <a:r>
              <a:rPr sz="1100" b="1" i="0">
                <a:solidFill>
                  <a:srgbClr val="1A1440"/>
                </a:solidFill>
                <a:latin typeface="Calibri"/>
              </a:rPr>
              <a:t>The decision it misleads:</a:t>
            </a:r>
            <a:r>
              <a:rPr sz="1100" b="0" i="0">
                <a:solidFill>
                  <a:srgbClr val="1A1440"/>
                </a:solidFill>
                <a:latin typeface="Calibri"/>
              </a:rPr>
              <a:t> the most packers booked a week after the rush. </a:t>
            </a:r>
            <a:r>
              <a:rPr sz="1100" b="1" i="0">
                <a:solidFill>
                  <a:srgbClr val="1A1440"/>
                </a:solidFill>
                <a:latin typeface="Calibri"/>
              </a:rPr>
              <a:t>The check:</a:t>
            </a:r>
            <a:r>
              <a:rPr sz="1100" b="0" i="0">
                <a:solidFill>
                  <a:srgbClr val="1A1440"/>
                </a:solidFill>
                <a:latin typeface="Calibri"/>
              </a:rPr>
              <a:t> line the years up by weeks from Diwali, as on the right. </a:t>
            </a:r>
            <a:r>
              <a:rPr sz="1100" b="1" i="0">
                <a:solidFill>
                  <a:srgbClr val="1A1440"/>
                </a:solidFill>
                <a:latin typeface="Calibri"/>
              </a:rPr>
              <a:t>The fix:</a:t>
            </a:r>
            <a:r>
              <a:rPr sz="1100" b="0" i="0">
                <a:solidFill>
                  <a:srgbClr val="1A1440"/>
                </a:solidFill>
                <a:latin typeface="Calibri"/>
              </a:rPr>
              <a:t> festival-aligned.</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6" name="Oval 15"/>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2026 Diwali's week moves two weeks later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Diwali fall in 2026, against the two years the rules copy?</a:t>
            </a:r>
          </a:p>
        </p:txBody>
      </p:sp>
      <p:pic>
        <p:nvPicPr>
          <p:cNvPr id="9" name="mermaid diagram" descr="C2_W04_D05_festival_calendar_open_STUDENT.png"/>
          <p:cNvPicPr>
            <a:picLocks noChangeAspect="1"/>
          </p:cNvPicPr>
          <p:nvPr/>
        </p:nvPicPr>
        <p:blipFill>
          <a:blip r:embed="rId4"/>
          <a:stretch>
            <a:fillRect/>
          </a:stretch>
        </p:blipFill>
        <p:spPr>
          <a:xfrm>
            <a:off x="1303486" y="1664208"/>
            <a:ext cx="958472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week in 2024, 2025 and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Diwali 2026 falls on Sunday 8 November, so its week begins 2 November, 54 weeks after Diwali 2025's week and two weeks later in the calendar. Hold one question for round three: where will a copy of last year put this year's rush?</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books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decisions does a festive forecast feed?</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4534868"/>
                <a:gridCol w="6596122"/>
              </a:tblGrid>
              <a:tr h="1337056">
                <a:tc>
                  <a:txBody>
                    <a:bodyPr/>
                    <a:lstStyle/>
                    <a:p>
                      <a:r>
                        <a:rPr sz="1450" b="1" i="0">
                          <a:solidFill>
                            <a:srgbClr val="FFFFFF"/>
                          </a:solidFill>
                          <a:latin typeface="Calibri"/>
                        </a:rPr>
                        <a:t>What Flipkart said (6 October 2026)</a:t>
                      </a:r>
                    </a:p>
                  </a:txBody>
                  <a:tcPr marL="101600" marR="101600" marT="38100" marB="38100" anchor="ctr">
                    <a:solidFill>
                      <a:srgbClr val="1A0F5C"/>
                    </a:solidFill>
                  </a:tcPr>
                </a:tc>
                <a:tc>
                  <a:txBody>
                    <a:bodyPr/>
                    <a:lstStyle/>
                    <a:p>
                      <a:r>
                        <a:rPr sz="1450" b="1" i="0">
                          <a:solidFill>
                            <a:srgbClr val="FFFFFF"/>
                          </a:solidFill>
                          <a:latin typeface="Calibri"/>
                        </a:rPr>
                        <a:t>Ekart, the supply chain behind Flipkart's deliveries, added 14 million cubic feet of warehousing space ahead of The Big Billion Days, Flipkart's yearly festive sale, and more than 2.5 lakh direct and indirect festive jobs were created (Flipkart's announcement,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When it was decided</a:t>
                      </a:r>
                    </a:p>
                  </a:txBody>
                  <a:tcPr marL="101600" marR="101600" marT="38100" marB="38100" anchor="ctr">
                    <a:solidFill>
                      <a:srgbClr val="FFFFFF"/>
                    </a:solidFill>
                  </a:tcPr>
                </a:tc>
                <a:tc>
                  <a:txBody>
                    <a:bodyPr/>
                    <a:lstStyle/>
                    <a:p>
                      <a:r>
                        <a:rPr sz="1400" b="0" i="0">
                          <a:solidFill>
                            <a:srgbClr val="1A1440"/>
                          </a:solidFill>
                          <a:latin typeface="Calibri"/>
                        </a:rPr>
                        <a:t>Before the sale opened, so the space and the people rested on a forecast made weeks earlier</a:t>
                      </a:r>
                    </a:p>
                  </a:txBody>
                  <a:tcPr marL="101600" marR="101600" marT="38100" marB="38100" anchor="ctr">
                    <a:solidFill>
                      <a:srgbClr val="FFFFFF"/>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4F2FA"/>
                    </a:solidFill>
                  </a:tcPr>
                </a:tc>
                <a:tc>
                  <a:txBody>
                    <a:bodyPr/>
                    <a:lstStyle/>
                    <a:p>
                      <a:r>
                        <a:rPr sz="1400" b="0" i="0">
                          <a:solidFill>
                            <a:srgbClr val="1A1440"/>
                          </a:solidFill>
                          <a:latin typeface="Calibri"/>
                        </a:rPr>
                        <a:t>Whether the forecast behind the booking beat a simple copy of last year, and whether it put the festival in the right week</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the peak sits two weeks before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counting twelve weeks by hand settle, and what does it leave open?</a:t>
            </a:r>
          </a:p>
        </p:txBody>
      </p:sp>
      <p:pic>
        <p:nvPicPr>
          <p:cNvPr id="9" name="mermaid diagram" descr="884ca1f92b39cb7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One week cannot crown a rule. </a:t>
            </a:r>
            <a:r>
              <a:rPr sz="1600" b="1" i="0">
                <a:solidFill>
                  <a:srgbClr val="1A1440"/>
                </a:solidFill>
                <a:latin typeface="Calibri"/>
              </a:rPr>
              <a:t>Say it to a shift supervisor:</a:t>
            </a:r>
            <a:r>
              <a:rPr sz="1600" b="0" i="0">
                <a:solidFill>
                  <a:srgbClr val="1A1440"/>
                </a:solidFill>
                <a:latin typeface="Calibri"/>
              </a:rPr>
              <a:t> the computer copied last year's dates, and the festival moved, so its busiest week came at the wrong time. In the M5 forecasting competition, on Walmart's daily sales of 3,049 products, the house bot's rule (there, the same weekday last week) scored 0.847 against 1.752 for naive, lower being better (M5 results workbook, checked 12 October 2026).</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rule wins on hidden weeks?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each rule score on the thirteen weeks it never saw, which way is each wrong, and what does each direction cost?</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must say yes or no to the vendor's plus 22 percent before a single shift is booked.</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weeks?</a:t>
            </a:r>
          </a:p>
        </p:txBody>
      </p:sp>
      <p:sp>
        <p:nvSpPr>
          <p:cNvPr id="17" name="TextBox 16"/>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last thirteen, forecast from one week.</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average miss in shipments.</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SCORE</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rule wins?</a:t>
            </a:r>
          </a:p>
        </p:txBody>
      </p:sp>
      <p:sp>
        <p:nvSpPr>
          <p:cNvPr id="27" name="TextBox 26"/>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rules on the hidden weeks.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a fit say?</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vendor on weeks it never saw.</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 misses cost?</a:t>
            </a:r>
          </a:p>
        </p:txBody>
      </p:sp>
      <p:sp>
        <p:nvSpPr>
          <p:cNvPr id="37" name="TextBox 36"/>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Rs 25 late, Rs 5.42 spare (Rs 650 / 120).</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42" name="Oval 41"/>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the last thirteen weeks, forecast from 22 June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the test hide, and from which week is every forecast made?</a:t>
            </a:r>
          </a:p>
        </p:txBody>
      </p:sp>
      <p:pic>
        <p:nvPicPr>
          <p:cNvPr id="9" name="mermaid diagram" descr="C2_W04_D05_actual_series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with the hold-out shaded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t>
            </a:r>
            <a:r>
              <a:rPr sz="1600" b="1" i="0">
                <a:solidFill>
                  <a:srgbClr val="1A1440"/>
                </a:solidFill>
                <a:latin typeface="Calibri"/>
              </a:rPr>
              <a:t>hidden weeks</a:t>
            </a:r>
            <a:r>
              <a:rPr sz="1600" b="0" i="0">
                <a:solidFill>
                  <a:srgbClr val="1A1440"/>
                </a:solidFill>
                <a:latin typeface="Calibri"/>
              </a:rPr>
              <a:t> (the hold-out, or test set) are kept from every rule: 29 June to 21 September 2026. The 91 </a:t>
            </a:r>
            <a:r>
              <a:rPr sz="1600" b="1" i="0">
                <a:solidFill>
                  <a:srgbClr val="1A1440"/>
                </a:solidFill>
                <a:latin typeface="Calibri"/>
              </a:rPr>
              <a:t>training weeks</a:t>
            </a:r>
            <a:r>
              <a:rPr sz="1600" b="0" i="0">
                <a:solidFill>
                  <a:srgbClr val="1A1440"/>
                </a:solidFill>
                <a:latin typeface="Calibri"/>
              </a:rPr>
              <a:t> before them are all a rule may see; the last, 22 June, is the </a:t>
            </a:r>
            <a:r>
              <a:rPr sz="1600" b="1" i="0">
                <a:solidFill>
                  <a:srgbClr val="1A1440"/>
                </a:solidFill>
                <a:latin typeface="Calibri"/>
              </a:rPr>
              <a:t>origin</a:t>
            </a:r>
            <a:r>
              <a:rPr sz="1600" b="0" i="0">
                <a:solidFill>
                  <a:srgbClr val="1A1440"/>
                </a:solidFill>
                <a:latin typeface="Calibri"/>
              </a:rPr>
              <a:t> every forecast is made from. The plan's reach, eight weeks, is the </a:t>
            </a:r>
            <a:r>
              <a:rPr sz="1600" b="1" i="0">
                <a:solidFill>
                  <a:srgbClr val="1A1440"/>
                </a:solidFill>
                <a:latin typeface="Calibri"/>
              </a:rPr>
              <a:t>horizon</a:t>
            </a:r>
            <a:r>
              <a:rPr sz="1600" b="0" i="0">
                <a:solidFill>
                  <a:srgbClr val="1A1440"/>
                </a:solidFill>
                <a:latin typeface="Calibri"/>
              </a:rPr>
              <a:t>, and the test should be at least as long (Forecasting: Principles and Practice, section 5.8, checked 12 October 2026).</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the average miss, counted in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number made from thirteen misses, and why shipments?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8.3</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MAE ON THREE INVENTED WEEKS</a:t>
            </a:r>
          </a:p>
        </p:txBody>
      </p:sp>
      <p:sp>
        <p:nvSpPr>
          <p:cNvPr id="11" name="TextBox 10"/>
          <p:cNvSpPr txBox="1"/>
          <p:nvPr/>
        </p:nvSpPr>
        <p:spPr>
          <a:xfrm>
            <a:off x="53035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misses of 10, 5 and 10 shipments, one of them too low: (10 + 5 + 10) / 3</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shipments</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UNIT</a:t>
            </a:r>
          </a:p>
        </p:txBody>
      </p:sp>
      <p:sp>
        <p:nvSpPr>
          <p:cNvPr id="15" name="TextBox 14"/>
          <p:cNvSpPr txBox="1"/>
          <p:nvPr/>
        </p:nvSpPr>
        <p:spPr>
          <a:xfrm>
            <a:off x="433212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a miss is priced per shipment, so the score stays in shipments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fixed first</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RULE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measure is chosen before anyone sees a score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Mean absolute error drops each miss's sign and averages. </a:t>
            </a:r>
            <a:r>
              <a:rPr sz="1600" b="1" i="0">
                <a:solidFill>
                  <a:srgbClr val="1A1440"/>
                </a:solidFill>
                <a:latin typeface="Calibri"/>
              </a:rPr>
              <a:t>MAPE</a:t>
            </a:r>
            <a:r>
              <a:rPr sz="1600" b="0" i="0">
                <a:solidFill>
                  <a:srgbClr val="1A1440"/>
                </a:solidFill>
                <a:latin typeface="Calibri"/>
              </a:rPr>
              <a:t>, the mean absolute percentage error, averages misses as percents of what shipped: useful across centres of different sizes, but the costs here are per shipment, and 2 percent of a peak week is twice the shipments of 2 percent of a quiet one. The sign comes back on S22.</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scores lowest on hidden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rule misses least on thirteen weeks it never saw?</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week of 22 June.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 from the first week through 22 June.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the same week of 2025.</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bot plus 4 percent here, tied with finance's rule.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and finance tie, 6,615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each rule score on the thirteen hidden weeks?</a:t>
            </a:r>
          </a:p>
        </p:txBody>
      </p:sp>
      <p:pic>
        <p:nvPicPr>
          <p:cNvPr id="9" name="mermaid diagram" descr="C2_W04_D05_baselines_panel_STUDENT.png"/>
          <p:cNvPicPr>
            <a:picLocks noChangeAspect="1"/>
          </p:cNvPicPr>
          <p:nvPr/>
        </p:nvPicPr>
        <p:blipFill>
          <a:blip r:embed="rId4"/>
          <a:stretch>
            <a:fillRect/>
          </a:stretch>
        </p:blipFill>
        <p:spPr>
          <a:xfrm>
            <a:off x="1632401" y="1664208"/>
            <a:ext cx="8926893"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rule against the actual on the hidden weeks, with its MAE</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Festival-aligned and finance's rule miss by 6,615 shipments a week, the house bot by 9,831, drift by 14,842 and naive by 14,923. The tie is honest: no hidden week falls between five weeks before a Diwali week and four after, so both rules copy the same week of 2025 and add the same 4 percent. They part only in the festive weeks, which this test does not hold.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a curve that fits history beat the bot?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vendor's sponsor says its curve sits within 2 percent of every week it was fitted to. Will it beat the house bot on the hidden weeks?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by a wide margin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model that close to history has learned the series.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narrowly</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knows the season the bot copies.</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it loses to the bot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fit is drawn through weeks it has seen.</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ties festival-aligned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Both end near 6,615.</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it misses by 16,400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vendor's fit say about its forecast?</a:t>
            </a:r>
          </a:p>
        </p:txBody>
      </p:sp>
      <p:pic>
        <p:nvPicPr>
          <p:cNvPr id="9" name="mermaid diagram" descr="C2_W04_D05_fit_vs_forecast_STUDENT.png"/>
          <p:cNvPicPr>
            <a:picLocks noChangeAspect="1"/>
          </p:cNvPicPr>
          <p:nvPr/>
        </p:nvPicPr>
        <p:blipFill>
          <a:blip r:embed="rId4"/>
          <a:stretch>
            <a:fillRect/>
          </a:stretch>
        </p:blipFill>
        <p:spPr>
          <a:xfrm>
            <a:off x="2052684" y="1664208"/>
            <a:ext cx="8086326" cy="3040380"/>
          </a:xfrm>
          <a:prstGeom prst="rect">
            <a:avLst/>
          </a:prstGeom>
        </p:spPr>
      </p:pic>
      <p:sp>
        <p:nvSpPr>
          <p:cNvPr id="10" name="picture caption"/>
          <p:cNvSpPr txBox="1"/>
          <p:nvPr/>
        </p:nvSpPr>
        <p:spPr>
          <a:xfrm>
            <a:off x="530352" y="47411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vendor's misses: fitted weeks within 2 percent, hidden weeks too high</a:t>
            </a:r>
          </a:p>
        </p:txBody>
      </p:sp>
      <p:sp>
        <p:nvSpPr>
          <p:cNvPr id="11" name="Rounded Rectangle 10"/>
          <p:cNvSpPr/>
          <p:nvPr/>
        </p:nvSpPr>
        <p:spPr>
          <a:xfrm>
            <a:off x="530352" y="506730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9531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86172"/>
            <a:ext cx="10564063" cy="784860"/>
          </a:xfrm>
          <a:prstGeom prst="rect">
            <a:avLst/>
          </a:prstGeom>
          <a:noFill/>
        </p:spPr>
        <p:txBody>
          <a:bodyPr wrap="square" anchor="ctr" lIns="0" rIns="0" tIns="0" bIns="0">
            <a:spAutoFit/>
          </a:bodyPr>
          <a:lstStyle/>
          <a:p>
            <a:r>
              <a:rPr sz="1300" b="1">
                <a:solidFill>
                  <a:srgbClr val="5B3FD6"/>
                </a:solidFill>
                <a:latin typeface="Calibri"/>
              </a:rPr>
              <a:t>The plausible wrong number: </a:t>
            </a:r>
            <a:r>
              <a:rPr sz="1300" b="0" i="0">
                <a:solidFill>
                  <a:srgbClr val="1A1440"/>
                </a:solidFill>
                <a:latin typeface="Calibri"/>
              </a:rPr>
              <a:t>"within 2 percent of every week, so its plus 22 can be trusted"; its worst fitted week is 1.4 percent off. </a:t>
            </a:r>
            <a:r>
              <a:rPr sz="1300" b="1" i="0">
                <a:solidFill>
                  <a:srgbClr val="1A1440"/>
                </a:solidFill>
                <a:latin typeface="Calibri"/>
              </a:rPr>
              <a:t>The decision it misleads:</a:t>
            </a:r>
            <a:r>
              <a:rPr sz="1300" b="0" i="0">
                <a:solidFill>
                  <a:srgbClr val="1A1440"/>
                </a:solidFill>
                <a:latin typeface="Calibri"/>
              </a:rPr>
              <a:t> a plan 22 percent above last year. </a:t>
            </a:r>
            <a:r>
              <a:rPr sz="1300" b="1" i="0">
                <a:solidFill>
                  <a:srgbClr val="1A1440"/>
                </a:solidFill>
                <a:latin typeface="Calibri"/>
              </a:rPr>
              <a:t>The check:</a:t>
            </a:r>
            <a:r>
              <a:rPr sz="1300" b="0" i="0">
                <a:solidFill>
                  <a:srgbClr val="1A1440"/>
                </a:solidFill>
                <a:latin typeface="Calibri"/>
              </a:rPr>
              <a:t> its error on weeks it never saw, 16,400 a week, 67 percent worse than the house bot. </a:t>
            </a:r>
            <a:r>
              <a:rPr sz="1300" b="1" i="0">
                <a:solidFill>
                  <a:srgbClr val="1A1440"/>
                </a:solidFill>
                <a:latin typeface="Calibri"/>
              </a:rPr>
              <a:t>The fix:</a:t>
            </a:r>
            <a:r>
              <a:rPr sz="1300" b="0" i="0">
                <a:solidFill>
                  <a:srgbClr val="1A1440"/>
                </a:solidFill>
                <a:latin typeface="Calibri"/>
              </a:rPr>
              <a:t> nothing goes to the plan unless it beats the bot there.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6" name="Oval 15"/>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Whose misses cost least, once priced?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late shipment costs Rs 25 and a spare one Rs 5.42. Whose thirteen misses cost the least?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lowest MAE, 6,615.</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vendor</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highest MAE, 16,400.</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9,831.</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14,923.</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vendor's, at Rs 11.9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misses cost in rupees, and why does the order change?</a:t>
            </a:r>
          </a:p>
        </p:txBody>
      </p:sp>
      <p:pic>
        <p:nvPicPr>
          <p:cNvPr id="9" name="mermaid diagram" descr="C2_W04_D05_scoreboard_STUDENT.png"/>
          <p:cNvPicPr>
            <a:picLocks noChangeAspect="1"/>
          </p:cNvPicPr>
          <p:nvPr/>
        </p:nvPicPr>
        <p:blipFill>
          <a:blip r:embed="rId4"/>
          <a:stretch>
            <a:fillRect/>
          </a:stretch>
        </p:blipFill>
        <p:spPr>
          <a:xfrm>
            <a:off x="2034912" y="1664208"/>
            <a:ext cx="8121869"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beside the same misses priced in rupees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vendor errs high on 12 of 13 weeks, and a spare shipment is the cheap kind of miss: Rs 11.9 lakh against Rs 13.5 lakh for festival-aligned, each added over the thirteen weeks. The house bot errs low on 11 of 13 weeks and costs Rs 30.5 lakh, more than naive's Rs 28.8 lakh, with a lower MAE. Priced, a forecast that errs high can cost less than one that misses less.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Cheap misses do not win the vendor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its misses cost least, why does the vendor's curve still lose the plan?</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UNSIZED</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Nobody chose how high it runs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So nobody knows how high it will run in October.</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GROWING</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 climbs with the weeks ahead</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3.6 percent too high in hidden weeks 1 to 6, 11.5 percent in weeks 8 to 13.</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x_d5f63e57421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UNTESTED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festival in the test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festive weeks it copies 2025's calendar, the wrong weeks.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f01016c75a5.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Lean high on purpose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CFC9EE"/>
                </a:solidFill>
                <a:latin typeface="Calibri"/>
              </a:rPr>
              <a:t>Raise festival-aligned by an amount the two costs set, which chapter 3 sizes.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85,996 missed, over 13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scoreboard's 6,615 survive a count by hand from the printed misses?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40,748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HIGH</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above the actual, summed over its 6 high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45,248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below the actual, summed over the other 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(40,748 + 45,248) / 13 = 85,996 / 13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Notebook 02's last table prints the thirteen misses; added up, they give the same 6,615. The split also says the forecast errs neither way here: 6 weeks high, 7 low.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fit is not forecast; price the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hidden weeks settle, and what can they not test?</a:t>
            </a:r>
          </a:p>
        </p:txBody>
      </p:sp>
      <p:pic>
        <p:nvPicPr>
          <p:cNvPr id="9" name="mermaid diagram" descr="b5f209d7546b7c0f.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1,045 monthly series, statistical methods beat every machine-learning method, and the best fits to the past did not forecast best (Makridakis and colleagues, PLOS ONE, 2018, checked 12 October 2026). </a:t>
            </a:r>
            <a:r>
              <a:rPr sz="1600" b="1" i="0">
                <a:solidFill>
                  <a:srgbClr val="1A1440"/>
                </a:solidFill>
                <a:latin typeface="Calibri"/>
              </a:rPr>
              <a:t>Good enough</a:t>
            </a:r>
            <a:r>
              <a:rPr sz="1600" b="0" i="0">
                <a:solidFill>
                  <a:srgbClr val="1A1440"/>
                </a:solidFill>
                <a:latin typeface="Calibri"/>
              </a:rPr>
              <a:t> is a claim about the decision: a better forecast is worth having only if it books different shifts.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forecast books the shifts?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forecast goes to the plan, how many packer shifts a week, and what does being wrong cost in each direction?</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between the scores and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plan,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answers for late parcels in the festival's busiest weeks: a plan with the peak in the wrong week pays for idle packers and late shipments in the same month.</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PLACE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is this year's peak?</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week each forecast makes the busiest.</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Did placement matter before?</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2025's festival, forecast a month ahead.</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WINDOWS</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Plus what, against what?</a:t>
            </a:r>
          </a:p>
        </p:txBody>
      </p:sp>
      <p:sp>
        <p:nvSpPr>
          <p:cNvPr id="27" name="TextBox 26"/>
          <p:cNvSpPr txBox="1"/>
          <p:nvPr/>
        </p:nvSpPr>
        <p:spPr>
          <a:xfrm>
            <a:off x="5220492"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22 and the 4 against two windows.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LEVEL</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far above?</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cushion two costs justify.</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PLAN</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How many shifts?</a:t>
            </a:r>
          </a:p>
        </p:txBody>
      </p:sp>
      <p:sp>
        <p:nvSpPr>
          <p:cNvPr id="37" name="TextBox 36"/>
          <p:cNvSpPr txBox="1"/>
          <p:nvPr/>
        </p:nvSpPr>
        <p:spPr>
          <a:xfrm>
            <a:off x="9746040" y="4250182"/>
            <a:ext cx="1750710" cy="201676"/>
          </a:xfrm>
          <a:prstGeom prst="rect">
            <a:avLst/>
          </a:prstGeom>
          <a:noFill/>
        </p:spPr>
        <p:txBody>
          <a:bodyPr wrap="square" anchor="t" lIns="0" rIns="0" tIns="0" bIns="0">
            <a:spAutoFit/>
          </a:bodyPr>
          <a:lstStyle/>
          <a:p>
            <a:pPr algn="l"/>
            <a:r>
              <a:rPr sz="1000" b="0" i="0">
                <a:solidFill>
                  <a:srgbClr val="CFC9EE"/>
                </a:solidFill>
                <a:latin typeface="Calibri"/>
              </a:rPr>
              <a:t>Eight weeks, priced.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42" name="Oval 41"/>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does the bot make 2026's busiest?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Copying 2025 week for week, which week of 2026 does the house bot book the most packers for?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October 2026</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week before the window the planner books.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19 October 2026</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weeks before Diwali's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26 October 2026</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week before Diwali's week.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 November 2026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Diwali's own week.</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 October, two weeks before the peak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forecast put this year's busiest week?</a:t>
            </a:r>
          </a:p>
        </p:txBody>
      </p:sp>
      <p:pic>
        <p:nvPicPr>
          <p:cNvPr id="9" name="mermaid diagram" descr="C2_W04_D05_window_2026_STUDENT.png"/>
          <p:cNvPicPr>
            <a:picLocks noChangeAspect="1"/>
          </p:cNvPicPr>
          <p:nvPr/>
        </p:nvPicPr>
        <p:blipFill>
          <a:blip r:embed="rId4"/>
          <a:stretch>
            <a:fillRect/>
          </a:stretch>
        </p:blipFill>
        <p:spPr>
          <a:xfrm>
            <a:off x="2138421" y="1664208"/>
            <a:ext cx="7914852"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house bot, finance's rule and the vendor all book their biggest week on 5 October (418,200, 434,928 and 497,900), because each copies 2025's calendar weeks. Festival-aligned books it on 19 October at 434,928, two weeks before Diwali's week of 2 November: finance's number, in the right week. Inside the window, which starts on 12 October, the calendar copies book the most for 12 October and far too little for 19 and 26 October.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2025's festival the bot was a week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Forecast from 22 September 2025, how did the copy of 2024 do on 2025's festival?</a:t>
            </a:r>
          </a:p>
        </p:txBody>
      </p:sp>
      <p:pic>
        <p:nvPicPr>
          <p:cNvPr id="9" name="mermaid diagram" descr="C2_W04_D05_backtest_2025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2025's festival against the copy of 2024 and the festival-aligned copy</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 </a:t>
            </a:r>
            <a:r>
              <a:rPr sz="1600" b="1" i="0">
                <a:solidFill>
                  <a:srgbClr val="1A1440"/>
                </a:solidFill>
                <a:latin typeface="Calibri"/>
              </a:rPr>
              <a:t>back-test</a:t>
            </a:r>
            <a:r>
              <a:rPr sz="1600" b="0" i="0">
                <a:solidFill>
                  <a:srgbClr val="1A1440"/>
                </a:solidFill>
                <a:latin typeface="Calibri"/>
              </a:rPr>
              <a:t> forecasts an earlier stretch as if the later weeks were unknown. Over 29 September to 17 November 2025 the house bot missed by 58,250 a week: Rs 79.8 lakh, Rs 69.6 lakh of it late shipments where the rush came before the copy expected it. Festival-aligned missed by 4,034 a week; without the 4 percent, measured only later, it missed by 10,575.</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Plus 22 and plus 4 measure different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forecast compare with last year's eight weeks, counted two ways?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642116"/>
                <a:gridCol w="1517068"/>
                <a:gridCol w="3429650"/>
                <a:gridCol w="3542155"/>
              </a:tblGrid>
              <a:tr h="335280">
                <a:tc>
                  <a:txBody>
                    <a:bodyPr/>
                    <a:lstStyle/>
                    <a:p>
                      <a:r>
                        <a:rPr sz="1250" b="1" i="0">
                          <a:solidFill>
                            <a:srgbClr val="FFFFFF"/>
                          </a:solidFill>
                          <a:latin typeface="Calibri"/>
                        </a:rPr>
                        <a:t>12 Oct to 30 Nov 2026</a:t>
                      </a:r>
                    </a:p>
                  </a:txBody>
                  <a:tcPr marL="101600" marR="101600" marT="38100" marB="38100" anchor="ctr">
                    <a:solidFill>
                      <a:srgbClr val="1A0F5C"/>
                    </a:solidFill>
                  </a:tcPr>
                </a:tc>
                <a:tc>
                  <a:txBody>
                    <a:bodyPr/>
                    <a:lstStyle/>
                    <a:p>
                      <a:r>
                        <a:rPr sz="1250" b="1" i="0">
                          <a:solidFill>
                            <a:srgbClr val="FFFFFF"/>
                          </a:solidFill>
                          <a:latin typeface="Calibri"/>
                        </a:rPr>
                        <a:t>Eight weeks</a:t>
                      </a:r>
                    </a:p>
                  </a:txBody>
                  <a:tcPr marL="101600" marR="101600" marT="38100" marB="38100" anchor="ctr">
                    <a:solidFill>
                      <a:srgbClr val="1A0F5C"/>
                    </a:solidFill>
                  </a:tcPr>
                </a:tc>
                <a:tc>
                  <a:txBody>
                    <a:bodyPr/>
                    <a:lstStyle/>
                    <a:p>
                      <a:r>
                        <a:rPr sz="1250" b="1" i="0">
                          <a:solidFill>
                            <a:srgbClr val="FFFFFF"/>
                          </a:solidFill>
                          <a:latin typeface="Calibri"/>
                        </a:rPr>
                        <a:t>Against 13 Oct to 1 Dec 2025</a:t>
                      </a:r>
                    </a:p>
                  </a:txBody>
                  <a:tcPr marL="101600" marR="101600" marT="38100" marB="38100" anchor="ctr">
                    <a:solidFill>
                      <a:srgbClr val="1A0F5C"/>
                    </a:solidFill>
                  </a:tcPr>
                </a:tc>
                <a:tc>
                  <a:txBody>
                    <a:bodyPr/>
                    <a:lstStyle/>
                    <a:p>
                      <a:r>
                        <a:rPr sz="1250" b="1" i="0">
                          <a:solidFill>
                            <a:srgbClr val="FFFFFF"/>
                          </a:solidFill>
                          <a:latin typeface="Calibri"/>
                        </a:rPr>
                        <a:t>Against 29 Sep to 17 Nov 2025</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1,983,300</a:t>
                      </a:r>
                    </a:p>
                  </a:txBody>
                  <a:tcPr marL="101600" marR="101600" marT="38100" marB="38100" anchor="ctr">
                    <a:solidFill>
                      <a:srgbClr val="FFFFFF"/>
                    </a:solidFill>
                  </a:tcPr>
                </a:tc>
                <a:tc>
                  <a:txBody>
                    <a:bodyPr/>
                    <a:lstStyle/>
                    <a:p>
                      <a:r>
                        <a:rPr sz="1200" b="0" i="0">
                          <a:solidFill>
                            <a:srgbClr val="1A1440"/>
                          </a:solidFill>
                          <a:latin typeface="Calibri"/>
                        </a:rPr>
                        <a:t>the same</a:t>
                      </a:r>
                    </a:p>
                  </a:txBody>
                  <a:tcPr marL="101600" marR="101600" marT="38100" marB="38100" anchor="ctr">
                    <a:solidFill>
                      <a:srgbClr val="FFFFFF"/>
                    </a:solidFill>
                  </a:tcPr>
                </a:tc>
                <a:tc>
                  <a:txBody>
                    <a:bodyPr/>
                    <a:lstStyle/>
                    <a:p>
                      <a:r>
                        <a:rPr sz="1200" b="0" i="0">
                          <a:solidFill>
                            <a:srgbClr val="1A1440"/>
                          </a:solidFill>
                          <a:latin typeface="Calibri"/>
                        </a:rPr>
                        <a:t>13.0 percent below</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2,062,632</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c>
                  <a:txBody>
                    <a:bodyPr/>
                    <a:lstStyle/>
                    <a:p>
                      <a:r>
                        <a:rPr sz="1200" b="0" i="0">
                          <a:solidFill>
                            <a:srgbClr val="1A1440"/>
                          </a:solidFill>
                          <a:latin typeface="Calibri"/>
                        </a:rPr>
                        <a:t>9.5 percent below</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2,419,500</a:t>
                      </a:r>
                    </a:p>
                  </a:txBody>
                  <a:tcPr marL="101600" marR="101600" marT="38100" marB="38100" anchor="ctr">
                    <a:solidFill>
                      <a:srgbClr val="FFFFFF"/>
                    </a:solidFill>
                  </a:tcPr>
                </a:tc>
                <a:tc>
                  <a:txBody>
                    <a:bodyPr/>
                    <a:lstStyle/>
                    <a:p>
                      <a:r>
                        <a:rPr sz="1200" b="0" i="0">
                          <a:solidFill>
                            <a:srgbClr val="1A1440"/>
                          </a:solidFill>
                          <a:latin typeface="Calibri"/>
                        </a:rPr>
                        <a:t>22.0 percent above</a:t>
                      </a:r>
                    </a:p>
                  </a:txBody>
                  <a:tcPr marL="101600" marR="101600" marT="38100" marB="38100" anchor="ctr">
                    <a:solidFill>
                      <a:srgbClr val="FFFFFF"/>
                    </a:solidFill>
                  </a:tcPr>
                </a:tc>
                <a:tc>
                  <a:txBody>
                    <a:bodyPr/>
                    <a:lstStyle/>
                    <a:p>
                      <a:r>
                        <a:rPr sz="1200" b="0" i="0">
                          <a:solidFill>
                            <a:srgbClr val="1A1440"/>
                          </a:solidFill>
                          <a:latin typeface="Calibri"/>
                        </a:rPr>
                        <a:t>6.1 percent above</a:t>
                      </a:r>
                    </a:p>
                  </a:txBody>
                  <a:tcPr marL="101600" marR="101600" marT="38100" marB="38100" anchor="ctr">
                    <a:solidFill>
                      <a:srgbClr val="FFFFFF"/>
                    </a:solidFill>
                  </a:tcPr>
                </a:tc>
              </a:tr>
              <a:tr h="335280">
                <a:tc>
                  <a:txBody>
                    <a:bodyPr/>
                    <a:lstStyle/>
                    <a:p>
                      <a:r>
                        <a:rPr sz="1200" b="0" i="0">
                          <a:solidFill>
                            <a:srgbClr val="1A1440"/>
                          </a:solidFill>
                          <a:latin typeface="Calibri"/>
                        </a:rPr>
                        <a:t>Festival-aligned</a:t>
                      </a:r>
                    </a:p>
                  </a:txBody>
                  <a:tcPr marL="101600" marR="101600" marT="38100" marB="38100" anchor="ctr">
                    <a:solidFill>
                      <a:srgbClr val="F4F2FA"/>
                    </a:solidFill>
                  </a:tcPr>
                </a:tc>
                <a:tc>
                  <a:txBody>
                    <a:bodyPr/>
                    <a:lstStyle/>
                    <a:p>
                      <a:r>
                        <a:rPr sz="1200" b="0" i="0">
                          <a:solidFill>
                            <a:srgbClr val="1A1440"/>
                          </a:solidFill>
                          <a:latin typeface="Calibri"/>
                        </a:rPr>
                        <a:t>2,370,680</a:t>
                      </a:r>
                    </a:p>
                  </a:txBody>
                  <a:tcPr marL="101600" marR="101600" marT="38100" marB="38100" anchor="ctr">
                    <a:solidFill>
                      <a:srgbClr val="F4F2FA"/>
                    </a:solidFill>
                  </a:tcPr>
                </a:tc>
                <a:tc>
                  <a:txBody>
                    <a:bodyPr/>
                    <a:lstStyle/>
                    <a:p>
                      <a:r>
                        <a:rPr sz="1200" b="0" i="0">
                          <a:solidFill>
                            <a:srgbClr val="1A1440"/>
                          </a:solidFill>
                          <a:latin typeface="Calibri"/>
                        </a:rPr>
                        <a:t>19.5 percent above</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Last year's same calendar weeks shipped 1,983,300; the same weeks counted from Diwali shipped 2,279,500. Finance's plus 4 is plus 4 only on the calendar weeks: against the weeks counted from Diwali it sits 9.5 percent below, and it books 308,048 shipments fewer than festival-aligned, on the costly side. The vendor's plus 22 sits 2.1 percent above festival-aligned, with its peak on the wrong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late shipment costs 4.6 times a spare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should the plan sit above the forecast, and how far?</a:t>
            </a:r>
          </a:p>
        </p:txBody>
      </p:sp>
      <p:pic>
        <p:nvPicPr>
          <p:cNvPr id="9" name="mermaid diagram" descr="C2_W04_D05_cost_curve_STUDENT.png"/>
          <p:cNvPicPr>
            <a:picLocks noChangeAspect="1"/>
          </p:cNvPicPr>
          <p:nvPr/>
        </p:nvPicPr>
        <p:blipFill>
          <a:blip r:embed="rId4"/>
          <a:stretch>
            <a:fillRect/>
          </a:stretch>
        </p:blipFill>
        <p:spPr>
          <a:xfrm>
            <a:off x="2504970" y="1664208"/>
            <a:ext cx="718175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average cost of a week's plan against how far it is raised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Raise the plan by one shipment. Over 100 weeks, if demand beats the plan in 18, that shipment saves 18 x Rs 25 = Rs 450 and wastes 82 x Rs 5.42 = Rs 444: about even. So the cheapest plan covers demand in 25 / (25 + 5.42), about 0.82, of weeks: the newsvendor rule.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2.6 percent sits 0.82 along thirteen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above the forecast is the 0.82 point, on the weeks we hid?</a:t>
            </a:r>
          </a:p>
        </p:txBody>
      </p:sp>
      <p:pic>
        <p:nvPicPr>
          <p:cNvPr id="9" name="mermaid diagram" descr="C2_W04_D05_cushion_strip_STUDENT.png"/>
          <p:cNvPicPr>
            <a:picLocks noChangeAspect="1"/>
          </p:cNvPicPr>
          <p:nvPr/>
        </p:nvPicPr>
        <p:blipFill>
          <a:blip r:embed="rId4"/>
          <a:stretch>
            <a:fillRect/>
          </a:stretch>
        </p:blipFill>
        <p:spPr>
          <a:xfrm>
            <a:off x="1687216" y="1664208"/>
            <a:ext cx="881726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Thirteen hidden weeks sorted by how far demand came above festival-aligned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Sort the thirteen hidden weeks by how far demand came above festival-aligned: from 5.9 percent below to 7.8 percent above. The 0.82 point falls between the 10th week, 2.1 percent, and the 11th, 2.7; read 0.82 of the way along, it is 2.6 percent. The plan covers 10 of the 13 weeks.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20,275 packer shifts in eight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week need, and how wrong could the plan be?</a:t>
            </a:r>
          </a:p>
        </p:txBody>
      </p:sp>
      <p:graphicFrame>
        <p:nvGraphicFramePr>
          <p:cNvPr id="9" name="Table 8"/>
          <p:cNvGraphicFramePr>
            <a:graphicFrameLocks noGrp="1"/>
          </p:cNvGraphicFramePr>
          <p:nvPr/>
        </p:nvGraphicFramePr>
        <p:xfrm>
          <a:off x="530352" y="1682496"/>
          <a:ext cx="11130990" cy="3017520"/>
        </p:xfrm>
        <a:graphic>
          <a:graphicData uri="http://schemas.openxmlformats.org/drawingml/2006/table">
            <a:tbl>
              <a:tblPr firstRow="0" bandRow="0">
                <a:tableStyleId>{2D5ABB26-0587-4C30-8999-92F81FD0307C}</a:tableStyleId>
              </a:tblPr>
              <a:tblGrid>
                <a:gridCol w="914400"/>
                <a:gridCol w="2123058"/>
                <a:gridCol w="4957996"/>
                <a:gridCol w="3135536"/>
              </a:tblGrid>
              <a:tr h="335280">
                <a:tc>
                  <a:txBody>
                    <a:bodyPr/>
                    <a:lstStyle/>
                    <a:p>
                      <a:r>
                        <a:rPr sz="1250" b="1" i="0">
                          <a:solidFill>
                            <a:srgbClr val="FFFFFF"/>
                          </a:solidFill>
                          <a:latin typeface="Calibri"/>
                        </a:rPr>
                        <a:t>Week of</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Plan, plus 2.6 percent</a:t>
                      </a:r>
                    </a:p>
                  </a:txBody>
                  <a:tcPr marL="101600" marR="101600" marT="38100" marB="38100" anchor="ctr">
                    <a:solidFill>
                      <a:srgbClr val="1A0F5C"/>
                    </a:solidFill>
                  </a:tcPr>
                </a:tc>
                <a:tc>
                  <a:txBody>
                    <a:bodyPr/>
                    <a:lstStyle/>
                    <a:p>
                      <a:r>
                        <a:rPr sz="1250" b="1" i="0">
                          <a:solidFill>
                            <a:srgbClr val="FFFFFF"/>
                          </a:solidFill>
                          <a:latin typeface="Calibri"/>
                        </a:rPr>
                        <a:t>Packer shifts</a:t>
                      </a:r>
                    </a:p>
                  </a:txBody>
                  <a:tcPr marL="101600" marR="101600" marT="38100" marB="38100" anchor="ctr">
                    <a:solidFill>
                      <a:srgbClr val="1A0F5C"/>
                    </a:solidFill>
                  </a:tcPr>
                </a:tc>
              </a:tr>
              <a:tr h="335280">
                <a:tc>
                  <a:txBody>
                    <a:bodyPr/>
                    <a:lstStyle/>
                    <a:p>
                      <a:r>
                        <a:rPr sz="1200" b="0" i="0">
                          <a:solidFill>
                            <a:srgbClr val="1A1440"/>
                          </a:solidFill>
                          <a:latin typeface="Calibri"/>
                        </a:rPr>
                        <a:t>12 Oct</a:t>
                      </a:r>
                    </a:p>
                  </a:txBody>
                  <a:tcPr marL="101600" marR="101600" marT="38100" marB="38100" anchor="ctr">
                    <a:solidFill>
                      <a:srgbClr val="FFFFFF"/>
                    </a:solidFill>
                  </a:tcPr>
                </a:tc>
                <a:tc>
                  <a:txBody>
                    <a:bodyPr/>
                    <a:lstStyle/>
                    <a:p>
                      <a:r>
                        <a:rPr sz="1200" b="0" i="0">
                          <a:solidFill>
                            <a:srgbClr val="1A1440"/>
                          </a:solidFill>
                          <a:latin typeface="Calibri"/>
                        </a:rPr>
                        <a:t>344,448</a:t>
                      </a:r>
                    </a:p>
                  </a:txBody>
                  <a:tcPr marL="101600" marR="101600" marT="38100" marB="38100" anchor="ctr">
                    <a:solidFill>
                      <a:srgbClr val="FFFFFF"/>
                    </a:solidFill>
                  </a:tcPr>
                </a:tc>
                <a:tc>
                  <a:txBody>
                    <a:bodyPr/>
                    <a:lstStyle/>
                    <a:p>
                      <a:r>
                        <a:rPr sz="1200" b="0" i="0">
                          <a:solidFill>
                            <a:srgbClr val="1A1440"/>
                          </a:solidFill>
                          <a:latin typeface="Calibri"/>
                        </a:rPr>
                        <a:t>353,404</a:t>
                      </a:r>
                    </a:p>
                  </a:txBody>
                  <a:tcPr marL="101600" marR="101600" marT="38100" marB="38100" anchor="ctr">
                    <a:solidFill>
                      <a:srgbClr val="FFFFFF"/>
                    </a:solidFill>
                  </a:tcPr>
                </a:tc>
                <a:tc>
                  <a:txBody>
                    <a:bodyPr/>
                    <a:lstStyle/>
                    <a:p>
                      <a:r>
                        <a:rPr sz="1200" b="0" i="0">
                          <a:solidFill>
                            <a:srgbClr val="1A1440"/>
                          </a:solidFill>
                          <a:latin typeface="Calibri"/>
                        </a:rPr>
                        <a:t>2,946</a:t>
                      </a:r>
                    </a:p>
                  </a:txBody>
                  <a:tcPr marL="101600" marR="101600" marT="38100" marB="38100" anchor="ctr">
                    <a:solidFill>
                      <a:srgbClr val="FFFFFF"/>
                    </a:solidFill>
                  </a:tcPr>
                </a:tc>
              </a:tr>
              <a:tr h="335280">
                <a:tc>
                  <a:txBody>
                    <a:bodyPr/>
                    <a:lstStyle/>
                    <a:p>
                      <a:r>
                        <a:rPr sz="1200" b="0" i="0">
                          <a:solidFill>
                            <a:srgbClr val="1A1440"/>
                          </a:solidFill>
                          <a:latin typeface="Calibri"/>
                        </a:rPr>
                        <a:t>19 Oct</a:t>
                      </a:r>
                    </a:p>
                  </a:txBody>
                  <a:tcPr marL="101600" marR="101600" marT="38100" marB="38100" anchor="ctr">
                    <a:solidFill>
                      <a:srgbClr val="F4F2FA"/>
                    </a:solidFill>
                  </a:tcPr>
                </a:tc>
                <a:tc>
                  <a:txBody>
                    <a:bodyPr/>
                    <a:lstStyle/>
                    <a:p>
                      <a:r>
                        <a:rPr sz="1200" b="0" i="0">
                          <a:solidFill>
                            <a:srgbClr val="1A1440"/>
                          </a:solidFill>
                          <a:latin typeface="Calibri"/>
                        </a:rPr>
                        <a:t>434,928</a:t>
                      </a:r>
                    </a:p>
                  </a:txBody>
                  <a:tcPr marL="101600" marR="101600" marT="38100" marB="38100" anchor="ctr">
                    <a:solidFill>
                      <a:srgbClr val="F4F2FA"/>
                    </a:solidFill>
                  </a:tcPr>
                </a:tc>
                <a:tc>
                  <a:txBody>
                    <a:bodyPr/>
                    <a:lstStyle/>
                    <a:p>
                      <a:r>
                        <a:rPr sz="1200" b="0" i="0">
                          <a:solidFill>
                            <a:srgbClr val="1A1440"/>
                          </a:solidFill>
                          <a:latin typeface="Calibri"/>
                        </a:rPr>
                        <a:t>446,236</a:t>
                      </a:r>
                    </a:p>
                  </a:txBody>
                  <a:tcPr marL="101600" marR="101600" marT="38100" marB="38100" anchor="ctr">
                    <a:solidFill>
                      <a:srgbClr val="F4F2FA"/>
                    </a:solidFill>
                  </a:tcPr>
                </a:tc>
                <a:tc>
                  <a:txBody>
                    <a:bodyPr/>
                    <a:lstStyle/>
                    <a:p>
                      <a:r>
                        <a:rPr sz="1200" b="0" i="0">
                          <a:solidFill>
                            <a:srgbClr val="1A1440"/>
                          </a:solidFill>
                          <a:latin typeface="Calibri"/>
                        </a:rPr>
                        <a:t>3,719</a:t>
                      </a:r>
                    </a:p>
                  </a:txBody>
                  <a:tcPr marL="101600" marR="101600" marT="38100" marB="38100" anchor="ctr">
                    <a:solidFill>
                      <a:srgbClr val="F4F2FA"/>
                    </a:solidFill>
                  </a:tcPr>
                </a:tc>
              </a:tr>
              <a:tr h="335280">
                <a:tc>
                  <a:txBody>
                    <a:bodyPr/>
                    <a:lstStyle/>
                    <a:p>
                      <a:r>
                        <a:rPr sz="1200" b="0" i="0">
                          <a:solidFill>
                            <a:srgbClr val="1A1440"/>
                          </a:solidFill>
                          <a:latin typeface="Calibri"/>
                        </a:rPr>
                        <a:t>26 Oct</a:t>
                      </a:r>
                    </a:p>
                  </a:txBody>
                  <a:tcPr marL="101600" marR="101600" marT="38100" marB="38100" anchor="ctr">
                    <a:solidFill>
                      <a:srgbClr val="FFFFFF"/>
                    </a:solidFill>
                  </a:tcPr>
                </a:tc>
                <a:tc>
                  <a:txBody>
                    <a:bodyPr/>
                    <a:lstStyle/>
                    <a:p>
                      <a:r>
                        <a:rPr sz="1200" b="0" i="0">
                          <a:solidFill>
                            <a:srgbClr val="1A1440"/>
                          </a:solidFill>
                          <a:latin typeface="Calibri"/>
                        </a:rPr>
                        <a:t>383,760</a:t>
                      </a:r>
                    </a:p>
                  </a:txBody>
                  <a:tcPr marL="101600" marR="101600" marT="38100" marB="38100" anchor="ctr">
                    <a:solidFill>
                      <a:srgbClr val="FFFFFF"/>
                    </a:solidFill>
                  </a:tcPr>
                </a:tc>
                <a:tc>
                  <a:txBody>
                    <a:bodyPr/>
                    <a:lstStyle/>
                    <a:p>
                      <a:r>
                        <a:rPr sz="1200" b="0" i="0">
                          <a:solidFill>
                            <a:srgbClr val="1A1440"/>
                          </a:solidFill>
                          <a:latin typeface="Calibri"/>
                        </a:rPr>
                        <a:t>393,738</a:t>
                      </a:r>
                    </a:p>
                  </a:txBody>
                  <a:tcPr marL="101600" marR="101600" marT="38100" marB="38100" anchor="ctr">
                    <a:solidFill>
                      <a:srgbClr val="FFFFFF"/>
                    </a:solidFill>
                  </a:tcPr>
                </a:tc>
                <a:tc>
                  <a:txBody>
                    <a:bodyPr/>
                    <a:lstStyle/>
                    <a:p>
                      <a:r>
                        <a:rPr sz="1200" b="0" i="0">
                          <a:solidFill>
                            <a:srgbClr val="1A1440"/>
                          </a:solidFill>
                          <a:latin typeface="Calibri"/>
                        </a:rPr>
                        <a:t>3,282</a:t>
                      </a:r>
                    </a:p>
                  </a:txBody>
                  <a:tcPr marL="101600" marR="101600" marT="38100" marB="38100" anchor="ctr">
                    <a:solidFill>
                      <a:srgbClr val="FFFFFF"/>
                    </a:solidFill>
                  </a:tcPr>
                </a:tc>
              </a:tr>
              <a:tr h="335280">
                <a:tc>
                  <a:txBody>
                    <a:bodyPr/>
                    <a:lstStyle/>
                    <a:p>
                      <a:r>
                        <a:rPr sz="1200" b="0" i="0">
                          <a:solidFill>
                            <a:srgbClr val="1A1440"/>
                          </a:solidFill>
                          <a:latin typeface="Calibri"/>
                        </a:rPr>
                        <a:t>2 Nov</a:t>
                      </a:r>
                    </a:p>
                  </a:txBody>
                  <a:tcPr marL="101600" marR="101600" marT="38100" marB="38100" anchor="ctr">
                    <a:solidFill>
                      <a:srgbClr val="F4F2FA"/>
                    </a:solidFill>
                  </a:tcPr>
                </a:tc>
                <a:tc>
                  <a:txBody>
                    <a:bodyPr/>
                    <a:lstStyle/>
                    <a:p>
                      <a:r>
                        <a:rPr sz="1200" b="0" i="0">
                          <a:solidFill>
                            <a:srgbClr val="1A1440"/>
                          </a:solidFill>
                          <a:latin typeface="Calibri"/>
                        </a:rPr>
                        <a:t>321,256</a:t>
                      </a:r>
                    </a:p>
                  </a:txBody>
                  <a:tcPr marL="101600" marR="101600" marT="38100" marB="38100" anchor="ctr">
                    <a:solidFill>
                      <a:srgbClr val="F4F2FA"/>
                    </a:solidFill>
                  </a:tcPr>
                </a:tc>
                <a:tc>
                  <a:txBody>
                    <a:bodyPr/>
                    <a:lstStyle/>
                    <a:p>
                      <a:r>
                        <a:rPr sz="1200" b="0" i="0">
                          <a:solidFill>
                            <a:srgbClr val="1A1440"/>
                          </a:solidFill>
                          <a:latin typeface="Calibri"/>
                        </a:rPr>
                        <a:t>329,609</a:t>
                      </a:r>
                    </a:p>
                  </a:txBody>
                  <a:tcPr marL="101600" marR="101600" marT="38100" marB="38100" anchor="ctr">
                    <a:solidFill>
                      <a:srgbClr val="F4F2FA"/>
                    </a:solidFill>
                  </a:tcPr>
                </a:tc>
                <a:tc>
                  <a:txBody>
                    <a:bodyPr/>
                    <a:lstStyle/>
                    <a:p>
                      <a:r>
                        <a:rPr sz="1200" b="0" i="0">
                          <a:solidFill>
                            <a:srgbClr val="1A1440"/>
                          </a:solidFill>
                          <a:latin typeface="Calibri"/>
                        </a:rPr>
                        <a:t>2,747</a:t>
                      </a:r>
                    </a:p>
                  </a:txBody>
                  <a:tcPr marL="101600" marR="101600" marT="38100" marB="38100" anchor="ctr">
                    <a:solidFill>
                      <a:srgbClr val="F4F2FA"/>
                    </a:solidFill>
                  </a:tcPr>
                </a:tc>
              </a:tr>
              <a:tr h="335280">
                <a:tc>
                  <a:txBody>
                    <a:bodyPr/>
                    <a:lstStyle/>
                    <a:p>
                      <a:r>
                        <a:rPr sz="1200" b="0" i="0">
                          <a:solidFill>
                            <a:srgbClr val="1A1440"/>
                          </a:solidFill>
                          <a:latin typeface="Calibri"/>
                        </a:rPr>
                        <a:t>9 Nov</a:t>
                      </a:r>
                    </a:p>
                  </a:txBody>
                  <a:tcPr marL="101600" marR="101600" marT="38100" marB="38100" anchor="ctr">
                    <a:solidFill>
                      <a:srgbClr val="FFFFFF"/>
                    </a:solidFill>
                  </a:tcPr>
                </a:tc>
                <a:tc>
                  <a:txBody>
                    <a:bodyPr/>
                    <a:lstStyle/>
                    <a:p>
                      <a:r>
                        <a:rPr sz="1200" b="0" i="0">
                          <a:solidFill>
                            <a:srgbClr val="1A1440"/>
                          </a:solidFill>
                          <a:latin typeface="Calibri"/>
                        </a:rPr>
                        <a:t>196,144</a:t>
                      </a:r>
                    </a:p>
                  </a:txBody>
                  <a:tcPr marL="101600" marR="101600" marT="38100" marB="38100" anchor="ctr">
                    <a:solidFill>
                      <a:srgbClr val="FFFFFF"/>
                    </a:solidFill>
                  </a:tcPr>
                </a:tc>
                <a:tc>
                  <a:txBody>
                    <a:bodyPr/>
                    <a:lstStyle/>
                    <a:p>
                      <a:r>
                        <a:rPr sz="1200" b="0" i="0">
                          <a:solidFill>
                            <a:srgbClr val="1A1440"/>
                          </a:solidFill>
                          <a:latin typeface="Calibri"/>
                        </a:rPr>
                        <a:t>201,244</a:t>
                      </a:r>
                    </a:p>
                  </a:txBody>
                  <a:tcPr marL="101600" marR="101600" marT="38100" marB="38100" anchor="ctr">
                    <a:solidFill>
                      <a:srgbClr val="FFFFFF"/>
                    </a:solidFill>
                  </a:tcPr>
                </a:tc>
                <a:tc>
                  <a:txBody>
                    <a:bodyPr/>
                    <a:lstStyle/>
                    <a:p>
                      <a:r>
                        <a:rPr sz="1200" b="0" i="0">
                          <a:solidFill>
                            <a:srgbClr val="1A1440"/>
                          </a:solidFill>
                          <a:latin typeface="Calibri"/>
                        </a:rPr>
                        <a:t>1,678</a:t>
                      </a:r>
                    </a:p>
                  </a:txBody>
                  <a:tcPr marL="101600" marR="101600" marT="38100" marB="38100" anchor="ctr">
                    <a:solidFill>
                      <a:srgbClr val="FFFFFF"/>
                    </a:solidFill>
                  </a:tcPr>
                </a:tc>
              </a:tr>
              <a:tr h="335280">
                <a:tc>
                  <a:txBody>
                    <a:bodyPr/>
                    <a:lstStyle/>
                    <a:p>
                      <a:r>
                        <a:rPr sz="1200" b="0" i="0">
                          <a:solidFill>
                            <a:srgbClr val="1A1440"/>
                          </a:solidFill>
                          <a:latin typeface="Calibri"/>
                        </a:rPr>
                        <a:t>16 Nov</a:t>
                      </a:r>
                    </a:p>
                  </a:txBody>
                  <a:tcPr marL="101600" marR="101600" marT="38100" marB="38100" anchor="ctr">
                    <a:solidFill>
                      <a:srgbClr val="F4F2FA"/>
                    </a:solidFill>
                  </a:tcPr>
                </a:tc>
                <a:tc>
                  <a:txBody>
                    <a:bodyPr/>
                    <a:lstStyle/>
                    <a:p>
                      <a:r>
                        <a:rPr sz="1200" b="0" i="0">
                          <a:solidFill>
                            <a:srgbClr val="1A1440"/>
                          </a:solidFill>
                          <a:latin typeface="Calibri"/>
                        </a:rPr>
                        <a:t>237,016</a:t>
                      </a:r>
                    </a:p>
                  </a:txBody>
                  <a:tcPr marL="101600" marR="101600" marT="38100" marB="38100" anchor="ctr">
                    <a:solidFill>
                      <a:srgbClr val="F4F2FA"/>
                    </a:solidFill>
                  </a:tcPr>
                </a:tc>
                <a:tc>
                  <a:txBody>
                    <a:bodyPr/>
                    <a:lstStyle/>
                    <a:p>
                      <a:r>
                        <a:rPr sz="1200" b="0" i="0">
                          <a:solidFill>
                            <a:srgbClr val="1A1440"/>
                          </a:solidFill>
                          <a:latin typeface="Calibri"/>
                        </a:rPr>
                        <a:t>243,178</a:t>
                      </a:r>
                    </a:p>
                  </a:txBody>
                  <a:tcPr marL="101600" marR="101600" marT="38100" marB="38100" anchor="ctr">
                    <a:solidFill>
                      <a:srgbClr val="F4F2FA"/>
                    </a:solidFill>
                  </a:tcPr>
                </a:tc>
                <a:tc>
                  <a:txBody>
                    <a:bodyPr/>
                    <a:lstStyle/>
                    <a:p>
                      <a:r>
                        <a:rPr sz="1200" b="0" i="0">
                          <a:solidFill>
                            <a:srgbClr val="1A1440"/>
                          </a:solidFill>
                          <a:latin typeface="Calibri"/>
                        </a:rPr>
                        <a:t>2,027</a:t>
                      </a:r>
                    </a:p>
                  </a:txBody>
                  <a:tcPr marL="101600" marR="101600" marT="38100" marB="38100" anchor="ctr">
                    <a:solidFill>
                      <a:srgbClr val="F4F2FA"/>
                    </a:solidFill>
                  </a:tcPr>
                </a:tc>
              </a:tr>
              <a:tr h="335280">
                <a:tc>
                  <a:txBody>
                    <a:bodyPr/>
                    <a:lstStyle/>
                    <a:p>
                      <a:r>
                        <a:rPr sz="1200" b="0" i="0">
                          <a:solidFill>
                            <a:srgbClr val="1A1440"/>
                          </a:solidFill>
                          <a:latin typeface="Calibri"/>
                        </a:rPr>
                        <a:t>23 Nov</a:t>
                      </a:r>
                    </a:p>
                  </a:txBody>
                  <a:tcPr marL="101600" marR="101600" marT="38100" marB="38100" anchor="ctr">
                    <a:solidFill>
                      <a:srgbClr val="FFFFFF"/>
                    </a:solidFill>
                  </a:tcPr>
                </a:tc>
                <a:tc>
                  <a:txBody>
                    <a:bodyPr/>
                    <a:lstStyle/>
                    <a:p>
                      <a:r>
                        <a:rPr sz="1200" b="0" i="0">
                          <a:solidFill>
                            <a:srgbClr val="1A1440"/>
                          </a:solidFill>
                          <a:latin typeface="Calibri"/>
                        </a:rPr>
                        <a:t>225,992</a:t>
                      </a:r>
                    </a:p>
                  </a:txBody>
                  <a:tcPr marL="101600" marR="101600" marT="38100" marB="38100" anchor="ctr">
                    <a:solidFill>
                      <a:srgbClr val="FFFFFF"/>
                    </a:solidFill>
                  </a:tcPr>
                </a:tc>
                <a:tc>
                  <a:txBody>
                    <a:bodyPr/>
                    <a:lstStyle/>
                    <a:p>
                      <a:r>
                        <a:rPr sz="1200" b="0" i="0">
                          <a:solidFill>
                            <a:srgbClr val="1A1440"/>
                          </a:solidFill>
                          <a:latin typeface="Calibri"/>
                        </a:rPr>
                        <a:t>231,868</a:t>
                      </a:r>
                    </a:p>
                  </a:txBody>
                  <a:tcPr marL="101600" marR="101600" marT="38100" marB="38100" anchor="ctr">
                    <a:solidFill>
                      <a:srgbClr val="FFFFFF"/>
                    </a:solidFill>
                  </a:tcPr>
                </a:tc>
                <a:tc>
                  <a:txBody>
                    <a:bodyPr/>
                    <a:lstStyle/>
                    <a:p>
                      <a:r>
                        <a:rPr sz="1200" b="0" i="0">
                          <a:solidFill>
                            <a:srgbClr val="1A1440"/>
                          </a:solidFill>
                          <a:latin typeface="Calibri"/>
                        </a:rPr>
                        <a:t>1,933</a:t>
                      </a:r>
                    </a:p>
                  </a:txBody>
                  <a:tcPr marL="101600" marR="101600" marT="38100" marB="38100" anchor="ctr">
                    <a:solidFill>
                      <a:srgbClr val="FFFFFF"/>
                    </a:solidFill>
                  </a:tcPr>
                </a:tc>
              </a:tr>
              <a:tr h="335280">
                <a:tc>
                  <a:txBody>
                    <a:bodyPr/>
                    <a:lstStyle/>
                    <a:p>
                      <a:r>
                        <a:rPr sz="1200" b="0" i="0">
                          <a:solidFill>
                            <a:srgbClr val="1A1440"/>
                          </a:solidFill>
                          <a:latin typeface="Calibri"/>
                        </a:rPr>
                        <a:t>30 Nov</a:t>
                      </a:r>
                    </a:p>
                  </a:txBody>
                  <a:tcPr marL="101600" marR="101600" marT="38100" marB="38100" anchor="ctr">
                    <a:solidFill>
                      <a:srgbClr val="F4F2FA"/>
                    </a:solidFill>
                  </a:tcPr>
                </a:tc>
                <a:tc>
                  <a:txBody>
                    <a:bodyPr/>
                    <a:lstStyle/>
                    <a:p>
                      <a:r>
                        <a:rPr sz="1200" b="0" i="0">
                          <a:solidFill>
                            <a:srgbClr val="1A1440"/>
                          </a:solidFill>
                          <a:latin typeface="Calibri"/>
                        </a:rPr>
                        <a:t>227,136</a:t>
                      </a:r>
                    </a:p>
                  </a:txBody>
                  <a:tcPr marL="101600" marR="101600" marT="38100" marB="38100" anchor="ctr">
                    <a:solidFill>
                      <a:srgbClr val="F4F2FA"/>
                    </a:solidFill>
                  </a:tcPr>
                </a:tc>
                <a:tc>
                  <a:txBody>
                    <a:bodyPr/>
                    <a:lstStyle/>
                    <a:p>
                      <a:r>
                        <a:rPr sz="1200" b="0" i="0">
                          <a:solidFill>
                            <a:srgbClr val="1A1440"/>
                          </a:solidFill>
                          <a:latin typeface="Calibri"/>
                        </a:rPr>
                        <a:t>233,042</a:t>
                      </a:r>
                    </a:p>
                  </a:txBody>
                  <a:tcPr marL="101600" marR="101600" marT="38100" marB="38100" anchor="ctr">
                    <a:solidFill>
                      <a:srgbClr val="F4F2FA"/>
                    </a:solidFill>
                  </a:tcPr>
                </a:tc>
                <a:tc>
                  <a:txBody>
                    <a:bodyPr/>
                    <a:lstStyle/>
                    <a:p>
                      <a:r>
                        <a:rPr sz="1200" b="0" i="0">
                          <a:solidFill>
                            <a:srgbClr val="1A1440"/>
                          </a:solidFill>
                          <a:latin typeface="Calibri"/>
                        </a:rPr>
                        <a:t>1,943</a:t>
                      </a:r>
                    </a:p>
                  </a:txBody>
                  <a:tcPr marL="101600" marR="101600" marT="38100" marB="38100" anchor="ctr">
                    <a:solidFill>
                      <a:srgbClr val="F4F2FA"/>
                    </a:solidFill>
                  </a:tcPr>
                </a:tc>
              </a:tr>
            </a:tbl>
          </a:graphicData>
        </a:graphic>
      </p:graphicFrame>
      <p:sp>
        <p:nvSpPr>
          <p:cNvPr id="10" name="TextBox 9"/>
          <p:cNvSpPr txBox="1"/>
          <p:nvPr/>
        </p:nvSpPr>
        <p:spPr>
          <a:xfrm>
            <a:off x="530352" y="49560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Shifts are the plan over 120, rounded up: 20,275 in all, 515 more than the 19,760 the forecast alone needs. </a:t>
            </a:r>
            <a:r>
              <a:rPr sz="1600" b="1" i="0">
                <a:solidFill>
                  <a:srgbClr val="1A1440"/>
                </a:solidFill>
                <a:latin typeface="Calibri"/>
              </a:rPr>
              <a:t>The error bar:</a:t>
            </a:r>
            <a:r>
              <a:rPr sz="1600" b="0" i="0">
                <a:solidFill>
                  <a:srgbClr val="1A1440"/>
                </a:solidFill>
                <a:latin typeface="Calibri"/>
              </a:rPr>
              <a:t> 6,615 shipments a week on the hidden weeks: about Rs 35,800 of idle shifts if a week lands high, Rs 1.65 lakh of late shipments if low; 4,034 a week on 2025's festival.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other plan costs at least Rs 82.2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demand follows the festival-aligned forecast, what does each other plan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59104"/>
                <a:gridCol w="2163932"/>
                <a:gridCol w="2163932"/>
                <a:gridCol w="1744021"/>
              </a:tblGrid>
              <a:tr h="335280">
                <a:tc>
                  <a:txBody>
                    <a:bodyPr/>
                    <a:lstStyle/>
                    <a:p>
                      <a:r>
                        <a:rPr sz="1250" b="1" i="0">
                          <a:solidFill>
                            <a:srgbClr val="FFFFFF"/>
                          </a:solidFill>
                          <a:latin typeface="Calibri"/>
                        </a:rPr>
                        <a:t>Plan for the eight weeks</a:t>
                      </a:r>
                    </a:p>
                  </a:txBody>
                  <a:tcPr marL="101600" marR="101600" marT="38100" marB="38100" anchor="ctr">
                    <a:solidFill>
                      <a:srgbClr val="1A0F5C"/>
                    </a:solidFill>
                  </a:tcPr>
                </a:tc>
                <a:tc>
                  <a:txBody>
                    <a:bodyPr/>
                    <a:lstStyle/>
                    <a:p>
                      <a:r>
                        <a:rPr sz="1250" b="1" i="0">
                          <a:solidFill>
                            <a:srgbClr val="FFFFFF"/>
                          </a:solidFill>
                          <a:latin typeface="Calibri"/>
                        </a:rPr>
                        <a:t>Spare shipments</a:t>
                      </a:r>
                    </a:p>
                  </a:txBody>
                  <a:tcPr marL="101600" marR="101600" marT="38100" marB="38100" anchor="ctr">
                    <a:solidFill>
                      <a:srgbClr val="1A0F5C"/>
                    </a:solidFill>
                  </a:tcPr>
                </a:tc>
                <a:tc>
                  <a:txBody>
                    <a:bodyPr/>
                    <a:lstStyle/>
                    <a:p>
                      <a:r>
                        <a:rPr sz="1250" b="1" i="0">
                          <a:solidFill>
                            <a:srgbClr val="FFFFFF"/>
                          </a:solidFill>
                          <a:latin typeface="Calibri"/>
                        </a:rPr>
                        <a:t>Shipments short</a:t>
                      </a:r>
                    </a:p>
                  </a:txBody>
                  <a:tcPr marL="101600" marR="101600" marT="38100" marB="38100" anchor="ctr">
                    <a:solidFill>
                      <a:srgbClr val="1A0F5C"/>
                    </a:solidFill>
                  </a:tcPr>
                </a:tc>
                <a:tc>
                  <a:txBody>
                    <a:bodyPr/>
                    <a:lstStyle/>
                    <a:p>
                      <a:r>
                        <a:rPr sz="1250" b="1" i="0">
                          <a:solidFill>
                            <a:srgbClr val="FFFFFF"/>
                          </a:solidFill>
                          <a:latin typeface="Calibri"/>
                        </a:rPr>
                        <a:t>Cost</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48,672</a:t>
                      </a:r>
                    </a:p>
                  </a:txBody>
                  <a:tcPr marL="101600" marR="101600" marT="38100" marB="38100" anchor="ctr">
                    <a:solidFill>
                      <a:srgbClr val="FFFFFF"/>
                    </a:solidFill>
                  </a:tcPr>
                </a:tc>
                <a:tc>
                  <a:txBody>
                    <a:bodyPr/>
                    <a:lstStyle/>
                    <a:p>
                      <a:r>
                        <a:rPr sz="1200" b="0" i="0">
                          <a:solidFill>
                            <a:srgbClr val="1A1440"/>
                          </a:solidFill>
                          <a:latin typeface="Calibri"/>
                        </a:rPr>
                        <a:t>436,052</a:t>
                      </a:r>
                    </a:p>
                  </a:txBody>
                  <a:tcPr marL="101600" marR="101600" marT="38100" marB="38100" anchor="ctr">
                    <a:solidFill>
                      <a:srgbClr val="FFFFFF"/>
                    </a:solidFill>
                  </a:tcPr>
                </a:tc>
                <a:tc>
                  <a:txBody>
                    <a:bodyPr/>
                    <a:lstStyle/>
                    <a:p>
                      <a:r>
                        <a:rPr sz="1200" b="0" i="0">
                          <a:solidFill>
                            <a:srgbClr val="1A1440"/>
                          </a:solidFill>
                          <a:latin typeface="Calibri"/>
                        </a:rPr>
                        <a:t>Rs 111.6 lakh</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87,360</a:t>
                      </a:r>
                    </a:p>
                  </a:txBody>
                  <a:tcPr marL="101600" marR="101600" marT="38100" marB="38100" anchor="ctr">
                    <a:solidFill>
                      <a:srgbClr val="F4F2FA"/>
                    </a:solidFill>
                  </a:tcPr>
                </a:tc>
                <a:tc>
                  <a:txBody>
                    <a:bodyPr/>
                    <a:lstStyle/>
                    <a:p>
                      <a:r>
                        <a:rPr sz="1200" b="0" i="0">
                          <a:solidFill>
                            <a:srgbClr val="1A1440"/>
                          </a:solidFill>
                          <a:latin typeface="Calibri"/>
                        </a:rPr>
                        <a:t>395,408</a:t>
                      </a:r>
                    </a:p>
                  </a:txBody>
                  <a:tcPr marL="101600" marR="101600" marT="38100" marB="38100" anchor="ctr">
                    <a:solidFill>
                      <a:srgbClr val="F4F2FA"/>
                    </a:solidFill>
                  </a:tcPr>
                </a:tc>
                <a:tc>
                  <a:txBody>
                    <a:bodyPr/>
                    <a:lstStyle/>
                    <a:p>
                      <a:r>
                        <a:rPr sz="1200" b="0" i="0">
                          <a:solidFill>
                            <a:srgbClr val="1A1440"/>
                          </a:solidFill>
                          <a:latin typeface="Calibri"/>
                        </a:rPr>
                        <a:t>Rs 103.6 lakh</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310,364</a:t>
                      </a:r>
                    </a:p>
                  </a:txBody>
                  <a:tcPr marL="101600" marR="101600" marT="38100" marB="38100" anchor="ctr">
                    <a:solidFill>
                      <a:srgbClr val="FFFFFF"/>
                    </a:solidFill>
                  </a:tcPr>
                </a:tc>
                <a:tc>
                  <a:txBody>
                    <a:bodyPr/>
                    <a:lstStyle/>
                    <a:p>
                      <a:r>
                        <a:rPr sz="1200" b="0" i="0">
                          <a:solidFill>
                            <a:srgbClr val="1A1440"/>
                          </a:solidFill>
                          <a:latin typeface="Calibri"/>
                        </a:rPr>
                        <a:t>261,544</a:t>
                      </a:r>
                    </a:p>
                  </a:txBody>
                  <a:tcPr marL="101600" marR="101600" marT="38100" marB="38100" anchor="ctr">
                    <a:solidFill>
                      <a:srgbClr val="FFFFFF"/>
                    </a:solidFill>
                  </a:tcPr>
                </a:tc>
                <a:tc>
                  <a:txBody>
                    <a:bodyPr/>
                    <a:lstStyle/>
                    <a:p>
                      <a:r>
                        <a:rPr sz="1200" b="0" i="0">
                          <a:solidFill>
                            <a:srgbClr val="1A1440"/>
                          </a:solidFill>
                          <a:latin typeface="Calibri"/>
                        </a:rPr>
                        <a:t>Rs 82.2 lakh</a:t>
                      </a:r>
                    </a:p>
                  </a:txBody>
                  <a:tcPr marL="101600" marR="101600" marT="38100" marB="38100" anchor="ctr">
                    <a:solidFill>
                      <a:srgbClr val="FFFFFF"/>
                    </a:solidFill>
                  </a:tcPr>
                </a:tc>
              </a:tr>
              <a:tr h="335280">
                <a:tc>
                  <a:txBody>
                    <a:bodyPr/>
                    <a:lstStyle/>
                    <a:p>
                      <a:r>
                        <a:rPr sz="1200" b="0" i="0">
                          <a:solidFill>
                            <a:srgbClr val="1A1440"/>
                          </a:solidFill>
                          <a:latin typeface="Calibri"/>
                        </a:rPr>
                        <a:t>The plan, festival-aligned plus 2.6 percent</a:t>
                      </a:r>
                    </a:p>
                  </a:txBody>
                  <a:tcPr marL="101600" marR="101600" marT="38100" marB="38100" anchor="ctr">
                    <a:solidFill>
                      <a:srgbClr val="F4F2FA"/>
                    </a:solidFill>
                  </a:tcPr>
                </a:tc>
                <a:tc>
                  <a:txBody>
                    <a:bodyPr/>
                    <a:lstStyle/>
                    <a:p>
                      <a:r>
                        <a:rPr sz="1200" b="0" i="0">
                          <a:solidFill>
                            <a:srgbClr val="1A1440"/>
                          </a:solidFill>
                          <a:latin typeface="Calibri"/>
                        </a:rPr>
                        <a:t>61,639</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Rs 3.3 lakh</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scenario, never a measurement: if festival-aligned is right about where the rush falls, this is what booking by each other forecast costs; the 2025 back-test is the evidence that it places the rush well. The cushion's Rs 3.3 lakh is what the insurance costs if demand lands exactly on the forecast.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two years of weeks cannot tell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sit on the plan, and which fact would settle each?</a:t>
            </a:r>
          </a:p>
        </p:txBody>
      </p:sp>
      <p:graphicFrame>
        <p:nvGraphicFramePr>
          <p:cNvPr id="9" name="Table 8"/>
          <p:cNvGraphicFramePr>
            <a:graphicFrameLocks noGrp="1"/>
          </p:cNvGraphicFramePr>
          <p:nvPr/>
        </p:nvGraphicFramePr>
        <p:xfrm>
          <a:off x="530352" y="1921256"/>
          <a:ext cx="11130991" cy="4039616"/>
        </p:xfrm>
        <a:graphic>
          <a:graphicData uri="http://schemas.openxmlformats.org/drawingml/2006/table">
            <a:tbl>
              <a:tblPr firstRow="0" bandRow="0">
                <a:tableStyleId>{2D5ABB26-0587-4C30-8999-92F81FD0307C}</a:tableStyleId>
              </a:tblPr>
              <a:tblGrid>
                <a:gridCol w="4946853"/>
                <a:gridCol w="6184138"/>
              </a:tblGrid>
              <a:tr h="352552">
                <a:tc>
                  <a:txBody>
                    <a:bodyPr/>
                    <a:lstStyle/>
                    <a:p>
                      <a:r>
                        <a:rPr sz="1350" b="1" i="0">
                          <a:solidFill>
                            <a:srgbClr val="FFFFFF"/>
                          </a:solidFill>
                          <a:latin typeface="Calibri"/>
                        </a:rPr>
                        <a:t>The doubt</a:t>
                      </a:r>
                    </a:p>
                  </a:txBody>
                  <a:tcPr marL="101600" marR="101600" marT="38100" marB="38100" anchor="ctr">
                    <a:solidFill>
                      <a:srgbClr val="1A0F5C"/>
                    </a:solidFill>
                  </a:tcPr>
                </a:tc>
                <a:tc>
                  <a:txBody>
                    <a:bodyPr/>
                    <a:lstStyle/>
                    <a:p>
                      <a:r>
                        <a:rPr sz="1350" b="1" i="0">
                          <a:solidFill>
                            <a:srgbClr val="FFFFFF"/>
                          </a:solidFill>
                          <a:latin typeface="Calibri"/>
                        </a:rPr>
                        <a:t>What we have, and what would settle it</a:t>
                      </a:r>
                    </a:p>
                  </a:txBody>
                  <a:tcPr marL="101600" marR="101600" marT="38100" marB="38100" anchor="ctr">
                    <a:solidFill>
                      <a:srgbClr val="1A0F5C"/>
                    </a:solidFill>
                  </a:tcPr>
                </a:tc>
              </a:tr>
              <a:tr h="352552">
                <a:tc>
                  <a:txBody>
                    <a:bodyPr/>
                    <a:lstStyle/>
                    <a:p>
                      <a:r>
                        <a:rPr sz="1300" b="0" i="0">
                          <a:solidFill>
                            <a:srgbClr val="1A1440"/>
                          </a:solidFill>
                          <a:latin typeface="Calibri"/>
                        </a:rPr>
                        <a:t>The festival moves, and the sale moves with it</a:t>
                      </a:r>
                    </a:p>
                  </a:txBody>
                  <a:tcPr marL="101600" marR="101600" marT="38100" marB="38100" anchor="ctr">
                    <a:solidFill>
                      <a:srgbClr val="FFFFFF"/>
                    </a:solidFill>
                  </a:tcPr>
                </a:tc>
                <a:tc>
                  <a:txBody>
                    <a:bodyPr/>
                    <a:lstStyle/>
                    <a:p>
                      <a:r>
                        <a:rPr sz="1300" b="0" i="0">
                          <a:solidFill>
                            <a:srgbClr val="1A1440"/>
                          </a:solidFill>
                          <a:latin typeface="Calibri"/>
                        </a:rPr>
                        <a:t>One festival, the 2025 back-test; another festival would settle it</a:t>
                      </a:r>
                    </a:p>
                  </a:txBody>
                  <a:tcPr marL="101600" marR="101600" marT="38100" marB="38100" anchor="ctr">
                    <a:solidFill>
                      <a:srgbClr val="FFFFFF"/>
                    </a:solidFill>
                  </a:tcPr>
                </a:tc>
              </a:tr>
              <a:tr h="352552">
                <a:tc>
                  <a:txBody>
                    <a:bodyPr/>
                    <a:lstStyle/>
                    <a:p>
                      <a:r>
                        <a:rPr sz="1300" b="0" i="0">
                          <a:solidFill>
                            <a:srgbClr val="1A1440"/>
                          </a:solidFill>
                          <a:latin typeface="Calibri"/>
                        </a:rPr>
                        <a:t>Two years hold two festivals</a:t>
                      </a:r>
                    </a:p>
                  </a:txBody>
                  <a:tcPr marL="101600" marR="101600" marT="38100" marB="38100" anchor="ctr">
                    <a:solidFill>
                      <a:srgbClr val="F4F2FA"/>
                    </a:solidFill>
                  </a:tcPr>
                </a:tc>
                <a:tc>
                  <a:txBody>
                    <a:bodyPr/>
                    <a:lstStyle/>
                    <a:p>
                      <a:r>
                        <a:rPr sz="1300" b="0" i="0">
                          <a:solidFill>
                            <a:srgbClr val="1A1440"/>
                          </a:solidFill>
                          <a:latin typeface="Calibri"/>
                        </a:rPr>
                        <a:t>Two examples of the festival's shape; only a third year settles it</a:t>
                      </a:r>
                    </a:p>
                  </a:txBody>
                  <a:tcPr marL="101600" marR="101600" marT="38100" marB="38100" anchor="ctr">
                    <a:solidFill>
                      <a:srgbClr val="F4F2FA"/>
                    </a:solidFill>
                  </a:tcPr>
                </a:tc>
              </a:tr>
              <a:tr h="577088">
                <a:tc>
                  <a:txBody>
                    <a:bodyPr/>
                    <a:lstStyle/>
                    <a:p>
                      <a:r>
                        <a:rPr sz="1300" b="0" i="0">
                          <a:solidFill>
                            <a:srgbClr val="1A1440"/>
                          </a:solidFill>
                          <a:latin typeface="Calibri"/>
                        </a:rPr>
                        <a:t>The hidden weeks hold no festive week</a:t>
                      </a:r>
                    </a:p>
                  </a:txBody>
                  <a:tcPr marL="101600" marR="101600" marT="38100" marB="38100" anchor="ctr">
                    <a:solidFill>
                      <a:srgbClr val="FFFFFF"/>
                    </a:solidFill>
                  </a:tcPr>
                </a:tc>
                <a:tc>
                  <a:txBody>
                    <a:bodyPr/>
                    <a:lstStyle/>
                    <a:p>
                      <a:r>
                        <a:rPr sz="1300" b="0" i="0">
                          <a:solidFill>
                            <a:srgbClr val="1A1440"/>
                          </a:solidFill>
                          <a:latin typeface="Calibri"/>
                        </a:rPr>
                        <a:t>The 2025 festival's 4,034 a week; a hold-out that spans a festival would settle it</a:t>
                      </a:r>
                    </a:p>
                  </a:txBody>
                  <a:tcPr marL="101600" marR="101600" marT="38100" marB="38100" anchor="ctr">
                    <a:solidFill>
                      <a:srgbClr val="FFFFFF"/>
                    </a:solidFill>
                  </a:tcPr>
                </a:tc>
              </a:tr>
              <a:tr h="801624">
                <a:tc>
                  <a:txBody>
                    <a:bodyPr/>
                    <a:lstStyle/>
                    <a:p>
                      <a:r>
                        <a:rPr sz="1300" b="0" i="0">
                          <a:solidFill>
                            <a:srgbClr val="1A1440"/>
                          </a:solidFill>
                          <a:latin typeface="Calibri"/>
                        </a:rPr>
                        <a:t>Capacity caps the peak</a:t>
                      </a:r>
                    </a:p>
                  </a:txBody>
                  <a:tcPr marL="101600" marR="101600" marT="38100" marB="38100" anchor="ctr">
                    <a:solidFill>
                      <a:srgbClr val="F4F2FA"/>
                    </a:solidFill>
                  </a:tcPr>
                </a:tc>
                <a:tc>
                  <a:txBody>
                    <a:bodyPr/>
                    <a:lstStyle/>
                    <a:p>
                      <a:r>
                        <a:rPr sz="1300" b="0" i="0">
                          <a:solidFill>
                            <a:srgbClr val="1A1440"/>
                          </a:solidFill>
                          <a:latin typeface="Calibri"/>
                        </a:rPr>
                        <a:t>Overtime reached 1,638 shifts in the week of 6 October 2025 against 5 in the week of 24 November 2025, so peak demand may have run above what shipped; orders that could not ship would settle it</a:t>
                      </a:r>
                    </a:p>
                  </a:txBody>
                  <a:tcPr marL="101600" marR="101600" marT="38100" marB="38100" anchor="ctr">
                    <a:solidFill>
                      <a:srgbClr val="F4F2FA"/>
                    </a:solidFill>
                  </a:tcPr>
                </a:tc>
              </a:tr>
              <a:tr h="352552">
                <a:tc>
                  <a:txBody>
                    <a:bodyPr/>
                    <a:lstStyle/>
                    <a:p>
                      <a:r>
                        <a:rPr sz="1300" b="0" i="0">
                          <a:solidFill>
                            <a:srgbClr val="1A1440"/>
                          </a:solidFill>
                          <a:latin typeface="Calibri"/>
                        </a:rPr>
                        <a:t>Growth of 4 percent a year</a:t>
                      </a:r>
                    </a:p>
                  </a:txBody>
                  <a:tcPr marL="101600" marR="101600" marT="38100" marB="38100" anchor="ctr">
                    <a:solidFill>
                      <a:srgbClr val="FFFFFF"/>
                    </a:solidFill>
                  </a:tcPr>
                </a:tc>
                <a:tc>
                  <a:txBody>
                    <a:bodyPr/>
                    <a:lstStyle/>
                    <a:p>
                      <a:r>
                        <a:rPr sz="1300" b="0" i="0">
                          <a:solidFill>
                            <a:srgbClr val="1A1440"/>
                          </a:solidFill>
                          <a:latin typeface="Calibri"/>
                        </a:rPr>
                        <a:t>Two years' evidence; a third year would settle it</a:t>
                      </a:r>
                    </a:p>
                  </a:txBody>
                  <a:tcPr marL="101600" marR="101600" marT="38100" marB="38100" anchor="ctr">
                    <a:solidFill>
                      <a:srgbClr val="FFFFFF"/>
                    </a:solidFill>
                  </a:tcPr>
                </a:tc>
              </a:tr>
              <a:tr h="1250696">
                <a:tc>
                  <a:txBody>
                    <a:bodyPr/>
                    <a:lstStyle/>
                    <a:p>
                      <a:r>
                        <a:rPr sz="1300" b="0" i="0">
                          <a:solidFill>
                            <a:srgbClr val="1A1440"/>
                          </a:solidFill>
                          <a:latin typeface="Calibri"/>
                        </a:rPr>
                        <a:t>A tax change rode on the 2025 festival</a:t>
                      </a:r>
                    </a:p>
                  </a:txBody>
                  <a:tcPr marL="101600" marR="101600" marT="38100" marB="38100" anchor="ctr">
                    <a:solidFill>
                      <a:srgbClr val="F4F2FA"/>
                    </a:solidFill>
                  </a:tcPr>
                </a:tc>
                <a:tc>
                  <a:txBody>
                    <a:bodyPr/>
                    <a:lstStyle/>
                    <a:p>
                      <a:r>
                        <a:rPr sz="1300" b="0" i="0">
                          <a:solidFill>
                            <a:srgbClr val="1A1440"/>
                          </a:solidFill>
                          <a:latin typeface="Calibri"/>
                        </a:rPr>
                        <a:t>Two-wheeler sales to buyers ran at 31.5 lakh in October 2025 against 12.9 lakh in September, part of it credited to cuts in GST, India's goods and services tax (FADA, the Federation of Automobile Dealers Associations, release of 7 November 2025, checked 12 October 2026); a series with the tax change marked would settle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finance and the vendor's sponsor hear, and what does the morning leave on the board?</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TO 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Right growth, wrong weeks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Your 4 percent is the growth two years show. Copied by calendar, it books the peak on 5 October and sits 308,048 shipments short.</a:t>
            </a:r>
          </a:p>
        </p:txBody>
      </p:sp>
      <p:sp>
        <p:nvSpPr>
          <p:cNvPr id="15" name="Rounded Rectangle 14"/>
          <p:cNvSpPr/>
          <p:nvPr/>
        </p:nvSpPr>
        <p:spPr>
          <a:xfrm>
            <a:off x="430164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TO THE VENDOR'S SPONSOR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fit, never a forecast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Within 1.4 percent on history, and 16,400 a week off on thirteen weeks it never saw.</a:t>
            </a:r>
          </a:p>
        </p:txBody>
      </p:sp>
      <p:sp>
        <p:nvSpPr>
          <p:cNvPr id="21" name="Rounded Rectangle 20"/>
          <p:cNvSpPr/>
          <p:nvPr/>
        </p:nvSpPr>
        <p:spPr>
          <a:xfrm>
            <a:off x="807293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Beat the bot, then place the festival</a:t>
            </a:r>
          </a:p>
        </p:txBody>
      </p:sp>
      <p:sp>
        <p:nvSpPr>
          <p:cNvPr id="26" name="TextBox 25"/>
          <p:cNvSpPr txBox="1"/>
          <p:nvPr/>
        </p:nvSpPr>
        <p:spPr>
          <a:xfrm>
            <a:off x="8274100" y="3534664"/>
            <a:ext cx="3186074" cy="581406"/>
          </a:xfrm>
          <a:prstGeom prst="rect">
            <a:avLst/>
          </a:prstGeom>
          <a:noFill/>
        </p:spPr>
        <p:txBody>
          <a:bodyPr wrap="square" anchor="t" lIns="0" rIns="0" tIns="0" bIns="0">
            <a:spAutoFit/>
          </a:bodyPr>
          <a:lstStyle/>
          <a:p>
            <a:pPr algn="l"/>
            <a:r>
              <a:rPr sz="1100" b="0" i="0">
                <a:solidFill>
                  <a:srgbClr val="CFC9EE"/>
                </a:solidFill>
                <a:latin typeface="Calibri"/>
              </a:rPr>
              <a:t>Score on hidden weeks in shipments and rupees; copy by distance from Diwali; cover demand in 0.82 of weeks.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9" name="Oval 28"/>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1" name="Oval 30"/>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