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Say the minutes. The concept map follows.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scene F1.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Ask why this Monday against</a:t>
            </a:r>
          </a:p>
          <a:p>
            <a:r>
              <a:t>last Monday does not show the growth: a week's growth is too small to see under a wobble of a few</a:t>
            </a:r>
          </a:p>
          <a:p>
            <a:r>
              <a:t>cups, so a year apart is the comparison that shows it. Transition: a whole 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and</a:t>
            </a:r>
          </a:p>
          <a:p>
            <a:r>
              <a:t>https://otexts.com/fpp3/decomposition.html#sec-components (both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and never 365: 364 is</a:t>
            </a:r>
          </a:p>
          <a:p>
            <a:r>
              <a:t>52 whole weeks, so a Monday lands on a Monday and the weekly beat stays in step.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Transition: a</a:t>
            </a:r>
          </a:p>
          <a:p>
            <a:r>
              <a:t>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 Explorer: scene F3, the festival marker.</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Predict before revealing the costs: which rule costs more? Most rooms say they cost</a:t>
            </a:r>
          </a:p>
          <a:p>
            <a:r>
              <a:t>the same. Flipkart's case meets this again in chapter 6, where a forecast with a worse MAE costs less</a:t>
            </a:r>
          </a:p>
          <a:p>
            <a:r>
              <a:t>once priced.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curve's 168 needs no algebra: the four days' differences are 4, -6 and 12, their</a:t>
            </a:r>
          </a:p>
          <a:p>
            <a:r>
              <a:t>differences -10 and 18, and theirs 28; carry the 28 down and the curve climbs to 168. FPP3, section</a:t>
            </a:r>
          </a:p>
          <a:p>
            <a:r>
              <a:t>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and why? Key b.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is measured: notebook 06 sets the latest 39 training weeks against the same weeks a year</a:t>
            </a:r>
          </a:p>
          <a:p>
            <a:r>
              <a:t>earlier and gets 4.0 percent, the same figure finance uses. Groups work each rule on the twelve</a:t>
            </a:r>
          </a:p>
          <a:p>
            <a:r>
              <a:t>printed rows before voting; the actual that week was 308,900, held until the vote. Transition: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Explorer: scene F2, the split slider.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it is true of this data. The room should leave with the</a:t>
            </a:r>
          </a:p>
          <a:p>
            <a:r>
              <a:t>reason: a late shipment costs 4.6 times a spare one, the stall's Rs 12 against Rs 6 at Flipkart's</a:t>
            </a:r>
          </a:p>
          <a:p>
            <a:r>
              <a:t>scale.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today's row (the fallback hour, and notebook 07's depth section). Transition: the same</a:t>
            </a:r>
          </a:p>
          <a:p>
            <a:r>
              <a:t>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0" cy="3590544"/>
        </p:xfrm>
        <a:graphic>
          <a:graphicData uri="http://schemas.openxmlformats.org/drawingml/2006/table">
            <a:tbl>
              <a:tblPr firstRow="0" bandRow="0">
                <a:tableStyleId>{2D5ABB26-0587-4C30-8999-92F81FD0307C}</a:tableStyleId>
              </a:tblPr>
              <a:tblGrid>
                <a:gridCol w="3198111"/>
                <a:gridCol w="7932879"/>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An ordinary week in late 2024 shipped about 210,000; 104 weeks run from the week of 30 September 2024 to 21 September 2026, with a festive peak each year</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an idle shift</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here,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season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507836" y="1664208"/>
            <a:ext cx="717602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answer is b. Both Sundays sold about 60 (60 and 61), every other day about 100. A repeat on a fixed beat is a </a:t>
            </a:r>
            <a:r>
              <a:rPr sz="1400" b="1" i="0">
                <a:solidFill>
                  <a:srgbClr val="1A1440"/>
                </a:solidFill>
                <a:latin typeface="Calibri"/>
              </a:rPr>
              <a:t>season</a:t>
            </a:r>
            <a:r>
              <a:rPr sz="1400" b="0" i="0">
                <a:solidFill>
                  <a:srgbClr val="1A1440"/>
                </a:solidFill>
                <a:latin typeface="Calibri"/>
              </a:rPr>
              <a:t>, and its </a:t>
            </a:r>
            <a:r>
              <a:rPr sz="1400" b="1" i="0">
                <a:solidFill>
                  <a:srgbClr val="1A1440"/>
                </a:solidFill>
                <a:latin typeface="Calibri"/>
              </a:rPr>
              <a:t>length</a:t>
            </a:r>
            <a:r>
              <a:rPr sz="1400" b="0" i="0">
                <a:solidFill>
                  <a:srgbClr val="1A1440"/>
                </a:solidFill>
                <a:latin typeface="Calibri"/>
              </a:rPr>
              <a:t> is the number of periods before it repeats: 7 days here, 52 weeks in Flipkart's year. </a:t>
            </a:r>
            <a:r>
              <a:rPr sz="1400" b="1" i="0">
                <a:solidFill>
                  <a:srgbClr val="1A1440"/>
                </a:solidFill>
                <a:latin typeface="Calibri"/>
              </a:rPr>
              <a:t>The plausible wrong number:</a:t>
            </a:r>
            <a:r>
              <a:rPr sz="1400" b="0" i="0">
                <a:solidFill>
                  <a:srgbClr val="1A1440"/>
                </a:solidFill>
                <a:latin typeface="Calibri"/>
              </a:rPr>
              <a:t> plus 67 percent, Monday over Sunday. </a:t>
            </a:r>
            <a:r>
              <a:rPr sz="1400" b="1" i="0">
                <a:solidFill>
                  <a:srgbClr val="1A1440"/>
                </a:solidFill>
                <a:latin typeface="Calibri"/>
              </a:rPr>
              <a:t>The decision it misleads:</a:t>
            </a:r>
            <a:r>
              <a:rPr sz="1400" b="0" i="0">
                <a:solidFill>
                  <a:srgbClr val="1A1440"/>
                </a:solidFill>
                <a:latin typeface="Calibri"/>
              </a:rPr>
              <a:t> two-thirds more milk, which sours. </a:t>
            </a:r>
            <a:r>
              <a:rPr sz="1400" b="1" i="0">
                <a:solidFill>
                  <a:srgbClr val="1A1440"/>
                </a:solidFill>
                <a:latin typeface="Calibri"/>
              </a:rPr>
              <a:t>The check:</a:t>
            </a:r>
            <a:r>
              <a:rPr sz="1400" b="0" i="0">
                <a:solidFill>
                  <a:srgbClr val="1A1440"/>
                </a:solidFill>
                <a:latin typeface="Calibri"/>
              </a:rPr>
              <a:t> Monday against the Monday before, 100 against 100. </a:t>
            </a:r>
            <a:r>
              <a:rPr sz="1400" b="1" i="0">
                <a:solidFill>
                  <a:srgbClr val="1A1440"/>
                </a:solidFill>
                <a:latin typeface="Calibri"/>
              </a:rPr>
              <a:t>The fix:</a:t>
            </a:r>
            <a:r>
              <a:rPr sz="1400" b="0" i="0">
                <a:solidFill>
                  <a:srgbClr val="1A1440"/>
                </a:solidFill>
                <a:latin typeface="Calibri"/>
              </a:rPr>
              <a:t> compare the same point a season apart.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season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read by comparing the same point a season apart, and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293602" y="1664208"/>
            <a:ext cx="760448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a </a:t>
            </a:r>
            <a:r>
              <a:rPr sz="1200" b="1" i="0">
                <a:solidFill>
                  <a:srgbClr val="1A1440"/>
                </a:solidFill>
                <a:latin typeface="Calibri"/>
              </a:rPr>
              <a:t>trend</a:t>
            </a:r>
            <a:r>
              <a:rPr sz="1200" b="0" i="0">
                <a:solidFill>
                  <a:srgbClr val="1A1440"/>
                </a:solidFill>
                <a:latin typeface="Calibri"/>
              </a:rPr>
              <a:t> times its </a:t>
            </a:r>
            <a:r>
              <a:rPr sz="1200" b="1" i="0">
                <a:solidFill>
                  <a:srgbClr val="1A1440"/>
                </a:solidFill>
                <a:latin typeface="Calibri"/>
              </a:rPr>
              <a:t>seasons</a:t>
            </a:r>
            <a:r>
              <a:rPr sz="1200" b="0" i="0">
                <a:solidFill>
                  <a:srgbClr val="1A1440"/>
                </a:solidFill>
                <a:latin typeface="Calibri"/>
              </a:rPr>
              <a:t> times a </a:t>
            </a:r>
            <a:r>
              <a:rPr sz="1200" b="1" i="0">
                <a:solidFill>
                  <a:srgbClr val="1A1440"/>
                </a:solidFill>
                <a:latin typeface="Calibri"/>
              </a:rPr>
              <a:t>remainder</a:t>
            </a:r>
            <a:r>
              <a:rPr sz="1200" b="0" i="0">
                <a:solidFill>
                  <a:srgbClr val="1A1440"/>
                </a:solidFill>
                <a:latin typeface="Calibri"/>
              </a:rPr>
              <a:t>, the wobble left over, about 4.7 cups either way. Forecasting: Principles and Practice writes it as a sum, y = T + S + R, when the seasons do not grow with the level. A </a:t>
            </a:r>
            <a:r>
              <a:rPr sz="1200" b="1" i="0">
                <a:solidFill>
                  <a:srgbClr val="1A1440"/>
                </a:solidFill>
                <a:latin typeface="Calibri"/>
              </a:rPr>
              <a:t>cycle</a:t>
            </a:r>
            <a:r>
              <a:rPr sz="12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Read growth by comparing the same point a season apart, never neighbours.</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two seasons (the festive weeks, and the week that holds the first of the month)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baseline</a:t>
            </a:r>
            <a:r>
              <a:rPr sz="16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826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7106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701544"/>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orders milk tonight with no spreadsheet open, and Flipkart's FC planner, whose tournament sends nothing to the plan that loses to a copy rule.</a:t>
            </a:r>
          </a:p>
        </p:txBody>
      </p:sp>
      <p:sp>
        <p:nvSpPr>
          <p:cNvPr id="13" name="Rounded Rectangle 12"/>
          <p:cNvSpPr/>
          <p:nvPr/>
        </p:nvSpPr>
        <p:spPr>
          <a:xfrm>
            <a:off x="530352" y="355498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6830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673856"/>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6" name="Rectangle 15"/>
          <p:cNvSpPr/>
          <p:nvPr/>
        </p:nvSpPr>
        <p:spPr>
          <a:xfrm>
            <a:off x="1853145" y="4827523"/>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1" name="TextBox 20"/>
          <p:cNvSpPr txBox="1"/>
          <p:nvPr/>
        </p:nvSpPr>
        <p:spPr>
          <a:xfrm>
            <a:off x="694944"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last day, last season, a line.</a:t>
            </a:r>
          </a:p>
        </p:txBody>
      </p:sp>
      <p:sp>
        <p:nvSpPr>
          <p:cNvPr id="22" name="TextBox 21"/>
          <p:cNvSpPr txBox="1"/>
          <p:nvPr/>
        </p:nvSpPr>
        <p:spPr>
          <a:xfrm>
            <a:off x="3358819"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wins next Sunday?</a:t>
            </a:r>
          </a:p>
        </p:txBody>
      </p:sp>
      <p:sp>
        <p:nvSpPr>
          <p:cNvPr id="26" name="TextBox 25"/>
          <p:cNvSpPr txBox="1"/>
          <p:nvPr/>
        </p:nvSpPr>
        <p:spPr>
          <a:xfrm>
            <a:off x="3523411"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one that respects the beat.</a:t>
            </a:r>
          </a:p>
        </p:txBody>
      </p:sp>
      <p:sp>
        <p:nvSpPr>
          <p:cNvPr id="27" name="TextBox 26"/>
          <p:cNvSpPr txBox="1"/>
          <p:nvPr/>
        </p:nvSpPr>
        <p:spPr>
          <a:xfrm>
            <a:off x="6187287"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293868"/>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yearly copy miss?</a:t>
            </a:r>
          </a:p>
        </p:txBody>
      </p:sp>
      <p:sp>
        <p:nvSpPr>
          <p:cNvPr id="31" name="TextBox 30"/>
          <p:cNvSpPr txBox="1"/>
          <p:nvPr/>
        </p:nvSpPr>
        <p:spPr>
          <a:xfrm>
            <a:off x="6351879" y="579628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year's growth.</a:t>
            </a:r>
          </a:p>
        </p:txBody>
      </p:sp>
      <p:sp>
        <p:nvSpPr>
          <p:cNvPr id="32" name="TextBox 31"/>
          <p:cNvSpPr txBox="1"/>
          <p:nvPr/>
        </p:nvSpPr>
        <p:spPr>
          <a:xfrm>
            <a:off x="9015755"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3608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14756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293868"/>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breaks when it moves?</a:t>
            </a:r>
          </a:p>
        </p:txBody>
      </p:sp>
      <p:sp>
        <p:nvSpPr>
          <p:cNvPr id="36" name="TextBox 35"/>
          <p:cNvSpPr txBox="1"/>
          <p:nvPr/>
        </p:nvSpPr>
        <p:spPr>
          <a:xfrm>
            <a:off x="9180347" y="5581650"/>
            <a:ext cx="2316403" cy="201676"/>
          </a:xfrm>
          <a:prstGeom prst="rect">
            <a:avLst/>
          </a:prstGeom>
          <a:noFill/>
        </p:spPr>
        <p:txBody>
          <a:bodyPr wrap="square" anchor="t" lIns="0" rIns="0" tIns="0" bIns="0">
            <a:spAutoFit/>
          </a:bodyPr>
          <a:lstStyle/>
          <a:p>
            <a:pPr algn="l"/>
            <a:r>
              <a:rPr sz="10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292402" y="1664208"/>
            <a:ext cx="760689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Next Sunday sold 60. </a:t>
            </a:r>
            <a:r>
              <a:rPr sz="1600" b="1" i="0">
                <a:solidFill>
                  <a:srgbClr val="1A1440"/>
                </a:solidFill>
                <a:latin typeface="Calibri"/>
              </a:rPr>
              <a:t>Naive</a:t>
            </a:r>
            <a:r>
              <a:rPr sz="1600" b="0" i="0">
                <a:solidFill>
                  <a:srgbClr val="1A1440"/>
                </a:solidFill>
                <a:latin typeface="Calibri"/>
              </a:rPr>
              <a:t>, the last value repeated, said 103 and missed by 43; </a:t>
            </a:r>
            <a:r>
              <a:rPr sz="1600" b="1" i="0">
                <a:solidFill>
                  <a:srgbClr val="1A1440"/>
                </a:solidFill>
                <a:latin typeface="Calibri"/>
              </a:rPr>
              <a:t>drift</a:t>
            </a:r>
            <a:r>
              <a:rPr sz="1600" b="0" i="0">
                <a:solidFill>
                  <a:srgbClr val="1A1440"/>
                </a:solidFill>
                <a:latin typeface="Calibri"/>
              </a:rPr>
              <a:t>, the last value plus the average step so far, said 104.7 and missed by 44.7; the </a:t>
            </a:r>
            <a:r>
              <a:rPr sz="1600" b="1" i="0">
                <a:solidFill>
                  <a:srgbClr val="1A1440"/>
                </a:solidFill>
                <a:latin typeface="Calibri"/>
              </a:rPr>
              <a:t>seasonal naive</a:t>
            </a:r>
            <a:r>
              <a:rPr sz="16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932112"/>
                <a:gridCol w="5351762"/>
                <a:gridCol w="3847116"/>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369824">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last value plus the average step so far</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8201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8201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8201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021328"/>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cups.shift(7)                  # every day copies the same day a week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naive, yesterday's cups,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owner orders milk for the next three days. To judge a rule, which three of the last fourteen days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90" cy="1341120"/>
        </p:xfrm>
        <a:graphic>
          <a:graphicData uri="http://schemas.openxmlformats.org/drawingml/2006/table">
            <a:tbl>
              <a:tblPr firstRow="0" bandRow="0">
                <a:tableStyleId>{2D5ABB26-0587-4C30-8999-92F81FD0307C}</a:tableStyleId>
              </a:tblPr>
              <a:tblGrid>
                <a:gridCol w="2632399"/>
                <a:gridCol w="2632399"/>
                <a:gridCol w="914400"/>
                <a:gridCol w="4951792"/>
              </a:tblGrid>
              <a:tr h="335280">
                <a:tc>
                  <a:txBody>
                    <a:bodyPr/>
                    <a:lstStyle/>
                    <a:p>
                      <a:r>
                        <a:rPr sz="1250" b="1" i="0">
                          <a:solidFill>
                            <a:srgbClr val="FFFFFF"/>
                          </a:solidFill>
                          <a:latin typeface="Calibri"/>
                        </a:rPr>
                        <a:t>Hidden day</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660749" y="1664208"/>
            <a:ext cx="6870196"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Two invented days, apart from the stall's record, each miss by 15 cups: 15 over 85 is 17.6 percent of a busy day, and 15 over 5 is 300 percent of a rain day when the stall shut after an hour. Named last: </a:t>
            </a:r>
            <a:r>
              <a:rPr sz="1200" b="1" i="0">
                <a:solidFill>
                  <a:srgbClr val="1A1440"/>
                </a:solidFill>
                <a:latin typeface="Calibri"/>
              </a:rPr>
              <a:t>MAE</a:t>
            </a:r>
            <a:r>
              <a:rPr sz="1200" b="0" i="0">
                <a:solidFill>
                  <a:srgbClr val="1A1440"/>
                </a:solidFill>
                <a:latin typeface="Calibri"/>
              </a:rPr>
              <a:t>, the mean absolute error, is the mean of the misses with their signs dropped, in the unit the cost is in; </a:t>
            </a:r>
            <a:r>
              <a:rPr sz="1200" b="1" i="0">
                <a:solidFill>
                  <a:srgbClr val="1A1440"/>
                </a:solidFill>
                <a:latin typeface="Calibri"/>
              </a:rPr>
              <a:t>MAPE</a:t>
            </a:r>
            <a:r>
              <a:rPr sz="1200" b="0" i="0">
                <a:solidFill>
                  <a:srgbClr val="1A1440"/>
                </a:solidFill>
                <a:latin typeface="Calibri"/>
              </a:rPr>
              <a:t>, the mean absolute percentage error, is the mean of each miss over what sold, which compares stalls of different sizes and runs to extremes when a day sells close to zero.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381078" y="1664208"/>
            <a:ext cx="7429537"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the origin is 22 June and the horizon ten weeks; a spare shipment costs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through the four days, about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c, with the line close behind. Day 5 sold 102. The curve through all four days fits them perfectly, with an error of 0, and said 168: a miss of 66. The straight line, about 3.1 cups from the four days on average,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 An interviewer says in-sample and out-of-sample.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seven hidden days, 10 to 16 March 2025</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2224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35051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35051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35051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5516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seen, hidden = cups[:7], cups[7:]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633570" y="1664208"/>
            <a:ext cx="892455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seasonal naive orders 3 cans a weekday and 2 on Sunday, exactly what a forecast that knew the future would order, on all seven days; the nephew's mean orders a third can on Sunday, Rs 240 of milk that sours. Named last: </a:t>
            </a:r>
            <a:r>
              <a:rPr sz="1600" b="1" i="0">
                <a:solidFill>
                  <a:srgbClr val="1A1440"/>
                </a:solidFill>
                <a:latin typeface="Calibri"/>
              </a:rPr>
              <a:t>good enough</a:t>
            </a:r>
            <a:r>
              <a:rPr sz="1600" b="0" i="0">
                <a:solidFill>
                  <a:srgbClr val="1A1440"/>
                </a:solidFill>
                <a:latin typeface="Calibri"/>
              </a:rPr>
              <a:t> is a claim about the decision, never about the model. A better forecast is worth having only if it would change what gets ordered, so the owner stops improving here.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and one more: a line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stop improving when a better forecast would order the same.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09346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941832"/>
          </a:xfrm>
          <a:prstGeom prst="rect">
            <a:avLst/>
          </a:prstGeom>
          <a:noFill/>
        </p:spPr>
        <p:txBody>
          <a:bodyPr wrap="square" anchor="t" lIns="0" rIns="0" tIns="0" bIns="0">
            <a:spAutoFit/>
          </a:bodyPr>
          <a:lstStyle/>
          <a:p>
            <a:r>
              <a:rPr sz="1500" b="0" i="0">
                <a:solidFill>
                  <a:srgbClr val="1A1440"/>
                </a:solidFill>
                <a:latin typeface="Calibri"/>
              </a:rPr>
              <a:t>[F] "What baseline must any forecast beat, and why?" [F] "A vendor promises 22 percent growth; how do you test the claim?" Each is answered with the hidden days and the seasonal naive, never with the fit.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4068dcddab05484b.png"/>
          <p:cNvPicPr>
            <a:picLocks noChangeAspect="1"/>
          </p:cNvPicPr>
          <p:nvPr/>
        </p:nvPicPr>
        <p:blipFill>
          <a:blip r:embed="rId5"/>
          <a:stretch>
            <a:fillRect/>
          </a:stretch>
        </p:blipFill>
        <p:spPr>
          <a:xfrm>
            <a:off x="2058975" y="1664208"/>
            <a:ext cx="8073743"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The forecast's average miss on thirteen weeks it never saw: about Rs 35,800 of idle shifts when it runs that far high, Rs 1.65 lakh of late shipments when that far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4 percent, the growth the training weeks show.</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3720373"/>
                <a:gridCol w="3954487"/>
                <a:gridCol w="1374553"/>
                <a:gridCol w="2081576"/>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7848b8d9663a7524.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a seasonal random walk, beat half of them one step ahead (Makridakis and colleagues, PLOS ONE, 2018);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book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