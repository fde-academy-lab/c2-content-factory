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 screen as the room sits down. Read the question in the subtitle: it is the row's</a:t>
            </a:r>
          </a:p>
          <a:p>
            <a:r>
              <a:t>Day focus, word for word. Say the order of the day once: five topics on the chai stall, then the</a:t>
            </a:r>
          </a:p>
          <a:p>
            <a:r>
              <a:t>Flipkart case, then Kalpa in the lab. Transition: where Friday sits in the week.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earlier nodes with their numbers: each was a number the room produced</a:t>
            </a:r>
          </a:p>
          <a:p>
            <a:r>
              <a:t>on its day. Monday's guardrails bound what a forecast may chase, Thursday's cohorts gave the</a:t>
            </a:r>
          </a:p>
          <a:p>
            <a:r>
              <a:t>week a time axis, and today asks what the plan will be held to. The Kalpa node is the lab after</a:t>
            </a:r>
          </a:p>
          <a:p>
            <a:r>
              <a:t>class. Explorer: the home screen, Friday lit. Transition: the five topics.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topic column aloud: these are the five subtopics of the curriculum row, in</a:t>
            </a:r>
          </a:p>
          <a:p>
            <a:r>
              <a:t>its order. Subtopics 4 and 5 share chapter 4 because both rest on one decision: a forecast earns</a:t>
            </a:r>
          </a:p>
          <a:p>
            <a:r>
              <a:t>trust by beating the baseline on periods it never saw, and it is good enough when a better one</a:t>
            </a:r>
          </a:p>
          <a:p>
            <a:r>
              <a:t>would change no decision worth its cost. Say each chapter's minutes from the table, then turn to the</a:t>
            </a:r>
          </a:p>
          <a:p>
            <a:r>
              <a:t>concept map. Transition: how the topics join.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ByteByteGo's move: one connected map before any detail. The dashed box holds what</a:t>
            </a:r>
          </a:p>
          <a:p>
            <a:r>
              <a:t>the chapters reuse, each named again at the point of reuse: Week 2 Thursday's pivot trend view in</a:t>
            </a:r>
          </a:p>
          <a:p>
            <a:r>
              <a:t>chapter 1, Week 2 Wednesday's LAG in chapter 2 (a seasonal copy is LAG by a season), Week 1 Monday's</a:t>
            </a:r>
          </a:p>
          <a:p>
            <a:r>
              <a:t>average that one giant miss can move and Week 1 Tuesday's matched windows in chapter 3, Wednesday's</a:t>
            </a:r>
          </a:p>
          <a:p>
            <a:r>
              <a:t>lift beyond chance in chapter 4, and Thursday's rule to align cohorts and never blend them in the</a:t>
            </a:r>
          </a:p>
          <a:p>
            <a:r>
              <a:t>case's festival alignment. The map returns, with the current chapter lit, at every chapter's close.</a:t>
            </a:r>
          </a:p>
          <a:p>
            <a:r>
              <a:t>Explorer: the home screen, whose Friday box lists the same five topics. Transition: the destination.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Show it as the destination: read the two forecasts and the ask, nothing more. Ask</a:t>
            </a:r>
          </a:p>
          <a:p>
            <a:r>
              <a:t>the room what would make either forecast wrong, and write the answers on the board without judging</a:t>
            </a:r>
          </a:p>
          <a:p>
            <a:r>
              <a:t>them; chapter 5 opens on the ticket in full and returns to the list. Transition: chapter 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Concept 1 of 4, 22 minutes. The example runs through all four concept chapters: a</a:t>
            </a:r>
          </a:p>
          <a:p>
            <a:r>
              <a:t>chai stall at a hostel gate, every number invented and labelled invented, 730 days of cups that the</a:t>
            </a:r>
          </a:p>
          <a:p>
            <a:r>
              <a:t>day's own generator wrote. Notebook 01 runs beside the chapter. Transition: who needs the reading.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two definitions, then the four questions; each gets a number before the</a:t>
            </a:r>
          </a:p>
          <a:p>
            <a:r>
              <a:t>next is asked. The stall sells about 100 cups on a weekday; every number in this chapter is</a:t>
            </a:r>
          </a:p>
          <a:p>
            <a:r>
              <a:t>invented. Transition: the vote.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Veritasium's move: the misconception on the table first. Vote, two minutes with a</a:t>
            </a:r>
          </a:p>
          <a:p>
            <a:r>
              <a:t>neighbour, vote again, and keep both counts on the board. The plausible wrong number is 100 over 60,</a:t>
            </a:r>
          </a:p>
          <a:p>
            <a:r>
              <a:t>plus 67 percent; the decision it would mislead is two-thirds more milk. Option c is the honest</a:t>
            </a:r>
          </a:p>
          <a:p>
            <a:r>
              <a:t>first instinct; the next slide shows why fourteen days settle it.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3Blue1Brown's move: the picture first, the word season after it. Count the bars</a:t>
            </a:r>
          </a:p>
          <a:p>
            <a:r>
              <a:t>aloud from Monday 30 September. Explorer: scene F1, the season slider. Transition: reading growth</a:t>
            </a:r>
          </a:p>
          <a:p>
            <a:r>
              <a:t>without the beat fooling you.</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StatQuest's move: tiny numbers, every step said aloud. Monday against last Monday</a:t>
            </a:r>
          </a:p>
          <a:p>
            <a:r>
              <a:t>is a fair comparison, one weekly season apart, and it shows the week's change: nothing you can see,</a:t>
            </a:r>
          </a:p>
          <a:p>
            <a:r>
              <a:t>since a week's growth is tiny under a wobble of a few cups. A year apart shows the year's 10 percent.</a:t>
            </a:r>
          </a:p>
          <a:p>
            <a:r>
              <a:t>Both are season-apart readings, which is why the c1 set's first item keys both. Transition: a whole</a:t>
            </a:r>
          </a:p>
          <a:p>
            <a:r>
              <a:t>year at once.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Show the picture, then name the parts. FPP3's words: a trend "exists when there is</a:t>
            </a:r>
          </a:p>
          <a:p>
            <a:r>
              <a:t>a long-term increase or decrease in the data"; seasonality "is always of a fixed and known period",</a:t>
            </a:r>
          </a:p>
          <a:p>
            <a:r>
              <a:t>and "one series can have more than one seasonal pattern"; a cycle shows "rises and falls that are</a:t>
            </a:r>
          </a:p>
          <a:p>
            <a:r>
              <a:t>not of a fixed frequency". Sources: https://otexts.com/fpp3/graphics.html#sec-tspatterns (checked 13 October 2026) and</a:t>
            </a:r>
          </a:p>
          <a:p>
            <a:r>
              <a:t>https://otexts.com/fpp3/decomposition.html#sec-components (checked 13 October 2026). The</a:t>
            </a:r>
          </a:p>
          <a:p>
            <a:r>
              <a:t>stall's seasons grow with its level, since Sunday is always 0.6 of an ordinary day, which FPP3 calls</a:t>
            </a:r>
          </a:p>
          <a:p>
            <a:r>
              <a:t>a multiplicative decomposition. Transition: the same reading in code.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Krish Naik's move: one plain sentence for each line. Why 364: it is 52 whole weeks,</a:t>
            </a:r>
          </a:p>
          <a:p>
            <a:r>
              <a:t>so a Monday lands on a Monday and the weekly beat stays in step; anything tied to a date, the 1st of</a:t>
            </a:r>
          </a:p>
          <a:p>
            <a:r>
              <a:t>a month or 15 August, drifts a day a year under it, so each effect is copied by the calendar that</a:t>
            </a:r>
          </a:p>
          <a:p>
            <a:r>
              <a:t>drives it.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rules are the slide a learner photographs. Ask the c1 set's first item aloud:</a:t>
            </a:r>
          </a:p>
          <a:p>
            <a:r>
              <a:t>the mess used 25 kg of rice on a Monday and 40 kg on a Sunday; which comparison reads growth? Key d,</a:t>
            </a:r>
          </a:p>
          <a:p>
            <a:r>
              <a:t>either the same day a week apart or the same week a year apart. Transition: where the reading goes.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idea joins the map. Transition: chapter 2, the rules that copy the past.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Concept 2 of 4, 23 minutes. Notebook 02 runs beside the chapter. Transition: who</a:t>
            </a:r>
          </a:p>
          <a:p>
            <a:r>
              <a:t>needs a rule that runs on paper.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four questions. Transition: the vote.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misconception is that the rule with the most arithmetic forecasts best. Vote,</a:t>
            </a:r>
          </a:p>
          <a:p>
            <a:r>
              <a:t>argue, vote again.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Point at the three markers above next Sunday. Ask which rule a shift supervisor</a:t>
            </a:r>
          </a:p>
          <a:p>
            <a:r>
              <a:t>could run in their head: all three, which is why they are baselines. Transition: each rule by hand.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Work drift aloud: the step from the first day to the last is 5 cups over 3 steps,</a:t>
            </a:r>
          </a:p>
          <a:p>
            <a:r>
              <a:t>about 1.7 a day, added once. Notebook 02 counts each by hand and by code and checks that the two</a:t>
            </a:r>
          </a:p>
          <a:p>
            <a:r>
              <a:t>agree. If the room is more than 5 minutes behind after the case's own cuts, this is the row's first</a:t>
            </a:r>
          </a:p>
          <a:p>
            <a:r>
              <a:t>cut: give drift as its formula and skip the hand count, 2 minutes saved. Transition: a whole year, and a rule that needs one more thing.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worked day: on Wednesday 26 November 2025, the first exam day, the stall sold</a:t>
            </a:r>
          </a:p>
          <a:p>
            <a:r>
              <a:t>154; naive copied Tuesday's 110 and fell 44 short; the yearly copy took the first exam day of 2024,</a:t>
            </a:r>
          </a:p>
          <a:p>
            <a:r>
              <a:t>140, and fell 14 short; 140 x 1.10 = 154. Finance's habit, last year plus 4 percent, is this same</a:t>
            </a:r>
          </a:p>
          <a:p>
            <a:r>
              <a:t>move: the seasonal naive times a growth factor. The formulas are FPP3's, section 5.2:</a:t>
            </a:r>
          </a:p>
          <a:p>
            <a:r>
              <a:t>https://otexts.com/fpp3/toolbox.html#sec-simple-methods (checked 13 October 2026), where the</a:t>
            </a:r>
          </a:p>
          <a:p>
            <a:r>
              <a:t>seasonal naive's general form reaches back whole seasons when h is longer than one season. Naive</a:t>
            </a:r>
          </a:p>
          <a:p>
            <a:r>
              <a:t>here is re-run every day, a one-step forecast, which chapter 3 will not accept as a hold-out score.</a:t>
            </a:r>
          </a:p>
          <a:p>
            <a:r>
              <a:t>Explorer: scene F3 on the stall set, its slider the copy's reach, 50 to 53 weeks back; open it last</a:t>
            </a:r>
          </a:p>
          <a:p>
            <a:r>
              <a:t>on this slide, before S19 shows where the calendar copy puts the dip.</a:t>
            </a:r>
          </a:p>
          <a:p>
            <a:r>
              <a:t>Transition: a festival that moves.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left panel's dip arrives a week late; the right panel's sits on Diwali week.</a:t>
            </a:r>
          </a:p>
          <a:p>
            <a:r>
              <a:t>Say plainly that festival-aligned is this course's construction, built on the textbook's seasonal</a:t>
            </a:r>
          </a:p>
          <a:p>
            <a:r>
              <a:t>naive, so nobody quotes it as a standard method.</a:t>
            </a:r>
          </a:p>
          <a:p>
            <a:r>
              <a:t>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the c2 set's first item aloud: at the mess the last four days used 25, 26, 25</a:t>
            </a:r>
          </a:p>
          <a:p>
            <a:r>
              <a:t>and 27 kg and last Sunday 42 kg; which rule, and what does it say for next Sunday? Key c, the</a:t>
            </a:r>
          </a:p>
          <a:p>
            <a:r>
              <a:t>seasonal naive, 42. Transition: where the rules go.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aliases come after the textbook names: seasonal naive first, then same week last</a:t>
            </a:r>
          </a:p>
          <a:p>
            <a:r>
              <a:t>year, then the house bot. Transition: chapter 3, scoring a rule on days it never saw.</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Concept 3 of 4, 30 minutes. Notebook 03 runs beside the chapter. Transition: who</a:t>
            </a:r>
          </a:p>
          <a:p>
            <a:r>
              <a:t>needs the score.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questions. A cup unsold wastes about Rs 6 of milk and a cup short</a:t>
            </a:r>
          </a:p>
          <a:p>
            <a:r>
              <a:t>loses about Rs 12 of margin; both are invented. Transition: the vote.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misconception is that a rule can be judged on the days it has already seen.</a:t>
            </a:r>
          </a:p>
          <a:p>
            <a:r>
              <a:t>Vote, argue, vote again.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Explorer: scene F2, the split slider. The FPP3 line is section 5.8:</a:t>
            </a:r>
          </a:p>
          <a:p>
            <a:r>
              <a:t>https://otexts.com/fpp3/toolbox.html#sec-accuracy (checked 13 October 2026). Options b and d fail</a:t>
            </a:r>
          </a:p>
          <a:p>
            <a:r>
              <a:t>because a random day has later days in the training set; option c tests the dearest days only, so the</a:t>
            </a:r>
          </a:p>
          <a:p>
            <a:r>
              <a:t>score says nothing about an ordinary order. Transition: counting the misses.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StatQuest's move: each step aloud. A miss here is what the rule said minus what</a:t>
            </a:r>
          </a:p>
          <a:p>
            <a:r>
              <a:t>sold, so positive means too high; FPP3 writes the error the other way round, sold minus said, which</a:t>
            </a:r>
          </a:p>
          <a:p>
            <a:r>
              <a:t>flips the sign and leaves the size alone. Transition: when a percent misleads.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FPP3, section 5.8: "Mean absolute error: MAE = mean(|e_t|)"; percentage errors have</a:t>
            </a:r>
          </a:p>
          <a:p>
            <a:r>
              <a:t>"the advantage of being unit-free", and the disadvantage of "being infinite or undefined if y_t = 0</a:t>
            </a:r>
          </a:p>
          <a:p>
            <a:r>
              <a:t>for any t in the period of interest, and having extreme values if any y_t is close to zero" (checked</a:t>
            </a:r>
          </a:p>
          <a:p>
            <a:r>
              <a:t>13 October 2026). The milkman hears cups and rupees; MAPE is for comparing this stall with one twice</a:t>
            </a:r>
          </a:p>
          <a:p>
            <a:r>
              <a:t>its size. If the room is still behind after S17's cut, give this slide's example in one sentence and</a:t>
            </a:r>
          </a:p>
          <a:p>
            <a:r>
              <a:t>keep MAE, 3 minutes saved. Running low is the dear side here, a cup short at Rs 12 against Rs 6 unsold, so MAPE's pull</a:t>
            </a:r>
          </a:p>
          <a:p>
            <a:r>
              <a:t>costs money. Before advancing, ask: two rules both miss by 10 cups a day; does one cost more? Most</a:t>
            </a:r>
          </a:p>
          <a:p>
            <a:r>
              <a:t>rooms say they cost the same. Transition: two rules with the same score.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room predicted on S26, before this slide showed the costs. Flipkart's case meets</a:t>
            </a:r>
          </a:p>
          <a:p>
            <a:r>
              <a:t>this again in chapter 6, where a forecast with a worse MAE costs less once priced. Transition: the</a:t>
            </a:r>
          </a:p>
          <a:p>
            <a:r>
              <a:t>rules.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Ask the c3 set's first item aloud: five hidden days missed by 12, -8, 5, -15 and 6</a:t>
            </a:r>
          </a:p>
          <a:p>
            <a:r>
              <a:t>kg; what is the MAE, and which way does the rule lean? Key a, 9.2 kg and no lean. Transition: where</a:t>
            </a:r>
          </a:p>
          <a:p>
            <a:r>
              <a:t>the score goes.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Week 1 Monday showed that one giant miss moves a mean; Week 1 Tuesday compared like</a:t>
            </a:r>
          </a:p>
          <a:p>
            <a:r>
              <a:t>with like. Ten minutes' break follows. Transition: after the break, chapter 4.</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Concept 4 of 4, 20 minutes, after the break. Two of the row's subtopics share this</a:t>
            </a:r>
          </a:p>
          <a:p>
            <a:r>
              <a:t>chapter because both rest on one decision. Notebook 04 runs beside it. Transition: who needs the</a:t>
            </a:r>
          </a:p>
          <a:p>
            <a:r>
              <a:t>verdict.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four questions. Transition: the vote.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misconception: the model that fits history best will forecast best. Vote.</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Write the difference table on the board, one row under another: 4, -6, 12; -10, 18;</a:t>
            </a:r>
          </a:p>
          <a:p>
            <a:r>
              <a:t>28. A curve of degree three keeps its last row level, so the next row reads 28, then 46, then 58, and</a:t>
            </a:r>
          </a:p>
          <a:p>
            <a:r>
              <a:t>110 + 58 = 168. An interviewer says in-sample for fit and out-of-sample for forecast error. FPP3,</a:t>
            </a:r>
          </a:p>
          <a:p>
            <a:r>
              <a:t>section 5.8: "A model which fits the training data well will not necessarily forecast well. A perfect fit</a:t>
            </a:r>
          </a:p>
          <a:p>
            <a:r>
              <a:t>can always be obtained by using a model with enough parameters" (checked 13 October 2026).</a:t>
            </a:r>
          </a:p>
          <a:p>
            <a:r>
              <a:t>Transition: the nephew's next rule.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Both rules are scored on the same seven days by the same measure, fixed before</a:t>
            </a:r>
          </a:p>
          <a:p>
            <a:r>
              <a:t>either ran. Transition: is a better rule worth having?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Ask the row's mid-session question in its short form: which of three model scores</a:t>
            </a:r>
          </a:p>
          <a:p>
            <a:r>
              <a:t>earns a place, and which changes nothing? The c4 set's second item asks it on Flipkart's numbers.</a:t>
            </a:r>
          </a:p>
          <a:p>
            <a:r>
              <a:t>Transition: the note.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04 prints the note from its variables, so every number in it is the one</a:t>
            </a:r>
          </a:p>
          <a:p>
            <a:r>
              <a:t>the notebook computed.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the c4 set's first item aloud: the curve fits all four days and says 168, the</a:t>
            </a:r>
          </a:p>
          <a:p>
            <a:r>
              <a:t>line says 109; which do you trust tonight, and why? Key b: neither yet, order on naive's 110 until</a:t>
            </a:r>
          </a:p>
          <a:p>
            <a:r>
              <a:t>one of them beats it on unseen days. Transition: where the verdict goes.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Wednesday's lift asked for beyond chance and Thursday's cohorts for beyond the blend;</a:t>
            </a:r>
          </a:p>
          <a:p>
            <a:r>
              <a:t>today a forecast must get beyond the copy. The concept block ends here. Transition: the case, read in</a:t>
            </a:r>
          </a:p>
          <a:p>
            <a:r>
              <a:t>full.</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Case part 1 of 3, levels L1 and L2, round one of the tournament. Applies chapters 1</a:t>
            </a:r>
          </a:p>
          <a:p>
            <a:r>
              <a:t>and 2. Twelve printed weeks per table; no laptop opens until notebook 05. Transition: the questions.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four questions. Each gets a number before the next is asked.</a:t>
            </a:r>
          </a:p>
          <a:p>
            <a:r>
              <a:t>Transition: the ticket, read in full.</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table top to bottom, then the label line. Today is a tournament in three</a:t>
            </a:r>
          </a:p>
          <a:p>
            <a:r>
              <a:t>rounds: count by hand, score on hidden weeks, then place the festival and size the plan. Point at</a:t>
            </a:r>
          </a:p>
          <a:p>
            <a:r>
              <a:t>the four tables and their columns; every case number today comes from them. Return to the list of</a:t>
            </a:r>
          </a:p>
          <a:p>
            <a:r>
              <a:t>what would make each forecast wrong from S5. Transition: where today ends.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Show the finished answer once, then earn it. The rule is fixed now, before anyone</a:t>
            </a:r>
          </a:p>
          <a:p>
            <a:r>
              <a:t>scores: mean absolute error in shipments on the thirteen held-out weeks, chapter 3's measure, then</a:t>
            </a:r>
          </a:p>
          <a:p>
            <a:r>
              <a:t>the same misses priced. Groups enter their own one-line rule in round one. Transition: the first</a:t>
            </a:r>
          </a:p>
          <a:p>
            <a:r>
              <a:t>question, voted before anything is shown.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group holds up a letter. Two minutes for neighbours to argue, then vote again.</a:t>
            </a:r>
          </a:p>
          <a:p>
            <a:r>
              <a:t>Keep both counts on the board. Transition: the twelve weeks.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Count aloud left to right, StatQuest style. Parcels leave the centre with the</a:t>
            </a:r>
          </a:p>
          <a:p>
            <a:r>
              <a:t>sale, before the festival, so they arrive in time, which is why the peak comes early. If most of the</a:t>
            </a:r>
          </a:p>
          <a:p>
            <a:r>
              <a:t>room voted a, ask what a customer does on Diwali itself. Transition: three rules on one real week.</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textbook names first: seasonal naive, which the tournament calls the house bot</a:t>
            </a:r>
          </a:p>
          <a:p>
            <a:r>
              <a:t>and finance calls same week last year. Festival-aligned is this programme's construction. The 4</a:t>
            </a:r>
          </a:p>
          <a:p>
            <a:r>
              <a:t>percent comes later: notebook 06 measures it on training weeks up to June 2026, so a forecast made in</a:t>
            </a:r>
          </a:p>
          <a:p>
            <a:r>
              <a:t>October 2025 cannot use it; adding it here would borrow growth from the future, the leak chapter 3</a:t>
            </a:r>
          </a:p>
          <a:p>
            <a:r>
              <a:t>forbids. Groups work each rule on the twelve printed rows before voting; 308,900 is already on S42</a:t>
            </a:r>
          </a:p>
          <a:p>
            <a:r>
              <a:t>and on the rows, and the vote is on which rule lands nearest it.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Festival-aligned copies 296,900 as it stands. The centre grew about 4 percent a</a:t>
            </a:r>
          </a:p>
          <a:p>
            <a:r>
              <a:t>year, which is most of its 12,000 miss, but nobody could measure that growth in October 2025. Ask</a:t>
            </a:r>
          </a:p>
          <a:p>
            <a:r>
              <a:t>which group's own rule came closest, and whether it used anything that week could not know.</a:t>
            </a:r>
          </a:p>
          <a:p>
            <a:r>
              <a:t>Transition: the trap hidden in the copy.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Diwali's week came one week earlier in 2025, so every calendar copy is a week out;</a:t>
            </a:r>
          </a:p>
          <a:p>
            <a:r>
              <a:t>the stall's dip in chapter 2 moved the same way. As in a Veritasium video, the reveal follows the</a:t>
            </a:r>
          </a:p>
          <a:p>
            <a:r>
              <a:t>vote of S43. Transition: where Diwali falls in 2026.</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Count the Mondays on the strip with the room. Do not answer where the copy lands:</a:t>
            </a:r>
          </a:p>
          <a:p>
            <a:r>
              <a:t>round three asks it in half two, and the festival calendar card answers it there. Transition: the</a:t>
            </a:r>
          </a:p>
          <a:p>
            <a:r>
              <a:t>real company.</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These are Flipkart's own published numbers; everything else today is this class's</a:t>
            </a:r>
          </a:p>
          <a:p>
            <a:r>
              <a:t>synthetic data. Read them as decisions already in motion. First cut if the room is late: one</a:t>
            </a:r>
          </a:p>
          <a:p>
            <a:r>
              <a:t>sentence, 2 minutes saved. Transition: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map left to right; the dashed box is chapter 6. Transition: chapter 6, the</a:t>
            </a:r>
          </a:p>
          <a:p>
            <a:r>
              <a:t>hold-out.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Case part 2 of 3, levels L2 and L3, round two of the tournament. Applies chapters 2, 3</a:t>
            </a:r>
          </a:p>
          <a:p>
            <a:r>
              <a:t>and 4. Notebook 06 runs alongside. Transition: the questions.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questions. Transition: the weeks we hide.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plan books eight weeks, but its last week is ten weeks past the data, and the</a:t>
            </a:r>
          </a:p>
          <a:p>
            <a:r>
              <a:t>horizon is the farthest week ahead. Point at the August sale inside the hidden weeks: a copy of last</a:t>
            </a:r>
          </a:p>
          <a:p>
            <a:r>
              <a:t>year knows about it, naive does not. Transition: the vote.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room answers before the scoreboard runs, as learners do on Brilliant. Option d</a:t>
            </a:r>
          </a:p>
          <a:p>
            <a:r>
              <a:t>names the tie on purpose, and the next slide says why.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chart uses Tufte's small multiples, one rule per panel on the same axes. The bot</a:t>
            </a:r>
          </a:p>
          <a:p>
            <a:r>
              <a:t>beats naive because it carries the August sale; it loses to the 4 percent rules because a growing</a:t>
            </a:r>
          </a:p>
          <a:p>
            <a:r>
              <a:t>series makes last year too low, the stall's lesson from chapter 2. Transition: the vendor.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first. Then every learner types the vendor's score into notebook 06's empty</a:t>
            </a:r>
          </a:p>
          <a:p>
            <a:r>
              <a:t>cell and reads the number aloud. Chapter 4's curve through four days is the same mistake at a</a:t>
            </a:r>
          </a:p>
          <a:p>
            <a:r>
              <a:t>stall's size.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left of the chart, then the right. A fit is drawn through weeks the model</a:t>
            </a:r>
          </a:p>
          <a:p>
            <a:r>
              <a:t>has seen; a forecast is made for weeks it has not. The animated version,</a:t>
            </a:r>
          </a:p>
          <a:p>
            <a:r>
              <a:t>whiteboards/C2_W04_D05_holdout_reveal_STUDENT.gif, reveals the hidden weeks one at a time: the vendor</a:t>
            </a:r>
          </a:p>
          <a:p>
            <a:r>
              <a:t>leads in week 1, 3,700 to 12,300, and trails by week 13. Transition: which way each rule is wrong.</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idle cost is Rs 650 / 120 = Rs 5.42 for each shipment of spare capacity. Ask</a:t>
            </a:r>
          </a:p>
          <a:p>
            <a:r>
              <a:t>which way each rule's misses run before anyone votes: chapter 3's lean, at Flipkart's size.</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Let the result stand at the ticket's costs, then name what it rests on: the price</a:t>
            </a:r>
          </a:p>
          <a:p>
            <a:r>
              <a:t>of a late shipment. The room should leave with the reason: a late shipment costs 4.6 times a spare</a:t>
            </a:r>
          </a:p>
          <a:p>
            <a:r>
              <a:t>one, the stall's Rs 12 against Rs 6 at Flipkart's scale. Transition: why the vendor still does not</a:t>
            </a:r>
          </a:p>
          <a:p>
            <a:r>
              <a:t>win.</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plan's case rests on two things this hold-out cannot test: the festival's</a:t>
            </a:r>
          </a:p>
          <a:p>
            <a:r>
              <a:t>placement, which chapter 7 tests on 2025's festival, and how high to lean, which the plan quantile</a:t>
            </a:r>
          </a:p>
          <a:p>
            <a:r>
              <a:t>sizes beyond the row, that is, beyond today's five topics (the fallback session, and notebook 07's</a:t>
            </a:r>
          </a:p>
          <a:p>
            <a:r>
              <a:t>depth section). Explorer: scene F2 on the case set, the split slider; with the vendor chosen, its</a:t>
            </a:r>
          </a:p>
          <a:p>
            <a:r>
              <a:t>sticks show the misses growing across the hidden weeks. Transition: the same score a second way.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Notebook 06 prints the thirteen misses; the last cell adds them. Second cut if the</a:t>
            </a:r>
          </a:p>
          <a:p>
            <a:r>
              <a:t>room is late: one sentence. Transition:</a:t>
            </a:r>
          </a:p>
          <a:p>
            <a:r>
              <a:t>chapter 6's answers.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Lunch follows; the afternoon opens on chapter 7. Transition: lunch, then half two.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17.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2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22.png"/><Relationship Id="rId6" Type="http://schemas.openxmlformats.org/officeDocument/2006/relationships/image" Target="../media/image9.png"/><Relationship Id="rId7" Type="http://schemas.openxmlformats.org/officeDocument/2006/relationships/image" Target="../media/image24.png"/><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5.png"/><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6.png"/><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1.xml"/><Relationship Id="rId5" Type="http://schemas.openxmlformats.org/officeDocument/2006/relationships/image" Target="../media/image2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7.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1.png"/><Relationship Id="rId5"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2.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3.png"/><Relationship Id="rId5"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3.xml"/><Relationship Id="rId5" Type="http://schemas.openxmlformats.org/officeDocument/2006/relationships/image" Target="../media/image35.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4.png"/><Relationship Id="rId5"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6.png"/><Relationship Id="rId5"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7.png"/><Relationship Id="rId5"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8.png"/><Relationship Id="rId5"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9.png"/><Relationship Id="rId5" Type="http://schemas.openxmlformats.org/officeDocument/2006/relationships/image" Target="../media/image6.png"/><Relationship Id="rId6" Type="http://schemas.openxmlformats.org/officeDocument/2006/relationships/image" Target="../media/image39.png"/><Relationship Id="rId7" Type="http://schemas.openxmlformats.org/officeDocument/2006/relationships/image" Target="../media/image27.png"/><Relationship Id="rId8"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5.xml"/><Relationship Id="rId5" Type="http://schemas.openxmlformats.org/officeDocument/2006/relationships/image" Target="../media/image4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Forecasting basics: how much the plan delivers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much does the plan deliver, against a baseline that is hard to beat?</a:t>
            </a:r>
          </a:p>
        </p:txBody>
      </p:sp>
      <p:sp>
        <p:nvSpPr>
          <p:cNvPr id="9" name="TextBox 8"/>
          <p:cNvSpPr txBox="1"/>
          <p:nvPr/>
        </p:nvSpPr>
        <p:spPr>
          <a:xfrm>
            <a:off x="530352" y="1956816"/>
            <a:ext cx="11130991"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Friday answers one question with five topics: how much will a plan deliver, and how wrong could its number be? The topics are taught first on a chai stall at a hostel gate, whose cups are invented and small enough to count by hand. Then Flipkart's Lucknow fulfilment centre uses all five to book its festive packer shifts, an illustrative case: the company is real, the situation and the data are synthetic, built for this class. The lab runs the same method on Kalpa Retail's revenue.</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4" name="Oval 1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8" name="Oval 1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0" name="Oval 19"/>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65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Friday asks how much is coming, and how wrong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today's ticket sit among the week's five?</a:t>
            </a:r>
          </a:p>
        </p:txBody>
      </p:sp>
      <p:pic>
        <p:nvPicPr>
          <p:cNvPr id="9" name="mermaid diagram" descr="49557f3c05cfb8d6.png"/>
          <p:cNvPicPr>
            <a:picLocks noChangeAspect="1"/>
          </p:cNvPicPr>
          <p:nvPr/>
        </p:nvPicPr>
        <p:blipFill>
          <a:blip r:embed="rId5"/>
          <a:stretch>
            <a:fillRect/>
          </a:stretch>
        </p:blipFill>
        <p:spPr>
          <a:xfrm>
            <a:off x="530352" y="1956816"/>
            <a:ext cx="11130991" cy="1924240"/>
          </a:xfrm>
          <a:prstGeom prst="rect">
            <a:avLst/>
          </a:prstGeom>
        </p:spPr>
      </p:pic>
      <p:sp>
        <p:nvSpPr>
          <p:cNvPr id="10" name="TextBox 9"/>
          <p:cNvSpPr txBox="1"/>
          <p:nvPr/>
        </p:nvSpPr>
        <p:spPr>
          <a:xfrm>
            <a:off x="530352" y="4027360"/>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day asked what a number is compared with, and each node carries the number its day moved.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65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topics, then the case that uses them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topics does Friday teach, in which order, and where is each practised?</a:t>
            </a:r>
          </a:p>
        </p:txBody>
      </p:sp>
      <p:graphicFrame>
        <p:nvGraphicFramePr>
          <p:cNvPr id="9" name="Table 8"/>
          <p:cNvGraphicFramePr>
            <a:graphicFrameLocks noGrp="1"/>
          </p:cNvGraphicFramePr>
          <p:nvPr/>
        </p:nvGraphicFramePr>
        <p:xfrm>
          <a:off x="530352" y="1956816"/>
          <a:ext cx="11130990" cy="2682240"/>
        </p:xfrm>
        <a:graphic>
          <a:graphicData uri="http://schemas.openxmlformats.org/drawingml/2006/table">
            <a:tbl>
              <a:tblPr firstRow="0" bandRow="0">
                <a:tableStyleId>{2D5ABB26-0587-4C30-8999-92F81FD0307C}</a:tableStyleId>
              </a:tblPr>
              <a:tblGrid>
                <a:gridCol w="914400"/>
                <a:gridCol w="4667418"/>
                <a:gridCol w="1963372"/>
                <a:gridCol w="3585800"/>
              </a:tblGrid>
              <a:tr h="335280">
                <a:tc>
                  <a:txBody>
                    <a:bodyPr/>
                    <a:lstStyle/>
                    <a:p>
                      <a:r>
                        <a:rPr sz="1250" b="1" i="0">
                          <a:solidFill>
                            <a:srgbClr val="FFFFFF"/>
                          </a:solidFill>
                          <a:latin typeface="Calibri"/>
                        </a:rPr>
                        <a:t>Chapter</a:t>
                      </a:r>
                    </a:p>
                  </a:txBody>
                  <a:tcPr marL="101600" marR="101600" marT="38100" marB="38100" anchor="ctr">
                    <a:solidFill>
                      <a:srgbClr val="1A0F5C"/>
                    </a:solidFill>
                  </a:tcPr>
                </a:tc>
                <a:tc>
                  <a:txBody>
                    <a:bodyPr/>
                    <a:lstStyle/>
                    <a:p>
                      <a:r>
                        <a:rPr sz="1250" b="1" i="0">
                          <a:solidFill>
                            <a:srgbClr val="FFFFFF"/>
                          </a:solidFill>
                          <a:latin typeface="Calibri"/>
                        </a:rPr>
                        <a:t>Topic, as the curriculum words it</a:t>
                      </a:r>
                    </a:p>
                  </a:txBody>
                  <a:tcPr marL="101600" marR="101600" marT="38100" marB="38100" anchor="ctr">
                    <a:solidFill>
                      <a:srgbClr val="1A0F5C"/>
                    </a:solidFill>
                  </a:tcPr>
                </a:tc>
                <a:tc>
                  <a:txBody>
                    <a:bodyPr/>
                    <a:lstStyle/>
                    <a:p>
                      <a:r>
                        <a:rPr sz="1250" b="1" i="0">
                          <a:solidFill>
                            <a:srgbClr val="FFFFFF"/>
                          </a:solidFill>
                          <a:latin typeface="Calibri"/>
                        </a:rPr>
                        <a:t>Minutes</a:t>
                      </a:r>
                    </a:p>
                  </a:txBody>
                  <a:tcPr marL="101600" marR="101600" marT="38100" marB="38100" anchor="ctr">
                    <a:solidFill>
                      <a:srgbClr val="1A0F5C"/>
                    </a:solidFill>
                  </a:tcPr>
                </a:tc>
                <a:tc>
                  <a:txBody>
                    <a:bodyPr/>
                    <a:lstStyle/>
                    <a:p>
                      <a:r>
                        <a:rPr sz="1250" b="1" i="0">
                          <a:solidFill>
                            <a:srgbClr val="FFFFFF"/>
                          </a:solidFill>
                          <a:latin typeface="Calibri"/>
                        </a:rPr>
                        <a:t>Notebook</a:t>
                      </a:r>
                    </a:p>
                  </a:txBody>
                  <a:tcPr marL="101600" marR="101600" marT="38100" marB="38100" anchor="ctr">
                    <a:solidFill>
                      <a:srgbClr val="1A0F5C"/>
                    </a:solidFill>
                  </a:tcPr>
                </a:tc>
              </a:tr>
              <a:tr h="335280">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Trend and seasonality, read before modelling</a:t>
                      </a:r>
                    </a:p>
                  </a:txBody>
                  <a:tcPr marL="101600" marR="101600" marT="38100" marB="38100" anchor="ctr">
                    <a:solidFill>
                      <a:srgbClr val="FFFFFF"/>
                    </a:solidFill>
                  </a:tcPr>
                </a:tc>
                <a:tc>
                  <a:txBody>
                    <a:bodyPr/>
                    <a:lstStyle/>
                    <a:p>
                      <a:r>
                        <a:rPr sz="1200" b="0" i="0">
                          <a:solidFill>
                            <a:srgbClr val="1A1440"/>
                          </a:solidFill>
                          <a:latin typeface="Calibri"/>
                        </a:rPr>
                        <a:t>22 minutes</a:t>
                      </a:r>
                    </a:p>
                  </a:txBody>
                  <a:tcPr marL="101600" marR="101600" marT="38100" marB="38100" anchor="ctr">
                    <a:solidFill>
                      <a:srgbClr val="FFFFFF"/>
                    </a:solidFill>
                  </a:tcPr>
                </a:tc>
                <a:tc>
                  <a:txBody>
                    <a:bodyPr/>
                    <a:lstStyle/>
                    <a:p>
                      <a:r>
                        <a:rPr sz="1200" b="0" i="0">
                          <a:solidFill>
                            <a:srgbClr val="1A1440"/>
                          </a:solidFill>
                          <a:latin typeface="Calibri"/>
                        </a:rPr>
                        <a:t>01, trend and seasonality</a:t>
                      </a:r>
                    </a:p>
                  </a:txBody>
                  <a:tcPr marL="101600" marR="101600" marT="38100" marB="38100" anchor="ctr">
                    <a:solidFill>
                      <a:srgbClr val="FFFFFF"/>
                    </a:solidFill>
                  </a:tcPr>
                </a:tc>
              </a:tr>
              <a:tr h="335280">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Naive, seasonal naive and drift baselines</a:t>
                      </a:r>
                    </a:p>
                  </a:txBody>
                  <a:tcPr marL="101600" marR="101600" marT="38100" marB="38100" anchor="ctr">
                    <a:solidFill>
                      <a:srgbClr val="F4F2FA"/>
                    </a:solidFill>
                  </a:tcPr>
                </a:tc>
                <a:tc>
                  <a:txBody>
                    <a:bodyPr/>
                    <a:lstStyle/>
                    <a:p>
                      <a:r>
                        <a:rPr sz="1200" b="0" i="0">
                          <a:solidFill>
                            <a:srgbClr val="1A1440"/>
                          </a:solidFill>
                          <a:latin typeface="Calibri"/>
                        </a:rPr>
                        <a:t>23 minutes</a:t>
                      </a:r>
                    </a:p>
                  </a:txBody>
                  <a:tcPr marL="101600" marR="101600" marT="38100" marB="38100" anchor="ctr">
                    <a:solidFill>
                      <a:srgbClr val="F4F2FA"/>
                    </a:solidFill>
                  </a:tcPr>
                </a:tc>
                <a:tc>
                  <a:txBody>
                    <a:bodyPr/>
                    <a:lstStyle/>
                    <a:p>
                      <a:r>
                        <a:rPr sz="1200" b="0" i="0">
                          <a:solidFill>
                            <a:srgbClr val="1A1440"/>
                          </a:solidFill>
                          <a:latin typeface="Calibri"/>
                        </a:rPr>
                        <a:t>02, naive, seasonal naive, drift</a:t>
                      </a:r>
                    </a:p>
                  </a:txBody>
                  <a:tcPr marL="101600" marR="101600" marT="38100" marB="38100" anchor="ctr">
                    <a:solidFill>
                      <a:srgbClr val="F4F2FA"/>
                    </a:solidFill>
                  </a:tcPr>
                </a:tc>
              </a:tr>
              <a:tr h="335280">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Holding out; MAE and MAPE in the business's units</a:t>
                      </a:r>
                    </a:p>
                  </a:txBody>
                  <a:tcPr marL="101600" marR="101600" marT="38100" marB="38100" anchor="ctr">
                    <a:solidFill>
                      <a:srgbClr val="FFFFFF"/>
                    </a:solidFill>
                  </a:tcPr>
                </a:tc>
                <a:tc>
                  <a:txBody>
                    <a:bodyPr/>
                    <a:lstStyle/>
                    <a:p>
                      <a:r>
                        <a:rPr sz="1200" b="0" i="0">
                          <a:solidFill>
                            <a:srgbClr val="1A1440"/>
                          </a:solidFill>
                          <a:latin typeface="Calibri"/>
                        </a:rPr>
                        <a:t>30 minutes</a:t>
                      </a:r>
                    </a:p>
                  </a:txBody>
                  <a:tcPr marL="101600" marR="101600" marT="38100" marB="38100" anchor="ctr">
                    <a:solidFill>
                      <a:srgbClr val="FFFFFF"/>
                    </a:solidFill>
                  </a:tcPr>
                </a:tc>
                <a:tc>
                  <a:txBody>
                    <a:bodyPr/>
                    <a:lstStyle/>
                    <a:p>
                      <a:r>
                        <a:rPr sz="1200" b="0" i="0">
                          <a:solidFill>
                            <a:srgbClr val="1A1440"/>
                          </a:solidFill>
                          <a:latin typeface="Calibri"/>
                        </a:rPr>
                        <a:t>03, hold-out, MAE, MAPE</a:t>
                      </a:r>
                    </a:p>
                  </a:txBody>
                  <a:tcPr marL="101600" marR="101600" marT="38100" marB="38100" anchor="ctr">
                    <a:solidFill>
                      <a:srgbClr val="FFFFFF"/>
                    </a:solidFill>
                  </a:tcPr>
                </a:tc>
              </a:tr>
              <a:tr h="335280">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Beating the baseline; the vendor curve tested</a:t>
                      </a:r>
                    </a:p>
                  </a:txBody>
                  <a:tcPr marL="101600" marR="101600" marT="38100" marB="38100" anchor="ctr">
                    <a:solidFill>
                      <a:srgbClr val="F4F2FA"/>
                    </a:solidFill>
                  </a:tcPr>
                </a:tc>
                <a:tc>
                  <a:txBody>
                    <a:bodyPr/>
                    <a:lstStyle/>
                    <a:p>
                      <a:r>
                        <a:rPr sz="1200" b="0" i="0">
                          <a:solidFill>
                            <a:srgbClr val="1A1440"/>
                          </a:solidFill>
                          <a:latin typeface="Calibri"/>
                        </a:rPr>
                        <a:t>20 minutes, shared</a:t>
                      </a:r>
                    </a:p>
                  </a:txBody>
                  <a:tcPr marL="101600" marR="101600" marT="38100" marB="38100" anchor="ctr">
                    <a:solidFill>
                      <a:srgbClr val="F4F2FA"/>
                    </a:solidFill>
                  </a:tcPr>
                </a:tc>
                <a:tc>
                  <a:txBody>
                    <a:bodyPr/>
                    <a:lstStyle/>
                    <a:p>
                      <a:r>
                        <a:rPr sz="1200" b="0" i="0">
                          <a:solidFill>
                            <a:srgbClr val="1A1440"/>
                          </a:solidFill>
                          <a:latin typeface="Calibri"/>
                        </a:rPr>
                        <a:t>04, beating the baseline, good enough</a:t>
                      </a:r>
                    </a:p>
                  </a:txBody>
                  <a:tcPr marL="101600" marR="101600" marT="38100" marB="38100" anchor="ctr">
                    <a:solidFill>
                      <a:srgbClr val="F4F2FA"/>
                    </a:solidFill>
                  </a:tcPr>
                </a:tc>
              </a:tr>
              <a:tr h="335280">
                <a:tc>
                  <a:txBody>
                    <a:bodyPr/>
                    <a:lstStyle/>
                    <a:p>
                      <a:r>
                        <a:rPr sz="1200" b="0" i="0">
                          <a:solidFill>
                            <a:srgbClr val="1A1440"/>
                          </a:solidFill>
                          <a:latin typeface="Calibri"/>
                        </a:rPr>
                        <a:t>4</a:t>
                      </a:r>
                    </a:p>
                  </a:txBody>
                  <a:tcPr marL="101600" marR="101600" marT="38100" marB="38100" anchor="ctr">
                    <a:solidFill>
                      <a:srgbClr val="FFFFFF"/>
                    </a:solidFill>
                  </a:tcPr>
                </a:tc>
                <a:tc>
                  <a:txBody>
                    <a:bodyPr/>
                    <a:lstStyle/>
                    <a:p>
                      <a:r>
                        <a:rPr sz="1200" b="0" i="0">
                          <a:solidFill>
                            <a:srgbClr val="1A1440"/>
                          </a:solidFill>
                          <a:latin typeface="Calibri"/>
                        </a:rPr>
                        <a:t>The good-enough call and the forecast note</a:t>
                      </a:r>
                    </a:p>
                  </a:txBody>
                  <a:tcPr marL="101600" marR="101600" marT="38100" marB="38100" anchor="ctr">
                    <a:solidFill>
                      <a:srgbClr val="FFFFFF"/>
                    </a:solidFill>
                  </a:tcPr>
                </a:tc>
                <a:tc>
                  <a:txBody>
                    <a:bodyPr/>
                    <a:lstStyle/>
                    <a:p>
                      <a:r>
                        <a:rPr sz="1200" b="0" i="0">
                          <a:solidFill>
                            <a:srgbClr val="1A1440"/>
                          </a:solidFill>
                          <a:latin typeface="Calibri"/>
                        </a:rPr>
                        <a:t>the same 20 minutes</a:t>
                      </a:r>
                    </a:p>
                  </a:txBody>
                  <a:tcPr marL="101600" marR="101600" marT="38100" marB="38100" anchor="ctr">
                    <a:solidFill>
                      <a:srgbClr val="FFFFFF"/>
                    </a:solidFill>
                  </a:tcPr>
                </a:tc>
                <a:tc>
                  <a:txBody>
                    <a:bodyPr/>
                    <a:lstStyle/>
                    <a:p>
                      <a:r>
                        <a:rPr sz="1200" b="0" i="0">
                          <a:solidFill>
                            <a:srgbClr val="1A1440"/>
                          </a:solidFill>
                          <a:latin typeface="Calibri"/>
                        </a:rPr>
                        <a:t>04, the same notebook</a:t>
                      </a:r>
                    </a:p>
                  </a:txBody>
                  <a:tcPr marL="101600" marR="101600" marT="38100" marB="38100" anchor="ctr">
                    <a:solidFill>
                      <a:srgbClr val="FFFFFF"/>
                    </a:solidFill>
                  </a:tcPr>
                </a:tc>
              </a:tr>
              <a:tr h="335280">
                <a:tc>
                  <a:txBody>
                    <a:bodyPr/>
                    <a:lstStyle/>
                    <a:p>
                      <a:r>
                        <a:rPr sz="1200" b="0" i="0">
                          <a:solidFill>
                            <a:srgbClr val="1A1440"/>
                          </a:solidFill>
                          <a:latin typeface="Calibri"/>
                        </a:rPr>
                        <a:t>5 to 7</a:t>
                      </a:r>
                    </a:p>
                  </a:txBody>
                  <a:tcPr marL="101600" marR="101600" marT="38100" marB="38100" anchor="ctr">
                    <a:solidFill>
                      <a:srgbClr val="F4F2FA"/>
                    </a:solidFill>
                  </a:tcPr>
                </a:tc>
                <a:tc>
                  <a:txBody>
                    <a:bodyPr/>
                    <a:lstStyle/>
                    <a:p>
                      <a:r>
                        <a:rPr sz="1200" b="0" i="0">
                          <a:solidFill>
                            <a:srgbClr val="1A1440"/>
                          </a:solidFill>
                          <a:latin typeface="Calibri"/>
                        </a:rPr>
                        <a:t>The case: Flipkart's Lucknow fulfilment centre</a:t>
                      </a:r>
                    </a:p>
                  </a:txBody>
                  <a:tcPr marL="101600" marR="101600" marT="38100" marB="38100" anchor="ctr">
                    <a:solidFill>
                      <a:srgbClr val="F4F2FA"/>
                    </a:solidFill>
                  </a:tcPr>
                </a:tc>
                <a:tc>
                  <a:txBody>
                    <a:bodyPr/>
                    <a:lstStyle/>
                    <a:p>
                      <a:r>
                        <a:rPr sz="1200" b="0" i="0">
                          <a:solidFill>
                            <a:srgbClr val="1A1440"/>
                          </a:solidFill>
                          <a:latin typeface="Calibri"/>
                        </a:rPr>
                        <a:t>102 minutes</a:t>
                      </a:r>
                    </a:p>
                  </a:txBody>
                  <a:tcPr marL="101600" marR="101600" marT="38100" marB="38100" anchor="ctr">
                    <a:solidFill>
                      <a:srgbClr val="F4F2FA"/>
                    </a:solidFill>
                  </a:tcPr>
                </a:tc>
                <a:tc>
                  <a:txBody>
                    <a:bodyPr/>
                    <a:lstStyle/>
                    <a:p>
                      <a:r>
                        <a:rPr sz="1200" b="0" i="0">
                          <a:solidFill>
                            <a:srgbClr val="1A1440"/>
                          </a:solidFill>
                          <a:latin typeface="Calibri"/>
                        </a:rPr>
                        <a:t>05 to 07, one per case chapter</a:t>
                      </a:r>
                    </a:p>
                  </a:txBody>
                  <a:tcPr marL="101600" marR="101600" marT="38100" marB="38100" anchor="ctr">
                    <a:solidFill>
                      <a:srgbClr val="F4F2FA"/>
                    </a:solidFill>
                  </a:tcPr>
                </a:tc>
              </a:tr>
              <a:tr h="335280">
                <a:tc>
                  <a:txBody>
                    <a:bodyPr/>
                    <a:lstStyle/>
                    <a:p>
                      <a:r>
                        <a:rPr sz="1200" b="0" i="0">
                          <a:solidFill>
                            <a:srgbClr val="1A1440"/>
                          </a:solidFill>
                          <a:latin typeface="Calibri"/>
                        </a:rPr>
                        <a:t>Lab</a:t>
                      </a:r>
                    </a:p>
                  </a:txBody>
                  <a:tcPr marL="101600" marR="101600" marT="38100" marB="38100" anchor="ctr">
                    <a:solidFill>
                      <a:srgbClr val="FFFFFF"/>
                    </a:solidFill>
                  </a:tcPr>
                </a:tc>
                <a:tc>
                  <a:txBody>
                    <a:bodyPr/>
                    <a:lstStyle/>
                    <a:p>
                      <a:r>
                        <a:rPr sz="1200" b="0" i="0">
                          <a:solidFill>
                            <a:srgbClr val="1A1440"/>
                          </a:solidFill>
                          <a:latin typeface="Calibri"/>
                        </a:rPr>
                        <a:t>The same method on Kalpa Retail's revenue</a:t>
                      </a:r>
                    </a:p>
                  </a:txBody>
                  <a:tcPr marL="101600" marR="101600" marT="38100" marB="38100" anchor="ctr">
                    <a:solidFill>
                      <a:srgbClr val="FFFFFF"/>
                    </a:solidFill>
                  </a:tcPr>
                </a:tc>
                <a:tc>
                  <a:txBody>
                    <a:bodyPr/>
                    <a:lstStyle/>
                    <a:p>
                      <a:r>
                        <a:rPr sz="1200" b="0" i="0">
                          <a:solidFill>
                            <a:srgbClr val="1A1440"/>
                          </a:solidFill>
                          <a:latin typeface="Calibri"/>
                        </a:rPr>
                        <a:t>the lab's length</a:t>
                      </a:r>
                    </a:p>
                  </a:txBody>
                  <a:tcPr marL="101600" marR="101600" marT="38100" marB="38100" anchor="ctr">
                    <a:solidFill>
                      <a:srgbClr val="FFFFFF"/>
                    </a:solidFill>
                  </a:tcPr>
                </a:tc>
                <a:tc>
                  <a:txBody>
                    <a:bodyPr/>
                    <a:lstStyle/>
                    <a:p>
                      <a:r>
                        <a:rPr sz="1200" b="0" i="0">
                          <a:solidFill>
                            <a:srgbClr val="1A1440"/>
                          </a:solidFill>
                          <a:latin typeface="Calibri"/>
                        </a:rPr>
                        <a:t>08</a:t>
                      </a:r>
                    </a:p>
                  </a:txBody>
                  <a:tcPr marL="101600" marR="101600" marT="38100" marB="38100" anchor="ctr">
                    <a:solidFill>
                      <a:srgbClr val="FFFFFF"/>
                    </a:solidFill>
                  </a:tcPr>
                </a:tc>
              </a:tr>
            </a:tbl>
          </a:graphicData>
        </a:graphic>
      </p:graphicFrame>
      <p:sp>
        <p:nvSpPr>
          <p:cNvPr id="10" name="TextBox 9"/>
          <p:cNvSpPr txBox="1"/>
          <p:nvPr/>
        </p:nvSpPr>
        <p:spPr>
          <a:xfrm>
            <a:off x="530352" y="489508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Chapter 4 tests a curve at the stall (invented) first, the owner's nephew's; the vendor's curve meets the same test at Flipkart in chapter 6.</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65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topics rest on earlier weeks and feed the case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Friday's five topics connect to each other, to earlier weeks and to the case?</a:t>
            </a:r>
          </a:p>
        </p:txBody>
      </p:sp>
      <p:pic>
        <p:nvPicPr>
          <p:cNvPr id="9" name="mermaid diagram" descr="fe2c1e64f0b75269.png"/>
          <p:cNvPicPr>
            <a:picLocks noChangeAspect="1"/>
          </p:cNvPicPr>
          <p:nvPr/>
        </p:nvPicPr>
        <p:blipFill>
          <a:blip r:embed="rId5"/>
          <a:stretch>
            <a:fillRect/>
          </a:stretch>
        </p:blipFill>
        <p:spPr>
          <a:xfrm>
            <a:off x="530352" y="1956816"/>
            <a:ext cx="11130991" cy="1239587"/>
          </a:xfrm>
          <a:prstGeom prst="rect">
            <a:avLst/>
          </a:prstGeom>
        </p:spPr>
      </p:pic>
      <p:sp>
        <p:nvSpPr>
          <p:cNvPr id="10" name="TextBox 9"/>
          <p:cNvSpPr txBox="1"/>
          <p:nvPr/>
        </p:nvSpPr>
        <p:spPr>
          <a:xfrm>
            <a:off x="530352" y="334270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lit box is one of the curriculum's five topics, in its order; after the case, Saturday's drill and Week 5's first baseline reuse all five.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4 / 65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case: two forecasts for one festive window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will the five topics be used, and what must the planner hand in?</a:t>
            </a:r>
          </a:p>
        </p:txBody>
      </p:sp>
      <p:graphicFrame>
        <p:nvGraphicFramePr>
          <p:cNvPr id="9" name="Table 8"/>
          <p:cNvGraphicFramePr>
            <a:graphicFrameLocks noGrp="1"/>
          </p:cNvGraphicFramePr>
          <p:nvPr/>
        </p:nvGraphicFramePr>
        <p:xfrm>
          <a:off x="530352" y="1682496"/>
          <a:ext cx="11130991" cy="3590544"/>
        </p:xfrm>
        <a:graphic>
          <a:graphicData uri="http://schemas.openxmlformats.org/drawingml/2006/table">
            <a:tbl>
              <a:tblPr firstRow="0" bandRow="0">
                <a:tableStyleId>{2D5ABB26-0587-4C30-8999-92F81FD0307C}</a:tableStyleId>
              </a:tblPr>
              <a:tblGrid>
                <a:gridCol w="2893056"/>
                <a:gridCol w="8237935"/>
              </a:tblGrid>
              <a:tr h="335280">
                <a:tc>
                  <a:txBody>
                    <a:bodyPr/>
                    <a:lstStyle/>
                    <a:p>
                      <a:r>
                        <a:rPr sz="1250" b="1" i="0">
                          <a:solidFill>
                            <a:srgbClr val="FFFFFF"/>
                          </a:solidFill>
                          <a:latin typeface="Calibri"/>
                        </a:rPr>
                        <a:t>On the ticket</a:t>
                      </a:r>
                    </a:p>
                  </a:txBody>
                  <a:tcPr marL="101600" marR="101600" marT="38100" marB="38100" anchor="ctr">
                    <a:solidFill>
                      <a:srgbClr val="1A0F5C"/>
                    </a:solidFill>
                  </a:tcPr>
                </a:tc>
                <a:tc>
                  <a:txBody>
                    <a:bodyPr/>
                    <a:lstStyle/>
                    <a:p>
                      <a:r>
                        <a:rPr sz="1250" b="1" i="0">
                          <a:solidFill>
                            <a:srgbClr val="FFFFFF"/>
                          </a:solidFill>
                          <a:latin typeface="Calibri"/>
                        </a:rPr>
                        <a:t>What it says</a:t>
                      </a:r>
                    </a:p>
                  </a:txBody>
                  <a:tcPr marL="101600" marR="101600" marT="38100" marB="38100" anchor="ctr">
                    <a:solidFill>
                      <a:srgbClr val="1A0F5C"/>
                    </a:solidFill>
                  </a:tcPr>
                </a:tc>
              </a:tr>
              <a:tr h="542544">
                <a:tc>
                  <a:txBody>
                    <a:bodyPr/>
                    <a:lstStyle/>
                    <a:p>
                      <a:r>
                        <a:rPr sz="1200" b="0" i="0">
                          <a:solidFill>
                            <a:srgbClr val="1A1440"/>
                          </a:solidFill>
                          <a:latin typeface="Calibri"/>
                        </a:rPr>
                        <a:t>Company, city, surface</a:t>
                      </a:r>
                    </a:p>
                  </a:txBody>
                  <a:tcPr marL="101600" marR="101600" marT="38100" marB="38100" anchor="ctr">
                    <a:solidFill>
                      <a:srgbClr val="FFFFFF"/>
                    </a:solidFill>
                  </a:tcPr>
                </a:tc>
                <a:tc>
                  <a:txBody>
                    <a:bodyPr/>
                    <a:lstStyle/>
                    <a:p>
                      <a:r>
                        <a:rPr sz="1200" b="0" i="0">
                          <a:solidFill>
                            <a:srgbClr val="1A1440"/>
                          </a:solidFill>
                          <a:latin typeface="Calibri"/>
                        </a:rPr>
                        <a:t>Flipkart's Lucknow fulfilment centre (FC), the warehouse where orders are packed and shipped: outbound shipments a week, and the packer shifts that pack them</a:t>
                      </a:r>
                    </a:p>
                  </a:txBody>
                  <a:tcPr marL="101600" marR="101600" marT="38100" marB="38100" anchor="ctr">
                    <a:solidFill>
                      <a:srgbClr val="FFFFFF"/>
                    </a:solidFill>
                  </a:tcPr>
                </a:tc>
              </a:tr>
              <a:tr h="542544">
                <a:tc>
                  <a:txBody>
                    <a:bodyPr/>
                    <a:lstStyle/>
                    <a:p>
                      <a:r>
                        <a:rPr sz="1200" b="0" i="0">
                          <a:solidFill>
                            <a:srgbClr val="1A1440"/>
                          </a:solidFill>
                          <a:latin typeface="Calibri"/>
                        </a:rPr>
                        <a:t>Before and after</a:t>
                      </a:r>
                    </a:p>
                  </a:txBody>
                  <a:tcPr marL="101600" marR="101600" marT="38100" marB="38100" anchor="ctr">
                    <a:solidFill>
                      <a:srgbClr val="F4F2FA"/>
                    </a:solidFill>
                  </a:tcPr>
                </a:tc>
                <a:tc>
                  <a:txBody>
                    <a:bodyPr/>
                    <a:lstStyle/>
                    <a:p>
                      <a:r>
                        <a:rPr sz="1200" b="0" i="0">
                          <a:solidFill>
                            <a:srgbClr val="1A1440"/>
                          </a:solidFill>
                          <a:latin typeface="Calibri"/>
                        </a:rPr>
                        <a:t>Before: an ordinary week in late 2024 shipped about 210,000. After: the week of 21 September 2026, the latest, shipped 232,200, and 2025's busiest week 418,200; 104 weeks in all</a:t>
                      </a:r>
                    </a:p>
                  </a:txBody>
                  <a:tcPr marL="101600" marR="101600" marT="38100" marB="38100" anchor="ctr">
                    <a:solidFill>
                      <a:srgbClr val="F4F2FA"/>
                    </a:solidFill>
                  </a:tcPr>
                </a:tc>
              </a:tr>
              <a:tr h="542544">
                <a:tc>
                  <a:txBody>
                    <a:bodyPr/>
                    <a:lstStyle/>
                    <a:p>
                      <a:r>
                        <a:rPr sz="1200" b="0" i="0">
                          <a:solidFill>
                            <a:srgbClr val="1A1440"/>
                          </a:solidFill>
                          <a:latin typeface="Calibri"/>
                        </a:rPr>
                        <a:t>The two forecasts</a:t>
                      </a:r>
                    </a:p>
                  </a:txBody>
                  <a:tcPr marL="101600" marR="101600" marT="38100" marB="38100" anchor="ctr">
                    <a:solidFill>
                      <a:srgbClr val="FFFFFF"/>
                    </a:solidFill>
                  </a:tcPr>
                </a:tc>
                <a:tc>
                  <a:txBody>
                    <a:bodyPr/>
                    <a:lstStyle/>
                    <a:p>
                      <a:r>
                        <a:rPr sz="1200" b="0" i="0">
                          <a:solidFill>
                            <a:srgbClr val="1A1440"/>
                          </a:solidFill>
                          <a:latin typeface="Calibri"/>
                        </a:rPr>
                        <a:t>A vendor's model: the eight festive weeks 22 percent above the same weeks last year; finance: those weeks plus 4 percent; eighteen percentage points apart</a:t>
                      </a:r>
                    </a:p>
                  </a:txBody>
                  <a:tcPr marL="101600" marR="101600" marT="38100" marB="38100" anchor="ctr">
                    <a:solidFill>
                      <a:srgbClr val="FFFFFF"/>
                    </a:solidFill>
                  </a:tcPr>
                </a:tc>
              </a:tr>
              <a:tr h="749808">
                <a:tc>
                  <a:txBody>
                    <a:bodyPr/>
                    <a:lstStyle/>
                    <a:p>
                      <a:r>
                        <a:rPr sz="1200" b="0" i="0">
                          <a:solidFill>
                            <a:srgbClr val="1A1440"/>
                          </a:solidFill>
                          <a:latin typeface="Calibri"/>
                        </a:rPr>
                        <a:t>The data</a:t>
                      </a:r>
                    </a:p>
                  </a:txBody>
                  <a:tcPr marL="101600" marR="101600" marT="38100" marB="38100" anchor="ctr">
                    <a:solidFill>
                      <a:srgbClr val="F4F2FA"/>
                    </a:solidFill>
                  </a:tcPr>
                </a:tc>
                <a:tc>
                  <a:txBody>
                    <a:bodyPr/>
                    <a:lstStyle/>
                    <a:p>
                      <a:r>
                        <a:rPr sz="1200" b="0" i="0">
                          <a:solidFill>
                            <a:srgbClr val="1A1440"/>
                          </a:solidFill>
                          <a:latin typeface="Calibri"/>
                        </a:rPr>
                        <a:t>weekly_shipments (week_start, shipments, packer_shifts_worked, overtime_shifts); vendor_forecast (week_start, vendor_shipments, kind); calendar (week_start, diwali_week, sale_week); costs (item, rs, low, high)</a:t>
                      </a:r>
                    </a:p>
                  </a:txBody>
                  <a:tcPr marL="101600" marR="101600" marT="38100" marB="38100" anchor="ctr">
                    <a:solidFill>
                      <a:srgbClr val="F4F2FA"/>
                    </a:solidFill>
                  </a:tcPr>
                </a:tc>
              </a:tr>
              <a:tr h="542544">
                <a:tc>
                  <a:txBody>
                    <a:bodyPr/>
                    <a:lstStyle/>
                    <a:p>
                      <a:r>
                        <a:rPr sz="1200" b="0" i="0">
                          <a:solidFill>
                            <a:srgbClr val="1A1440"/>
                          </a:solidFill>
                          <a:latin typeface="Calibri"/>
                        </a:rPr>
                        <a:t>The ask, due Friday</a:t>
                      </a:r>
                    </a:p>
                  </a:txBody>
                  <a:tcPr marL="101600" marR="101600" marT="38100" marB="38100" anchor="ctr">
                    <a:solidFill>
                      <a:srgbClr val="FFFFFF"/>
                    </a:solidFill>
                  </a:tcPr>
                </a:tc>
                <a:tc>
                  <a:txBody>
                    <a:bodyPr/>
                    <a:lstStyle/>
                    <a:p>
                      <a:r>
                        <a:rPr sz="1200" b="0" i="0">
                          <a:solidFill>
                            <a:srgbClr val="1A1440"/>
                          </a:solidFill>
                          <a:latin typeface="Calibri"/>
                        </a:rPr>
                        <a:t>Which forecast goes to the plan for the eight weeks beginning 12 October to 30 November 2026, how wrong could it be, and how many packer shifts a week</a:t>
                      </a:r>
                    </a:p>
                  </a:txBody>
                  <a:tcPr marL="101600" marR="101600" marT="38100" marB="38100" anchor="ctr">
                    <a:solidFill>
                      <a:srgbClr val="FFFFFF"/>
                    </a:solidFill>
                  </a:tcPr>
                </a:tc>
              </a:tr>
              <a:tr h="335280">
                <a:tc>
                  <a:txBody>
                    <a:bodyPr/>
                    <a:lstStyle/>
                    <a:p>
                      <a:r>
                        <a:rPr sz="1200" b="0" i="0">
                          <a:solidFill>
                            <a:srgbClr val="1A1440"/>
                          </a:solidFill>
                          <a:latin typeface="Calibri"/>
                        </a:rPr>
                        <a:t>Caveats</a:t>
                      </a:r>
                    </a:p>
                  </a:txBody>
                  <a:tcPr marL="101600" marR="101600" marT="38100" marB="38100" anchor="ctr">
                    <a:solidFill>
                      <a:srgbClr val="F4F2FA"/>
                    </a:solidFill>
                  </a:tcPr>
                </a:tc>
                <a:tc>
                  <a:txBody>
                    <a:bodyPr/>
                    <a:lstStyle/>
                    <a:p>
                      <a:r>
                        <a:rPr sz="1200" b="0" i="0">
                          <a:solidFill>
                            <a:srgbClr val="1A1440"/>
                          </a:solidFill>
                          <a:latin typeface="Calibri"/>
                        </a:rPr>
                        <a:t>Diwali moves by weeks each year; a late shipment costs more than a spare one, Rs 25 against Rs 5.42</a:t>
                      </a:r>
                    </a:p>
                  </a:txBody>
                  <a:tcPr marL="101600" marR="101600" marT="38100" marB="38100" anchor="ctr">
                    <a:solidFill>
                      <a:srgbClr val="F4F2FA"/>
                    </a:solidFill>
                  </a:tcPr>
                </a:tc>
              </a:tr>
            </a:tbl>
          </a:graphicData>
        </a:graphic>
      </p:graphicFrame>
      <p:sp>
        <p:nvSpPr>
          <p:cNvPr id="10" name="TextBox 9"/>
          <p:cNvSpPr txBox="1"/>
          <p:nvPr/>
        </p:nvSpPr>
        <p:spPr>
          <a:xfrm>
            <a:off x="530352" y="5529072"/>
            <a:ext cx="11130991" cy="461264"/>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Illustrative case: the company is real, the situation and the data are synthetic, built for this class.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5 / 65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Trend and seasonality, read before modelling</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a series tell?</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Read a chai stall's cups (invented) for their beat, their climb and their wobble before any rule copies them.</a:t>
            </a:r>
          </a:p>
        </p:txBody>
      </p:sp>
      <p:sp>
        <p:nvSpPr>
          <p:cNvPr id="11" name="Rounded Rectangle 10"/>
          <p:cNvSpPr/>
          <p:nvPr/>
        </p:nvSpPr>
        <p:spPr>
          <a:xfrm>
            <a:off x="731519"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a series tell?</a:t>
            </a:r>
          </a:p>
        </p:txBody>
      </p:sp>
      <p:sp>
        <p:nvSpPr>
          <p:cNvPr id="12" name="Rounded Rectangle 11"/>
          <p:cNvSpPr/>
          <p:nvPr/>
        </p:nvSpPr>
        <p:spPr>
          <a:xfrm>
            <a:off x="262819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does a copy fail?</a:t>
            </a:r>
          </a:p>
        </p:txBody>
      </p:sp>
      <p:sp>
        <p:nvSpPr>
          <p:cNvPr id="13" name="Rounded Rectangle 12"/>
          <p:cNvSpPr/>
          <p:nvPr/>
        </p:nvSpPr>
        <p:spPr>
          <a:xfrm>
            <a:off x="440643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forecast scored?</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does it earn trust?</a:t>
            </a:r>
          </a:p>
        </p:txBody>
      </p:sp>
      <p:sp>
        <p:nvSpPr>
          <p:cNvPr id="15" name="Rounded Rectangle 14"/>
          <p:cNvSpPr/>
          <p:nvPr/>
        </p:nvSpPr>
        <p:spPr>
          <a:xfrm>
            <a:off x="825898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is the peak?</a:t>
            </a:r>
          </a:p>
        </p:txBody>
      </p:sp>
      <p:sp>
        <p:nvSpPr>
          <p:cNvPr id="16" name="Rounded Rectangle 15"/>
          <p:cNvSpPr/>
          <p:nvPr/>
        </p:nvSpPr>
        <p:spPr>
          <a:xfrm>
            <a:off x="9800364"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rule wins?</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Forecasting basics: how much does the plan deliver?</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 / 65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readings come before any forecasting rule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reading, and which questions lead to it?</a:t>
            </a:r>
          </a:p>
        </p:txBody>
      </p:sp>
      <p:sp>
        <p:nvSpPr>
          <p:cNvPr id="9" name="TextBox 8"/>
          <p:cNvSpPr txBox="1"/>
          <p:nvPr/>
        </p:nvSpPr>
        <p:spPr>
          <a:xfrm>
            <a:off x="530352" y="1682496"/>
            <a:ext cx="11130991" cy="703072"/>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A </a:t>
            </a:r>
            <a:r>
              <a:rPr sz="1400" b="1" i="0">
                <a:solidFill>
                  <a:srgbClr val="1A1440"/>
                </a:solidFill>
                <a:latin typeface="Calibri"/>
              </a:rPr>
              <a:t>time series</a:t>
            </a:r>
            <a:r>
              <a:rPr sz="1400" b="0" i="0">
                <a:solidFill>
                  <a:srgbClr val="1A1440"/>
                </a:solidFill>
                <a:latin typeface="Calibri"/>
              </a:rPr>
              <a:t> is one number per equal period, in time order: cups a day at the stall (invented), shipments a week at Flipkart, revenue a month at Kalpa. A </a:t>
            </a:r>
            <a:r>
              <a:rPr sz="1400" b="1" i="0">
                <a:solidFill>
                  <a:srgbClr val="1A1440"/>
                </a:solidFill>
                <a:latin typeface="Calibri"/>
              </a:rPr>
              <a:t>forecast</a:t>
            </a:r>
            <a:r>
              <a:rPr sz="1400" b="0" i="0">
                <a:solidFill>
                  <a:srgbClr val="1A1440"/>
                </a:solidFill>
                <a:latin typeface="Calibri"/>
              </a:rPr>
              <a:t> is a number for a period nobody has seen yet.</a:t>
            </a:r>
          </a:p>
        </p:txBody>
      </p:sp>
      <p:sp>
        <p:nvSpPr>
          <p:cNvPr id="10" name="Rounded Rectangle 9"/>
          <p:cNvSpPr/>
          <p:nvPr/>
        </p:nvSpPr>
        <p:spPr>
          <a:xfrm>
            <a:off x="530352" y="2513584"/>
            <a:ext cx="11130991" cy="96774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641600"/>
            <a:ext cx="45720" cy="71170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632456"/>
            <a:ext cx="10564063" cy="784860"/>
          </a:xfrm>
          <a:prstGeom prst="rect">
            <a:avLst/>
          </a:prstGeom>
          <a:noFill/>
        </p:spPr>
        <p:txBody>
          <a:bodyPr wrap="square" anchor="ctr" lIns="0" rIns="0" tIns="0" bIns="0">
            <a:spAutoFit/>
          </a:bodyPr>
          <a:lstStyle/>
          <a:p>
            <a:r>
              <a:rPr sz="1300" b="1">
                <a:solidFill>
                  <a:srgbClr val="5B3FD6"/>
                </a:solidFill>
                <a:latin typeface="Calibri"/>
              </a:rPr>
              <a:t>Who needs the answer. </a:t>
            </a:r>
            <a:r>
              <a:rPr sz="1300" b="0" i="0">
                <a:solidFill>
                  <a:srgbClr val="1A1440"/>
                </a:solidFill>
                <a:latin typeface="Calibri"/>
              </a:rPr>
              <a:t>The stall's owner orders milk every evening for the next three days, and Flipkart's FC planner books packer shifts weeks ahead; a reading that takes a weekly dip for a fall, or a rise for growth, orders milk that sours and packers who stand idle.</a:t>
            </a:r>
          </a:p>
        </p:txBody>
      </p:sp>
      <p:sp>
        <p:nvSpPr>
          <p:cNvPr id="13" name="Rounded Rectangle 12"/>
          <p:cNvSpPr/>
          <p:nvPr/>
        </p:nvSpPr>
        <p:spPr>
          <a:xfrm>
            <a:off x="530352" y="3645916"/>
            <a:ext cx="11130991" cy="5054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3773932"/>
            <a:ext cx="45720" cy="2494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3764788"/>
            <a:ext cx="10564063" cy="322580"/>
          </a:xfrm>
          <a:prstGeom prst="rect">
            <a:avLst/>
          </a:prstGeom>
          <a:noFill/>
        </p:spPr>
        <p:txBody>
          <a:bodyPr wrap="square" anchor="ctr" lIns="0" rIns="0" tIns="0" bIns="0">
            <a:spAutoFit/>
          </a:bodyPr>
          <a:lstStyle/>
          <a:p>
            <a:r>
              <a:rPr sz="1300" b="1">
                <a:solidFill>
                  <a:srgbClr val="5B3FD6"/>
                </a:solidFill>
                <a:latin typeface="Calibri"/>
              </a:rPr>
              <a:t>The questions on the way. </a:t>
            </a:r>
            <a:r>
              <a:rPr sz="1300" b="0" i="0">
                <a:solidFill>
                  <a:srgbClr val="1A1440"/>
                </a:solidFill>
                <a:latin typeface="Calibri"/>
              </a:rPr>
              <a:t>Four, in this order:</a:t>
            </a:r>
          </a:p>
        </p:txBody>
      </p:sp>
      <p:sp>
        <p:nvSpPr>
          <p:cNvPr id="16" name="Rectangle 15"/>
          <p:cNvSpPr/>
          <p:nvPr/>
        </p:nvSpPr>
        <p:spPr>
          <a:xfrm>
            <a:off x="1853145" y="488289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0352" y="431596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BEAT</a:t>
            </a:r>
          </a:p>
        </p:txBody>
      </p:sp>
      <p:sp>
        <p:nvSpPr>
          <p:cNvPr id="18" name="Oval 17"/>
          <p:cNvSpPr/>
          <p:nvPr/>
        </p:nvSpPr>
        <p:spPr>
          <a:xfrm>
            <a:off x="1752561" y="47914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530352" y="5202936"/>
            <a:ext cx="2645587" cy="8869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4944" y="5349240"/>
            <a:ext cx="2316403" cy="218186"/>
          </a:xfrm>
          <a:prstGeom prst="rect">
            <a:avLst/>
          </a:prstGeom>
          <a:noFill/>
        </p:spPr>
        <p:txBody>
          <a:bodyPr wrap="square" anchor="t" lIns="0" rIns="0" tIns="0" bIns="0">
            <a:spAutoFit/>
          </a:bodyPr>
          <a:lstStyle/>
          <a:p>
            <a:pPr algn="l"/>
            <a:r>
              <a:rPr sz="1100" b="1" i="0">
                <a:solidFill>
                  <a:srgbClr val="1A0F5C"/>
                </a:solidFill>
                <a:latin typeface="Calibri"/>
              </a:rPr>
              <a:t>What repeats, how often?</a:t>
            </a:r>
          </a:p>
        </p:txBody>
      </p:sp>
      <p:sp>
        <p:nvSpPr>
          <p:cNvPr id="21" name="TextBox 20"/>
          <p:cNvSpPr txBox="1"/>
          <p:nvPr/>
        </p:nvSpPr>
        <p:spPr>
          <a:xfrm>
            <a:off x="694944" y="5604002"/>
            <a:ext cx="2316403" cy="185166"/>
          </a:xfrm>
          <a:prstGeom prst="rect">
            <a:avLst/>
          </a:prstGeom>
          <a:noFill/>
        </p:spPr>
        <p:txBody>
          <a:bodyPr wrap="square" anchor="t" lIns="0" rIns="0" tIns="0" bIns="0">
            <a:spAutoFit/>
          </a:bodyPr>
          <a:lstStyle/>
          <a:p>
            <a:pPr algn="l"/>
            <a:r>
              <a:rPr sz="900" b="0" i="0">
                <a:solidFill>
                  <a:srgbClr val="6B6690"/>
                </a:solidFill>
                <a:latin typeface="Calibri"/>
              </a:rPr>
              <a:t>A Sunday dip every 7 days.</a:t>
            </a:r>
          </a:p>
        </p:txBody>
      </p:sp>
      <p:sp>
        <p:nvSpPr>
          <p:cNvPr id="22" name="TextBox 21"/>
          <p:cNvSpPr txBox="1"/>
          <p:nvPr/>
        </p:nvSpPr>
        <p:spPr>
          <a:xfrm>
            <a:off x="3358819" y="431596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CLIMB</a:t>
            </a:r>
          </a:p>
        </p:txBody>
      </p:sp>
      <p:sp>
        <p:nvSpPr>
          <p:cNvPr id="23" name="Oval 22"/>
          <p:cNvSpPr/>
          <p:nvPr/>
        </p:nvSpPr>
        <p:spPr>
          <a:xfrm>
            <a:off x="4581029" y="47914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ounded Rectangle 23"/>
          <p:cNvSpPr/>
          <p:nvPr/>
        </p:nvSpPr>
        <p:spPr>
          <a:xfrm>
            <a:off x="3358819" y="5202936"/>
            <a:ext cx="2645587" cy="8869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523411" y="5349240"/>
            <a:ext cx="2316403" cy="218186"/>
          </a:xfrm>
          <a:prstGeom prst="rect">
            <a:avLst/>
          </a:prstGeom>
          <a:noFill/>
        </p:spPr>
        <p:txBody>
          <a:bodyPr wrap="square" anchor="t" lIns="0" rIns="0" tIns="0" bIns="0">
            <a:spAutoFit/>
          </a:bodyPr>
          <a:lstStyle/>
          <a:p>
            <a:pPr algn="l"/>
            <a:r>
              <a:rPr sz="1100" b="1" i="0">
                <a:solidFill>
                  <a:srgbClr val="1A0F5C"/>
                </a:solidFill>
                <a:latin typeface="Calibri"/>
              </a:rPr>
              <a:t>Is the stall growing?</a:t>
            </a:r>
          </a:p>
        </p:txBody>
      </p:sp>
      <p:sp>
        <p:nvSpPr>
          <p:cNvPr id="26" name="TextBox 25"/>
          <p:cNvSpPr txBox="1"/>
          <p:nvPr/>
        </p:nvSpPr>
        <p:spPr>
          <a:xfrm>
            <a:off x="3523411" y="5604002"/>
            <a:ext cx="2316403" cy="185166"/>
          </a:xfrm>
          <a:prstGeom prst="rect">
            <a:avLst/>
          </a:prstGeom>
          <a:noFill/>
        </p:spPr>
        <p:txBody>
          <a:bodyPr wrap="square" anchor="t" lIns="0" rIns="0" tIns="0" bIns="0">
            <a:spAutoFit/>
          </a:bodyPr>
          <a:lstStyle/>
          <a:p>
            <a:pPr algn="l"/>
            <a:r>
              <a:rPr sz="900" b="0" i="0">
                <a:solidFill>
                  <a:srgbClr val="6B6690"/>
                </a:solidFill>
                <a:latin typeface="Calibri"/>
              </a:rPr>
              <a:t>The same day, a year apart.</a:t>
            </a:r>
          </a:p>
        </p:txBody>
      </p:sp>
      <p:sp>
        <p:nvSpPr>
          <p:cNvPr id="27" name="TextBox 26"/>
          <p:cNvSpPr txBox="1"/>
          <p:nvPr/>
        </p:nvSpPr>
        <p:spPr>
          <a:xfrm>
            <a:off x="6187287" y="431596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YEAR</a:t>
            </a:r>
          </a:p>
        </p:txBody>
      </p:sp>
      <p:sp>
        <p:nvSpPr>
          <p:cNvPr id="28" name="Oval 27"/>
          <p:cNvSpPr/>
          <p:nvPr/>
        </p:nvSpPr>
        <p:spPr>
          <a:xfrm>
            <a:off x="7409497" y="47914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6187287" y="5202936"/>
            <a:ext cx="2645587" cy="8869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351879" y="5349240"/>
            <a:ext cx="2316403" cy="218186"/>
          </a:xfrm>
          <a:prstGeom prst="rect">
            <a:avLst/>
          </a:prstGeom>
          <a:noFill/>
        </p:spPr>
        <p:txBody>
          <a:bodyPr wrap="square" anchor="t" lIns="0" rIns="0" tIns="0" bIns="0">
            <a:spAutoFit/>
          </a:bodyPr>
          <a:lstStyle/>
          <a:p>
            <a:pPr algn="l"/>
            <a:r>
              <a:rPr sz="1100" b="1" i="0">
                <a:solidFill>
                  <a:srgbClr val="1A0F5C"/>
                </a:solidFill>
                <a:latin typeface="Calibri"/>
              </a:rPr>
              <a:t>What repeats yearly?</a:t>
            </a:r>
          </a:p>
        </p:txBody>
      </p:sp>
      <p:sp>
        <p:nvSpPr>
          <p:cNvPr id="31" name="TextBox 30"/>
          <p:cNvSpPr txBox="1"/>
          <p:nvPr/>
        </p:nvSpPr>
        <p:spPr>
          <a:xfrm>
            <a:off x="6351879" y="5604002"/>
            <a:ext cx="2316403" cy="185166"/>
          </a:xfrm>
          <a:prstGeom prst="rect">
            <a:avLst/>
          </a:prstGeom>
          <a:noFill/>
        </p:spPr>
        <p:txBody>
          <a:bodyPr wrap="square" anchor="t" lIns="0" rIns="0" tIns="0" bIns="0">
            <a:spAutoFit/>
          </a:bodyPr>
          <a:lstStyle/>
          <a:p>
            <a:pPr algn="l"/>
            <a:r>
              <a:rPr sz="900" b="0" i="0">
                <a:solidFill>
                  <a:srgbClr val="6B6690"/>
                </a:solidFill>
                <a:latin typeface="Calibri"/>
              </a:rPr>
              <a:t>Exams up, Diwali week down.</a:t>
            </a:r>
          </a:p>
        </p:txBody>
      </p:sp>
      <p:sp>
        <p:nvSpPr>
          <p:cNvPr id="32" name="TextBox 31"/>
          <p:cNvSpPr txBox="1"/>
          <p:nvPr/>
        </p:nvSpPr>
        <p:spPr>
          <a:xfrm>
            <a:off x="9015755" y="431596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REST</a:t>
            </a:r>
          </a:p>
        </p:txBody>
      </p:sp>
      <p:sp>
        <p:nvSpPr>
          <p:cNvPr id="33" name="Oval 32"/>
          <p:cNvSpPr/>
          <p:nvPr/>
        </p:nvSpPr>
        <p:spPr>
          <a:xfrm>
            <a:off x="10237965" y="479145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ounded Rectangle 33"/>
          <p:cNvSpPr/>
          <p:nvPr/>
        </p:nvSpPr>
        <p:spPr>
          <a:xfrm>
            <a:off x="9015755" y="5202936"/>
            <a:ext cx="2645587" cy="88696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180347" y="5349240"/>
            <a:ext cx="2316403" cy="218186"/>
          </a:xfrm>
          <a:prstGeom prst="rect">
            <a:avLst/>
          </a:prstGeom>
          <a:noFill/>
        </p:spPr>
        <p:txBody>
          <a:bodyPr wrap="square" anchor="t" lIns="0" rIns="0" tIns="0" bIns="0">
            <a:spAutoFit/>
          </a:bodyPr>
          <a:lstStyle/>
          <a:p>
            <a:pPr algn="l"/>
            <a:r>
              <a:rPr sz="1100" b="1" i="0">
                <a:solidFill>
                  <a:srgbClr val="FFFFFF"/>
                </a:solidFill>
                <a:latin typeface="Calibri"/>
              </a:rPr>
              <a:t>What is left over?</a:t>
            </a:r>
          </a:p>
        </p:txBody>
      </p:sp>
      <p:sp>
        <p:nvSpPr>
          <p:cNvPr id="36" name="TextBox 35"/>
          <p:cNvSpPr txBox="1"/>
          <p:nvPr/>
        </p:nvSpPr>
        <p:spPr>
          <a:xfrm>
            <a:off x="9180347" y="5604002"/>
            <a:ext cx="2316403" cy="185166"/>
          </a:xfrm>
          <a:prstGeom prst="rect">
            <a:avLst/>
          </a:prstGeom>
          <a:noFill/>
        </p:spPr>
        <p:txBody>
          <a:bodyPr wrap="square" anchor="t" lIns="0" rIns="0" tIns="0" bIns="0">
            <a:spAutoFit/>
          </a:bodyPr>
          <a:lstStyle/>
          <a:p>
            <a:pPr algn="l"/>
            <a:r>
              <a:rPr sz="900" b="0" i="0">
                <a:solidFill>
                  <a:srgbClr val="CFC9EE"/>
                </a:solidFill>
                <a:latin typeface="Calibri"/>
              </a:rPr>
              <a:t>A wobble of a few cups.</a:t>
            </a:r>
          </a:p>
        </p:txBody>
      </p:sp>
      <p:sp>
        <p:nvSpPr>
          <p:cNvPr id="37" name="Oval 3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series tell?</a:t>
            </a:r>
          </a:p>
        </p:txBody>
      </p:sp>
      <p:sp>
        <p:nvSpPr>
          <p:cNvPr id="39" name="Oval 3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41" name="Oval 40"/>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43" name="Oval 42"/>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5" name="Oval 44"/>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7" name="Oval 46"/>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65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Monday sold 100 and Sunday 60: up 67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stall sold 60 cups on Sunday 6 October 2024 and 100 on Monday 7 October (invented). What does that say?</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trending-up_0f9f0788148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Growing fast</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Monday is 67 percent above the day before.</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weekly beat</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Sundays always sell less, and nothing has grown.</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ircle-help_8ffc1bc6d67b.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Cannot tell</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Two days are too few to say anything.</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Growing on weekdays</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Weekdays rose while Sundays did not.</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series tell?</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37" name="Oval 3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39" name="Oval 3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1" name="Oval 4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3" name="Oval 42"/>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65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Sunday always dips; that is the weekly beat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stall's first fourteen days show?</a:t>
            </a:r>
          </a:p>
        </p:txBody>
      </p:sp>
      <p:pic>
        <p:nvPicPr>
          <p:cNvPr id="9" name="mermaid diagram" descr="C2_W04_D05_stall_first_fortnight_STUDENT.png"/>
          <p:cNvPicPr>
            <a:picLocks noChangeAspect="1"/>
          </p:cNvPicPr>
          <p:nvPr/>
        </p:nvPicPr>
        <p:blipFill>
          <a:blip r:embed="rId4"/>
          <a:stretch>
            <a:fillRect/>
          </a:stretch>
        </p:blipFill>
        <p:spPr>
          <a:xfrm>
            <a:off x="2346737" y="1664208"/>
            <a:ext cx="7498220" cy="3215639"/>
          </a:xfrm>
          <a:prstGeom prst="rect">
            <a:avLst/>
          </a:prstGeom>
        </p:spPr>
      </p:pic>
      <p:sp>
        <p:nvSpPr>
          <p:cNvPr id="10" name="picture caption"/>
          <p:cNvSpPr txBox="1"/>
          <p:nvPr/>
        </p:nvSpPr>
        <p:spPr>
          <a:xfrm>
            <a:off x="530352" y="4916423"/>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stall's first fourteen days, Sundays in red (invented numbers)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200" b="0" i="0">
                <a:solidFill>
                  <a:srgbClr val="1A1440"/>
                </a:solidFill>
                <a:latin typeface="Calibri"/>
              </a:rPr>
              <a:t>The answer is b. Both Sundays sold about 60 (60 and 61), every other day about 100. A repeat on a fixed beat is a </a:t>
            </a:r>
            <a:r>
              <a:rPr sz="1200" b="1" i="0">
                <a:solidFill>
                  <a:srgbClr val="1A1440"/>
                </a:solidFill>
                <a:latin typeface="Calibri"/>
              </a:rPr>
              <a:t>season</a:t>
            </a:r>
            <a:r>
              <a:rPr sz="1200" b="0" i="0">
                <a:solidFill>
                  <a:srgbClr val="1A1440"/>
                </a:solidFill>
                <a:latin typeface="Calibri"/>
              </a:rPr>
              <a:t>, and its </a:t>
            </a:r>
            <a:r>
              <a:rPr sz="1200" b="1" i="0">
                <a:solidFill>
                  <a:srgbClr val="1A1440"/>
                </a:solidFill>
                <a:latin typeface="Calibri"/>
              </a:rPr>
              <a:t>length</a:t>
            </a:r>
            <a:r>
              <a:rPr sz="1200" b="0" i="0">
                <a:solidFill>
                  <a:srgbClr val="1A1440"/>
                </a:solidFill>
                <a:latin typeface="Calibri"/>
              </a:rPr>
              <a:t> is the number of periods before it repeats: 7 days here, 52 weeks in Flipkart's year. </a:t>
            </a:r>
            <a:r>
              <a:rPr sz="1200" b="1" i="0">
                <a:solidFill>
                  <a:srgbClr val="1A1440"/>
                </a:solidFill>
                <a:latin typeface="Calibri"/>
              </a:rPr>
              <a:t>The plausible wrong number:</a:t>
            </a:r>
            <a:r>
              <a:rPr sz="1200" b="0" i="0">
                <a:solidFill>
                  <a:srgbClr val="1A1440"/>
                </a:solidFill>
                <a:latin typeface="Calibri"/>
              </a:rPr>
              <a:t> plus 67 percent, Monday over Sunday. </a:t>
            </a:r>
            <a:r>
              <a:rPr sz="1200" b="1" i="0">
                <a:solidFill>
                  <a:srgbClr val="1A1440"/>
                </a:solidFill>
                <a:latin typeface="Calibri"/>
              </a:rPr>
              <a:t>The decision it misleads:</a:t>
            </a:r>
            <a:r>
              <a:rPr sz="1200" b="0" i="0">
                <a:solidFill>
                  <a:srgbClr val="1A1440"/>
                </a:solidFill>
                <a:latin typeface="Calibri"/>
              </a:rPr>
              <a:t> two-thirds more milk, which sours. </a:t>
            </a:r>
            <a:r>
              <a:rPr sz="1200" b="1" i="0">
                <a:solidFill>
                  <a:srgbClr val="1A1440"/>
                </a:solidFill>
                <a:latin typeface="Calibri"/>
              </a:rPr>
              <a:t>The check:</a:t>
            </a:r>
            <a:r>
              <a:rPr sz="1200" b="0" i="0">
                <a:solidFill>
                  <a:srgbClr val="1A1440"/>
                </a:solidFill>
                <a:latin typeface="Calibri"/>
              </a:rPr>
              <a:t> Monday against the Monday before, 100 against 100. </a:t>
            </a:r>
            <a:r>
              <a:rPr sz="1200" b="1" i="0">
                <a:solidFill>
                  <a:srgbClr val="1A1440"/>
                </a:solidFill>
                <a:latin typeface="Calibri"/>
              </a:rPr>
              <a:t>The fix:</a:t>
            </a:r>
            <a:r>
              <a:rPr sz="1200" b="0" i="0">
                <a:solidFill>
                  <a:srgbClr val="1A1440"/>
                </a:solidFill>
                <a:latin typeface="Calibri"/>
              </a:rPr>
              <a:t> compare the same point a season apart, Monday against a Monday.</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65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Read growth a year apart: up 10 percent a year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growth read without the weekly beat fooling you?</a:t>
            </a:r>
          </a:p>
        </p:txBody>
      </p:sp>
      <p:graphicFrame>
        <p:nvGraphicFramePr>
          <p:cNvPr id="9" name="Table 8"/>
          <p:cNvGraphicFramePr>
            <a:graphicFrameLocks noGrp="1"/>
          </p:cNvGraphicFramePr>
          <p:nvPr/>
        </p:nvGraphicFramePr>
        <p:xfrm>
          <a:off x="530352" y="1956816"/>
          <a:ext cx="11130991" cy="1341120"/>
        </p:xfrm>
        <a:graphic>
          <a:graphicData uri="http://schemas.openxmlformats.org/drawingml/2006/table">
            <a:tbl>
              <a:tblPr firstRow="0" bandRow="0">
                <a:tableStyleId>{2D5ABB26-0587-4C30-8999-92F81FD0307C}</a:tableStyleId>
              </a:tblPr>
              <a:tblGrid>
                <a:gridCol w="8387791"/>
                <a:gridCol w="914400"/>
                <a:gridCol w="914400"/>
                <a:gridCol w="914400"/>
              </a:tblGrid>
              <a:tr h="335280">
                <a:tc>
                  <a:txBody>
                    <a:bodyPr/>
                    <a:lstStyle/>
                    <a:p>
                      <a:r>
                        <a:rPr sz="1250" b="1" i="0">
                          <a:solidFill>
                            <a:srgbClr val="FFFFFF"/>
                          </a:solidFill>
                          <a:latin typeface="Calibri"/>
                        </a:rPr>
                        <a:t>The comparison, 52 weeks apart</a:t>
                      </a:r>
                    </a:p>
                  </a:txBody>
                  <a:tcPr marL="101600" marR="101600" marT="38100" marB="38100" anchor="ctr">
                    <a:solidFill>
                      <a:srgbClr val="1A0F5C"/>
                    </a:solidFill>
                  </a:tcPr>
                </a:tc>
                <a:tc>
                  <a:txBody>
                    <a:bodyPr/>
                    <a:lstStyle/>
                    <a:p>
                      <a:r>
                        <a:rPr sz="1250" b="1" i="0">
                          <a:solidFill>
                            <a:srgbClr val="FFFFFF"/>
                          </a:solidFill>
                          <a:latin typeface="Calibri"/>
                        </a:rPr>
                        <a:t>2024</a:t>
                      </a:r>
                    </a:p>
                  </a:txBody>
                  <a:tcPr marL="101600" marR="101600" marT="38100" marB="38100" anchor="ctr">
                    <a:solidFill>
                      <a:srgbClr val="1A0F5C"/>
                    </a:solidFill>
                  </a:tcPr>
                </a:tc>
                <a:tc>
                  <a:txBody>
                    <a:bodyPr/>
                    <a:lstStyle/>
                    <a:p>
                      <a:r>
                        <a:rPr sz="1250" b="1" i="0">
                          <a:solidFill>
                            <a:srgbClr val="FFFFFF"/>
                          </a:solidFill>
                          <a:latin typeface="Calibri"/>
                        </a:rPr>
                        <a:t>2025</a:t>
                      </a:r>
                    </a:p>
                  </a:txBody>
                  <a:tcPr marL="101600" marR="101600" marT="38100" marB="38100" anchor="ctr">
                    <a:solidFill>
                      <a:srgbClr val="1A0F5C"/>
                    </a:solidFill>
                  </a:tcPr>
                </a:tc>
                <a:tc>
                  <a:txBody>
                    <a:bodyPr/>
                    <a:lstStyle/>
                    <a:p>
                      <a:r>
                        <a:rPr sz="1250" b="1" i="0">
                          <a:solidFill>
                            <a:srgbClr val="FFFFFF"/>
                          </a:solidFill>
                          <a:latin typeface="Calibri"/>
                        </a:rPr>
                        <a:t>Ratio</a:t>
                      </a:r>
                    </a:p>
                  </a:txBody>
                  <a:tcPr marL="101600" marR="101600" marT="38100" marB="38100" anchor="ctr">
                    <a:solidFill>
                      <a:srgbClr val="1A0F5C"/>
                    </a:solidFill>
                  </a:tcPr>
                </a:tc>
              </a:tr>
              <a:tr h="335280">
                <a:tc>
                  <a:txBody>
                    <a:bodyPr/>
                    <a:lstStyle/>
                    <a:p>
                      <a:r>
                        <a:rPr sz="1200" b="0" i="0">
                          <a:solidFill>
                            <a:srgbClr val="1A1440"/>
                          </a:solidFill>
                          <a:latin typeface="Calibri"/>
                        </a:rPr>
                        <a:t>Sunday 6 October 2024 against Sunday 5 October 2025</a:t>
                      </a:r>
                    </a:p>
                  </a:txBody>
                  <a:tcPr marL="101600" marR="101600" marT="38100" marB="38100" anchor="ctr">
                    <a:solidFill>
                      <a:srgbClr val="FFFFFF"/>
                    </a:solidFill>
                  </a:tcPr>
                </a:tc>
                <a:tc>
                  <a:txBody>
                    <a:bodyPr/>
                    <a:lstStyle/>
                    <a:p>
                      <a:r>
                        <a:rPr sz="1200" b="0" i="0">
                          <a:solidFill>
                            <a:srgbClr val="1A1440"/>
                          </a:solidFill>
                          <a:latin typeface="Calibri"/>
                        </a:rPr>
                        <a:t>60</a:t>
                      </a:r>
                    </a:p>
                  </a:txBody>
                  <a:tcPr marL="101600" marR="101600" marT="38100" marB="38100" anchor="ctr">
                    <a:solidFill>
                      <a:srgbClr val="FFFFFF"/>
                    </a:solidFill>
                  </a:tcPr>
                </a:tc>
                <a:tc>
                  <a:txBody>
                    <a:bodyPr/>
                    <a:lstStyle/>
                    <a:p>
                      <a:r>
                        <a:rPr sz="1200" b="0" i="0">
                          <a:solidFill>
                            <a:srgbClr val="1A1440"/>
                          </a:solidFill>
                          <a:latin typeface="Calibri"/>
                        </a:rPr>
                        <a:t>66</a:t>
                      </a:r>
                    </a:p>
                  </a:txBody>
                  <a:tcPr marL="101600" marR="101600" marT="38100" marB="38100" anchor="ctr">
                    <a:solidFill>
                      <a:srgbClr val="FFFFFF"/>
                    </a:solidFill>
                  </a:tcPr>
                </a:tc>
                <a:tc>
                  <a:txBody>
                    <a:bodyPr/>
                    <a:lstStyle/>
                    <a:p>
                      <a:r>
                        <a:rPr sz="1200" b="0" i="0">
                          <a:solidFill>
                            <a:srgbClr val="1A1440"/>
                          </a:solidFill>
                          <a:latin typeface="Calibri"/>
                        </a:rPr>
                        <a:t>1.10</a:t>
                      </a:r>
                    </a:p>
                  </a:txBody>
                  <a:tcPr marL="101600" marR="101600" marT="38100" marB="38100" anchor="ctr">
                    <a:solidFill>
                      <a:srgbClr val="FFFFFF"/>
                    </a:solidFill>
                  </a:tcPr>
                </a:tc>
              </a:tr>
              <a:tr h="335280">
                <a:tc>
                  <a:txBody>
                    <a:bodyPr/>
                    <a:lstStyle/>
                    <a:p>
                      <a:r>
                        <a:rPr sz="1200" b="0" i="0">
                          <a:solidFill>
                            <a:srgbClr val="1A1440"/>
                          </a:solidFill>
                          <a:latin typeface="Calibri"/>
                        </a:rPr>
                        <a:t>Monday 7 October 2024 against Monday 6 October 2025</a:t>
                      </a:r>
                    </a:p>
                  </a:txBody>
                  <a:tcPr marL="101600" marR="101600" marT="38100" marB="38100" anchor="ctr">
                    <a:solidFill>
                      <a:srgbClr val="F4F2FA"/>
                    </a:solidFill>
                  </a:tcPr>
                </a:tc>
                <a:tc>
                  <a:txBody>
                    <a:bodyPr/>
                    <a:lstStyle/>
                    <a:p>
                      <a:r>
                        <a:rPr sz="1200" b="0" i="0">
                          <a:solidFill>
                            <a:srgbClr val="1A1440"/>
                          </a:solidFill>
                          <a:latin typeface="Calibri"/>
                        </a:rPr>
                        <a:t>100</a:t>
                      </a:r>
                    </a:p>
                  </a:txBody>
                  <a:tcPr marL="101600" marR="101600" marT="38100" marB="38100" anchor="ctr">
                    <a:solidFill>
                      <a:srgbClr val="F4F2FA"/>
                    </a:solidFill>
                  </a:tcPr>
                </a:tc>
                <a:tc>
                  <a:txBody>
                    <a:bodyPr/>
                    <a:lstStyle/>
                    <a:p>
                      <a:r>
                        <a:rPr sz="1200" b="0" i="0">
                          <a:solidFill>
                            <a:srgbClr val="1A1440"/>
                          </a:solidFill>
                          <a:latin typeface="Calibri"/>
                        </a:rPr>
                        <a:t>110</a:t>
                      </a:r>
                    </a:p>
                  </a:txBody>
                  <a:tcPr marL="101600" marR="101600" marT="38100" marB="38100" anchor="ctr">
                    <a:solidFill>
                      <a:srgbClr val="F4F2FA"/>
                    </a:solidFill>
                  </a:tcPr>
                </a:tc>
                <a:tc>
                  <a:txBody>
                    <a:bodyPr/>
                    <a:lstStyle/>
                    <a:p>
                      <a:r>
                        <a:rPr sz="1200" b="0" i="0">
                          <a:solidFill>
                            <a:srgbClr val="1A1440"/>
                          </a:solidFill>
                          <a:latin typeface="Calibri"/>
                        </a:rPr>
                        <a:t>1.10</a:t>
                      </a:r>
                    </a:p>
                  </a:txBody>
                  <a:tcPr marL="101600" marR="101600" marT="38100" marB="38100" anchor="ctr">
                    <a:solidFill>
                      <a:srgbClr val="F4F2FA"/>
                    </a:solidFill>
                  </a:tcPr>
                </a:tc>
              </a:tr>
              <a:tr h="335280">
                <a:tc>
                  <a:txBody>
                    <a:bodyPr/>
                    <a:lstStyle/>
                    <a:p>
                      <a:r>
                        <a:rPr sz="1200" b="0" i="0">
                          <a:solidFill>
                            <a:srgbClr val="1A1440"/>
                          </a:solidFill>
                          <a:latin typeface="Calibri"/>
                        </a:rPr>
                        <a:t>The fourteen days from 30 September 2024, against the fourteen from 29 September 2025</a:t>
                      </a:r>
                    </a:p>
                  </a:txBody>
                  <a:tcPr marL="101600" marR="101600" marT="38100" marB="38100" anchor="ctr">
                    <a:solidFill>
                      <a:srgbClr val="FFFFFF"/>
                    </a:solidFill>
                  </a:tcPr>
                </a:tc>
                <a:tc>
                  <a:txBody>
                    <a:bodyPr/>
                    <a:lstStyle/>
                    <a:p>
                      <a:r>
                        <a:rPr sz="1200" b="0" i="0">
                          <a:solidFill>
                            <a:srgbClr val="1A1440"/>
                          </a:solidFill>
                          <a:latin typeface="Calibri"/>
                        </a:rPr>
                        <a:t>1,315</a:t>
                      </a:r>
                    </a:p>
                  </a:txBody>
                  <a:tcPr marL="101600" marR="101600" marT="38100" marB="38100" anchor="ctr">
                    <a:solidFill>
                      <a:srgbClr val="FFFFFF"/>
                    </a:solidFill>
                  </a:tcPr>
                </a:tc>
                <a:tc>
                  <a:txBody>
                    <a:bodyPr/>
                    <a:lstStyle/>
                    <a:p>
                      <a:r>
                        <a:rPr sz="1200" b="0" i="0">
                          <a:solidFill>
                            <a:srgbClr val="1A1440"/>
                          </a:solidFill>
                          <a:latin typeface="Calibri"/>
                        </a:rPr>
                        <a:t>1,450</a:t>
                      </a:r>
                    </a:p>
                  </a:txBody>
                  <a:tcPr marL="101600" marR="101600" marT="38100" marB="38100" anchor="ctr">
                    <a:solidFill>
                      <a:srgbClr val="FFFFFF"/>
                    </a:solidFill>
                  </a:tcPr>
                </a:tc>
                <a:tc>
                  <a:txBody>
                    <a:bodyPr/>
                    <a:lstStyle/>
                    <a:p>
                      <a:r>
                        <a:rPr sz="1200" b="0" i="0">
                          <a:solidFill>
                            <a:srgbClr val="1A1440"/>
                          </a:solidFill>
                          <a:latin typeface="Calibri"/>
                        </a:rPr>
                        <a:t>1.10</a:t>
                      </a:r>
                    </a:p>
                  </a:txBody>
                  <a:tcPr marL="101600" marR="101600" marT="38100" marB="38100" anchor="ctr">
                    <a:solidFill>
                      <a:srgbClr val="FFFFFF"/>
                    </a:solidFill>
                  </a:tcPr>
                </a:tc>
              </a:tr>
            </a:tbl>
          </a:graphicData>
        </a:graphic>
      </p:graphicFrame>
      <p:sp>
        <p:nvSpPr>
          <p:cNvPr id="10" name="TextBox 9"/>
          <p:cNvSpPr txBox="1"/>
          <p:nvPr/>
        </p:nvSpPr>
        <p:spPr>
          <a:xfrm>
            <a:off x="530352" y="3553968"/>
            <a:ext cx="11130991"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Count it aloud, on the stall's invented cups: 110 over 100 is 1.10, up 10 percent in a year; 66 over 60 is 1.10 again; the two fortnights give 1,450 over 1,315, about 1.10. The </a:t>
            </a:r>
            <a:r>
              <a:rPr sz="1600" b="1" i="0">
                <a:solidFill>
                  <a:srgbClr val="1A1440"/>
                </a:solidFill>
                <a:latin typeface="Calibri"/>
              </a:rPr>
              <a:t>trend</a:t>
            </a:r>
            <a:r>
              <a:rPr sz="1600" b="0" i="0">
                <a:solidFill>
                  <a:srgbClr val="1A1440"/>
                </a:solidFill>
                <a:latin typeface="Calibri"/>
              </a:rPr>
              <a:t> is the slow climb. A week apart shows only a week's change, too small to see; a year apart, 364 days, shows the year's growth and clears the yearly seasons too. Sunday's share of an ordinary day stays 0.6 in both years, 60 over 100 and 66 over 110, while the level grows.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65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Seasons can peak or dip; the trend climbs beneath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whole year look like, and what is a series made of?</a:t>
            </a:r>
          </a:p>
        </p:txBody>
      </p:sp>
      <p:pic>
        <p:nvPicPr>
          <p:cNvPr id="9" name="mermaid diagram" descr="C2_W04_D05_stall_two_years_STUDENT.png"/>
          <p:cNvPicPr>
            <a:picLocks noChangeAspect="1"/>
          </p:cNvPicPr>
          <p:nvPr/>
        </p:nvPicPr>
        <p:blipFill>
          <a:blip r:embed="rId4"/>
          <a:stretch>
            <a:fillRect/>
          </a:stretch>
        </p:blipFill>
        <p:spPr>
          <a:xfrm>
            <a:off x="2436562" y="1664208"/>
            <a:ext cx="7318570" cy="3094735"/>
          </a:xfrm>
          <a:prstGeom prst="rect">
            <a:avLst/>
          </a:prstGeom>
        </p:spPr>
      </p:pic>
      <p:sp>
        <p:nvSpPr>
          <p:cNvPr id="10" name="picture caption"/>
          <p:cNvSpPr txBox="1"/>
          <p:nvPr/>
        </p:nvSpPr>
        <p:spPr>
          <a:xfrm>
            <a:off x="530352" y="4795520"/>
            <a:ext cx="11130991" cy="316992"/>
          </a:xfrm>
          <a:prstGeom prst="rect">
            <a:avLst/>
          </a:prstGeom>
          <a:noFill/>
        </p:spPr>
        <p:txBody>
          <a:bodyPr wrap="square" anchor="t" lIns="0" rIns="0" tIns="0" bIns="0">
            <a:spAutoFit/>
          </a:bodyPr>
          <a:lstStyle/>
          <a:p>
            <a:pPr algn="ctr"/>
            <a:r>
              <a:rPr sz="1200" b="0" i="0">
                <a:solidFill>
                  <a:srgbClr val="6B6690"/>
                </a:solidFill>
                <a:latin typeface="Calibri"/>
              </a:rPr>
              <a:t>Two years of the stall's weeks laid over each other (invented numbers)</a:t>
            </a:r>
          </a:p>
        </p:txBody>
      </p:sp>
      <p:sp>
        <p:nvSpPr>
          <p:cNvPr id="11" name="TextBox 10"/>
          <p:cNvSpPr txBox="1"/>
          <p:nvPr/>
        </p:nvSpPr>
        <p:spPr>
          <a:xfrm>
            <a:off x="530352" y="5121656"/>
            <a:ext cx="11130991" cy="1077976"/>
          </a:xfrm>
          <a:prstGeom prst="rect">
            <a:avLst/>
          </a:prstGeom>
          <a:noFill/>
        </p:spPr>
        <p:txBody>
          <a:bodyPr wrap="square" anchor="t" lIns="0" rIns="0" tIns="0" bIns="0">
            <a:spAutoFit/>
          </a:bodyPr>
          <a:lstStyle/>
          <a:p>
            <a:r>
              <a:rPr sz="1100" b="0" i="0">
                <a:solidFill>
                  <a:srgbClr val="1A1440"/>
                </a:solidFill>
                <a:latin typeface="Calibri"/>
              </a:rPr>
              <a:t>The exam fortnight that closes each semester lifts the stall to about 1.4 times an ordinary fortnight in both years (1.39 and 1.41), and Diwali week drops it to about 0.4 (0.40 both years) as the hostel empties, a week earlier in 2025. Named last: a series is built from a </a:t>
            </a:r>
            <a:r>
              <a:rPr sz="1100" b="1" i="0">
                <a:solidFill>
                  <a:srgbClr val="1A1440"/>
                </a:solidFill>
                <a:latin typeface="Calibri"/>
              </a:rPr>
              <a:t>trend</a:t>
            </a:r>
            <a:r>
              <a:rPr sz="1100" b="0" i="0">
                <a:solidFill>
                  <a:srgbClr val="1A1440"/>
                </a:solidFill>
                <a:latin typeface="Calibri"/>
              </a:rPr>
              <a:t>, its </a:t>
            </a:r>
            <a:r>
              <a:rPr sz="1100" b="1" i="0">
                <a:solidFill>
                  <a:srgbClr val="1A1440"/>
                </a:solidFill>
                <a:latin typeface="Calibri"/>
              </a:rPr>
              <a:t>seasons</a:t>
            </a:r>
            <a:r>
              <a:rPr sz="1100" b="0" i="0">
                <a:solidFill>
                  <a:srgbClr val="1A1440"/>
                </a:solidFill>
                <a:latin typeface="Calibri"/>
              </a:rPr>
              <a:t> and a </a:t>
            </a:r>
            <a:r>
              <a:rPr sz="1100" b="1" i="0">
                <a:solidFill>
                  <a:srgbClr val="1A1440"/>
                </a:solidFill>
                <a:latin typeface="Calibri"/>
              </a:rPr>
              <a:t>remainder</a:t>
            </a:r>
            <a:r>
              <a:rPr sz="1100" b="0" i="0">
                <a:solidFill>
                  <a:srgbClr val="1A1440"/>
                </a:solidFill>
                <a:latin typeface="Calibri"/>
              </a:rPr>
              <a:t>, the wobble left over. Forecasting: Principles and Practice adds them, y = T + S + R, when the seasons keep their size as the level grows, and multiplies them, y = T x S x R, when they grow with it, as the stall's do. Read in cups, a yearly copy's misses hold the remainder of both years: a typical size, the standard deviation, of about 4.7 cups. A </a:t>
            </a:r>
            <a:r>
              <a:rPr sz="1100" b="1" i="0">
                <a:solidFill>
                  <a:srgbClr val="1A1440"/>
                </a:solidFill>
                <a:latin typeface="Calibri"/>
              </a:rPr>
              <a:t>cycle</a:t>
            </a:r>
            <a:r>
              <a:rPr sz="1100" b="0" i="0">
                <a:solidFill>
                  <a:srgbClr val="1A1440"/>
                </a:solidFill>
                <a:latin typeface="Calibri"/>
              </a:rPr>
              <a:t>, a rise and fall with no fixed length, needs more than two years to see.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65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same reading in four lines of pandas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code reproduce the count?</a:t>
            </a:r>
          </a:p>
        </p:txBody>
      </p:sp>
      <p:sp>
        <p:nvSpPr>
          <p:cNvPr id="9" name="Rounded Rectangle 8"/>
          <p:cNvSpPr/>
          <p:nvPr/>
        </p:nvSpPr>
        <p:spPr>
          <a:xfrm>
            <a:off x="530352" y="1956816"/>
            <a:ext cx="11130991"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822195"/>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cups = stall.set_index("date").cups        # one number a day, in order</a:t>
            </a:r>
          </a:p>
          <a:p>
            <a:pPr>
              <a:spcAft>
                <a:spcPts val="200"/>
              </a:spcAft>
            </a:pPr>
            <a:r>
              <a:rPr sz="1400" b="0" i="0">
                <a:solidFill>
                  <a:srgbClr val="A9A3D2"/>
                </a:solidFill>
                <a:latin typeface="Consolas"/>
              </a:rPr>
              <a:t># the weekly beat: Sunday over Monday, 60 / 100 = 0.6</a:t>
            </a:r>
          </a:p>
          <a:p>
            <a:pPr>
              <a:spcAft>
                <a:spcPts val="200"/>
              </a:spcAft>
            </a:pPr>
            <a:r>
              <a:rPr sz="1400" b="0" i="0">
                <a:solidFill>
                  <a:srgbClr val="E4E1F1"/>
                </a:solidFill>
                <a:latin typeface="Consolas"/>
              </a:rPr>
              <a:t>share = cups["2024-10-06"] / cups["2024-10-07"]</a:t>
            </a:r>
          </a:p>
          <a:p>
            <a:pPr>
              <a:spcAft>
                <a:spcPts val="200"/>
              </a:spcAft>
            </a:pPr>
            <a:r>
              <a:rPr sz="1400" b="0" i="0">
                <a:solidFill>
                  <a:srgbClr val="A9A3D2"/>
                </a:solidFill>
                <a:latin typeface="Consolas"/>
              </a:rPr>
              <a:t># growth a season apart: 110 / 100 - 1 = 10 percent</a:t>
            </a:r>
          </a:p>
          <a:p>
            <a:pPr>
              <a:spcAft>
                <a:spcPts val="200"/>
              </a:spcAft>
            </a:pPr>
            <a:r>
              <a:rPr sz="1400" b="0" i="0">
                <a:solidFill>
                  <a:srgbClr val="E4E1F1"/>
                </a:solidFill>
                <a:latin typeface="Consolas"/>
              </a:rPr>
              <a:t>growth = cups["2025-10-06"] / cups["2024-10-07"] - 1</a:t>
            </a:r>
          </a:p>
          <a:p>
            <a:pPr>
              <a:spcAft>
                <a:spcPts val="200"/>
              </a:spcAft>
            </a:pPr>
            <a:r>
              <a:rPr sz="1400" b="0" i="0">
                <a:solidFill>
                  <a:srgbClr val="A9A3D2"/>
                </a:solidFill>
                <a:latin typeface="Consolas"/>
              </a:rPr>
              <a:t># every day against the same weekday 364 days back</a:t>
            </a:r>
          </a:p>
          <a:p>
            <a:pPr>
              <a:spcAft>
                <a:spcPts val="200"/>
              </a:spcAft>
            </a:pPr>
            <a:r>
              <a:rPr sz="1400" b="0" i="0">
                <a:solidFill>
                  <a:srgbClr val="E4E1F1"/>
                </a:solidFill>
                <a:latin typeface="Consolas"/>
              </a:rPr>
              <a:t>yearly = cups / cups.shift(364)</a:t>
            </a:r>
          </a:p>
        </p:txBody>
      </p:sp>
      <p:sp>
        <p:nvSpPr>
          <p:cNvPr id="14" name="TextBox 13"/>
          <p:cNvSpPr txBox="1"/>
          <p:nvPr/>
        </p:nvSpPr>
        <p:spPr>
          <a:xfrm>
            <a:off x="530352" y="4345939"/>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shift(364) slides the whole series down 364 rows, so each day's row holds the same weekday 52 weeks earlier; Week 2 Wednesday's LAG did the same in SQL. Notebook 01 runs these lines on all 730 of the stall's invented days and draws each picture.</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series tell?</a:t>
            </a:r>
          </a:p>
        </p:txBody>
      </p:sp>
      <p:sp>
        <p:nvSpPr>
          <p:cNvPr id="17" name="Oval 1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21" name="Oval 2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3" name="Oval 22"/>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5" name="Oval 24"/>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12 / 65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reading a series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chapter leave, and what does an interviewer hear?</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368808"/>
          </a:xfrm>
          <a:prstGeom prst="rect">
            <a:avLst/>
          </a:prstGeom>
          <a:noFill/>
        </p:spPr>
        <p:txBody>
          <a:bodyPr wrap="square" anchor="t" lIns="0" rIns="0" tIns="0" bIns="0">
            <a:spAutoFit/>
          </a:bodyPr>
          <a:lstStyle/>
          <a:p>
            <a:r>
              <a:rPr sz="1500" b="0" i="0">
                <a:solidFill>
                  <a:srgbClr val="1A1440"/>
                </a:solidFill>
                <a:latin typeface="Calibri"/>
              </a:rPr>
              <a:t>Read the series' shape before choosing any rule that copies it.</a:t>
            </a:r>
          </a:p>
        </p:txBody>
      </p:sp>
      <p:sp>
        <p:nvSpPr>
          <p:cNvPr id="11" name="TextBox 10"/>
          <p:cNvSpPr txBox="1"/>
          <p:nvPr/>
        </p:nvSpPr>
        <p:spPr>
          <a:xfrm>
            <a:off x="530352" y="236220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398776"/>
            <a:ext cx="10564063" cy="368808"/>
          </a:xfrm>
          <a:prstGeom prst="rect">
            <a:avLst/>
          </a:prstGeom>
          <a:noFill/>
        </p:spPr>
        <p:txBody>
          <a:bodyPr wrap="square" anchor="t" lIns="0" rIns="0" tIns="0" bIns="0">
            <a:spAutoFit/>
          </a:bodyPr>
          <a:lstStyle/>
          <a:p>
            <a:r>
              <a:rPr sz="1500" b="0" i="0">
                <a:solidFill>
                  <a:srgbClr val="1A1440"/>
                </a:solidFill>
                <a:latin typeface="Calibri"/>
              </a:rPr>
              <a:t>A season repeats on a fixed beat, up or down, so count its length before using it.</a:t>
            </a:r>
          </a:p>
        </p:txBody>
      </p:sp>
      <p:sp>
        <p:nvSpPr>
          <p:cNvPr id="13" name="TextBox 12"/>
          <p:cNvSpPr txBox="1"/>
          <p:nvPr/>
        </p:nvSpPr>
        <p:spPr>
          <a:xfrm>
            <a:off x="530352" y="280416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840736"/>
            <a:ext cx="10564063" cy="627888"/>
          </a:xfrm>
          <a:prstGeom prst="rect">
            <a:avLst/>
          </a:prstGeom>
          <a:noFill/>
        </p:spPr>
        <p:txBody>
          <a:bodyPr wrap="square" anchor="t" lIns="0" rIns="0" tIns="0" bIns="0">
            <a:spAutoFit/>
          </a:bodyPr>
          <a:lstStyle/>
          <a:p>
            <a:r>
              <a:rPr sz="1500" b="0" i="0">
                <a:solidFill>
                  <a:srgbClr val="1A1440"/>
                </a:solidFill>
                <a:latin typeface="Calibri"/>
              </a:rPr>
              <a:t>Read growth at the same point a season apart, never neighbours: a week apart shows a week's change, a year apart the year's growth.</a:t>
            </a:r>
          </a:p>
        </p:txBody>
      </p:sp>
      <p:sp>
        <p:nvSpPr>
          <p:cNvPr id="15" name="TextBox 14"/>
          <p:cNvSpPr txBox="1"/>
          <p:nvPr/>
        </p:nvSpPr>
        <p:spPr>
          <a:xfrm>
            <a:off x="530352" y="35052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541776"/>
            <a:ext cx="10564063" cy="368808"/>
          </a:xfrm>
          <a:prstGeom prst="rect">
            <a:avLst/>
          </a:prstGeom>
          <a:noFill/>
        </p:spPr>
        <p:txBody>
          <a:bodyPr wrap="square" anchor="t" lIns="0" rIns="0" tIns="0" bIns="0">
            <a:spAutoFit/>
          </a:bodyPr>
          <a:lstStyle/>
          <a:p>
            <a:r>
              <a:rPr sz="1500" b="0" i="0">
                <a:solidFill>
                  <a:srgbClr val="1A1440"/>
                </a:solidFill>
                <a:latin typeface="Calibri"/>
              </a:rPr>
              <a:t>What is left after the trend and the seasons is the remainder, and a cycle needs years to see.</a:t>
            </a:r>
          </a:p>
        </p:txBody>
      </p:sp>
      <p:sp>
        <p:nvSpPr>
          <p:cNvPr id="17" name="Rounded Rectangle 16"/>
          <p:cNvSpPr/>
          <p:nvPr/>
        </p:nvSpPr>
        <p:spPr>
          <a:xfrm>
            <a:off x="530352" y="409346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42569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535424"/>
            <a:ext cx="237744" cy="237744"/>
          </a:xfrm>
          <a:prstGeom prst="rect">
            <a:avLst/>
          </a:prstGeom>
        </p:spPr>
      </p:pic>
      <p:sp>
        <p:nvSpPr>
          <p:cNvPr id="20" name="TextBox 19"/>
          <p:cNvSpPr txBox="1"/>
          <p:nvPr/>
        </p:nvSpPr>
        <p:spPr>
          <a:xfrm>
            <a:off x="1399031" y="42397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459224"/>
            <a:ext cx="9987991" cy="682752"/>
          </a:xfrm>
          <a:prstGeom prst="rect">
            <a:avLst/>
          </a:prstGeom>
          <a:noFill/>
        </p:spPr>
        <p:txBody>
          <a:bodyPr wrap="square" anchor="t" lIns="0" rIns="0" tIns="0" bIns="0">
            <a:spAutoFit/>
          </a:bodyPr>
          <a:lstStyle/>
          <a:p>
            <a:r>
              <a:rPr sz="1500" b="0" i="0">
                <a:solidFill>
                  <a:srgbClr val="1A1440"/>
                </a:solidFill>
                <a:latin typeface="Calibri"/>
              </a:rPr>
              <a:t>"Before any model I plot the series and read its trend, its seasons with their lengths, and what is left, because the baseline I must beat depends on them."</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series tell?</a:t>
            </a:r>
          </a:p>
        </p:txBody>
      </p:sp>
      <p:sp>
        <p:nvSpPr>
          <p:cNvPr id="24" name="Oval 2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26" name="Oval 2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28" name="Oval 2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30" name="Oval 2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32" name="Oval 3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13 / 65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reading feeds chapter 2's rules and chapter 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idea come from, and where does it go next?</a:t>
            </a:r>
          </a:p>
        </p:txBody>
      </p:sp>
      <p:pic>
        <p:nvPicPr>
          <p:cNvPr id="9" name="mermaid diagram" descr="5b5b6929bb22536c.png"/>
          <p:cNvPicPr>
            <a:picLocks noChangeAspect="1"/>
          </p:cNvPicPr>
          <p:nvPr/>
        </p:nvPicPr>
        <p:blipFill>
          <a:blip r:embed="rId5"/>
          <a:stretch>
            <a:fillRect/>
          </a:stretch>
        </p:blipFill>
        <p:spPr>
          <a:xfrm>
            <a:off x="3029789" y="1664208"/>
            <a:ext cx="6132115" cy="353263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At Flipkart's Lucknow centre the same reading finds a level near 210,000 shipments a week, growth of about 4 percent a year, a festive peak each year and a smaller one in the August sale's week, and a wobble of a few percent.</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14 / 65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Naive, seasonal naive and drift baselines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When does a copy fail?</a:t>
            </a:r>
          </a:p>
        </p:txBody>
      </p:sp>
      <p:sp>
        <p:nvSpPr>
          <p:cNvPr id="10" name="TextBox 9"/>
          <p:cNvSpPr txBox="1"/>
          <p:nvPr/>
        </p:nvSpPr>
        <p:spPr>
          <a:xfrm>
            <a:off x="731519" y="3931920"/>
            <a:ext cx="9509760" cy="284226"/>
          </a:xfrm>
          <a:prstGeom prst="rect">
            <a:avLst/>
          </a:prstGeom>
          <a:noFill/>
        </p:spPr>
        <p:txBody>
          <a:bodyPr wrap="square" anchor="t" lIns="0" rIns="0" tIns="0" bIns="0">
            <a:spAutoFit/>
          </a:bodyPr>
          <a:lstStyle/>
          <a:p>
            <a:pPr algn="l"/>
            <a:r>
              <a:rPr sz="1500" b="0" i="0">
                <a:solidFill>
                  <a:srgbClr val="E4E1F1"/>
                </a:solidFill>
                <a:latin typeface="Calibri"/>
              </a:rPr>
              <a:t>Run three copy rules by hand on the stall's days (invented), and see where each one fails.</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series tell?</a:t>
            </a:r>
          </a:p>
        </p:txBody>
      </p:sp>
      <p:sp>
        <p:nvSpPr>
          <p:cNvPr id="12" name="Rounded Rectangle 11"/>
          <p:cNvSpPr/>
          <p:nvPr/>
        </p:nvSpPr>
        <p:spPr>
          <a:xfrm>
            <a:off x="2628191"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When does a copy fail?</a:t>
            </a:r>
          </a:p>
        </p:txBody>
      </p:sp>
      <p:sp>
        <p:nvSpPr>
          <p:cNvPr id="13" name="Rounded Rectangle 12"/>
          <p:cNvSpPr/>
          <p:nvPr/>
        </p:nvSpPr>
        <p:spPr>
          <a:xfrm>
            <a:off x="440643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forecast scored?</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does it earn trust?</a:t>
            </a:r>
          </a:p>
        </p:txBody>
      </p:sp>
      <p:sp>
        <p:nvSpPr>
          <p:cNvPr id="15" name="Rounded Rectangle 14"/>
          <p:cNvSpPr/>
          <p:nvPr/>
        </p:nvSpPr>
        <p:spPr>
          <a:xfrm>
            <a:off x="825898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is the peak?</a:t>
            </a:r>
          </a:p>
        </p:txBody>
      </p:sp>
      <p:sp>
        <p:nvSpPr>
          <p:cNvPr id="16" name="Rounded Rectangle 15"/>
          <p:cNvSpPr/>
          <p:nvPr/>
        </p:nvSpPr>
        <p:spPr>
          <a:xfrm>
            <a:off x="9800364"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rule wins?</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Forecasting basics: how much does the plan deliver?</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15 / 65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copy rules, each one line of arithmetic</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a rule that runs on paper, and which questions lead to it?</a:t>
            </a:r>
          </a:p>
        </p:txBody>
      </p:sp>
      <p:sp>
        <p:nvSpPr>
          <p:cNvPr id="9" name="TextBox 8"/>
          <p:cNvSpPr txBox="1"/>
          <p:nvPr/>
        </p:nvSpPr>
        <p:spPr>
          <a:xfrm>
            <a:off x="530352" y="1682496"/>
            <a:ext cx="11130991" cy="703072"/>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A </a:t>
            </a:r>
            <a:r>
              <a:rPr sz="1400" b="1" i="0">
                <a:solidFill>
                  <a:srgbClr val="1A1440"/>
                </a:solidFill>
                <a:latin typeface="Calibri"/>
              </a:rPr>
              <a:t>baseline</a:t>
            </a:r>
            <a:r>
              <a:rPr sz="1400" b="0" i="0">
                <a:solidFill>
                  <a:srgbClr val="1A1440"/>
                </a:solidFill>
                <a:latin typeface="Calibri"/>
              </a:rPr>
              <a:t> is the simplest rule that could be right, and its job is to be beaten: any cleverer forecast must do better than it.</a:t>
            </a:r>
          </a:p>
        </p:txBody>
      </p:sp>
      <p:sp>
        <p:nvSpPr>
          <p:cNvPr id="10" name="Rounded Rectangle 9"/>
          <p:cNvSpPr/>
          <p:nvPr/>
        </p:nvSpPr>
        <p:spPr>
          <a:xfrm>
            <a:off x="530352" y="2513584"/>
            <a:ext cx="11130991" cy="96774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641600"/>
            <a:ext cx="45720" cy="71170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632456"/>
            <a:ext cx="10564063" cy="784860"/>
          </a:xfrm>
          <a:prstGeom prst="rect">
            <a:avLst/>
          </a:prstGeom>
          <a:noFill/>
        </p:spPr>
        <p:txBody>
          <a:bodyPr wrap="square" anchor="ctr" lIns="0" rIns="0" tIns="0" bIns="0">
            <a:spAutoFit/>
          </a:bodyPr>
          <a:lstStyle/>
          <a:p>
            <a:r>
              <a:rPr sz="1300" b="1">
                <a:solidFill>
                  <a:srgbClr val="5B3FD6"/>
                </a:solidFill>
                <a:latin typeface="Calibri"/>
              </a:rPr>
              <a:t>Who needs the answer. </a:t>
            </a:r>
            <a:r>
              <a:rPr sz="1300" b="0" i="0">
                <a:solidFill>
                  <a:srgbClr val="1A1440"/>
                </a:solidFill>
                <a:latin typeface="Calibri"/>
              </a:rPr>
              <a:t>The stall's owner (invented), who orders milk tonight with no spreadsheet open, and Flipkart's FC planner, whose tournament this afternoon, a contest that scores every rule on weeks it never saw, sends nothing to the plan that loses to a copy rule.</a:t>
            </a:r>
          </a:p>
        </p:txBody>
      </p:sp>
      <p:sp>
        <p:nvSpPr>
          <p:cNvPr id="13" name="Rounded Rectangle 12"/>
          <p:cNvSpPr/>
          <p:nvPr/>
        </p:nvSpPr>
        <p:spPr>
          <a:xfrm>
            <a:off x="530352" y="3645916"/>
            <a:ext cx="11130991" cy="5054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3773932"/>
            <a:ext cx="45720" cy="2494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3764788"/>
            <a:ext cx="10564063" cy="322580"/>
          </a:xfrm>
          <a:prstGeom prst="rect">
            <a:avLst/>
          </a:prstGeom>
          <a:noFill/>
        </p:spPr>
        <p:txBody>
          <a:bodyPr wrap="square" anchor="ctr" lIns="0" rIns="0" tIns="0" bIns="0">
            <a:spAutoFit/>
          </a:bodyPr>
          <a:lstStyle/>
          <a:p>
            <a:r>
              <a:rPr sz="1300" b="1">
                <a:solidFill>
                  <a:srgbClr val="5B3FD6"/>
                </a:solidFill>
                <a:latin typeface="Calibri"/>
              </a:rPr>
              <a:t>The questions on the way. </a:t>
            </a:r>
            <a:r>
              <a:rPr sz="1300" b="0" i="0">
                <a:solidFill>
                  <a:srgbClr val="1A1440"/>
                </a:solidFill>
                <a:latin typeface="Calibri"/>
              </a:rPr>
              <a:t>Four, in this order:</a:t>
            </a:r>
          </a:p>
        </p:txBody>
      </p:sp>
      <p:sp>
        <p:nvSpPr>
          <p:cNvPr id="16" name="Rectangle 15"/>
          <p:cNvSpPr/>
          <p:nvPr/>
        </p:nvSpPr>
        <p:spPr>
          <a:xfrm>
            <a:off x="1853145" y="488289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0352" y="431596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COPY</a:t>
            </a:r>
          </a:p>
        </p:txBody>
      </p:sp>
      <p:sp>
        <p:nvSpPr>
          <p:cNvPr id="18" name="Oval 17"/>
          <p:cNvSpPr/>
          <p:nvPr/>
        </p:nvSpPr>
        <p:spPr>
          <a:xfrm>
            <a:off x="1752561" y="47914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530352" y="5202936"/>
            <a:ext cx="2645587" cy="8869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4944" y="5349240"/>
            <a:ext cx="2316403" cy="218186"/>
          </a:xfrm>
          <a:prstGeom prst="rect">
            <a:avLst/>
          </a:prstGeom>
          <a:noFill/>
        </p:spPr>
        <p:txBody>
          <a:bodyPr wrap="square" anchor="t" lIns="0" rIns="0" tIns="0" bIns="0">
            <a:spAutoFit/>
          </a:bodyPr>
          <a:lstStyle/>
          <a:p>
            <a:pPr algn="l"/>
            <a:r>
              <a:rPr sz="1100" b="1" i="0">
                <a:solidFill>
                  <a:srgbClr val="1A0F5C"/>
                </a:solidFill>
                <a:latin typeface="Calibri"/>
              </a:rPr>
              <a:t>What does each rule copy?</a:t>
            </a:r>
          </a:p>
        </p:txBody>
      </p:sp>
      <p:sp>
        <p:nvSpPr>
          <p:cNvPr id="21" name="TextBox 20"/>
          <p:cNvSpPr txBox="1"/>
          <p:nvPr/>
        </p:nvSpPr>
        <p:spPr>
          <a:xfrm>
            <a:off x="694944" y="5604002"/>
            <a:ext cx="2316403" cy="185166"/>
          </a:xfrm>
          <a:prstGeom prst="rect">
            <a:avLst/>
          </a:prstGeom>
          <a:noFill/>
        </p:spPr>
        <p:txBody>
          <a:bodyPr wrap="square" anchor="t" lIns="0" rIns="0" tIns="0" bIns="0">
            <a:spAutoFit/>
          </a:bodyPr>
          <a:lstStyle/>
          <a:p>
            <a:pPr algn="l"/>
            <a:r>
              <a:rPr sz="900" b="0" i="0">
                <a:solidFill>
                  <a:srgbClr val="6B6690"/>
                </a:solidFill>
                <a:latin typeface="Calibri"/>
              </a:rPr>
              <a:t>The last day, last season, a line.</a:t>
            </a:r>
          </a:p>
        </p:txBody>
      </p:sp>
      <p:sp>
        <p:nvSpPr>
          <p:cNvPr id="22" name="TextBox 21"/>
          <p:cNvSpPr txBox="1"/>
          <p:nvPr/>
        </p:nvSpPr>
        <p:spPr>
          <a:xfrm>
            <a:off x="3358819" y="431596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SUNDAY</a:t>
            </a:r>
          </a:p>
        </p:txBody>
      </p:sp>
      <p:sp>
        <p:nvSpPr>
          <p:cNvPr id="23" name="Oval 22"/>
          <p:cNvSpPr/>
          <p:nvPr/>
        </p:nvSpPr>
        <p:spPr>
          <a:xfrm>
            <a:off x="4581029" y="47914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ounded Rectangle 23"/>
          <p:cNvSpPr/>
          <p:nvPr/>
        </p:nvSpPr>
        <p:spPr>
          <a:xfrm>
            <a:off x="3358819" y="5202936"/>
            <a:ext cx="2645587" cy="8869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523411" y="5349240"/>
            <a:ext cx="2316403" cy="218186"/>
          </a:xfrm>
          <a:prstGeom prst="rect">
            <a:avLst/>
          </a:prstGeom>
          <a:noFill/>
        </p:spPr>
        <p:txBody>
          <a:bodyPr wrap="square" anchor="t" lIns="0" rIns="0" tIns="0" bIns="0">
            <a:spAutoFit/>
          </a:bodyPr>
          <a:lstStyle/>
          <a:p>
            <a:pPr algn="l"/>
            <a:r>
              <a:rPr sz="1100" b="1" i="0">
                <a:solidFill>
                  <a:srgbClr val="1A0F5C"/>
                </a:solidFill>
                <a:latin typeface="Calibri"/>
              </a:rPr>
              <a:t>Which wins next Sunday?</a:t>
            </a:r>
          </a:p>
        </p:txBody>
      </p:sp>
      <p:sp>
        <p:nvSpPr>
          <p:cNvPr id="26" name="TextBox 25"/>
          <p:cNvSpPr txBox="1"/>
          <p:nvPr/>
        </p:nvSpPr>
        <p:spPr>
          <a:xfrm>
            <a:off x="3523411" y="5604002"/>
            <a:ext cx="2316403" cy="185166"/>
          </a:xfrm>
          <a:prstGeom prst="rect">
            <a:avLst/>
          </a:prstGeom>
          <a:noFill/>
        </p:spPr>
        <p:txBody>
          <a:bodyPr wrap="square" anchor="t" lIns="0" rIns="0" tIns="0" bIns="0">
            <a:spAutoFit/>
          </a:bodyPr>
          <a:lstStyle/>
          <a:p>
            <a:pPr algn="l"/>
            <a:r>
              <a:rPr sz="900" b="0" i="0">
                <a:solidFill>
                  <a:srgbClr val="6B6690"/>
                </a:solidFill>
                <a:latin typeface="Calibri"/>
              </a:rPr>
              <a:t>The one that respects the beat.</a:t>
            </a:r>
          </a:p>
        </p:txBody>
      </p:sp>
      <p:sp>
        <p:nvSpPr>
          <p:cNvPr id="27" name="TextBox 26"/>
          <p:cNvSpPr txBox="1"/>
          <p:nvPr/>
        </p:nvSpPr>
        <p:spPr>
          <a:xfrm>
            <a:off x="6187287" y="431596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A YEAR</a:t>
            </a:r>
          </a:p>
        </p:txBody>
      </p:sp>
      <p:sp>
        <p:nvSpPr>
          <p:cNvPr id="28" name="Oval 27"/>
          <p:cNvSpPr/>
          <p:nvPr/>
        </p:nvSpPr>
        <p:spPr>
          <a:xfrm>
            <a:off x="7409497" y="47914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6187287" y="5202936"/>
            <a:ext cx="2645587" cy="8869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351879" y="5349240"/>
            <a:ext cx="2316403" cy="218186"/>
          </a:xfrm>
          <a:prstGeom prst="rect">
            <a:avLst/>
          </a:prstGeom>
          <a:noFill/>
        </p:spPr>
        <p:txBody>
          <a:bodyPr wrap="square" anchor="t" lIns="0" rIns="0" tIns="0" bIns="0">
            <a:spAutoFit/>
          </a:bodyPr>
          <a:lstStyle/>
          <a:p>
            <a:pPr algn="l"/>
            <a:r>
              <a:rPr sz="1100" b="1" i="0">
                <a:solidFill>
                  <a:srgbClr val="1A0F5C"/>
                </a:solidFill>
                <a:latin typeface="Calibri"/>
              </a:rPr>
              <a:t>What does a yearly copy miss?</a:t>
            </a:r>
          </a:p>
        </p:txBody>
      </p:sp>
      <p:sp>
        <p:nvSpPr>
          <p:cNvPr id="31" name="TextBox 30"/>
          <p:cNvSpPr txBox="1"/>
          <p:nvPr/>
        </p:nvSpPr>
        <p:spPr>
          <a:xfrm>
            <a:off x="6351879" y="5604002"/>
            <a:ext cx="2316403" cy="185166"/>
          </a:xfrm>
          <a:prstGeom prst="rect">
            <a:avLst/>
          </a:prstGeom>
          <a:noFill/>
        </p:spPr>
        <p:txBody>
          <a:bodyPr wrap="square" anchor="t" lIns="0" rIns="0" tIns="0" bIns="0">
            <a:spAutoFit/>
          </a:bodyPr>
          <a:lstStyle/>
          <a:p>
            <a:pPr algn="l"/>
            <a:r>
              <a:rPr sz="900" b="0" i="0">
                <a:solidFill>
                  <a:srgbClr val="6B6690"/>
                </a:solidFill>
                <a:latin typeface="Calibri"/>
              </a:rPr>
              <a:t>The year's growth.</a:t>
            </a:r>
          </a:p>
        </p:txBody>
      </p:sp>
      <p:sp>
        <p:nvSpPr>
          <p:cNvPr id="32" name="TextBox 31"/>
          <p:cNvSpPr txBox="1"/>
          <p:nvPr/>
        </p:nvSpPr>
        <p:spPr>
          <a:xfrm>
            <a:off x="9015755" y="431596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A FESTIVAL</a:t>
            </a:r>
          </a:p>
        </p:txBody>
      </p:sp>
      <p:sp>
        <p:nvSpPr>
          <p:cNvPr id="33" name="Oval 32"/>
          <p:cNvSpPr/>
          <p:nvPr/>
        </p:nvSpPr>
        <p:spPr>
          <a:xfrm>
            <a:off x="10237965" y="479145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ounded Rectangle 33"/>
          <p:cNvSpPr/>
          <p:nvPr/>
        </p:nvSpPr>
        <p:spPr>
          <a:xfrm>
            <a:off x="9015755" y="5202936"/>
            <a:ext cx="2645587" cy="88696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180347" y="5349240"/>
            <a:ext cx="2316403" cy="218186"/>
          </a:xfrm>
          <a:prstGeom prst="rect">
            <a:avLst/>
          </a:prstGeom>
          <a:noFill/>
        </p:spPr>
        <p:txBody>
          <a:bodyPr wrap="square" anchor="t" lIns="0" rIns="0" tIns="0" bIns="0">
            <a:spAutoFit/>
          </a:bodyPr>
          <a:lstStyle/>
          <a:p>
            <a:pPr algn="l"/>
            <a:r>
              <a:rPr sz="1100" b="1" i="0">
                <a:solidFill>
                  <a:srgbClr val="FFFFFF"/>
                </a:solidFill>
                <a:latin typeface="Calibri"/>
              </a:rPr>
              <a:t>What breaks when it moves?</a:t>
            </a:r>
          </a:p>
        </p:txBody>
      </p:sp>
      <p:sp>
        <p:nvSpPr>
          <p:cNvPr id="36" name="TextBox 35"/>
          <p:cNvSpPr txBox="1"/>
          <p:nvPr/>
        </p:nvSpPr>
        <p:spPr>
          <a:xfrm>
            <a:off x="9180347" y="5604002"/>
            <a:ext cx="2316403" cy="185166"/>
          </a:xfrm>
          <a:prstGeom prst="rect">
            <a:avLst/>
          </a:prstGeom>
          <a:noFill/>
        </p:spPr>
        <p:txBody>
          <a:bodyPr wrap="square" anchor="t" lIns="0" rIns="0" tIns="0" bIns="0">
            <a:spAutoFit/>
          </a:bodyPr>
          <a:lstStyle/>
          <a:p>
            <a:pPr algn="l"/>
            <a:r>
              <a:rPr sz="900" b="0" i="0">
                <a:solidFill>
                  <a:srgbClr val="CFC9EE"/>
                </a:solidFill>
                <a:latin typeface="Calibri"/>
              </a:rPr>
              <a:t>Every calendar copy.</a:t>
            </a:r>
          </a:p>
        </p:txBody>
      </p:sp>
      <p:sp>
        <p:nvSpPr>
          <p:cNvPr id="37" name="Oval 3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9" name="Oval 38"/>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221970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When does a copy fail?</a:t>
            </a:r>
          </a:p>
        </p:txBody>
      </p:sp>
      <p:sp>
        <p:nvSpPr>
          <p:cNvPr id="41" name="Oval 40"/>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43" name="Oval 42"/>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5" name="Oval 44"/>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7" name="Oval 46"/>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65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rule forecasts next Sunday's cups best?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last four days sold 98, 104, 101 and 103, and last Sunday 61 (invented). Which rule lands nearest next Sunday?</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Naive</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Repeat the last day: 103.</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Drift</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last day plus the average step: about 105.</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Seasonal naive</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Copy last Sunday: 61.</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All three</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They land within five cups of each other.</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5" name="Oval 34"/>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When does a copy fail?</a:t>
            </a:r>
          </a:p>
        </p:txBody>
      </p:sp>
      <p:sp>
        <p:nvSpPr>
          <p:cNvPr id="37" name="Oval 3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39" name="Oval 3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1" name="Oval 4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3" name="Oval 42"/>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65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seasonal naive, 61 against 60 sold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each rule say for Sunday 19 January 2025, and how far off was it?</a:t>
            </a:r>
          </a:p>
        </p:txBody>
      </p:sp>
      <p:pic>
        <p:nvPicPr>
          <p:cNvPr id="9" name="mermaid diagram" descr="C2_W04_D05_stall_three_rules_STUDENT.png"/>
          <p:cNvPicPr>
            <a:picLocks noChangeAspect="1"/>
          </p:cNvPicPr>
          <p:nvPr/>
        </p:nvPicPr>
        <p:blipFill>
          <a:blip r:embed="rId4"/>
          <a:stretch>
            <a:fillRect/>
          </a:stretch>
        </p:blipFill>
        <p:spPr>
          <a:xfrm>
            <a:off x="2169826" y="1664208"/>
            <a:ext cx="7852041" cy="3319272"/>
          </a:xfrm>
          <a:prstGeom prst="rect">
            <a:avLst/>
          </a:prstGeom>
        </p:spPr>
      </p:pic>
      <p:sp>
        <p:nvSpPr>
          <p:cNvPr id="10" name="picture caption"/>
          <p:cNvSpPr txBox="1"/>
          <p:nvPr/>
        </p:nvSpPr>
        <p:spPr>
          <a:xfrm>
            <a:off x="530352" y="5020056"/>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stall's week and three forecasts for next Sunday (invented numbers)</a:t>
            </a:r>
          </a:p>
        </p:txBody>
      </p:sp>
      <p:sp>
        <p:nvSpPr>
          <p:cNvPr id="11" name="TextBox 10"/>
          <p:cNvSpPr txBox="1"/>
          <p:nvPr/>
        </p:nvSpPr>
        <p:spPr>
          <a:xfrm>
            <a:off x="530352" y="5346192"/>
            <a:ext cx="11130991" cy="853440"/>
          </a:xfrm>
          <a:prstGeom prst="rect">
            <a:avLst/>
          </a:prstGeom>
          <a:noFill/>
        </p:spPr>
        <p:txBody>
          <a:bodyPr wrap="square" anchor="t" lIns="0" rIns="0" tIns="0" bIns="0">
            <a:spAutoFit/>
          </a:bodyPr>
          <a:lstStyle/>
          <a:p>
            <a:r>
              <a:rPr sz="1400" b="0" i="0">
                <a:solidFill>
                  <a:srgbClr val="1A1440"/>
                </a:solidFill>
                <a:latin typeface="Calibri"/>
              </a:rPr>
              <a:t>The answer is c. Next Sunday at the stall (invented) sold 60. </a:t>
            </a:r>
            <a:r>
              <a:rPr sz="1400" b="1" i="0">
                <a:solidFill>
                  <a:srgbClr val="1A1440"/>
                </a:solidFill>
                <a:latin typeface="Calibri"/>
              </a:rPr>
              <a:t>Naive</a:t>
            </a:r>
            <a:r>
              <a:rPr sz="1400" b="0" i="0">
                <a:solidFill>
                  <a:srgbClr val="1A1440"/>
                </a:solidFill>
                <a:latin typeface="Calibri"/>
              </a:rPr>
              <a:t>, the last value repeated, said 103 and missed by 43; </a:t>
            </a:r>
            <a:r>
              <a:rPr sz="1400" b="1" i="0">
                <a:solidFill>
                  <a:srgbClr val="1A1440"/>
                </a:solidFill>
                <a:latin typeface="Calibri"/>
              </a:rPr>
              <a:t>drift</a:t>
            </a:r>
            <a:r>
              <a:rPr sz="1400" b="0" i="0">
                <a:solidFill>
                  <a:srgbClr val="1A1440"/>
                </a:solidFill>
                <a:latin typeface="Calibri"/>
              </a:rPr>
              <a:t>, the line from the first of the four days to the last, extended, said 104.7 and missed by 44.7; the </a:t>
            </a:r>
            <a:r>
              <a:rPr sz="1400" b="1" i="0">
                <a:solidFill>
                  <a:srgbClr val="1A1440"/>
                </a:solidFill>
                <a:latin typeface="Calibri"/>
              </a:rPr>
              <a:t>seasonal naive</a:t>
            </a:r>
            <a:r>
              <a:rPr sz="1400" b="0" i="0">
                <a:solidFill>
                  <a:srgbClr val="1A1440"/>
                </a:solidFill>
                <a:latin typeface="Calibri"/>
              </a:rPr>
              <a:t>, the value one season back, said 61 and missed by 1. When a beat is strong, the plainest copy that respects it wins.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65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rule in one line, worked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each rule reach its number, and how does code reach the same?</a:t>
            </a:r>
          </a:p>
        </p:txBody>
      </p:sp>
      <p:graphicFrame>
        <p:nvGraphicFramePr>
          <p:cNvPr id="9" name="Table 8"/>
          <p:cNvGraphicFramePr>
            <a:graphicFrameLocks noGrp="1"/>
          </p:cNvGraphicFramePr>
          <p:nvPr/>
        </p:nvGraphicFramePr>
        <p:xfrm>
          <a:off x="530352" y="1956816"/>
          <a:ext cx="11130990" cy="1721104"/>
        </p:xfrm>
        <a:graphic>
          <a:graphicData uri="http://schemas.openxmlformats.org/drawingml/2006/table">
            <a:tbl>
              <a:tblPr firstRow="0" bandRow="0">
                <a:tableStyleId>{2D5ABB26-0587-4C30-8999-92F81FD0307C}</a:tableStyleId>
              </a:tblPr>
              <a:tblGrid>
                <a:gridCol w="1665635"/>
                <a:gridCol w="6148834"/>
                <a:gridCol w="3316521"/>
              </a:tblGrid>
              <a:tr h="369824">
                <a:tc>
                  <a:txBody>
                    <a:bodyPr/>
                    <a:lstStyle/>
                    <a:p>
                      <a:r>
                        <a:rPr sz="1450" b="1" i="0">
                          <a:solidFill>
                            <a:srgbClr val="FFFFFF"/>
                          </a:solidFill>
                          <a:latin typeface="Calibri"/>
                        </a:rPr>
                        <a:t>Rule</a:t>
                      </a:r>
                    </a:p>
                  </a:txBody>
                  <a:tcPr marL="101600" marR="101600" marT="38100" marB="38100" anchor="ctr">
                    <a:solidFill>
                      <a:srgbClr val="1A0F5C"/>
                    </a:solidFill>
                  </a:tcPr>
                </a:tc>
                <a:tc>
                  <a:txBody>
                    <a:bodyPr/>
                    <a:lstStyle/>
                    <a:p>
                      <a:r>
                        <a:rPr sz="1450" b="1" i="0">
                          <a:solidFill>
                            <a:srgbClr val="FFFFFF"/>
                          </a:solidFill>
                          <a:latin typeface="Calibri"/>
                        </a:rPr>
                        <a:t>What it copies</a:t>
                      </a:r>
                    </a:p>
                  </a:txBody>
                  <a:tcPr marL="101600" marR="101600" marT="38100" marB="38100" anchor="ctr">
                    <a:solidFill>
                      <a:srgbClr val="1A0F5C"/>
                    </a:solidFill>
                  </a:tcPr>
                </a:tc>
                <a:tc>
                  <a:txBody>
                    <a:bodyPr/>
                    <a:lstStyle/>
                    <a:p>
                      <a:r>
                        <a:rPr sz="1450" b="1" i="0">
                          <a:solidFill>
                            <a:srgbClr val="FFFFFF"/>
                          </a:solidFill>
                          <a:latin typeface="Calibri"/>
                        </a:rPr>
                        <a:t>Next Sunday, worked by hand</a:t>
                      </a:r>
                    </a:p>
                  </a:txBody>
                  <a:tcPr marL="101600" marR="101600" marT="38100" marB="38100" anchor="ctr">
                    <a:solidFill>
                      <a:srgbClr val="1A0F5C"/>
                    </a:solidFill>
                  </a:tcPr>
                </a:tc>
              </a:tr>
              <a:tr h="369824">
                <a:tc>
                  <a:txBody>
                    <a:bodyPr/>
                    <a:lstStyle/>
                    <a:p>
                      <a:r>
                        <a:rPr sz="1400" b="0" i="0">
                          <a:solidFill>
                            <a:srgbClr val="1A1440"/>
                          </a:solidFill>
                          <a:latin typeface="Calibri"/>
                        </a:rPr>
                        <a:t>Naive</a:t>
                      </a:r>
                    </a:p>
                  </a:txBody>
                  <a:tcPr marL="101600" marR="101600" marT="38100" marB="38100" anchor="ctr">
                    <a:solidFill>
                      <a:srgbClr val="FFFFFF"/>
                    </a:solidFill>
                  </a:tcPr>
                </a:tc>
                <a:tc>
                  <a:txBody>
                    <a:bodyPr/>
                    <a:lstStyle/>
                    <a:p>
                      <a:r>
                        <a:rPr sz="1400" b="0" i="0">
                          <a:solidFill>
                            <a:srgbClr val="1A1440"/>
                          </a:solidFill>
                          <a:latin typeface="Calibri"/>
                        </a:rPr>
                        <a:t>the last value</a:t>
                      </a:r>
                    </a:p>
                  </a:txBody>
                  <a:tcPr marL="101600" marR="101600" marT="38100" marB="38100" anchor="ctr">
                    <a:solidFill>
                      <a:srgbClr val="FFFFFF"/>
                    </a:solidFill>
                  </a:tcPr>
                </a:tc>
                <a:tc>
                  <a:txBody>
                    <a:bodyPr/>
                    <a:lstStyle/>
                    <a:p>
                      <a:r>
                        <a:rPr sz="1400" b="0" i="0">
                          <a:solidFill>
                            <a:srgbClr val="1A1440"/>
                          </a:solidFill>
                          <a:latin typeface="Calibri"/>
                        </a:rPr>
                        <a:t>103</a:t>
                      </a:r>
                    </a:p>
                  </a:txBody>
                  <a:tcPr marL="101600" marR="101600" marT="38100" marB="38100" anchor="ctr">
                    <a:solidFill>
                      <a:srgbClr val="FFFFFF"/>
                    </a:solidFill>
                  </a:tcPr>
                </a:tc>
              </a:tr>
              <a:tr h="611632">
                <a:tc>
                  <a:txBody>
                    <a:bodyPr/>
                    <a:lstStyle/>
                    <a:p>
                      <a:r>
                        <a:rPr sz="1400" b="0" i="0">
                          <a:solidFill>
                            <a:srgbClr val="1A1440"/>
                          </a:solidFill>
                          <a:latin typeface="Calibri"/>
                        </a:rPr>
                        <a:t>Drift</a:t>
                      </a:r>
                    </a:p>
                  </a:txBody>
                  <a:tcPr marL="101600" marR="101600" marT="38100" marB="38100" anchor="ctr">
                    <a:solidFill>
                      <a:srgbClr val="F4F2FA"/>
                    </a:solidFill>
                  </a:tcPr>
                </a:tc>
                <a:tc>
                  <a:txBody>
                    <a:bodyPr/>
                    <a:lstStyle/>
                    <a:p>
                      <a:r>
                        <a:rPr sz="1400" b="0" i="0">
                          <a:solidFill>
                            <a:srgbClr val="1A1440"/>
                          </a:solidFill>
                          <a:latin typeface="Calibri"/>
                        </a:rPr>
                        <a:t>the line from the first value to the last, extended, the four days as the whole history</a:t>
                      </a:r>
                    </a:p>
                  </a:txBody>
                  <a:tcPr marL="101600" marR="101600" marT="38100" marB="38100" anchor="ctr">
                    <a:solidFill>
                      <a:srgbClr val="F4F2FA"/>
                    </a:solidFill>
                  </a:tcPr>
                </a:tc>
                <a:tc>
                  <a:txBody>
                    <a:bodyPr/>
                    <a:lstStyle/>
                    <a:p>
                      <a:r>
                        <a:rPr sz="1400" b="0" i="0">
                          <a:solidFill>
                            <a:srgbClr val="1A1440"/>
                          </a:solidFill>
                          <a:latin typeface="Calibri"/>
                        </a:rPr>
                        <a:t>103 + (103 - 98) / 3 = 104.7</a:t>
                      </a:r>
                    </a:p>
                  </a:txBody>
                  <a:tcPr marL="101600" marR="101600" marT="38100" marB="38100" anchor="ctr">
                    <a:solidFill>
                      <a:srgbClr val="F4F2FA"/>
                    </a:solidFill>
                  </a:tcPr>
                </a:tc>
              </a:tr>
              <a:tr h="369824">
                <a:tc>
                  <a:txBody>
                    <a:bodyPr/>
                    <a:lstStyle/>
                    <a:p>
                      <a:r>
                        <a:rPr sz="1400" b="0" i="0">
                          <a:solidFill>
                            <a:srgbClr val="1A1440"/>
                          </a:solidFill>
                          <a:latin typeface="Calibri"/>
                        </a:rPr>
                        <a:t>Seasonal naive</a:t>
                      </a:r>
                    </a:p>
                  </a:txBody>
                  <a:tcPr marL="101600" marR="101600" marT="38100" marB="38100" anchor="ctr">
                    <a:solidFill>
                      <a:srgbClr val="FFFFFF"/>
                    </a:solidFill>
                  </a:tcPr>
                </a:tc>
                <a:tc>
                  <a:txBody>
                    <a:bodyPr/>
                    <a:lstStyle/>
                    <a:p>
                      <a:r>
                        <a:rPr sz="1400" b="0" i="0">
                          <a:solidFill>
                            <a:srgbClr val="1A1440"/>
                          </a:solidFill>
                          <a:latin typeface="Calibri"/>
                        </a:rPr>
                        <a:t>the value one season back, 7 days here</a:t>
                      </a:r>
                    </a:p>
                  </a:txBody>
                  <a:tcPr marL="101600" marR="101600" marT="38100" marB="38100" anchor="ctr">
                    <a:solidFill>
                      <a:srgbClr val="FFFFFF"/>
                    </a:solidFill>
                  </a:tcPr>
                </a:tc>
                <a:tc>
                  <a:txBody>
                    <a:bodyPr/>
                    <a:lstStyle/>
                    <a:p>
                      <a:r>
                        <a:rPr sz="1400" b="0" i="0">
                          <a:solidFill>
                            <a:srgbClr val="1A1440"/>
                          </a:solidFill>
                          <a:latin typeface="Calibri"/>
                        </a:rPr>
                        <a:t>last Sunday's 61</a:t>
                      </a:r>
                    </a:p>
                  </a:txBody>
                  <a:tcPr marL="101600" marR="101600" marT="38100" marB="38100" anchor="ctr">
                    <a:solidFill>
                      <a:srgbClr val="FFFFFF"/>
                    </a:solidFill>
                  </a:tcPr>
                </a:tc>
              </a:tr>
            </a:tbl>
          </a:graphicData>
        </a:graphic>
      </p:graphicFrame>
      <p:sp>
        <p:nvSpPr>
          <p:cNvPr id="10" name="Rounded Rectangle 9"/>
          <p:cNvSpPr/>
          <p:nvPr/>
        </p:nvSpPr>
        <p:spPr>
          <a:xfrm>
            <a:off x="530352" y="3933952"/>
            <a:ext cx="11130991"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13232" y="4061968"/>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68680" y="4061968"/>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1024128" y="4061968"/>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04671" y="4263136"/>
            <a:ext cx="10673791" cy="1569719"/>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four = [98, 104, 101, 103]                      # Wednesday to Saturday (invented)</a:t>
            </a:r>
          </a:p>
          <a:p>
            <a:pPr>
              <a:spcAft>
                <a:spcPts val="200"/>
              </a:spcAft>
            </a:pPr>
            <a:r>
              <a:rPr sz="1400" b="0" i="0">
                <a:solidFill>
                  <a:srgbClr val="E4E1F1"/>
                </a:solidFill>
                <a:latin typeface="Consolas"/>
              </a:rPr>
              <a:t>last_sunday = 61                                # one season, 7 days, back (invented)</a:t>
            </a:r>
          </a:p>
          <a:p>
            <a:pPr>
              <a:spcAft>
                <a:spcPts val="200"/>
              </a:spcAft>
            </a:pPr>
            <a:r>
              <a:rPr sz="1400" b="0" i="0">
                <a:solidFill>
                  <a:srgbClr val="E4E1F1"/>
                </a:solidFill>
                <a:latin typeface="Consolas"/>
              </a:rPr>
              <a:t>naive = four[-1]                                # 103</a:t>
            </a:r>
          </a:p>
          <a:p>
            <a:pPr>
              <a:spcAft>
                <a:spcPts val="200"/>
              </a:spcAft>
            </a:pPr>
            <a:r>
              <a:rPr sz="1400" b="0" i="0">
                <a:solidFill>
                  <a:srgbClr val="E4E1F1"/>
                </a:solidFill>
                <a:latin typeface="Consolas"/>
              </a:rPr>
              <a:t>drift = four[-1] + (four[-1] - four[0]) / 3     # 103 + 5 / 3 = 104.7</a:t>
            </a:r>
          </a:p>
          <a:p>
            <a:pPr>
              <a:spcAft>
                <a:spcPts val="200"/>
              </a:spcAft>
            </a:pPr>
            <a:r>
              <a:rPr sz="1400" b="0" i="0">
                <a:solidFill>
                  <a:srgbClr val="E4E1F1"/>
                </a:solidFill>
                <a:latin typeface="Consolas"/>
              </a:rPr>
              <a:t>seasonal_naive = last_sunday                    # 61; on a whole series, cups.shift(7) copies every day so</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7" name="Oval 16"/>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When does a copy fail?</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21" name="Oval 2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3" name="Oval 22"/>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5" name="Oval 24"/>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65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yearly copy needs the year's growth added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rule do around the exams, and what is each rule's formula?</a:t>
            </a:r>
          </a:p>
        </p:txBody>
      </p:sp>
      <p:pic>
        <p:nvPicPr>
          <p:cNvPr id="9" name="mermaid diagram" descr="C2_W04_D05_stall_exam_rules_STUDENT.png"/>
          <p:cNvPicPr>
            <a:picLocks noChangeAspect="1"/>
          </p:cNvPicPr>
          <p:nvPr/>
        </p:nvPicPr>
        <p:blipFill>
          <a:blip r:embed="rId4"/>
          <a:stretch>
            <a:fillRect/>
          </a:stretch>
        </p:blipFill>
        <p:spPr>
          <a:xfrm>
            <a:off x="1936166" y="1664208"/>
            <a:ext cx="8319362"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November 2025 exam fortnight under three rules (invented numbers)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200" b="0" i="0">
                <a:solidFill>
                  <a:srgbClr val="1A1440"/>
                </a:solidFill>
                <a:latin typeface="Calibri"/>
              </a:rPr>
              <a:t>Around the November 2025 exams at the stall (invented), naive, re-run each day from the day before, misses by 20.6 cups a day; the yearly copy, the same weekday 364 days back, misses by 10.5, mostly the year's growth; times 1.10 it misses by 3.0. Named last, with T the last period a rule may see, h the periods ahead and m the season's length: </a:t>
            </a:r>
            <a:r>
              <a:rPr sz="1200" b="1" i="0">
                <a:solidFill>
                  <a:srgbClr val="1A1440"/>
                </a:solidFill>
                <a:latin typeface="Calibri"/>
              </a:rPr>
              <a:t>naive</a:t>
            </a:r>
            <a:r>
              <a:rPr sz="1200" b="0" i="0">
                <a:solidFill>
                  <a:srgbClr val="1A1440"/>
                </a:solidFill>
                <a:latin typeface="Calibri"/>
              </a:rPr>
              <a:t>, forecast(T + h) = y(T); </a:t>
            </a:r>
            <a:r>
              <a:rPr sz="1200" b="1" i="0">
                <a:solidFill>
                  <a:srgbClr val="1A1440"/>
                </a:solidFill>
                <a:latin typeface="Calibri"/>
              </a:rPr>
              <a:t>seasonal naive</a:t>
            </a:r>
            <a:r>
              <a:rPr sz="1200" b="0" i="0">
                <a:solidFill>
                  <a:srgbClr val="1A1440"/>
                </a:solidFill>
                <a:latin typeface="Calibri"/>
              </a:rPr>
              <a:t>, forecast(T + h) = y(T + h - m), for h up to m; </a:t>
            </a:r>
            <a:r>
              <a:rPr sz="1200" b="1" i="0">
                <a:solidFill>
                  <a:srgbClr val="1A1440"/>
                </a:solidFill>
                <a:latin typeface="Calibri"/>
              </a:rPr>
              <a:t>drift</a:t>
            </a:r>
            <a:r>
              <a:rPr sz="1200" b="0" i="0">
                <a:solidFill>
                  <a:srgbClr val="1A1440"/>
                </a:solidFill>
                <a:latin typeface="Calibri"/>
              </a:rPr>
              <a:t>, forecast(T + h) = y(T) + h x (y(T) - y(1)) / (T - 1), the line from the first value to the last, extended.</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65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calendar copy lands a moving festival late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Diwali came eleven days earlier in 2025. What does a yearly copy do with that?</a:t>
            </a:r>
          </a:p>
        </p:txBody>
      </p:sp>
      <p:pic>
        <p:nvPicPr>
          <p:cNvPr id="9" name="mermaid diagram" descr="C2_W04_D05_stall_diwali_moved_STUDENT.png"/>
          <p:cNvPicPr>
            <a:picLocks noChangeAspect="1"/>
          </p:cNvPicPr>
          <p:nvPr/>
        </p:nvPicPr>
        <p:blipFill>
          <a:blip r:embed="rId4"/>
          <a:stretch>
            <a:fillRect/>
          </a:stretch>
        </p:blipFill>
        <p:spPr>
          <a:xfrm>
            <a:off x="2325673" y="1664208"/>
            <a:ext cx="7540348" cy="3022600"/>
          </a:xfrm>
          <a:prstGeom prst="rect">
            <a:avLst/>
          </a:prstGeom>
        </p:spPr>
      </p:pic>
      <p:sp>
        <p:nvSpPr>
          <p:cNvPr id="10" name="picture caption"/>
          <p:cNvSpPr txBox="1"/>
          <p:nvPr/>
        </p:nvSpPr>
        <p:spPr>
          <a:xfrm>
            <a:off x="530352" y="47233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Diwali's dip under the calendar copy and the festival-aligned copy (invented numbers)</a:t>
            </a:r>
          </a:p>
        </p:txBody>
      </p:sp>
      <p:sp>
        <p:nvSpPr>
          <p:cNvPr id="11" name="Rounded Rectangle 10"/>
          <p:cNvSpPr/>
          <p:nvPr/>
        </p:nvSpPr>
        <p:spPr>
          <a:xfrm>
            <a:off x="530352" y="5049520"/>
            <a:ext cx="11130991" cy="9855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177536"/>
            <a:ext cx="45720" cy="7294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168392"/>
            <a:ext cx="10564063" cy="802640"/>
          </a:xfrm>
          <a:prstGeom prst="rect">
            <a:avLst/>
          </a:prstGeom>
          <a:noFill/>
        </p:spPr>
        <p:txBody>
          <a:bodyPr wrap="square" anchor="ctr" lIns="0" rIns="0" tIns="0" bIns="0">
            <a:spAutoFit/>
          </a:bodyPr>
          <a:lstStyle/>
          <a:p>
            <a:r>
              <a:rPr sz="1000" b="1">
                <a:solidFill>
                  <a:srgbClr val="5B3FD6"/>
                </a:solidFill>
                <a:latin typeface="Calibri"/>
              </a:rPr>
              <a:t>The plausible wrong number. </a:t>
            </a:r>
            <a:r>
              <a:rPr sz="1000" b="0" i="0">
                <a:solidFill>
                  <a:srgbClr val="1A1440"/>
                </a:solidFill>
                <a:latin typeface="Calibri"/>
              </a:rPr>
              <a:t>The calendar copy says 100 cups for Diwali 2025, Monday 20 October, copied from an ordinary Monday of 2024, when 44 sold, and 40 for Thursday 30 October 2025, copied from Diwali 2024 itself, when 110 sold. </a:t>
            </a:r>
            <a:r>
              <a:rPr sz="1000" b="1" i="0">
                <a:solidFill>
                  <a:srgbClr val="1A1440"/>
                </a:solidFill>
                <a:latin typeface="Calibri"/>
              </a:rPr>
              <a:t>The decision it misleads:</a:t>
            </a:r>
            <a:r>
              <a:rPr sz="1000" b="0" i="0">
                <a:solidFill>
                  <a:srgbClr val="1A1440"/>
                </a:solidFill>
                <a:latin typeface="Calibri"/>
              </a:rPr>
              <a:t> 56 cups of milk sour on one day and the stall runs 70 cups short on another. </a:t>
            </a:r>
            <a:r>
              <a:rPr sz="1000" b="1" i="0">
                <a:solidFill>
                  <a:srgbClr val="1A1440"/>
                </a:solidFill>
                <a:latin typeface="Calibri"/>
              </a:rPr>
              <a:t>The check:</a:t>
            </a:r>
            <a:r>
              <a:rPr sz="1000" b="0" i="0">
                <a:solidFill>
                  <a:srgbClr val="1A1440"/>
                </a:solidFill>
                <a:latin typeface="Calibri"/>
              </a:rPr>
              <a:t> the festival calendar. </a:t>
            </a:r>
            <a:r>
              <a:rPr sz="1000" b="1" i="0">
                <a:solidFill>
                  <a:srgbClr val="1A1440"/>
                </a:solidFill>
                <a:latin typeface="Calibri"/>
              </a:rPr>
              <a:t>The fix:</a:t>
            </a:r>
            <a:r>
              <a:rPr sz="1000" b="0" i="0">
                <a:solidFill>
                  <a:srgbClr val="1A1440"/>
                </a:solidFill>
                <a:latin typeface="Calibri"/>
              </a:rPr>
              <a:t> near the festival, copy the day at the same distance from last year's Diwali. This programme calls that copy </a:t>
            </a:r>
            <a:r>
              <a:rPr sz="1000" b="1" i="0">
                <a:solidFill>
                  <a:srgbClr val="1A1440"/>
                </a:solidFill>
                <a:latin typeface="Calibri"/>
              </a:rPr>
              <a:t>festival-aligned</a:t>
            </a:r>
            <a:r>
              <a:rPr sz="1000" b="0" i="0">
                <a:solidFill>
                  <a:srgbClr val="1A1440"/>
                </a:solidFill>
                <a:latin typeface="Calibri"/>
              </a:rPr>
              <a:t>, its own extension of the seasonal naive; here it misses by at most 13 cups.</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6" name="Oval 15"/>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When does a copy fail?</a:t>
            </a:r>
          </a:p>
        </p:txBody>
      </p:sp>
      <p:sp>
        <p:nvSpPr>
          <p:cNvPr id="18" name="Oval 1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20" name="Oval 1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2" name="Oval 21"/>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4" name="Oval 23"/>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65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choosing a copy rule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chapter leave, and what does an interviewer hear?</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368808"/>
          </a:xfrm>
          <a:prstGeom prst="rect">
            <a:avLst/>
          </a:prstGeom>
          <a:noFill/>
        </p:spPr>
        <p:txBody>
          <a:bodyPr wrap="square" anchor="t" lIns="0" rIns="0" tIns="0" bIns="0">
            <a:spAutoFit/>
          </a:bodyPr>
          <a:lstStyle/>
          <a:p>
            <a:r>
              <a:rPr sz="1500" b="0" i="0">
                <a:solidFill>
                  <a:srgbClr val="1A1440"/>
                </a:solidFill>
                <a:latin typeface="Calibri"/>
              </a:rPr>
              <a:t>A baseline is the simplest rule that could be right, and every forecast must beat it.</a:t>
            </a:r>
          </a:p>
        </p:txBody>
      </p:sp>
      <p:sp>
        <p:nvSpPr>
          <p:cNvPr id="11" name="TextBox 10"/>
          <p:cNvSpPr txBox="1"/>
          <p:nvPr/>
        </p:nvSpPr>
        <p:spPr>
          <a:xfrm>
            <a:off x="530352" y="236220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398776"/>
            <a:ext cx="10564063" cy="627888"/>
          </a:xfrm>
          <a:prstGeom prst="rect">
            <a:avLst/>
          </a:prstGeom>
          <a:noFill/>
        </p:spPr>
        <p:txBody>
          <a:bodyPr wrap="square" anchor="t" lIns="0" rIns="0" tIns="0" bIns="0">
            <a:spAutoFit/>
          </a:bodyPr>
          <a:lstStyle/>
          <a:p>
            <a:r>
              <a:rPr sz="1500" b="0" i="0">
                <a:solidFill>
                  <a:srgbClr val="1A1440"/>
                </a:solidFill>
                <a:latin typeface="Calibri"/>
              </a:rPr>
              <a:t>Naive repeats the last value, the seasonal naive the value one season back, and drift extends the line from the first value to the last.</a:t>
            </a:r>
          </a:p>
        </p:txBody>
      </p:sp>
      <p:sp>
        <p:nvSpPr>
          <p:cNvPr id="13" name="TextBox 12"/>
          <p:cNvSpPr txBox="1"/>
          <p:nvPr/>
        </p:nvSpPr>
        <p:spPr>
          <a:xfrm>
            <a:off x="530352" y="306324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3099816"/>
            <a:ext cx="10564063" cy="368808"/>
          </a:xfrm>
          <a:prstGeom prst="rect">
            <a:avLst/>
          </a:prstGeom>
          <a:noFill/>
        </p:spPr>
        <p:txBody>
          <a:bodyPr wrap="square" anchor="t" lIns="0" rIns="0" tIns="0" bIns="0">
            <a:spAutoFit/>
          </a:bodyPr>
          <a:lstStyle/>
          <a:p>
            <a:r>
              <a:rPr sz="1500" b="0" i="0">
                <a:solidFill>
                  <a:srgbClr val="1A1440"/>
                </a:solidFill>
                <a:latin typeface="Calibri"/>
              </a:rPr>
              <a:t>When a beat is strong, the copy that respects it wins, and a yearly copy needs the year's growth added.</a:t>
            </a:r>
          </a:p>
        </p:txBody>
      </p:sp>
      <p:sp>
        <p:nvSpPr>
          <p:cNvPr id="15" name="TextBox 14"/>
          <p:cNvSpPr txBox="1"/>
          <p:nvPr/>
        </p:nvSpPr>
        <p:spPr>
          <a:xfrm>
            <a:off x="530352" y="35052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541776"/>
            <a:ext cx="10564063" cy="368808"/>
          </a:xfrm>
          <a:prstGeom prst="rect">
            <a:avLst/>
          </a:prstGeom>
          <a:noFill/>
        </p:spPr>
        <p:txBody>
          <a:bodyPr wrap="square" anchor="t" lIns="0" rIns="0" tIns="0" bIns="0">
            <a:spAutoFit/>
          </a:bodyPr>
          <a:lstStyle/>
          <a:p>
            <a:r>
              <a:rPr sz="1500" b="0" i="0">
                <a:solidFill>
                  <a:srgbClr val="1A1440"/>
                </a:solidFill>
                <a:latin typeface="Calibri"/>
              </a:rPr>
              <a:t>A festival that moves breaks every calendar copy, so copy by distance from the festival.</a:t>
            </a:r>
          </a:p>
        </p:txBody>
      </p:sp>
      <p:sp>
        <p:nvSpPr>
          <p:cNvPr id="17" name="Rounded Rectangle 16"/>
          <p:cNvSpPr/>
          <p:nvPr/>
        </p:nvSpPr>
        <p:spPr>
          <a:xfrm>
            <a:off x="530352" y="409346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42569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535424"/>
            <a:ext cx="237744" cy="237744"/>
          </a:xfrm>
          <a:prstGeom prst="rect">
            <a:avLst/>
          </a:prstGeom>
        </p:spPr>
      </p:pic>
      <p:sp>
        <p:nvSpPr>
          <p:cNvPr id="20" name="TextBox 19"/>
          <p:cNvSpPr txBox="1"/>
          <p:nvPr/>
        </p:nvSpPr>
        <p:spPr>
          <a:xfrm>
            <a:off x="1399031" y="42397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459224"/>
            <a:ext cx="9987991" cy="682752"/>
          </a:xfrm>
          <a:prstGeom prst="rect">
            <a:avLst/>
          </a:prstGeom>
          <a:noFill/>
        </p:spPr>
        <p:txBody>
          <a:bodyPr wrap="square" anchor="t" lIns="0" rIns="0" tIns="0" bIns="0">
            <a:spAutoFit/>
          </a:bodyPr>
          <a:lstStyle/>
          <a:p>
            <a:r>
              <a:rPr sz="1500" b="0" i="0">
                <a:solidFill>
                  <a:srgbClr val="1A1440"/>
                </a:solidFill>
                <a:latin typeface="Calibri"/>
              </a:rPr>
              <a:t>"Naive, seasonal naive and drift are the baselines any forecast must beat, and on seasonal data the seasonal naive is the one to beat."</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24" name="Oval 2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1970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When does a copy fail?</a:t>
            </a:r>
          </a:p>
        </p:txBody>
      </p:sp>
      <p:sp>
        <p:nvSpPr>
          <p:cNvPr id="26" name="Oval 2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28" name="Oval 2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30" name="Oval 2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32" name="Oval 3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65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rules go to chapter 3's scoring and chapter 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idea come from, and where does it go next?</a:t>
            </a:r>
          </a:p>
        </p:txBody>
      </p:sp>
      <p:pic>
        <p:nvPicPr>
          <p:cNvPr id="9" name="mermaid diagram" descr="9cea8f9fb7c07572.png"/>
          <p:cNvPicPr>
            <a:picLocks noChangeAspect="1"/>
          </p:cNvPicPr>
          <p:nvPr/>
        </p:nvPicPr>
        <p:blipFill>
          <a:blip r:embed="rId5"/>
          <a:stretch>
            <a:fillRect/>
          </a:stretch>
        </p:blipFill>
        <p:spPr>
          <a:xfrm>
            <a:off x="2789936" y="1664208"/>
            <a:ext cx="6611821"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At Flipkart the seasonal naive with m = 52 is "the same week last year", which the tournament calls the </a:t>
            </a:r>
            <a:r>
              <a:rPr sz="1600" b="1" i="0">
                <a:solidFill>
                  <a:srgbClr val="1A1440"/>
                </a:solidFill>
                <a:latin typeface="Calibri"/>
              </a:rPr>
              <a:t>house bot</a:t>
            </a:r>
            <a:r>
              <a:rPr sz="1600" b="0" i="0">
                <a:solidFill>
                  <a:srgbClr val="1A1440"/>
                </a:solidFill>
                <a:latin typeface="Calibri"/>
              </a:rPr>
              <a:t>; finance's rule is the house bot times 1.04, and drift's step is about 70 shipments a week.</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65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Holding out; MAE and MAPE in the business's units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is a forecast scored?</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Hide the invented stall's latest days, score a rule on them in cups and in rupees, and say which way it leans.</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series tell?</a:t>
            </a:r>
          </a:p>
        </p:txBody>
      </p:sp>
      <p:sp>
        <p:nvSpPr>
          <p:cNvPr id="12" name="Rounded Rectangle 11"/>
          <p:cNvSpPr/>
          <p:nvPr/>
        </p:nvSpPr>
        <p:spPr>
          <a:xfrm>
            <a:off x="262819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does a copy fail?</a:t>
            </a:r>
          </a:p>
        </p:txBody>
      </p:sp>
      <p:sp>
        <p:nvSpPr>
          <p:cNvPr id="13" name="Rounded Rectangle 12"/>
          <p:cNvSpPr/>
          <p:nvPr/>
        </p:nvSpPr>
        <p:spPr>
          <a:xfrm>
            <a:off x="4406430" y="5074920"/>
            <a:ext cx="184615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is a forecast scored?</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does it earn trust?</a:t>
            </a:r>
          </a:p>
        </p:txBody>
      </p:sp>
      <p:sp>
        <p:nvSpPr>
          <p:cNvPr id="15" name="Rounded Rectangle 14"/>
          <p:cNvSpPr/>
          <p:nvPr/>
        </p:nvSpPr>
        <p:spPr>
          <a:xfrm>
            <a:off x="825898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is the peak?</a:t>
            </a:r>
          </a:p>
        </p:txBody>
      </p:sp>
      <p:sp>
        <p:nvSpPr>
          <p:cNvPr id="16" name="Rounded Rectangle 15"/>
          <p:cNvSpPr/>
          <p:nvPr/>
        </p:nvSpPr>
        <p:spPr>
          <a:xfrm>
            <a:off x="9800364"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rule wins?</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Forecasting basics: how much does the plan deliver?</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24 / 65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Score a rule only on days it never saw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score,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stall's owner (invented), who wants to know how wrong the milk order could be before trusting a rule, and Flipkart's regional operations head, who must say yes or no to a vendor's curve before a shift is booked.</a:t>
            </a:r>
          </a:p>
        </p:txBody>
      </p:sp>
      <p:sp>
        <p:nvSpPr>
          <p:cNvPr id="12" name="Rounded Rectangle 11"/>
          <p:cNvSpPr/>
          <p:nvPr/>
        </p:nvSpPr>
        <p:spPr>
          <a:xfrm>
            <a:off x="530352" y="319582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2384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314700"/>
            <a:ext cx="10564063" cy="358140"/>
          </a:xfrm>
          <a:prstGeom prst="rect">
            <a:avLst/>
          </a:prstGeom>
          <a:noFill/>
        </p:spPr>
        <p:txBody>
          <a:bodyPr wrap="square" anchor="ctr" lIns="0" rIns="0" tIns="0" bIns="0">
            <a:spAutoFit/>
          </a:bodyPr>
          <a:lstStyle/>
          <a:p>
            <a:r>
              <a:rPr sz="1500" b="1">
                <a:solidFill>
                  <a:srgbClr val="5B3FD6"/>
                </a:solidFill>
                <a:latin typeface="Calibri"/>
              </a:rPr>
              <a:t>The questions on the way. </a:t>
            </a:r>
            <a:r>
              <a:rPr sz="1500" b="0" i="0">
                <a:solidFill>
                  <a:srgbClr val="1A1440"/>
                </a:solidFill>
                <a:latin typeface="Calibri"/>
              </a:rPr>
              <a:t>Five, in this order:</a:t>
            </a:r>
          </a:p>
        </p:txBody>
      </p:sp>
      <p:sp>
        <p:nvSpPr>
          <p:cNvPr id="15" name="Rectangle 14"/>
          <p:cNvSpPr/>
          <p:nvPr/>
        </p:nvSpPr>
        <p:spPr>
          <a:xfrm>
            <a:off x="1570299" y="4468368"/>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HIDE</a:t>
            </a:r>
          </a:p>
        </p:txBody>
      </p:sp>
      <p:sp>
        <p:nvSpPr>
          <p:cNvPr id="17" name="Oval 16"/>
          <p:cNvSpPr/>
          <p:nvPr/>
        </p:nvSpPr>
        <p:spPr>
          <a:xfrm>
            <a:off x="1469715"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1750710" cy="465836"/>
          </a:xfrm>
          <a:prstGeom prst="rect">
            <a:avLst/>
          </a:prstGeom>
          <a:noFill/>
        </p:spPr>
        <p:txBody>
          <a:bodyPr wrap="square" anchor="t" lIns="0" rIns="0" tIns="0" bIns="0">
            <a:spAutoFit/>
          </a:bodyPr>
          <a:lstStyle/>
          <a:p>
            <a:pPr algn="l"/>
            <a:r>
              <a:rPr sz="1300" b="1" i="0">
                <a:solidFill>
                  <a:srgbClr val="1A0F5C"/>
                </a:solidFill>
                <a:latin typeface="Calibri"/>
              </a:rPr>
              <a:t>Which days do we hide?</a:t>
            </a:r>
          </a:p>
        </p:txBody>
      </p:sp>
      <p:sp>
        <p:nvSpPr>
          <p:cNvPr id="20" name="TextBox 19"/>
          <p:cNvSpPr txBox="1"/>
          <p:nvPr/>
        </p:nvSpPr>
        <p:spPr>
          <a:xfrm>
            <a:off x="694944" y="5437124"/>
            <a:ext cx="1750710" cy="366776"/>
          </a:xfrm>
          <a:prstGeom prst="rect">
            <a:avLst/>
          </a:prstGeom>
          <a:noFill/>
        </p:spPr>
        <p:txBody>
          <a:bodyPr wrap="square" anchor="t" lIns="0" rIns="0" tIns="0" bIns="0">
            <a:spAutoFit/>
          </a:bodyPr>
          <a:lstStyle/>
          <a:p>
            <a:pPr algn="l"/>
            <a:r>
              <a:rPr sz="1000" b="0" i="0">
                <a:solidFill>
                  <a:srgbClr val="6B6690"/>
                </a:solidFill>
                <a:latin typeface="Calibri"/>
              </a:rPr>
              <a:t>The latest, as many as the order reaches.</a:t>
            </a:r>
          </a:p>
        </p:txBody>
      </p:sp>
      <p:sp>
        <p:nvSpPr>
          <p:cNvPr id="21" name="TextBox 20"/>
          <p:cNvSpPr txBox="1"/>
          <p:nvPr/>
        </p:nvSpPr>
        <p:spPr>
          <a:xfrm>
            <a:off x="2793126" y="3901440"/>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COUNT</a:t>
            </a:r>
          </a:p>
        </p:txBody>
      </p:sp>
      <p:sp>
        <p:nvSpPr>
          <p:cNvPr id="22" name="Oval 21"/>
          <p:cNvSpPr/>
          <p:nvPr/>
        </p:nvSpPr>
        <p:spPr>
          <a:xfrm>
            <a:off x="373248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2793126" y="4788408"/>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957718" y="4934712"/>
            <a:ext cx="1750710" cy="465836"/>
          </a:xfrm>
          <a:prstGeom prst="rect">
            <a:avLst/>
          </a:prstGeom>
          <a:noFill/>
        </p:spPr>
        <p:txBody>
          <a:bodyPr wrap="square" anchor="t" lIns="0" rIns="0" tIns="0" bIns="0">
            <a:spAutoFit/>
          </a:bodyPr>
          <a:lstStyle/>
          <a:p>
            <a:pPr algn="l"/>
            <a:r>
              <a:rPr sz="1300" b="1" i="0">
                <a:solidFill>
                  <a:srgbClr val="1A0F5C"/>
                </a:solidFill>
                <a:latin typeface="Calibri"/>
              </a:rPr>
              <a:t>How is a miss counted?</a:t>
            </a:r>
          </a:p>
        </p:txBody>
      </p:sp>
      <p:sp>
        <p:nvSpPr>
          <p:cNvPr id="25" name="TextBox 24"/>
          <p:cNvSpPr txBox="1"/>
          <p:nvPr/>
        </p:nvSpPr>
        <p:spPr>
          <a:xfrm>
            <a:off x="2957718" y="5437124"/>
            <a:ext cx="1750710" cy="366776"/>
          </a:xfrm>
          <a:prstGeom prst="rect">
            <a:avLst/>
          </a:prstGeom>
          <a:noFill/>
        </p:spPr>
        <p:txBody>
          <a:bodyPr wrap="square" anchor="t" lIns="0" rIns="0" tIns="0" bIns="0">
            <a:spAutoFit/>
          </a:bodyPr>
          <a:lstStyle/>
          <a:p>
            <a:pPr algn="l"/>
            <a:r>
              <a:rPr sz="1000" b="0" i="0">
                <a:solidFill>
                  <a:srgbClr val="6B6690"/>
                </a:solidFill>
                <a:latin typeface="Calibri"/>
              </a:rPr>
              <a:t>In cups, signs dropped: MAE.</a:t>
            </a:r>
          </a:p>
        </p:txBody>
      </p:sp>
      <p:sp>
        <p:nvSpPr>
          <p:cNvPr id="26" name="TextBox 25"/>
          <p:cNvSpPr txBox="1"/>
          <p:nvPr/>
        </p:nvSpPr>
        <p:spPr>
          <a:xfrm>
            <a:off x="5055900" y="3901440"/>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PERCENT</a:t>
            </a:r>
          </a:p>
        </p:txBody>
      </p:sp>
      <p:sp>
        <p:nvSpPr>
          <p:cNvPr id="27" name="Oval 26"/>
          <p:cNvSpPr/>
          <p:nvPr/>
        </p:nvSpPr>
        <p:spPr>
          <a:xfrm>
            <a:off x="5995263"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5055900" y="4788408"/>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220492" y="4934712"/>
            <a:ext cx="1750710" cy="465836"/>
          </a:xfrm>
          <a:prstGeom prst="rect">
            <a:avLst/>
          </a:prstGeom>
          <a:noFill/>
        </p:spPr>
        <p:txBody>
          <a:bodyPr wrap="square" anchor="t" lIns="0" rIns="0" tIns="0" bIns="0">
            <a:spAutoFit/>
          </a:bodyPr>
          <a:lstStyle/>
          <a:p>
            <a:pPr algn="l"/>
            <a:r>
              <a:rPr sz="1300" b="1" i="0">
                <a:solidFill>
                  <a:srgbClr val="1A0F5C"/>
                </a:solidFill>
                <a:latin typeface="Calibri"/>
              </a:rPr>
              <a:t>When does a percent mislead?</a:t>
            </a:r>
          </a:p>
        </p:txBody>
      </p:sp>
      <p:sp>
        <p:nvSpPr>
          <p:cNvPr id="30" name="TextBox 29"/>
          <p:cNvSpPr txBox="1"/>
          <p:nvPr/>
        </p:nvSpPr>
        <p:spPr>
          <a:xfrm>
            <a:off x="5220492" y="5437124"/>
            <a:ext cx="1750710" cy="366776"/>
          </a:xfrm>
          <a:prstGeom prst="rect">
            <a:avLst/>
          </a:prstGeom>
          <a:noFill/>
        </p:spPr>
        <p:txBody>
          <a:bodyPr wrap="square" anchor="t" lIns="0" rIns="0" tIns="0" bIns="0">
            <a:spAutoFit/>
          </a:bodyPr>
          <a:lstStyle/>
          <a:p>
            <a:pPr algn="l"/>
            <a:r>
              <a:rPr sz="1000" b="0" i="0">
                <a:solidFill>
                  <a:srgbClr val="6B6690"/>
                </a:solidFill>
                <a:latin typeface="Calibri"/>
              </a:rPr>
              <a:t>On a day that sells almost nothing.</a:t>
            </a:r>
          </a:p>
        </p:txBody>
      </p:sp>
      <p:sp>
        <p:nvSpPr>
          <p:cNvPr id="31" name="TextBox 30"/>
          <p:cNvSpPr txBox="1"/>
          <p:nvPr/>
        </p:nvSpPr>
        <p:spPr>
          <a:xfrm>
            <a:off x="7318674" y="3901440"/>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LEAN</a:t>
            </a:r>
          </a:p>
        </p:txBody>
      </p:sp>
      <p:sp>
        <p:nvSpPr>
          <p:cNvPr id="32" name="Oval 31"/>
          <p:cNvSpPr/>
          <p:nvPr/>
        </p:nvSpPr>
        <p:spPr>
          <a:xfrm>
            <a:off x="825803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7318674" y="4788408"/>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483266" y="4934712"/>
            <a:ext cx="1750710" cy="465836"/>
          </a:xfrm>
          <a:prstGeom prst="rect">
            <a:avLst/>
          </a:prstGeom>
          <a:noFill/>
        </p:spPr>
        <p:txBody>
          <a:bodyPr wrap="square" anchor="t" lIns="0" rIns="0" tIns="0" bIns="0">
            <a:spAutoFit/>
          </a:bodyPr>
          <a:lstStyle/>
          <a:p>
            <a:pPr algn="l"/>
            <a:r>
              <a:rPr sz="1300" b="1" i="0">
                <a:solidFill>
                  <a:srgbClr val="1A0F5C"/>
                </a:solidFill>
                <a:latin typeface="Calibri"/>
              </a:rPr>
              <a:t>Which way is it wrong?</a:t>
            </a:r>
          </a:p>
        </p:txBody>
      </p:sp>
      <p:sp>
        <p:nvSpPr>
          <p:cNvPr id="35" name="TextBox 34"/>
          <p:cNvSpPr txBox="1"/>
          <p:nvPr/>
        </p:nvSpPr>
        <p:spPr>
          <a:xfrm>
            <a:off x="7483266" y="5437124"/>
            <a:ext cx="1750710" cy="366776"/>
          </a:xfrm>
          <a:prstGeom prst="rect">
            <a:avLst/>
          </a:prstGeom>
          <a:noFill/>
        </p:spPr>
        <p:txBody>
          <a:bodyPr wrap="square" anchor="t" lIns="0" rIns="0" tIns="0" bIns="0">
            <a:spAutoFit/>
          </a:bodyPr>
          <a:lstStyle/>
          <a:p>
            <a:pPr algn="l"/>
            <a:r>
              <a:rPr sz="1000" b="0" i="0">
                <a:solidFill>
                  <a:srgbClr val="6B6690"/>
                </a:solidFill>
                <a:latin typeface="Calibri"/>
              </a:rPr>
              <a:t>Short and over cost differently.</a:t>
            </a:r>
          </a:p>
        </p:txBody>
      </p:sp>
      <p:sp>
        <p:nvSpPr>
          <p:cNvPr id="36" name="TextBox 35"/>
          <p:cNvSpPr txBox="1"/>
          <p:nvPr/>
        </p:nvSpPr>
        <p:spPr>
          <a:xfrm>
            <a:off x="9581448" y="3901440"/>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PRICE</a:t>
            </a:r>
          </a:p>
        </p:txBody>
      </p:sp>
      <p:sp>
        <p:nvSpPr>
          <p:cNvPr id="37" name="Oval 36"/>
          <p:cNvSpPr/>
          <p:nvPr/>
        </p:nvSpPr>
        <p:spPr>
          <a:xfrm>
            <a:off x="10520812" y="4376928"/>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ounded Rectangle 37"/>
          <p:cNvSpPr/>
          <p:nvPr/>
        </p:nvSpPr>
        <p:spPr>
          <a:xfrm>
            <a:off x="9581448" y="4788408"/>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9746040" y="4934712"/>
            <a:ext cx="1750710" cy="251205"/>
          </a:xfrm>
          <a:prstGeom prst="rect">
            <a:avLst/>
          </a:prstGeom>
          <a:noFill/>
        </p:spPr>
        <p:txBody>
          <a:bodyPr wrap="square" anchor="t" lIns="0" rIns="0" tIns="0" bIns="0">
            <a:spAutoFit/>
          </a:bodyPr>
          <a:lstStyle/>
          <a:p>
            <a:pPr algn="l"/>
            <a:r>
              <a:rPr sz="1300" b="1" i="0">
                <a:solidFill>
                  <a:srgbClr val="FFFFFF"/>
                </a:solidFill>
                <a:latin typeface="Calibri"/>
              </a:rPr>
              <a:t>What does it cost?</a:t>
            </a:r>
          </a:p>
        </p:txBody>
      </p:sp>
      <p:sp>
        <p:nvSpPr>
          <p:cNvPr id="40" name="TextBox 39"/>
          <p:cNvSpPr txBox="1"/>
          <p:nvPr/>
        </p:nvSpPr>
        <p:spPr>
          <a:xfrm>
            <a:off x="9746040" y="5222494"/>
            <a:ext cx="1750710" cy="366776"/>
          </a:xfrm>
          <a:prstGeom prst="rect">
            <a:avLst/>
          </a:prstGeom>
          <a:noFill/>
        </p:spPr>
        <p:txBody>
          <a:bodyPr wrap="square" anchor="t" lIns="0" rIns="0" tIns="0" bIns="0">
            <a:spAutoFit/>
          </a:bodyPr>
          <a:lstStyle/>
          <a:p>
            <a:pPr algn="l"/>
            <a:r>
              <a:rPr sz="1000" b="0" i="0">
                <a:solidFill>
                  <a:srgbClr val="CFC9EE"/>
                </a:solidFill>
                <a:latin typeface="Calibri"/>
              </a:rPr>
              <a:t>Rs 12 a cup short, Rs 6 unsold, both invented.</a:t>
            </a:r>
          </a:p>
        </p:txBody>
      </p:sp>
      <p:sp>
        <p:nvSpPr>
          <p:cNvPr id="41" name="Oval 4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43" name="Oval 4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45" name="Oval 44"/>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How is a forecast scored?</a:t>
            </a:r>
          </a:p>
        </p:txBody>
      </p:sp>
      <p:sp>
        <p:nvSpPr>
          <p:cNvPr id="47" name="Oval 4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9" name="Oval 4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51" name="Oval 5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65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three days judge a three-day milk order?</a:t>
            </a:r>
          </a:p>
        </p:txBody>
      </p:sp>
      <p:sp>
        <p:nvSpPr>
          <p:cNvPr id="8" name="TextBox 7"/>
          <p:cNvSpPr txBox="1"/>
          <p:nvPr/>
        </p:nvSpPr>
        <p:spPr>
          <a:xfrm>
            <a:off x="530352" y="1243584"/>
            <a:ext cx="11130991" cy="218186"/>
          </a:xfrm>
          <a:prstGeom prst="rect">
            <a:avLst/>
          </a:prstGeom>
          <a:noFill/>
        </p:spPr>
        <p:txBody>
          <a:bodyPr wrap="square" anchor="t" lIns="0" rIns="0" tIns="0" bIns="0">
            <a:spAutoFit/>
          </a:bodyPr>
          <a:lstStyle/>
          <a:p>
            <a:pPr algn="l"/>
            <a:r>
              <a:rPr sz="1100" b="0" i="0">
                <a:solidFill>
                  <a:srgbClr val="6B6690"/>
                </a:solidFill>
                <a:latin typeface="Calibri"/>
              </a:rPr>
              <a:t>The stall's owner (invented) orders milk for the next three days. To judge a rule, which three of the fourteen days from 1 February 2025 do you hide?</a:t>
            </a:r>
          </a:p>
        </p:txBody>
      </p:sp>
      <p:sp>
        <p:nvSpPr>
          <p:cNvPr id="9" name="Rounded Rectangle 8"/>
          <p:cNvSpPr/>
          <p:nvPr/>
        </p:nvSpPr>
        <p:spPr>
          <a:xfrm>
            <a:off x="530352"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lendar_52de2a000930.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last three</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Days 12, 13 and 14.</a:t>
            </a:r>
          </a:p>
        </p:txBody>
      </p:sp>
      <p:sp>
        <p:nvSpPr>
          <p:cNvPr id="15" name="Rounded Rectangle 14"/>
          <p:cNvSpPr/>
          <p:nvPr/>
        </p:nvSpPr>
        <p:spPr>
          <a:xfrm>
            <a:off x="3358819"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uffle_1f5f2f56d507.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Three at random</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So any weekday may be tested.</a:t>
            </a:r>
          </a:p>
        </p:txBody>
      </p:sp>
      <p:sp>
        <p:nvSpPr>
          <p:cNvPr id="21" name="Rounded Rectangle 20"/>
          <p:cNvSpPr/>
          <p:nvPr/>
        </p:nvSpPr>
        <p:spPr>
          <a:xfrm>
            <a:off x="6187287"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ending-up_0f9f07881489.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three busiest</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days that cost the most.</a:t>
            </a:r>
          </a:p>
        </p:txBody>
      </p:sp>
      <p:sp>
        <p:nvSpPr>
          <p:cNvPr id="27" name="Rounded Rectangle 26"/>
          <p:cNvSpPr/>
          <p:nvPr/>
        </p:nvSpPr>
        <p:spPr>
          <a:xfrm>
            <a:off x="9015755"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Any three</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It makes no difference which.</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37" name="Oval 36"/>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How is a forecast scored?</a:t>
            </a:r>
          </a:p>
        </p:txBody>
      </p:sp>
      <p:sp>
        <p:nvSpPr>
          <p:cNvPr id="39" name="Oval 3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1" name="Oval 4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3" name="Oval 42"/>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65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last three, as many as the order reaches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the latest days, and what are the origin and the horizon?</a:t>
            </a:r>
          </a:p>
        </p:txBody>
      </p:sp>
      <p:pic>
        <p:nvPicPr>
          <p:cNvPr id="9" name="mermaid diagram" descr="C2_W04_D05_stall_hidden_days_STUDENT.png"/>
          <p:cNvPicPr>
            <a:picLocks noChangeAspect="1"/>
          </p:cNvPicPr>
          <p:nvPr/>
        </p:nvPicPr>
        <p:blipFill>
          <a:blip r:embed="rId4"/>
          <a:stretch>
            <a:fillRect/>
          </a:stretch>
        </p:blipFill>
        <p:spPr>
          <a:xfrm>
            <a:off x="2588386" y="1664208"/>
            <a:ext cx="7014922" cy="3008376"/>
          </a:xfrm>
          <a:prstGeom prst="rect">
            <a:avLst/>
          </a:prstGeom>
        </p:spPr>
      </p:pic>
      <p:sp>
        <p:nvSpPr>
          <p:cNvPr id="10" name="picture caption"/>
          <p:cNvSpPr txBox="1"/>
          <p:nvPr/>
        </p:nvSpPr>
        <p:spPr>
          <a:xfrm>
            <a:off x="530352" y="4709160"/>
            <a:ext cx="11130991" cy="316992"/>
          </a:xfrm>
          <a:prstGeom prst="rect">
            <a:avLst/>
          </a:prstGeom>
          <a:noFill/>
        </p:spPr>
        <p:txBody>
          <a:bodyPr wrap="square" anchor="t" lIns="0" rIns="0" tIns="0" bIns="0">
            <a:spAutoFit/>
          </a:bodyPr>
          <a:lstStyle/>
          <a:p>
            <a:pPr algn="ctr"/>
            <a:r>
              <a:rPr sz="1200" b="0" i="0">
                <a:solidFill>
                  <a:srgbClr val="6B6690"/>
                </a:solidFill>
                <a:latin typeface="Calibri"/>
              </a:rPr>
              <a:t>Fourteen days with the last three hidden (invented numbers)</a:t>
            </a:r>
          </a:p>
        </p:txBody>
      </p:sp>
      <p:sp>
        <p:nvSpPr>
          <p:cNvPr id="11" name="TextBox 10"/>
          <p:cNvSpPr txBox="1"/>
          <p:nvPr/>
        </p:nvSpPr>
        <p:spPr>
          <a:xfrm>
            <a:off x="530352" y="5035296"/>
            <a:ext cx="11130991" cy="1164336"/>
          </a:xfrm>
          <a:prstGeom prst="rect">
            <a:avLst/>
          </a:prstGeom>
          <a:noFill/>
        </p:spPr>
        <p:txBody>
          <a:bodyPr wrap="square" anchor="t" lIns="0" rIns="0" tIns="0" bIns="0">
            <a:spAutoFit/>
          </a:bodyPr>
          <a:lstStyle/>
          <a:p>
            <a:r>
              <a:rPr sz="1200" b="0" i="0">
                <a:solidFill>
                  <a:srgbClr val="1A1440"/>
                </a:solidFill>
                <a:latin typeface="Calibri"/>
              </a:rPr>
              <a:t>The answer is a. Hide the latest days of the stall's invented fortnight, 1 to 14 February 2025, at least as many as the forecast must reach ahead: three here. Day 11 is the </a:t>
            </a:r>
            <a:r>
              <a:rPr sz="1200" b="1" i="0">
                <a:solidFill>
                  <a:srgbClr val="1A1440"/>
                </a:solidFill>
                <a:latin typeface="Calibri"/>
              </a:rPr>
              <a:t>origin</a:t>
            </a:r>
            <a:r>
              <a:rPr sz="1200" b="0" i="0">
                <a:solidFill>
                  <a:srgbClr val="1A1440"/>
                </a:solidFill>
                <a:latin typeface="Calibri"/>
              </a:rPr>
              <a:t>, the last day the rule may see; three days is the </a:t>
            </a:r>
            <a:r>
              <a:rPr sz="1200" b="1" i="0">
                <a:solidFill>
                  <a:srgbClr val="1A1440"/>
                </a:solidFill>
                <a:latin typeface="Calibri"/>
              </a:rPr>
              <a:t>horizon</a:t>
            </a:r>
            <a:r>
              <a:rPr sz="1200" b="0" i="0">
                <a:solidFill>
                  <a:srgbClr val="1A1440"/>
                </a:solidFill>
                <a:latin typeface="Calibri"/>
              </a:rPr>
              <a:t>; days 1 to 11 are the </a:t>
            </a:r>
            <a:r>
              <a:rPr sz="1200" b="1" i="0">
                <a:solidFill>
                  <a:srgbClr val="1A1440"/>
                </a:solidFill>
                <a:latin typeface="Calibri"/>
              </a:rPr>
              <a:t>training</a:t>
            </a:r>
            <a:r>
              <a:rPr sz="1200" b="0" i="0">
                <a:solidFill>
                  <a:srgbClr val="1A1440"/>
                </a:solidFill>
                <a:latin typeface="Calibri"/>
              </a:rPr>
              <a:t> days and days 12 to 14 the </a:t>
            </a:r>
            <a:r>
              <a:rPr sz="1200" b="1" i="0">
                <a:solidFill>
                  <a:srgbClr val="1A1440"/>
                </a:solidFill>
                <a:latin typeface="Calibri"/>
              </a:rPr>
              <a:t>hidden</a:t>
            </a:r>
            <a:r>
              <a:rPr sz="1200" b="0" i="0">
                <a:solidFill>
                  <a:srgbClr val="1A1440"/>
                </a:solidFill>
                <a:latin typeface="Calibri"/>
              </a:rPr>
              <a:t> days, also called the hold-out or test set. Tomorrow looks most like the newest days, and a random hole would let a rule borrow days that come after the one it forecasts, which a real tomorrow never offers. The test set should "ideally be at least as large as the maximum forecast horizon required" (Forecasting: Principles and Practice, section 5.8).</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65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MAE 5 cups, MAPE 4.8 percent, leaning 1.7 low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one score made from three misses, and which way does the rule lean?</a:t>
            </a:r>
          </a:p>
        </p:txBody>
      </p:sp>
      <p:graphicFrame>
        <p:nvGraphicFramePr>
          <p:cNvPr id="9" name="Table 8"/>
          <p:cNvGraphicFramePr>
            <a:graphicFrameLocks noGrp="1"/>
          </p:cNvGraphicFramePr>
          <p:nvPr/>
        </p:nvGraphicFramePr>
        <p:xfrm>
          <a:off x="530352" y="1820672"/>
          <a:ext cx="11130989" cy="1341120"/>
        </p:xfrm>
        <a:graphic>
          <a:graphicData uri="http://schemas.openxmlformats.org/drawingml/2006/table">
            <a:tbl>
              <a:tblPr firstRow="0" bandRow="0">
                <a:tableStyleId>{2D5ABB26-0587-4C30-8999-92F81FD0307C}</a:tableStyleId>
              </a:tblPr>
              <a:tblGrid>
                <a:gridCol w="5280887"/>
                <a:gridCol w="1713134"/>
                <a:gridCol w="914400"/>
                <a:gridCol w="3222568"/>
              </a:tblGrid>
              <a:tr h="335280">
                <a:tc>
                  <a:txBody>
                    <a:bodyPr/>
                    <a:lstStyle/>
                    <a:p>
                      <a:r>
                        <a:rPr sz="1250" b="1" i="0">
                          <a:solidFill>
                            <a:srgbClr val="FFFFFF"/>
                          </a:solidFill>
                          <a:latin typeface="Calibri"/>
                        </a:rPr>
                        <a:t>Hidden day, February 2025 (invented)</a:t>
                      </a:r>
                    </a:p>
                  </a:txBody>
                  <a:tcPr marL="101600" marR="101600" marT="38100" marB="38100" anchor="ctr">
                    <a:solidFill>
                      <a:srgbClr val="1A0F5C"/>
                    </a:solidFill>
                  </a:tcPr>
                </a:tc>
                <a:tc>
                  <a:txBody>
                    <a:bodyPr/>
                    <a:lstStyle/>
                    <a:p>
                      <a:r>
                        <a:rPr sz="1250" b="1" i="0">
                          <a:solidFill>
                            <a:srgbClr val="FFFFFF"/>
                          </a:solidFill>
                          <a:latin typeface="Calibri"/>
                        </a:rPr>
                        <a:t>Naive said</a:t>
                      </a:r>
                    </a:p>
                  </a:txBody>
                  <a:tcPr marL="101600" marR="101600" marT="38100" marB="38100" anchor="ctr">
                    <a:solidFill>
                      <a:srgbClr val="1A0F5C"/>
                    </a:solidFill>
                  </a:tcPr>
                </a:tc>
                <a:tc>
                  <a:txBody>
                    <a:bodyPr/>
                    <a:lstStyle/>
                    <a:p>
                      <a:r>
                        <a:rPr sz="1250" b="1" i="0">
                          <a:solidFill>
                            <a:srgbClr val="FFFFFF"/>
                          </a:solidFill>
                          <a:latin typeface="Calibri"/>
                        </a:rPr>
                        <a:t>Sold</a:t>
                      </a:r>
                    </a:p>
                  </a:txBody>
                  <a:tcPr marL="101600" marR="101600" marT="38100" marB="38100" anchor="ctr">
                    <a:solidFill>
                      <a:srgbClr val="1A0F5C"/>
                    </a:solidFill>
                  </a:tcPr>
                </a:tc>
                <a:tc>
                  <a:txBody>
                    <a:bodyPr/>
                    <a:lstStyle/>
                    <a:p>
                      <a:r>
                        <a:rPr sz="1250" b="1" i="0">
                          <a:solidFill>
                            <a:srgbClr val="FFFFFF"/>
                          </a:solidFill>
                          <a:latin typeface="Calibri"/>
                        </a:rPr>
                        <a:t>Miss: said minus sold</a:t>
                      </a:r>
                    </a:p>
                  </a:txBody>
                  <a:tcPr marL="101600" marR="101600" marT="38100" marB="38100" anchor="ctr">
                    <a:solidFill>
                      <a:srgbClr val="1A0F5C"/>
                    </a:solidFill>
                  </a:tcPr>
                </a:tc>
              </a:tr>
              <a:tr h="335280">
                <a:tc>
                  <a:txBody>
                    <a:bodyPr/>
                    <a:lstStyle/>
                    <a:p>
                      <a:r>
                        <a:rPr sz="1200" b="0" i="0">
                          <a:solidFill>
                            <a:srgbClr val="1A1440"/>
                          </a:solidFill>
                          <a:latin typeface="Calibri"/>
                        </a:rPr>
                        <a:t>12</a:t>
                      </a:r>
                    </a:p>
                  </a:txBody>
                  <a:tcPr marL="101600" marR="101600" marT="38100" marB="38100" anchor="ctr">
                    <a:solidFill>
                      <a:srgbClr val="FFFFFF"/>
                    </a:solidFill>
                  </a:tcPr>
                </a:tc>
                <a:tc>
                  <a:txBody>
                    <a:bodyPr/>
                    <a:lstStyle/>
                    <a:p>
                      <a:r>
                        <a:rPr sz="1200" b="0" i="0">
                          <a:solidFill>
                            <a:srgbClr val="1A1440"/>
                          </a:solidFill>
                          <a:latin typeface="Calibri"/>
                        </a:rPr>
                        <a:t>100</a:t>
                      </a:r>
                    </a:p>
                  </a:txBody>
                  <a:tcPr marL="101600" marR="101600" marT="38100" marB="38100" anchor="ctr">
                    <a:solidFill>
                      <a:srgbClr val="FFFFFF"/>
                    </a:solidFill>
                  </a:tcPr>
                </a:tc>
                <a:tc>
                  <a:txBody>
                    <a:bodyPr/>
                    <a:lstStyle/>
                    <a:p>
                      <a:r>
                        <a:rPr sz="1200" b="0" i="0">
                          <a:solidFill>
                            <a:srgbClr val="1A1440"/>
                          </a:solidFill>
                          <a:latin typeface="Calibri"/>
                        </a:rPr>
                        <a:t>110</a:t>
                      </a:r>
                    </a:p>
                  </a:txBody>
                  <a:tcPr marL="101600" marR="101600" marT="38100" marB="38100" anchor="ctr">
                    <a:solidFill>
                      <a:srgbClr val="FFFFFF"/>
                    </a:solidFill>
                  </a:tcPr>
                </a:tc>
                <a:tc>
                  <a:txBody>
                    <a:bodyPr/>
                    <a:lstStyle/>
                    <a:p>
                      <a:r>
                        <a:rPr sz="1200" b="0" i="0">
                          <a:solidFill>
                            <a:srgbClr val="1A1440"/>
                          </a:solidFill>
                          <a:latin typeface="Calibri"/>
                        </a:rPr>
                        <a:t>-10, so 10 cups short</a:t>
                      </a:r>
                    </a:p>
                  </a:txBody>
                  <a:tcPr marL="101600" marR="101600" marT="38100" marB="38100" anchor="ctr">
                    <a:solidFill>
                      <a:srgbClr val="FFFFFF"/>
                    </a:solidFill>
                  </a:tcPr>
                </a:tc>
              </a:tr>
              <a:tr h="335280">
                <a:tc>
                  <a:txBody>
                    <a:bodyPr/>
                    <a:lstStyle/>
                    <a:p>
                      <a:r>
                        <a:rPr sz="1200" b="0" i="0">
                          <a:solidFill>
                            <a:srgbClr val="1A1440"/>
                          </a:solidFill>
                          <a:latin typeface="Calibri"/>
                        </a:rPr>
                        <a:t>13</a:t>
                      </a:r>
                    </a:p>
                  </a:txBody>
                  <a:tcPr marL="101600" marR="101600" marT="38100" marB="38100" anchor="ctr">
                    <a:solidFill>
                      <a:srgbClr val="F4F2FA"/>
                    </a:solidFill>
                  </a:tcPr>
                </a:tc>
                <a:tc>
                  <a:txBody>
                    <a:bodyPr/>
                    <a:lstStyle/>
                    <a:p>
                      <a:r>
                        <a:rPr sz="1200" b="0" i="0">
                          <a:solidFill>
                            <a:srgbClr val="1A1440"/>
                          </a:solidFill>
                          <a:latin typeface="Calibri"/>
                        </a:rPr>
                        <a:t>100</a:t>
                      </a:r>
                    </a:p>
                  </a:txBody>
                  <a:tcPr marL="101600" marR="101600" marT="38100" marB="38100" anchor="ctr">
                    <a:solidFill>
                      <a:srgbClr val="F4F2FA"/>
                    </a:solidFill>
                  </a:tcPr>
                </a:tc>
                <a:tc>
                  <a:txBody>
                    <a:bodyPr/>
                    <a:lstStyle/>
                    <a:p>
                      <a:r>
                        <a:rPr sz="1200" b="0" i="0">
                          <a:solidFill>
                            <a:srgbClr val="1A1440"/>
                          </a:solidFill>
                          <a:latin typeface="Calibri"/>
                        </a:rPr>
                        <a:t>95</a:t>
                      </a:r>
                    </a:p>
                  </a:txBody>
                  <a:tcPr marL="101600" marR="101600" marT="38100" marB="38100" anchor="ctr">
                    <a:solidFill>
                      <a:srgbClr val="F4F2FA"/>
                    </a:solidFill>
                  </a:tcPr>
                </a:tc>
                <a:tc>
                  <a:txBody>
                    <a:bodyPr/>
                    <a:lstStyle/>
                    <a:p>
                      <a:r>
                        <a:rPr sz="1200" b="0" i="0">
                          <a:solidFill>
                            <a:srgbClr val="1A1440"/>
                          </a:solidFill>
                          <a:latin typeface="Calibri"/>
                        </a:rPr>
                        <a:t>+5, so 5 cups unsold</a:t>
                      </a:r>
                    </a:p>
                  </a:txBody>
                  <a:tcPr marL="101600" marR="101600" marT="38100" marB="38100" anchor="ctr">
                    <a:solidFill>
                      <a:srgbClr val="F4F2FA"/>
                    </a:solidFill>
                  </a:tcPr>
                </a:tc>
              </a:tr>
              <a:tr h="335280">
                <a:tc>
                  <a:txBody>
                    <a:bodyPr/>
                    <a:lstStyle/>
                    <a:p>
                      <a:r>
                        <a:rPr sz="1200" b="0" i="0">
                          <a:solidFill>
                            <a:srgbClr val="1A1440"/>
                          </a:solidFill>
                          <a:latin typeface="Calibri"/>
                        </a:rPr>
                        <a:t>14</a:t>
                      </a:r>
                    </a:p>
                  </a:txBody>
                  <a:tcPr marL="101600" marR="101600" marT="38100" marB="38100" anchor="ctr">
                    <a:solidFill>
                      <a:srgbClr val="FFFFFF"/>
                    </a:solidFill>
                  </a:tcPr>
                </a:tc>
                <a:tc>
                  <a:txBody>
                    <a:bodyPr/>
                    <a:lstStyle/>
                    <a:p>
                      <a:r>
                        <a:rPr sz="1200" b="0" i="0">
                          <a:solidFill>
                            <a:srgbClr val="1A1440"/>
                          </a:solidFill>
                          <a:latin typeface="Calibri"/>
                        </a:rPr>
                        <a:t>100</a:t>
                      </a:r>
                    </a:p>
                  </a:txBody>
                  <a:tcPr marL="101600" marR="101600" marT="38100" marB="38100" anchor="ctr">
                    <a:solidFill>
                      <a:srgbClr val="FFFFFF"/>
                    </a:solidFill>
                  </a:tcPr>
                </a:tc>
                <a:tc>
                  <a:txBody>
                    <a:bodyPr/>
                    <a:lstStyle/>
                    <a:p>
                      <a:r>
                        <a:rPr sz="1200" b="0" i="0">
                          <a:solidFill>
                            <a:srgbClr val="1A1440"/>
                          </a:solidFill>
                          <a:latin typeface="Calibri"/>
                        </a:rPr>
                        <a:t>100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bl>
          </a:graphicData>
        </a:graphic>
      </p:graphicFrame>
      <p:sp>
        <p:nvSpPr>
          <p:cNvPr id="10" name="TextBox 9"/>
          <p:cNvSpPr txBox="1"/>
          <p:nvPr/>
        </p:nvSpPr>
        <p:spPr>
          <a:xfrm>
            <a:off x="530352" y="3417824"/>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MAE</a:t>
            </a:r>
            <a:r>
              <a:rPr sz="1600" b="0" i="0">
                <a:solidFill>
                  <a:srgbClr val="1A1440"/>
                </a:solidFill>
                <a:latin typeface="Calibri"/>
              </a:rPr>
              <a:t> drops the signs and averages: (10 + 5 + 0) / 3 = 5.0 cups. </a:t>
            </a:r>
            <a:r>
              <a:rPr sz="1600" b="1" i="0">
                <a:solidFill>
                  <a:srgbClr val="1A1440"/>
                </a:solidFill>
                <a:latin typeface="Calibri"/>
              </a:rPr>
              <a:t>MAPE</a:t>
            </a:r>
            <a:r>
              <a:rPr sz="1600" b="0" i="0">
                <a:solidFill>
                  <a:srgbClr val="1A1440"/>
                </a:solidFill>
                <a:latin typeface="Calibri"/>
              </a:rPr>
              <a:t> divides each miss by what sold first: (10/110 + 5/95 + 0/100) / 3 = 4.8 percent. The </a:t>
            </a:r>
            <a:r>
              <a:rPr sz="1600" b="1" i="0">
                <a:solidFill>
                  <a:srgbClr val="1A1440"/>
                </a:solidFill>
                <a:latin typeface="Calibri"/>
              </a:rPr>
              <a:t>lean</a:t>
            </a:r>
            <a:r>
              <a:rPr sz="1600" b="0" i="0">
                <a:solidFill>
                  <a:srgbClr val="1A1440"/>
                </a:solidFill>
                <a:latin typeface="Calibri"/>
              </a:rPr>
              <a:t> keeps the signs: -5 / 3 = -1.7, so the rule runs low. Priced, 10 cups short at Rs 12 and 5 unsold at Rs 6 cost Rs 150.</a:t>
            </a:r>
          </a:p>
        </p:txBody>
      </p:sp>
      <p:sp>
        <p:nvSpPr>
          <p:cNvPr id="11" name="Rounded Rectangle 10"/>
          <p:cNvSpPr/>
          <p:nvPr/>
        </p:nvSpPr>
        <p:spPr>
          <a:xfrm>
            <a:off x="530352" y="4594352"/>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13232" y="4722368"/>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868680" y="4722368"/>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1024128" y="4722368"/>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04671" y="4923536"/>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miss = [100 - sold for sold in [110, 95, 100]]                      # -10, +5, 0</a:t>
            </a:r>
          </a:p>
          <a:p>
            <a:pPr>
              <a:spcAft>
                <a:spcPts val="200"/>
              </a:spcAft>
            </a:pPr>
            <a:r>
              <a:rPr sz="1400" b="0" i="0">
                <a:solidFill>
                  <a:srgbClr val="E4E1F1"/>
                </a:solidFill>
                <a:latin typeface="Consolas"/>
              </a:rPr>
              <a:t>mae = sum(abs(m) for m in miss) / 3                                  # 5.0 cups</a:t>
            </a:r>
          </a:p>
          <a:p>
            <a:pPr>
              <a:spcAft>
                <a:spcPts val="200"/>
              </a:spcAft>
            </a:pPr>
            <a:r>
              <a:rPr sz="1400" b="0" i="0">
                <a:solidFill>
                  <a:srgbClr val="E4E1F1"/>
                </a:solidFill>
                <a:latin typeface="Consolas"/>
              </a:rPr>
              <a:t>mape = sum(abs(m) / s for m, s in zip(miss, [110, 95, 100])) / 3     # 0.048, 4.8 percent</a:t>
            </a:r>
          </a:p>
          <a:p>
            <a:pPr>
              <a:spcAft>
                <a:spcPts val="200"/>
              </a:spcAft>
            </a:pPr>
            <a:r>
              <a:rPr sz="1400" b="0" i="0">
                <a:solidFill>
                  <a:srgbClr val="E4E1F1"/>
                </a:solidFill>
                <a:latin typeface="Consolas"/>
              </a:rPr>
              <a:t>lean = sum(miss) / 3                                                 # -1.7: the rule runs low</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20" name="Oval 19"/>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How is a forecast scored?</a:t>
            </a:r>
          </a:p>
        </p:txBody>
      </p:sp>
      <p:sp>
        <p:nvSpPr>
          <p:cNvPr id="22" name="Oval 2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4" name="Oval 2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6" name="Oval 25"/>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65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MAPE breaks on a quiet day; MAE keeps the unit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When does a percent mislead, and which score goes to the milkman?</a:t>
            </a:r>
          </a:p>
        </p:txBody>
      </p:sp>
      <p:pic>
        <p:nvPicPr>
          <p:cNvPr id="9" name="mermaid diagram" descr="C2_W04_D05_stall_mape_STUDENT.png"/>
          <p:cNvPicPr>
            <a:picLocks noChangeAspect="1"/>
          </p:cNvPicPr>
          <p:nvPr/>
        </p:nvPicPr>
        <p:blipFill>
          <a:blip r:embed="rId4"/>
          <a:stretch>
            <a:fillRect/>
          </a:stretch>
        </p:blipFill>
        <p:spPr>
          <a:xfrm>
            <a:off x="2586946" y="1664208"/>
            <a:ext cx="7017802" cy="3284728"/>
          </a:xfrm>
          <a:prstGeom prst="rect">
            <a:avLst/>
          </a:prstGeom>
        </p:spPr>
      </p:pic>
      <p:sp>
        <p:nvSpPr>
          <p:cNvPr id="10" name="picture caption"/>
          <p:cNvSpPr txBox="1"/>
          <p:nvPr/>
        </p:nvSpPr>
        <p:spPr>
          <a:xfrm>
            <a:off x="530352" y="4985512"/>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same 15-cup miss in cups and in percent (invented numbers)</a:t>
            </a:r>
          </a:p>
        </p:txBody>
      </p:sp>
      <p:sp>
        <p:nvSpPr>
          <p:cNvPr id="11" name="TextBox 10"/>
          <p:cNvSpPr txBox="1"/>
          <p:nvPr/>
        </p:nvSpPr>
        <p:spPr>
          <a:xfrm>
            <a:off x="530352" y="5311648"/>
            <a:ext cx="11130991" cy="887983"/>
          </a:xfrm>
          <a:prstGeom prst="rect">
            <a:avLst/>
          </a:prstGeom>
          <a:noFill/>
        </p:spPr>
        <p:txBody>
          <a:bodyPr wrap="square" anchor="t" lIns="0" rIns="0" tIns="0" bIns="0">
            <a:spAutoFit/>
          </a:bodyPr>
          <a:lstStyle/>
          <a:p>
            <a:r>
              <a:rPr sz="1100" b="0" i="0">
                <a:solidFill>
                  <a:srgbClr val="1A1440"/>
                </a:solidFill>
                <a:latin typeface="Calibri"/>
              </a:rPr>
              <a:t>Two invented days, apart from the stall's record, each miss by 15 cups: 15 over 85 is 17.6 percent of an ordinary day, and 15 over 5 is 300 percent of a rain day when the stall shut after an hour. Named last: </a:t>
            </a:r>
            <a:r>
              <a:rPr sz="1100" b="1" i="0">
                <a:solidFill>
                  <a:srgbClr val="1A1440"/>
                </a:solidFill>
                <a:latin typeface="Calibri"/>
              </a:rPr>
              <a:t>MAE</a:t>
            </a:r>
            <a:r>
              <a:rPr sz="1100" b="0" i="0">
                <a:solidFill>
                  <a:srgbClr val="1A1440"/>
                </a:solidFill>
                <a:latin typeface="Calibri"/>
              </a:rPr>
              <a:t>, the mean absolute error, is the mean of the misses with their signs dropped, in the unit the cost is in; </a:t>
            </a:r>
            <a:r>
              <a:rPr sz="1100" b="1" i="0">
                <a:solidFill>
                  <a:srgbClr val="1A1440"/>
                </a:solidFill>
                <a:latin typeface="Calibri"/>
              </a:rPr>
              <a:t>MAPE</a:t>
            </a:r>
            <a:r>
              <a:rPr sz="1100" b="0" i="0">
                <a:solidFill>
                  <a:srgbClr val="1A1440"/>
                </a:solidFill>
                <a:latin typeface="Calibri"/>
              </a:rPr>
              <a:t>, the mean absolute percentage error, is the mean of each miss over what sold, which compares stalls of different sizes and runs to extremes when a day sells close to zero. A miss below what sold cannot pass 100 percent while one above has no ceiling, so a rule picked by MAPE runs low.</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65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Same MAE, different rupees: report the lean too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rules both miss by 10 cups a day. Which costs more?</a:t>
            </a:r>
          </a:p>
        </p:txBody>
      </p:sp>
      <p:pic>
        <p:nvPicPr>
          <p:cNvPr id="9" name="mermaid diagram" descr="C2_W04_D05_stall_lean_STUDENT.png"/>
          <p:cNvPicPr>
            <a:picLocks noChangeAspect="1"/>
          </p:cNvPicPr>
          <p:nvPr/>
        </p:nvPicPr>
        <p:blipFill>
          <a:blip r:embed="rId4"/>
          <a:stretch>
            <a:fillRect/>
          </a:stretch>
        </p:blipFill>
        <p:spPr>
          <a:xfrm>
            <a:off x="2369453" y="1664208"/>
            <a:ext cx="7452787" cy="3147060"/>
          </a:xfrm>
          <a:prstGeom prst="rect">
            <a:avLst/>
          </a:prstGeom>
        </p:spPr>
      </p:pic>
      <p:sp>
        <p:nvSpPr>
          <p:cNvPr id="10" name="picture caption"/>
          <p:cNvSpPr txBox="1"/>
          <p:nvPr/>
        </p:nvSpPr>
        <p:spPr>
          <a:xfrm>
            <a:off x="530352" y="484784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Two rules with the same MAE and different costs (invented numbers)</a:t>
            </a:r>
          </a:p>
        </p:txBody>
      </p:sp>
      <p:sp>
        <p:nvSpPr>
          <p:cNvPr id="11" name="Rounded Rectangle 10"/>
          <p:cNvSpPr/>
          <p:nvPr/>
        </p:nvSpPr>
        <p:spPr>
          <a:xfrm>
            <a:off x="530352" y="5173980"/>
            <a:ext cx="11130991" cy="8610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301996"/>
            <a:ext cx="45720" cy="6050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292852"/>
            <a:ext cx="10564063" cy="678180"/>
          </a:xfrm>
          <a:prstGeom prst="rect">
            <a:avLst/>
          </a:prstGeom>
          <a:noFill/>
        </p:spPr>
        <p:txBody>
          <a:bodyPr wrap="square" anchor="ctr" lIns="0" rIns="0" tIns="0" bIns="0">
            <a:spAutoFit/>
          </a:bodyPr>
          <a:lstStyle/>
          <a:p>
            <a:r>
              <a:rPr sz="1100" b="1">
                <a:solidFill>
                  <a:srgbClr val="5B3FD6"/>
                </a:solidFill>
                <a:latin typeface="Calibri"/>
              </a:rPr>
              <a:t>The plausible wrong number. </a:t>
            </a:r>
            <a:r>
              <a:rPr sz="1100" b="0" i="0">
                <a:solidFill>
                  <a:srgbClr val="1A1440"/>
                </a:solidFill>
                <a:latin typeface="Calibri"/>
              </a:rPr>
              <a:t>"Both rules score MAE 10, so they are equally good." </a:t>
            </a:r>
            <a:r>
              <a:rPr sz="1100" b="1" i="0">
                <a:solidFill>
                  <a:srgbClr val="1A1440"/>
                </a:solidFill>
                <a:latin typeface="Calibri"/>
              </a:rPr>
              <a:t>The decision it misleads:</a:t>
            </a:r>
            <a:r>
              <a:rPr sz="1100" b="0" i="0">
                <a:solidFill>
                  <a:srgbClr val="1A1440"/>
                </a:solidFill>
                <a:latin typeface="Calibri"/>
              </a:rPr>
              <a:t> the cheaper rule dropped for no reason. </a:t>
            </a:r>
            <a:r>
              <a:rPr sz="1100" b="1" i="0">
                <a:solidFill>
                  <a:srgbClr val="1A1440"/>
                </a:solidFill>
                <a:latin typeface="Calibri"/>
              </a:rPr>
              <a:t>The check:</a:t>
            </a:r>
            <a:r>
              <a:rPr sz="1100" b="0" i="0">
                <a:solidFill>
                  <a:srgbClr val="1A1440"/>
                </a:solidFill>
                <a:latin typeface="Calibri"/>
              </a:rPr>
              <a:t> the sign of each miss. Rule P runs 10 over on both days at the stall (invented): 20 cups unsold at Rs 6, Rs 120. Rule Q runs 10 over, then 10 short: Rs 60 plus Rs 120, Rs 180. </a:t>
            </a:r>
            <a:r>
              <a:rPr sz="1100" b="1" i="0">
                <a:solidFill>
                  <a:srgbClr val="1A1440"/>
                </a:solidFill>
                <a:latin typeface="Calibri"/>
              </a:rPr>
              <a:t>The fix:</a:t>
            </a:r>
            <a:r>
              <a:rPr sz="1100" b="0" i="0">
                <a:solidFill>
                  <a:srgbClr val="1A1440"/>
                </a:solidFill>
                <a:latin typeface="Calibri"/>
              </a:rPr>
              <a:t> report the MAE and the lean together, and price each direction.</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8" name="Oval 17"/>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How is a forecast scored?</a:t>
            </a:r>
          </a:p>
        </p:txBody>
      </p:sp>
      <p:sp>
        <p:nvSpPr>
          <p:cNvPr id="20" name="Oval 1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2" name="Oval 21"/>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4" name="Oval 23"/>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65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scoring a forecast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chapter leave, and what does an interviewer hear?</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627888"/>
          </a:xfrm>
          <a:prstGeom prst="rect">
            <a:avLst/>
          </a:prstGeom>
          <a:noFill/>
        </p:spPr>
        <p:txBody>
          <a:bodyPr wrap="square" anchor="t" lIns="0" rIns="0" tIns="0" bIns="0">
            <a:spAutoFit/>
          </a:bodyPr>
          <a:lstStyle/>
          <a:p>
            <a:r>
              <a:rPr sz="1500" b="0" i="0">
                <a:solidFill>
                  <a:srgbClr val="1A1440"/>
                </a:solidFill>
                <a:latin typeface="Calibri"/>
              </a:rPr>
              <a:t>Hide the latest periods, at least as many as the forecast must reach ahead, and forecast them all from one origin.</a:t>
            </a:r>
          </a:p>
        </p:txBody>
      </p:sp>
      <p:sp>
        <p:nvSpPr>
          <p:cNvPr id="11" name="TextBox 10"/>
          <p:cNvSpPr txBox="1"/>
          <p:nvPr/>
        </p:nvSpPr>
        <p:spPr>
          <a:xfrm>
            <a:off x="530352" y="262128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657856"/>
            <a:ext cx="10564063" cy="368808"/>
          </a:xfrm>
          <a:prstGeom prst="rect">
            <a:avLst/>
          </a:prstGeom>
          <a:noFill/>
        </p:spPr>
        <p:txBody>
          <a:bodyPr wrap="square" anchor="t" lIns="0" rIns="0" tIns="0" bIns="0">
            <a:spAutoFit/>
          </a:bodyPr>
          <a:lstStyle/>
          <a:p>
            <a:r>
              <a:rPr sz="1500" b="0" i="0">
                <a:solidFill>
                  <a:srgbClr val="1A1440"/>
                </a:solidFill>
                <a:latin typeface="Calibri"/>
              </a:rPr>
              <a:t>Fix the measure before anyone scores, in the unit the cost is in.</a:t>
            </a:r>
          </a:p>
        </p:txBody>
      </p:sp>
      <p:sp>
        <p:nvSpPr>
          <p:cNvPr id="13" name="TextBox 12"/>
          <p:cNvSpPr txBox="1"/>
          <p:nvPr/>
        </p:nvSpPr>
        <p:spPr>
          <a:xfrm>
            <a:off x="530352" y="306324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3099816"/>
            <a:ext cx="10564063" cy="368808"/>
          </a:xfrm>
          <a:prstGeom prst="rect">
            <a:avLst/>
          </a:prstGeom>
          <a:noFill/>
        </p:spPr>
        <p:txBody>
          <a:bodyPr wrap="square" anchor="t" lIns="0" rIns="0" tIns="0" bIns="0">
            <a:spAutoFit/>
          </a:bodyPr>
          <a:lstStyle/>
          <a:p>
            <a:r>
              <a:rPr sz="1500" b="0" i="0">
                <a:solidFill>
                  <a:srgbClr val="1A1440"/>
                </a:solidFill>
                <a:latin typeface="Calibri"/>
              </a:rPr>
              <a:t>Keep MAPE for comparing series of different sizes, and never on periods that sell close to zero.</a:t>
            </a:r>
          </a:p>
        </p:txBody>
      </p:sp>
      <p:sp>
        <p:nvSpPr>
          <p:cNvPr id="15" name="TextBox 14"/>
          <p:cNvSpPr txBox="1"/>
          <p:nvPr/>
        </p:nvSpPr>
        <p:spPr>
          <a:xfrm>
            <a:off x="530352" y="35052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541776"/>
            <a:ext cx="10564063" cy="627888"/>
          </a:xfrm>
          <a:prstGeom prst="rect">
            <a:avLst/>
          </a:prstGeom>
          <a:noFill/>
        </p:spPr>
        <p:txBody>
          <a:bodyPr wrap="square" anchor="t" lIns="0" rIns="0" tIns="0" bIns="0">
            <a:spAutoFit/>
          </a:bodyPr>
          <a:lstStyle/>
          <a:p>
            <a:r>
              <a:rPr sz="1500" b="0" i="0">
                <a:solidFill>
                  <a:srgbClr val="1A1440"/>
                </a:solidFill>
                <a:latin typeface="Calibri"/>
              </a:rPr>
              <a:t>Report which way a rule leans beside how far it misses, because a miss short and a miss over cost different amounts.</a:t>
            </a:r>
          </a:p>
        </p:txBody>
      </p:sp>
      <p:sp>
        <p:nvSpPr>
          <p:cNvPr id="17" name="Rounded Rectangle 16"/>
          <p:cNvSpPr/>
          <p:nvPr/>
        </p:nvSpPr>
        <p:spPr>
          <a:xfrm>
            <a:off x="530352" y="4352544"/>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8143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924044"/>
            <a:ext cx="237744" cy="237744"/>
          </a:xfrm>
          <a:prstGeom prst="rect">
            <a:avLst/>
          </a:prstGeom>
        </p:spPr>
      </p:pic>
      <p:sp>
        <p:nvSpPr>
          <p:cNvPr id="20" name="TextBox 19"/>
          <p:cNvSpPr txBox="1"/>
          <p:nvPr/>
        </p:nvSpPr>
        <p:spPr>
          <a:xfrm>
            <a:off x="1399031" y="449884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718304"/>
            <a:ext cx="9987991" cy="941832"/>
          </a:xfrm>
          <a:prstGeom prst="rect">
            <a:avLst/>
          </a:prstGeom>
          <a:noFill/>
        </p:spPr>
        <p:txBody>
          <a:bodyPr wrap="square" anchor="t" lIns="0" rIns="0" tIns="0" bIns="0">
            <a:spAutoFit/>
          </a:bodyPr>
          <a:lstStyle/>
          <a:p>
            <a:r>
              <a:rPr sz="1500" b="0" i="0">
                <a:solidFill>
                  <a:srgbClr val="1A1440"/>
                </a:solidFill>
                <a:latin typeface="Calibri"/>
              </a:rPr>
              <a:t>[S], a staple asked everywhere: "How do you evaluate a forecast?" "I hold out the latest periods, as many as the horizon, fix the error measure in the business's unit before scoring, compare with the naive and the seasonal naive, and price each direction."</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24" name="Oval 2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26" name="Oval 25"/>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How is a forecast scored?</a:t>
            </a:r>
          </a:p>
        </p:txBody>
      </p:sp>
      <p:sp>
        <p:nvSpPr>
          <p:cNvPr id="28" name="Oval 2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30" name="Oval 2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32" name="Oval 3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65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Scoring feeds chapter 4 and chapter 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idea come from, and where does it go next?</a:t>
            </a:r>
          </a:p>
        </p:txBody>
      </p:sp>
      <p:pic>
        <p:nvPicPr>
          <p:cNvPr id="9" name="mermaid diagram" descr="35fbffe84b60d620.png"/>
          <p:cNvPicPr>
            <a:picLocks noChangeAspect="1"/>
          </p:cNvPicPr>
          <p:nvPr/>
        </p:nvPicPr>
        <p:blipFill>
          <a:blip r:embed="rId5"/>
          <a:stretch>
            <a:fillRect/>
          </a:stretch>
        </p:blipFill>
        <p:spPr>
          <a:xfrm>
            <a:off x="2650595" y="1664208"/>
            <a:ext cx="6890504" cy="3532631"/>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At Flipkart the latest thirteen weeks, 29 June to 21 September 2026, are hidden and the origin is 22 June; the plan's horizon, counted from the last week of data to the plan's last week, is ten weeks. A spare shipment costs Rs 650 a shift over 120 shipments, Rs 5.42, and a late one Rs 25.</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65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542032"/>
            <a:ext cx="10673791" cy="317246"/>
          </a:xfrm>
          <a:prstGeom prst="rect">
            <a:avLst/>
          </a:prstGeom>
          <a:noFill/>
        </p:spPr>
        <p:txBody>
          <a:bodyPr wrap="square" anchor="t" lIns="0" rIns="0" tIns="0" bIns="0">
            <a:spAutoFit/>
          </a:bodyPr>
          <a:lstStyle/>
          <a:p>
            <a:pPr algn="l"/>
            <a:r>
              <a:rPr sz="1700" b="1" i="0">
                <a:solidFill>
                  <a:srgbClr val="D9A7FF"/>
                </a:solidFill>
                <a:latin typeface="Calibri"/>
              </a:rPr>
              <a:t>Beating the baseline; the vendor curve tested; the good-enough call and the forecast note</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When does it earn trust?</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Watch a perfect fit forecast badly, race a clever rule against the seasonal naive on hidden days, stop improving when the decision stops changing, and write the four-line note.</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series tell?</a:t>
            </a:r>
          </a:p>
        </p:txBody>
      </p:sp>
      <p:sp>
        <p:nvSpPr>
          <p:cNvPr id="12" name="Rounded Rectangle 11"/>
          <p:cNvSpPr/>
          <p:nvPr/>
        </p:nvSpPr>
        <p:spPr>
          <a:xfrm>
            <a:off x="262819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does a copy fail?</a:t>
            </a:r>
          </a:p>
        </p:txBody>
      </p:sp>
      <p:sp>
        <p:nvSpPr>
          <p:cNvPr id="13" name="Rounded Rectangle 12"/>
          <p:cNvSpPr/>
          <p:nvPr/>
        </p:nvSpPr>
        <p:spPr>
          <a:xfrm>
            <a:off x="440643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forecast scored?</a:t>
            </a:r>
          </a:p>
        </p:txBody>
      </p:sp>
      <p:sp>
        <p:nvSpPr>
          <p:cNvPr id="14" name="Rounded Rectangle 13"/>
          <p:cNvSpPr/>
          <p:nvPr/>
        </p:nvSpPr>
        <p:spPr>
          <a:xfrm>
            <a:off x="6362318"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When does it earn trust?</a:t>
            </a:r>
          </a:p>
        </p:txBody>
      </p:sp>
      <p:sp>
        <p:nvSpPr>
          <p:cNvPr id="15" name="Rounded Rectangle 14"/>
          <p:cNvSpPr/>
          <p:nvPr/>
        </p:nvSpPr>
        <p:spPr>
          <a:xfrm>
            <a:off x="825898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is the peak?</a:t>
            </a:r>
          </a:p>
        </p:txBody>
      </p:sp>
      <p:sp>
        <p:nvSpPr>
          <p:cNvPr id="16" name="Rounded Rectangle 15"/>
          <p:cNvSpPr/>
          <p:nvPr/>
        </p:nvSpPr>
        <p:spPr>
          <a:xfrm>
            <a:off x="9800364"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rule wins?</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Forecasting basics: how much does the plan deliver?</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33 / 65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forecast earns trust only on unseen days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verdict,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stall's owner (invented), offered a "model" by a nephew with a laptop, and Flipkart's regional operations head, offered a vendor's curve that fits history within 2 percent.</a:t>
            </a:r>
          </a:p>
        </p:txBody>
      </p:sp>
      <p:sp>
        <p:nvSpPr>
          <p:cNvPr id="12" name="Rounded Rectangle 11"/>
          <p:cNvSpPr/>
          <p:nvPr/>
        </p:nvSpPr>
        <p:spPr>
          <a:xfrm>
            <a:off x="530352" y="292912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358140"/>
          </a:xfrm>
          <a:prstGeom prst="rect">
            <a:avLst/>
          </a:prstGeom>
          <a:noFill/>
        </p:spPr>
        <p:txBody>
          <a:bodyPr wrap="square" anchor="ctr" lIns="0" rIns="0" tIns="0" bIns="0">
            <a:spAutoFit/>
          </a:bodyPr>
          <a:lstStyle/>
          <a:p>
            <a:r>
              <a:rPr sz="1500" b="1">
                <a:solidFill>
                  <a:srgbClr val="5B3FD6"/>
                </a:solidFill>
                <a:latin typeface="Calibri"/>
              </a:rPr>
              <a:t>The questions on the way. </a:t>
            </a:r>
            <a:r>
              <a:rPr sz="1500" b="0" i="0">
                <a:solidFill>
                  <a:srgbClr val="1A1440"/>
                </a:solidFill>
                <a:latin typeface="Calibri"/>
              </a:rPr>
              <a:t>Four, in this order:</a:t>
            </a:r>
          </a:p>
        </p:txBody>
      </p:sp>
      <p:sp>
        <p:nvSpPr>
          <p:cNvPr id="15" name="Rectangle 14"/>
          <p:cNvSpPr/>
          <p:nvPr/>
        </p:nvSpPr>
        <p:spPr>
          <a:xfrm>
            <a:off x="1853145" y="42016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FIT</a:t>
            </a:r>
          </a:p>
        </p:txBody>
      </p:sp>
      <p:sp>
        <p:nvSpPr>
          <p:cNvPr id="17" name="Oval 16"/>
          <p:cNvSpPr/>
          <p:nvPr/>
        </p:nvSpPr>
        <p:spPr>
          <a:xfrm>
            <a:off x="1752561"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521708"/>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668012"/>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a perfect fit say?</a:t>
            </a:r>
          </a:p>
        </p:txBody>
      </p:sp>
      <p:sp>
        <p:nvSpPr>
          <p:cNvPr id="20" name="TextBox 19"/>
          <p:cNvSpPr txBox="1"/>
          <p:nvPr/>
        </p:nvSpPr>
        <p:spPr>
          <a:xfrm>
            <a:off x="694944" y="5170424"/>
            <a:ext cx="2316403" cy="201676"/>
          </a:xfrm>
          <a:prstGeom prst="rect">
            <a:avLst/>
          </a:prstGeom>
          <a:noFill/>
        </p:spPr>
        <p:txBody>
          <a:bodyPr wrap="square" anchor="t" lIns="0" rIns="0" tIns="0" bIns="0">
            <a:spAutoFit/>
          </a:bodyPr>
          <a:lstStyle/>
          <a:p>
            <a:pPr algn="l"/>
            <a:r>
              <a:rPr sz="1000" b="0" i="0">
                <a:solidFill>
                  <a:srgbClr val="6B6690"/>
                </a:solidFill>
                <a:latin typeface="Calibri"/>
              </a:rPr>
              <a:t>About tomorrow, nothing.</a:t>
            </a:r>
          </a:p>
        </p:txBody>
      </p:sp>
      <p:sp>
        <p:nvSpPr>
          <p:cNvPr id="21" name="TextBox 20"/>
          <p:cNvSpPr txBox="1"/>
          <p:nvPr/>
        </p:nvSpPr>
        <p:spPr>
          <a:xfrm>
            <a:off x="3358819"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RACE</a:t>
            </a:r>
          </a:p>
        </p:txBody>
      </p:sp>
      <p:sp>
        <p:nvSpPr>
          <p:cNvPr id="22" name="Oval 21"/>
          <p:cNvSpPr/>
          <p:nvPr/>
        </p:nvSpPr>
        <p:spPr>
          <a:xfrm>
            <a:off x="4581029"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521708"/>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Does the clever rule win?</a:t>
            </a:r>
          </a:p>
        </p:txBody>
      </p:sp>
      <p:sp>
        <p:nvSpPr>
          <p:cNvPr id="25" name="TextBox 24"/>
          <p:cNvSpPr txBox="1"/>
          <p:nvPr/>
        </p:nvSpPr>
        <p:spPr>
          <a:xfrm>
            <a:off x="3523411" y="4955794"/>
            <a:ext cx="2316403" cy="201676"/>
          </a:xfrm>
          <a:prstGeom prst="rect">
            <a:avLst/>
          </a:prstGeom>
          <a:noFill/>
        </p:spPr>
        <p:txBody>
          <a:bodyPr wrap="square" anchor="t" lIns="0" rIns="0" tIns="0" bIns="0">
            <a:spAutoFit/>
          </a:bodyPr>
          <a:lstStyle/>
          <a:p>
            <a:pPr algn="l"/>
            <a:r>
              <a:rPr sz="1000" b="0" i="0">
                <a:solidFill>
                  <a:srgbClr val="6B6690"/>
                </a:solidFill>
                <a:latin typeface="Calibri"/>
              </a:rPr>
              <a:t>Only on hidden days.</a:t>
            </a:r>
          </a:p>
        </p:txBody>
      </p:sp>
      <p:sp>
        <p:nvSpPr>
          <p:cNvPr id="26" name="TextBox 25"/>
          <p:cNvSpPr txBox="1"/>
          <p:nvPr/>
        </p:nvSpPr>
        <p:spPr>
          <a:xfrm>
            <a:off x="6187287"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ENOUGH</a:t>
            </a:r>
          </a:p>
        </p:txBody>
      </p:sp>
      <p:sp>
        <p:nvSpPr>
          <p:cNvPr id="27" name="Oval 26"/>
          <p:cNvSpPr/>
          <p:nvPr/>
        </p:nvSpPr>
        <p:spPr>
          <a:xfrm>
            <a:off x="7409497"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521708"/>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Is better worth having?</a:t>
            </a:r>
          </a:p>
        </p:txBody>
      </p:sp>
      <p:sp>
        <p:nvSpPr>
          <p:cNvPr id="30" name="TextBox 29"/>
          <p:cNvSpPr txBox="1"/>
          <p:nvPr/>
        </p:nvSpPr>
        <p:spPr>
          <a:xfrm>
            <a:off x="6351879" y="4955794"/>
            <a:ext cx="2316403" cy="201676"/>
          </a:xfrm>
          <a:prstGeom prst="rect">
            <a:avLst/>
          </a:prstGeom>
          <a:noFill/>
        </p:spPr>
        <p:txBody>
          <a:bodyPr wrap="square" anchor="t" lIns="0" rIns="0" tIns="0" bIns="0">
            <a:spAutoFit/>
          </a:bodyPr>
          <a:lstStyle/>
          <a:p>
            <a:pPr algn="l"/>
            <a:r>
              <a:rPr sz="1000" b="0" i="0">
                <a:solidFill>
                  <a:srgbClr val="6B6690"/>
                </a:solidFill>
                <a:latin typeface="Calibri"/>
              </a:rPr>
              <a:t>Only if the order changes.</a:t>
            </a:r>
          </a:p>
        </p:txBody>
      </p:sp>
      <p:sp>
        <p:nvSpPr>
          <p:cNvPr id="31" name="TextBox 30"/>
          <p:cNvSpPr txBox="1"/>
          <p:nvPr/>
        </p:nvSpPr>
        <p:spPr>
          <a:xfrm>
            <a:off x="9015755"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NOTE</a:t>
            </a:r>
          </a:p>
        </p:txBody>
      </p:sp>
      <p:sp>
        <p:nvSpPr>
          <p:cNvPr id="32" name="Oval 31"/>
          <p:cNvSpPr/>
          <p:nvPr/>
        </p:nvSpPr>
        <p:spPr>
          <a:xfrm>
            <a:off x="10237965" y="4110228"/>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521708"/>
            <a:ext cx="2645587"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668012"/>
            <a:ext cx="2316403" cy="251205"/>
          </a:xfrm>
          <a:prstGeom prst="rect">
            <a:avLst/>
          </a:prstGeom>
          <a:noFill/>
        </p:spPr>
        <p:txBody>
          <a:bodyPr wrap="square" anchor="t" lIns="0" rIns="0" tIns="0" bIns="0">
            <a:spAutoFit/>
          </a:bodyPr>
          <a:lstStyle/>
          <a:p>
            <a:pPr algn="l"/>
            <a:r>
              <a:rPr sz="1300" b="1" i="0">
                <a:solidFill>
                  <a:srgbClr val="FFFFFF"/>
                </a:solidFill>
                <a:latin typeface="Calibri"/>
              </a:rPr>
              <a:t>What goes to the milkman?</a:t>
            </a:r>
          </a:p>
        </p:txBody>
      </p:sp>
      <p:sp>
        <p:nvSpPr>
          <p:cNvPr id="35" name="TextBox 34"/>
          <p:cNvSpPr txBox="1"/>
          <p:nvPr/>
        </p:nvSpPr>
        <p:spPr>
          <a:xfrm>
            <a:off x="9180347" y="4955794"/>
            <a:ext cx="2316403" cy="201676"/>
          </a:xfrm>
          <a:prstGeom prst="rect">
            <a:avLst/>
          </a:prstGeom>
          <a:noFill/>
        </p:spPr>
        <p:txBody>
          <a:bodyPr wrap="square" anchor="t" lIns="0" rIns="0" tIns="0" bIns="0">
            <a:spAutoFit/>
          </a:bodyPr>
          <a:lstStyle/>
          <a:p>
            <a:pPr algn="l"/>
            <a:r>
              <a:rPr sz="1000" b="0" i="0">
                <a:solidFill>
                  <a:srgbClr val="CFC9EE"/>
                </a:solidFill>
                <a:latin typeface="Calibri"/>
              </a:rPr>
              <a:t>Four lines.</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8" name="Oval 3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40" name="Oval 3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42" name="Oval 41"/>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does it earn trust?</a:t>
            </a:r>
          </a:p>
        </p:txBody>
      </p:sp>
      <p:sp>
        <p:nvSpPr>
          <p:cNvPr id="44" name="Oval 4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6" name="Oval 45"/>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34 / 65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forecast for day 5 lands closest?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stall sold 100, 104, 98 and 110 cups on four days (invented). Which forecast for day 5 lands closest?</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trending-up_0f9f0788148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straight line</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best line, 97 plus 2.4 a day: 109.</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pline_46e5c4f8269f.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exact curve</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It passes through all four days exactly.</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Naive</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Repeat the last day, 110.</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equal_08ba08324b53.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All three</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They land within five cups of each other.</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37" name="Oval 3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39" name="Oval 38"/>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does it earn trust?</a:t>
            </a:r>
          </a:p>
        </p:txBody>
      </p:sp>
      <p:sp>
        <p:nvSpPr>
          <p:cNvPr id="41" name="Oval 4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3" name="Oval 42"/>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65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exact fit misses by 66, the worst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day 5 sell, and what does that say about fit?</a:t>
            </a:r>
          </a:p>
        </p:txBody>
      </p:sp>
      <p:pic>
        <p:nvPicPr>
          <p:cNvPr id="9" name="mermaid diagram" descr="C2_W04_D05_stall_fit_forecast_STUDENT.png"/>
          <p:cNvPicPr>
            <a:picLocks noChangeAspect="1"/>
          </p:cNvPicPr>
          <p:nvPr/>
        </p:nvPicPr>
        <p:blipFill>
          <a:blip r:embed="rId4"/>
          <a:stretch>
            <a:fillRect/>
          </a:stretch>
        </p:blipFill>
        <p:spPr>
          <a:xfrm>
            <a:off x="2501339" y="1664208"/>
            <a:ext cx="7189015"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A perfect fit on four days and its forecast for day 5 (invented numbers)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200" b="0" i="0">
                <a:solidFill>
                  <a:srgbClr val="1A1440"/>
                </a:solidFill>
                <a:latin typeface="Calibri"/>
              </a:rPr>
              <a:t>The answer is a, with naive a cup behind. Day 5 sold 102 (invented). The curve fits all four days with an error of 0 and said 168, a miss of 66: its differences run 4, -6, 12; then -10, 18; then 28, held level, so 18 + 28 = 46, 12 + 46 = 58 and 110 + 58 = 168. The straight line, 97 + 2.4 a day, sits about 3.1 cups from the four days, said 109 and missed by 7; naive said 110 and missed by 8. </a:t>
            </a:r>
            <a:r>
              <a:rPr sz="1200" b="1" i="0">
                <a:solidFill>
                  <a:srgbClr val="1A1440"/>
                </a:solidFill>
                <a:latin typeface="Calibri"/>
              </a:rPr>
              <a:t>Fit</a:t>
            </a:r>
            <a:r>
              <a:rPr sz="1200" b="0" i="0">
                <a:solidFill>
                  <a:srgbClr val="1A1440"/>
                </a:solidFill>
                <a:latin typeface="Calibri"/>
              </a:rPr>
              <a:t> is how close a rule sits to the days it was built on; </a:t>
            </a:r>
            <a:r>
              <a:rPr sz="1200" b="1" i="0">
                <a:solidFill>
                  <a:srgbClr val="1A1440"/>
                </a:solidFill>
                <a:latin typeface="Calibri"/>
              </a:rPr>
              <a:t>forecast error</a:t>
            </a:r>
            <a:r>
              <a:rPr sz="1200" b="0" i="0">
                <a:solidFill>
                  <a:srgbClr val="1A1440"/>
                </a:solidFill>
                <a:latin typeface="Calibri"/>
              </a:rPr>
              <a:t> is how far it misses days it never saw.</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36 / 65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nephew's mean loses to the seasonal naive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 seven hidden days, does the nephew's clever rule beat the baseline?</a:t>
            </a:r>
          </a:p>
        </p:txBody>
      </p:sp>
      <p:graphicFrame>
        <p:nvGraphicFramePr>
          <p:cNvPr id="9" name="Table 8"/>
          <p:cNvGraphicFramePr>
            <a:graphicFrameLocks noGrp="1"/>
          </p:cNvGraphicFramePr>
          <p:nvPr/>
        </p:nvGraphicFramePr>
        <p:xfrm>
          <a:off x="530352" y="1822196"/>
          <a:ext cx="11130990" cy="1109472"/>
        </p:xfrm>
        <a:graphic>
          <a:graphicData uri="http://schemas.openxmlformats.org/drawingml/2006/table">
            <a:tbl>
              <a:tblPr firstRow="0" bandRow="0">
                <a:tableStyleId>{2D5ABB26-0587-4C30-8999-92F81FD0307C}</a:tableStyleId>
              </a:tblPr>
              <a:tblGrid>
                <a:gridCol w="9367755"/>
                <a:gridCol w="1763235"/>
              </a:tblGrid>
              <a:tr h="369824">
                <a:tc>
                  <a:txBody>
                    <a:bodyPr/>
                    <a:lstStyle/>
                    <a:p>
                      <a:r>
                        <a:rPr sz="1450" b="1" i="0">
                          <a:solidFill>
                            <a:srgbClr val="FFFFFF"/>
                          </a:solidFill>
                          <a:latin typeface="Calibri"/>
                        </a:rPr>
                        <a:t>Rule, on the stall's seven hidden days, 10 to 16 March 2025 (invented)</a:t>
                      </a:r>
                    </a:p>
                  </a:txBody>
                  <a:tcPr marL="101600" marR="101600" marT="38100" marB="38100" anchor="ctr">
                    <a:solidFill>
                      <a:srgbClr val="1A0F5C"/>
                    </a:solidFill>
                  </a:tcPr>
                </a:tc>
                <a:tc>
                  <a:txBody>
                    <a:bodyPr/>
                    <a:lstStyle/>
                    <a:p>
                      <a:r>
                        <a:rPr sz="1450" b="1" i="0">
                          <a:solidFill>
                            <a:srgbClr val="FFFFFF"/>
                          </a:solidFill>
                          <a:latin typeface="Calibri"/>
                        </a:rPr>
                        <a:t>MAE</a:t>
                      </a:r>
                    </a:p>
                  </a:txBody>
                  <a:tcPr marL="101600" marR="101600" marT="38100" marB="38100" anchor="ctr">
                    <a:solidFill>
                      <a:srgbClr val="1A0F5C"/>
                    </a:solidFill>
                  </a:tcPr>
                </a:tc>
              </a:tr>
              <a:tr h="369824">
                <a:tc>
                  <a:txBody>
                    <a:bodyPr/>
                    <a:lstStyle/>
                    <a:p>
                      <a:r>
                        <a:rPr sz="1400" b="0" i="0">
                          <a:solidFill>
                            <a:srgbClr val="1A1440"/>
                          </a:solidFill>
                          <a:latin typeface="Calibri"/>
                        </a:rPr>
                        <a:t>The nephew's rule: the mean of the last seven days, 97.6 cups every day</a:t>
                      </a:r>
                    </a:p>
                  </a:txBody>
                  <a:tcPr marL="101600" marR="101600" marT="38100" marB="38100" anchor="ctr">
                    <a:solidFill>
                      <a:srgbClr val="FFFFFF"/>
                    </a:solidFill>
                  </a:tcPr>
                </a:tc>
                <a:tc>
                  <a:txBody>
                    <a:bodyPr/>
                    <a:lstStyle/>
                    <a:p>
                      <a:r>
                        <a:rPr sz="1400" b="0" i="0">
                          <a:solidFill>
                            <a:srgbClr val="1A1440"/>
                          </a:solidFill>
                          <a:latin typeface="Calibri"/>
                        </a:rPr>
                        <a:t>12.4 cups</a:t>
                      </a:r>
                    </a:p>
                  </a:txBody>
                  <a:tcPr marL="101600" marR="101600" marT="38100" marB="38100" anchor="ctr">
                    <a:solidFill>
                      <a:srgbClr val="FFFFFF"/>
                    </a:solidFill>
                  </a:tcPr>
                </a:tc>
              </a:tr>
              <a:tr h="369824">
                <a:tc>
                  <a:txBody>
                    <a:bodyPr/>
                    <a:lstStyle/>
                    <a:p>
                      <a:r>
                        <a:rPr sz="1400" b="0" i="0">
                          <a:solidFill>
                            <a:srgbClr val="1A1440"/>
                          </a:solidFill>
                          <a:latin typeface="Calibri"/>
                        </a:rPr>
                        <a:t>The seasonal naive: the same day last week, 100 on Monday to 63 on Sunday</a:t>
                      </a:r>
                    </a:p>
                  </a:txBody>
                  <a:tcPr marL="101600" marR="101600" marT="38100" marB="38100" anchor="ctr">
                    <a:solidFill>
                      <a:srgbClr val="F4F2FA"/>
                    </a:solidFill>
                  </a:tcPr>
                </a:tc>
                <a:tc>
                  <a:txBody>
                    <a:bodyPr/>
                    <a:lstStyle/>
                    <a:p>
                      <a:r>
                        <a:rPr sz="1400" b="0" i="0">
                          <a:solidFill>
                            <a:srgbClr val="1A1440"/>
                          </a:solidFill>
                          <a:latin typeface="Calibri"/>
                        </a:rPr>
                        <a:t>4.0 cups</a:t>
                      </a:r>
                    </a:p>
                  </a:txBody>
                  <a:tcPr marL="101600" marR="101600" marT="38100" marB="38100" anchor="ctr">
                    <a:solidFill>
                      <a:srgbClr val="F4F2FA"/>
                    </a:solidFill>
                  </a:tcPr>
                </a:tc>
              </a:tr>
            </a:tbl>
          </a:graphicData>
        </a:graphic>
      </p:graphicFrame>
      <p:sp>
        <p:nvSpPr>
          <p:cNvPr id="10" name="TextBox 9"/>
          <p:cNvSpPr txBox="1"/>
          <p:nvPr/>
        </p:nvSpPr>
        <p:spPr>
          <a:xfrm>
            <a:off x="530352" y="318770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mean ignores the Sunday dip and misses that Sunday by 34.6 cups. Nothing goes to the milk order unless it beats the seasonal naive on days it never saw, by the measure fixed first.</a:t>
            </a:r>
          </a:p>
        </p:txBody>
      </p:sp>
      <p:sp>
        <p:nvSpPr>
          <p:cNvPr id="11" name="Rounded Rectangle 10"/>
          <p:cNvSpPr/>
          <p:nvPr/>
        </p:nvSpPr>
        <p:spPr>
          <a:xfrm>
            <a:off x="530352" y="4087876"/>
            <a:ext cx="11130991"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13232" y="4215891"/>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868680" y="4215891"/>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1024128" y="4215891"/>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04671" y="4417060"/>
            <a:ext cx="10673791" cy="1569719"/>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march = days.cups.tolist()             # the stall's 3 to 16 March 2025 (invented), as notebook 04 loads them</a:t>
            </a:r>
          </a:p>
          <a:p>
            <a:pPr>
              <a:spcAft>
                <a:spcPts val="200"/>
              </a:spcAft>
            </a:pPr>
            <a:r>
              <a:rPr sz="1400" b="0" i="0">
                <a:solidFill>
                  <a:srgbClr val="E4E1F1"/>
                </a:solidFill>
                <a:latin typeface="Consolas"/>
              </a:rPr>
              <a:t>seen, hidden = march[:7], march[7:]    # 3 to 9 March, 10 to 16 March</a:t>
            </a:r>
          </a:p>
          <a:p>
            <a:pPr>
              <a:spcAft>
                <a:spcPts val="200"/>
              </a:spcAft>
            </a:pPr>
            <a:r>
              <a:rPr sz="1400" b="0" i="0">
                <a:solidFill>
                  <a:srgbClr val="E4E1F1"/>
                </a:solidFill>
                <a:latin typeface="Consolas"/>
              </a:rPr>
              <a:t>mean_rule = sum(seen) / 7              # 97.6 cups, every day</a:t>
            </a:r>
          </a:p>
          <a:p>
            <a:pPr>
              <a:spcAft>
                <a:spcPts val="200"/>
              </a:spcAft>
            </a:pPr>
            <a:r>
              <a:rPr sz="1400" b="0" i="0">
                <a:solidFill>
                  <a:srgbClr val="E4E1F1"/>
                </a:solidFill>
                <a:latin typeface="Consolas"/>
              </a:rPr>
              <a:t>mae_mean = sum(abs(mean_rule - h) for h in hidden) / 7      # 12.4</a:t>
            </a:r>
          </a:p>
          <a:p>
            <a:pPr>
              <a:spcAft>
                <a:spcPts val="200"/>
              </a:spcAft>
            </a:pPr>
            <a:r>
              <a:rPr sz="1400" b="0" i="0">
                <a:solidFill>
                  <a:srgbClr val="E4E1F1"/>
                </a:solidFill>
                <a:latin typeface="Consolas"/>
              </a:rPr>
              <a:t>mae_seasonal = sum(abs(s - h) for s, h in zip(seen, hidden)) / 7</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20" name="Oval 1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22" name="Oval 21"/>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does it earn trust?</a:t>
            </a:r>
          </a:p>
        </p:txBody>
      </p:sp>
      <p:sp>
        <p:nvSpPr>
          <p:cNvPr id="24" name="Oval 2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6" name="Oval 25"/>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37 / 65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Good enough: a better rule orders the same cans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a better forecast worth having when milk comes in cans of 40 cups?</a:t>
            </a:r>
          </a:p>
        </p:txBody>
      </p:sp>
      <p:pic>
        <p:nvPicPr>
          <p:cNvPr id="9" name="mermaid diagram" descr="C2_W04_D05_stall_cans_STUDENT.png"/>
          <p:cNvPicPr>
            <a:picLocks noChangeAspect="1"/>
          </p:cNvPicPr>
          <p:nvPr/>
        </p:nvPicPr>
        <p:blipFill>
          <a:blip r:embed="rId4"/>
          <a:stretch>
            <a:fillRect/>
          </a:stretch>
        </p:blipFill>
        <p:spPr>
          <a:xfrm>
            <a:off x="1790899" y="1664208"/>
            <a:ext cx="8609895" cy="2835656"/>
          </a:xfrm>
          <a:prstGeom prst="rect">
            <a:avLst/>
          </a:prstGeom>
        </p:spPr>
      </p:pic>
      <p:sp>
        <p:nvSpPr>
          <p:cNvPr id="10" name="picture caption"/>
          <p:cNvSpPr txBox="1"/>
          <p:nvPr/>
        </p:nvSpPr>
        <p:spPr>
          <a:xfrm>
            <a:off x="530352" y="4536440"/>
            <a:ext cx="11130991" cy="316992"/>
          </a:xfrm>
          <a:prstGeom prst="rect">
            <a:avLst/>
          </a:prstGeom>
          <a:noFill/>
        </p:spPr>
        <p:txBody>
          <a:bodyPr wrap="square" anchor="t" lIns="0" rIns="0" tIns="0" bIns="0">
            <a:spAutoFit/>
          </a:bodyPr>
          <a:lstStyle/>
          <a:p>
            <a:pPr algn="ctr"/>
            <a:r>
              <a:rPr sz="1200" b="0" i="0">
                <a:solidFill>
                  <a:srgbClr val="6B6690"/>
                </a:solidFill>
                <a:latin typeface="Calibri"/>
              </a:rPr>
              <a:t>Cans ordered under three forecasts for the seven hidden days (invented numbers)</a:t>
            </a:r>
          </a:p>
        </p:txBody>
      </p:sp>
      <p:sp>
        <p:nvSpPr>
          <p:cNvPr id="11" name="TextBox 10"/>
          <p:cNvSpPr txBox="1"/>
          <p:nvPr/>
        </p:nvSpPr>
        <p:spPr>
          <a:xfrm>
            <a:off x="530352" y="4862576"/>
            <a:ext cx="11130991" cy="1337056"/>
          </a:xfrm>
          <a:prstGeom prst="rect">
            <a:avLst/>
          </a:prstGeom>
          <a:noFill/>
        </p:spPr>
        <p:txBody>
          <a:bodyPr wrap="square" anchor="t" lIns="0" rIns="0" tIns="0" bIns="0">
            <a:spAutoFit/>
          </a:bodyPr>
          <a:lstStyle/>
          <a:p>
            <a:r>
              <a:rPr sz="1400" b="0" i="0">
                <a:solidFill>
                  <a:srgbClr val="1A1440"/>
                </a:solidFill>
                <a:latin typeface="Calibri"/>
              </a:rPr>
              <a:t>Milk comes in cans of 40 cups (invented), so the owner orders the forecast over 40, rounded up: Monday's copy of 100 cups needs 3 cans, Sunday's 63 needs 2. The seasonal naive orders exactly what a forecast that knew the future would order, on all seven days; the nephew's mean orders a third can on Sunday, Rs 240 of milk that sours. Named last: </a:t>
            </a:r>
            <a:r>
              <a:rPr sz="1400" b="1" i="0">
                <a:solidFill>
                  <a:srgbClr val="1A1440"/>
                </a:solidFill>
                <a:latin typeface="Calibri"/>
              </a:rPr>
              <a:t>good enough</a:t>
            </a:r>
            <a:r>
              <a:rPr sz="1400" b="0" i="0">
                <a:solidFill>
                  <a:srgbClr val="1A1440"/>
                </a:solidFill>
                <a:latin typeface="Calibri"/>
              </a:rPr>
              <a:t> is a claim about the decision, never about the model. A better forecast is worth having only when what it changes in the order is worth more than the work of getting it; here it changes no can, so the owner stops improving.</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38 / 65</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forecast note carries four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owner send the milkman, and what goes in each line?</a:t>
            </a:r>
          </a:p>
        </p:txBody>
      </p:sp>
      <p:graphicFrame>
        <p:nvGraphicFramePr>
          <p:cNvPr id="9" name="Table 8"/>
          <p:cNvGraphicFramePr>
            <a:graphicFrameLocks noGrp="1"/>
          </p:cNvGraphicFramePr>
          <p:nvPr/>
        </p:nvGraphicFramePr>
        <p:xfrm>
          <a:off x="530352" y="1956816"/>
          <a:ext cx="11130990" cy="2332736"/>
        </p:xfrm>
        <a:graphic>
          <a:graphicData uri="http://schemas.openxmlformats.org/drawingml/2006/table">
            <a:tbl>
              <a:tblPr firstRow="0" bandRow="0">
                <a:tableStyleId>{2D5ABB26-0587-4C30-8999-92F81FD0307C}</a:tableStyleId>
              </a:tblPr>
              <a:tblGrid>
                <a:gridCol w="3380744"/>
                <a:gridCol w="7750246"/>
              </a:tblGrid>
              <a:tr h="369824">
                <a:tc>
                  <a:txBody>
                    <a:bodyPr/>
                    <a:lstStyle/>
                    <a:p>
                      <a:r>
                        <a:rPr sz="1450" b="1" i="0">
                          <a:solidFill>
                            <a:srgbClr val="FFFFFF"/>
                          </a:solidFill>
                          <a:latin typeface="Calibri"/>
                        </a:rPr>
                        <a:t>Line</a:t>
                      </a:r>
                    </a:p>
                  </a:txBody>
                  <a:tcPr marL="101600" marR="101600" marT="38100" marB="38100" anchor="ctr">
                    <a:solidFill>
                      <a:srgbClr val="1A0F5C"/>
                    </a:solidFill>
                  </a:tcPr>
                </a:tc>
                <a:tc>
                  <a:txBody>
                    <a:bodyPr/>
                    <a:lstStyle/>
                    <a:p>
                      <a:r>
                        <a:rPr sz="1450" b="1" i="0">
                          <a:solidFill>
                            <a:srgbClr val="FFFFFF"/>
                          </a:solidFill>
                          <a:latin typeface="Calibri"/>
                        </a:rPr>
                        <a:t>What it says, for the stall (invented)</a:t>
                      </a:r>
                    </a:p>
                  </a:txBody>
                  <a:tcPr marL="101600" marR="101600" marT="38100" marB="38100" anchor="ctr">
                    <a:solidFill>
                      <a:srgbClr val="1A0F5C"/>
                    </a:solidFill>
                  </a:tcPr>
                </a:tc>
              </a:tr>
              <a:tr h="369824">
                <a:tc>
                  <a:txBody>
                    <a:bodyPr/>
                    <a:lstStyle/>
                    <a:p>
                      <a:r>
                        <a:rPr sz="1400" b="0" i="0">
                          <a:solidFill>
                            <a:srgbClr val="1A1440"/>
                          </a:solidFill>
                          <a:latin typeface="Calibri"/>
                        </a:rPr>
                        <a:t>The number</a:t>
                      </a:r>
                    </a:p>
                  </a:txBody>
                  <a:tcPr marL="101600" marR="101600" marT="38100" marB="38100" anchor="ctr">
                    <a:solidFill>
                      <a:srgbClr val="FFFFFF"/>
                    </a:solidFill>
                  </a:tcPr>
                </a:tc>
                <a:tc>
                  <a:txBody>
                    <a:bodyPr/>
                    <a:lstStyle/>
                    <a:p>
                      <a:r>
                        <a:rPr sz="1400" b="0" i="0">
                          <a:solidFill>
                            <a:srgbClr val="1A1440"/>
                          </a:solidFill>
                          <a:latin typeface="Calibri"/>
                        </a:rPr>
                        <a:t>3 cans a day Monday to Saturday, 2 on Sunday</a:t>
                      </a:r>
                    </a:p>
                  </a:txBody>
                  <a:tcPr marL="101600" marR="101600" marT="38100" marB="38100" anchor="ctr">
                    <a:solidFill>
                      <a:srgbClr val="FFFFFF"/>
                    </a:solidFill>
                  </a:tcPr>
                </a:tc>
              </a:tr>
              <a:tr h="611632">
                <a:tc>
                  <a:txBody>
                    <a:bodyPr/>
                    <a:lstStyle/>
                    <a:p>
                      <a:r>
                        <a:rPr sz="1400" b="0" i="0">
                          <a:solidFill>
                            <a:srgbClr val="1A1440"/>
                          </a:solidFill>
                          <a:latin typeface="Calibri"/>
                        </a:rPr>
                        <a:t>The method</a:t>
                      </a:r>
                    </a:p>
                  </a:txBody>
                  <a:tcPr marL="101600" marR="101600" marT="38100" marB="38100" anchor="ctr">
                    <a:solidFill>
                      <a:srgbClr val="F4F2FA"/>
                    </a:solidFill>
                  </a:tcPr>
                </a:tc>
                <a:tc>
                  <a:txBody>
                    <a:bodyPr/>
                    <a:lstStyle/>
                    <a:p>
                      <a:r>
                        <a:rPr sz="1400" b="0" i="0">
                          <a:solidFill>
                            <a:srgbClr val="1A1440"/>
                          </a:solidFill>
                          <a:latin typeface="Calibri"/>
                        </a:rPr>
                        <a:t>the same day last week, the seasonal naive, which beat the nephew's mean on seven hidden days</a:t>
                      </a:r>
                    </a:p>
                  </a:txBody>
                  <a:tcPr marL="101600" marR="101600" marT="38100" marB="38100" anchor="ctr">
                    <a:solidFill>
                      <a:srgbClr val="F4F2FA"/>
                    </a:solidFill>
                  </a:tcPr>
                </a:tc>
              </a:tr>
              <a:tr h="611632">
                <a:tc>
                  <a:txBody>
                    <a:bodyPr/>
                    <a:lstStyle/>
                    <a:p>
                      <a:r>
                        <a:rPr sz="1400" b="0" i="0">
                          <a:solidFill>
                            <a:srgbClr val="1A1440"/>
                          </a:solidFill>
                          <a:latin typeface="Calibri"/>
                        </a:rPr>
                        <a:t>The error bar</a:t>
                      </a:r>
                    </a:p>
                  </a:txBody>
                  <a:tcPr marL="101600" marR="101600" marT="38100" marB="38100" anchor="ctr">
                    <a:solidFill>
                      <a:srgbClr val="FFFFFF"/>
                    </a:solidFill>
                  </a:tcPr>
                </a:tc>
                <a:tc>
                  <a:txBody>
                    <a:bodyPr/>
                    <a:lstStyle/>
                    <a:p>
                      <a:r>
                        <a:rPr sz="1400" b="0" i="0">
                          <a:solidFill>
                            <a:srgbClr val="1A1440"/>
                          </a:solidFill>
                          <a:latin typeface="Calibri"/>
                        </a:rPr>
                        <a:t>4.0 cups a day on those days: about Rs 24 a day if it runs high, Rs 48 if it runs short</a:t>
                      </a:r>
                    </a:p>
                  </a:txBody>
                  <a:tcPr marL="101600" marR="101600" marT="38100" marB="38100" anchor="ctr">
                    <a:solidFill>
                      <a:srgbClr val="FFFFFF"/>
                    </a:solidFill>
                  </a:tcPr>
                </a:tc>
              </a:tr>
              <a:tr h="369824">
                <a:tc>
                  <a:txBody>
                    <a:bodyPr/>
                    <a:lstStyle/>
                    <a:p>
                      <a:r>
                        <a:rPr sz="1400" b="0" i="0">
                          <a:solidFill>
                            <a:srgbClr val="1A1440"/>
                          </a:solidFill>
                          <a:latin typeface="Calibri"/>
                        </a:rPr>
                        <a:t>What would make it wrong</a:t>
                      </a:r>
                    </a:p>
                  </a:txBody>
                  <a:tcPr marL="101600" marR="101600" marT="38100" marB="38100" anchor="ctr">
                    <a:solidFill>
                      <a:srgbClr val="F4F2FA"/>
                    </a:solidFill>
                  </a:tcPr>
                </a:tc>
                <a:tc>
                  <a:txBody>
                    <a:bodyPr/>
                    <a:lstStyle/>
                    <a:p>
                      <a:r>
                        <a:rPr sz="1400" b="0" i="0">
                          <a:solidFill>
                            <a:srgbClr val="1A1440"/>
                          </a:solidFill>
                          <a:latin typeface="Calibri"/>
                        </a:rPr>
                        <a:t>exams starting early, or the hostel emptying for a holiday</a:t>
                      </a:r>
                    </a:p>
                  </a:txBody>
                  <a:tcPr marL="101600" marR="101600" marT="38100" marB="38100" anchor="ctr">
                    <a:solidFill>
                      <a:srgbClr val="F4F2FA"/>
                    </a:solidFill>
                  </a:tcPr>
                </a:tc>
              </a:tr>
            </a:tbl>
          </a:graphicData>
        </a:graphic>
      </p:graphicFrame>
      <p:sp>
        <p:nvSpPr>
          <p:cNvPr id="10" name="TextBox 9"/>
          <p:cNvSpPr txBox="1"/>
          <p:nvPr/>
        </p:nvSpPr>
        <p:spPr>
          <a:xfrm>
            <a:off x="530352" y="4545584"/>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Flipkart's staffing note in chapter 7 carries the same four lines, with the number and method merged into its title, and adds two: where the festival falls, and a reply each to finance and to the vendor's sponsor.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does it earn trust?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65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trusting a forecast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chapter leave, and which questions does an interviewer ask?</a:t>
            </a:r>
          </a:p>
        </p:txBody>
      </p:sp>
      <p:sp>
        <p:nvSpPr>
          <p:cNvPr id="9" name="TextBox 8"/>
          <p:cNvSpPr txBox="1"/>
          <p:nvPr/>
        </p:nvSpPr>
        <p:spPr>
          <a:xfrm>
            <a:off x="530352" y="1757172"/>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793748"/>
            <a:ext cx="10564063" cy="368808"/>
          </a:xfrm>
          <a:prstGeom prst="rect">
            <a:avLst/>
          </a:prstGeom>
          <a:noFill/>
        </p:spPr>
        <p:txBody>
          <a:bodyPr wrap="square" anchor="t" lIns="0" rIns="0" tIns="0" bIns="0">
            <a:spAutoFit/>
          </a:bodyPr>
          <a:lstStyle/>
          <a:p>
            <a:r>
              <a:rPr sz="1500" b="0" i="0">
                <a:solidFill>
                  <a:srgbClr val="1A1440"/>
                </a:solidFill>
                <a:latin typeface="Calibri"/>
              </a:rPr>
              <a:t>Fit is measured on the days a rule was built on, and it proves nothing about tomorrow.</a:t>
            </a:r>
          </a:p>
        </p:txBody>
      </p:sp>
      <p:sp>
        <p:nvSpPr>
          <p:cNvPr id="11" name="TextBox 10"/>
          <p:cNvSpPr txBox="1"/>
          <p:nvPr/>
        </p:nvSpPr>
        <p:spPr>
          <a:xfrm>
            <a:off x="530352" y="2199132"/>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235708"/>
            <a:ext cx="10564063" cy="368808"/>
          </a:xfrm>
          <a:prstGeom prst="rect">
            <a:avLst/>
          </a:prstGeom>
          <a:noFill/>
        </p:spPr>
        <p:txBody>
          <a:bodyPr wrap="square" anchor="t" lIns="0" rIns="0" tIns="0" bIns="0">
            <a:spAutoFit/>
          </a:bodyPr>
          <a:lstStyle/>
          <a:p>
            <a:r>
              <a:rPr sz="1500" b="0" i="0">
                <a:solidFill>
                  <a:srgbClr val="1A1440"/>
                </a:solidFill>
                <a:latin typeface="Calibri"/>
              </a:rPr>
              <a:t>Nothing goes to the order unless it beats the seasonal naive on hidden days, by the measure fixed first.</a:t>
            </a:r>
          </a:p>
        </p:txBody>
      </p:sp>
      <p:sp>
        <p:nvSpPr>
          <p:cNvPr id="13" name="TextBox 12"/>
          <p:cNvSpPr txBox="1"/>
          <p:nvPr/>
        </p:nvSpPr>
        <p:spPr>
          <a:xfrm>
            <a:off x="530352" y="2641092"/>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677668"/>
            <a:ext cx="10564063" cy="627888"/>
          </a:xfrm>
          <a:prstGeom prst="rect">
            <a:avLst/>
          </a:prstGeom>
          <a:noFill/>
        </p:spPr>
        <p:txBody>
          <a:bodyPr wrap="square" anchor="t" lIns="0" rIns="0" tIns="0" bIns="0">
            <a:spAutoFit/>
          </a:bodyPr>
          <a:lstStyle/>
          <a:p>
            <a:r>
              <a:rPr sz="1500" b="0" i="0">
                <a:solidFill>
                  <a:srgbClr val="1A1440"/>
                </a:solidFill>
                <a:latin typeface="Calibri"/>
              </a:rPr>
              <a:t>Good enough is a claim about the decision: keep improving only while a better forecast would change the order by more than the work costs.</a:t>
            </a:r>
          </a:p>
        </p:txBody>
      </p:sp>
      <p:sp>
        <p:nvSpPr>
          <p:cNvPr id="15" name="TextBox 14"/>
          <p:cNvSpPr txBox="1"/>
          <p:nvPr/>
        </p:nvSpPr>
        <p:spPr>
          <a:xfrm>
            <a:off x="530352" y="3342132"/>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378708"/>
            <a:ext cx="10564063" cy="627888"/>
          </a:xfrm>
          <a:prstGeom prst="rect">
            <a:avLst/>
          </a:prstGeom>
          <a:noFill/>
        </p:spPr>
        <p:txBody>
          <a:bodyPr wrap="square" anchor="t" lIns="0" rIns="0" tIns="0" bIns="0">
            <a:spAutoFit/>
          </a:bodyPr>
          <a:lstStyle/>
          <a:p>
            <a:r>
              <a:rPr sz="1500" b="0" i="0">
                <a:solidFill>
                  <a:srgbClr val="1A1440"/>
                </a:solidFill>
                <a:latin typeface="Calibri"/>
              </a:rPr>
              <a:t>The note carries the number, the method, the error bar in the unit and in rupees, and what would make it wrong.</a:t>
            </a:r>
          </a:p>
        </p:txBody>
      </p:sp>
      <p:sp>
        <p:nvSpPr>
          <p:cNvPr id="17" name="Rounded Rectangle 16"/>
          <p:cNvSpPr/>
          <p:nvPr/>
        </p:nvSpPr>
        <p:spPr>
          <a:xfrm>
            <a:off x="530352" y="4189476"/>
            <a:ext cx="11130991" cy="189890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9103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5020056"/>
            <a:ext cx="237744" cy="237744"/>
          </a:xfrm>
          <a:prstGeom prst="rect">
            <a:avLst/>
          </a:prstGeom>
        </p:spPr>
      </p:pic>
      <p:sp>
        <p:nvSpPr>
          <p:cNvPr id="20" name="TextBox 19"/>
          <p:cNvSpPr txBox="1"/>
          <p:nvPr/>
        </p:nvSpPr>
        <p:spPr>
          <a:xfrm>
            <a:off x="1399031" y="43357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555236"/>
            <a:ext cx="9987991" cy="1459992"/>
          </a:xfrm>
          <a:prstGeom prst="rect">
            <a:avLst/>
          </a:prstGeom>
          <a:noFill/>
        </p:spPr>
        <p:txBody>
          <a:bodyPr wrap="square" anchor="t" lIns="0" rIns="0" tIns="0" bIns="0">
            <a:spAutoFit/>
          </a:bodyPr>
          <a:lstStyle/>
          <a:p>
            <a:r>
              <a:rPr sz="1500" b="0" i="0">
                <a:solidFill>
                  <a:srgbClr val="1A1440"/>
                </a:solidFill>
                <a:latin typeface="Calibri"/>
              </a:rPr>
              <a:t>[F], frequent in GCC and product screens: "What baseline must any forecast beat, and why?" Naive with no season, the seasonal naive with one, plus the growth when it trends, since a model that cannot beat a free copy adds cost for no accuracy. [F] "A vendor promises 22 percent growth; how do you test the claim?" Restate it against the same weeks, score the curve on weeks it never saw, and ask for its record on a festival it did not see.</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24" name="Oval 2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26" name="Oval 2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28" name="Oval 27"/>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does it earn trust?</a:t>
            </a:r>
          </a:p>
        </p:txBody>
      </p:sp>
      <p:sp>
        <p:nvSpPr>
          <p:cNvPr id="30" name="Oval 2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32" name="Oval 3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65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verdict feeds chapters 6 and 7 and the lab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idea come from, and where does it go next?</a:t>
            </a:r>
          </a:p>
        </p:txBody>
      </p:sp>
      <p:pic>
        <p:nvPicPr>
          <p:cNvPr id="9" name="mermaid diagram" descr="6b45a1c2a0322299.png"/>
          <p:cNvPicPr>
            <a:picLocks noChangeAspect="1"/>
          </p:cNvPicPr>
          <p:nvPr/>
        </p:nvPicPr>
        <p:blipFill>
          <a:blip r:embed="rId5"/>
          <a:stretch>
            <a:fillRect/>
          </a:stretch>
        </p:blipFill>
        <p:spPr>
          <a:xfrm>
            <a:off x="2351861" y="1664208"/>
            <a:ext cx="7487972" cy="353263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Chapter 6 tests the vendor's curve the same way, its fit on the weeks it was built on against its forecast on thirteen weeks it never saw, and chapter 7 sizes the plan in shifts of 120 shipments. The lab hands the method to Anand Iyer, Kalpa's finance controller, who needs a board number.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does it earn trust?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65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Trend, seasonality and baselines on Flipkart's weeks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Where is the peak?</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Read the ticket in full, count twelve of Flipkart's weeks by hand, and run the rules on Diwali 2025's week.</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series tell?</a:t>
            </a:r>
          </a:p>
        </p:txBody>
      </p:sp>
      <p:sp>
        <p:nvSpPr>
          <p:cNvPr id="12" name="Rounded Rectangle 11"/>
          <p:cNvSpPr/>
          <p:nvPr/>
        </p:nvSpPr>
        <p:spPr>
          <a:xfrm>
            <a:off x="262819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does a copy fail?</a:t>
            </a:r>
          </a:p>
        </p:txBody>
      </p:sp>
      <p:sp>
        <p:nvSpPr>
          <p:cNvPr id="13" name="Rounded Rectangle 12"/>
          <p:cNvSpPr/>
          <p:nvPr/>
        </p:nvSpPr>
        <p:spPr>
          <a:xfrm>
            <a:off x="440643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forecast scored?</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does it earn trust?</a:t>
            </a:r>
          </a:p>
        </p:txBody>
      </p:sp>
      <p:sp>
        <p:nvSpPr>
          <p:cNvPr id="15" name="Rounded Rectangle 14"/>
          <p:cNvSpPr/>
          <p:nvPr/>
        </p:nvSpPr>
        <p:spPr>
          <a:xfrm>
            <a:off x="8258989"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Where is the peak?</a:t>
            </a:r>
          </a:p>
        </p:txBody>
      </p:sp>
      <p:sp>
        <p:nvSpPr>
          <p:cNvPr id="16" name="Rounded Rectangle 15"/>
          <p:cNvSpPr/>
          <p:nvPr/>
        </p:nvSpPr>
        <p:spPr>
          <a:xfrm>
            <a:off x="9800364"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rule wins?</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Forecasting basics: how much does the plan deliver?</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42 / 65</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climbed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Chapter 1, trend and seasonality, read before modelling; chapter 2, naive, seasonal naive and drift baselines.</a:t>
            </a:r>
          </a:p>
        </p:txBody>
      </p:sp>
      <p:sp>
        <p:nvSpPr>
          <p:cNvPr id="12" name="Rounded Rectangle 11"/>
          <p:cNvSpPr/>
          <p:nvPr/>
        </p:nvSpPr>
        <p:spPr>
          <a:xfrm>
            <a:off x="530352" y="29291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FC planner, who books shifts weeks ahead and cannot add one on the day: a rule that puts the busiest week in the wrong place books packers for a quiet week.</a:t>
            </a:r>
          </a:p>
        </p:txBody>
      </p:sp>
      <p:sp>
        <p:nvSpPr>
          <p:cNvPr id="15" name="Rectangle 14"/>
          <p:cNvSpPr/>
          <p:nvPr/>
        </p:nvSpPr>
        <p:spPr>
          <a:xfrm>
            <a:off x="1853145" y="44683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SHAPE</a:t>
            </a:r>
          </a:p>
        </p:txBody>
      </p:sp>
      <p:sp>
        <p:nvSpPr>
          <p:cNvPr id="17" name="Oval 16"/>
          <p:cNvSpPr/>
          <p:nvPr/>
        </p:nvSpPr>
        <p:spPr>
          <a:xfrm>
            <a:off x="1752561"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Where is the peak?</a:t>
            </a:r>
          </a:p>
        </p:txBody>
      </p:sp>
      <p:sp>
        <p:nvSpPr>
          <p:cNvPr id="20" name="TextBox 19"/>
          <p:cNvSpPr txBox="1"/>
          <p:nvPr/>
        </p:nvSpPr>
        <p:spPr>
          <a:xfrm>
            <a:off x="694944"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Which week of the season ships the most, in each year?</a:t>
            </a:r>
          </a:p>
        </p:txBody>
      </p:sp>
      <p:sp>
        <p:nvSpPr>
          <p:cNvPr id="21" name="TextBox 20"/>
          <p:cNvSpPr txBox="1"/>
          <p:nvPr/>
        </p:nvSpPr>
        <p:spPr>
          <a:xfrm>
            <a:off x="3358819"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RULES</a:t>
            </a:r>
          </a:p>
        </p:txBody>
      </p:sp>
      <p:sp>
        <p:nvSpPr>
          <p:cNvPr id="22" name="Oval 21"/>
          <p:cNvSpPr/>
          <p:nvPr/>
        </p:nvSpPr>
        <p:spPr>
          <a:xfrm>
            <a:off x="458102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each rule copy?</a:t>
            </a:r>
          </a:p>
        </p:txBody>
      </p:sp>
      <p:sp>
        <p:nvSpPr>
          <p:cNvPr id="25" name="TextBox 24"/>
          <p:cNvSpPr txBox="1"/>
          <p:nvPr/>
        </p:nvSpPr>
        <p:spPr>
          <a:xfrm>
            <a:off x="3523411"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Naive, seasonal naive and festival-aligned, each in one line.</a:t>
            </a:r>
          </a:p>
        </p:txBody>
      </p:sp>
      <p:sp>
        <p:nvSpPr>
          <p:cNvPr id="26" name="TextBox 25"/>
          <p:cNvSpPr txBox="1"/>
          <p:nvPr/>
        </p:nvSpPr>
        <p:spPr>
          <a:xfrm>
            <a:off x="6187287"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ONE WEEK</a:t>
            </a:r>
          </a:p>
        </p:txBody>
      </p:sp>
      <p:sp>
        <p:nvSpPr>
          <p:cNvPr id="27" name="Oval 26"/>
          <p:cNvSpPr/>
          <p:nvPr/>
        </p:nvSpPr>
        <p:spPr>
          <a:xfrm>
            <a:off x="740949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lands closest?</a:t>
            </a:r>
          </a:p>
        </p:txBody>
      </p:sp>
      <p:sp>
        <p:nvSpPr>
          <p:cNvPr id="30" name="TextBox 29"/>
          <p:cNvSpPr txBox="1"/>
          <p:nvPr/>
        </p:nvSpPr>
        <p:spPr>
          <a:xfrm>
            <a:off x="6351879"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Three rules for Diwali 2025's own week.</a:t>
            </a:r>
          </a:p>
        </p:txBody>
      </p:sp>
      <p:sp>
        <p:nvSpPr>
          <p:cNvPr id="31" name="TextBox 30"/>
          <p:cNvSpPr txBox="1"/>
          <p:nvPr/>
        </p:nvSpPr>
        <p:spPr>
          <a:xfrm>
            <a:off x="9015755"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TRAP</a:t>
            </a:r>
          </a:p>
        </p:txBody>
      </p:sp>
      <p:sp>
        <p:nvSpPr>
          <p:cNvPr id="32" name="Oval 31"/>
          <p:cNvSpPr/>
          <p:nvPr/>
        </p:nvSpPr>
        <p:spPr>
          <a:xfrm>
            <a:off x="10237965" y="4376928"/>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88408"/>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934712"/>
            <a:ext cx="2316403" cy="251205"/>
          </a:xfrm>
          <a:prstGeom prst="rect">
            <a:avLst/>
          </a:prstGeom>
          <a:noFill/>
        </p:spPr>
        <p:txBody>
          <a:bodyPr wrap="square" anchor="t" lIns="0" rIns="0" tIns="0" bIns="0">
            <a:spAutoFit/>
          </a:bodyPr>
          <a:lstStyle/>
          <a:p>
            <a:pPr algn="l"/>
            <a:r>
              <a:rPr sz="1300" b="1" i="0">
                <a:solidFill>
                  <a:srgbClr val="FFFFFF"/>
                </a:solidFill>
                <a:latin typeface="Calibri"/>
              </a:rPr>
              <a:t>Which week moves?</a:t>
            </a:r>
          </a:p>
        </p:txBody>
      </p:sp>
      <p:sp>
        <p:nvSpPr>
          <p:cNvPr id="35" name="TextBox 34"/>
          <p:cNvSpPr txBox="1"/>
          <p:nvPr/>
        </p:nvSpPr>
        <p:spPr>
          <a:xfrm>
            <a:off x="9180347" y="5222494"/>
            <a:ext cx="2316403" cy="366776"/>
          </a:xfrm>
          <a:prstGeom prst="rect">
            <a:avLst/>
          </a:prstGeom>
          <a:noFill/>
        </p:spPr>
        <p:txBody>
          <a:bodyPr wrap="square" anchor="t" lIns="0" rIns="0" tIns="0" bIns="0">
            <a:spAutoFit/>
          </a:bodyPr>
          <a:lstStyle/>
          <a:p>
            <a:pPr algn="l"/>
            <a:r>
              <a:rPr sz="1000" b="0" i="0">
                <a:solidFill>
                  <a:srgbClr val="CFC9EE"/>
                </a:solidFill>
                <a:latin typeface="Calibri"/>
              </a:rPr>
              <a:t>Where a copy of last year puts the peak.</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8" name="Oval 3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40" name="Oval 3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42" name="Oval 4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4" name="Oval 43"/>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46" name="Oval 45"/>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43 / 65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forecasts for one festive window, 18 points apart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planner been handed, and what is due Friday?</a:t>
            </a:r>
          </a:p>
        </p:txBody>
      </p:sp>
      <p:graphicFrame>
        <p:nvGraphicFramePr>
          <p:cNvPr id="9" name="Table 8"/>
          <p:cNvGraphicFramePr>
            <a:graphicFrameLocks noGrp="1"/>
          </p:cNvGraphicFramePr>
          <p:nvPr/>
        </p:nvGraphicFramePr>
        <p:xfrm>
          <a:off x="530352" y="1682496"/>
          <a:ext cx="11130990" cy="3721608"/>
        </p:xfrm>
        <a:graphic>
          <a:graphicData uri="http://schemas.openxmlformats.org/drawingml/2006/table">
            <a:tbl>
              <a:tblPr firstRow="0" bandRow="0">
                <a:tableStyleId>{2D5ABB26-0587-4C30-8999-92F81FD0307C}</a:tableStyleId>
              </a:tblPr>
              <a:tblGrid>
                <a:gridCol w="2388790"/>
                <a:gridCol w="8742200"/>
              </a:tblGrid>
              <a:tr h="310896">
                <a:tc>
                  <a:txBody>
                    <a:bodyPr/>
                    <a:lstStyle/>
                    <a:p>
                      <a:r>
                        <a:rPr sz="950" b="1" i="0">
                          <a:solidFill>
                            <a:srgbClr val="FFFFFF"/>
                          </a:solidFill>
                          <a:latin typeface="Calibri"/>
                        </a:rPr>
                        <a:t>On the ticket</a:t>
                      </a:r>
                    </a:p>
                  </a:txBody>
                  <a:tcPr marL="101600" marR="101600" marT="38100" marB="38100" anchor="ctr">
                    <a:solidFill>
                      <a:srgbClr val="1A0F5C"/>
                    </a:solidFill>
                  </a:tcPr>
                </a:tc>
                <a:tc>
                  <a:txBody>
                    <a:bodyPr/>
                    <a:lstStyle/>
                    <a:p>
                      <a:r>
                        <a:rPr sz="950" b="1" i="0">
                          <a:solidFill>
                            <a:srgbClr val="FFFFFF"/>
                          </a:solidFill>
                          <a:latin typeface="Calibri"/>
                        </a:rPr>
                        <a:t>What it says</a:t>
                      </a:r>
                    </a:p>
                  </a:txBody>
                  <a:tcPr marL="101600" marR="101600" marT="38100" marB="38100" anchor="ctr">
                    <a:solidFill>
                      <a:srgbClr val="1A0F5C"/>
                    </a:solidFill>
                  </a:tcPr>
                </a:tc>
              </a:tr>
              <a:tr h="310896">
                <a:tc>
                  <a:txBody>
                    <a:bodyPr/>
                    <a:lstStyle/>
                    <a:p>
                      <a:r>
                        <a:rPr sz="900" b="0" i="0">
                          <a:solidFill>
                            <a:srgbClr val="1A1440"/>
                          </a:solidFill>
                          <a:latin typeface="Calibri"/>
                        </a:rPr>
                        <a:t>Company, city, surface</a:t>
                      </a:r>
                    </a:p>
                  </a:txBody>
                  <a:tcPr marL="101600" marR="101600" marT="38100" marB="38100" anchor="ctr">
                    <a:solidFill>
                      <a:srgbClr val="FFFFFF"/>
                    </a:solidFill>
                  </a:tcPr>
                </a:tc>
                <a:tc>
                  <a:txBody>
                    <a:bodyPr/>
                    <a:lstStyle/>
                    <a:p>
                      <a:r>
                        <a:rPr sz="900" b="0" i="0">
                          <a:solidFill>
                            <a:srgbClr val="1A1440"/>
                          </a:solidFill>
                          <a:latin typeface="Calibri"/>
                        </a:rPr>
                        <a:t>Flipkart, the Lucknow fulfilment centre (FC), the warehouse where orders are packed and shipped: outbound shipments and packer shifts</a:t>
                      </a:r>
                    </a:p>
                  </a:txBody>
                  <a:tcPr marL="101600" marR="101600" marT="38100" marB="38100" anchor="ctr">
                    <a:solidFill>
                      <a:srgbClr val="FFFFFF"/>
                    </a:solidFill>
                  </a:tcPr>
                </a:tc>
              </a:tr>
              <a:tr h="310896">
                <a:tc>
                  <a:txBody>
                    <a:bodyPr/>
                    <a:lstStyle/>
                    <a:p>
                      <a:r>
                        <a:rPr sz="900" b="0" i="0">
                          <a:solidFill>
                            <a:srgbClr val="1A1440"/>
                          </a:solidFill>
                          <a:latin typeface="Calibri"/>
                        </a:rPr>
                        <a:t>The history</a:t>
                      </a:r>
                    </a:p>
                  </a:txBody>
                  <a:tcPr marL="101600" marR="101600" marT="38100" marB="38100" anchor="ctr">
                    <a:solidFill>
                      <a:srgbClr val="F4F2FA"/>
                    </a:solidFill>
                  </a:tcPr>
                </a:tc>
                <a:tc>
                  <a:txBody>
                    <a:bodyPr/>
                    <a:lstStyle/>
                    <a:p>
                      <a:r>
                        <a:rPr sz="900" b="0" i="0">
                          <a:solidFill>
                            <a:srgbClr val="1A1440"/>
                          </a:solidFill>
                          <a:latin typeface="Calibri"/>
                        </a:rPr>
                        <a:t>104 weeks, the weeks beginning Monday 30 September 2024 to Monday 21 September 2026; an ordinary week in late 2024 ships about 210,000</a:t>
                      </a:r>
                    </a:p>
                  </a:txBody>
                  <a:tcPr marL="101600" marR="101600" marT="38100" marB="38100" anchor="ctr">
                    <a:solidFill>
                      <a:srgbClr val="F4F2FA"/>
                    </a:solidFill>
                  </a:tcPr>
                </a:tc>
              </a:tr>
              <a:tr h="438912">
                <a:tc>
                  <a:txBody>
                    <a:bodyPr/>
                    <a:lstStyle/>
                    <a:p>
                      <a:r>
                        <a:rPr sz="900" b="0" i="0">
                          <a:solidFill>
                            <a:srgbClr val="1A1440"/>
                          </a:solidFill>
                          <a:latin typeface="Calibri"/>
                        </a:rPr>
                        <a:t>The festival</a:t>
                      </a:r>
                    </a:p>
                  </a:txBody>
                  <a:tcPr marL="101600" marR="101600" marT="38100" marB="38100" anchor="ctr">
                    <a:solidFill>
                      <a:srgbClr val="FFFFFF"/>
                    </a:solidFill>
                  </a:tcPr>
                </a:tc>
                <a:tc>
                  <a:txBody>
                    <a:bodyPr/>
                    <a:lstStyle/>
                    <a:p>
                      <a:r>
                        <a:rPr sz="900" b="0" i="0">
                          <a:solidFill>
                            <a:srgbClr val="1A1440"/>
                          </a:solidFill>
                          <a:latin typeface="Calibri"/>
                        </a:rPr>
                        <a:t>Diwali fell on Thursday 31 October 2024 and Monday 20 October 2025, and falls on Sunday 8 November 2026; the calendar table flags each year's festive sale weeks</a:t>
                      </a:r>
                    </a:p>
                  </a:txBody>
                  <a:tcPr marL="101600" marR="101600" marT="38100" marB="38100" anchor="ctr">
                    <a:solidFill>
                      <a:srgbClr val="FFFFFF"/>
                    </a:solidFill>
                  </a:tcPr>
                </a:tc>
              </a:tr>
              <a:tr h="438912">
                <a:tc>
                  <a:txBody>
                    <a:bodyPr/>
                    <a:lstStyle/>
                    <a:p>
                      <a:r>
                        <a:rPr sz="900" b="0" i="0">
                          <a:solidFill>
                            <a:srgbClr val="1A1440"/>
                          </a:solidFill>
                          <a:latin typeface="Calibri"/>
                        </a:rPr>
                        <a:t>The two forecasts</a:t>
                      </a:r>
                    </a:p>
                  </a:txBody>
                  <a:tcPr marL="101600" marR="101600" marT="38100" marB="38100" anchor="ctr">
                    <a:solidFill>
                      <a:srgbClr val="F4F2FA"/>
                    </a:solidFill>
                  </a:tcPr>
                </a:tc>
                <a:tc>
                  <a:txBody>
                    <a:bodyPr/>
                    <a:lstStyle/>
                    <a:p>
                      <a:r>
                        <a:rPr sz="900" b="0" i="0">
                          <a:solidFill>
                            <a:srgbClr val="1A1440"/>
                          </a:solidFill>
                          <a:latin typeface="Calibri"/>
                        </a:rPr>
                        <a:t>A vendor's model promises the window, the eight weeks to staff, 22 percent above the same weeks last year; finance's rule is those weeks plus 4 percent: eighteen percentage points apart. The vendor's sponsor, the manager who brought the model in, backs the 22</a:t>
                      </a:r>
                    </a:p>
                  </a:txBody>
                  <a:tcPr marL="101600" marR="101600" marT="38100" marB="38100" anchor="ctr">
                    <a:solidFill>
                      <a:srgbClr val="F4F2FA"/>
                    </a:solidFill>
                  </a:tcPr>
                </a:tc>
              </a:tr>
              <a:tr h="594360">
                <a:tc>
                  <a:txBody>
                    <a:bodyPr/>
                    <a:lstStyle/>
                    <a:p>
                      <a:r>
                        <a:rPr sz="900" b="0" i="0">
                          <a:solidFill>
                            <a:srgbClr val="1A1440"/>
                          </a:solidFill>
                          <a:latin typeface="Calibri"/>
                        </a:rPr>
                        <a:t>The data</a:t>
                      </a:r>
                    </a:p>
                  </a:txBody>
                  <a:tcPr marL="101600" marR="101600" marT="38100" marB="38100" anchor="ctr">
                    <a:solidFill>
                      <a:srgbClr val="FFFFFF"/>
                    </a:solidFill>
                  </a:tcPr>
                </a:tc>
                <a:tc>
                  <a:txBody>
                    <a:bodyPr/>
                    <a:lstStyle/>
                    <a:p>
                      <a:r>
                        <a:rPr sz="900" b="0" i="0">
                          <a:solidFill>
                            <a:srgbClr val="1A1440"/>
                          </a:solidFill>
                          <a:latin typeface="Calibri"/>
                        </a:rPr>
                        <a:t>weekly_shipments (week_start, shipments, packer_shifts_worked, overtime_shifts); vendor_forecast (week_start, vendor_shipments, kind: fitted for weeks the model was built on, holdout for its forecasts of the hidden weeks, forecast for the weeks ahead); calendar (week_start, diwali_week, sale_week); costs (item, rs, low, high)</a:t>
                      </a:r>
                    </a:p>
                  </a:txBody>
                  <a:tcPr marL="101600" marR="101600" marT="38100" marB="38100" anchor="ctr">
                    <a:solidFill>
                      <a:srgbClr val="FFFFFF"/>
                    </a:solidFill>
                  </a:tcPr>
                </a:tc>
              </a:tr>
              <a:tr h="438912">
                <a:tc>
                  <a:txBody>
                    <a:bodyPr/>
                    <a:lstStyle/>
                    <a:p>
                      <a:r>
                        <a:rPr sz="900" b="0" i="0">
                          <a:solidFill>
                            <a:srgbClr val="1A1440"/>
                          </a:solidFill>
                          <a:latin typeface="Calibri"/>
                        </a:rPr>
                        <a:t>The costs, assumed</a:t>
                      </a:r>
                    </a:p>
                  </a:txBody>
                  <a:tcPr marL="101600" marR="101600" marT="38100" marB="38100" anchor="ctr">
                    <a:solidFill>
                      <a:srgbClr val="F4F2FA"/>
                    </a:solidFill>
                  </a:tcPr>
                </a:tc>
                <a:tc>
                  <a:txBody>
                    <a:bodyPr/>
                    <a:lstStyle/>
                    <a:p>
                      <a:r>
                        <a:rPr sz="900" b="0" i="0">
                          <a:solidFill>
                            <a:srgbClr val="1A1440"/>
                          </a:solidFill>
                          <a:latin typeface="Calibri"/>
                        </a:rPr>
                        <a:t>A packer packs about 120 shipments a shift; a packer-shift is one packer working one shift. A late shipment costs Rs 25 (range Rs 15 to 40). An idle packer-shift costs Rs 650 (range Rs 500 to 800), so a spare shipment, planned for and never shipped, costs Rs 650 / 120 = Rs 5.42</a:t>
                      </a:r>
                    </a:p>
                  </a:txBody>
                  <a:tcPr marL="101600" marR="101600" marT="38100" marB="38100" anchor="ctr">
                    <a:solidFill>
                      <a:srgbClr val="F4F2FA"/>
                    </a:solidFill>
                  </a:tcPr>
                </a:tc>
              </a:tr>
              <a:tr h="438912">
                <a:tc>
                  <a:txBody>
                    <a:bodyPr/>
                    <a:lstStyle/>
                    <a:p>
                      <a:r>
                        <a:rPr sz="900" b="0" i="0">
                          <a:solidFill>
                            <a:srgbClr val="1A1440"/>
                          </a:solidFill>
                          <a:latin typeface="Calibri"/>
                        </a:rPr>
                        <a:t>The ask, due Friday</a:t>
                      </a:r>
                    </a:p>
                  </a:txBody>
                  <a:tcPr marL="101600" marR="101600" marT="38100" marB="38100" anchor="ctr">
                    <a:solidFill>
                      <a:srgbClr val="FFFFFF"/>
                    </a:solidFill>
                  </a:tcPr>
                </a:tc>
                <a:tc>
                  <a:txBody>
                    <a:bodyPr/>
                    <a:lstStyle/>
                    <a:p>
                      <a:r>
                        <a:rPr sz="900" b="0" i="0">
                          <a:solidFill>
                            <a:srgbClr val="1A1440"/>
                          </a:solidFill>
                          <a:latin typeface="Calibri"/>
                        </a:rPr>
                        <a:t>Which forecast goes to the plan for the eight weeks beginning 12 October to 30 November 2026, how wrong could it be, and how many packer shifts a week</a:t>
                      </a:r>
                    </a:p>
                  </a:txBody>
                  <a:tcPr marL="101600" marR="101600" marT="38100" marB="38100" anchor="ctr">
                    <a:solidFill>
                      <a:srgbClr val="FFFFFF"/>
                    </a:solidFill>
                  </a:tcPr>
                </a:tc>
              </a:tr>
              <a:tr h="438912">
                <a:tc>
                  <a:txBody>
                    <a:bodyPr/>
                    <a:lstStyle/>
                    <a:p>
                      <a:r>
                        <a:rPr sz="900" b="0" i="0">
                          <a:solidFill>
                            <a:srgbClr val="1A1440"/>
                          </a:solidFill>
                          <a:latin typeface="Calibri"/>
                        </a:rPr>
                        <a:t>Caveats</a:t>
                      </a:r>
                    </a:p>
                  </a:txBody>
                  <a:tcPr marL="101600" marR="101600" marT="38100" marB="38100" anchor="ctr">
                    <a:solidFill>
                      <a:srgbClr val="F4F2FA"/>
                    </a:solidFill>
                  </a:tcPr>
                </a:tc>
                <a:tc>
                  <a:txBody>
                    <a:bodyPr/>
                    <a:lstStyle/>
                    <a:p>
                      <a:r>
                        <a:rPr sz="900" b="0" i="0">
                          <a:solidFill>
                            <a:srgbClr val="1A1440"/>
                          </a:solidFill>
                          <a:latin typeface="Calibri"/>
                        </a:rPr>
                        <a:t>The festival moves by weeks each year and the sale weeks move with it; two years hold two festivals; a late shipment costs more than a spare one, Rs 25 against Rs 5.42; peak weeks are capped by the centre's own capacity</a:t>
                      </a:r>
                    </a:p>
                  </a:txBody>
                  <a:tcPr marL="101600" marR="101600" marT="38100" marB="38100" anchor="ctr">
                    <a:solidFill>
                      <a:srgbClr val="F4F2FA"/>
                    </a:solidFill>
                  </a:tcPr>
                </a:tc>
              </a:tr>
            </a:tbl>
          </a:graphicData>
        </a:graphic>
      </p:graphicFrame>
      <p:sp>
        <p:nvSpPr>
          <p:cNvPr id="10" name="TextBox 9"/>
          <p:cNvSpPr txBox="1"/>
          <p:nvPr/>
        </p:nvSpPr>
        <p:spPr>
          <a:xfrm>
            <a:off x="530352" y="5660136"/>
            <a:ext cx="11130991" cy="409448"/>
          </a:xfrm>
          <a:prstGeom prst="rect">
            <a:avLst/>
          </a:prstGeom>
          <a:noFill/>
        </p:spPr>
        <p:txBody>
          <a:bodyPr wrap="square" anchor="t" lIns="0" rIns="0" tIns="0" bIns="0">
            <a:spAutoFit/>
          </a:bodyPr>
          <a:lstStyle/>
          <a:p>
            <a:pPr>
              <a:spcAft>
                <a:spcPts val="500"/>
              </a:spcAft>
            </a:pPr>
            <a:r>
              <a:rPr sz="1100" b="0" i="0">
                <a:solidFill>
                  <a:srgbClr val="1A1440"/>
                </a:solidFill>
                <a:latin typeface="Calibri"/>
              </a:rPr>
              <a:t>Illustrative case: the company is real, the situation and the data are synthetic, built for this class.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44 / 65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19,760 shifts, a bar in rupees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will the planner carry out of the room?</a:t>
            </a:r>
          </a:p>
        </p:txBody>
      </p:sp>
      <p:sp>
        <p:nvSpPr>
          <p:cNvPr id="9" name="Rounded Rectangle 8"/>
          <p:cNvSpPr/>
          <p:nvPr/>
        </p:nvSpPr>
        <p:spPr>
          <a:xfrm>
            <a:off x="53035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adge-check_df01016c75a5.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PLAN</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19,760 packer shifts</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Over the eight weeks, peaking at 3,625 in the week of 19 October, from a forecast that keeps each week's distance from Diwali.</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ruler_ec66f5961a99.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ERROR BAR: A TYPICAL MISS AND A RANGE</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6,615 shipments a week</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average miss on thirteen weeks it never saw, about Rs 35,800 high or Rs 1.65 lakh low; at the peak, 3,413 to 3,906 shifts.</a:t>
            </a:r>
          </a:p>
        </p:txBody>
      </p:sp>
      <p:sp>
        <p:nvSpPr>
          <p:cNvPr id="21" name="Rounded Rectangle 20"/>
          <p:cNvSpPr/>
          <p:nvPr/>
        </p:nvSpPr>
        <p:spPr>
          <a:xfrm>
            <a:off x="807293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cale_b0ee069e815e.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TWO FORECASTS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Neither carries the plan</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vendor loses to a copy of last year on hidden weeks; finance's rule copies the calendar, which round three tests.</a:t>
            </a:r>
          </a:p>
        </p:txBody>
      </p:sp>
      <p:sp>
        <p:nvSpPr>
          <p:cNvPr id="27" name="Rounded Rectangle 26"/>
          <p:cNvSpPr/>
          <p:nvPr/>
        </p:nvSpPr>
        <p:spPr>
          <a:xfrm>
            <a:off x="530352" y="429412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76656" y="442214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77824" y="4412996"/>
            <a:ext cx="10564063" cy="891540"/>
          </a:xfrm>
          <a:prstGeom prst="rect">
            <a:avLst/>
          </a:prstGeom>
          <a:noFill/>
        </p:spPr>
        <p:txBody>
          <a:bodyPr wrap="square" anchor="ctr" lIns="0" rIns="0" tIns="0" bIns="0">
            <a:spAutoFit/>
          </a:bodyPr>
          <a:lstStyle/>
          <a:p>
            <a:r>
              <a:rPr sz="1500" b="1">
                <a:solidFill>
                  <a:srgbClr val="5B3FD6"/>
                </a:solidFill>
                <a:latin typeface="Calibri"/>
              </a:rPr>
              <a:t>The tournament's rule. </a:t>
            </a:r>
            <a:r>
              <a:rPr sz="1500" b="0" i="0">
                <a:solidFill>
                  <a:srgbClr val="1A1440"/>
                </a:solidFill>
                <a:latin typeface="Calibri"/>
              </a:rPr>
              <a:t>Nothing goes to the plan unless it beats the house bot, the seasonal naive (a copy of the same week last year), on the same thirteen hidden weeks, by the same measure: the average miss in shipments, then priced in rupees.</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2" name="Oval 3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34" name="Oval 3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36" name="Oval 3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38" name="Oval 37"/>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40" name="Oval 39"/>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45 / 65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week of the festive season ships most?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festivals, six weeks each: where does the peak sit, before you see a bar?</a:t>
            </a:r>
          </a:p>
        </p:txBody>
      </p:sp>
      <p:sp>
        <p:nvSpPr>
          <p:cNvPr id="9" name="Rounded Rectangle 8"/>
          <p:cNvSpPr/>
          <p:nvPr/>
        </p:nvSpPr>
        <p:spPr>
          <a:xfrm>
            <a:off x="530352"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lendar_52de2a000930.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Diwali's own week</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festival is the moment people shop.</a:t>
            </a:r>
          </a:p>
        </p:txBody>
      </p:sp>
      <p:sp>
        <p:nvSpPr>
          <p:cNvPr id="15" name="Rounded Rectangle 14"/>
          <p:cNvSpPr/>
          <p:nvPr/>
        </p:nvSpPr>
        <p:spPr>
          <a:xfrm>
            <a:off x="3358819"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The week before Diwali's week</a:t>
            </a:r>
          </a:p>
        </p:txBody>
      </p:sp>
      <p:sp>
        <p:nvSpPr>
          <p:cNvPr id="20" name="TextBox 19"/>
          <p:cNvSpPr txBox="1"/>
          <p:nvPr/>
        </p:nvSpPr>
        <p:spPr>
          <a:xfrm>
            <a:off x="3559987"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last full week before the festival.</a:t>
            </a:r>
          </a:p>
        </p:txBody>
      </p:sp>
      <p:sp>
        <p:nvSpPr>
          <p:cNvPr id="21" name="Rounded Rectangle 20"/>
          <p:cNvSpPr/>
          <p:nvPr/>
        </p:nvSpPr>
        <p:spPr>
          <a:xfrm>
            <a:off x="6187287"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alendar_52de2a000930.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Two weeks before Diwali's week</a:t>
            </a:r>
          </a:p>
        </p:txBody>
      </p:sp>
      <p:sp>
        <p:nvSpPr>
          <p:cNvPr id="26" name="TextBox 25"/>
          <p:cNvSpPr txBox="1"/>
          <p:nvPr/>
        </p:nvSpPr>
        <p:spPr>
          <a:xfrm>
            <a:off x="6388455"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Early enough for parcels to arrive.</a:t>
            </a:r>
          </a:p>
        </p:txBody>
      </p:sp>
      <p:sp>
        <p:nvSpPr>
          <p:cNvPr id="27" name="Rounded Rectangle 26"/>
          <p:cNvSpPr/>
          <p:nvPr/>
        </p:nvSpPr>
        <p:spPr>
          <a:xfrm>
            <a:off x="9015755"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alendar_52de2a000930.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The week after Diwali's week</a:t>
            </a:r>
          </a:p>
        </p:txBody>
      </p:sp>
      <p:sp>
        <p:nvSpPr>
          <p:cNvPr id="32" name="TextBox 31"/>
          <p:cNvSpPr txBox="1"/>
          <p:nvPr/>
        </p:nvSpPr>
        <p:spPr>
          <a:xfrm>
            <a:off x="9216923"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Gifts bought late, shipped late.</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37" name="Oval 3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39" name="Oval 3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1" name="Oval 40"/>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43" name="Oval 42"/>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46 / 65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two weeks before Diwali, in both years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twelve weeks around two Diwalis ship?</a:t>
            </a:r>
          </a:p>
        </p:txBody>
      </p:sp>
      <p:pic>
        <p:nvPicPr>
          <p:cNvPr id="9" name="mermaid diagram" descr="C2_W04_D05_twelve_rows_STUDENT.png"/>
          <p:cNvPicPr>
            <a:picLocks noChangeAspect="1"/>
          </p:cNvPicPr>
          <p:nvPr/>
        </p:nvPicPr>
        <p:blipFill>
          <a:blip r:embed="rId4"/>
          <a:stretch>
            <a:fillRect/>
          </a:stretch>
        </p:blipFill>
        <p:spPr>
          <a:xfrm>
            <a:off x="2534183" y="1664208"/>
            <a:ext cx="7123328" cy="3077464"/>
          </a:xfrm>
          <a:prstGeom prst="rect">
            <a:avLst/>
          </a:prstGeom>
        </p:spPr>
      </p:pic>
      <p:sp>
        <p:nvSpPr>
          <p:cNvPr id="10" name="picture caption"/>
          <p:cNvSpPr txBox="1"/>
          <p:nvPr/>
        </p:nvSpPr>
        <p:spPr>
          <a:xfrm>
            <a:off x="530352" y="4778248"/>
            <a:ext cx="11130991" cy="316992"/>
          </a:xfrm>
          <a:prstGeom prst="rect">
            <a:avLst/>
          </a:prstGeom>
          <a:noFill/>
        </p:spPr>
        <p:txBody>
          <a:bodyPr wrap="square" anchor="t" lIns="0" rIns="0" tIns="0" bIns="0">
            <a:spAutoFit/>
          </a:bodyPr>
          <a:lstStyle/>
          <a:p>
            <a:pPr algn="ctr"/>
            <a:r>
              <a:rPr sz="1200" b="0" i="0">
                <a:solidFill>
                  <a:srgbClr val="6B6690"/>
                </a:solidFill>
                <a:latin typeface="Calibri"/>
              </a:rPr>
              <a:t>Twelve weeks around two Diwalis, Diwali's own week in red</a:t>
            </a:r>
          </a:p>
        </p:txBody>
      </p:sp>
      <p:sp>
        <p:nvSpPr>
          <p:cNvPr id="11" name="TextBox 10"/>
          <p:cNvSpPr txBox="1"/>
          <p:nvPr/>
        </p:nvSpPr>
        <p:spPr>
          <a:xfrm>
            <a:off x="530352" y="5104384"/>
            <a:ext cx="11130991" cy="1095247"/>
          </a:xfrm>
          <a:prstGeom prst="rect">
            <a:avLst/>
          </a:prstGeom>
          <a:noFill/>
        </p:spPr>
        <p:txBody>
          <a:bodyPr wrap="square" anchor="t" lIns="0" rIns="0" tIns="0" bIns="0">
            <a:spAutoFit/>
          </a:bodyPr>
          <a:lstStyle/>
          <a:p>
            <a:r>
              <a:rPr sz="1400" b="0" i="0">
                <a:solidFill>
                  <a:srgbClr val="1A1440"/>
                </a:solidFill>
                <a:latin typeface="Calibri"/>
              </a:rPr>
              <a:t>The busiest week is two weeks before Diwali's week both times: 401,000 shipments in the week of 14 October 2024 and 418,200 in the week of 6 October 2025. Both fall in the festive sale, which the calendar table flags in the third and second weeks before Diwali's week. Diwali's own week ships 296,900 and 308,900, and the week after is the lowest. Chapter 1's reading, on Flipkart's weeks: the festival is a yearly season, a peak and then a dip.</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47 / 65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rule lands closest on Diwali 2025's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From the week of 13 October 2025, which rule best forecasts the week of 20 October?</a:t>
            </a:r>
          </a:p>
        </p:txBody>
      </p:sp>
      <p:sp>
        <p:nvSpPr>
          <p:cNvPr id="9" name="Rounded Rectangle 8"/>
          <p:cNvSpPr/>
          <p:nvPr/>
        </p:nvSpPr>
        <p:spPr>
          <a:xfrm>
            <a:off x="530352"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Naive</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Repeat the week of 13 October 2025.</a:t>
            </a:r>
          </a:p>
        </p:txBody>
      </p:sp>
      <p:sp>
        <p:nvSpPr>
          <p:cNvPr id="15" name="Rounded Rectangle 14"/>
          <p:cNvSpPr/>
          <p:nvPr/>
        </p:nvSpPr>
        <p:spPr>
          <a:xfrm>
            <a:off x="3358819"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Seasonal naive, the house bot</a:t>
            </a:r>
          </a:p>
        </p:txBody>
      </p:sp>
      <p:sp>
        <p:nvSpPr>
          <p:cNvPr id="20" name="TextBox 19"/>
          <p:cNvSpPr txBox="1"/>
          <p:nvPr/>
        </p:nvSpPr>
        <p:spPr>
          <a:xfrm>
            <a:off x="3559987"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Copy the week of 21 October 2024, 52 weeks back.</a:t>
            </a:r>
          </a:p>
        </p:txBody>
      </p:sp>
      <p:sp>
        <p:nvSpPr>
          <p:cNvPr id="21" name="Rounded Rectangle 20"/>
          <p:cNvSpPr/>
          <p:nvPr/>
        </p:nvSpPr>
        <p:spPr>
          <a:xfrm>
            <a:off x="6187287"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Festival-aligned</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Copy Diwali 2024's own week, 28 October.</a:t>
            </a:r>
          </a:p>
        </p:txBody>
      </p:sp>
      <p:sp>
        <p:nvSpPr>
          <p:cNvPr id="27" name="Rounded Rectangle 26"/>
          <p:cNvSpPr/>
          <p:nvPr/>
        </p:nvSpPr>
        <p:spPr>
          <a:xfrm>
            <a:off x="9015755"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All three within 10,000</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One week ahead, every rule is close.</a:t>
            </a:r>
          </a:p>
        </p:txBody>
      </p:sp>
      <p:sp>
        <p:nvSpPr>
          <p:cNvPr id="33" name="TextBox 32"/>
          <p:cNvSpPr txBox="1"/>
          <p:nvPr/>
        </p:nvSpPr>
        <p:spPr>
          <a:xfrm>
            <a:off x="530352" y="4335272"/>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Festival-aligned is chapter 2's fix at Flipkart's scale: from five weeks before Diwali's week to four after, copy the week at the same distance from last year's Diwali, otherwise the same calendar week, then add the year's growth where the data can measure it. In October 2025 they cannot: no week yet has a twin a year earlier outside the festival, so this forecast adds none.</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6" name="Oval 3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38" name="Oval 3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40" name="Oval 3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2" name="Oval 41"/>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44" name="Oval 43"/>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48 / 65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festival-aligned, 12,000 low, the closest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each rule forecast for the week of 20 October 2025, and by how much did it miss?</a:t>
            </a:r>
          </a:p>
        </p:txBody>
      </p:sp>
      <p:graphicFrame>
        <p:nvGraphicFramePr>
          <p:cNvPr id="9" name="Table 8"/>
          <p:cNvGraphicFramePr>
            <a:graphicFrameLocks noGrp="1"/>
          </p:cNvGraphicFramePr>
          <p:nvPr/>
        </p:nvGraphicFramePr>
        <p:xfrm>
          <a:off x="530352" y="1956816"/>
          <a:ext cx="11130989" cy="1341120"/>
        </p:xfrm>
        <a:graphic>
          <a:graphicData uri="http://schemas.openxmlformats.org/drawingml/2006/table">
            <a:tbl>
              <a:tblPr firstRow="0" bandRow="0">
                <a:tableStyleId>{2D5ABB26-0587-4C30-8999-92F81FD0307C}</a:tableStyleId>
              </a:tblPr>
              <a:tblGrid>
                <a:gridCol w="4199051"/>
                <a:gridCol w="3031129"/>
                <a:gridCol w="1551408"/>
                <a:gridCol w="2349401"/>
              </a:tblGrid>
              <a:tr h="335280">
                <a:tc>
                  <a:txBody>
                    <a:bodyPr/>
                    <a:lstStyle/>
                    <a:p>
                      <a:r>
                        <a:rPr sz="1250" b="1" i="0">
                          <a:solidFill>
                            <a:srgbClr val="FFFFFF"/>
                          </a:solidFill>
                          <a:latin typeface="Calibri"/>
                        </a:rPr>
                        <a:t>Rule</a:t>
                      </a:r>
                    </a:p>
                  </a:txBody>
                  <a:tcPr marL="101600" marR="101600" marT="38100" marB="38100" anchor="ctr">
                    <a:solidFill>
                      <a:srgbClr val="1A0F5C"/>
                    </a:solidFill>
                  </a:tcPr>
                </a:tc>
                <a:tc>
                  <a:txBody>
                    <a:bodyPr/>
                    <a:lstStyle/>
                    <a:p>
                      <a:r>
                        <a:rPr sz="1250" b="1" i="0">
                          <a:solidFill>
                            <a:srgbClr val="FFFFFF"/>
                          </a:solidFill>
                          <a:latin typeface="Calibri"/>
                        </a:rPr>
                        <a:t>The week it copies</a:t>
                      </a:r>
                    </a:p>
                  </a:txBody>
                  <a:tcPr marL="101600" marR="101600" marT="38100" marB="38100" anchor="ctr">
                    <a:solidFill>
                      <a:srgbClr val="1A0F5C"/>
                    </a:solidFill>
                  </a:tcPr>
                </a:tc>
                <a:tc>
                  <a:txBody>
                    <a:bodyPr/>
                    <a:lstStyle/>
                    <a:p>
                      <a:r>
                        <a:rPr sz="1250" b="1" i="0">
                          <a:solidFill>
                            <a:srgbClr val="FFFFFF"/>
                          </a:solidFill>
                          <a:latin typeface="Calibri"/>
                        </a:rPr>
                        <a:t>Forecast</a:t>
                      </a:r>
                    </a:p>
                  </a:txBody>
                  <a:tcPr marL="101600" marR="101600" marT="38100" marB="38100" anchor="ctr">
                    <a:solidFill>
                      <a:srgbClr val="1A0F5C"/>
                    </a:solidFill>
                  </a:tcPr>
                </a:tc>
                <a:tc>
                  <a:txBody>
                    <a:bodyPr/>
                    <a:lstStyle/>
                    <a:p>
                      <a:r>
                        <a:rPr sz="1250" b="1" i="0">
                          <a:solidFill>
                            <a:srgbClr val="FFFFFF"/>
                          </a:solidFill>
                          <a:latin typeface="Calibri"/>
                        </a:rPr>
                        <a:t>Miss</a:t>
                      </a:r>
                    </a:p>
                  </a:txBody>
                  <a:tcPr marL="101600" marR="101600" marT="38100" marB="38100" anchor="ctr">
                    <a:solidFill>
                      <a:srgbClr val="1A0F5C"/>
                    </a:solidFill>
                  </a:tcPr>
                </a:tc>
              </a:tr>
              <a:tr h="335280">
                <a:tc>
                  <a:txBody>
                    <a:bodyPr/>
                    <a:lstStyle/>
                    <a:p>
                      <a:r>
                        <a:rPr sz="1200" b="0" i="0">
                          <a:solidFill>
                            <a:srgbClr val="1A1440"/>
                          </a:solidFill>
                          <a:latin typeface="Calibri"/>
                        </a:rPr>
                        <a:t>Naive</a:t>
                      </a:r>
                    </a:p>
                  </a:txBody>
                  <a:tcPr marL="101600" marR="101600" marT="38100" marB="38100" anchor="ctr">
                    <a:solidFill>
                      <a:srgbClr val="FFFFFF"/>
                    </a:solidFill>
                  </a:tcPr>
                </a:tc>
                <a:tc>
                  <a:txBody>
                    <a:bodyPr/>
                    <a:lstStyle/>
                    <a:p>
                      <a:r>
                        <a:rPr sz="1200" b="0" i="0">
                          <a:solidFill>
                            <a:srgbClr val="1A1440"/>
                          </a:solidFill>
                          <a:latin typeface="Calibri"/>
                        </a:rPr>
                        <a:t>13 October 2025</a:t>
                      </a:r>
                    </a:p>
                  </a:txBody>
                  <a:tcPr marL="101600" marR="101600" marT="38100" marB="38100" anchor="ctr">
                    <a:solidFill>
                      <a:srgbClr val="FFFFFF"/>
                    </a:solidFill>
                  </a:tcPr>
                </a:tc>
                <a:tc>
                  <a:txBody>
                    <a:bodyPr/>
                    <a:lstStyle/>
                    <a:p>
                      <a:r>
                        <a:rPr sz="1200" b="0" i="0">
                          <a:solidFill>
                            <a:srgbClr val="1A1440"/>
                          </a:solidFill>
                          <a:latin typeface="Calibri"/>
                        </a:rPr>
                        <a:t>369,000</a:t>
                      </a:r>
                    </a:p>
                  </a:txBody>
                  <a:tcPr marL="101600" marR="101600" marT="38100" marB="38100" anchor="ctr">
                    <a:solidFill>
                      <a:srgbClr val="FFFFFF"/>
                    </a:solidFill>
                  </a:tcPr>
                </a:tc>
                <a:tc>
                  <a:txBody>
                    <a:bodyPr/>
                    <a:lstStyle/>
                    <a:p>
                      <a:r>
                        <a:rPr sz="1200" b="0" i="0">
                          <a:solidFill>
                            <a:srgbClr val="1A1440"/>
                          </a:solidFill>
                          <a:latin typeface="Calibri"/>
                        </a:rPr>
                        <a:t>60,100 too high</a:t>
                      </a:r>
                    </a:p>
                  </a:txBody>
                  <a:tcPr marL="101600" marR="101600" marT="38100" marB="38100" anchor="ctr">
                    <a:solidFill>
                      <a:srgbClr val="FFFFFF"/>
                    </a:solidFill>
                  </a:tcPr>
                </a:tc>
              </a:tr>
              <a:tr h="335280">
                <a:tc>
                  <a:txBody>
                    <a:bodyPr/>
                    <a:lstStyle/>
                    <a:p>
                      <a:r>
                        <a:rPr sz="1200" b="0" i="0">
                          <a:solidFill>
                            <a:srgbClr val="1A1440"/>
                          </a:solidFill>
                          <a:latin typeface="Calibri"/>
                        </a:rPr>
                        <a:t>Seasonal naive, the house bot</a:t>
                      </a:r>
                    </a:p>
                  </a:txBody>
                  <a:tcPr marL="101600" marR="101600" marT="38100" marB="38100" anchor="ctr">
                    <a:solidFill>
                      <a:srgbClr val="F4F2FA"/>
                    </a:solidFill>
                  </a:tcPr>
                </a:tc>
                <a:tc>
                  <a:txBody>
                    <a:bodyPr/>
                    <a:lstStyle/>
                    <a:p>
                      <a:r>
                        <a:rPr sz="1200" b="0" i="0">
                          <a:solidFill>
                            <a:srgbClr val="1A1440"/>
                          </a:solidFill>
                          <a:latin typeface="Calibri"/>
                        </a:rPr>
                        <a:t>21 October 2024</a:t>
                      </a:r>
                    </a:p>
                  </a:txBody>
                  <a:tcPr marL="101600" marR="101600" marT="38100" marB="38100" anchor="ctr">
                    <a:solidFill>
                      <a:srgbClr val="F4F2FA"/>
                    </a:solidFill>
                  </a:tcPr>
                </a:tc>
                <a:tc>
                  <a:txBody>
                    <a:bodyPr/>
                    <a:lstStyle/>
                    <a:p>
                      <a:r>
                        <a:rPr sz="1200" b="0" i="0">
                          <a:solidFill>
                            <a:srgbClr val="1A1440"/>
                          </a:solidFill>
                          <a:latin typeface="Calibri"/>
                        </a:rPr>
                        <a:t>356,200</a:t>
                      </a:r>
                    </a:p>
                  </a:txBody>
                  <a:tcPr marL="101600" marR="101600" marT="38100" marB="38100" anchor="ctr">
                    <a:solidFill>
                      <a:srgbClr val="F4F2FA"/>
                    </a:solidFill>
                  </a:tcPr>
                </a:tc>
                <a:tc>
                  <a:txBody>
                    <a:bodyPr/>
                    <a:lstStyle/>
                    <a:p>
                      <a:r>
                        <a:rPr sz="1200" b="0" i="0">
                          <a:solidFill>
                            <a:srgbClr val="1A1440"/>
                          </a:solidFill>
                          <a:latin typeface="Calibri"/>
                        </a:rPr>
                        <a:t>47,300 too high</a:t>
                      </a:r>
                    </a:p>
                  </a:txBody>
                  <a:tcPr marL="101600" marR="101600" marT="38100" marB="38100" anchor="ctr">
                    <a:solidFill>
                      <a:srgbClr val="F4F2FA"/>
                    </a:solidFill>
                  </a:tcPr>
                </a:tc>
              </a:tr>
              <a:tr h="335280">
                <a:tc>
                  <a:txBody>
                    <a:bodyPr/>
                    <a:lstStyle/>
                    <a:p>
                      <a:r>
                        <a:rPr sz="1200" b="0" i="0">
                          <a:solidFill>
                            <a:srgbClr val="1A1440"/>
                          </a:solidFill>
                          <a:latin typeface="Calibri"/>
                        </a:rPr>
                        <a:t>Festival-aligned</a:t>
                      </a:r>
                    </a:p>
                  </a:txBody>
                  <a:tcPr marL="101600" marR="101600" marT="38100" marB="38100" anchor="ctr">
                    <a:solidFill>
                      <a:srgbClr val="FFFFFF"/>
                    </a:solidFill>
                  </a:tcPr>
                </a:tc>
                <a:tc>
                  <a:txBody>
                    <a:bodyPr/>
                    <a:lstStyle/>
                    <a:p>
                      <a:r>
                        <a:rPr sz="1200" b="0" i="0">
                          <a:solidFill>
                            <a:srgbClr val="1A1440"/>
                          </a:solidFill>
                          <a:latin typeface="Calibri"/>
                        </a:rPr>
                        <a:t>28 October 2024</a:t>
                      </a:r>
                    </a:p>
                  </a:txBody>
                  <a:tcPr marL="101600" marR="101600" marT="38100" marB="38100" anchor="ctr">
                    <a:solidFill>
                      <a:srgbClr val="FFFFFF"/>
                    </a:solidFill>
                  </a:tcPr>
                </a:tc>
                <a:tc>
                  <a:txBody>
                    <a:bodyPr/>
                    <a:lstStyle/>
                    <a:p>
                      <a:r>
                        <a:rPr sz="1200" b="0" i="0">
                          <a:solidFill>
                            <a:srgbClr val="1A1440"/>
                          </a:solidFill>
                          <a:latin typeface="Calibri"/>
                        </a:rPr>
                        <a:t>296,900</a:t>
                      </a:r>
                    </a:p>
                  </a:txBody>
                  <a:tcPr marL="101600" marR="101600" marT="38100" marB="38100" anchor="ctr">
                    <a:solidFill>
                      <a:srgbClr val="FFFFFF"/>
                    </a:solidFill>
                  </a:tcPr>
                </a:tc>
                <a:tc>
                  <a:txBody>
                    <a:bodyPr/>
                    <a:lstStyle/>
                    <a:p>
                      <a:r>
                        <a:rPr sz="1200" b="0" i="0">
                          <a:solidFill>
                            <a:srgbClr val="1A1440"/>
                          </a:solidFill>
                          <a:latin typeface="Calibri"/>
                        </a:rPr>
                        <a:t>12,000 too low</a:t>
                      </a:r>
                    </a:p>
                  </a:txBody>
                  <a:tcPr marL="101600" marR="101600" marT="38100" marB="38100" anchor="ctr">
                    <a:solidFill>
                      <a:srgbClr val="FFFFFF"/>
                    </a:solidFill>
                  </a:tcPr>
                </a:tc>
              </a:tr>
            </a:tbl>
          </a:graphicData>
        </a:graphic>
      </p:graphicFrame>
      <p:sp>
        <p:nvSpPr>
          <p:cNvPr id="10" name="TextBox 9"/>
          <p:cNvSpPr txBox="1"/>
          <p:nvPr/>
        </p:nvSpPr>
        <p:spPr>
          <a:xfrm>
            <a:off x="530352" y="355396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308,900 shipped. The week 52 weeks back looks like "the same week", but in 2024 it was the week before Diwali, and the week before Diwali ships more than Diwali's own week. Every rule here uses only weeks before 20 October 2025.</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49 / 65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copy of last year lands 2025's peak late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a same-week-last-year copy put the peak when Diwali moves?</a:t>
            </a:r>
          </a:p>
        </p:txBody>
      </p:sp>
      <p:pic>
        <p:nvPicPr>
          <p:cNvPr id="9" name="mermaid diagram" descr="C2_W04_D05_festival_plot_STUDENT.png"/>
          <p:cNvPicPr>
            <a:picLocks noChangeAspect="1"/>
          </p:cNvPicPr>
          <p:nvPr/>
        </p:nvPicPr>
        <p:blipFill>
          <a:blip r:embed="rId4"/>
          <a:stretch>
            <a:fillRect/>
          </a:stretch>
        </p:blipFill>
        <p:spPr>
          <a:xfrm>
            <a:off x="2205257" y="1664208"/>
            <a:ext cx="7781179" cy="3200400"/>
          </a:xfrm>
          <a:prstGeom prst="rect">
            <a:avLst/>
          </a:prstGeom>
        </p:spPr>
      </p:pic>
      <p:sp>
        <p:nvSpPr>
          <p:cNvPr id="10" name="picture caption"/>
          <p:cNvSpPr txBox="1"/>
          <p:nvPr/>
        </p:nvSpPr>
        <p:spPr>
          <a:xfrm>
            <a:off x="530352" y="49011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Two years by date and by weeks from Diwali</a:t>
            </a:r>
          </a:p>
        </p:txBody>
      </p:sp>
      <p:sp>
        <p:nvSpPr>
          <p:cNvPr id="11" name="Rounded Rectangle 10"/>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346192"/>
            <a:ext cx="10564063" cy="624840"/>
          </a:xfrm>
          <a:prstGeom prst="rect">
            <a:avLst/>
          </a:prstGeom>
          <a:noFill/>
        </p:spPr>
        <p:txBody>
          <a:bodyPr wrap="square" anchor="ctr" lIns="0" rIns="0" tIns="0" bIns="0">
            <a:spAutoFit/>
          </a:bodyPr>
          <a:lstStyle/>
          <a:p>
            <a:r>
              <a:rPr sz="1000" b="1">
                <a:solidFill>
                  <a:srgbClr val="5B3FD6"/>
                </a:solidFill>
                <a:latin typeface="Calibri"/>
              </a:rPr>
              <a:t>The plausible wrong number. </a:t>
            </a:r>
            <a:r>
              <a:rPr sz="1000" b="0" i="0">
                <a:solidFill>
                  <a:srgbClr val="1A1440"/>
                </a:solidFill>
                <a:latin typeface="Calibri"/>
              </a:rPr>
              <a:t>The copy books 401,000 for the week of 13 October 2025, its biggest week, while 369,000 shipped; the real peak, 418,200 on 6 October, gets 312,900. </a:t>
            </a:r>
            <a:r>
              <a:rPr sz="1000" b="1" i="0">
                <a:solidFill>
                  <a:srgbClr val="1A1440"/>
                </a:solidFill>
                <a:latin typeface="Calibri"/>
              </a:rPr>
              <a:t>The decision it misleads:</a:t>
            </a:r>
            <a:r>
              <a:rPr sz="1000" b="0" i="0">
                <a:solidFill>
                  <a:srgbClr val="1A1440"/>
                </a:solidFill>
                <a:latin typeface="Calibri"/>
              </a:rPr>
              <a:t> the most packers booked a week after the rush. </a:t>
            </a:r>
            <a:r>
              <a:rPr sz="1000" b="1" i="0">
                <a:solidFill>
                  <a:srgbClr val="1A1440"/>
                </a:solidFill>
                <a:latin typeface="Calibri"/>
              </a:rPr>
              <a:t>The check:</a:t>
            </a:r>
            <a:r>
              <a:rPr sz="1000" b="0" i="0">
                <a:solidFill>
                  <a:srgbClr val="1A1440"/>
                </a:solidFill>
                <a:latin typeface="Calibri"/>
              </a:rPr>
              <a:t> line the years up by weeks from Diwali, as on the right. </a:t>
            </a:r>
            <a:r>
              <a:rPr sz="1000" b="1" i="0">
                <a:solidFill>
                  <a:srgbClr val="1A1440"/>
                </a:solidFill>
                <a:latin typeface="Calibri"/>
              </a:rPr>
              <a:t>The fix:</a:t>
            </a:r>
            <a:r>
              <a:rPr sz="1000" b="0" i="0">
                <a:solidFill>
                  <a:srgbClr val="1A1440"/>
                </a:solidFill>
                <a:latin typeface="Calibri"/>
              </a:rPr>
              <a:t> festival-aligned. The stall's calendar copy (invented) landed Diwali's dip a week late in chapter 2 the same way.</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8" name="Oval 1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20" name="Oval 1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2" name="Oval 21"/>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24" name="Oval 23"/>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50 / 65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In 2026 Diwali's week moves two weeks later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Diwali fall in 2026, against the two years the rules copy?</a:t>
            </a:r>
          </a:p>
        </p:txBody>
      </p:sp>
      <p:pic>
        <p:nvPicPr>
          <p:cNvPr id="9" name="mermaid diagram" descr="C2_W04_D05_festival_calendar_open_STUDENT.png"/>
          <p:cNvPicPr>
            <a:picLocks noChangeAspect="1"/>
          </p:cNvPicPr>
          <p:nvPr/>
        </p:nvPicPr>
        <p:blipFill>
          <a:blip r:embed="rId4"/>
          <a:stretch>
            <a:fillRect/>
          </a:stretch>
        </p:blipFill>
        <p:spPr>
          <a:xfrm>
            <a:off x="1303486" y="1664208"/>
            <a:ext cx="9584721"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Diwali's week in 2024, 2025 and 2026</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Diwali 2026 falls on Sunday 8 November, so its week begins 2 November, 54 weeks after Diwali 2025's week and two weeks later in the calendar. Hold one question for round three: where will a copy of last year put this year's rush?</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51 / 65</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Flipkart books its festive capacity weeks ahead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decisions does a festive forecast feed?</a:t>
            </a:r>
          </a:p>
        </p:txBody>
      </p:sp>
      <p:graphicFrame>
        <p:nvGraphicFramePr>
          <p:cNvPr id="9" name="Table 8"/>
          <p:cNvGraphicFramePr>
            <a:graphicFrameLocks noGrp="1"/>
          </p:cNvGraphicFramePr>
          <p:nvPr/>
        </p:nvGraphicFramePr>
        <p:xfrm>
          <a:off x="530352" y="1956816"/>
          <a:ext cx="11130990" cy="2560320"/>
        </p:xfrm>
        <a:graphic>
          <a:graphicData uri="http://schemas.openxmlformats.org/drawingml/2006/table">
            <a:tbl>
              <a:tblPr firstRow="0" bandRow="0">
                <a:tableStyleId>{2D5ABB26-0587-4C30-8999-92F81FD0307C}</a:tableStyleId>
              </a:tblPr>
              <a:tblGrid>
                <a:gridCol w="4534868"/>
                <a:gridCol w="6596122"/>
              </a:tblGrid>
              <a:tr h="1337056">
                <a:tc>
                  <a:txBody>
                    <a:bodyPr/>
                    <a:lstStyle/>
                    <a:p>
                      <a:r>
                        <a:rPr sz="1450" b="1" i="0">
                          <a:solidFill>
                            <a:srgbClr val="FFFFFF"/>
                          </a:solidFill>
                          <a:latin typeface="Calibri"/>
                        </a:rPr>
                        <a:t>What Flipkart said (6 October 2026)</a:t>
                      </a:r>
                    </a:p>
                  </a:txBody>
                  <a:tcPr marL="101600" marR="101600" marT="38100" marB="38100" anchor="ctr">
                    <a:solidFill>
                      <a:srgbClr val="1A0F5C"/>
                    </a:solidFill>
                  </a:tcPr>
                </a:tc>
                <a:tc>
                  <a:txBody>
                    <a:bodyPr/>
                    <a:lstStyle/>
                    <a:p>
                      <a:r>
                        <a:rPr sz="1450" b="1" i="0">
                          <a:solidFill>
                            <a:srgbClr val="FFFFFF"/>
                          </a:solidFill>
                          <a:latin typeface="Calibri"/>
                        </a:rPr>
                        <a:t>Ekart, the supply chain behind Flipkart's deliveries, added 14 million cubic feet of warehousing space ahead of The Big Billion Days, Flipkart's yearly festive sale, and more than 2.5 lakh direct and indirect festive employment opportunities were created (Flipkart's announcement, checked 12 October 2026)</a:t>
                      </a:r>
                    </a:p>
                  </a:txBody>
                  <a:tcPr marL="101600" marR="101600" marT="38100" marB="38100" anchor="ctr">
                    <a:solidFill>
                      <a:srgbClr val="1A0F5C"/>
                    </a:solidFill>
                  </a:tcPr>
                </a:tc>
              </a:tr>
              <a:tr h="611632">
                <a:tc>
                  <a:txBody>
                    <a:bodyPr/>
                    <a:lstStyle/>
                    <a:p>
                      <a:r>
                        <a:rPr sz="1400" b="0" i="0">
                          <a:solidFill>
                            <a:srgbClr val="1A1440"/>
                          </a:solidFill>
                          <a:latin typeface="Calibri"/>
                        </a:rPr>
                        <a:t>When it was decided</a:t>
                      </a:r>
                    </a:p>
                  </a:txBody>
                  <a:tcPr marL="101600" marR="101600" marT="38100" marB="38100" anchor="ctr">
                    <a:solidFill>
                      <a:srgbClr val="FFFFFF"/>
                    </a:solidFill>
                  </a:tcPr>
                </a:tc>
                <a:tc>
                  <a:txBody>
                    <a:bodyPr/>
                    <a:lstStyle/>
                    <a:p>
                      <a:r>
                        <a:rPr sz="1400" b="0" i="0">
                          <a:solidFill>
                            <a:srgbClr val="1A1440"/>
                          </a:solidFill>
                          <a:latin typeface="Calibri"/>
                        </a:rPr>
                        <a:t>Before the sale opened, so the space and the people rested on a forecast made weeks earlier</a:t>
                      </a:r>
                    </a:p>
                  </a:txBody>
                  <a:tcPr marL="101600" marR="101600" marT="38100" marB="38100" anchor="ctr">
                    <a:solidFill>
                      <a:srgbClr val="FFFFFF"/>
                    </a:solidFill>
                  </a:tcPr>
                </a:tc>
              </a:tr>
              <a:tr h="611632">
                <a:tc>
                  <a:txBody>
                    <a:bodyPr/>
                    <a:lstStyle/>
                    <a:p>
                      <a:r>
                        <a:rPr sz="1400" b="0" i="0">
                          <a:solidFill>
                            <a:srgbClr val="1A1440"/>
                          </a:solidFill>
                          <a:latin typeface="Calibri"/>
                        </a:rPr>
                        <a:t>What a senior analyst checks</a:t>
                      </a:r>
                    </a:p>
                  </a:txBody>
                  <a:tcPr marL="101600" marR="101600" marT="38100" marB="38100" anchor="ctr">
                    <a:solidFill>
                      <a:srgbClr val="F4F2FA"/>
                    </a:solidFill>
                  </a:tcPr>
                </a:tc>
                <a:tc>
                  <a:txBody>
                    <a:bodyPr/>
                    <a:lstStyle/>
                    <a:p>
                      <a:r>
                        <a:rPr sz="1400" b="0" i="0">
                          <a:solidFill>
                            <a:srgbClr val="1A1440"/>
                          </a:solidFill>
                          <a:latin typeface="Calibri"/>
                        </a:rPr>
                        <a:t>Whether the forecast behind the booking beat a simple copy of last year, and whether it put the festival in the right week</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4" name="Oval 1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8" name="Oval 17"/>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20" name="Oval 19"/>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52 / 65</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5: the peak sits two weeks before Diwali</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counting twelve weeks by hand settle, and what does it leave open?</a:t>
            </a:r>
          </a:p>
        </p:txBody>
      </p:sp>
      <p:pic>
        <p:nvPicPr>
          <p:cNvPr id="9" name="mermaid diagram" descr="2698f957b72a33ac.png"/>
          <p:cNvPicPr>
            <a:picLocks noChangeAspect="1"/>
          </p:cNvPicPr>
          <p:nvPr/>
        </p:nvPicPr>
        <p:blipFill>
          <a:blip r:embed="rId5"/>
          <a:stretch>
            <a:fillRect/>
          </a:stretch>
        </p:blipFill>
        <p:spPr>
          <a:xfrm>
            <a:off x="780897" y="1852676"/>
            <a:ext cx="10629900" cy="1600200"/>
          </a:xfrm>
          <a:prstGeom prst="rect">
            <a:avLst/>
          </a:prstGeom>
        </p:spPr>
      </p:pic>
      <p:sp>
        <p:nvSpPr>
          <p:cNvPr id="10" name="TextBox 9"/>
          <p:cNvSpPr txBox="1"/>
          <p:nvPr/>
        </p:nvSpPr>
        <p:spPr>
          <a:xfrm>
            <a:off x="530352" y="3599180"/>
            <a:ext cx="11130991" cy="243027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One week cannot crown a rule. </a:t>
            </a:r>
            <a:r>
              <a:rPr sz="1600" b="1" i="0">
                <a:solidFill>
                  <a:srgbClr val="1A1440"/>
                </a:solidFill>
                <a:latin typeface="Calibri"/>
              </a:rPr>
              <a:t>Say it to a shift supervisor:</a:t>
            </a:r>
            <a:r>
              <a:rPr sz="1600" b="0" i="0">
                <a:solidFill>
                  <a:srgbClr val="1A1440"/>
                </a:solidFill>
                <a:latin typeface="Calibri"/>
              </a:rPr>
              <a:t> the computer copied last year's dates, and the festival moved, so its busiest week came at the wrong time. In the M5 forecasting competition, on Walmart's daily sales of 3,049 products, the seasonal naive (there, the same weekday a week earlier) scored 0.847 against 1.752 for naive on M5's weighted scaled error, lower being better, and only 35.8 percent of the competing teams beat it; the winner, a machine-learning method, reached 0.520 (M5 results workbook and accuracy paper, checked 12 October 2026). M5's weighted scaled error divides each series' squared misses by those of a one-step naive copy on its own history, then weights each series by its dollar sales over the last 28 days (the accuracy paper, section 3.4, checked 13 October 2026).</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53 / 65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Holding out and the vendor curve tested, on thirteen hidden weeks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rule wins?</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Score every rule and the vendor's curve on thirteen weeks none of them saw, which way each is wrong, and what each direction costs.</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series tell?</a:t>
            </a:r>
          </a:p>
        </p:txBody>
      </p:sp>
      <p:sp>
        <p:nvSpPr>
          <p:cNvPr id="12" name="Rounded Rectangle 11"/>
          <p:cNvSpPr/>
          <p:nvPr/>
        </p:nvSpPr>
        <p:spPr>
          <a:xfrm>
            <a:off x="262819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does a copy fail?</a:t>
            </a:r>
          </a:p>
        </p:txBody>
      </p:sp>
      <p:sp>
        <p:nvSpPr>
          <p:cNvPr id="13" name="Rounded Rectangle 12"/>
          <p:cNvSpPr/>
          <p:nvPr/>
        </p:nvSpPr>
        <p:spPr>
          <a:xfrm>
            <a:off x="440643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forecast scored?</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does it earn trust?</a:t>
            </a:r>
          </a:p>
        </p:txBody>
      </p:sp>
      <p:sp>
        <p:nvSpPr>
          <p:cNvPr id="15" name="Rounded Rectangle 14"/>
          <p:cNvSpPr/>
          <p:nvPr/>
        </p:nvSpPr>
        <p:spPr>
          <a:xfrm>
            <a:off x="825898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is the peak?</a:t>
            </a:r>
          </a:p>
        </p:txBody>
      </p:sp>
      <p:sp>
        <p:nvSpPr>
          <p:cNvPr id="16" name="Rounded Rectangle 15"/>
          <p:cNvSpPr/>
          <p:nvPr/>
        </p:nvSpPr>
        <p:spPr>
          <a:xfrm>
            <a:off x="9800364" y="5074920"/>
            <a:ext cx="131321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rule wins?</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Forecasting basics: how much does the plan deliver?</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54 / 65</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questions before the scoreboard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score,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Chapter 2, the baselines; chapter 3, holding out, MAE and MAPE in the business's units; chapter 4, beating the baseline and the vendor curve tested.</a:t>
            </a:r>
          </a:p>
        </p:txBody>
      </p:sp>
      <p:sp>
        <p:nvSpPr>
          <p:cNvPr id="12" name="Rounded Rectangle 11"/>
          <p:cNvSpPr/>
          <p:nvPr/>
        </p:nvSpPr>
        <p:spPr>
          <a:xfrm>
            <a:off x="530352" y="29291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regional operations head, who must say yes or no to the vendor's plus 22 percent before a single shift is booked.</a:t>
            </a:r>
          </a:p>
        </p:txBody>
      </p:sp>
      <p:sp>
        <p:nvSpPr>
          <p:cNvPr id="15" name="Rectangle 14"/>
          <p:cNvSpPr/>
          <p:nvPr/>
        </p:nvSpPr>
        <p:spPr>
          <a:xfrm>
            <a:off x="1570299" y="4468368"/>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HIDE</a:t>
            </a:r>
          </a:p>
        </p:txBody>
      </p:sp>
      <p:sp>
        <p:nvSpPr>
          <p:cNvPr id="17" name="Oval 16"/>
          <p:cNvSpPr/>
          <p:nvPr/>
        </p:nvSpPr>
        <p:spPr>
          <a:xfrm>
            <a:off x="1469715"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weeks?</a:t>
            </a:r>
          </a:p>
        </p:txBody>
      </p:sp>
      <p:sp>
        <p:nvSpPr>
          <p:cNvPr id="20" name="TextBox 19"/>
          <p:cNvSpPr txBox="1"/>
          <p:nvPr/>
        </p:nvSpPr>
        <p:spPr>
          <a:xfrm>
            <a:off x="694944" y="5222494"/>
            <a:ext cx="1750710" cy="366776"/>
          </a:xfrm>
          <a:prstGeom prst="rect">
            <a:avLst/>
          </a:prstGeom>
          <a:noFill/>
        </p:spPr>
        <p:txBody>
          <a:bodyPr wrap="square" anchor="t" lIns="0" rIns="0" tIns="0" bIns="0">
            <a:spAutoFit/>
          </a:bodyPr>
          <a:lstStyle/>
          <a:p>
            <a:pPr algn="l"/>
            <a:r>
              <a:rPr sz="1000" b="0" i="0">
                <a:solidFill>
                  <a:srgbClr val="6B6690"/>
                </a:solidFill>
                <a:latin typeface="Calibri"/>
              </a:rPr>
              <a:t>The last thirteen, forecast from one origin.</a:t>
            </a:r>
          </a:p>
        </p:txBody>
      </p:sp>
      <p:sp>
        <p:nvSpPr>
          <p:cNvPr id="21" name="TextBox 20"/>
          <p:cNvSpPr txBox="1"/>
          <p:nvPr/>
        </p:nvSpPr>
        <p:spPr>
          <a:xfrm>
            <a:off x="2793126" y="3901440"/>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COUNT</a:t>
            </a:r>
          </a:p>
        </p:txBody>
      </p:sp>
      <p:sp>
        <p:nvSpPr>
          <p:cNvPr id="22" name="Oval 21"/>
          <p:cNvSpPr/>
          <p:nvPr/>
        </p:nvSpPr>
        <p:spPr>
          <a:xfrm>
            <a:off x="373248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2793126" y="4788408"/>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957718" y="4934712"/>
            <a:ext cx="1750710" cy="465836"/>
          </a:xfrm>
          <a:prstGeom prst="rect">
            <a:avLst/>
          </a:prstGeom>
          <a:noFill/>
        </p:spPr>
        <p:txBody>
          <a:bodyPr wrap="square" anchor="t" lIns="0" rIns="0" tIns="0" bIns="0">
            <a:spAutoFit/>
          </a:bodyPr>
          <a:lstStyle/>
          <a:p>
            <a:pPr algn="l"/>
            <a:r>
              <a:rPr sz="1300" b="1" i="0">
                <a:solidFill>
                  <a:srgbClr val="1A0F5C"/>
                </a:solidFill>
                <a:latin typeface="Calibri"/>
              </a:rPr>
              <a:t>How is a miss counted?</a:t>
            </a:r>
          </a:p>
        </p:txBody>
      </p:sp>
      <p:sp>
        <p:nvSpPr>
          <p:cNvPr id="25" name="TextBox 24"/>
          <p:cNvSpPr txBox="1"/>
          <p:nvPr/>
        </p:nvSpPr>
        <p:spPr>
          <a:xfrm>
            <a:off x="2957718" y="5437124"/>
            <a:ext cx="1750710" cy="366776"/>
          </a:xfrm>
          <a:prstGeom prst="rect">
            <a:avLst/>
          </a:prstGeom>
          <a:noFill/>
        </p:spPr>
        <p:txBody>
          <a:bodyPr wrap="square" anchor="t" lIns="0" rIns="0" tIns="0" bIns="0">
            <a:spAutoFit/>
          </a:bodyPr>
          <a:lstStyle/>
          <a:p>
            <a:pPr algn="l"/>
            <a:r>
              <a:rPr sz="1000" b="0" i="0">
                <a:solidFill>
                  <a:srgbClr val="6B6690"/>
                </a:solidFill>
                <a:latin typeface="Calibri"/>
              </a:rPr>
              <a:t>The average miss in shipments.</a:t>
            </a:r>
          </a:p>
        </p:txBody>
      </p:sp>
      <p:sp>
        <p:nvSpPr>
          <p:cNvPr id="26" name="TextBox 25"/>
          <p:cNvSpPr txBox="1"/>
          <p:nvPr/>
        </p:nvSpPr>
        <p:spPr>
          <a:xfrm>
            <a:off x="5055900" y="3901440"/>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SCORE</a:t>
            </a:r>
          </a:p>
        </p:txBody>
      </p:sp>
      <p:sp>
        <p:nvSpPr>
          <p:cNvPr id="27" name="Oval 26"/>
          <p:cNvSpPr/>
          <p:nvPr/>
        </p:nvSpPr>
        <p:spPr>
          <a:xfrm>
            <a:off x="5995263"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5055900" y="4788408"/>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220492" y="4934712"/>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rule wins?</a:t>
            </a:r>
          </a:p>
        </p:txBody>
      </p:sp>
      <p:sp>
        <p:nvSpPr>
          <p:cNvPr id="30" name="TextBox 29"/>
          <p:cNvSpPr txBox="1"/>
          <p:nvPr/>
        </p:nvSpPr>
        <p:spPr>
          <a:xfrm>
            <a:off x="5220492" y="5222494"/>
            <a:ext cx="1750710" cy="366776"/>
          </a:xfrm>
          <a:prstGeom prst="rect">
            <a:avLst/>
          </a:prstGeom>
          <a:noFill/>
        </p:spPr>
        <p:txBody>
          <a:bodyPr wrap="square" anchor="t" lIns="0" rIns="0" tIns="0" bIns="0">
            <a:spAutoFit/>
          </a:bodyPr>
          <a:lstStyle/>
          <a:p>
            <a:pPr algn="l"/>
            <a:r>
              <a:rPr sz="1000" b="0" i="0">
                <a:solidFill>
                  <a:srgbClr val="6B6690"/>
                </a:solidFill>
                <a:latin typeface="Calibri"/>
              </a:rPr>
              <a:t>Four rules on the hidden weeks.</a:t>
            </a:r>
          </a:p>
        </p:txBody>
      </p:sp>
      <p:sp>
        <p:nvSpPr>
          <p:cNvPr id="31" name="TextBox 30"/>
          <p:cNvSpPr txBox="1"/>
          <p:nvPr/>
        </p:nvSpPr>
        <p:spPr>
          <a:xfrm>
            <a:off x="7318674" y="3901440"/>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FIT</a:t>
            </a:r>
          </a:p>
        </p:txBody>
      </p:sp>
      <p:sp>
        <p:nvSpPr>
          <p:cNvPr id="32" name="Oval 31"/>
          <p:cNvSpPr/>
          <p:nvPr/>
        </p:nvSpPr>
        <p:spPr>
          <a:xfrm>
            <a:off x="825803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7318674" y="4788408"/>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483266" y="4934712"/>
            <a:ext cx="1750710" cy="251205"/>
          </a:xfrm>
          <a:prstGeom prst="rect">
            <a:avLst/>
          </a:prstGeom>
          <a:noFill/>
        </p:spPr>
        <p:txBody>
          <a:bodyPr wrap="square" anchor="t" lIns="0" rIns="0" tIns="0" bIns="0">
            <a:spAutoFit/>
          </a:bodyPr>
          <a:lstStyle/>
          <a:p>
            <a:pPr algn="l"/>
            <a:r>
              <a:rPr sz="1300" b="1" i="0">
                <a:solidFill>
                  <a:srgbClr val="1A0F5C"/>
                </a:solidFill>
                <a:latin typeface="Calibri"/>
              </a:rPr>
              <a:t>What does a fit say?</a:t>
            </a:r>
          </a:p>
        </p:txBody>
      </p:sp>
      <p:sp>
        <p:nvSpPr>
          <p:cNvPr id="35" name="TextBox 34"/>
          <p:cNvSpPr txBox="1"/>
          <p:nvPr/>
        </p:nvSpPr>
        <p:spPr>
          <a:xfrm>
            <a:off x="7483266" y="5222494"/>
            <a:ext cx="1750710" cy="366776"/>
          </a:xfrm>
          <a:prstGeom prst="rect">
            <a:avLst/>
          </a:prstGeom>
          <a:noFill/>
        </p:spPr>
        <p:txBody>
          <a:bodyPr wrap="square" anchor="t" lIns="0" rIns="0" tIns="0" bIns="0">
            <a:spAutoFit/>
          </a:bodyPr>
          <a:lstStyle/>
          <a:p>
            <a:pPr algn="l"/>
            <a:r>
              <a:rPr sz="1000" b="0" i="0">
                <a:solidFill>
                  <a:srgbClr val="6B6690"/>
                </a:solidFill>
                <a:latin typeface="Calibri"/>
              </a:rPr>
              <a:t>The vendor on weeks it never saw.</a:t>
            </a:r>
          </a:p>
        </p:txBody>
      </p:sp>
      <p:sp>
        <p:nvSpPr>
          <p:cNvPr id="36" name="TextBox 35"/>
          <p:cNvSpPr txBox="1"/>
          <p:nvPr/>
        </p:nvSpPr>
        <p:spPr>
          <a:xfrm>
            <a:off x="9581448" y="3901440"/>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PRICE</a:t>
            </a:r>
          </a:p>
        </p:txBody>
      </p:sp>
      <p:sp>
        <p:nvSpPr>
          <p:cNvPr id="37" name="Oval 36"/>
          <p:cNvSpPr/>
          <p:nvPr/>
        </p:nvSpPr>
        <p:spPr>
          <a:xfrm>
            <a:off x="10520812" y="4376928"/>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ounded Rectangle 37"/>
          <p:cNvSpPr/>
          <p:nvPr/>
        </p:nvSpPr>
        <p:spPr>
          <a:xfrm>
            <a:off x="9581448" y="4788408"/>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9746040" y="4934712"/>
            <a:ext cx="1750710" cy="251205"/>
          </a:xfrm>
          <a:prstGeom prst="rect">
            <a:avLst/>
          </a:prstGeom>
          <a:noFill/>
        </p:spPr>
        <p:txBody>
          <a:bodyPr wrap="square" anchor="t" lIns="0" rIns="0" tIns="0" bIns="0">
            <a:spAutoFit/>
          </a:bodyPr>
          <a:lstStyle/>
          <a:p>
            <a:pPr algn="l"/>
            <a:r>
              <a:rPr sz="1300" b="1" i="0">
                <a:solidFill>
                  <a:srgbClr val="FFFFFF"/>
                </a:solidFill>
                <a:latin typeface="Calibri"/>
              </a:rPr>
              <a:t>What do misses cost?</a:t>
            </a:r>
          </a:p>
        </p:txBody>
      </p:sp>
      <p:sp>
        <p:nvSpPr>
          <p:cNvPr id="40" name="TextBox 39"/>
          <p:cNvSpPr txBox="1"/>
          <p:nvPr/>
        </p:nvSpPr>
        <p:spPr>
          <a:xfrm>
            <a:off x="9746040" y="5222494"/>
            <a:ext cx="1750710" cy="366776"/>
          </a:xfrm>
          <a:prstGeom prst="rect">
            <a:avLst/>
          </a:prstGeom>
          <a:noFill/>
        </p:spPr>
        <p:txBody>
          <a:bodyPr wrap="square" anchor="t" lIns="0" rIns="0" tIns="0" bIns="0">
            <a:spAutoFit/>
          </a:bodyPr>
          <a:lstStyle/>
          <a:p>
            <a:pPr algn="l"/>
            <a:r>
              <a:rPr sz="1000" b="0" i="0">
                <a:solidFill>
                  <a:srgbClr val="CFC9EE"/>
                </a:solidFill>
                <a:latin typeface="Calibri"/>
              </a:rPr>
              <a:t>Rs 25 late, Rs 5.42 spare (Rs 650 / 120).</a:t>
            </a:r>
          </a:p>
        </p:txBody>
      </p:sp>
      <p:sp>
        <p:nvSpPr>
          <p:cNvPr id="41" name="Oval 4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43" name="Oval 4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45" name="Oval 4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47" name="Oval 4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9" name="Oval 4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51" name="Oval 50"/>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55 / 65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Hide the last thirteen weeks, forecast from 22 June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weeks does the test hide, and from which week is every forecast made?</a:t>
            </a:r>
          </a:p>
        </p:txBody>
      </p:sp>
      <p:pic>
        <p:nvPicPr>
          <p:cNvPr id="9" name="mermaid diagram" descr="C2_W04_D05_actual_series_STUDENT.png"/>
          <p:cNvPicPr>
            <a:picLocks noChangeAspect="1"/>
          </p:cNvPicPr>
          <p:nvPr/>
        </p:nvPicPr>
        <p:blipFill>
          <a:blip r:embed="rId4"/>
          <a:stretch>
            <a:fillRect/>
          </a:stretch>
        </p:blipFill>
        <p:spPr>
          <a:xfrm>
            <a:off x="2316106" y="1664208"/>
            <a:ext cx="7559481"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104 weeks with the hold-out shaded</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Chapter 3's rule on Flipkart's weeks: the hidden weeks are 29 June to 21 September 2026; the 91 training weeks before them are all a rule may see, and the last, 22 June, is the origin. The plan's last week, 30 November, sits ten weeks after the last week of data, so the horizon is ten weeks and thirteen hidden weeks cover it. The score is MAE in shipments, because the cost is counted per shipment.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56 / 65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rule scores lowest on hidden weeks?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the scoreboard runs, which rule misses least on thirteen weeks it never saw?</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Naive</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Repeat the week of 22 June.</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Drift</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line from the first week through 22 June.</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house bot</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Copy the same week of 2025.</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Festival-aligned</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bot plus 4 percent here, tied with finance's rule.</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37" name="Oval 3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39" name="Oval 3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1" name="Oval 4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3" name="Oval 42"/>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57 / 65</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festival-aligned and finance tie, 6,615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did each rule score on the thirteen hidden weeks?</a:t>
            </a:r>
          </a:p>
        </p:txBody>
      </p:sp>
      <p:pic>
        <p:nvPicPr>
          <p:cNvPr id="9" name="mermaid diagram" descr="C2_W04_D05_baselines_panel_STUDENT.png"/>
          <p:cNvPicPr>
            <a:picLocks noChangeAspect="1"/>
          </p:cNvPicPr>
          <p:nvPr/>
        </p:nvPicPr>
        <p:blipFill>
          <a:blip r:embed="rId4"/>
          <a:stretch>
            <a:fillRect/>
          </a:stretch>
        </p:blipFill>
        <p:spPr>
          <a:xfrm>
            <a:off x="1902672" y="1664208"/>
            <a:ext cx="8386351"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Each rule against the actual on the hidden weeks, with its MAE</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200" b="0" i="0">
                <a:solidFill>
                  <a:srgbClr val="1A1440"/>
                </a:solidFill>
                <a:latin typeface="Calibri"/>
              </a:rPr>
              <a:t>Festival-aligned and finance's rule miss by 6,615 shipments a week, the house bot by 9,831, drift by 14,842 and naive by 14,923. The tie is honest: no hidden week falls between five weeks before a Diwali week and four after, so both rules copy the same week of 2025 and add the same 4 percent. They part only in the festive weeks, which this test does not hold. At the stall (invented), the yearly copy without growth also lost to the copy times 1.10, by 10.5 cups a day to 3.0.</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58 / 65</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Does a curve that fits history beat the bot?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vendor's sponsor says its curve sits within 2 percent of every week it was fitted to. Will it beat the house bot on the hidden weeks?</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Yes, by a wide margin</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model that close to history has learned the series.</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Yes, narrowly</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It knows the season the bot copies.</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No, it loses to the bot</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fit is drawn through weeks it has seen.</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It ties festival-aligned</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Both end near 6,615.</a:t>
            </a:r>
          </a:p>
        </p:txBody>
      </p:sp>
      <p:sp>
        <p:nvSpPr>
          <p:cNvPr id="33" name="TextBox 32"/>
          <p:cNvSpPr txBox="1"/>
          <p:nvPr/>
        </p:nvSpPr>
        <p:spPr>
          <a:xfrm>
            <a:off x="530352" y="4104132"/>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At the stall (invented), the nephew's curve fitted four days with an error of 0 and missed day 5 by 66.</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6" name="Oval 3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38" name="Oval 3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40" name="Oval 3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2" name="Oval 41"/>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4" name="Oval 43"/>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59 / 65</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no, it misses by 16,400 a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vendor's fit say about its forecast?</a:t>
            </a:r>
          </a:p>
        </p:txBody>
      </p:sp>
      <p:pic>
        <p:nvPicPr>
          <p:cNvPr id="9" name="mermaid diagram" descr="C2_W04_D05_fit_vs_forecast_STUDENT.png"/>
          <p:cNvPicPr>
            <a:picLocks noChangeAspect="1"/>
          </p:cNvPicPr>
          <p:nvPr/>
        </p:nvPicPr>
        <p:blipFill>
          <a:blip r:embed="rId4"/>
          <a:stretch>
            <a:fillRect/>
          </a:stretch>
        </p:blipFill>
        <p:spPr>
          <a:xfrm>
            <a:off x="2052684" y="1664208"/>
            <a:ext cx="8086326" cy="3040380"/>
          </a:xfrm>
          <a:prstGeom prst="rect">
            <a:avLst/>
          </a:prstGeom>
        </p:spPr>
      </p:pic>
      <p:sp>
        <p:nvSpPr>
          <p:cNvPr id="10" name="picture caption"/>
          <p:cNvSpPr txBox="1"/>
          <p:nvPr/>
        </p:nvSpPr>
        <p:spPr>
          <a:xfrm>
            <a:off x="530352" y="474116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vendor's misses: fitted weeks within 2 percent, hidden weeks too high</a:t>
            </a:r>
          </a:p>
        </p:txBody>
      </p:sp>
      <p:sp>
        <p:nvSpPr>
          <p:cNvPr id="11" name="Rounded Rectangle 10"/>
          <p:cNvSpPr/>
          <p:nvPr/>
        </p:nvSpPr>
        <p:spPr>
          <a:xfrm>
            <a:off x="530352" y="5067300"/>
            <a:ext cx="11130991" cy="96774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195316"/>
            <a:ext cx="45720" cy="71170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186172"/>
            <a:ext cx="10564063" cy="784860"/>
          </a:xfrm>
          <a:prstGeom prst="rect">
            <a:avLst/>
          </a:prstGeom>
          <a:noFill/>
        </p:spPr>
        <p:txBody>
          <a:bodyPr wrap="square" anchor="ctr" lIns="0" rIns="0" tIns="0" bIns="0">
            <a:spAutoFit/>
          </a:bodyPr>
          <a:lstStyle/>
          <a:p>
            <a:r>
              <a:rPr sz="1300" b="1">
                <a:solidFill>
                  <a:srgbClr val="5B3FD6"/>
                </a:solidFill>
                <a:latin typeface="Calibri"/>
              </a:rPr>
              <a:t>The plausible wrong number: </a:t>
            </a:r>
            <a:r>
              <a:rPr sz="1300" b="0" i="0">
                <a:solidFill>
                  <a:srgbClr val="1A1440"/>
                </a:solidFill>
                <a:latin typeface="Calibri"/>
              </a:rPr>
              <a:t>"within 2 percent of every week, so its plus 22 can be trusted"; its worst fitted week is 1.4 percent off. </a:t>
            </a:r>
            <a:r>
              <a:rPr sz="1300" b="1" i="0">
                <a:solidFill>
                  <a:srgbClr val="1A1440"/>
                </a:solidFill>
                <a:latin typeface="Calibri"/>
              </a:rPr>
              <a:t>The decision it misleads:</a:t>
            </a:r>
            <a:r>
              <a:rPr sz="1300" b="0" i="0">
                <a:solidFill>
                  <a:srgbClr val="1A1440"/>
                </a:solidFill>
                <a:latin typeface="Calibri"/>
              </a:rPr>
              <a:t> a plan 22 percent above last year. </a:t>
            </a:r>
            <a:r>
              <a:rPr sz="1300" b="1" i="0">
                <a:solidFill>
                  <a:srgbClr val="1A1440"/>
                </a:solidFill>
                <a:latin typeface="Calibri"/>
              </a:rPr>
              <a:t>The check:</a:t>
            </a:r>
            <a:r>
              <a:rPr sz="1300" b="0" i="0">
                <a:solidFill>
                  <a:srgbClr val="1A1440"/>
                </a:solidFill>
                <a:latin typeface="Calibri"/>
              </a:rPr>
              <a:t> its error on weeks it never saw, 16,400 a week, 67 percent worse than the house bot. </a:t>
            </a:r>
            <a:r>
              <a:rPr sz="1300" b="1" i="0">
                <a:solidFill>
                  <a:srgbClr val="1A1440"/>
                </a:solidFill>
                <a:latin typeface="Calibri"/>
              </a:rPr>
              <a:t>The fix:</a:t>
            </a:r>
            <a:r>
              <a:rPr sz="1300" b="0" i="0">
                <a:solidFill>
                  <a:srgbClr val="1A1440"/>
                </a:solidFill>
                <a:latin typeface="Calibri"/>
              </a:rPr>
              <a:t> nothing goes to the plan unless it beats the bot there.</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8" name="Oval 1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20" name="Oval 1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2" name="Oval 21"/>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4" name="Oval 23"/>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60 / 65</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Whose misses cost least, once priced?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late shipment costs Rs 25 and a spare one Rs 5.42. Whose thirteen misses cost the least?</a:t>
            </a:r>
          </a:p>
        </p:txBody>
      </p:sp>
      <p:sp>
        <p:nvSpPr>
          <p:cNvPr id="9" name="Rounded Rectangle 8"/>
          <p:cNvSpPr/>
          <p:nvPr/>
        </p:nvSpPr>
        <p:spPr>
          <a:xfrm>
            <a:off x="530352"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Festival-aligned</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lowest MAE, 6,615.</a:t>
            </a:r>
          </a:p>
        </p:txBody>
      </p:sp>
      <p:sp>
        <p:nvSpPr>
          <p:cNvPr id="15" name="Rounded Rectangle 14"/>
          <p:cNvSpPr/>
          <p:nvPr/>
        </p:nvSpPr>
        <p:spPr>
          <a:xfrm>
            <a:off x="3358819"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vendor</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highest MAE, 16,400.</a:t>
            </a:r>
          </a:p>
        </p:txBody>
      </p:sp>
      <p:sp>
        <p:nvSpPr>
          <p:cNvPr id="21" name="Rounded Rectangle 20"/>
          <p:cNvSpPr/>
          <p:nvPr/>
        </p:nvSpPr>
        <p:spPr>
          <a:xfrm>
            <a:off x="6187287"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house bot</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MAE 9,831.</a:t>
            </a:r>
          </a:p>
        </p:txBody>
      </p:sp>
      <p:sp>
        <p:nvSpPr>
          <p:cNvPr id="27" name="Rounded Rectangle 26"/>
          <p:cNvSpPr/>
          <p:nvPr/>
        </p:nvSpPr>
        <p:spPr>
          <a:xfrm>
            <a:off x="9015755"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Naive</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MAE 14,923.</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37" name="Oval 3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39" name="Oval 3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1" name="Oval 4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3" name="Oval 42"/>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61 / 65</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vendor's, at Rs 11.9 lakh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same misses cost in rupees, and why does the order change?</a:t>
            </a:r>
          </a:p>
        </p:txBody>
      </p:sp>
      <p:pic>
        <p:nvPicPr>
          <p:cNvPr id="9" name="mermaid diagram" descr="C2_W04_D05_scoreboard_STUDENT.png"/>
          <p:cNvPicPr>
            <a:picLocks noChangeAspect="1"/>
          </p:cNvPicPr>
          <p:nvPr/>
        </p:nvPicPr>
        <p:blipFill>
          <a:blip r:embed="rId4"/>
          <a:stretch>
            <a:fillRect/>
          </a:stretch>
        </p:blipFill>
        <p:spPr>
          <a:xfrm>
            <a:off x="2126079" y="1664208"/>
            <a:ext cx="7939536" cy="3008376"/>
          </a:xfrm>
          <a:prstGeom prst="rect">
            <a:avLst/>
          </a:prstGeom>
        </p:spPr>
      </p:pic>
      <p:sp>
        <p:nvSpPr>
          <p:cNvPr id="10" name="picture caption"/>
          <p:cNvSpPr txBox="1"/>
          <p:nvPr/>
        </p:nvSpPr>
        <p:spPr>
          <a:xfrm>
            <a:off x="530352" y="4709160"/>
            <a:ext cx="11130991" cy="316992"/>
          </a:xfrm>
          <a:prstGeom prst="rect">
            <a:avLst/>
          </a:prstGeom>
          <a:noFill/>
        </p:spPr>
        <p:txBody>
          <a:bodyPr wrap="square" anchor="t" lIns="0" rIns="0" tIns="0" bIns="0">
            <a:spAutoFit/>
          </a:bodyPr>
          <a:lstStyle/>
          <a:p>
            <a:pPr algn="ctr"/>
            <a:r>
              <a:rPr sz="1200" b="0" i="0">
                <a:solidFill>
                  <a:srgbClr val="6B6690"/>
                </a:solidFill>
                <a:latin typeface="Calibri"/>
              </a:rPr>
              <a:t>MAE beside the same misses priced in rupees</a:t>
            </a:r>
          </a:p>
        </p:txBody>
      </p:sp>
      <p:sp>
        <p:nvSpPr>
          <p:cNvPr id="11" name="TextBox 10"/>
          <p:cNvSpPr txBox="1"/>
          <p:nvPr/>
        </p:nvSpPr>
        <p:spPr>
          <a:xfrm>
            <a:off x="530352" y="5035296"/>
            <a:ext cx="11130991" cy="1164336"/>
          </a:xfrm>
          <a:prstGeom prst="rect">
            <a:avLst/>
          </a:prstGeom>
          <a:noFill/>
        </p:spPr>
        <p:txBody>
          <a:bodyPr wrap="square" anchor="t" lIns="0" rIns="0" tIns="0" bIns="0">
            <a:spAutoFit/>
          </a:bodyPr>
          <a:lstStyle/>
          <a:p>
            <a:r>
              <a:rPr sz="1200" b="0" i="0">
                <a:solidFill>
                  <a:srgbClr val="1A1440"/>
                </a:solidFill>
                <a:latin typeface="Calibri"/>
              </a:rPr>
              <a:t>The vendor errs high on 12 of 13 weeks, and a spare shipment is the cheap kind of miss: Rs 11.9 lakh against Rs 13.5 lakh for festival-aligned, each added over the thirteen weeks. The house bot errs low on 11 of 13 weeks and costs Rs 30.5 lakh, more than naive's Rs 28.8 lakh, with a lower MAE. Priced, a forecast that errs high can cost less than one that misses less, as the stall's rule P (invented) cost less than rule Q at the same MAE. The ranking rests on Rs 25 a late shipment: at Rs 15, the low end of the ticket's range, festival-aligned's misses cost Rs 2.7 lakh less than the vendor's, the two cost the same at about Rs 21, and across both cost ranges the vendor is cheaper in 5 of 9 pairings.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62 / 65</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Cheap misses do not win the vendor the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its misses cost least, why does the vendor's curve still lose the plan?</a:t>
            </a:r>
          </a:p>
        </p:txBody>
      </p:sp>
      <p:sp>
        <p:nvSpPr>
          <p:cNvPr id="9" name="Rounded Rectangle 8"/>
          <p:cNvSpPr/>
          <p:nvPr/>
        </p:nvSpPr>
        <p:spPr>
          <a:xfrm>
            <a:off x="530352"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ruler_ec66f5961a9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UNSIZED</a:t>
            </a:r>
          </a:p>
        </p:txBody>
      </p:sp>
      <p:sp>
        <p:nvSpPr>
          <p:cNvPr id="13" name="TextBox 12"/>
          <p:cNvSpPr txBox="1"/>
          <p:nvPr/>
        </p:nvSpPr>
        <p:spPr>
          <a:xfrm>
            <a:off x="731519"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Nobody chose how high it runs</a:t>
            </a:r>
          </a:p>
        </p:txBody>
      </p:sp>
      <p:sp>
        <p:nvSpPr>
          <p:cNvPr id="14" name="TextBox 13"/>
          <p:cNvSpPr txBox="1"/>
          <p:nvPr/>
        </p:nvSpPr>
        <p:spPr>
          <a:xfrm>
            <a:off x="731519"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So nobody knows how high it will run in October.</a:t>
            </a:r>
          </a:p>
        </p:txBody>
      </p:sp>
      <p:sp>
        <p:nvSpPr>
          <p:cNvPr id="15" name="Rounded Rectangle 14"/>
          <p:cNvSpPr/>
          <p:nvPr/>
        </p:nvSpPr>
        <p:spPr>
          <a:xfrm>
            <a:off x="3358819"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trending-up_0f9f07881489.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GROWING</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It climbs with the weeks ahead</a:t>
            </a:r>
          </a:p>
        </p:txBody>
      </p:sp>
      <p:sp>
        <p:nvSpPr>
          <p:cNvPr id="20" name="TextBox 19"/>
          <p:cNvSpPr txBox="1"/>
          <p:nvPr/>
        </p:nvSpPr>
        <p:spPr>
          <a:xfrm>
            <a:off x="3559987" y="3534664"/>
            <a:ext cx="2243251" cy="581406"/>
          </a:xfrm>
          <a:prstGeom prst="rect">
            <a:avLst/>
          </a:prstGeom>
          <a:noFill/>
        </p:spPr>
        <p:txBody>
          <a:bodyPr wrap="square" anchor="t" lIns="0" rIns="0" tIns="0" bIns="0">
            <a:spAutoFit/>
          </a:bodyPr>
          <a:lstStyle/>
          <a:p>
            <a:pPr algn="l"/>
            <a:r>
              <a:rPr sz="1100" b="0" i="0">
                <a:solidFill>
                  <a:srgbClr val="6B6690"/>
                </a:solidFill>
                <a:latin typeface="Calibri"/>
              </a:rPr>
              <a:t>3.6 percent too high in the first six hidden weeks, 11.5 percent in the last six.</a:t>
            </a:r>
          </a:p>
        </p:txBody>
      </p:sp>
      <p:sp>
        <p:nvSpPr>
          <p:cNvPr id="21" name="Rounded Rectangle 20"/>
          <p:cNvSpPr/>
          <p:nvPr/>
        </p:nvSpPr>
        <p:spPr>
          <a:xfrm>
            <a:off x="6187287"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alendar-x_d5f63e574219.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UNTESTED</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No festival in the test</a:t>
            </a:r>
          </a:p>
        </p:txBody>
      </p:sp>
      <p:sp>
        <p:nvSpPr>
          <p:cNvPr id="26" name="TextBox 25"/>
          <p:cNvSpPr txBox="1"/>
          <p:nvPr/>
        </p:nvSpPr>
        <p:spPr>
          <a:xfrm>
            <a:off x="6388455"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In the festive weeks it copies 2025's calendar, the wrong weeks.</a:t>
            </a:r>
          </a:p>
        </p:txBody>
      </p:sp>
      <p:sp>
        <p:nvSpPr>
          <p:cNvPr id="27" name="Rounded Rectangle 26"/>
          <p:cNvSpPr/>
          <p:nvPr/>
        </p:nvSpPr>
        <p:spPr>
          <a:xfrm>
            <a:off x="9015755" y="1956816"/>
            <a:ext cx="2645587" cy="238556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badge-check_df01016c75a5.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THE FIX</a:t>
            </a:r>
          </a:p>
        </p:txBody>
      </p:sp>
      <p:sp>
        <p:nvSpPr>
          <p:cNvPr id="31" name="TextBox 30"/>
          <p:cNvSpPr txBox="1"/>
          <p:nvPr/>
        </p:nvSpPr>
        <p:spPr>
          <a:xfrm>
            <a:off x="9216923" y="2962656"/>
            <a:ext cx="2243251" cy="498856"/>
          </a:xfrm>
          <a:prstGeom prst="rect">
            <a:avLst/>
          </a:prstGeom>
          <a:noFill/>
        </p:spPr>
        <p:txBody>
          <a:bodyPr wrap="square" anchor="t" lIns="0" rIns="0" tIns="0" bIns="0">
            <a:spAutoFit/>
          </a:bodyPr>
          <a:lstStyle/>
          <a:p>
            <a:pPr algn="l"/>
            <a:r>
              <a:rPr sz="1400" b="1" i="0">
                <a:solidFill>
                  <a:srgbClr val="FFFFFF"/>
                </a:solidFill>
                <a:latin typeface="Calibri"/>
              </a:rPr>
              <a:t>Send festival-aligned, priced</a:t>
            </a:r>
          </a:p>
        </p:txBody>
      </p:sp>
      <p:sp>
        <p:nvSpPr>
          <p:cNvPr id="32" name="TextBox 31"/>
          <p:cNvSpPr txBox="1"/>
          <p:nvPr/>
        </p:nvSpPr>
        <p:spPr>
          <a:xfrm>
            <a:off x="9216923" y="3534664"/>
            <a:ext cx="2243251" cy="581406"/>
          </a:xfrm>
          <a:prstGeom prst="rect">
            <a:avLst/>
          </a:prstGeom>
          <a:noFill/>
        </p:spPr>
        <p:txBody>
          <a:bodyPr wrap="square" anchor="t" lIns="0" rIns="0" tIns="0" bIns="0">
            <a:spAutoFit/>
          </a:bodyPr>
          <a:lstStyle/>
          <a:p>
            <a:pPr algn="l"/>
            <a:r>
              <a:rPr sz="1100" b="0" i="0">
                <a:solidFill>
                  <a:srgbClr val="CFC9EE"/>
                </a:solidFill>
                <a:latin typeface="Calibri"/>
              </a:rPr>
              <a:t>A forecast that beat the bot, with its error bar in rupees each way.</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37" name="Oval 3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39" name="Oval 3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1" name="Oval 4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3" name="Oval 42"/>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63 / 65</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Second route: 85,996 missed, over 13 weeks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scoreboard's 6,615 survive a count by hand from the printed misses?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40,748</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SHIPMENTS TOO HIGH</a:t>
            </a:r>
          </a:p>
        </p:txBody>
      </p:sp>
      <p:sp>
        <p:nvSpPr>
          <p:cNvPr id="11" name="TextBox 10"/>
          <p:cNvSpPr txBox="1"/>
          <p:nvPr/>
        </p:nvSpPr>
        <p:spPr>
          <a:xfrm>
            <a:off x="53035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festival-aligned above the actual, summed over its 6 high weeks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45,248</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SHIPMENTS TOO LOW</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below the actual, summed over the other 7</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6,615</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PER WEEK</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(40,748 + 45,248) / 13 = 85,996 / 13</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Notebook 06's last table prints the thirteen misses; added up, they give the same 6,615. The split also says the forecast errs neither way here: 6 weeks high, 7 low.</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24" name="Oval 2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26" name="Oval 2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28" name="Oval 2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30" name="Oval 2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32" name="Oval 31"/>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64 / 65</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6: fit is not forecast; price the miss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hidden weeks settle, and what can they not test?</a:t>
            </a:r>
          </a:p>
        </p:txBody>
      </p:sp>
      <p:pic>
        <p:nvPicPr>
          <p:cNvPr id="9" name="mermaid diagram" descr="b5f209d7546b7c0f.png"/>
          <p:cNvPicPr>
            <a:picLocks noChangeAspect="1"/>
          </p:cNvPicPr>
          <p:nvPr/>
        </p:nvPicPr>
        <p:blipFill>
          <a:blip r:embed="rId5"/>
          <a:stretch>
            <a:fillRect/>
          </a:stretch>
        </p:blipFill>
        <p:spPr>
          <a:xfrm>
            <a:off x="780897" y="1956816"/>
            <a:ext cx="10629900" cy="1857375"/>
          </a:xfrm>
          <a:prstGeom prst="rect">
            <a:avLst/>
          </a:prstGeom>
        </p:spPr>
      </p:pic>
      <p:sp>
        <p:nvSpPr>
          <p:cNvPr id="10" name="TextBox 9"/>
          <p:cNvSpPr txBox="1"/>
          <p:nvPr/>
        </p:nvSpPr>
        <p:spPr>
          <a:xfrm>
            <a:off x="530352" y="3960495"/>
            <a:ext cx="11130991" cy="187756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On 1,045 monthly series, statistical methods beat the machine-learning ones at every horizon tested, and even Naive 2, the naive rule run on the series with its seasons taken out, beat half of them one step ahead (Makridakis and colleagues, PLOS ONE, 2018, section 3.3: "a random walk model adjusted for seasonality", checked 13 October 2026); in the M5 competition machine learning took every top place. Either way the winner was decided on weeks the model never saw (both checked 12 October 2026). Chapter 4's </a:t>
            </a:r>
            <a:r>
              <a:rPr sz="1600" b="1" i="0">
                <a:solidFill>
                  <a:srgbClr val="1A1440"/>
                </a:solidFill>
                <a:latin typeface="Calibri"/>
              </a:rPr>
              <a:t>good enough</a:t>
            </a:r>
            <a:r>
              <a:rPr sz="1600" b="0" i="0">
                <a:solidFill>
                  <a:srgbClr val="1A1440"/>
                </a:solidFill>
                <a:latin typeface="Calibri"/>
              </a:rPr>
              <a:t> asks the afternoon's question: would a better forecast change the plan by more than it costs?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1" name="Oval 20"/>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65 / 65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