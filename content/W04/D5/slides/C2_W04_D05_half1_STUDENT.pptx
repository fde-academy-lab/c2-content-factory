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as the room sits down. Read the title and the ask aloud, then the label line: the company</a:t>
            </a:r>
          </a:p>
          <a:p>
            <a:r>
              <a:t>is real, the situation and the data are synthetic. Today is a tournament in three rounds: count by</a:t>
            </a:r>
          </a:p>
          <a:p>
            <a:r>
              <a:t>hand, score on hidden weeks, then place the festival and price the plan. Transition: the ticket,</a:t>
            </a:r>
          </a:p>
          <a:p>
            <a:r>
              <a:t>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top to bottom. Define two words as they appear: a packer-shift is</a:t>
            </a:r>
          </a:p>
          <a:p>
            <a:r>
              <a:t>one packer working one shift, and a forecast is a number for a week nobody has seen yet. Point at</a:t>
            </a:r>
          </a:p>
          <a:p>
            <a:r>
              <a:t>the four tables and their columns; every number today comes from them. Ask the room what would</a:t>
            </a:r>
          </a:p>
          <a:p>
            <a:r>
              <a:t>make each forecast wrong, and write the answers on the board without judging them. Transition:</a:t>
            </a:r>
          </a:p>
          <a:p>
            <a:r>
              <a:t>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finished answer once, then earn it. The rule is fixed now, before anyone</a:t>
            </a:r>
          </a:p>
          <a:p>
            <a:r>
              <a:t>scores: mean absolute error in shipments on the thirteen held-out weeks, then the same misses</a:t>
            </a:r>
          </a:p>
          <a:p>
            <a:r>
              <a:t>priced. Groups enter their own hand rule in round one.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round one of the tournament. Twelve printed weeks per</a:t>
            </a:r>
          </a:p>
          <a:p>
            <a:r>
              <a:t>table;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a:t>
            </a:r>
          </a:p>
          <a:p>
            <a:r>
              <a:t>Transition: the first 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before the</a:t>
            </a:r>
          </a:p>
          <a:p>
            <a:r>
              <a:t>festival so they arrive in time, which is why the peak comes early. If most of the room voted a,</a:t>
            </a:r>
          </a:p>
          <a:p>
            <a:r>
              <a:t>ask what a customer does on Diwali itself. Transition: what a weekly series is made of.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names after. The real series has all</a:t>
            </a:r>
          </a:p>
          <a:p>
            <a:r>
              <a:t>four: a growth of about 4 percent a year, the festival, the week holding the 1st of a month and a</a:t>
            </a:r>
          </a:p>
          <a:p>
            <a:r>
              <a:t>wobble of a few percent. Explorer: scene F1, the season slider. Transition: four rules.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rule as one sentence a shift supervisor could repeat. Same week last</a:t>
            </a:r>
          </a:p>
          <a:p>
            <a:r>
              <a:t>year is the house bot of the tournament. Festival-aligned adds the 4 percent a year the centre</a:t>
            </a:r>
          </a:p>
          <a:p>
            <a:r>
              <a:t>grew. Transition: the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work each rule on the twelve printed rows before voting. The actual that</a:t>
            </a:r>
          </a:p>
          <a:p>
            <a:r>
              <a:t>week was 308,900; do not show it until the vote.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the festival-aligned arithmetic aloud: 296,900 times 1.04 is 308,776. Ask</a:t>
            </a:r>
          </a:p>
          <a:p>
            <a:r>
              <a:t>which group's own rule came closest. 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Veritasium's move: the reveal follows the vote of S9. Transition: what the same copy does in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The house bot will make this</a:t>
            </a:r>
          </a:p>
          <a:p>
            <a:r>
              <a:t>mistake in round three; say so now and let the room hold it. Explorer: scene F3, the Diwali</a:t>
            </a:r>
          </a:p>
          <a:p>
            <a:r>
              <a:t>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Transition: chapter 1's answers.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map left to right; the dashed box is chapter 2. Transition: chapter 2,</a:t>
            </a:r>
          </a:p>
          <a:p>
            <a:r>
              <a:t>the hold-out.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round two of the tournament. Notebook 02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91 weeks before are the training weeks. Point at the August sale inside the</a:t>
            </a:r>
          </a:p>
          <a:p>
            <a:r>
              <a:t>hidden weeks: a copy of last year knows about it, naive does not. Explorer: scene F2, the split</a:t>
            </a:r>
          </a:p>
          <a:p>
            <a:r>
              <a:t>slider. Transition: how a miss is counted.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the toy aloud. Mention MAPE as the percent version and why the plan does not</a:t>
            </a:r>
          </a:p>
          <a:p>
            <a:r>
              <a:t>use it: the costs are per shipment.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room answers before the scoreboard. Note the tie in d is</a:t>
            </a:r>
          </a:p>
          <a:p>
            <a:r>
              <a:t>announced, not hidden: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Tufte's small multiples: one rule per panel on the same axes. The bot beats naive</a:t>
            </a:r>
          </a:p>
          <a:p>
            <a:r>
              <a:t>because it carries the August sale; it loses to the 4 percent rules because a growing series</a:t>
            </a:r>
          </a:p>
          <a:p>
            <a:r>
              <a:t>makes last year too low.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 notebook 02 every learner scores the vendor in an empty cell first; vote after</a:t>
            </a:r>
          </a:p>
          <a:p>
            <a:r>
              <a:t>the cell runs, before this slide's answer.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left of the chart, then the right. A fit is drawn through weeks the model</a:t>
            </a:r>
          </a:p>
          <a:p>
            <a:r>
              <a:t>has seen; a forecast is made for weeks it has not.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a:t>
            </a:r>
          </a:p>
          <a:p>
            <a:r>
              <a:t>Ask which way each rule's misses run before anyone votes.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Let the result stand; it is true of this data. The room should leave with the</a:t>
            </a:r>
          </a:p>
          <a:p>
            <a:r>
              <a:t>reason: being short costs 4.6 times being long. Transition: why the vendor still does not win.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plan's case rests on two things this hold-out cannot test: the festival's</a:t>
            </a:r>
          </a:p>
          <a:p>
            <a:r>
              <a:t>placement and the size of the cushion. Chapter 3 tests the first on 2025's festival and sizes the</a:t>
            </a:r>
          </a:p>
          <a:p>
            <a:r>
              <a:t>second from the costs. Transition: the same 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prints the thirteen misses; the last cell adds them. Transition:</a:t>
            </a:r>
          </a:p>
          <a:p>
            <a:r>
              <a:t>chapter 2's answers.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Ten minutes' break follows. Transition: chapter 3, the festival.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L3 to L5, round three of the tournament. Notebook 03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finance's 5 October and festival-aligned's 19 October: the same 418,200</a:t>
            </a:r>
          </a:p>
          <a:p>
            <a:r>
              <a:t>times 1.04, two weeks apart. The vendor's model never knew the festival moved. Transition: did</a:t>
            </a:r>
          </a:p>
          <a:p>
            <a:r>
              <a:t>the placement 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back-test is the only festival the data can test the rules on. The vendor</a:t>
            </a:r>
          </a:p>
          <a:p>
            <a:r>
              <a:t>has no festive forecast to score, only its fit. Transition: what 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calendar window holds only the tail of 2025's festival, because 2025's peak</a:t>
            </a:r>
          </a:p>
          <a:p>
            <a:r>
              <a:t>came before 13 October; 2026's peak falls inside the window. That is why an honest forecast reads</a:t>
            </a:r>
          </a:p>
          <a:p>
            <a:r>
              <a:t>plus 19.5 against it. Transition: how far above the forecast to plan.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two cost curves, then the total; its lowest point sits right of zero.</a:t>
            </a:r>
          </a:p>
          <a:p>
            <a:r>
              <a:t>If the late cost rises toward Rs 40, the line moves further right. Explorer: scene F4.</a:t>
            </a:r>
          </a:p>
          <a:p>
            <a:r>
              <a:t>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first two rows aloud: 344,448 times 1.026 is 353,404, over 120 and rounded</a:t>
            </a:r>
          </a:p>
          <a:p>
            <a:r>
              <a:t>up is 2,946 shifts. A packer-shift is one packer for one shift; how shifts become people depends on the roster,</a:t>
            </a:r>
          </a:p>
          <a:p>
            <a:r>
              <a:t>which the ticket does not give. Transition: what the other plans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bot's and finance's costs are mostly late shipments in the weeks of 19</a:t>
            </a:r>
          </a:p>
          <a:p>
            <a:r>
              <a:t>October to 2 November. 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doubt at a time, each with the fact that would settle it. The FADA figure is</a:t>
            </a:r>
          </a:p>
          <a:p>
            <a:r>
              <a:t>a national series; it shows a festive month confounded by a tax change, a warning for any model</a:t>
            </a:r>
          </a:p>
          <a:p>
            <a:r>
              <a:t>trained on national data. Transition: the two role cards.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stakeholder is partly right: concede the true part first. The afternoon</a:t>
            </a:r>
          </a:p>
          <a:p>
            <a:r>
              <a:t>writes the staffing note from these three cards.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4.png"/><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19.png"/><Relationship Id="rId6" Type="http://schemas.openxmlformats.org/officeDocument/2006/relationships/image" Target="../media/image4.png"/><Relationship Id="rId7"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140721"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FRIDAY  ·  ILLUSTRATIVE CASE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Flipkart Lucknow: festive forecasts 18 points apart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“Which forecast goes to the staffing plan for 12 October to 30 November 2026, how wrong could it be in shipments and in rupees, and how many packer shifts a week?”</a:t>
            </a:r>
          </a:p>
        </p:txBody>
      </p:sp>
      <p:sp>
        <p:nvSpPr>
          <p:cNvPr id="10" name="TextBox 9"/>
          <p:cNvSpPr txBox="1"/>
          <p:nvPr/>
        </p:nvSpPr>
        <p:spPr>
          <a:xfrm>
            <a:off x="621792" y="5295646"/>
            <a:ext cx="10033711" cy="399796"/>
          </a:xfrm>
          <a:prstGeom prst="rect">
            <a:avLst/>
          </a:prstGeom>
          <a:noFill/>
        </p:spPr>
        <p:txBody>
          <a:bodyPr wrap="square" anchor="t" lIns="0" rIns="0" tIns="0" bIns="0">
            <a:spAutoFit/>
          </a:bodyPr>
          <a:lstStyle/>
          <a:p>
            <a:pPr algn="l"/>
            <a:r>
              <a:rPr sz="1100" b="0" i="0">
                <a:solidFill>
                  <a:srgbClr val="CFC9EE"/>
                </a:solidFill>
                <a:latin typeface="Calibri"/>
              </a:rPr>
              <a:t>The ask on the ticket, to the FC planner and the regional operations head, due Friday. Illustrative case: the company is real, the situation and the data are synthetic, built for this class.</a:t>
            </a:r>
          </a:p>
        </p:txBody>
      </p:sp>
      <p:sp>
        <p:nvSpPr>
          <p:cNvPr id="11" name="TextBox 10"/>
          <p:cNvSpPr txBox="1"/>
          <p:nvPr/>
        </p:nvSpPr>
        <p:spPr>
          <a:xfrm>
            <a:off x="621792"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6052058"/>
            <a:ext cx="1898237" cy="185166"/>
          </a:xfrm>
          <a:prstGeom prst="rect">
            <a:avLst/>
          </a:prstGeom>
          <a:noFill/>
        </p:spPr>
        <p:txBody>
          <a:bodyPr wrap="square" anchor="t" lIns="0" rIns="0" tIns="0" bIns="0">
            <a:spAutoFit/>
          </a:bodyPr>
          <a:lstStyle/>
          <a:p>
            <a:pPr algn="l"/>
            <a:r>
              <a:rPr sz="900" b="0" i="0">
                <a:solidFill>
                  <a:srgbClr val="FFFFFF"/>
                </a:solidFill>
                <a:latin typeface="Calibri"/>
              </a:rPr>
              <a:t>What shape do the weeks have?</a:t>
            </a:r>
          </a:p>
        </p:txBody>
      </p:sp>
      <p:sp>
        <p:nvSpPr>
          <p:cNvPr id="13" name="TextBox 12"/>
          <p:cNvSpPr txBox="1"/>
          <p:nvPr/>
        </p:nvSpPr>
        <p:spPr>
          <a:xfrm>
            <a:off x="3086957"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471005" y="6052058"/>
            <a:ext cx="1993392" cy="185166"/>
          </a:xfrm>
          <a:prstGeom prst="rect">
            <a:avLst/>
          </a:prstGeom>
          <a:noFill/>
        </p:spPr>
        <p:txBody>
          <a:bodyPr wrap="square" anchor="t" lIns="0" rIns="0" tIns="0" bIns="0">
            <a:spAutoFit/>
          </a:bodyPr>
          <a:lstStyle/>
          <a:p>
            <a:pPr algn="l"/>
            <a:r>
              <a:rPr sz="900" b="0" i="0">
                <a:solidFill>
                  <a:srgbClr val="FFFFFF"/>
                </a:solidFill>
                <a:latin typeface="Calibri"/>
              </a:rPr>
              <a:t>Which rule wins on hidden weeks?</a:t>
            </a:r>
          </a:p>
        </p:txBody>
      </p:sp>
      <p:sp>
        <p:nvSpPr>
          <p:cNvPr id="15" name="TextBox 14"/>
          <p:cNvSpPr txBox="1"/>
          <p:nvPr/>
        </p:nvSpPr>
        <p:spPr>
          <a:xfrm>
            <a:off x="5647277"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6031325" y="6052058"/>
            <a:ext cx="1993392" cy="185166"/>
          </a:xfrm>
          <a:prstGeom prst="rect">
            <a:avLst/>
          </a:prstGeom>
          <a:noFill/>
        </p:spPr>
        <p:txBody>
          <a:bodyPr wrap="square" anchor="t" lIns="0" rIns="0" tIns="0" bIns="0">
            <a:spAutoFit/>
          </a:bodyPr>
          <a:lstStyle/>
          <a:p>
            <a:pPr algn="l"/>
            <a:r>
              <a:rPr sz="900" b="0" i="0">
                <a:solidFill>
                  <a:srgbClr val="FFFFFF"/>
                </a:solidFill>
                <a:latin typeface="Calibri"/>
              </a:rPr>
              <a:t>Which forecast books the shifts?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Flipkart Lucknow: festive forecasts 18 points apart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566160"/>
        </p:xfrm>
        <a:graphic>
          <a:graphicData uri="http://schemas.openxmlformats.org/drawingml/2006/table">
            <a:tbl>
              <a:tblPr firstRow="0" bandRow="0">
                <a:tableStyleId>{2D5ABB26-0587-4C30-8999-92F81FD0307C}</a:tableStyleId>
              </a:tblPr>
              <a:tblGrid>
                <a:gridCol w="3198111"/>
                <a:gridCol w="7932879"/>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outbound shipments and packer shifts</a:t>
                      </a:r>
                    </a:p>
                  </a:txBody>
                  <a:tcPr marL="101600" marR="101600" marT="38100" marB="38100" anchor="ctr">
                    <a:solidFill>
                      <a:srgbClr val="FFFFFF"/>
                    </a:solidFill>
                  </a:tcPr>
                </a:tc>
              </a:tr>
              <a:tr h="438912">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three weeks before it run at 1.5, 1.9 and 1.7 times an ordinary week, its own week at 1.4, the week after below ordinary</a:t>
                      </a:r>
                    </a:p>
                  </a:txBody>
                  <a:tcPr marL="101600" marR="101600" marT="38100" marB="38100" anchor="ctr">
                    <a:solidFill>
                      <a:srgbClr val="FFFFFF"/>
                    </a:solidFill>
                  </a:tcPr>
                </a:tc>
              </a:tr>
              <a:tr h="310896">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22 percent above last year's; finance's rule is last year's window plus 4 percent</a:t>
                      </a:r>
                    </a:p>
                  </a:txBody>
                  <a:tcPr marL="101600" marR="101600" marT="38100" marB="38100" anchor="ctr">
                    <a:solidFill>
                      <a:srgbClr val="F4F2FA"/>
                    </a:solidFill>
                  </a:tcPr>
                </a:tc>
              </a:tr>
              <a:tr h="438912">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holdout or forecast);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An idle packer-shift Rs 650 (range Rs 500 to 800); a late shipment Rs 25 (range Rs 15 to 40); a packer packs about 120 shipments a shift</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an idle shift;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50468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f667176f9687db23.png"/>
          <p:cNvPicPr>
            <a:picLocks noChangeAspect="1"/>
          </p:cNvPicPr>
          <p:nvPr/>
        </p:nvPicPr>
        <p:blipFill>
          <a:blip r:embed="rId5"/>
          <a:stretch>
            <a:fillRect/>
          </a:stretch>
        </p:blipFill>
        <p:spPr>
          <a:xfrm>
            <a:off x="2530670" y="1682496"/>
            <a:ext cx="7130355"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20,275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20,275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3,719 in the week of 19 October, from a forecast that keeps each week's distance from Diwali.</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Its miss on thirteen weeks it never saw: Rs 35,832 of idle shifts if high, Rs 1.7 lakh of late shipments if low.</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puts the peak two weeks early.</a:t>
            </a:r>
          </a:p>
        </p:txBody>
      </p:sp>
      <p:sp>
        <p:nvSpPr>
          <p:cNvPr id="27" name="Rounded Rectangle 26"/>
          <p:cNvSpPr/>
          <p:nvPr/>
        </p:nvSpPr>
        <p:spPr>
          <a:xfrm>
            <a:off x="530352" y="42941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2" name="Oval 3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4" name="Oval 3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shape do the weeks have?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shape do the 104 weeks have, and what would three simple rules say for one week before any code opens?</a:t>
            </a:r>
          </a:p>
        </p:txBody>
      </p:sp>
      <p:sp>
        <p:nvSpPr>
          <p:cNvPr id="10" name="Rounded Rectangle 9"/>
          <p:cNvSpPr/>
          <p:nvPr/>
        </p:nvSpPr>
        <p:spPr>
          <a:xfrm>
            <a:off x="73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rules copy?</a:t>
            </a:r>
          </a:p>
        </p:txBody>
      </p:sp>
      <p:sp>
        <p:nvSpPr>
          <p:cNvPr id="22" name="TextBox 21"/>
          <p:cNvSpPr txBox="1"/>
          <p:nvPr/>
        </p:nvSpPr>
        <p:spPr>
          <a:xfrm>
            <a:off x="3523411" y="4250182"/>
            <a:ext cx="2316403" cy="531876"/>
          </a:xfrm>
          <a:prstGeom prst="rect">
            <a:avLst/>
          </a:prstGeom>
          <a:noFill/>
        </p:spPr>
        <p:txBody>
          <a:bodyPr wrap="square" anchor="t" lIns="0" rIns="0" tIns="0" bIns="0">
            <a:spAutoFit/>
          </a:bodyPr>
          <a:lstStyle/>
          <a:p>
            <a:pPr algn="l"/>
            <a:r>
              <a:rPr sz="1000" b="0" i="0">
                <a:solidFill>
                  <a:srgbClr val="6B6690"/>
                </a:solidFill>
                <a:latin typeface="Calibri"/>
              </a:rPr>
              <a:t>Naive, same week last year, drift and festival-aligned, each in one line.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374267" y="1664208"/>
            <a:ext cx="744316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busiest week is two weeks before Diwali's week both times: 401,000 shipments in the week of 14 October 2024 and 418,200 in the week of 6 October 2025. Diwali's own week ships 296,900 and 308,900, and the week after is the lowest.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weekly series carries four shapes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read off a series before any rule is chosen?</a:t>
            </a:r>
          </a:p>
        </p:txBody>
      </p:sp>
      <p:pic>
        <p:nvPicPr>
          <p:cNvPr id="9" name="mermaid diagram" descr="C2_W04_D05_four_patterns_STUDENT.png"/>
          <p:cNvPicPr>
            <a:picLocks noChangeAspect="1"/>
          </p:cNvPicPr>
          <p:nvPr/>
        </p:nvPicPr>
        <p:blipFill>
          <a:blip r:embed="rId4"/>
          <a:stretch>
            <a:fillRect/>
          </a:stretch>
        </p:blipFill>
        <p:spPr>
          <a:xfrm>
            <a:off x="1796047" y="1664208"/>
            <a:ext cx="859960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shapes on invented numbers: trend, season, cycle and noise</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Read them in this order: the slow climb (trend), the yearly peak (season), the repeat inside a month (here, payday weeks) and what is left over (noise). A planner books against the first three and buys a cushion for the fourth. The numbers are invented so each shape stands alone.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each a single line of copying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simple forecasting rule copy from the past?</a:t>
            </a:r>
          </a:p>
        </p:txBody>
      </p:sp>
      <p:graphicFrame>
        <p:nvGraphicFramePr>
          <p:cNvPr id="9" name="Table 8"/>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1697149"/>
                <a:gridCol w="4800324"/>
                <a:gridCol w="4633517"/>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On a canteen's tea (invented)</a:t>
                      </a:r>
                    </a:p>
                  </a:txBody>
                  <a:tcPr marL="101600" marR="101600" marT="38100" marB="38100" anchor="ctr">
                    <a:solidFill>
                      <a:srgbClr val="1A0F5C"/>
                    </a:solidFill>
                  </a:tcPr>
                </a:tc>
              </a:tr>
              <a:tr h="611632">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50, 52, 49 and 51 cups on four days, so tomorrow is 51</a:t>
                      </a:r>
                    </a:p>
                  </a:txBody>
                  <a:tcPr marL="101600" marR="101600" marT="38100" marB="38100" anchor="ctr">
                    <a:solidFill>
                      <a:srgbClr val="FFFFFF"/>
                    </a:solidFill>
                  </a:tcPr>
                </a:tc>
              </a:tr>
              <a:tr h="611632">
                <a:tc>
                  <a:txBody>
                    <a:bodyPr/>
                    <a:lstStyle/>
                    <a:p>
                      <a:r>
                        <a:rPr sz="1400" b="0" i="0">
                          <a:solidFill>
                            <a:srgbClr val="1A1440"/>
                          </a:solidFill>
                          <a:latin typeface="Calibri"/>
                        </a:rPr>
                        <a:t>Same week last year</a:t>
                      </a:r>
                    </a:p>
                  </a:txBody>
                  <a:tcPr marL="101600" marR="101600" marT="38100" marB="38100" anchor="ctr">
                    <a:solidFill>
                      <a:srgbClr val="F4F2FA"/>
                    </a:solidFill>
                  </a:tcPr>
                </a:tc>
                <a:tc>
                  <a:txBody>
                    <a:bodyPr/>
                    <a:lstStyle/>
                    <a:p>
                      <a:r>
                        <a:rPr sz="1400" b="0" i="0">
                          <a:solidFill>
                            <a:srgbClr val="1A1440"/>
                          </a:solidFill>
                          <a:latin typeface="Calibri"/>
                        </a:rPr>
                        <a:t>The same point one cycle back, here 52 weeks</a:t>
                      </a:r>
                    </a:p>
                  </a:txBody>
                  <a:tcPr marL="101600" marR="101600" marT="38100" marB="38100" anchor="ctr">
                    <a:solidFill>
                      <a:srgbClr val="F4F2FA"/>
                    </a:solidFill>
                  </a:tcPr>
                </a:tc>
                <a:tc>
                  <a:txBody>
                    <a:bodyPr/>
                    <a:lstStyle/>
                    <a:p>
                      <a:r>
                        <a:rPr sz="1400" b="0" i="0">
                          <a:solidFill>
                            <a:srgbClr val="1A1440"/>
                          </a:solidFill>
                          <a:latin typeface="Calibri"/>
                        </a:rPr>
                        <a:t>Sundays sell about 80, so next Sunday is 80</a:t>
                      </a:r>
                    </a:p>
                  </a:txBody>
                  <a:tcPr marL="101600" marR="101600" marT="38100" marB="38100" anchor="ctr">
                    <a:solidFill>
                      <a:srgbClr val="F4F2FA"/>
                    </a:solidFill>
                  </a:tcPr>
                </a:tc>
              </a:tr>
              <a:tr h="611632">
                <a:tc>
                  <a:txBody>
                    <a:bodyPr/>
                    <a:lstStyle/>
                    <a:p>
                      <a:r>
                        <a:rPr sz="1400" b="0" i="0">
                          <a:solidFill>
                            <a:srgbClr val="1A1440"/>
                          </a:solidFill>
                          <a:latin typeface="Calibri"/>
                        </a:rPr>
                        <a:t>Drift</a:t>
                      </a:r>
                    </a:p>
                  </a:txBody>
                  <a:tcPr marL="101600" marR="101600" marT="38100" marB="38100" anchor="ctr">
                    <a:solidFill>
                      <a:srgbClr val="FFFFFF"/>
                    </a:solidFill>
                  </a:tcPr>
                </a:tc>
                <a:tc>
                  <a:txBody>
                    <a:bodyPr/>
                    <a:lstStyle/>
                    <a:p>
                      <a:r>
                        <a:rPr sz="1400" b="0" i="0">
                          <a:solidFill>
                            <a:srgbClr val="1A1440"/>
                          </a:solidFill>
                          <a:latin typeface="Calibri"/>
                        </a:rPr>
                        <a:t>The straight line through the first and last values</a:t>
                      </a:r>
                    </a:p>
                  </a:txBody>
                  <a:tcPr marL="101600" marR="101600" marT="38100" marB="38100" anchor="ctr">
                    <a:solidFill>
                      <a:srgbClr val="FFFFFF"/>
                    </a:solidFill>
                  </a:tcPr>
                </a:tc>
                <a:tc>
                  <a:txBody>
                    <a:bodyPr/>
                    <a:lstStyle/>
                    <a:p>
                      <a:r>
                        <a:rPr sz="1400" b="0" i="0">
                          <a:solidFill>
                            <a:srgbClr val="1A1440"/>
                          </a:solidFill>
                          <a:latin typeface="Calibri"/>
                        </a:rPr>
                        <a:t>The average change added on</a:t>
                      </a:r>
                    </a:p>
                  </a:txBody>
                  <a:tcPr marL="101600" marR="101600" marT="38100" marB="38100" anchor="ctr">
                    <a:solidFill>
                      <a:srgbClr val="FFFFFF"/>
                    </a:solidFill>
                  </a:tcPr>
                </a:tc>
              </a:tr>
              <a:tr h="611632">
                <a:tc>
                  <a:txBody>
                    <a:bodyPr/>
                    <a:lstStyle/>
                    <a:p>
                      <a:r>
                        <a:rPr sz="1400" b="0" i="0">
                          <a:solidFill>
                            <a:srgbClr val="1A1440"/>
                          </a:solidFill>
                          <a:latin typeface="Calibri"/>
                        </a:rPr>
                        <a:t>Festival-aligned</a:t>
                      </a:r>
                    </a:p>
                  </a:txBody>
                  <a:tcPr marL="101600" marR="101600" marT="38100" marB="38100" anchor="ctr">
                    <a:solidFill>
                      <a:srgbClr val="F4F2FA"/>
                    </a:solidFill>
                  </a:tcPr>
                </a:tc>
                <a:tc>
                  <a:txBody>
                    <a:bodyPr/>
                    <a:lstStyle/>
                    <a:p>
                      <a:r>
                        <a:rPr sz="1400" b="0" i="0">
                          <a:solidFill>
                            <a:srgbClr val="1A1440"/>
                          </a:solidFill>
                          <a:latin typeface="Calibri"/>
                        </a:rPr>
                        <a:t>The week at the same distance from last year's Diwali, plus the year's growth</a:t>
                      </a:r>
                    </a:p>
                  </a:txBody>
                  <a:tcPr marL="101600" marR="101600" marT="38100" marB="38100" anchor="ctr">
                    <a:solidFill>
                      <a:srgbClr val="F4F2FA"/>
                    </a:solidFill>
                  </a:tcPr>
                </a:tc>
                <a:tc>
                  <a:txBody>
                    <a:bodyPr/>
                    <a:lstStyle/>
                    <a:p>
                      <a:r>
                        <a:rPr sz="1400" b="0" i="0">
                          <a:solidFill>
                            <a:srgbClr val="1A1440"/>
                          </a:solidFill>
                          <a:latin typeface="Calibri"/>
                        </a:rPr>
                        <a:t>No canteen version: it exists because the festival moves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Same week last year</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 and add 4 percent.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within 124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849462"/>
                <a:gridCol w="4419226"/>
                <a:gridCol w="1536093"/>
                <a:gridCol w="2326208"/>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Same week last year</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 plus 4 percent</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70101" y="1664208"/>
            <a:ext cx="7651492"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The copy books 401,000 for the week of 13 October 2025, its biggest week, while 369,000 shipped; the real peak, 418,200 on 6 October, gets 312,900. </a:t>
            </a:r>
            <a:r>
              <a:rPr sz="1100" b="1" i="0">
                <a:solidFill>
                  <a:srgbClr val="1A1440"/>
                </a:solidFill>
                <a:latin typeface="Calibri"/>
              </a:rPr>
              <a:t>The decision it misleads:</a:t>
            </a:r>
            <a:r>
              <a:rPr sz="1100" b="0" i="0">
                <a:solidFill>
                  <a:srgbClr val="1A1440"/>
                </a:solidFill>
                <a:latin typeface="Calibri"/>
              </a:rPr>
              <a:t> the most packers booked a week after the rush. </a:t>
            </a:r>
            <a:r>
              <a:rPr sz="1100" b="1" i="0">
                <a:solidFill>
                  <a:srgbClr val="1A1440"/>
                </a:solidFill>
                <a:latin typeface="Calibri"/>
              </a:rPr>
              <a:t>The check:</a:t>
            </a:r>
            <a:r>
              <a:rPr sz="1100" b="0" i="0">
                <a:solidFill>
                  <a:srgbClr val="1A1440"/>
                </a:solidFill>
                <a:latin typeface="Calibri"/>
              </a:rPr>
              <a:t> line the years up by weeks from Diwali, as on the right. </a:t>
            </a:r>
            <a:r>
              <a:rPr sz="1100" b="1" i="0">
                <a:solidFill>
                  <a:srgbClr val="1A1440"/>
                </a:solidFill>
                <a:latin typeface="Calibri"/>
              </a:rPr>
              <a:t>The fix:</a:t>
            </a:r>
            <a:r>
              <a:rPr sz="1100" b="0" i="0">
                <a:solidFill>
                  <a:srgbClr val="1A1440"/>
                </a:solidFill>
                <a:latin typeface="Calibri"/>
              </a:rPr>
              <a:t> festival-aligned.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6" name="Oval 15"/>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the same copy lands two weeks early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copy of 2025 put Diwali's week in 2026?</a:t>
            </a:r>
          </a:p>
        </p:txBody>
      </p:sp>
      <p:pic>
        <p:nvPicPr>
          <p:cNvPr id="9" name="mermaid diagram" descr="C2_W04_D05_festival_calendar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 and where the copy puts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week of 20 October 2025, copied 52 weeks on, lands on the week of 19 October 2026. Diwali 2026 falls on Sunday 8 November, so its week begins 2 November: the copy is two weeks early, and it carries the whole festival with it.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076704"/>
        </p:xfrm>
        <a:graphic>
          <a:graphicData uri="http://schemas.openxmlformats.org/drawingml/2006/table">
            <a:tbl>
              <a:tblPr firstRow="0" bandRow="0">
                <a:tableStyleId>{2D5ABB26-0587-4C30-8999-92F81FD0307C}</a:tableStyleId>
              </a:tblPr>
              <a:tblGrid>
                <a:gridCol w="4534868"/>
                <a:gridCol w="6596122"/>
              </a:tblGrid>
              <a:tr h="853440">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added 14 million cubic feet of warehousing space ahead of The Big Billion Days, and more than 2.5 lakh direct and indirect jobs were created for the festive season (F6,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on 9 October 2026,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884ca1f92b39cb7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On Walmart's M5 data the same-period copy scored 0.847 against 1.752 for the naive, lower being better (F2, checked 12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 on hidden weeks?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rule score on the thirteen weeks it never saw, which way is each wrong, and what does each direction cost?</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17" name="TextBox 16"/>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week.</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27" name="TextBox 26"/>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short, Rs 5.42 spare.</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42" name="Oval 41"/>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plan covers eight weeks, so the test hides more: the thirteen weeks from 29 June to 21 September 2026. Every rule forecasts all thirteen from the week of 22 June, as a planner standing there would have. Forecasting: Principles and Practice puts it this way: the test set should be at least as large as the forecast horizon (FPP3, section 5.8, checked 12 October 2026).</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the average miss, counted in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number made from thirteen misses, and why shipments?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8.3</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MAE ON THREE INVENTED WEEKS</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misses of 10, 5 and 10 shipments, one of them too low: (10 + 5 + 10) / 3</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shipments</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UNIT</a:t>
            </a:r>
          </a:p>
        </p:txBody>
      </p:sp>
      <p:sp>
        <p:nvSpPr>
          <p:cNvPr id="15" name="TextBox 14"/>
          <p:cNvSpPr txBox="1"/>
          <p:nvPr/>
        </p:nvSpPr>
        <p:spPr>
          <a:xfrm>
            <a:off x="433212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a miss is priced per shipment, so the score stays in shipments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fixed first</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RULE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measure is chosen before anyone sees a score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Mean absolute error drops each miss's sign and averages. A percentage error would hide the size of a miss: the same percent is twice the shipments in a peak week. The sign comes back on S22.</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197957" y="1664208"/>
            <a:ext cx="9795780"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Festival-aligned and finance's rule miss by 6,615 shipments a week, the house bot by 9,831, drift by 14,842 and naive by 14,923. The tie is honest: no hidden week lies within five weeks of a Diwali, so both rules copy the same week of 2025 and add the same 4 percent. They part only in the festive weeks, which this test does not hold.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194549" y="1664208"/>
            <a:ext cx="7802595" cy="2933700"/>
          </a:xfrm>
          <a:prstGeom prst="rect">
            <a:avLst/>
          </a:prstGeom>
        </p:spPr>
      </p:pic>
      <p:sp>
        <p:nvSpPr>
          <p:cNvPr id="10" name="picture caption"/>
          <p:cNvSpPr txBox="1"/>
          <p:nvPr/>
        </p:nvSpPr>
        <p:spPr>
          <a:xfrm>
            <a:off x="530352" y="46344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number: </a:t>
            </a:r>
            <a:r>
              <a:rPr sz="1500" b="0" i="0">
                <a:solidFill>
                  <a:srgbClr val="1A1440"/>
                </a:solidFill>
                <a:latin typeface="Calibri"/>
              </a:rPr>
              <a:t>"within 1.4 percent of every week, so its plus 22 can be trusted." </a:t>
            </a:r>
            <a:r>
              <a:rPr sz="1500" b="1" i="0">
                <a:solidFill>
                  <a:srgbClr val="1A1440"/>
                </a:solidFill>
                <a:latin typeface="Calibri"/>
              </a:rPr>
              <a:t>The decision it misleads:</a:t>
            </a:r>
            <a:r>
              <a:rPr sz="1500" b="0" i="0">
                <a:solidFill>
                  <a:srgbClr val="1A1440"/>
                </a:solidFill>
                <a:latin typeface="Calibri"/>
              </a:rPr>
              <a:t> a plan 22 percent above last year. </a:t>
            </a:r>
            <a:r>
              <a:rPr sz="1500" b="1" i="0">
                <a:solidFill>
                  <a:srgbClr val="1A1440"/>
                </a:solidFill>
                <a:latin typeface="Calibri"/>
              </a:rPr>
              <a:t>The check:</a:t>
            </a:r>
            <a:r>
              <a:rPr sz="1500" b="0" i="0">
                <a:solidFill>
                  <a:srgbClr val="1A1440"/>
                </a:solidFill>
                <a:latin typeface="Calibri"/>
              </a:rPr>
              <a:t> its error on weeks it never saw, 16,400 a week, 67 percent worse than the house bot. </a:t>
            </a:r>
            <a:r>
              <a:rPr sz="1500" b="1" i="0">
                <a:solidFill>
                  <a:srgbClr val="1A1440"/>
                </a:solidFill>
                <a:latin typeface="Calibri"/>
              </a:rPr>
              <a:t>The fix:</a:t>
            </a:r>
            <a:r>
              <a:rPr sz="15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6" name="Oval 15"/>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1984655" y="1664208"/>
            <a:ext cx="8222384"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vendor errs high on 12 of 13 weeks, and spare capacity is the cheap kind of miss: Rs 11.9 lakh against Rs 13.5 lakh for festival-aligned. The house bot errs low on 11 of 13 weeks and costs Rs 30.5 lakh, more than naive's Rs 28.8 lakh, with a lower MAE. Priced, a forecast that errs high can cost less than one that misses 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Its lean was never chosen</a:t>
            </a:r>
          </a:p>
        </p:txBody>
      </p:sp>
      <p:sp>
        <p:nvSpPr>
          <p:cNvPr id="14" name="TextBox 13"/>
          <p:cNvSpPr txBox="1"/>
          <p:nvPr/>
        </p:nvSpPr>
        <p:spPr>
          <a:xfrm>
            <a:off x="731519"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Nobody set how high it runs, 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the first six hidden weeks, 11.5 percent in the last six.</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Lean high on purpose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Raise festival-aligned by an amount the two costs set, which chapter 3 sizes.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6,615 from a table anyone can add up. The split also says the forecast leans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the methods that best fitted the past did not necessarily forecast better, and a seasonal copy beat half the machine-learning methods (Makridakis and others, PLOS ONE, 2018, F1, checked 12 October 2026). </a:t>
            </a:r>
            <a:r>
              <a:rPr sz="1600" b="1" i="0">
                <a:solidFill>
                  <a:srgbClr val="1A1440"/>
                </a:solidFill>
                <a:latin typeface="Calibri"/>
              </a:rPr>
              <a:t>Say it in one line:</a:t>
            </a:r>
            <a:r>
              <a:rPr sz="1600" b="0" i="0">
                <a:solidFill>
                  <a:srgbClr val="1A1440"/>
                </a:solidFill>
                <a:latin typeface="Calibri"/>
              </a:rPr>
              <a:t> score on weeks the model never saw, in the unit you pay in, against a copy of last year.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forecast books the shifts?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forecast goes to the plan, how many packer shifts a week, and what does being wrong cost in each direction?</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LEVEL</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far above?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cushion two costs justify.</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How many shifts?</a:t>
            </a:r>
          </a:p>
        </p:txBody>
      </p:sp>
      <p:sp>
        <p:nvSpPr>
          <p:cNvPr id="37" name="TextBox 36"/>
          <p:cNvSpPr txBox="1"/>
          <p:nvPr/>
        </p:nvSpPr>
        <p:spPr>
          <a:xfrm>
            <a:off x="9746040" y="4250182"/>
            <a:ext cx="1750710" cy="201676"/>
          </a:xfrm>
          <a:prstGeom prst="rect">
            <a:avLst/>
          </a:prstGeom>
          <a:noFill/>
        </p:spPr>
        <p:txBody>
          <a:bodyPr wrap="square" anchor="t" lIns="0" rIns="0" tIns="0" bIns="0">
            <a:spAutoFit/>
          </a:bodyPr>
          <a:lstStyle/>
          <a:p>
            <a:pPr algn="l"/>
            <a:r>
              <a:rPr sz="1000" b="0" i="0">
                <a:solidFill>
                  <a:srgbClr val="CFC9EE"/>
                </a:solidFill>
                <a:latin typeface="Calibri"/>
              </a:rPr>
              <a:t>Eight weeks, priced.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42" name="Oval 41"/>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2025's peak lands on, copied 52 weeks on.</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1960735" y="1664208"/>
            <a:ext cx="8270224"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1960735" y="1664208"/>
            <a:ext cx="8270224"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house bot missed 2025's eight festive weeks by 58,250 a week: Rs 79.8 lakh, Rs 69.6 lakh of it late shipments in the weeks the rush came early. Festival-aligned missed by 4,034 a week, Rs 4.6 lakh. One festival is thin evidence, so it settles placement and leaves the size of the error open.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measure different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level</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it sits 308,048 shipments below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Being short costs 4.6 times being long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above the forecast should the plan sit, and why above?</a:t>
            </a:r>
          </a:p>
        </p:txBody>
      </p:sp>
      <p:pic>
        <p:nvPicPr>
          <p:cNvPr id="9" name="mermaid diagram" descr="C2_W04_D05_cost_curve_STUDENT.png"/>
          <p:cNvPicPr>
            <a:picLocks noChangeAspect="1"/>
          </p:cNvPicPr>
          <p:nvPr/>
        </p:nvPicPr>
        <p:blipFill>
          <a:blip r:embed="rId4"/>
          <a:stretch>
            <a:fillRect/>
          </a:stretch>
        </p:blipFill>
        <p:spPr>
          <a:xfrm>
            <a:off x="2557218" y="1664208"/>
            <a:ext cx="707725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Expected cost of a week's plan against its level</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 shipment of spare capacity costs Rs 650 / 120 = Rs 5.42; a shipment short costs Rs 25. The cheapest plan covers demand in 25 / (25 + 5.42), about 0.82, of weeks. Festival-aligned's hidden-week misses put that at 2.6 percent above the forecast: demand beat the forecast by more in 18 percent of the hidden weeks.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20,275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682496"/>
          <a:ext cx="11130990" cy="3017520"/>
        </p:xfrm>
        <a:graphic>
          <a:graphicData uri="http://schemas.openxmlformats.org/drawingml/2006/table">
            <a:tbl>
              <a:tblPr firstRow="0" bandRow="0">
                <a:tableStyleId>{2D5ABB26-0587-4C30-8999-92F81FD0307C}</a:tableStyleId>
              </a:tblPr>
              <a:tblGrid>
                <a:gridCol w="914400"/>
                <a:gridCol w="2123058"/>
                <a:gridCol w="4957996"/>
                <a:gridCol w="3135536"/>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Plan, plus 2.6 percent</a:t>
                      </a:r>
                    </a:p>
                  </a:txBody>
                  <a:tcPr marL="101600" marR="101600" marT="38100" marB="38100" anchor="ctr">
                    <a:solidFill>
                      <a:srgbClr val="1A0F5C"/>
                    </a:solidFill>
                  </a:tcPr>
                </a:tc>
                <a:tc>
                  <a:txBody>
                    <a:bodyPr/>
                    <a:lstStyle/>
                    <a:p>
                      <a:r>
                        <a:rPr sz="1250" b="1" i="0">
                          <a:solidFill>
                            <a:srgbClr val="FFFFFF"/>
                          </a:solidFill>
                          <a:latin typeface="Calibri"/>
                        </a:rPr>
                        <a:t>Packer shifts</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353,404</a:t>
                      </a:r>
                    </a:p>
                  </a:txBody>
                  <a:tcPr marL="101600" marR="101600" marT="38100" marB="38100" anchor="ctr">
                    <a:solidFill>
                      <a:srgbClr val="FFFFFF"/>
                    </a:solidFill>
                  </a:tcPr>
                </a:tc>
                <a:tc>
                  <a:txBody>
                    <a:bodyPr/>
                    <a:lstStyle/>
                    <a:p>
                      <a:r>
                        <a:rPr sz="1200" b="0" i="0">
                          <a:solidFill>
                            <a:srgbClr val="1A1440"/>
                          </a:solidFill>
                          <a:latin typeface="Calibri"/>
                        </a:rPr>
                        <a:t>2,946</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446,236</a:t>
                      </a:r>
                    </a:p>
                  </a:txBody>
                  <a:tcPr marL="101600" marR="101600" marT="38100" marB="38100" anchor="ctr">
                    <a:solidFill>
                      <a:srgbClr val="F4F2FA"/>
                    </a:solidFill>
                  </a:tcPr>
                </a:tc>
                <a:tc>
                  <a:txBody>
                    <a:bodyPr/>
                    <a:lstStyle/>
                    <a:p>
                      <a:r>
                        <a:rPr sz="1200" b="0" i="0">
                          <a:solidFill>
                            <a:srgbClr val="1A1440"/>
                          </a:solidFill>
                          <a:latin typeface="Calibri"/>
                        </a:rPr>
                        <a:t>3,719</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393,738</a:t>
                      </a:r>
                    </a:p>
                  </a:txBody>
                  <a:tcPr marL="101600" marR="101600" marT="38100" marB="38100" anchor="ctr">
                    <a:solidFill>
                      <a:srgbClr val="FFFFFF"/>
                    </a:solidFill>
                  </a:tcPr>
                </a:tc>
                <a:tc>
                  <a:txBody>
                    <a:bodyPr/>
                    <a:lstStyle/>
                    <a:p>
                      <a:r>
                        <a:rPr sz="1200" b="0" i="0">
                          <a:solidFill>
                            <a:srgbClr val="1A1440"/>
                          </a:solidFill>
                          <a:latin typeface="Calibri"/>
                        </a:rPr>
                        <a:t>3,282</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329,609</a:t>
                      </a:r>
                    </a:p>
                  </a:txBody>
                  <a:tcPr marL="101600" marR="101600" marT="38100" marB="38100" anchor="ctr">
                    <a:solidFill>
                      <a:srgbClr val="F4F2FA"/>
                    </a:solidFill>
                  </a:tcPr>
                </a:tc>
                <a:tc>
                  <a:txBody>
                    <a:bodyPr/>
                    <a:lstStyle/>
                    <a:p>
                      <a:r>
                        <a:rPr sz="1200" b="0" i="0">
                          <a:solidFill>
                            <a:srgbClr val="1A1440"/>
                          </a:solidFill>
                          <a:latin typeface="Calibri"/>
                        </a:rPr>
                        <a:t>2,747</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201,244</a:t>
                      </a:r>
                    </a:p>
                  </a:txBody>
                  <a:tcPr marL="101600" marR="101600" marT="38100" marB="38100" anchor="ctr">
                    <a:solidFill>
                      <a:srgbClr val="FFFFFF"/>
                    </a:solidFill>
                  </a:tcPr>
                </a:tc>
                <a:tc>
                  <a:txBody>
                    <a:bodyPr/>
                    <a:lstStyle/>
                    <a:p>
                      <a:r>
                        <a:rPr sz="1200" b="0" i="0">
                          <a:solidFill>
                            <a:srgbClr val="1A1440"/>
                          </a:solidFill>
                          <a:latin typeface="Calibri"/>
                        </a:rPr>
                        <a:t>1,678</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243,178</a:t>
                      </a:r>
                    </a:p>
                  </a:txBody>
                  <a:tcPr marL="101600" marR="101600" marT="38100" marB="38100" anchor="ctr">
                    <a:solidFill>
                      <a:srgbClr val="F4F2FA"/>
                    </a:solidFill>
                  </a:tcPr>
                </a:tc>
                <a:tc>
                  <a:txBody>
                    <a:bodyPr/>
                    <a:lstStyle/>
                    <a:p>
                      <a:r>
                        <a:rPr sz="1200" b="0" i="0">
                          <a:solidFill>
                            <a:srgbClr val="1A1440"/>
                          </a:solidFill>
                          <a:latin typeface="Calibri"/>
                        </a:rPr>
                        <a:t>2,027</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231,868</a:t>
                      </a:r>
                    </a:p>
                  </a:txBody>
                  <a:tcPr marL="101600" marR="101600" marT="38100" marB="38100" anchor="ctr">
                    <a:solidFill>
                      <a:srgbClr val="FFFFFF"/>
                    </a:solidFill>
                  </a:tcPr>
                </a:tc>
                <a:tc>
                  <a:txBody>
                    <a:bodyPr/>
                    <a:lstStyle/>
                    <a:p>
                      <a:r>
                        <a:rPr sz="1200" b="0" i="0">
                          <a:solidFill>
                            <a:srgbClr val="1A1440"/>
                          </a:solidFill>
                          <a:latin typeface="Calibri"/>
                        </a:rPr>
                        <a:t>1,933</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233,042</a:t>
                      </a:r>
                    </a:p>
                  </a:txBody>
                  <a:tcPr marL="101600" marR="101600" marT="38100" marB="38100" anchor="ctr">
                    <a:solidFill>
                      <a:srgbClr val="F4F2FA"/>
                    </a:solidFill>
                  </a:tcPr>
                </a:tc>
                <a:tc>
                  <a:txBody>
                    <a:bodyPr/>
                    <a:lstStyle/>
                    <a:p>
                      <a:r>
                        <a:rPr sz="1200" b="0" i="0">
                          <a:solidFill>
                            <a:srgbClr val="1A1440"/>
                          </a:solidFill>
                          <a:latin typeface="Calibri"/>
                        </a:rPr>
                        <a:t>1,943</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Shifts are the plan over 120, rounded up: 20,275 in all. </a:t>
            </a:r>
            <a:r>
              <a:rPr sz="1600" b="1" i="0">
                <a:solidFill>
                  <a:srgbClr val="1A1440"/>
                </a:solidFill>
                <a:latin typeface="Calibri"/>
              </a:rPr>
              <a:t>The error bar:</a:t>
            </a:r>
            <a:r>
              <a:rPr sz="1600" b="0" i="0">
                <a:solidFill>
                  <a:srgbClr val="1A1440"/>
                </a:solidFill>
                <a:latin typeface="Calibri"/>
              </a:rPr>
              <a:t> 6,615 shipments a week on the hidden weeks, Rs 35,832 of idle shifts if high or Rs 1.7 lakh of late shipments if low; 4,034 a week on 2025's festival.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other plan costs at least Rs 82.2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each other plan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59104"/>
                <a:gridCol w="2163932"/>
                <a:gridCol w="2163932"/>
                <a:gridCol w="1744021"/>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r h="335280">
                <a:tc>
                  <a:txBody>
                    <a:bodyPr/>
                    <a:lstStyle/>
                    <a:p>
                      <a:r>
                        <a:rPr sz="1200" b="0" i="0">
                          <a:solidFill>
                            <a:srgbClr val="1A1440"/>
                          </a:solidFill>
                          <a:latin typeface="Calibri"/>
                        </a:rPr>
                        <a:t>The plan, festival-aligned plus 2.6 percent</a:t>
                      </a:r>
                    </a:p>
                  </a:txBody>
                  <a:tcPr marL="101600" marR="101600" marT="38100" marB="38100" anchor="ctr">
                    <a:solidFill>
                      <a:srgbClr val="F4F2FA"/>
                    </a:solidFill>
                  </a:tcPr>
                </a:tc>
                <a:tc>
                  <a:txBody>
                    <a:bodyPr/>
                    <a:lstStyle/>
                    <a:p>
                      <a:r>
                        <a:rPr sz="1200" b="0" i="0">
                          <a:solidFill>
                            <a:srgbClr val="1A1440"/>
                          </a:solidFill>
                          <a:latin typeface="Calibri"/>
                        </a:rPr>
                        <a:t>61,639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Rs 3.3 lakh</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each plan is priced against festival-aligned's weeks. The cushion's Rs 3.3 lakh is what the insurance costs if demand lands exactly on the forecast.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56816"/>
          <a:ext cx="11130991" cy="3556000"/>
        </p:xfrm>
        <a:graphic>
          <a:graphicData uri="http://schemas.openxmlformats.org/drawingml/2006/table">
            <a:tbl>
              <a:tblPr firstRow="0" bandRow="0">
                <a:tableStyleId>{2D5ABB26-0587-4C30-8999-92F81FD0307C}</a:tableStyleId>
              </a:tblPr>
              <a:tblGrid>
                <a:gridCol w="4946853"/>
                <a:gridCol w="6184138"/>
              </a:tblGrid>
              <a:tr h="369824">
                <a:tc>
                  <a:txBody>
                    <a:bodyPr/>
                    <a:lstStyle/>
                    <a:p>
                      <a:r>
                        <a:rPr sz="1450" b="1" i="0">
                          <a:solidFill>
                            <a:srgbClr val="FFFFFF"/>
                          </a:solidFill>
                          <a:latin typeface="Calibri"/>
                        </a:rPr>
                        <a:t>The doubt</a:t>
                      </a:r>
                    </a:p>
                  </a:txBody>
                  <a:tcPr marL="101600" marR="101600" marT="38100" marB="38100" anchor="ctr">
                    <a:solidFill>
                      <a:srgbClr val="1A0F5C"/>
                    </a:solidFill>
                  </a:tcPr>
                </a:tc>
                <a:tc>
                  <a:txBody>
                    <a:bodyPr/>
                    <a:lstStyle/>
                    <a:p>
                      <a:r>
                        <a:rPr sz="1450" b="1" i="0">
                          <a:solidFill>
                            <a:srgbClr val="FFFFFF"/>
                          </a:solidFill>
                          <a:latin typeface="Calibri"/>
                        </a:rPr>
                        <a:t>What would settle it</a:t>
                      </a:r>
                    </a:p>
                  </a:txBody>
                  <a:tcPr marL="101600" marR="101600" marT="38100" marB="38100" anchor="ctr">
                    <a:solidFill>
                      <a:srgbClr val="1A0F5C"/>
                    </a:solidFill>
                  </a:tcPr>
                </a:tc>
              </a:tr>
              <a:tr h="369824">
                <a:tc>
                  <a:txBody>
                    <a:bodyPr/>
                    <a:lstStyle/>
                    <a:p>
                      <a:r>
                        <a:rPr sz="14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400" b="0" i="0">
                          <a:solidFill>
                            <a:srgbClr val="1A1440"/>
                          </a:solidFill>
                          <a:latin typeface="Calibri"/>
                        </a:rPr>
                        <a:t>Tested on one festival only: the 2025 back-test</a:t>
                      </a:r>
                    </a:p>
                  </a:txBody>
                  <a:tcPr marL="101600" marR="101600" marT="38100" marB="38100" anchor="ctr">
                    <a:solidFill>
                      <a:srgbClr val="FFFFFF"/>
                    </a:solidFill>
                  </a:tcPr>
                </a:tc>
              </a:tr>
              <a:tr h="369824">
                <a:tc>
                  <a:txBody>
                    <a:bodyPr/>
                    <a:lstStyle/>
                    <a:p>
                      <a:r>
                        <a:rPr sz="1400" b="0" i="0">
                          <a:solidFill>
                            <a:srgbClr val="1A1440"/>
                          </a:solidFill>
                          <a:latin typeface="Calibri"/>
                        </a:rPr>
                        <a:t>Two years hold two festivals</a:t>
                      </a:r>
                    </a:p>
                  </a:txBody>
                  <a:tcPr marL="101600" marR="101600" marT="38100" marB="38100" anchor="ctr">
                    <a:solidFill>
                      <a:srgbClr val="F4F2FA"/>
                    </a:solidFill>
                  </a:tcPr>
                </a:tc>
                <a:tc>
                  <a:txBody>
                    <a:bodyPr/>
                    <a:lstStyle/>
                    <a:p>
                      <a:r>
                        <a:rPr sz="1400" b="0" i="0">
                          <a:solidFill>
                            <a:srgbClr val="1A1440"/>
                          </a:solidFill>
                          <a:latin typeface="Calibri"/>
                        </a:rPr>
                        <a:t>Only a third year; no check inside the data closes it</a:t>
                      </a:r>
                    </a:p>
                  </a:txBody>
                  <a:tcPr marL="101600" marR="101600" marT="38100" marB="38100" anchor="ctr">
                    <a:solidFill>
                      <a:srgbClr val="F4F2FA"/>
                    </a:solidFill>
                  </a:tcPr>
                </a:tc>
              </a:tr>
              <a:tr h="369824">
                <a:tc>
                  <a:txBody>
                    <a:bodyPr/>
                    <a:lstStyle/>
                    <a:p>
                      <a:r>
                        <a:rPr sz="1400" b="0" i="0">
                          <a:solidFill>
                            <a:srgbClr val="1A1440"/>
                          </a:solidFill>
                          <a:latin typeface="Calibri"/>
                        </a:rPr>
                        <a:t>The hidden weeks hold no festive week</a:t>
                      </a:r>
                    </a:p>
                  </a:txBody>
                  <a:tcPr marL="101600" marR="101600" marT="38100" marB="38100" anchor="ctr">
                    <a:solidFill>
                      <a:srgbClr val="FFFFFF"/>
                    </a:solidFill>
                  </a:tcPr>
                </a:tc>
                <a:tc>
                  <a:txBody>
                    <a:bodyPr/>
                    <a:lstStyle/>
                    <a:p>
                      <a:r>
                        <a:rPr sz="1400" b="0" i="0">
                          <a:solidFill>
                            <a:srgbClr val="1A1440"/>
                          </a:solidFill>
                          <a:latin typeface="Calibri"/>
                        </a:rPr>
                        <a:t>The 2025 festival's 4,034 a week, one festival</a:t>
                      </a:r>
                    </a:p>
                  </a:txBody>
                  <a:tcPr marL="101600" marR="101600" marT="38100" marB="38100" anchor="ctr">
                    <a:solidFill>
                      <a:srgbClr val="FFFFFF"/>
                    </a:solidFill>
                  </a:tcPr>
                </a:tc>
              </a:tr>
              <a:tr h="853440">
                <a:tc>
                  <a:txBody>
                    <a:bodyPr/>
                    <a:lstStyle/>
                    <a:p>
                      <a:r>
                        <a:rPr sz="1400" b="0" i="0">
                          <a:solidFill>
                            <a:srgbClr val="1A1440"/>
                          </a:solidFill>
                          <a:latin typeface="Calibri"/>
                        </a:rPr>
                        <a:t>Capacity caps the peak</a:t>
                      </a:r>
                    </a:p>
                  </a:txBody>
                  <a:tcPr marL="101600" marR="101600" marT="38100" marB="38100" anchor="ctr">
                    <a:solidFill>
                      <a:srgbClr val="F4F2FA"/>
                    </a:solidFill>
                  </a:tcPr>
                </a:tc>
                <a:tc>
                  <a:txBody>
                    <a:bodyPr/>
                    <a:lstStyle/>
                    <a:p>
                      <a:r>
                        <a:rPr sz="1400" b="0" i="0">
                          <a:solidFill>
                            <a:srgbClr val="1A1440"/>
                          </a:solidFill>
                          <a:latin typeface="Calibri"/>
                        </a:rPr>
                        <a:t>Overtime reached 1,638 shifts in the week of 6 October 2025 against 5 in an ordinary week, so peak demand may have run above what shipped</a:t>
                      </a:r>
                    </a:p>
                  </a:txBody>
                  <a:tcPr marL="101600" marR="101600" marT="38100" marB="38100" anchor="ctr">
                    <a:solidFill>
                      <a:srgbClr val="F4F2FA"/>
                    </a:solidFill>
                  </a:tcPr>
                </a:tc>
              </a:tr>
              <a:tr h="369824">
                <a:tc>
                  <a:txBody>
                    <a:bodyPr/>
                    <a:lstStyle/>
                    <a:p>
                      <a:r>
                        <a:rPr sz="1400" b="0" i="0">
                          <a:solidFill>
                            <a:srgbClr val="1A1440"/>
                          </a:solidFill>
                          <a:latin typeface="Calibri"/>
                        </a:rPr>
                        <a:t>Growth of 4 percent a year</a:t>
                      </a:r>
                    </a:p>
                  </a:txBody>
                  <a:tcPr marL="101600" marR="101600" marT="38100" marB="38100" anchor="ctr">
                    <a:solidFill>
                      <a:srgbClr val="FFFFFF"/>
                    </a:solidFill>
                  </a:tcPr>
                </a:tc>
                <a:tc>
                  <a:txBody>
                    <a:bodyPr/>
                    <a:lstStyle/>
                    <a:p>
                      <a:r>
                        <a:rPr sz="1400" b="0" i="0">
                          <a:solidFill>
                            <a:srgbClr val="1A1440"/>
                          </a:solidFill>
                          <a:latin typeface="Calibri"/>
                        </a:rPr>
                        <a:t>Two years' evidence; a third could move it</a:t>
                      </a:r>
                    </a:p>
                  </a:txBody>
                  <a:tcPr marL="101600" marR="101600" marT="38100" marB="38100" anchor="ctr">
                    <a:solidFill>
                      <a:srgbClr val="FFFFFF"/>
                    </a:solidFill>
                  </a:tcPr>
                </a:tc>
              </a:tr>
              <a:tr h="853440">
                <a:tc>
                  <a:txBody>
                    <a:bodyPr/>
                    <a:lstStyle/>
                    <a:p>
                      <a:r>
                        <a:rPr sz="1400" b="0" i="0">
                          <a:solidFill>
                            <a:srgbClr val="1A1440"/>
                          </a:solidFill>
                          <a:latin typeface="Calibri"/>
                        </a:rPr>
                        <a:t>The 2025 festival coincided with GST cuts</a:t>
                      </a:r>
                    </a:p>
                  </a:txBody>
                  <a:tcPr marL="101600" marR="101600" marT="38100" marB="38100" anchor="ctr">
                    <a:solidFill>
                      <a:srgbClr val="F4F2FA"/>
                    </a:solidFill>
                  </a:tcPr>
                </a:tc>
                <a:tc>
                  <a:txBody>
                    <a:bodyPr/>
                    <a:lstStyle/>
                    <a:p>
                      <a:r>
                        <a:rPr sz="1400" b="0" i="0">
                          <a:solidFill>
                            <a:srgbClr val="1A1440"/>
                          </a:solidFill>
                          <a:latin typeface="Calibri"/>
                        </a:rPr>
                        <a:t>October 2025 two-wheeler retail ran 31,49,846 against 12,87,735 in September, part of it credited to the cuts (FADA, F5, checked 12 October 2026)</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does the morning leave on the board?</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Right growth, wrong weeks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Your 4 percent is the growth two years show. Copied by calendar, it books the peak on 5 October and sits 308,048 shipments short.</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THE VENDOR'S SPONSOR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fit, never a forecast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Within 1.4 percent on history, and 16,400 a week off on thirteen weeks it never saw.</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Beat the bot, then place the festival</a:t>
            </a:r>
          </a:p>
        </p:txBody>
      </p:sp>
      <p:sp>
        <p:nvSpPr>
          <p:cNvPr id="26" name="TextBox 25"/>
          <p:cNvSpPr txBox="1"/>
          <p:nvPr/>
        </p:nvSpPr>
        <p:spPr>
          <a:xfrm>
            <a:off x="827410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Score on hidden weeks in shipments and rupees; copy by distance from Diwali; plan at the 0.82 share.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9" name="Oval 28"/>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1" name="Oval 30"/>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