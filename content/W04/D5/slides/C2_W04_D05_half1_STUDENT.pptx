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 screen as the room sits down. Read the title, then the table top to bottom, then</a:t>
            </a:r>
          </a:p>
          <a:p>
            <a:r>
              <a:t>the label line. Today is a tournament in three rounds: count by hand, score on hidden weeks, then</a:t>
            </a:r>
          </a:p>
          <a:p>
            <a:r>
              <a:t>place the festival and price the plan. Define two words as they appear: a packer-shift is</a:t>
            </a:r>
          </a:p>
          <a:p>
            <a:r>
              <a:t>one packer working one shift, and a forecast is a number for a week nobody has seen yet. Point at</a:t>
            </a:r>
          </a:p>
          <a:p>
            <a:r>
              <a:t>the four tables and their columns; every number today comes from them. Ask the room what would</a:t>
            </a:r>
          </a:p>
          <a:p>
            <a:r>
              <a:t>make each forecast wrong, and write the answers on the board without judging them. Transition:</a:t>
            </a:r>
          </a:p>
          <a:p>
            <a:r>
              <a:t>where today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earlier nodes with their numbers: each was a number the room produced</a:t>
            </a:r>
          </a:p>
          <a:p>
            <a:r>
              <a:t>on its day. Monday's guardrails bound what a forecast may chase, Thursday's cohorts gave the</a:t>
            </a:r>
          </a:p>
          <a:p>
            <a:r>
              <a:t>week a time axis, and today asks what the plan will be held to. The Kalpa node is the lab after</a:t>
            </a:r>
          </a:p>
          <a:p>
            <a:r>
              <a:t>class. Explorer: the home screen, Friday lit.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finished answer once, then earn it. The rule is fixed now, before anyone</a:t>
            </a:r>
          </a:p>
          <a:p>
            <a:r>
              <a:t>scores: mean absolute error in shipments on the thirteen held-out weeks, then the same misses</a:t>
            </a:r>
          </a:p>
          <a:p>
            <a:r>
              <a:t>priced. Groups enter their own hand rule in round one. Transition: chapter 1, counting by hand.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of 3, level L1, round one of the tournament. Twelve printed weeks per</a:t>
            </a:r>
          </a:p>
          <a:p>
            <a:r>
              <a:t>table; no laptop opens in this chapter.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gets a number before the next is asked.</a:t>
            </a:r>
          </a:p>
          <a:p>
            <a:r>
              <a:t>Transition: the first question, voted before anything is shown.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holds up a letter. Two minutes for neighbours to argue, then vote again.</a:t>
            </a:r>
          </a:p>
          <a:p>
            <a:r>
              <a:t>Keep both counts on the board. Transition: the twelve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Count aloud left to right, StatQuest style. Parcels leave the centre before the</a:t>
            </a:r>
          </a:p>
          <a:p>
            <a:r>
              <a:t>festival so they arrive in time, which is why the peak comes early. If most of the room voted a,</a:t>
            </a:r>
          </a:p>
          <a:p>
            <a:r>
              <a:t>ask what a customer does on Diwali itself. Transition: what a weekly series is made 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the picture first, the names after. The real series has all</a:t>
            </a:r>
          </a:p>
          <a:p>
            <a:r>
              <a:t>four: a growth of about 4 percent a year, the festival, the week holding the 1st of a month and a</a:t>
            </a:r>
          </a:p>
          <a:p>
            <a:r>
              <a:t>wobble of a few percent. Explorer: scene F1, the season slider. Transition: four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each rule as one sentence a shift supervisor could repeat. Same week last</a:t>
            </a:r>
          </a:p>
          <a:p>
            <a:r>
              <a:t>year is the house bot of the tournament. Festival-aligned adds the 4 percent a year the centre</a:t>
            </a:r>
          </a:p>
          <a:p>
            <a:r>
              <a:t>grew. Transition: the three rules on one real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work each rule on the twelve printed rows before voting. The actual that</a:t>
            </a:r>
          </a:p>
          <a:p>
            <a:r>
              <a:t>week was 308,900; do not show it until the vote.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the festival-aligned arithmetic aloud: 296,900 times 1.04 is 308,776. Ask</a:t>
            </a:r>
          </a:p>
          <a:p>
            <a:r>
              <a:t>which group's own rule came closest. Transition: the trap hidden in the copy.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Diwali's week came one week earlier in 2025, so every calendar copy is a week out.</a:t>
            </a:r>
          </a:p>
          <a:p>
            <a:r>
              <a:t>Veritasium's move: the reveal follows the vote of S9. Transition: where Diwali falls in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Count the Mondays on the strip with the room. Do not answer where the copy lands:</a:t>
            </a:r>
          </a:p>
          <a:p>
            <a:r>
              <a:t>round three asks it on S28, and the festival calendar card answers it on S29. Explorer: scene F3,</a:t>
            </a:r>
          </a:p>
          <a:p>
            <a:r>
              <a:t>the Diwali slider. Transition: the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Flipkart's own published numbers; everything else today is this class's</a:t>
            </a:r>
          </a:p>
          <a:p>
            <a:r>
              <a:t>synthetic data. Read them as decisions already in motion. Transition: chapter 1's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map left to right; the dashed box is chapter 2. Transition: chapter 2,</a:t>
            </a:r>
          </a:p>
          <a:p>
            <a:r>
              <a:t>the hold-out.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of 3, levels L2 and L3, round two of the tournament. Notebook 02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the weeks we hide.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91 weeks before are the training weeks. Point at the August sale inside the</a:t>
            </a:r>
          </a:p>
          <a:p>
            <a:r>
              <a:t>hidden weeks: a copy of last year knows about it, naive does not. Explorer: scene F2, the split</a:t>
            </a:r>
          </a:p>
          <a:p>
            <a:r>
              <a:t>slider. Transition: how a miss is counted.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the toy aloud. Mention MAPE as the percent version and why the plan does not</a:t>
            </a:r>
          </a:p>
          <a:p>
            <a:r>
              <a:t>use it: the costs are per shipment. Transition: the vote.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Brilliant's move: the room answers before the scoreboard. Note the tie in d is</a:t>
            </a:r>
          </a:p>
          <a:p>
            <a:r>
              <a:t>announced, not hidden: the next slide says why.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Tufte's small multiples: one rule per panel on the same axes. The bot beats naive</a:t>
            </a:r>
          </a:p>
          <a:p>
            <a:r>
              <a:t>because it carries the August sale; it loses to the 4 percent rules because a growing series</a:t>
            </a:r>
          </a:p>
          <a:p>
            <a:r>
              <a:t>makes last year too low. Transition: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notebook 02 every learner scores the vendor in an empty cell first; vote after</a:t>
            </a:r>
          </a:p>
          <a:p>
            <a:r>
              <a:t>the cell runs, before this slide's answer.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left of the chart, then the right. A fit is drawn through weeks the model</a:t>
            </a:r>
          </a:p>
          <a:p>
            <a:r>
              <a:t>has seen; a forecast is made for weeks it has not. Transition: which way each rule is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idle cost is Rs 650 / 120 = Rs 5.42 for each shipment of spare capacity.</a:t>
            </a:r>
          </a:p>
          <a:p>
            <a:r>
              <a:t>Ask which way each rule's misses run before anyone votes.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Let the result stand; it is true of this data. The room should leave with the</a:t>
            </a:r>
          </a:p>
          <a:p>
            <a:r>
              <a:t>reason: being short costs 4.6 times being long. Transition: why the vendor still does not win.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plan's case rests on two things this hold-out cannot test: the festival's</a:t>
            </a:r>
          </a:p>
          <a:p>
            <a:r>
              <a:t>placement and the size of the cushion. Chapter 3 tests the first on 2025's festival and sizes the</a:t>
            </a:r>
          </a:p>
          <a:p>
            <a:r>
              <a:t>second from the costs. Transition: the same score a second 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prints the thirteen misses; the last cell adds them. Transition:</a:t>
            </a:r>
          </a:p>
          <a:p>
            <a:r>
              <a:t>chapter 2's answers.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Ten minutes' break follows. Transition: chapter 3, the festival.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of 3, levels L3 to L5, round three of the tournament. Notebook 03 runs</a:t>
            </a:r>
          </a:p>
          <a:p>
            <a:r>
              <a:t>alongside. Transition: the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finance's 5 October and festival-aligned's 19 October: the same 418,200</a:t>
            </a:r>
          </a:p>
          <a:p>
            <a:r>
              <a:t>times 1.04, two weeks apart. The vendor's model never knew the festival moved. Transition: did</a:t>
            </a:r>
          </a:p>
          <a:p>
            <a:r>
              <a:t>the placement 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back-test is the only festival the data can test the rules on. The vendor</a:t>
            </a:r>
          </a:p>
          <a:p>
            <a:r>
              <a:t>has no festive forecast to score, only its fit.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calendar window holds only the tail of 2025's festival, because 2025's peak</a:t>
            </a:r>
          </a:p>
          <a:p>
            <a:r>
              <a:t>came before 13 October; 2026's peak falls inside the window. That is why an honest forecast reads</a:t>
            </a:r>
          </a:p>
          <a:p>
            <a:r>
              <a:t>plus 19.5 against it. Transition: how far above the forecast to plan.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two cost curves, then the total; its lowest point sits right of zero.</a:t>
            </a:r>
          </a:p>
          <a:p>
            <a:r>
              <a:t>If the late cost rises toward Rs 40, the line moves further right. Explorer: scene F4.</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first two rows aloud: 344,448 times 1.026 is 353,404, over 120 and rounded</a:t>
            </a:r>
          </a:p>
          <a:p>
            <a:r>
              <a:t>up is 2,946 shifts. A packer-shift is one packer for one shift; how shifts become people depends on the roster,</a:t>
            </a:r>
          </a:p>
          <a:p>
            <a:r>
              <a:t>which the ticket does not give. Transition: what the other plans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bot's and finance's costs are mostly late shipments in the weeks of 19</a:t>
            </a:r>
          </a:p>
          <a:p>
            <a:r>
              <a:t>October to 2 November. 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doubt at a time, each with the fact that would settle it. The FADA figure is</a:t>
            </a:r>
          </a:p>
          <a:p>
            <a:r>
              <a:t>a national series; it shows a festive month confounded by a tax change, a warning for any model</a:t>
            </a:r>
          </a:p>
          <a:p>
            <a:r>
              <a:t>trained on national data. Transition: the two role cards.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stakeholder is partly right: concede the true part first. The afternoon</a:t>
            </a:r>
          </a:p>
          <a:p>
            <a:r>
              <a:t>writes the staffing note from these three cards. Transition: lunch, then half two.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3.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19.png"/><Relationship Id="rId6" Type="http://schemas.openxmlformats.org/officeDocument/2006/relationships/image" Target="../media/image3.png"/><Relationship Id="rId7"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forecasts for one festive window, 18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planner been handed, and what is due Friday?</a:t>
            </a:r>
          </a:p>
        </p:txBody>
      </p:sp>
      <p:graphicFrame>
        <p:nvGraphicFramePr>
          <p:cNvPr id="9" name="Table 8"/>
          <p:cNvGraphicFramePr>
            <a:graphicFrameLocks noGrp="1"/>
          </p:cNvGraphicFramePr>
          <p:nvPr/>
        </p:nvGraphicFramePr>
        <p:xfrm>
          <a:off x="530352" y="1682496"/>
          <a:ext cx="11130990" cy="3566160"/>
        </p:xfrm>
        <a:graphic>
          <a:graphicData uri="http://schemas.openxmlformats.org/drawingml/2006/table">
            <a:tbl>
              <a:tblPr firstRow="0" bandRow="0">
                <a:tableStyleId>{2D5ABB26-0587-4C30-8999-92F81FD0307C}</a:tableStyleId>
              </a:tblPr>
              <a:tblGrid>
                <a:gridCol w="3198111"/>
                <a:gridCol w="7932879"/>
              </a:tblGrid>
              <a:tr h="310896">
                <a:tc>
                  <a:txBody>
                    <a:bodyPr/>
                    <a:lstStyle/>
                    <a:p>
                      <a:r>
                        <a:rPr sz="950" b="1" i="0">
                          <a:solidFill>
                            <a:srgbClr val="FFFFFF"/>
                          </a:solidFill>
                          <a:latin typeface="Calibri"/>
                        </a:rPr>
                        <a:t>On the ticket</a:t>
                      </a:r>
                    </a:p>
                  </a:txBody>
                  <a:tcPr marL="101600" marR="101600" marT="38100" marB="38100" anchor="ctr">
                    <a:solidFill>
                      <a:srgbClr val="1A0F5C"/>
                    </a:solidFill>
                  </a:tcPr>
                </a:tc>
                <a:tc>
                  <a:txBody>
                    <a:bodyPr/>
                    <a:lstStyle/>
                    <a:p>
                      <a:r>
                        <a:rPr sz="950" b="1" i="0">
                          <a:solidFill>
                            <a:srgbClr val="FFFFFF"/>
                          </a:solidFill>
                          <a:latin typeface="Calibri"/>
                        </a:rPr>
                        <a:t>What it says</a:t>
                      </a:r>
                    </a:p>
                  </a:txBody>
                  <a:tcPr marL="101600" marR="101600" marT="38100" marB="38100" anchor="ctr">
                    <a:solidFill>
                      <a:srgbClr val="1A0F5C"/>
                    </a:solidFill>
                  </a:tcPr>
                </a:tc>
              </a:tr>
              <a:tr h="310896">
                <a:tc>
                  <a:txBody>
                    <a:bodyPr/>
                    <a:lstStyle/>
                    <a:p>
                      <a:r>
                        <a:rPr sz="900" b="0" i="0">
                          <a:solidFill>
                            <a:srgbClr val="1A1440"/>
                          </a:solidFill>
                          <a:latin typeface="Calibri"/>
                        </a:rPr>
                        <a:t>Company, city, surface</a:t>
                      </a:r>
                    </a:p>
                  </a:txBody>
                  <a:tcPr marL="101600" marR="101600" marT="38100" marB="38100" anchor="ctr">
                    <a:solidFill>
                      <a:srgbClr val="FFFFFF"/>
                    </a:solidFill>
                  </a:tcPr>
                </a:tc>
                <a:tc>
                  <a:txBody>
                    <a:bodyPr/>
                    <a:lstStyle/>
                    <a:p>
                      <a:r>
                        <a:rPr sz="900" b="0" i="0">
                          <a:solidFill>
                            <a:srgbClr val="1A1440"/>
                          </a:solidFill>
                          <a:latin typeface="Calibri"/>
                        </a:rPr>
                        <a:t>Flipkart, the Lucknow fulfilment centre: outbound shipments and packer shifts</a:t>
                      </a:r>
                    </a:p>
                  </a:txBody>
                  <a:tcPr marL="101600" marR="101600" marT="38100" marB="38100" anchor="ctr">
                    <a:solidFill>
                      <a:srgbClr val="FFFFFF"/>
                    </a:solidFill>
                  </a:tcPr>
                </a:tc>
              </a:tr>
              <a:tr h="438912">
                <a:tc>
                  <a:txBody>
                    <a:bodyPr/>
                    <a:lstStyle/>
                    <a:p>
                      <a:r>
                        <a:rPr sz="900" b="0" i="0">
                          <a:solidFill>
                            <a:srgbClr val="1A1440"/>
                          </a:solidFill>
                          <a:latin typeface="Calibri"/>
                        </a:rPr>
                        <a:t>The history</a:t>
                      </a:r>
                    </a:p>
                  </a:txBody>
                  <a:tcPr marL="101600" marR="101600" marT="38100" marB="38100" anchor="ctr">
                    <a:solidFill>
                      <a:srgbClr val="F4F2FA"/>
                    </a:solidFill>
                  </a:tcPr>
                </a:tc>
                <a:tc>
                  <a:txBody>
                    <a:bodyPr/>
                    <a:lstStyle/>
                    <a:p>
                      <a:r>
                        <a:rPr sz="900" b="0" i="0">
                          <a:solidFill>
                            <a:srgbClr val="1A1440"/>
                          </a:solidFill>
                          <a:latin typeface="Calibri"/>
                        </a:rPr>
                        <a:t>104 weeks, the weeks beginning Monday 30 September 2024 to Monday 21 September 2026; an ordinary week in late 2024 ships about 210,000</a:t>
                      </a:r>
                    </a:p>
                  </a:txBody>
                  <a:tcPr marL="101600" marR="101600" marT="38100" marB="38100" anchor="ctr">
                    <a:solidFill>
                      <a:srgbClr val="F4F2FA"/>
                    </a:solidFill>
                  </a:tcPr>
                </a:tc>
              </a:tr>
              <a:tr h="438912">
                <a:tc>
                  <a:txBody>
                    <a:bodyPr/>
                    <a:lstStyle/>
                    <a:p>
                      <a:r>
                        <a:rPr sz="900" b="0" i="0">
                          <a:solidFill>
                            <a:srgbClr val="1A1440"/>
                          </a:solidFill>
                          <a:latin typeface="Calibri"/>
                        </a:rPr>
                        <a:t>The festival</a:t>
                      </a:r>
                    </a:p>
                  </a:txBody>
                  <a:tcPr marL="101600" marR="101600" marT="38100" marB="38100" anchor="ctr">
                    <a:solidFill>
                      <a:srgbClr val="FFFFFF"/>
                    </a:solidFill>
                  </a:tcPr>
                </a:tc>
                <a:tc>
                  <a:txBody>
                    <a:bodyPr/>
                    <a:lstStyle/>
                    <a:p>
                      <a:r>
                        <a:rPr sz="900" b="0" i="0">
                          <a:solidFill>
                            <a:srgbClr val="1A1440"/>
                          </a:solidFill>
                          <a:latin typeface="Calibri"/>
                        </a:rPr>
                        <a:t>Diwali fell on Thursday 31 October 2024 and Monday 20 October 2025, and falls on Sunday 8 November 2026; the three weeks before it run at 1.5, 1.9 and 1.7 times an ordinary week, its own week at 1.4, the week after below ordinary</a:t>
                      </a:r>
                    </a:p>
                  </a:txBody>
                  <a:tcPr marL="101600" marR="101600" marT="38100" marB="38100" anchor="ctr">
                    <a:solidFill>
                      <a:srgbClr val="FFFFFF"/>
                    </a:solidFill>
                  </a:tcPr>
                </a:tc>
              </a:tr>
              <a:tr h="310896">
                <a:tc>
                  <a:txBody>
                    <a:bodyPr/>
                    <a:lstStyle/>
                    <a:p>
                      <a:r>
                        <a:rPr sz="900" b="0" i="0">
                          <a:solidFill>
                            <a:srgbClr val="1A1440"/>
                          </a:solidFill>
                          <a:latin typeface="Calibri"/>
                        </a:rPr>
                        <a:t>The two forecasts</a:t>
                      </a:r>
                    </a:p>
                  </a:txBody>
                  <a:tcPr marL="101600" marR="101600" marT="38100" marB="38100" anchor="ctr">
                    <a:solidFill>
                      <a:srgbClr val="F4F2FA"/>
                    </a:solidFill>
                  </a:tcPr>
                </a:tc>
                <a:tc>
                  <a:txBody>
                    <a:bodyPr/>
                    <a:lstStyle/>
                    <a:p>
                      <a:r>
                        <a:rPr sz="900" b="0" i="0">
                          <a:solidFill>
                            <a:srgbClr val="1A1440"/>
                          </a:solidFill>
                          <a:latin typeface="Calibri"/>
                        </a:rPr>
                        <a:t>A vendor's model promises the window 22 percent above last year's; finance's rule is last year's window plus 4 percent</a:t>
                      </a:r>
                    </a:p>
                  </a:txBody>
                  <a:tcPr marL="101600" marR="101600" marT="38100" marB="38100" anchor="ctr">
                    <a:solidFill>
                      <a:srgbClr val="F4F2FA"/>
                    </a:solidFill>
                  </a:tcPr>
                </a:tc>
              </a:tr>
              <a:tr h="438912">
                <a:tc>
                  <a:txBody>
                    <a:bodyPr/>
                    <a:lstStyle/>
                    <a:p>
                      <a:r>
                        <a:rPr sz="900" b="0" i="0">
                          <a:solidFill>
                            <a:srgbClr val="1A1440"/>
                          </a:solidFill>
                          <a:latin typeface="Calibri"/>
                        </a:rPr>
                        <a:t>The data</a:t>
                      </a:r>
                    </a:p>
                  </a:txBody>
                  <a:tcPr marL="101600" marR="101600" marT="38100" marB="38100" anchor="ctr">
                    <a:solidFill>
                      <a:srgbClr val="FFFFFF"/>
                    </a:solidFill>
                  </a:tcPr>
                </a:tc>
                <a:tc>
                  <a:txBody>
                    <a:bodyPr/>
                    <a:lstStyle/>
                    <a:p>
                      <a:r>
                        <a:rPr sz="900" b="0" i="0">
                          <a:solidFill>
                            <a:srgbClr val="1A1440"/>
                          </a:solidFill>
                          <a:latin typeface="Calibri"/>
                        </a:rPr>
                        <a:t>weekly_shipments (week_start, shipments, packer_shifts_worked, overtime_shifts); vendor_forecast (week_start, vendor_shipments, kind: fitted, holdout or forecast); calendar (week_start, diwali_week, sale_week); costs (item, rs, low, high)</a:t>
                      </a:r>
                    </a:p>
                  </a:txBody>
                  <a:tcPr marL="101600" marR="101600" marT="38100" marB="38100" anchor="ctr">
                    <a:solidFill>
                      <a:srgbClr val="FFFFFF"/>
                    </a:solidFill>
                  </a:tcPr>
                </a:tc>
              </a:tr>
              <a:tr h="438912">
                <a:tc>
                  <a:txBody>
                    <a:bodyPr/>
                    <a:lstStyle/>
                    <a:p>
                      <a:r>
                        <a:rPr sz="900" b="0" i="0">
                          <a:solidFill>
                            <a:srgbClr val="1A1440"/>
                          </a:solidFill>
                          <a:latin typeface="Calibri"/>
                        </a:rPr>
                        <a:t>The costs, assumed</a:t>
                      </a:r>
                    </a:p>
                  </a:txBody>
                  <a:tcPr marL="101600" marR="101600" marT="38100" marB="38100" anchor="ctr">
                    <a:solidFill>
                      <a:srgbClr val="F4F2FA"/>
                    </a:solidFill>
                  </a:tcPr>
                </a:tc>
                <a:tc>
                  <a:txBody>
                    <a:bodyPr/>
                    <a:lstStyle/>
                    <a:p>
                      <a:r>
                        <a:rPr sz="900" b="0" i="0">
                          <a:solidFill>
                            <a:srgbClr val="1A1440"/>
                          </a:solidFill>
                          <a:latin typeface="Calibri"/>
                        </a:rPr>
                        <a:t>An idle packer-shift Rs 650 (range Rs 500 to 800); a late shipment Rs 25 (range Rs 15 to 40); a packer packs about 120 shipments a shift</a:t>
                      </a:r>
                    </a:p>
                  </a:txBody>
                  <a:tcPr marL="101600" marR="101600" marT="38100" marB="38100" anchor="ctr">
                    <a:solidFill>
                      <a:srgbClr val="F4F2FA"/>
                    </a:solidFill>
                  </a:tcPr>
                </a:tc>
              </a:tr>
              <a:tr h="438912">
                <a:tc>
                  <a:txBody>
                    <a:bodyPr/>
                    <a:lstStyle/>
                    <a:p>
                      <a:r>
                        <a:rPr sz="900" b="0" i="0">
                          <a:solidFill>
                            <a:srgbClr val="1A1440"/>
                          </a:solidFill>
                          <a:latin typeface="Calibri"/>
                        </a:rPr>
                        <a:t>The ask, due Friday</a:t>
                      </a:r>
                    </a:p>
                  </a:txBody>
                  <a:tcPr marL="101600" marR="101600" marT="38100" marB="38100" anchor="ctr">
                    <a:solidFill>
                      <a:srgbClr val="FFFFFF"/>
                    </a:solidFill>
                  </a:tcPr>
                </a:tc>
                <a:tc>
                  <a:txBody>
                    <a:bodyPr/>
                    <a:lstStyle/>
                    <a:p>
                      <a:r>
                        <a:rPr sz="900" b="0" i="0">
                          <a:solidFill>
                            <a:srgbClr val="1A1440"/>
                          </a:solidFill>
                          <a:latin typeface="Calibri"/>
                        </a:rPr>
                        <a:t>Which forecast goes to the plan for the eight weeks beginning 12 October to 30 November 2026, how wrong could it be, and how many packer shifts a week</a:t>
                      </a:r>
                    </a:p>
                  </a:txBody>
                  <a:tcPr marL="101600" marR="101600" marT="38100" marB="38100" anchor="ctr">
                    <a:solidFill>
                      <a:srgbClr val="FFFFFF"/>
                    </a:solidFill>
                  </a:tcPr>
                </a:tc>
              </a:tr>
              <a:tr h="438912">
                <a:tc>
                  <a:txBody>
                    <a:bodyPr/>
                    <a:lstStyle/>
                    <a:p>
                      <a:r>
                        <a:rPr sz="900" b="0" i="0">
                          <a:solidFill>
                            <a:srgbClr val="1A1440"/>
                          </a:solidFill>
                          <a:latin typeface="Calibri"/>
                        </a:rPr>
                        <a:t>Caveats</a:t>
                      </a:r>
                    </a:p>
                  </a:txBody>
                  <a:tcPr marL="101600" marR="101600" marT="38100" marB="38100" anchor="ctr">
                    <a:solidFill>
                      <a:srgbClr val="F4F2FA"/>
                    </a:solidFill>
                  </a:tcPr>
                </a:tc>
                <a:tc>
                  <a:txBody>
                    <a:bodyPr/>
                    <a:lstStyle/>
                    <a:p>
                      <a:r>
                        <a:rPr sz="900" b="0" i="0">
                          <a:solidFill>
                            <a:srgbClr val="1A1440"/>
                          </a:solidFill>
                          <a:latin typeface="Calibri"/>
                        </a:rPr>
                        <a:t>The festival moves by weeks each year and the sale weeks move with it; two years hold two festivals; a late shipment costs more than an idle shift; peak weeks are capped by the centre's own capacity</a:t>
                      </a:r>
                    </a:p>
                  </a:txBody>
                  <a:tcPr marL="101600" marR="101600" marT="38100" marB="38100" anchor="ctr">
                    <a:solidFill>
                      <a:srgbClr val="F4F2FA"/>
                    </a:solidFill>
                  </a:tcPr>
                </a:tc>
              </a:tr>
            </a:tbl>
          </a:graphicData>
        </a:graphic>
      </p:graphicFrame>
      <p:sp>
        <p:nvSpPr>
          <p:cNvPr id="10" name="TextBox 9"/>
          <p:cNvSpPr txBox="1"/>
          <p:nvPr/>
        </p:nvSpPr>
        <p:spPr>
          <a:xfrm>
            <a:off x="530352" y="550468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asks how much is coming, and how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f667176f9687db23.png"/>
          <p:cNvPicPr>
            <a:picLocks noChangeAspect="1"/>
          </p:cNvPicPr>
          <p:nvPr/>
        </p:nvPicPr>
        <p:blipFill>
          <a:blip r:embed="rId5"/>
          <a:stretch>
            <a:fillRect/>
          </a:stretch>
        </p:blipFill>
        <p:spPr>
          <a:xfrm>
            <a:off x="2530670" y="1682496"/>
            <a:ext cx="7130355"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39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20,275 shifts, a bar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planner carry out of the room?</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PLAN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20,275 packer shifts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Over the eight weeks, peaking at 3,719 in the week of 19 October, from a forecast that keeps each week's distance from Diwali.</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6,615 shipments a week</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Its miss on thirteen weeks it never saw: Rs 35,832 of idle shifts if high, Rs 1.7 lakh of late shipments if low.</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TWO FORECASTS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Neither carries the plan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vendor loses to a copy of last year on hidden weeks; finance's rule puts the peak two weeks early.</a:t>
            </a:r>
          </a:p>
        </p:txBody>
      </p:sp>
      <p:sp>
        <p:nvSpPr>
          <p:cNvPr id="27" name="Rounded Rectangle 26"/>
          <p:cNvSpPr/>
          <p:nvPr/>
        </p:nvSpPr>
        <p:spPr>
          <a:xfrm>
            <a:off x="530352" y="42941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891540"/>
          </a:xfrm>
          <a:prstGeom prst="rect">
            <a:avLst/>
          </a:prstGeom>
          <a:noFill/>
        </p:spPr>
        <p:txBody>
          <a:bodyPr wrap="square" anchor="ctr" lIns="0" rIns="0" tIns="0" bIns="0">
            <a:spAutoFit/>
          </a:bodyPr>
          <a:lstStyle/>
          <a:p>
            <a:r>
              <a:rPr sz="1500" b="1">
                <a:solidFill>
                  <a:srgbClr val="5B3FD6"/>
                </a:solidFill>
                <a:latin typeface="Calibri"/>
              </a:rPr>
              <a:t>The tournament's rule. </a:t>
            </a:r>
            <a:r>
              <a:rPr sz="1500" b="0" i="0">
                <a:solidFill>
                  <a:srgbClr val="1A1440"/>
                </a:solidFill>
                <a:latin typeface="Calibri"/>
              </a:rPr>
              <a:t>Nothing goes to the plan unless it beats the house bot, a copy of the same week last year, on the same thirteen hidden weeks, by the same measure: the average miss in shipments, then priced in rupees.</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2" name="Oval 3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4" name="Oval 3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shape do the 104 weeks have, and what would three simple rules say for one week before any code opens?</a:t>
            </a:r>
          </a:p>
        </p:txBody>
      </p:sp>
      <p:sp>
        <p:nvSpPr>
          <p:cNvPr id="10" name="Rounded Rectangle 9"/>
          <p:cNvSpPr/>
          <p:nvPr/>
        </p:nvSpPr>
        <p:spPr>
          <a:xfrm>
            <a:off x="73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39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climbed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books shifts weeks ahead and cannot add one on the day: a rule that puts the busiest week in the wrong place books packers for a quiet week.</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SHAPE</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Where is the peak?</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week of the season ships the most, in each year?</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RULES</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rules copy?</a:t>
            </a:r>
          </a:p>
        </p:txBody>
      </p:sp>
      <p:sp>
        <p:nvSpPr>
          <p:cNvPr id="22" name="TextBox 21"/>
          <p:cNvSpPr txBox="1"/>
          <p:nvPr/>
        </p:nvSpPr>
        <p:spPr>
          <a:xfrm>
            <a:off x="3523411" y="4250182"/>
            <a:ext cx="2316403" cy="531876"/>
          </a:xfrm>
          <a:prstGeom prst="rect">
            <a:avLst/>
          </a:prstGeom>
          <a:noFill/>
        </p:spPr>
        <p:txBody>
          <a:bodyPr wrap="square" anchor="t" lIns="0" rIns="0" tIns="0" bIns="0">
            <a:spAutoFit/>
          </a:bodyPr>
          <a:lstStyle/>
          <a:p>
            <a:pPr algn="l"/>
            <a:r>
              <a:rPr sz="1000" b="0" i="0">
                <a:solidFill>
                  <a:srgbClr val="6B6690"/>
                </a:solidFill>
                <a:latin typeface="Calibri"/>
              </a:rPr>
              <a:t>Naive, same week last year, drift and festival-aligned, each in one line.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ONE WEEK</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lands closest?</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Three rules for Diwali 2025's own week.</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week moves?</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Where a copy of last year puts the peak.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39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of the festive season ships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festivals, six weeks each: where does the peak sit, before you see a bar?</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Diwali's own week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festival is the moment people shop.</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before Diwali's week</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last full week before the festival.</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Two weeks before Diwali's week</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Early enough for parcels to arrive.</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The week after Diwali's week</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Gifts bought late, shipped late.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39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weeks before Diwali, in both years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twelve weeks around two Diwalis ship?</a:t>
            </a:r>
          </a:p>
        </p:txBody>
      </p:sp>
      <p:pic>
        <p:nvPicPr>
          <p:cNvPr id="9" name="mermaid diagram" descr="C2_W04_D05_twelve_rows_STUDENT.png"/>
          <p:cNvPicPr>
            <a:picLocks noChangeAspect="1"/>
          </p:cNvPicPr>
          <p:nvPr/>
        </p:nvPicPr>
        <p:blipFill>
          <a:blip r:embed="rId4"/>
          <a:stretch>
            <a:fillRect/>
          </a:stretch>
        </p:blipFill>
        <p:spPr>
          <a:xfrm>
            <a:off x="2374267" y="1664208"/>
            <a:ext cx="744316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weeks around two Diwalis, Diwali's own week in red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busiest week is two weeks before Diwali's week both times: 401,000 shipments in the week of 14 October 2024 and 418,200 in the week of 6 October 2025. Diwali's own week ships 296,900 and 308,900, and the week after is the lowest.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39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weekly series carries four shapes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read off a series before any rule is chosen?</a:t>
            </a:r>
          </a:p>
        </p:txBody>
      </p:sp>
      <p:pic>
        <p:nvPicPr>
          <p:cNvPr id="9" name="mermaid diagram" descr="C2_W04_D05_four_patterns_STUDENT.png"/>
          <p:cNvPicPr>
            <a:picLocks noChangeAspect="1"/>
          </p:cNvPicPr>
          <p:nvPr/>
        </p:nvPicPr>
        <p:blipFill>
          <a:blip r:embed="rId4"/>
          <a:stretch>
            <a:fillRect/>
          </a:stretch>
        </p:blipFill>
        <p:spPr>
          <a:xfrm>
            <a:off x="1796047" y="1664208"/>
            <a:ext cx="859960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shapes on invented numbers: trend, season, cycle and noise</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Read them in this order: the slow climb (trend), the yearly peak (season), the repeat inside a month (here, payday weeks) and what is left over (noise). A planner books against the first three and buys a cushion for the fourth. The numbers are invented so each shape stands alone.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each a single line of copying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simple forecasting rule copy from the past?</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1697149"/>
                <a:gridCol w="4800324"/>
                <a:gridCol w="4633517"/>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copies</a:t>
                      </a:r>
                    </a:p>
                  </a:txBody>
                  <a:tcPr marL="101600" marR="101600" marT="38100" marB="38100" anchor="ctr">
                    <a:solidFill>
                      <a:srgbClr val="1A0F5C"/>
                    </a:solidFill>
                  </a:tcPr>
                </a:tc>
                <a:tc>
                  <a:txBody>
                    <a:bodyPr/>
                    <a:lstStyle/>
                    <a:p>
                      <a:r>
                        <a:rPr sz="1450" b="1" i="0">
                          <a:solidFill>
                            <a:srgbClr val="FFFFFF"/>
                          </a:solidFill>
                          <a:latin typeface="Calibri"/>
                        </a:rPr>
                        <a:t>On a canteen's tea (invented)</a:t>
                      </a:r>
                    </a:p>
                  </a:txBody>
                  <a:tcPr marL="101600" marR="101600" marT="38100" marB="38100" anchor="ctr">
                    <a:solidFill>
                      <a:srgbClr val="1A0F5C"/>
                    </a:solidFill>
                  </a:tcPr>
                </a:tc>
              </a:tr>
              <a:tr h="611632">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The last value</a:t>
                      </a:r>
                    </a:p>
                  </a:txBody>
                  <a:tcPr marL="101600" marR="101600" marT="38100" marB="38100" anchor="ctr">
                    <a:solidFill>
                      <a:srgbClr val="FFFFFF"/>
                    </a:solidFill>
                  </a:tcPr>
                </a:tc>
                <a:tc>
                  <a:txBody>
                    <a:bodyPr/>
                    <a:lstStyle/>
                    <a:p>
                      <a:r>
                        <a:rPr sz="1400" b="0" i="0">
                          <a:solidFill>
                            <a:srgbClr val="1A1440"/>
                          </a:solidFill>
                          <a:latin typeface="Calibri"/>
                        </a:rPr>
                        <a:t>50, 52, 49 and 51 cups on four days, so tomorrow is 51</a:t>
                      </a:r>
                    </a:p>
                  </a:txBody>
                  <a:tcPr marL="101600" marR="101600" marT="38100" marB="38100" anchor="ctr">
                    <a:solidFill>
                      <a:srgbClr val="FFFFFF"/>
                    </a:solidFill>
                  </a:tcPr>
                </a:tc>
              </a:tr>
              <a:tr h="611632">
                <a:tc>
                  <a:txBody>
                    <a:bodyPr/>
                    <a:lstStyle/>
                    <a:p>
                      <a:r>
                        <a:rPr sz="1400" b="0" i="0">
                          <a:solidFill>
                            <a:srgbClr val="1A1440"/>
                          </a:solidFill>
                          <a:latin typeface="Calibri"/>
                        </a:rPr>
                        <a:t>Same week last year</a:t>
                      </a:r>
                    </a:p>
                  </a:txBody>
                  <a:tcPr marL="101600" marR="101600" marT="38100" marB="38100" anchor="ctr">
                    <a:solidFill>
                      <a:srgbClr val="F4F2FA"/>
                    </a:solidFill>
                  </a:tcPr>
                </a:tc>
                <a:tc>
                  <a:txBody>
                    <a:bodyPr/>
                    <a:lstStyle/>
                    <a:p>
                      <a:r>
                        <a:rPr sz="1400" b="0" i="0">
                          <a:solidFill>
                            <a:srgbClr val="1A1440"/>
                          </a:solidFill>
                          <a:latin typeface="Calibri"/>
                        </a:rPr>
                        <a:t>The same point one cycle back, here 52 weeks</a:t>
                      </a:r>
                    </a:p>
                  </a:txBody>
                  <a:tcPr marL="101600" marR="101600" marT="38100" marB="38100" anchor="ctr">
                    <a:solidFill>
                      <a:srgbClr val="F4F2FA"/>
                    </a:solidFill>
                  </a:tcPr>
                </a:tc>
                <a:tc>
                  <a:txBody>
                    <a:bodyPr/>
                    <a:lstStyle/>
                    <a:p>
                      <a:r>
                        <a:rPr sz="1400" b="0" i="0">
                          <a:solidFill>
                            <a:srgbClr val="1A1440"/>
                          </a:solidFill>
                          <a:latin typeface="Calibri"/>
                        </a:rPr>
                        <a:t>Sundays sell about 80, so next Sunday is 80</a:t>
                      </a:r>
                    </a:p>
                  </a:txBody>
                  <a:tcPr marL="101600" marR="101600" marT="38100" marB="38100" anchor="ctr">
                    <a:solidFill>
                      <a:srgbClr val="F4F2FA"/>
                    </a:solidFill>
                  </a:tcPr>
                </a:tc>
              </a:tr>
              <a:tr h="611632">
                <a:tc>
                  <a:txBody>
                    <a:bodyPr/>
                    <a:lstStyle/>
                    <a:p>
                      <a:r>
                        <a:rPr sz="1400" b="0" i="0">
                          <a:solidFill>
                            <a:srgbClr val="1A1440"/>
                          </a:solidFill>
                          <a:latin typeface="Calibri"/>
                        </a:rPr>
                        <a:t>Drift</a:t>
                      </a:r>
                    </a:p>
                  </a:txBody>
                  <a:tcPr marL="101600" marR="101600" marT="38100" marB="38100" anchor="ctr">
                    <a:solidFill>
                      <a:srgbClr val="FFFFFF"/>
                    </a:solidFill>
                  </a:tcPr>
                </a:tc>
                <a:tc>
                  <a:txBody>
                    <a:bodyPr/>
                    <a:lstStyle/>
                    <a:p>
                      <a:r>
                        <a:rPr sz="1400" b="0" i="0">
                          <a:solidFill>
                            <a:srgbClr val="1A1440"/>
                          </a:solidFill>
                          <a:latin typeface="Calibri"/>
                        </a:rPr>
                        <a:t>The straight line through the first and last values</a:t>
                      </a:r>
                    </a:p>
                  </a:txBody>
                  <a:tcPr marL="101600" marR="101600" marT="38100" marB="38100" anchor="ctr">
                    <a:solidFill>
                      <a:srgbClr val="FFFFFF"/>
                    </a:solidFill>
                  </a:tcPr>
                </a:tc>
                <a:tc>
                  <a:txBody>
                    <a:bodyPr/>
                    <a:lstStyle/>
                    <a:p>
                      <a:r>
                        <a:rPr sz="1400" b="0" i="0">
                          <a:solidFill>
                            <a:srgbClr val="1A1440"/>
                          </a:solidFill>
                          <a:latin typeface="Calibri"/>
                        </a:rPr>
                        <a:t>The average change added on</a:t>
                      </a:r>
                    </a:p>
                  </a:txBody>
                  <a:tcPr marL="101600" marR="101600" marT="38100" marB="38100" anchor="ctr">
                    <a:solidFill>
                      <a:srgbClr val="FFFFFF"/>
                    </a:solidFill>
                  </a:tcPr>
                </a:tc>
              </a:tr>
              <a:tr h="611632">
                <a:tc>
                  <a:txBody>
                    <a:bodyPr/>
                    <a:lstStyle/>
                    <a:p>
                      <a:r>
                        <a:rPr sz="1400" b="0" i="0">
                          <a:solidFill>
                            <a:srgbClr val="1A1440"/>
                          </a:solidFill>
                          <a:latin typeface="Calibri"/>
                        </a:rPr>
                        <a:t>Festival-aligned</a:t>
                      </a:r>
                    </a:p>
                  </a:txBody>
                  <a:tcPr marL="101600" marR="101600" marT="38100" marB="38100" anchor="ctr">
                    <a:solidFill>
                      <a:srgbClr val="F4F2FA"/>
                    </a:solidFill>
                  </a:tcPr>
                </a:tc>
                <a:tc>
                  <a:txBody>
                    <a:bodyPr/>
                    <a:lstStyle/>
                    <a:p>
                      <a:r>
                        <a:rPr sz="1400" b="0" i="0">
                          <a:solidFill>
                            <a:srgbClr val="1A1440"/>
                          </a:solidFill>
                          <a:latin typeface="Calibri"/>
                        </a:rPr>
                        <a:t>The week at the same distance from last year's Diwali, plus the year's growth</a:t>
                      </a:r>
                    </a:p>
                  </a:txBody>
                  <a:tcPr marL="101600" marR="101600" marT="38100" marB="38100" anchor="ctr">
                    <a:solidFill>
                      <a:srgbClr val="F4F2FA"/>
                    </a:solidFill>
                  </a:tcPr>
                </a:tc>
                <a:tc>
                  <a:txBody>
                    <a:bodyPr/>
                    <a:lstStyle/>
                    <a:p>
                      <a:r>
                        <a:rPr sz="1400" b="0" i="0">
                          <a:solidFill>
                            <a:srgbClr val="1A1440"/>
                          </a:solidFill>
                          <a:latin typeface="Calibri"/>
                        </a:rPr>
                        <a:t>No canteen version: it exists because the festival moves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39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lands closest on Diwali 2025's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From the week of 13 October 2025, which rule best forecasts the week of 20 October?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Repeat the week of 13 October 2025.</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Same week last year</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the week of 21 October 2024, 52 weeks back.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Copy Diwali 2024's own week, 28 October, and add 4 percent.</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within 10,000</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ahead, every rule is close.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39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within 124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rule forecast for the week of 20 October 2025, and by how much did it miss?</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2849462"/>
                <a:gridCol w="4419226"/>
                <a:gridCol w="1536093"/>
                <a:gridCol w="2326208"/>
              </a:tblGrid>
              <a:tr h="335280">
                <a:tc>
                  <a:txBody>
                    <a:bodyPr/>
                    <a:lstStyle/>
                    <a:p>
                      <a:r>
                        <a:rPr sz="1250" b="1" i="0">
                          <a:solidFill>
                            <a:srgbClr val="FFFFFF"/>
                          </a:solidFill>
                          <a:latin typeface="Calibri"/>
                        </a:rPr>
                        <a:t>Rule</a:t>
                      </a:r>
                    </a:p>
                  </a:txBody>
                  <a:tcPr marL="101600" marR="101600" marT="38100" marB="38100" anchor="ctr">
                    <a:solidFill>
                      <a:srgbClr val="1A0F5C"/>
                    </a:solidFill>
                  </a:tcPr>
                </a:tc>
                <a:tc>
                  <a:txBody>
                    <a:bodyPr/>
                    <a:lstStyle/>
                    <a:p>
                      <a:r>
                        <a:rPr sz="1250" b="1" i="0">
                          <a:solidFill>
                            <a:srgbClr val="FFFFFF"/>
                          </a:solidFill>
                          <a:latin typeface="Calibri"/>
                        </a:rPr>
                        <a:t>The week it copies</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Miss</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13 October 2025</a:t>
                      </a:r>
                    </a:p>
                  </a:txBody>
                  <a:tcPr marL="101600" marR="101600" marT="38100" marB="38100" anchor="ctr">
                    <a:solidFill>
                      <a:srgbClr val="FFFFFF"/>
                    </a:solidFill>
                  </a:tcPr>
                </a:tc>
                <a:tc>
                  <a:txBody>
                    <a:bodyPr/>
                    <a:lstStyle/>
                    <a:p>
                      <a:r>
                        <a:rPr sz="1200" b="0" i="0">
                          <a:solidFill>
                            <a:srgbClr val="1A1440"/>
                          </a:solidFill>
                          <a:latin typeface="Calibri"/>
                        </a:rPr>
                        <a:t>369,000</a:t>
                      </a:r>
                    </a:p>
                  </a:txBody>
                  <a:tcPr marL="101600" marR="101600" marT="38100" marB="38100" anchor="ctr">
                    <a:solidFill>
                      <a:srgbClr val="FFFFFF"/>
                    </a:solidFill>
                  </a:tcPr>
                </a:tc>
                <a:tc>
                  <a:txBody>
                    <a:bodyPr/>
                    <a:lstStyle/>
                    <a:p>
                      <a:r>
                        <a:rPr sz="1200" b="0" i="0">
                          <a:solidFill>
                            <a:srgbClr val="1A1440"/>
                          </a:solidFill>
                          <a:latin typeface="Calibri"/>
                        </a:rPr>
                        <a:t>60,100 too high</a:t>
                      </a:r>
                    </a:p>
                  </a:txBody>
                  <a:tcPr marL="101600" marR="101600" marT="38100" marB="38100" anchor="ctr">
                    <a:solidFill>
                      <a:srgbClr val="FFFFFF"/>
                    </a:solidFill>
                  </a:tcPr>
                </a:tc>
              </a:tr>
              <a:tr h="335280">
                <a:tc>
                  <a:txBody>
                    <a:bodyPr/>
                    <a:lstStyle/>
                    <a:p>
                      <a:r>
                        <a:rPr sz="1200" b="0" i="0">
                          <a:solidFill>
                            <a:srgbClr val="1A1440"/>
                          </a:solidFill>
                          <a:latin typeface="Calibri"/>
                        </a:rPr>
                        <a:t>Same week last year</a:t>
                      </a:r>
                    </a:p>
                  </a:txBody>
                  <a:tcPr marL="101600" marR="101600" marT="38100" marB="38100" anchor="ctr">
                    <a:solidFill>
                      <a:srgbClr val="F4F2FA"/>
                    </a:solidFill>
                  </a:tcPr>
                </a:tc>
                <a:tc>
                  <a:txBody>
                    <a:bodyPr/>
                    <a:lstStyle/>
                    <a:p>
                      <a:r>
                        <a:rPr sz="1200" b="0" i="0">
                          <a:solidFill>
                            <a:srgbClr val="1A1440"/>
                          </a:solidFill>
                          <a:latin typeface="Calibri"/>
                        </a:rPr>
                        <a:t>21 October 2024</a:t>
                      </a:r>
                    </a:p>
                  </a:txBody>
                  <a:tcPr marL="101600" marR="101600" marT="38100" marB="38100" anchor="ctr">
                    <a:solidFill>
                      <a:srgbClr val="F4F2FA"/>
                    </a:solidFill>
                  </a:tcPr>
                </a:tc>
                <a:tc>
                  <a:txBody>
                    <a:bodyPr/>
                    <a:lstStyle/>
                    <a:p>
                      <a:r>
                        <a:rPr sz="1200" b="0" i="0">
                          <a:solidFill>
                            <a:srgbClr val="1A1440"/>
                          </a:solidFill>
                          <a:latin typeface="Calibri"/>
                        </a:rPr>
                        <a:t>356,200</a:t>
                      </a:r>
                    </a:p>
                  </a:txBody>
                  <a:tcPr marL="101600" marR="101600" marT="38100" marB="38100" anchor="ctr">
                    <a:solidFill>
                      <a:srgbClr val="F4F2FA"/>
                    </a:solidFill>
                  </a:tcPr>
                </a:tc>
                <a:tc>
                  <a:txBody>
                    <a:bodyPr/>
                    <a:lstStyle/>
                    <a:p>
                      <a:r>
                        <a:rPr sz="1200" b="0" i="0">
                          <a:solidFill>
                            <a:srgbClr val="1A1440"/>
                          </a:solidFill>
                          <a:latin typeface="Calibri"/>
                        </a:rPr>
                        <a:t>47,300 too high</a:t>
                      </a:r>
                    </a:p>
                  </a:txBody>
                  <a:tcPr marL="101600" marR="101600" marT="38100" marB="38100" anchor="ctr">
                    <a:solidFill>
                      <a:srgbClr val="F4F2FA"/>
                    </a:solidFill>
                  </a:tcPr>
                </a:tc>
              </a:tr>
              <a:tr h="335280">
                <a:tc>
                  <a:txBody>
                    <a:bodyPr/>
                    <a:lstStyle/>
                    <a:p>
                      <a:r>
                        <a:rPr sz="1200" b="0" i="0">
                          <a:solidFill>
                            <a:srgbClr val="1A1440"/>
                          </a:solidFill>
                          <a:latin typeface="Calibri"/>
                        </a:rPr>
                        <a:t>Festival-aligned</a:t>
                      </a:r>
                    </a:p>
                  </a:txBody>
                  <a:tcPr marL="101600" marR="101600" marT="38100" marB="38100" anchor="ctr">
                    <a:solidFill>
                      <a:srgbClr val="FFFFFF"/>
                    </a:solidFill>
                  </a:tcPr>
                </a:tc>
                <a:tc>
                  <a:txBody>
                    <a:bodyPr/>
                    <a:lstStyle/>
                    <a:p>
                      <a:r>
                        <a:rPr sz="1200" b="0" i="0">
                          <a:solidFill>
                            <a:srgbClr val="1A1440"/>
                          </a:solidFill>
                          <a:latin typeface="Calibri"/>
                        </a:rPr>
                        <a:t>28 October 2024, plus 4 percent</a:t>
                      </a:r>
                    </a:p>
                  </a:txBody>
                  <a:tcPr marL="101600" marR="101600" marT="38100" marB="38100" anchor="ctr">
                    <a:solidFill>
                      <a:srgbClr val="FFFFFF"/>
                    </a:solidFill>
                  </a:tcPr>
                </a:tc>
                <a:tc>
                  <a:txBody>
                    <a:bodyPr/>
                    <a:lstStyle/>
                    <a:p>
                      <a:r>
                        <a:rPr sz="1200" b="0" i="0">
                          <a:solidFill>
                            <a:srgbClr val="1A1440"/>
                          </a:solidFill>
                          <a:latin typeface="Calibri"/>
                        </a:rPr>
                        <a:t>308,776</a:t>
                      </a:r>
                    </a:p>
                  </a:txBody>
                  <a:tcPr marL="101600" marR="101600" marT="38100" marB="38100" anchor="ctr">
                    <a:solidFill>
                      <a:srgbClr val="FFFFFF"/>
                    </a:solidFill>
                  </a:tcPr>
                </a:tc>
                <a:tc>
                  <a:txBody>
                    <a:bodyPr/>
                    <a:lstStyle/>
                    <a:p>
                      <a:r>
                        <a:rPr sz="1200" b="0" i="0">
                          <a:solidFill>
                            <a:srgbClr val="1A1440"/>
                          </a:solidFill>
                          <a:latin typeface="Calibri"/>
                        </a:rPr>
                        <a:t>124 too low</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308,900 shipped. The week 52 weeks back looks like "the same week", but in 2024 it was the week before Diwali, and the week before Diwali ships more than Diwali's own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39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of last year lands 2025's peak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same-week-last-year copy put the peak when Diwali moves?</a:t>
            </a:r>
          </a:p>
        </p:txBody>
      </p:sp>
      <p:pic>
        <p:nvPicPr>
          <p:cNvPr id="9" name="mermaid diagram" descr="C2_W04_D05_festival_plot_STUDENT.png"/>
          <p:cNvPicPr>
            <a:picLocks noChangeAspect="1"/>
          </p:cNvPicPr>
          <p:nvPr/>
        </p:nvPicPr>
        <p:blipFill>
          <a:blip r:embed="rId4"/>
          <a:stretch>
            <a:fillRect/>
          </a:stretch>
        </p:blipFill>
        <p:spPr>
          <a:xfrm>
            <a:off x="2270101" y="1664208"/>
            <a:ext cx="7651492"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years by date and by weeks from Diwali</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plausible wrong number. </a:t>
            </a:r>
            <a:r>
              <a:rPr sz="1100" b="0" i="0">
                <a:solidFill>
                  <a:srgbClr val="1A1440"/>
                </a:solidFill>
                <a:latin typeface="Calibri"/>
              </a:rPr>
              <a:t>The copy books 401,000 for the week of 13 October 2025, its biggest week, while 369,000 shipped; the real peak, 418,200 on 6 October, gets 312,900. </a:t>
            </a:r>
            <a:r>
              <a:rPr sz="1100" b="1" i="0">
                <a:solidFill>
                  <a:srgbClr val="1A1440"/>
                </a:solidFill>
                <a:latin typeface="Calibri"/>
              </a:rPr>
              <a:t>The decision it misleads:</a:t>
            </a:r>
            <a:r>
              <a:rPr sz="1100" b="0" i="0">
                <a:solidFill>
                  <a:srgbClr val="1A1440"/>
                </a:solidFill>
                <a:latin typeface="Calibri"/>
              </a:rPr>
              <a:t> the most packers booked a week after the rush. </a:t>
            </a:r>
            <a:r>
              <a:rPr sz="1100" b="1" i="0">
                <a:solidFill>
                  <a:srgbClr val="1A1440"/>
                </a:solidFill>
                <a:latin typeface="Calibri"/>
              </a:rPr>
              <a:t>The check:</a:t>
            </a:r>
            <a:r>
              <a:rPr sz="1100" b="0" i="0">
                <a:solidFill>
                  <a:srgbClr val="1A1440"/>
                </a:solidFill>
                <a:latin typeface="Calibri"/>
              </a:rPr>
              <a:t> line the years up by weeks from Diwali, as on the right. </a:t>
            </a:r>
            <a:r>
              <a:rPr sz="1100" b="1" i="0">
                <a:solidFill>
                  <a:srgbClr val="1A1440"/>
                </a:solidFill>
                <a:latin typeface="Calibri"/>
              </a:rPr>
              <a:t>The fix:</a:t>
            </a:r>
            <a:r>
              <a:rPr sz="1100" b="0" i="0">
                <a:solidFill>
                  <a:srgbClr val="1A1440"/>
                </a:solidFill>
                <a:latin typeface="Calibri"/>
              </a:rPr>
              <a:t> festival-aligned.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6" name="Oval 15"/>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39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2026 Diwali's week moves two weeks later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fall in 2026, against the two years the rules copy?</a:t>
            </a:r>
          </a:p>
        </p:txBody>
      </p:sp>
      <p:pic>
        <p:nvPicPr>
          <p:cNvPr id="9" name="mermaid diagram" descr="C2_W04_D05_festival_calendar_open_STUDENT.png"/>
          <p:cNvPicPr>
            <a:picLocks noChangeAspect="1"/>
          </p:cNvPicPr>
          <p:nvPr/>
        </p:nvPicPr>
        <p:blipFill>
          <a:blip r:embed="rId4"/>
          <a:stretch>
            <a:fillRect/>
          </a:stretch>
        </p:blipFill>
        <p:spPr>
          <a:xfrm>
            <a:off x="1303486" y="1664208"/>
            <a:ext cx="958472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Diwali's week in 2024, 2025 and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2026 falls on Sunday 8 November, so its week begins 2 November, 54 weeks after Diwali 2025's week and two weeks later in the calendar. Hold one question for round three: where will a copy of last year put this year's rush?</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39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books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decisions does a festive forecast feed?</a:t>
            </a:r>
          </a:p>
        </p:txBody>
      </p:sp>
      <p:graphicFrame>
        <p:nvGraphicFramePr>
          <p:cNvPr id="9" name="Table 8"/>
          <p:cNvGraphicFramePr>
            <a:graphicFrameLocks noGrp="1"/>
          </p:cNvGraphicFramePr>
          <p:nvPr/>
        </p:nvGraphicFramePr>
        <p:xfrm>
          <a:off x="530352" y="1956816"/>
          <a:ext cx="11130990" cy="2076704"/>
        </p:xfrm>
        <a:graphic>
          <a:graphicData uri="http://schemas.openxmlformats.org/drawingml/2006/table">
            <a:tbl>
              <a:tblPr firstRow="0" bandRow="0">
                <a:tableStyleId>{2D5ABB26-0587-4C30-8999-92F81FD0307C}</a:tableStyleId>
              </a:tblPr>
              <a:tblGrid>
                <a:gridCol w="4534868"/>
                <a:gridCol w="6596122"/>
              </a:tblGrid>
              <a:tr h="853440">
                <a:tc>
                  <a:txBody>
                    <a:bodyPr/>
                    <a:lstStyle/>
                    <a:p>
                      <a:r>
                        <a:rPr sz="1450" b="1" i="0">
                          <a:solidFill>
                            <a:srgbClr val="FFFFFF"/>
                          </a:solidFill>
                          <a:latin typeface="Calibri"/>
                        </a:rPr>
                        <a:t>What Flipkart said (6 October 2026)</a:t>
                      </a:r>
                    </a:p>
                  </a:txBody>
                  <a:tcPr marL="101600" marR="101600" marT="38100" marB="38100" anchor="ctr">
                    <a:solidFill>
                      <a:srgbClr val="1A0F5C"/>
                    </a:solidFill>
                  </a:tcPr>
                </a:tc>
                <a:tc>
                  <a:txBody>
                    <a:bodyPr/>
                    <a:lstStyle/>
                    <a:p>
                      <a:r>
                        <a:rPr sz="1450" b="1" i="0">
                          <a:solidFill>
                            <a:srgbClr val="FFFFFF"/>
                          </a:solidFill>
                          <a:latin typeface="Calibri"/>
                        </a:rPr>
                        <a:t>Ekart added 14 million cubic feet of warehousing space ahead of The Big Billion Days, and more than 2.5 lakh direct and indirect jobs were created for the festive season (F6, checked 12 October 2026)</a:t>
                      </a:r>
                    </a:p>
                  </a:txBody>
                  <a:tcPr marL="101600" marR="101600" marT="38100" marB="38100" anchor="ctr">
                    <a:solidFill>
                      <a:srgbClr val="1A0F5C"/>
                    </a:solidFill>
                  </a:tcPr>
                </a:tc>
              </a:tr>
              <a:tr h="611632">
                <a:tc>
                  <a:txBody>
                    <a:bodyPr/>
                    <a:lstStyle/>
                    <a:p>
                      <a:r>
                        <a:rPr sz="1400" b="0" i="0">
                          <a:solidFill>
                            <a:srgbClr val="1A1440"/>
                          </a:solidFill>
                          <a:latin typeface="Calibri"/>
                        </a:rPr>
                        <a:t>When it was decided</a:t>
                      </a:r>
                    </a:p>
                  </a:txBody>
                  <a:tcPr marL="101600" marR="101600" marT="38100" marB="38100" anchor="ctr">
                    <a:solidFill>
                      <a:srgbClr val="FFFFFF"/>
                    </a:solidFill>
                  </a:tcPr>
                </a:tc>
                <a:tc>
                  <a:txBody>
                    <a:bodyPr/>
                    <a:lstStyle/>
                    <a:p>
                      <a:r>
                        <a:rPr sz="1400" b="0" i="0">
                          <a:solidFill>
                            <a:srgbClr val="1A1440"/>
                          </a:solidFill>
                          <a:latin typeface="Calibri"/>
                        </a:rPr>
                        <a:t>Before the sale opened on 9 October 2026, so the space and the people rested on a forecast made weeks earlier</a:t>
                      </a:r>
                    </a:p>
                  </a:txBody>
                  <a:tcPr marL="101600" marR="101600" marT="38100" marB="38100" anchor="ctr">
                    <a:solidFill>
                      <a:srgbClr val="FFFFFF"/>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4F2FA"/>
                    </a:solidFill>
                  </a:tcPr>
                </a:tc>
                <a:tc>
                  <a:txBody>
                    <a:bodyPr/>
                    <a:lstStyle/>
                    <a:p>
                      <a:r>
                        <a:rPr sz="1400" b="0" i="0">
                          <a:solidFill>
                            <a:srgbClr val="1A1440"/>
                          </a:solidFill>
                          <a:latin typeface="Calibri"/>
                        </a:rPr>
                        <a:t>Whether the forecast behind the booking beat a simple copy of last year, and whether it put the festival in the right week</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the peak sits two weeks before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counting twelve weeks by hand settle, and what does it leave open?</a:t>
            </a:r>
          </a:p>
        </p:txBody>
      </p:sp>
      <p:pic>
        <p:nvPicPr>
          <p:cNvPr id="9" name="mermaid diagram" descr="884ca1f92b39cb75.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One week cannot crown a rule. </a:t>
            </a:r>
            <a:r>
              <a:rPr sz="1600" b="1" i="0">
                <a:solidFill>
                  <a:srgbClr val="1A1440"/>
                </a:solidFill>
                <a:latin typeface="Calibri"/>
              </a:rPr>
              <a:t>Say it to a shift supervisor:</a:t>
            </a:r>
            <a:r>
              <a:rPr sz="1600" b="0" i="0">
                <a:solidFill>
                  <a:srgbClr val="1A1440"/>
                </a:solidFill>
                <a:latin typeface="Calibri"/>
              </a:rPr>
              <a:t> the computer copied last year's dates, and the festival moved, so its busiest week came at the wrong time. On Walmart's M5 data the same-period copy scored 0.847 against 1.752 for the naive, lower being better (F2, checked 12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39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rule wins on hidden weeks?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each rule score on the thirteen weeks it never saw, which way is each wrong, and what does each direction cost?</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39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score,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must say yes or no to the vendor's plus 22 percent before a single shift is booked.</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HIDE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weeks?</a:t>
            </a:r>
          </a:p>
        </p:txBody>
      </p:sp>
      <p:sp>
        <p:nvSpPr>
          <p:cNvPr id="17" name="TextBox 16"/>
          <p:cNvSpPr txBox="1"/>
          <p:nvPr/>
        </p:nvSpPr>
        <p:spPr>
          <a:xfrm>
            <a:off x="694944"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last thirteen, forecast from one week.</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COUNT</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a miss counted?</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average miss in shipments.</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SCORE</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rule wins?</a:t>
            </a:r>
          </a:p>
        </p:txBody>
      </p:sp>
      <p:sp>
        <p:nvSpPr>
          <p:cNvPr id="27" name="TextBox 26"/>
          <p:cNvSpPr txBox="1"/>
          <p:nvPr/>
        </p:nvSpPr>
        <p:spPr>
          <a:xfrm>
            <a:off x="5220492"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rules on the hidden weeks.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FIT</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What does a fit say?</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vendor on weeks it never saw.</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PRICE</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do misses cost?</a:t>
            </a:r>
          </a:p>
        </p:txBody>
      </p:sp>
      <p:sp>
        <p:nvSpPr>
          <p:cNvPr id="37" name="TextBox 36"/>
          <p:cNvSpPr txBox="1"/>
          <p:nvPr/>
        </p:nvSpPr>
        <p:spPr>
          <a:xfrm>
            <a:off x="9746040" y="4250182"/>
            <a:ext cx="1750710" cy="366776"/>
          </a:xfrm>
          <a:prstGeom prst="rect">
            <a:avLst/>
          </a:prstGeom>
          <a:noFill/>
        </p:spPr>
        <p:txBody>
          <a:bodyPr wrap="square" anchor="t" lIns="0" rIns="0" tIns="0" bIns="0">
            <a:spAutoFit/>
          </a:bodyPr>
          <a:lstStyle/>
          <a:p>
            <a:pPr algn="l"/>
            <a:r>
              <a:rPr sz="1000" b="0" i="0">
                <a:solidFill>
                  <a:srgbClr val="CFC9EE"/>
                </a:solidFill>
                <a:latin typeface="Calibri"/>
              </a:rPr>
              <a:t>Rs 25 short, Rs 5.42 spare.</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42" name="Oval 41"/>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Hide the last thirteen weeks, forecast from 22 June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the test hide, and from which week is every forecast made?</a:t>
            </a:r>
          </a:p>
        </p:txBody>
      </p:sp>
      <p:pic>
        <p:nvPicPr>
          <p:cNvPr id="9" name="mermaid diagram" descr="C2_W04_D05_actual_series_STUDENT.png"/>
          <p:cNvPicPr>
            <a:picLocks noChangeAspect="1"/>
          </p:cNvPicPr>
          <p:nvPr/>
        </p:nvPicPr>
        <p:blipFill>
          <a:blip r:embed="rId4"/>
          <a:stretch>
            <a:fillRect/>
          </a:stretch>
        </p:blipFill>
        <p:spPr>
          <a:xfrm>
            <a:off x="2316106" y="1664208"/>
            <a:ext cx="755948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with the hold-out shaded</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plan covers eight weeks, so the test hides more: the thirteen weeks from 29 June to 21 September 2026. Every rule forecasts all thirteen from the week of 22 June, as a planner standing there would have. Forecasting: Principles and Practice puts it this way: the test set should be at least as large as the forecast horizon (FPP3, section 5.8, checked 12 October 2026).</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the average miss, counted in shipments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number made from thirteen misses, and why shipments?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8.3</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MAE ON THREE INVENTED WEEKS</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misses of 10, 5 and 10 shipments, one of them too low: (10 + 5 + 10) / 3</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shipments</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UNIT</a:t>
            </a:r>
          </a:p>
        </p:txBody>
      </p:sp>
      <p:sp>
        <p:nvSpPr>
          <p:cNvPr id="15" name="TextBox 14"/>
          <p:cNvSpPr txBox="1"/>
          <p:nvPr/>
        </p:nvSpPr>
        <p:spPr>
          <a:xfrm>
            <a:off x="433212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a miss is priced per shipment, so the score stays in shipments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fixed first</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RULE</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measure is chosen before anyone sees a score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Mean absolute error drops each miss's sign and averages. A percentage error would hide the size of a miss: the same percent is twice the shipments in a peak week. The sign comes back on S22.</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rule scores lowest on hidden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rule misses least on thirteen weeks it never saw?</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Repeat the week of 22 June.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Drift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 from the first week through 22 June.</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Copy the same week of 2025.</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bot plus 4 percent here, tied with finance's rule.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festival-aligned and finance tie, 6,615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each rule score on the thirteen hidden weeks?</a:t>
            </a:r>
          </a:p>
        </p:txBody>
      </p:sp>
      <p:pic>
        <p:nvPicPr>
          <p:cNvPr id="9" name="mermaid diagram" descr="C2_W04_D05_baselines_panel_STUDENT.png"/>
          <p:cNvPicPr>
            <a:picLocks noChangeAspect="1"/>
          </p:cNvPicPr>
          <p:nvPr/>
        </p:nvPicPr>
        <p:blipFill>
          <a:blip r:embed="rId4"/>
          <a:stretch>
            <a:fillRect/>
          </a:stretch>
        </p:blipFill>
        <p:spPr>
          <a:xfrm>
            <a:off x="1197957" y="1664208"/>
            <a:ext cx="9795780"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rule against the actual on the hidden weeks, with its MAE</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0" i="0">
                <a:solidFill>
                  <a:srgbClr val="1A1440"/>
                </a:solidFill>
                <a:latin typeface="Calibri"/>
              </a:rPr>
              <a:t>Festival-aligned and finance's rule miss by 6,615 shipments a week, the house bot by 9,831, drift by 14,842 and naive by 14,923. The tie is honest: no hidden week lies within five weeks of a Diwali, so both rules copy the same week of 2025 and add the same 4 percent. They part only in the festive weeks, which this test does not hold.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a curve that fits history beat the bot?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vendor's curve sits within 2 percent of every week it was fitted to. Will it beat the house bot on the hidden weeks?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by a wide margin</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model that close to history has learned the series.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Yes, narrowly</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knows the season the bot copies.</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it loses to the bot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fit is drawn through weeks it has seen.</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ties festival-aligned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Both end near 6,615.</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39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it misses by 16,400 a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vendor's fit say about its forecast?</a:t>
            </a:r>
          </a:p>
        </p:txBody>
      </p:sp>
      <p:pic>
        <p:nvPicPr>
          <p:cNvPr id="9" name="mermaid diagram" descr="C2_W04_D05_fit_vs_forecast_STUDENT.png"/>
          <p:cNvPicPr>
            <a:picLocks noChangeAspect="1"/>
          </p:cNvPicPr>
          <p:nvPr/>
        </p:nvPicPr>
        <p:blipFill>
          <a:blip r:embed="rId4"/>
          <a:stretch>
            <a:fillRect/>
          </a:stretch>
        </p:blipFill>
        <p:spPr>
          <a:xfrm>
            <a:off x="2194549" y="1664208"/>
            <a:ext cx="7802595"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vendor's misses: fitted weeks within 2 percent, hidden weeks too high</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number: </a:t>
            </a:r>
            <a:r>
              <a:rPr sz="1500" b="0" i="0">
                <a:solidFill>
                  <a:srgbClr val="1A1440"/>
                </a:solidFill>
                <a:latin typeface="Calibri"/>
              </a:rPr>
              <a:t>"within 1.4 percent of every week, so its plus 22 can be trusted." </a:t>
            </a:r>
            <a:r>
              <a:rPr sz="1500" b="1" i="0">
                <a:solidFill>
                  <a:srgbClr val="1A1440"/>
                </a:solidFill>
                <a:latin typeface="Calibri"/>
              </a:rPr>
              <a:t>The decision it misleads:</a:t>
            </a:r>
            <a:r>
              <a:rPr sz="1500" b="0" i="0">
                <a:solidFill>
                  <a:srgbClr val="1A1440"/>
                </a:solidFill>
                <a:latin typeface="Calibri"/>
              </a:rPr>
              <a:t> a plan 22 percent above last year. </a:t>
            </a:r>
            <a:r>
              <a:rPr sz="1500" b="1" i="0">
                <a:solidFill>
                  <a:srgbClr val="1A1440"/>
                </a:solidFill>
                <a:latin typeface="Calibri"/>
              </a:rPr>
              <a:t>The check:</a:t>
            </a:r>
            <a:r>
              <a:rPr sz="1500" b="0" i="0">
                <a:solidFill>
                  <a:srgbClr val="1A1440"/>
                </a:solidFill>
                <a:latin typeface="Calibri"/>
              </a:rPr>
              <a:t> its error on weeks it never saw, 16,400 a week, 67 percent worse than the house bot. </a:t>
            </a:r>
            <a:r>
              <a:rPr sz="1500" b="1" i="0">
                <a:solidFill>
                  <a:srgbClr val="1A1440"/>
                </a:solidFill>
                <a:latin typeface="Calibri"/>
              </a:rPr>
              <a:t>The fix:</a:t>
            </a:r>
            <a:r>
              <a:rPr sz="1500" b="0" i="0">
                <a:solidFill>
                  <a:srgbClr val="1A1440"/>
                </a:solidFill>
                <a:latin typeface="Calibri"/>
              </a:rPr>
              <a:t> nothing goes to the plan unless it beats the bot there.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6" name="Oval 15"/>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8" name="Oval 17"/>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39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Whose misses cost least, once priced?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late shipment costs Rs 25 and a spare one Rs 5.42. Whose thirteen misses cost the least?</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Festival-aligned</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lowest MAE, 6,615.</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vendor</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highest MAE, 16,400.</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house bot</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9,831.</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Naive</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MAE 14,923.</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39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vendor's, at Rs 11.9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same misses cost in rupees, and why does the order change?</a:t>
            </a:r>
          </a:p>
        </p:txBody>
      </p:sp>
      <p:pic>
        <p:nvPicPr>
          <p:cNvPr id="9" name="mermaid diagram" descr="C2_W04_D05_scoreboard_STUDENT.png"/>
          <p:cNvPicPr>
            <a:picLocks noChangeAspect="1"/>
          </p:cNvPicPr>
          <p:nvPr/>
        </p:nvPicPr>
        <p:blipFill>
          <a:blip r:embed="rId4"/>
          <a:stretch>
            <a:fillRect/>
          </a:stretch>
        </p:blipFill>
        <p:spPr>
          <a:xfrm>
            <a:off x="1984655" y="1664208"/>
            <a:ext cx="8222384"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MAE beside the same misses priced in rupees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vendor errs high on 12 of 13 weeks, and spare capacity is the cheap kind of miss: Rs 11.9 lakh against Rs 13.5 lakh for festival-aligned. The house bot errs low on 11 of 13 weeks and costs Rs 30.5 lakh, more than naive's Rs 28.8 lakh, with a lower MAE. Priced, a forecast that errs high can cost less than one that misses less.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6" name="Oval 1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Cheap misses do not win the vendor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its misses cost least, why does the vendor's curve still lose the plan?</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uler_ec66f5961a9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UNSIZED</a:t>
            </a:r>
          </a:p>
        </p:txBody>
      </p:sp>
      <p:sp>
        <p:nvSpPr>
          <p:cNvPr id="13" name="TextBox 12"/>
          <p:cNvSpPr txBox="1"/>
          <p:nvPr/>
        </p:nvSpPr>
        <p:spPr>
          <a:xfrm>
            <a:off x="731519"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Its lean was never chosen</a:t>
            </a:r>
          </a:p>
        </p:txBody>
      </p:sp>
      <p:sp>
        <p:nvSpPr>
          <p:cNvPr id="14" name="TextBox 13"/>
          <p:cNvSpPr txBox="1"/>
          <p:nvPr/>
        </p:nvSpPr>
        <p:spPr>
          <a:xfrm>
            <a:off x="731519"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Nobody set how high it runs, so nobody knows how high it will run in October.</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GROWING</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It climbs with the weeks ahead</a:t>
            </a:r>
          </a:p>
        </p:txBody>
      </p:sp>
      <p:sp>
        <p:nvSpPr>
          <p:cNvPr id="20" name="TextBox 19"/>
          <p:cNvSpPr txBox="1"/>
          <p:nvPr/>
        </p:nvSpPr>
        <p:spPr>
          <a:xfrm>
            <a:off x="3559987" y="3534664"/>
            <a:ext cx="2243251" cy="581406"/>
          </a:xfrm>
          <a:prstGeom prst="rect">
            <a:avLst/>
          </a:prstGeom>
          <a:noFill/>
        </p:spPr>
        <p:txBody>
          <a:bodyPr wrap="square" anchor="t" lIns="0" rIns="0" tIns="0" bIns="0">
            <a:spAutoFit/>
          </a:bodyPr>
          <a:lstStyle/>
          <a:p>
            <a:pPr algn="l"/>
            <a:r>
              <a:rPr sz="1100" b="0" i="0">
                <a:solidFill>
                  <a:srgbClr val="6B6690"/>
                </a:solidFill>
                <a:latin typeface="Calibri"/>
              </a:rPr>
              <a:t>3.6 percent too high in the first six hidden weeks, 11.5 percent in the last six.</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x_d5f63e57421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UNTESTED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festival in the test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festive weeks it copies 2025's calendar, the wrong weeks.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adge-check_df01016c75a5.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FIX</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Lean high on purpose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Raise festival-aligned by an amount the two costs set, which chapter 3 sizes.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37" name="Oval 36"/>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39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85,996 missed, over 13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scoreboard's 6,615 survive a count by hand from the printed misses?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40,748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HIGH</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 above the actual, summed over its 6 high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45,248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SHIPMENTS TOO LOW</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below the actual, summed over the other 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6,615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WEEK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(40,748 + 45,248) / 13 = 85,996 / 13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6,615 from a table anyone can add up. The split also says the forecast leans neither way here: 6 weeks high, 7 low.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4" name="Oval 23"/>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26" name="Oval 25"/>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fit is not forecast; price the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hidden weeks settle, and what can they not test?</a:t>
            </a:r>
          </a:p>
        </p:txBody>
      </p:sp>
      <p:pic>
        <p:nvPicPr>
          <p:cNvPr id="9" name="mermaid diagram" descr="b5f209d7546b7c0f.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1,045 monthly series, the methods that best fitted the past did not necessarily forecast better, and a seasonal copy beat half the machine-learning methods (Makridakis and others, PLOS ONE, 2018, F1, checked 12 October 2026). </a:t>
            </a:r>
            <a:r>
              <a:rPr sz="1600" b="1" i="0">
                <a:solidFill>
                  <a:srgbClr val="1A1440"/>
                </a:solidFill>
                <a:latin typeface="Calibri"/>
              </a:rPr>
              <a:t>Say it in one line:</a:t>
            </a:r>
            <a:r>
              <a:rPr sz="1600" b="0" i="0">
                <a:solidFill>
                  <a:srgbClr val="1A1440"/>
                </a:solidFill>
                <a:latin typeface="Calibri"/>
              </a:rPr>
              <a:t> score on weeks the model never saw, in the unit you pay in, against a copy of last year.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rule wins on hidden weeks?</a:t>
            </a:r>
          </a:p>
        </p:txBody>
      </p:sp>
      <p:sp>
        <p:nvSpPr>
          <p:cNvPr id="15" name="Oval 14"/>
          <p:cNvSpPr/>
          <p:nvPr/>
        </p:nvSpPr>
        <p:spPr>
          <a:xfrm>
            <a:off x="42876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forecast books the shifts?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goes to the plan, how many packer shifts a week, and what does being wrong cost in each direction?</a:t>
            </a:r>
          </a:p>
        </p:txBody>
      </p:sp>
      <p:sp>
        <p:nvSpPr>
          <p:cNvPr id="10" name="Rounded Rectangle 9"/>
          <p:cNvSpPr/>
          <p:nvPr/>
        </p:nvSpPr>
        <p:spPr>
          <a:xfrm>
            <a:off x="73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weeks have?</a:t>
            </a:r>
          </a:p>
        </p:txBody>
      </p:sp>
      <p:sp>
        <p:nvSpPr>
          <p:cNvPr id="11" name="Rounded Rectangle 10"/>
          <p:cNvSpPr/>
          <p:nvPr/>
        </p:nvSpPr>
        <p:spPr>
          <a:xfrm>
            <a:off x="2924271"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rule wins on hidden weeks?</a:t>
            </a:r>
          </a:p>
        </p:txBody>
      </p:sp>
      <p:sp>
        <p:nvSpPr>
          <p:cNvPr id="12" name="Rounded Rectangle 11"/>
          <p:cNvSpPr/>
          <p:nvPr/>
        </p:nvSpPr>
        <p:spPr>
          <a:xfrm>
            <a:off x="518283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forecast books the shifts?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2" name="TextBox 21"/>
          <p:cNvSpPr txBox="1"/>
          <p:nvPr/>
        </p:nvSpPr>
        <p:spPr>
          <a:xfrm>
            <a:off x="2957718"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LEVEL</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How far above?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cushion two costs justify.</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251205"/>
          </a:xfrm>
          <a:prstGeom prst="rect">
            <a:avLst/>
          </a:prstGeom>
          <a:noFill/>
        </p:spPr>
        <p:txBody>
          <a:bodyPr wrap="square" anchor="t" lIns="0" rIns="0" tIns="0" bIns="0">
            <a:spAutoFit/>
          </a:bodyPr>
          <a:lstStyle/>
          <a:p>
            <a:pPr algn="l"/>
            <a:r>
              <a:rPr sz="1300" b="1" i="0">
                <a:solidFill>
                  <a:srgbClr val="FFFFFF"/>
                </a:solidFill>
                <a:latin typeface="Calibri"/>
              </a:rPr>
              <a:t>How many shifts?</a:t>
            </a:r>
          </a:p>
        </p:txBody>
      </p:sp>
      <p:sp>
        <p:nvSpPr>
          <p:cNvPr id="37" name="TextBox 36"/>
          <p:cNvSpPr txBox="1"/>
          <p:nvPr/>
        </p:nvSpPr>
        <p:spPr>
          <a:xfrm>
            <a:off x="9746040" y="4250182"/>
            <a:ext cx="1750710" cy="201676"/>
          </a:xfrm>
          <a:prstGeom prst="rect">
            <a:avLst/>
          </a:prstGeom>
          <a:noFill/>
        </p:spPr>
        <p:txBody>
          <a:bodyPr wrap="square" anchor="t" lIns="0" rIns="0" tIns="0" bIns="0">
            <a:spAutoFit/>
          </a:bodyPr>
          <a:lstStyle/>
          <a:p>
            <a:pPr algn="l"/>
            <a:r>
              <a:rPr sz="1000" b="0" i="0">
                <a:solidFill>
                  <a:srgbClr val="CFC9EE"/>
                </a:solidFill>
                <a:latin typeface="Calibri"/>
              </a:rPr>
              <a:t>Eight weeks, priced.</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40" name="Oval 39"/>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42" name="Oval 41"/>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39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week 2025's peak lands on, copied 52 weeks on.</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35" name="Oval 34"/>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7" name="Oval 36"/>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39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39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house bot missed 2025's eight festive weeks by 58,250 a week: Rs 79.8 lakh, Rs 69.6 lakh of it late shipments in the weeks the rush came early. Festival-aligned missed by 4,034 a week, Rs 4.6 lakh. One festival is thin evidence, so it settles placement and leaves the size of the error open.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39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measure different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level</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it sits 308,048 shipments below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39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Being short costs 4.6 times being long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above the forecast should the plan sit, and why above?</a:t>
            </a:r>
          </a:p>
        </p:txBody>
      </p:sp>
      <p:pic>
        <p:nvPicPr>
          <p:cNvPr id="9" name="mermaid diagram" descr="C2_W04_D05_cost_curve_STUDENT.png"/>
          <p:cNvPicPr>
            <a:picLocks noChangeAspect="1"/>
          </p:cNvPicPr>
          <p:nvPr/>
        </p:nvPicPr>
        <p:blipFill>
          <a:blip r:embed="rId4"/>
          <a:stretch>
            <a:fillRect/>
          </a:stretch>
        </p:blipFill>
        <p:spPr>
          <a:xfrm>
            <a:off x="2557218" y="1664208"/>
            <a:ext cx="707725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Expected cost of a week's plan against its level</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 shipment of spare capacity costs Rs 650 / 120 = Rs 5.42; a shipment short costs Rs 25. The cheapest plan covers demand in 25 / (25 + 5.42), about 0.82, of weeks. Festival-aligned's hidden-week misses put that at 2.6 percent above the forecast: demand beat the forecast by more in 18 percent of the hidden weeks.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4" name="Oval 13"/>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6" name="Oval 15"/>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20,275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682496"/>
          <a:ext cx="11130990" cy="3017520"/>
        </p:xfrm>
        <a:graphic>
          <a:graphicData uri="http://schemas.openxmlformats.org/drawingml/2006/table">
            <a:tbl>
              <a:tblPr firstRow="0" bandRow="0">
                <a:tableStyleId>{2D5ABB26-0587-4C30-8999-92F81FD0307C}</a:tableStyleId>
              </a:tblPr>
              <a:tblGrid>
                <a:gridCol w="914400"/>
                <a:gridCol w="2123058"/>
                <a:gridCol w="4957996"/>
                <a:gridCol w="3135536"/>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Forecast</a:t>
                      </a:r>
                    </a:p>
                  </a:txBody>
                  <a:tcPr marL="101600" marR="101600" marT="38100" marB="38100" anchor="ctr">
                    <a:solidFill>
                      <a:srgbClr val="1A0F5C"/>
                    </a:solidFill>
                  </a:tcPr>
                </a:tc>
                <a:tc>
                  <a:txBody>
                    <a:bodyPr/>
                    <a:lstStyle/>
                    <a:p>
                      <a:r>
                        <a:rPr sz="1250" b="1" i="0">
                          <a:solidFill>
                            <a:srgbClr val="FFFFFF"/>
                          </a:solidFill>
                          <a:latin typeface="Calibri"/>
                        </a:rPr>
                        <a:t>Plan, plus 2.6 percent</a:t>
                      </a:r>
                    </a:p>
                  </a:txBody>
                  <a:tcPr marL="101600" marR="101600" marT="38100" marB="38100" anchor="ctr">
                    <a:solidFill>
                      <a:srgbClr val="1A0F5C"/>
                    </a:solidFill>
                  </a:tcPr>
                </a:tc>
                <a:tc>
                  <a:txBody>
                    <a:bodyPr/>
                    <a:lstStyle/>
                    <a:p>
                      <a:r>
                        <a:rPr sz="1250" b="1" i="0">
                          <a:solidFill>
                            <a:srgbClr val="FFFFFF"/>
                          </a:solidFill>
                          <a:latin typeface="Calibri"/>
                        </a:rPr>
                        <a:t>Packer shifts</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353,404</a:t>
                      </a:r>
                    </a:p>
                  </a:txBody>
                  <a:tcPr marL="101600" marR="101600" marT="38100" marB="38100" anchor="ctr">
                    <a:solidFill>
                      <a:srgbClr val="FFFFFF"/>
                    </a:solidFill>
                  </a:tcPr>
                </a:tc>
                <a:tc>
                  <a:txBody>
                    <a:bodyPr/>
                    <a:lstStyle/>
                    <a:p>
                      <a:r>
                        <a:rPr sz="1200" b="0" i="0">
                          <a:solidFill>
                            <a:srgbClr val="1A1440"/>
                          </a:solidFill>
                          <a:latin typeface="Calibri"/>
                        </a:rPr>
                        <a:t>2,946</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446,236</a:t>
                      </a:r>
                    </a:p>
                  </a:txBody>
                  <a:tcPr marL="101600" marR="101600" marT="38100" marB="38100" anchor="ctr">
                    <a:solidFill>
                      <a:srgbClr val="F4F2FA"/>
                    </a:solidFill>
                  </a:tcPr>
                </a:tc>
                <a:tc>
                  <a:txBody>
                    <a:bodyPr/>
                    <a:lstStyle/>
                    <a:p>
                      <a:r>
                        <a:rPr sz="1200" b="0" i="0">
                          <a:solidFill>
                            <a:srgbClr val="1A1440"/>
                          </a:solidFill>
                          <a:latin typeface="Calibri"/>
                        </a:rPr>
                        <a:t>3,719</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393,738</a:t>
                      </a:r>
                    </a:p>
                  </a:txBody>
                  <a:tcPr marL="101600" marR="101600" marT="38100" marB="38100" anchor="ctr">
                    <a:solidFill>
                      <a:srgbClr val="FFFFFF"/>
                    </a:solidFill>
                  </a:tcPr>
                </a:tc>
                <a:tc>
                  <a:txBody>
                    <a:bodyPr/>
                    <a:lstStyle/>
                    <a:p>
                      <a:r>
                        <a:rPr sz="1200" b="0" i="0">
                          <a:solidFill>
                            <a:srgbClr val="1A1440"/>
                          </a:solidFill>
                          <a:latin typeface="Calibri"/>
                        </a:rPr>
                        <a:t>3,282</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329,609</a:t>
                      </a:r>
                    </a:p>
                  </a:txBody>
                  <a:tcPr marL="101600" marR="101600" marT="38100" marB="38100" anchor="ctr">
                    <a:solidFill>
                      <a:srgbClr val="F4F2FA"/>
                    </a:solidFill>
                  </a:tcPr>
                </a:tc>
                <a:tc>
                  <a:txBody>
                    <a:bodyPr/>
                    <a:lstStyle/>
                    <a:p>
                      <a:r>
                        <a:rPr sz="1200" b="0" i="0">
                          <a:solidFill>
                            <a:srgbClr val="1A1440"/>
                          </a:solidFill>
                          <a:latin typeface="Calibri"/>
                        </a:rPr>
                        <a:t>2,747</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201,244</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243,178</a:t>
                      </a:r>
                    </a:p>
                  </a:txBody>
                  <a:tcPr marL="101600" marR="101600" marT="38100" marB="38100" anchor="ctr">
                    <a:solidFill>
                      <a:srgbClr val="F4F2FA"/>
                    </a:solidFill>
                  </a:tcPr>
                </a:tc>
                <a:tc>
                  <a:txBody>
                    <a:bodyPr/>
                    <a:lstStyle/>
                    <a:p>
                      <a:r>
                        <a:rPr sz="1200" b="0" i="0">
                          <a:solidFill>
                            <a:srgbClr val="1A1440"/>
                          </a:solidFill>
                          <a:latin typeface="Calibri"/>
                        </a:rPr>
                        <a:t>2,027</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231,868</a:t>
                      </a:r>
                    </a:p>
                  </a:txBody>
                  <a:tcPr marL="101600" marR="101600" marT="38100" marB="38100" anchor="ctr">
                    <a:solidFill>
                      <a:srgbClr val="FFFFFF"/>
                    </a:solidFill>
                  </a:tcPr>
                </a:tc>
                <a:tc>
                  <a:txBody>
                    <a:bodyPr/>
                    <a:lstStyle/>
                    <a:p>
                      <a:r>
                        <a:rPr sz="1200" b="0" i="0">
                          <a:solidFill>
                            <a:srgbClr val="1A1440"/>
                          </a:solidFill>
                          <a:latin typeface="Calibri"/>
                        </a:rPr>
                        <a:t>1,933</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233,042</a:t>
                      </a:r>
                    </a:p>
                  </a:txBody>
                  <a:tcPr marL="101600" marR="101600" marT="38100" marB="38100" anchor="ctr">
                    <a:solidFill>
                      <a:srgbClr val="F4F2FA"/>
                    </a:solidFill>
                  </a:tcPr>
                </a:tc>
                <a:tc>
                  <a:txBody>
                    <a:bodyPr/>
                    <a:lstStyle/>
                    <a:p>
                      <a:r>
                        <a:rPr sz="1200" b="0" i="0">
                          <a:solidFill>
                            <a:srgbClr val="1A1440"/>
                          </a:solidFill>
                          <a:latin typeface="Calibri"/>
                        </a:rPr>
                        <a:t>1,943</a:t>
                      </a:r>
                    </a:p>
                  </a:txBody>
                  <a:tcPr marL="101600" marR="101600" marT="38100" marB="38100" anchor="ctr">
                    <a:solidFill>
                      <a:srgbClr val="F4F2FA"/>
                    </a:solidFill>
                  </a:tcPr>
                </a:tc>
              </a:tr>
            </a:tbl>
          </a:graphicData>
        </a:graphic>
      </p:graphicFrame>
      <p:sp>
        <p:nvSpPr>
          <p:cNvPr id="10" name="TextBox 9"/>
          <p:cNvSpPr txBox="1"/>
          <p:nvPr/>
        </p:nvSpPr>
        <p:spPr>
          <a:xfrm>
            <a:off x="530352" y="495604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Shifts are the plan over 120, rounded up: 20,275 in all. </a:t>
            </a:r>
            <a:r>
              <a:rPr sz="1600" b="1" i="0">
                <a:solidFill>
                  <a:srgbClr val="1A1440"/>
                </a:solidFill>
                <a:latin typeface="Calibri"/>
              </a:rPr>
              <a:t>The error bar:</a:t>
            </a:r>
            <a:r>
              <a:rPr sz="1600" b="0" i="0">
                <a:solidFill>
                  <a:srgbClr val="1A1440"/>
                </a:solidFill>
                <a:latin typeface="Calibri"/>
              </a:rPr>
              <a:t> 6,615 shipments a week on the hidden weeks, Rs 35,832 of idle shifts if high or Rs 1.7 lakh of late shipments if low; 4,034 a week on 2025's festival.</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39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other plan costs at least Rs 82.2 lakh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each other plan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59104"/>
                <a:gridCol w="2163932"/>
                <a:gridCol w="2163932"/>
                <a:gridCol w="1744021"/>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r h="335280">
                <a:tc>
                  <a:txBody>
                    <a:bodyPr/>
                    <a:lstStyle/>
                    <a:p>
                      <a:r>
                        <a:rPr sz="1200" b="0" i="0">
                          <a:solidFill>
                            <a:srgbClr val="1A1440"/>
                          </a:solidFill>
                          <a:latin typeface="Calibri"/>
                        </a:rPr>
                        <a:t>The plan, festival-aligned plus 2.6 percent</a:t>
                      </a:r>
                    </a:p>
                  </a:txBody>
                  <a:tcPr marL="101600" marR="101600" marT="38100" marB="38100" anchor="ctr">
                    <a:solidFill>
                      <a:srgbClr val="F4F2FA"/>
                    </a:solidFill>
                  </a:tcPr>
                </a:tc>
                <a:tc>
                  <a:txBody>
                    <a:bodyPr/>
                    <a:lstStyle/>
                    <a:p>
                      <a:r>
                        <a:rPr sz="1200" b="0" i="0">
                          <a:solidFill>
                            <a:srgbClr val="1A1440"/>
                          </a:solidFill>
                          <a:latin typeface="Calibri"/>
                        </a:rPr>
                        <a:t>61,639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Rs 3.3 lakh</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each plan is priced against festival-aligned's weeks. The cushion's Rs 3.3 lakh is what the insurance costs if demand lands exactly on the forecast.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3" name="Oval 12"/>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5" name="Oval 14"/>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39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would settle it</a:t>
                      </a:r>
                    </a:p>
                  </a:txBody>
                  <a:tcPr marL="101600" marR="101600" marT="38100" marB="38100" anchor="ctr">
                    <a:solidFill>
                      <a:srgbClr val="1A0F5C"/>
                    </a:solidFill>
                  </a:tcPr>
                </a:tc>
              </a:tr>
              <a:tr h="369824">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Tested on one festival only: the 2025 back-test</a:t>
                      </a:r>
                    </a:p>
                  </a:txBody>
                  <a:tcPr marL="101600" marR="101600" marT="38100" marB="38100" anchor="ctr">
                    <a:solidFill>
                      <a:srgbClr val="FFFFFF"/>
                    </a:solidFill>
                  </a:tcPr>
                </a:tc>
              </a:tr>
              <a:tr h="369824">
                <a:tc>
                  <a:txBody>
                    <a:bodyPr/>
                    <a:lstStyle/>
                    <a:p>
                      <a:r>
                        <a:rPr sz="1400" b="0" i="0">
                          <a:solidFill>
                            <a:srgbClr val="1A1440"/>
                          </a:solidFill>
                          <a:latin typeface="Calibri"/>
                        </a:rPr>
                        <a:t>Two years hold two festivals</a:t>
                      </a:r>
                    </a:p>
                  </a:txBody>
                  <a:tcPr marL="101600" marR="101600" marT="38100" marB="38100" anchor="ctr">
                    <a:solidFill>
                      <a:srgbClr val="F4F2FA"/>
                    </a:solidFill>
                  </a:tcPr>
                </a:tc>
                <a:tc>
                  <a:txBody>
                    <a:bodyPr/>
                    <a:lstStyle/>
                    <a:p>
                      <a:r>
                        <a:rPr sz="1400" b="0" i="0">
                          <a:solidFill>
                            <a:srgbClr val="1A1440"/>
                          </a:solidFill>
                          <a:latin typeface="Calibri"/>
                        </a:rPr>
                        <a:t>Only a third year; no check inside the data closes it</a:t>
                      </a:r>
                    </a:p>
                  </a:txBody>
                  <a:tcPr marL="101600" marR="101600" marT="38100" marB="38100" anchor="ctr">
                    <a:solidFill>
                      <a:srgbClr val="F4F2FA"/>
                    </a:solidFill>
                  </a:tcPr>
                </a:tc>
              </a:tr>
              <a:tr h="369824">
                <a:tc>
                  <a:txBody>
                    <a:bodyPr/>
                    <a:lstStyle/>
                    <a:p>
                      <a:r>
                        <a:rPr sz="1400" b="0" i="0">
                          <a:solidFill>
                            <a:srgbClr val="1A1440"/>
                          </a:solidFill>
                          <a:latin typeface="Calibri"/>
                        </a:rPr>
                        <a:t>The hidden weeks hold no festive week</a:t>
                      </a:r>
                    </a:p>
                  </a:txBody>
                  <a:tcPr marL="101600" marR="101600" marT="38100" marB="38100" anchor="ctr">
                    <a:solidFill>
                      <a:srgbClr val="FFFFFF"/>
                    </a:solidFill>
                  </a:tcPr>
                </a:tc>
                <a:tc>
                  <a:txBody>
                    <a:bodyPr/>
                    <a:lstStyle/>
                    <a:p>
                      <a:r>
                        <a:rPr sz="1400" b="0" i="0">
                          <a:solidFill>
                            <a:srgbClr val="1A1440"/>
                          </a:solidFill>
                          <a:latin typeface="Calibri"/>
                        </a:rPr>
                        <a:t>The 2025 festival's 4,034 a week, one festival</a:t>
                      </a:r>
                    </a:p>
                  </a:txBody>
                  <a:tcPr marL="101600" marR="101600" marT="38100" marB="38100" anchor="ctr">
                    <a:solidFill>
                      <a:srgbClr val="FFFFFF"/>
                    </a:solidFill>
                  </a:tcPr>
                </a:tc>
              </a:tr>
              <a:tr h="853440">
                <a:tc>
                  <a:txBody>
                    <a:bodyPr/>
                    <a:lstStyle/>
                    <a:p>
                      <a:r>
                        <a:rPr sz="1400" b="0" i="0">
                          <a:solidFill>
                            <a:srgbClr val="1A1440"/>
                          </a:solidFill>
                          <a:latin typeface="Calibri"/>
                        </a:rPr>
                        <a:t>Capacity caps the peak</a:t>
                      </a:r>
                    </a:p>
                  </a:txBody>
                  <a:tcPr marL="101600" marR="101600" marT="38100" marB="38100" anchor="ctr">
                    <a:solidFill>
                      <a:srgbClr val="F4F2FA"/>
                    </a:solidFill>
                  </a:tcPr>
                </a:tc>
                <a:tc>
                  <a:txBody>
                    <a:bodyPr/>
                    <a:lstStyle/>
                    <a:p>
                      <a:r>
                        <a:rPr sz="1400" b="0" i="0">
                          <a:solidFill>
                            <a:srgbClr val="1A1440"/>
                          </a:solidFill>
                          <a:latin typeface="Calibri"/>
                        </a:rPr>
                        <a:t>Overtime reached 1,638 shifts in the week of 6 October 2025 against 5 in an ordinary week, so peak demand may have run above what shipped</a:t>
                      </a:r>
                    </a:p>
                  </a:txBody>
                  <a:tcPr marL="101600" marR="101600" marT="38100" marB="38100" anchor="ctr">
                    <a:solidFill>
                      <a:srgbClr val="F4F2FA"/>
                    </a:solidFill>
                  </a:tcPr>
                </a:tc>
              </a:tr>
              <a:tr h="369824">
                <a:tc>
                  <a:txBody>
                    <a:bodyPr/>
                    <a:lstStyle/>
                    <a:p>
                      <a:r>
                        <a:rPr sz="1400" b="0" i="0">
                          <a:solidFill>
                            <a:srgbClr val="1A1440"/>
                          </a:solidFill>
                          <a:latin typeface="Calibri"/>
                        </a:rPr>
                        <a:t>Growth of 4 percent a year</a:t>
                      </a:r>
                    </a:p>
                  </a:txBody>
                  <a:tcPr marL="101600" marR="101600" marT="38100" marB="38100" anchor="ctr">
                    <a:solidFill>
                      <a:srgbClr val="FFFFFF"/>
                    </a:solidFill>
                  </a:tcPr>
                </a:tc>
                <a:tc>
                  <a:txBody>
                    <a:bodyPr/>
                    <a:lstStyle/>
                    <a:p>
                      <a:r>
                        <a:rPr sz="1400" b="0" i="0">
                          <a:solidFill>
                            <a:srgbClr val="1A1440"/>
                          </a:solidFill>
                          <a:latin typeface="Calibri"/>
                        </a:rPr>
                        <a:t>Two years' evidence; a third could move it</a:t>
                      </a:r>
                    </a:p>
                  </a:txBody>
                  <a:tcPr marL="101600" marR="101600" marT="38100" marB="38100" anchor="ctr">
                    <a:solidFill>
                      <a:srgbClr val="FFFFFF"/>
                    </a:solidFill>
                  </a:tcPr>
                </a:tc>
              </a:tr>
              <a:tr h="853440">
                <a:tc>
                  <a:txBody>
                    <a:bodyPr/>
                    <a:lstStyle/>
                    <a:p>
                      <a:r>
                        <a:rPr sz="1400" b="0" i="0">
                          <a:solidFill>
                            <a:srgbClr val="1A1440"/>
                          </a:solidFill>
                          <a:latin typeface="Calibri"/>
                        </a:rPr>
                        <a:t>The 2025 festival coincided with GST cuts</a:t>
                      </a:r>
                    </a:p>
                  </a:txBody>
                  <a:tcPr marL="101600" marR="101600" marT="38100" marB="38100" anchor="ctr">
                    <a:solidFill>
                      <a:srgbClr val="F4F2FA"/>
                    </a:solidFill>
                  </a:tcPr>
                </a:tc>
                <a:tc>
                  <a:txBody>
                    <a:bodyPr/>
                    <a:lstStyle/>
                    <a:p>
                      <a:r>
                        <a:rPr sz="1400" b="0" i="0">
                          <a:solidFill>
                            <a:srgbClr val="1A1440"/>
                          </a:solidFill>
                          <a:latin typeface="Calibri"/>
                        </a:rPr>
                        <a:t>October 2025 two-wheeler retail ran 31,49,846 against 12,87,735 in September, part of it credited to the cuts (FADA, F5, checked 12 October 2026)</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12" name="Oval 11"/>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14" name="Oval 13"/>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39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FLIPKART, LUCKNOW  ·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does the morning leave on the board?</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Right growth, wrong weeks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Your 4 percent is the growth two years show. Copied by calendar, it books the peak on 5 October and sits 308,048 shipments short.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TO THE VENDOR'S SPONSOR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fit, never a forecast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Within 1.4 percent on history, and 16,400 a week off on thirteen weeks it never saw.</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Beat the bot, then place the festival</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Score on hidden weeks in shipments and rupees; copy by distance from Diwali; plan at the 0.82 share.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What shape do the weeks have?</a:t>
            </a:r>
          </a:p>
        </p:txBody>
      </p:sp>
      <p:sp>
        <p:nvSpPr>
          <p:cNvPr id="29" name="Oval 28"/>
          <p:cNvSpPr/>
          <p:nvPr/>
        </p:nvSpPr>
        <p:spPr>
          <a:xfrm>
            <a:off x="23400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449734" y="6437376"/>
            <a:ext cx="1746504" cy="152146"/>
          </a:xfrm>
          <a:prstGeom prst="rect">
            <a:avLst/>
          </a:prstGeom>
          <a:noFill/>
        </p:spPr>
        <p:txBody>
          <a:bodyPr wrap="square" anchor="t" lIns="0" rIns="0" tIns="0" bIns="0">
            <a:spAutoFit/>
          </a:bodyPr>
          <a:lstStyle/>
          <a:p>
            <a:pPr algn="l"/>
            <a:r>
              <a:rPr sz="700" b="0" i="0">
                <a:solidFill>
                  <a:srgbClr val="6B6690"/>
                </a:solidFill>
                <a:latin typeface="Calibri"/>
              </a:rPr>
              <a:t>Which rule wins on hidden weeks?</a:t>
            </a:r>
          </a:p>
        </p:txBody>
      </p:sp>
      <p:sp>
        <p:nvSpPr>
          <p:cNvPr id="31" name="Oval 30"/>
          <p:cNvSpPr/>
          <p:nvPr/>
        </p:nvSpPr>
        <p:spPr>
          <a:xfrm>
            <a:off x="42876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397406" y="6437376"/>
            <a:ext cx="1746504" cy="152146"/>
          </a:xfrm>
          <a:prstGeom prst="rect">
            <a:avLst/>
          </a:prstGeom>
          <a:noFill/>
        </p:spPr>
        <p:txBody>
          <a:bodyPr wrap="square" anchor="t" lIns="0" rIns="0" tIns="0" bIns="0">
            <a:spAutoFit/>
          </a:bodyPr>
          <a:lstStyle/>
          <a:p>
            <a:pPr algn="l"/>
            <a:r>
              <a:rPr sz="700" b="1" i="0">
                <a:solidFill>
                  <a:srgbClr val="5B3FD6"/>
                </a:solidFill>
                <a:latin typeface="Calibri"/>
              </a:rPr>
              <a:t>Which forecast books the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