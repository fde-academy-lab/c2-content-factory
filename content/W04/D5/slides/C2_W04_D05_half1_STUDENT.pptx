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 screen as the room sits down. Read the title, then the table top to bottom, then</a:t>
            </a:r>
          </a:p>
          <a:p>
            <a:r>
              <a:t>the label line. Today is a tournament in three rounds: count by hand, score on hidden weeks, then</a:t>
            </a:r>
          </a:p>
          <a:p>
            <a:r>
              <a:t>place the festival and price the plan. Define one word as it appears: a forecast is a number for</a:t>
            </a:r>
          </a:p>
          <a:p>
            <a:r>
              <a:t>a week nobody has seen yet. Point at</a:t>
            </a:r>
          </a:p>
          <a:p>
            <a:r>
              <a:t>the four tables and their columns; every number today comes from them. Ask the room what would</a:t>
            </a:r>
          </a:p>
          <a:p>
            <a:r>
              <a:t>make each forecast wrong, and write the answers on the board without judging them. Transition:</a:t>
            </a:r>
          </a:p>
          <a:p>
            <a:r>
              <a:t>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finished answer once, then earn it. The rule is fixed now, before anyone</a:t>
            </a:r>
          </a:p>
          <a:p>
            <a:r>
              <a:t>scores: mean absolute error in shipments on the thirteen held-out weeks, then the same misses</a:t>
            </a:r>
          </a:p>
          <a:p>
            <a:r>
              <a:t>priced. Groups enter their own hand rule in round one.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round one of the tournament. Twelve printed weeks per</a:t>
            </a:r>
          </a:p>
          <a:p>
            <a:r>
              <a:t>table;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a:t>
            </a:r>
          </a:p>
          <a:p>
            <a:r>
              <a:t>Transition: the first 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 room voted a,</a:t>
            </a:r>
          </a:p>
          <a:p>
            <a:r>
              <a:t>ask what a customer does on Diwali itself. Transition: what a weekly series is made 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picture first and the names after, as 3Blue1Brown does. The real series has a</a:t>
            </a:r>
          </a:p>
          <a:p>
            <a:r>
              <a:t>growth of about 4 percent a year (trend), two seasons, the festival each year and the week holding</a:t>
            </a:r>
          </a:p>
          <a:p>
            <a:r>
              <a:t>the 1st of each month, no cycle two years can show, and a wobble of a few percent (noise). The</a:t>
            </a:r>
          </a:p>
          <a:p>
            <a:r>
              <a:t>definitions follow Forecasting: Principles and Practice, section 2.3. Explorer: scene F1, the</a:t>
            </a:r>
          </a:p>
          <a:p>
            <a:r>
              <a:t>season slider. Transition: four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rule as one sentence a shift supervisor could repeat. A baseline is a</a:t>
            </a:r>
          </a:p>
          <a:p>
            <a:r>
              <a:t>simple rule any model must beat, and the house bot is the tournament's. The 4 percent is measured:</a:t>
            </a:r>
          </a:p>
          <a:p>
            <a:r>
              <a:t>notebook 02 sets the latest 39 training weeks against the same weeks a year earlier and gets 4.0</a:t>
            </a:r>
          </a:p>
          <a:p>
            <a:r>
              <a:t>percent, the same figure finance uses. Transition: the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work each rule on the twelve printed rows before voting. The actual that</a:t>
            </a:r>
          </a:p>
          <a:p>
            <a:r>
              <a:t>week was 308,900; do not show it until the vote.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As in a Veritasium video, the reveal follows the vote of S9.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on S28, and the festival calendar card answers it on S29.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chapter 1's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map left to right; the dashed box is chapter 2. Transition: chapter 2,</a:t>
            </a:r>
          </a:p>
          <a:p>
            <a:r>
              <a:t>the hold-out.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round two of the tournament. Notebook 02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hidden weeks cover the ten-week horizon with room. The plan books eight</a:t>
            </a:r>
          </a:p>
          <a:p>
            <a:r>
              <a:t>weeks, but its last week is ten weeks past the data, and the horizon is the farthest week ahead. Point at the</a:t>
            </a:r>
          </a:p>
          <a:p>
            <a:r>
              <a:t>August sale inside the hidden weeks: a copy of last year knows about it, naive does not. Explorer: scene F2, the split</a:t>
            </a:r>
          </a:p>
          <a:p>
            <a:r>
              <a:t>slider. Transition: how a miss is counted.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the toy aloud. MAPE divides by the actual, so a week that ships almost</a:t>
            </a:r>
          </a:p>
          <a:p>
            <a:r>
              <a:t>nothing makes it explode.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answers before the scoreboard runs, as learners do on Brilliant. Option d</a:t>
            </a:r>
          </a:p>
          <a:p>
            <a:r>
              <a:t>names the tie on purpose, and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uses Tufte's small multiples, one rule per panel on the same axes. The bot beats naive</a:t>
            </a:r>
          </a:p>
          <a:p>
            <a:r>
              <a:t>because it carries the August sale; it loses to the 4 percent rules because a growing series</a:t>
            </a:r>
          </a:p>
          <a:p>
            <a:r>
              <a:t>makes last year too low.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02's empty</a:t>
            </a:r>
          </a:p>
          <a:p>
            <a:r>
              <a:t>cell and reads the number aloud.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a:t>
            </a:r>
          </a:p>
          <a:p>
            <a:r>
              <a:t>Ask which way each rule's misses run before anyone votes.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Let the result stand; it is true of this data. The room should leave with the</a:t>
            </a:r>
          </a:p>
          <a:p>
            <a:r>
              <a:t>reason: a late shipment costs 4.6 times a spare one.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plan's case rests on two things this hold-out cannot test: the festival's</a:t>
            </a:r>
          </a:p>
          <a:p>
            <a:r>
              <a:t>placement and the size of the cushion. Chapter 3 tests the first on 2025's festival and sizes the</a:t>
            </a:r>
          </a:p>
          <a:p>
            <a:r>
              <a:t>second from the costs.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prints the thirteen misses; the last cell adds them. Transition:</a:t>
            </a:r>
          </a:p>
          <a:p>
            <a:r>
              <a:t>chapter 2's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Ten minutes' break follows. Transition: chapter 3, the festival.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L3 to L5, round three of the tournament. Notebook 03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finance's 5 October and festival-aligned's 19 October: the same 418,200</a:t>
            </a:r>
          </a:p>
          <a:p>
            <a:r>
              <a:t>times 1.04, two weeks apart. The vendor's model never knew the festival moved. Transition: did</a:t>
            </a:r>
          </a:p>
          <a:p>
            <a:r>
              <a:t>the placement 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back-test is the only festival the data can test the rules on, so it</a:t>
            </a:r>
          </a:p>
          <a:p>
            <a:r>
              <a:t>settles placement and leaves the size of the error open. The vendor has no festive forecast to</a:t>
            </a:r>
          </a:p>
          <a:p>
            <a:r>
              <a:t>score, only its fit. Predict before S31 appears: finance's eight weeks sit 4 percent above the</a:t>
            </a:r>
          </a:p>
          <a:p>
            <a:r>
              <a:t>same calendar weeks of 2025; against 2025's weeks counted from Diwali, are they above or below,</a:t>
            </a:r>
          </a:p>
          <a:p>
            <a:r>
              <a:t>and by roughly how much? Take a show of hands and write the split on the board. Transition: what</a:t>
            </a:r>
          </a:p>
          <a:p>
            <a:r>
              <a:t>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calendar window holds only the tail of 2025's festival, because 2025's peak</a:t>
            </a:r>
          </a:p>
          <a:p>
            <a:r>
              <a:t>came before 13 October; 2026's peak falls inside the window. That is why an honest forecast reads</a:t>
            </a:r>
          </a:p>
          <a:p>
            <a:r>
              <a:t>plus 19.5 against it. Predict before S32 appears: should the plan book the forecast itself, less,</a:t>
            </a:r>
          </a:p>
          <a:p>
            <a:r>
              <a:t>or more, and in about how many weeks of ten should it cover demand? Most rooms say the forecast</a:t>
            </a:r>
          </a:p>
          <a:p>
            <a:r>
              <a:t>itself, covering half. Transition: how far above the forecast to plan.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100 weeks on the board first, then read the curve: the average cost of</a:t>
            </a:r>
          </a:p>
          <a:p>
            <a:r>
              <a:t>the week of 19 October with each of the thirteen hidden-week misses tried as its demand. The total</a:t>
            </a:r>
          </a:p>
          <a:p>
            <a:r>
              <a:t>is lowest between 2 and 3 percent above the forecast. The rule is named after a seller deciding</a:t>
            </a:r>
          </a:p>
          <a:p>
            <a:r>
              <a:t>how many newspapers to stock. If the late cost rises toward Rs 40, the low point moves right.</a:t>
            </a:r>
          </a:p>
          <a:p>
            <a:r>
              <a:t>Explorer: scene F4. Transition: reading the 0.82 off thirteen weeks.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10th and 11th dots. With thirteen weeks the true point could sit</a:t>
            </a:r>
          </a:p>
          <a:p>
            <a:r>
              <a:t>anywhere from about 2 to 3 percent, and the curve on S32 is nearly flat there. Notebook 03 prints</a:t>
            </a:r>
          </a:p>
          <a:p>
            <a:r>
              <a:t>the sorted list. 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first two rows aloud: 344,448 times 1.026 is 353,404, over 120 and rounded</a:t>
            </a:r>
          </a:p>
          <a:p>
            <a:r>
              <a:t>up is 2,946 shifts. A packer-shift is one packer for one shift; how shifts become people depends on the roster,</a:t>
            </a:r>
          </a:p>
          <a:p>
            <a:r>
              <a:t>which the ticket does not give. Transition: what the other plans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bot's and finance's costs are mostly late shipments in the weeks of 19</a:t>
            </a:r>
          </a:p>
          <a:p>
            <a:r>
              <a:t>October to 2 November. 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doubt at a time, each with the fact that would settle it. The FADA figure is</a:t>
            </a:r>
          </a:p>
          <a:p>
            <a:r>
              <a:t>a national series; it shows a festive month confounded by a tax change, a warning for any model</a:t>
            </a:r>
          </a:p>
          <a:p>
            <a:r>
              <a:t>trained on national data. Transition: the two role cards.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forecast joins the week's map as the promise the plan is held to: Thursday's</a:t>
            </a:r>
          </a:p>
          <a:p>
            <a:r>
              <a:t>time axis feeds it and Monday's guardrails bound what it may chase. Each stakeholder is partly</a:t>
            </a:r>
          </a:p>
          <a:p>
            <a:r>
              <a:t>right, so concede the true part first; the afternoon writes the staffing note from these three</a:t>
            </a:r>
          </a:p>
          <a:p>
            <a:r>
              <a:t>lines.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20,275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20,275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3,719 in the week of 19 October, from a forecast that keeps each week's distance from Diwali.</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HOW WRONG IT COULD BE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The forecast's average miss on thirteen weeks it never saw: about Rs 35,800 of idle shifts when it runs that far high, Rs 1.65 lakh of late shipments when that far low.</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4841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2" name="Oval 3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4" name="Oval 3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shape do the 104 weeks have, and what would three simple rules say for one week before any code opens?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rules copy?</a:t>
            </a:r>
          </a:p>
        </p:txBody>
      </p:sp>
      <p:sp>
        <p:nvSpPr>
          <p:cNvPr id="22" name="TextBox 21"/>
          <p:cNvSpPr txBox="1"/>
          <p:nvPr/>
        </p:nvSpPr>
        <p:spPr>
          <a:xfrm>
            <a:off x="3523411" y="4250182"/>
            <a:ext cx="2316403" cy="531876"/>
          </a:xfrm>
          <a:prstGeom prst="rect">
            <a:avLst/>
          </a:prstGeom>
          <a:noFill/>
        </p:spPr>
        <p:txBody>
          <a:bodyPr wrap="square" anchor="t" lIns="0" rIns="0" tIns="0" bIns="0">
            <a:spAutoFit/>
          </a:bodyPr>
          <a:lstStyle/>
          <a:p>
            <a:pPr algn="l"/>
            <a:r>
              <a:rPr sz="1000" b="0" i="0">
                <a:solidFill>
                  <a:srgbClr val="6B6690"/>
                </a:solidFill>
                <a:latin typeface="Calibri"/>
              </a:rPr>
              <a:t>Naive, same week last year, drift and festival-aligned, each in one line.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254330" y="1664208"/>
            <a:ext cx="7683035"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weekly series carries four shapes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read off a series before any rule is chosen?</a:t>
            </a:r>
          </a:p>
        </p:txBody>
      </p:sp>
      <p:pic>
        <p:nvPicPr>
          <p:cNvPr id="9" name="mermaid diagram" descr="C2_W04_D05_four_patterns_STUDENT.png"/>
          <p:cNvPicPr>
            <a:picLocks noChangeAspect="1"/>
          </p:cNvPicPr>
          <p:nvPr/>
        </p:nvPicPr>
        <p:blipFill>
          <a:blip r:embed="rId4"/>
          <a:stretch>
            <a:fillRect/>
          </a:stretch>
        </p:blipFill>
        <p:spPr>
          <a:xfrm>
            <a:off x="2165572" y="1664208"/>
            <a:ext cx="786055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shapes on invented numbers: trend, season, cycle and noise</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Read them in this order: the slow climb (trend), the repeat on a fixed beat, yearly here (season), the rise and fall with no fixed length (cycle) and what is left over (noise). A series can carry more than one season. A planner books against the first three and buys a cushion for the fourth. The numbers are invented so each shape stands alone.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each a single line of copying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simple forecasting rule copy from the past?</a:t>
            </a:r>
          </a:p>
        </p:txBody>
      </p:sp>
      <p:graphicFrame>
        <p:nvGraphicFramePr>
          <p:cNvPr id="9" name="Table 8"/>
          <p:cNvGraphicFramePr>
            <a:graphicFrameLocks noGrp="1"/>
          </p:cNvGraphicFramePr>
          <p:nvPr/>
        </p:nvGraphicFramePr>
        <p:xfrm>
          <a:off x="530352" y="1956816"/>
          <a:ext cx="11130990" cy="3541776"/>
        </p:xfrm>
        <a:graphic>
          <a:graphicData uri="http://schemas.openxmlformats.org/drawingml/2006/table">
            <a:tbl>
              <a:tblPr firstRow="0" bandRow="0">
                <a:tableStyleId>{2D5ABB26-0587-4C30-8999-92F81FD0307C}</a:tableStyleId>
              </a:tblPr>
              <a:tblGrid>
                <a:gridCol w="3493997"/>
                <a:gridCol w="3886014"/>
                <a:gridCol w="375097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On a canteen's tea (invented)</a:t>
                      </a:r>
                    </a:p>
                  </a:txBody>
                  <a:tcPr marL="101600" marR="101600" marT="38100" marB="38100" anchor="ctr">
                    <a:solidFill>
                      <a:srgbClr val="1A0F5C"/>
                    </a:solidFill>
                  </a:tcPr>
                </a:tc>
              </a:tr>
              <a:tr h="611632">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50, 52, 49 and 51 cups on four days, so tomorrow is 51</a:t>
                      </a:r>
                    </a:p>
                  </a:txBody>
                  <a:tcPr marL="101600" marR="101600" marT="38100" marB="38100" anchor="ctr">
                    <a:solidFill>
                      <a:srgbClr val="FFFFFF"/>
                    </a:solidFill>
                  </a:tcPr>
                </a:tc>
              </a:tr>
              <a:tr h="611632">
                <a:tc>
                  <a:txBody>
                    <a:bodyPr/>
                    <a:lstStyle/>
                    <a:p>
                      <a:r>
                        <a:rPr sz="1400" b="0" i="0">
                          <a:solidFill>
                            <a:srgbClr val="1A1440"/>
                          </a:solidFill>
                          <a:latin typeface="Calibri"/>
                        </a:rPr>
                        <a:t>Same week last year: the house bot, or seasonal copy</a:t>
                      </a:r>
                    </a:p>
                  </a:txBody>
                  <a:tcPr marL="101600" marR="101600" marT="38100" marB="38100" anchor="ctr">
                    <a:solidFill>
                      <a:srgbClr val="F4F2FA"/>
                    </a:solidFill>
                  </a:tcPr>
                </a:tc>
                <a:tc>
                  <a:txBody>
                    <a:bodyPr/>
                    <a:lstStyle/>
                    <a:p>
                      <a:r>
                        <a:rPr sz="1400" b="0" i="0">
                          <a:solidFill>
                            <a:srgbClr val="1A1440"/>
                          </a:solidFill>
                          <a:latin typeface="Calibri"/>
                        </a:rPr>
                        <a:t>The same point one season back, here 52 weeks</a:t>
                      </a:r>
                    </a:p>
                  </a:txBody>
                  <a:tcPr marL="101600" marR="101600" marT="38100" marB="38100" anchor="ctr">
                    <a:solidFill>
                      <a:srgbClr val="F4F2FA"/>
                    </a:solidFill>
                  </a:tcPr>
                </a:tc>
                <a:tc>
                  <a:txBody>
                    <a:bodyPr/>
                    <a:lstStyle/>
                    <a:p>
                      <a:r>
                        <a:rPr sz="1400" b="0" i="0">
                          <a:solidFill>
                            <a:srgbClr val="1A1440"/>
                          </a:solidFill>
                          <a:latin typeface="Calibri"/>
                        </a:rPr>
                        <a:t>Sundays sell about 80, so next Sunday is 80</a:t>
                      </a:r>
                    </a:p>
                  </a:txBody>
                  <a:tcPr marL="101600" marR="101600" marT="38100" marB="38100" anchor="ctr">
                    <a:solidFill>
                      <a:srgbClr val="F4F2FA"/>
                    </a:solidFill>
                  </a:tcPr>
                </a:tc>
              </a:tr>
              <a:tr h="611632">
                <a:tc>
                  <a:txBody>
                    <a:bodyPr/>
                    <a:lstStyle/>
                    <a:p>
                      <a:r>
                        <a:rPr sz="1400" b="0" i="0">
                          <a:solidFill>
                            <a:srgbClr val="1A1440"/>
                          </a:solidFill>
                          <a:latin typeface="Calibri"/>
                        </a:rPr>
                        <a:t>Drift</a:t>
                      </a:r>
                    </a:p>
                  </a:txBody>
                  <a:tcPr marL="101600" marR="101600" marT="38100" marB="38100" anchor="ctr">
                    <a:solidFill>
                      <a:srgbClr val="FFFFFF"/>
                    </a:solidFill>
                  </a:tcPr>
                </a:tc>
                <a:tc>
                  <a:txBody>
                    <a:bodyPr/>
                    <a:lstStyle/>
                    <a:p>
                      <a:r>
                        <a:rPr sz="1400" b="0" i="0">
                          <a:solidFill>
                            <a:srgbClr val="1A1440"/>
                          </a:solidFill>
                          <a:latin typeface="Calibri"/>
                        </a:rPr>
                        <a:t>The line from the first value to the last, extended</a:t>
                      </a:r>
                    </a:p>
                  </a:txBody>
                  <a:tcPr marL="101600" marR="101600" marT="38100" marB="38100" anchor="ctr">
                    <a:solidFill>
                      <a:srgbClr val="FFFFFF"/>
                    </a:solidFill>
                  </a:tcPr>
                </a:tc>
                <a:tc>
                  <a:txBody>
                    <a:bodyPr/>
                    <a:lstStyle/>
                    <a:p>
                      <a:r>
                        <a:rPr sz="1400" b="0" i="0">
                          <a:solidFill>
                            <a:srgbClr val="1A1440"/>
                          </a:solidFill>
                          <a:latin typeface="Calibri"/>
                        </a:rPr>
                        <a:t>51 plus the average step, (51 - 50) / 3: about 51.3</a:t>
                      </a:r>
                    </a:p>
                  </a:txBody>
                  <a:tcPr marL="101600" marR="101600" marT="38100" marB="38100" anchor="ctr">
                    <a:solidFill>
                      <a:srgbClr val="FFFFFF"/>
                    </a:solidFill>
                  </a:tcPr>
                </a:tc>
              </a:tr>
              <a:tr h="1337056">
                <a:tc>
                  <a:txBody>
                    <a:bodyPr/>
                    <a:lstStyle/>
                    <a:p>
                      <a:r>
                        <a:rPr sz="1400" b="0" i="0">
                          <a:solidFill>
                            <a:srgbClr val="1A1440"/>
                          </a:solidFill>
                          <a:latin typeface="Calibri"/>
                        </a:rPr>
                        <a:t>Festival-aligned</a:t>
                      </a:r>
                    </a:p>
                  </a:txBody>
                  <a:tcPr marL="101600" marR="101600" marT="38100" marB="38100" anchor="ctr">
                    <a:solidFill>
                      <a:srgbClr val="F4F2FA"/>
                    </a:solidFill>
                  </a:tcPr>
                </a:tc>
                <a:tc>
                  <a:txBody>
                    <a:bodyPr/>
                    <a:lstStyle/>
                    <a:p>
                      <a:r>
                        <a:rPr sz="1400" b="0" i="0">
                          <a:solidFill>
                            <a:srgbClr val="1A1440"/>
                          </a:solidFill>
                          <a:latin typeface="Calibri"/>
                        </a:rPr>
                        <a:t>From five weeks before Diwali's week to four after, the week at the same distance from last year's Diwali; otherwise the same calendar week; then plus 4 percent, the growth the two years show</a:t>
                      </a:r>
                    </a:p>
                  </a:txBody>
                  <a:tcPr marL="101600" marR="101600" marT="38100" marB="38100" anchor="ctr">
                    <a:solidFill>
                      <a:srgbClr val="F4F2FA"/>
                    </a:solidFill>
                  </a:tcPr>
                </a:tc>
                <a:tc>
                  <a:txBody>
                    <a:bodyPr/>
                    <a:lstStyle/>
                    <a:p>
                      <a:r>
                        <a:rPr sz="1400" b="0" i="0">
                          <a:solidFill>
                            <a:srgbClr val="1A1440"/>
                          </a:solidFill>
                          <a:latin typeface="Calibri"/>
                        </a:rPr>
                        <a:t>No canteen version: it exists because the festival moves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Same week last year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849462"/>
                <a:gridCol w="4419226"/>
                <a:gridCol w="1536093"/>
                <a:gridCol w="2326208"/>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Same week last year</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6" name="Oval 15"/>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employment opportunities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884ca1f92b39cb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house bot's rule one season back (there, the same weekday a week earlier) scored 0.847 against 1.752 for naive on M5's weighted scaled error, lower being better, and only 35.8 percent of the competing teams beat it; the winner, a machine-learning method, reached 0.520 (M5 results workbook and accuracy paper,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 on hidden weeks?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rule score on the thirteen weeks it never saw, which way is each wrong, and what does each direction cost?</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origin.</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27" name="TextBox 26"/>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42" name="Oval 41"/>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a:t>
            </a:r>
            <a:r>
              <a:rPr sz="1400" b="1" i="0">
                <a:solidFill>
                  <a:srgbClr val="1A1440"/>
                </a:solidFill>
                <a:latin typeface="Calibri"/>
              </a:rPr>
              <a:t>hidden weeks</a:t>
            </a:r>
            <a:r>
              <a:rPr sz="1400" b="0" i="0">
                <a:solidFill>
                  <a:srgbClr val="1A1440"/>
                </a:solidFill>
                <a:latin typeface="Calibri"/>
              </a:rPr>
              <a:t> (the hold-out, or test set) are kept from every rule: 29 June to 21 September 2026. The 91 </a:t>
            </a:r>
            <a:r>
              <a:rPr sz="1400" b="1" i="0">
                <a:solidFill>
                  <a:srgbClr val="1A1440"/>
                </a:solidFill>
                <a:latin typeface="Calibri"/>
              </a:rPr>
              <a:t>training weeks</a:t>
            </a:r>
            <a:r>
              <a:rPr sz="1400" b="0" i="0">
                <a:solidFill>
                  <a:srgbClr val="1A1440"/>
                </a:solidFill>
                <a:latin typeface="Calibri"/>
              </a:rPr>
              <a:t> before them are all a rule may see; the last, 22 June, is the </a:t>
            </a:r>
            <a:r>
              <a:rPr sz="1400" b="1" i="0">
                <a:solidFill>
                  <a:srgbClr val="1A1440"/>
                </a:solidFill>
                <a:latin typeface="Calibri"/>
              </a:rPr>
              <a:t>origin</a:t>
            </a:r>
            <a:r>
              <a:rPr sz="1400" b="0" i="0">
                <a:solidFill>
                  <a:srgbClr val="1A1440"/>
                </a:solidFill>
                <a:latin typeface="Calibri"/>
              </a:rPr>
              <a:t> every forecast is made from. The plan's last week, 30 November, sits ten weeks after the last week of data, 21 September: that reach, ten weeks, is the </a:t>
            </a:r>
            <a:r>
              <a:rPr sz="1400" b="1" i="0">
                <a:solidFill>
                  <a:srgbClr val="1A1440"/>
                </a:solidFill>
                <a:latin typeface="Calibri"/>
              </a:rPr>
              <a:t>horizon</a:t>
            </a:r>
            <a:r>
              <a:rPr sz="1400" b="0" i="0">
                <a:solidFill>
                  <a:srgbClr val="1A1440"/>
                </a:solidFill>
                <a:latin typeface="Calibri"/>
              </a:rPr>
              <a:t>, and the test should be at least as long (Forecasting: Principles and Practice, section 5.8, checked 12 October 2026).</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the average miss, counted in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number made from thirteen misses, and why shipments?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8.3</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MAE ON THREE INVENTED WEEKS</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misses of 10, 5 and 10 shipments, one of them too low: (10 + 5 + 10) / 3</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shipments</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UNIT</a:t>
            </a:r>
          </a:p>
        </p:txBody>
      </p:sp>
      <p:sp>
        <p:nvSpPr>
          <p:cNvPr id="15" name="TextBox 14"/>
          <p:cNvSpPr txBox="1"/>
          <p:nvPr/>
        </p:nvSpPr>
        <p:spPr>
          <a:xfrm>
            <a:off x="433212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a miss is priced per shipment, so the score stays in shipments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fixed first</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RULE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measure is chosen before anyone sees a score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Mean absolute error drops each miss's sign and averages. </a:t>
            </a:r>
            <a:r>
              <a:rPr sz="1600" b="1" i="0">
                <a:solidFill>
                  <a:srgbClr val="1A1440"/>
                </a:solidFill>
                <a:latin typeface="Calibri"/>
              </a:rPr>
              <a:t>MAPE</a:t>
            </a:r>
            <a:r>
              <a:rPr sz="1600" b="0" i="0">
                <a:solidFill>
                  <a:srgbClr val="1A1440"/>
                </a:solidFill>
                <a:latin typeface="Calibri"/>
              </a:rPr>
              <a:t>, the mean absolute percentage error, averages misses as percents of what shipped: useful across centres of different sizes, but the costs here are per shipment, and 2 percent of a peak week is twice the shipments of 2 percent of a quiet one. The sign comes back on S22.</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632401" y="1664208"/>
            <a:ext cx="8926893"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6" name="Oval 15"/>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034912" y="1664208"/>
            <a:ext cx="812186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hidden weeks 1 to 6, 11.5 percent in weeks 8 to 13.</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Lean high on purpose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Raise festival-aligned by an amount the two costs set, which chapter 3 sizes.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02's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the machine-learning ones at every horizon tested, and even Naive 2, a seasonal random walk, beat half of them one step ahead (Makridakis and colleagues, PLOS ONE, 2018); in the M5 competition machine learning took every top place. Either way the winner was decided on weeks the model never saw (both checked 12 October 2026). </a:t>
            </a:r>
            <a:r>
              <a:rPr sz="1600" b="1" i="0">
                <a:solidFill>
                  <a:srgbClr val="1A1440"/>
                </a:solidFill>
                <a:latin typeface="Calibri"/>
              </a:rPr>
              <a:t>Good enough</a:t>
            </a:r>
            <a:r>
              <a:rPr sz="1600" b="0" i="0">
                <a:solidFill>
                  <a:srgbClr val="1A1440"/>
                </a:solidFill>
                <a:latin typeface="Calibri"/>
              </a:rPr>
              <a:t> is a claim about the decision: a better forecast is worth having only if it books different shifts.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forecast books the shifts?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goes to the plan, how many packer shifts a week, and what does being wrong cost in each direction?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CUSHION</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far above?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cushion two costs justify.</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How many shifts?</a:t>
            </a:r>
          </a:p>
        </p:txBody>
      </p:sp>
      <p:sp>
        <p:nvSpPr>
          <p:cNvPr id="37" name="TextBox 36"/>
          <p:cNvSpPr txBox="1"/>
          <p:nvPr/>
        </p:nvSpPr>
        <p:spPr>
          <a:xfrm>
            <a:off x="9746040" y="4250182"/>
            <a:ext cx="1750710" cy="201676"/>
          </a:xfrm>
          <a:prstGeom prst="rect">
            <a:avLst/>
          </a:prstGeom>
          <a:noFill/>
        </p:spPr>
        <p:txBody>
          <a:bodyPr wrap="square" anchor="t" lIns="0" rIns="0" tIns="0" bIns="0">
            <a:spAutoFit/>
          </a:bodyPr>
          <a:lstStyle/>
          <a:p>
            <a:pPr algn="l"/>
            <a:r>
              <a:rPr sz="1000" b="0" i="0">
                <a:solidFill>
                  <a:srgbClr val="CFC9EE"/>
                </a:solidFill>
                <a:latin typeface="Calibri"/>
              </a:rPr>
              <a:t>Eight weeks, priced.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42" name="Oval 41"/>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a:t>
            </a:r>
            <a:r>
              <a:rPr sz="1600" b="1" i="0">
                <a:solidFill>
                  <a:srgbClr val="1A1440"/>
                </a:solidFill>
                <a:latin typeface="Calibri"/>
              </a:rPr>
              <a:t>back-test</a:t>
            </a:r>
            <a:r>
              <a:rPr sz="1600" b="0" i="0">
                <a:solidFill>
                  <a:srgbClr val="1A1440"/>
                </a:solidFill>
                <a:latin typeface="Calibri"/>
              </a:rPr>
              <a:t> forecasts an earlier stretch as if the later weeks were unknown. Over 29 September to 17 November 2025 the house bot missed by 58,250 a week: Rs 79.8 lakh, Rs 69.6 lakh of it late shipments where the rush came before the copy expected it. Festival-aligned missed by 4,034 a week; without the 4 percent, measured only later, it missed by 10,575.</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late shipment costs 4.6 times a spare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should the plan sit above the forecast, and how far?</a:t>
            </a:r>
          </a:p>
        </p:txBody>
      </p:sp>
      <p:pic>
        <p:nvPicPr>
          <p:cNvPr id="9" name="mermaid diagram" descr="C2_W04_D05_cost_curve_STUDENT.png"/>
          <p:cNvPicPr>
            <a:picLocks noChangeAspect="1"/>
          </p:cNvPicPr>
          <p:nvPr/>
        </p:nvPicPr>
        <p:blipFill>
          <a:blip r:embed="rId4"/>
          <a:stretch>
            <a:fillRect/>
          </a:stretch>
        </p:blipFill>
        <p:spPr>
          <a:xfrm>
            <a:off x="2504970" y="1664208"/>
            <a:ext cx="718175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average cost of a week's plan against how far it is raised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Raise the plan by one shipment. Over 100 weeks, if demand beats the plan in 18, that shipment saves 18 x Rs 25 = Rs 450 and wastes 82 x Rs 5.42 = Rs 444: about even. So the cheapest plan covers demand in 25 / (25 + 5.42), about 0.82, of weeks: the newsvendor rule.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2.6 percent sits 0.82 along thirteen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is the 0.82 point, on the weeks we hid?</a:t>
            </a:r>
          </a:p>
        </p:txBody>
      </p:sp>
      <p:pic>
        <p:nvPicPr>
          <p:cNvPr id="9" name="mermaid diagram" descr="C2_W04_D05_cushion_strip_STUDENT.png"/>
          <p:cNvPicPr>
            <a:picLocks noChangeAspect="1"/>
          </p:cNvPicPr>
          <p:nvPr/>
        </p:nvPicPr>
        <p:blipFill>
          <a:blip r:embed="rId4"/>
          <a:stretch>
            <a:fillRect/>
          </a:stretch>
        </p:blipFill>
        <p:spPr>
          <a:xfrm>
            <a:off x="1687216" y="1664208"/>
            <a:ext cx="881726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Thirteen hidden weeks sorted by how far demand came above festival-aligned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Sort the thirteen hidden weeks by how far demand came above festival-aligned: from 5.9 percent below to 7.8 percent above. The 0.82 point falls between the 10th week, 2.1 percent, and the 11th, 2.7; read 0.82 of the way along, it is 2.6 percent. The plan covers 10 of the 13 weeks, and the 11th sits just above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20,275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820672"/>
          <a:ext cx="11130990" cy="2798064"/>
        </p:xfrm>
        <a:graphic>
          <a:graphicData uri="http://schemas.openxmlformats.org/drawingml/2006/table">
            <a:tbl>
              <a:tblPr firstRow="0" bandRow="0">
                <a:tableStyleId>{2D5ABB26-0587-4C30-8999-92F81FD0307C}</a:tableStyleId>
              </a:tblPr>
              <a:tblGrid>
                <a:gridCol w="914400"/>
                <a:gridCol w="914400"/>
                <a:gridCol w="5672996"/>
                <a:gridCol w="3629194"/>
              </a:tblGrid>
              <a:tr h="310896">
                <a:tc>
                  <a:txBody>
                    <a:bodyPr/>
                    <a:lstStyle/>
                    <a:p>
                      <a:r>
                        <a:rPr sz="1050" b="1" i="0">
                          <a:solidFill>
                            <a:srgbClr val="FFFFFF"/>
                          </a:solidFill>
                          <a:latin typeface="Calibri"/>
                        </a:rPr>
                        <a:t>Week of</a:t>
                      </a:r>
                    </a:p>
                  </a:txBody>
                  <a:tcPr marL="101600" marR="101600" marT="38100" marB="38100" anchor="ctr">
                    <a:solidFill>
                      <a:srgbClr val="1A0F5C"/>
                    </a:solidFill>
                  </a:tcPr>
                </a:tc>
                <a:tc>
                  <a:txBody>
                    <a:bodyPr/>
                    <a:lstStyle/>
                    <a:p>
                      <a:r>
                        <a:rPr sz="1050" b="1" i="0">
                          <a:solidFill>
                            <a:srgbClr val="FFFFFF"/>
                          </a:solidFill>
                          <a:latin typeface="Calibri"/>
                        </a:rPr>
                        <a:t>Forecast</a:t>
                      </a:r>
                    </a:p>
                  </a:txBody>
                  <a:tcPr marL="101600" marR="101600" marT="38100" marB="38100" anchor="ctr">
                    <a:solidFill>
                      <a:srgbClr val="1A0F5C"/>
                    </a:solidFill>
                  </a:tcPr>
                </a:tc>
                <a:tc>
                  <a:txBody>
                    <a:bodyPr/>
                    <a:lstStyle/>
                    <a:p>
                      <a:r>
                        <a:rPr sz="1050" b="1" i="0">
                          <a:solidFill>
                            <a:srgbClr val="FFFFFF"/>
                          </a:solidFill>
                          <a:latin typeface="Calibri"/>
                        </a:rPr>
                        <a:t>Plan, plus 2.6 percent</a:t>
                      </a:r>
                    </a:p>
                  </a:txBody>
                  <a:tcPr marL="101600" marR="101600" marT="38100" marB="38100" anchor="ctr">
                    <a:solidFill>
                      <a:srgbClr val="1A0F5C"/>
                    </a:solidFill>
                  </a:tcPr>
                </a:tc>
                <a:tc>
                  <a:txBody>
                    <a:bodyPr/>
                    <a:lstStyle/>
                    <a:p>
                      <a:r>
                        <a:rPr sz="1050" b="1" i="0">
                          <a:solidFill>
                            <a:srgbClr val="FFFFFF"/>
                          </a:solidFill>
                          <a:latin typeface="Calibri"/>
                        </a:rPr>
                        <a:t>Packer shifts</a:t>
                      </a:r>
                    </a:p>
                  </a:txBody>
                  <a:tcPr marL="101600" marR="101600" marT="38100" marB="38100" anchor="ctr">
                    <a:solidFill>
                      <a:srgbClr val="1A0F5C"/>
                    </a:solidFill>
                  </a:tcPr>
                </a:tc>
              </a:tr>
              <a:tr h="310896">
                <a:tc>
                  <a:txBody>
                    <a:bodyPr/>
                    <a:lstStyle/>
                    <a:p>
                      <a:r>
                        <a:rPr sz="1000" b="0" i="0">
                          <a:solidFill>
                            <a:srgbClr val="1A1440"/>
                          </a:solidFill>
                          <a:latin typeface="Calibri"/>
                        </a:rPr>
                        <a:t>12 Oct</a:t>
                      </a:r>
                    </a:p>
                  </a:txBody>
                  <a:tcPr marL="101600" marR="101600" marT="38100" marB="38100" anchor="ctr">
                    <a:solidFill>
                      <a:srgbClr val="FFFFFF"/>
                    </a:solidFill>
                  </a:tcPr>
                </a:tc>
                <a:tc>
                  <a:txBody>
                    <a:bodyPr/>
                    <a:lstStyle/>
                    <a:p>
                      <a:r>
                        <a:rPr sz="1000" b="0" i="0">
                          <a:solidFill>
                            <a:srgbClr val="1A1440"/>
                          </a:solidFill>
                          <a:latin typeface="Calibri"/>
                        </a:rPr>
                        <a:t>344,448</a:t>
                      </a:r>
                    </a:p>
                  </a:txBody>
                  <a:tcPr marL="101600" marR="101600" marT="38100" marB="38100" anchor="ctr">
                    <a:solidFill>
                      <a:srgbClr val="FFFFFF"/>
                    </a:solidFill>
                  </a:tcPr>
                </a:tc>
                <a:tc>
                  <a:txBody>
                    <a:bodyPr/>
                    <a:lstStyle/>
                    <a:p>
                      <a:r>
                        <a:rPr sz="1000" b="0" i="0">
                          <a:solidFill>
                            <a:srgbClr val="1A1440"/>
                          </a:solidFill>
                          <a:latin typeface="Calibri"/>
                        </a:rPr>
                        <a:t>353,404</a:t>
                      </a:r>
                    </a:p>
                  </a:txBody>
                  <a:tcPr marL="101600" marR="101600" marT="38100" marB="38100" anchor="ctr">
                    <a:solidFill>
                      <a:srgbClr val="FFFFFF"/>
                    </a:solidFill>
                  </a:tcPr>
                </a:tc>
                <a:tc>
                  <a:txBody>
                    <a:bodyPr/>
                    <a:lstStyle/>
                    <a:p>
                      <a:r>
                        <a:rPr sz="1000" b="0" i="0">
                          <a:solidFill>
                            <a:srgbClr val="1A1440"/>
                          </a:solidFill>
                          <a:latin typeface="Calibri"/>
                        </a:rPr>
                        <a:t>2,946</a:t>
                      </a:r>
                    </a:p>
                  </a:txBody>
                  <a:tcPr marL="101600" marR="101600" marT="38100" marB="38100" anchor="ctr">
                    <a:solidFill>
                      <a:srgbClr val="FFFFFF"/>
                    </a:solidFill>
                  </a:tcPr>
                </a:tc>
              </a:tr>
              <a:tr h="310896">
                <a:tc>
                  <a:txBody>
                    <a:bodyPr/>
                    <a:lstStyle/>
                    <a:p>
                      <a:r>
                        <a:rPr sz="1000" b="0" i="0">
                          <a:solidFill>
                            <a:srgbClr val="1A1440"/>
                          </a:solidFill>
                          <a:latin typeface="Calibri"/>
                        </a:rPr>
                        <a:t>19 Oct</a:t>
                      </a:r>
                    </a:p>
                  </a:txBody>
                  <a:tcPr marL="101600" marR="101600" marT="38100" marB="38100" anchor="ctr">
                    <a:solidFill>
                      <a:srgbClr val="F4F2FA"/>
                    </a:solidFill>
                  </a:tcPr>
                </a:tc>
                <a:tc>
                  <a:txBody>
                    <a:bodyPr/>
                    <a:lstStyle/>
                    <a:p>
                      <a:r>
                        <a:rPr sz="1000" b="0" i="0">
                          <a:solidFill>
                            <a:srgbClr val="1A1440"/>
                          </a:solidFill>
                          <a:latin typeface="Calibri"/>
                        </a:rPr>
                        <a:t>434,928</a:t>
                      </a:r>
                    </a:p>
                  </a:txBody>
                  <a:tcPr marL="101600" marR="101600" marT="38100" marB="38100" anchor="ctr">
                    <a:solidFill>
                      <a:srgbClr val="F4F2FA"/>
                    </a:solidFill>
                  </a:tcPr>
                </a:tc>
                <a:tc>
                  <a:txBody>
                    <a:bodyPr/>
                    <a:lstStyle/>
                    <a:p>
                      <a:r>
                        <a:rPr sz="1000" b="0" i="0">
                          <a:solidFill>
                            <a:srgbClr val="1A1440"/>
                          </a:solidFill>
                          <a:latin typeface="Calibri"/>
                        </a:rPr>
                        <a:t>446,236</a:t>
                      </a:r>
                    </a:p>
                  </a:txBody>
                  <a:tcPr marL="101600" marR="101600" marT="38100" marB="38100" anchor="ctr">
                    <a:solidFill>
                      <a:srgbClr val="F4F2FA"/>
                    </a:solidFill>
                  </a:tcPr>
                </a:tc>
                <a:tc>
                  <a:txBody>
                    <a:bodyPr/>
                    <a:lstStyle/>
                    <a:p>
                      <a:r>
                        <a:rPr sz="1000" b="0" i="0">
                          <a:solidFill>
                            <a:srgbClr val="1A1440"/>
                          </a:solidFill>
                          <a:latin typeface="Calibri"/>
                        </a:rPr>
                        <a:t>3,719</a:t>
                      </a:r>
                    </a:p>
                  </a:txBody>
                  <a:tcPr marL="101600" marR="101600" marT="38100" marB="38100" anchor="ctr">
                    <a:solidFill>
                      <a:srgbClr val="F4F2FA"/>
                    </a:solidFill>
                  </a:tcPr>
                </a:tc>
              </a:tr>
              <a:tr h="310896">
                <a:tc>
                  <a:txBody>
                    <a:bodyPr/>
                    <a:lstStyle/>
                    <a:p>
                      <a:r>
                        <a:rPr sz="1000" b="0" i="0">
                          <a:solidFill>
                            <a:srgbClr val="1A1440"/>
                          </a:solidFill>
                          <a:latin typeface="Calibri"/>
                        </a:rPr>
                        <a:t>26 Oct</a:t>
                      </a:r>
                    </a:p>
                  </a:txBody>
                  <a:tcPr marL="101600" marR="101600" marT="38100" marB="38100" anchor="ctr">
                    <a:solidFill>
                      <a:srgbClr val="FFFFFF"/>
                    </a:solidFill>
                  </a:tcPr>
                </a:tc>
                <a:tc>
                  <a:txBody>
                    <a:bodyPr/>
                    <a:lstStyle/>
                    <a:p>
                      <a:r>
                        <a:rPr sz="1000" b="0" i="0">
                          <a:solidFill>
                            <a:srgbClr val="1A1440"/>
                          </a:solidFill>
                          <a:latin typeface="Calibri"/>
                        </a:rPr>
                        <a:t>383,760</a:t>
                      </a:r>
                    </a:p>
                  </a:txBody>
                  <a:tcPr marL="101600" marR="101600" marT="38100" marB="38100" anchor="ctr">
                    <a:solidFill>
                      <a:srgbClr val="FFFFFF"/>
                    </a:solidFill>
                  </a:tcPr>
                </a:tc>
                <a:tc>
                  <a:txBody>
                    <a:bodyPr/>
                    <a:lstStyle/>
                    <a:p>
                      <a:r>
                        <a:rPr sz="1000" b="0" i="0">
                          <a:solidFill>
                            <a:srgbClr val="1A1440"/>
                          </a:solidFill>
                          <a:latin typeface="Calibri"/>
                        </a:rPr>
                        <a:t>393,738</a:t>
                      </a:r>
                    </a:p>
                  </a:txBody>
                  <a:tcPr marL="101600" marR="101600" marT="38100" marB="38100" anchor="ctr">
                    <a:solidFill>
                      <a:srgbClr val="FFFFFF"/>
                    </a:solidFill>
                  </a:tcPr>
                </a:tc>
                <a:tc>
                  <a:txBody>
                    <a:bodyPr/>
                    <a:lstStyle/>
                    <a:p>
                      <a:r>
                        <a:rPr sz="1000" b="0" i="0">
                          <a:solidFill>
                            <a:srgbClr val="1A1440"/>
                          </a:solidFill>
                          <a:latin typeface="Calibri"/>
                        </a:rPr>
                        <a:t>3,282</a:t>
                      </a:r>
                    </a:p>
                  </a:txBody>
                  <a:tcPr marL="101600" marR="101600" marT="38100" marB="38100" anchor="ctr">
                    <a:solidFill>
                      <a:srgbClr val="FFFFFF"/>
                    </a:solidFill>
                  </a:tcPr>
                </a:tc>
              </a:tr>
              <a:tr h="310896">
                <a:tc>
                  <a:txBody>
                    <a:bodyPr/>
                    <a:lstStyle/>
                    <a:p>
                      <a:r>
                        <a:rPr sz="1000" b="0" i="0">
                          <a:solidFill>
                            <a:srgbClr val="1A1440"/>
                          </a:solidFill>
                          <a:latin typeface="Calibri"/>
                        </a:rPr>
                        <a:t>2 Nov</a:t>
                      </a:r>
                    </a:p>
                  </a:txBody>
                  <a:tcPr marL="101600" marR="101600" marT="38100" marB="38100" anchor="ctr">
                    <a:solidFill>
                      <a:srgbClr val="F4F2FA"/>
                    </a:solidFill>
                  </a:tcPr>
                </a:tc>
                <a:tc>
                  <a:txBody>
                    <a:bodyPr/>
                    <a:lstStyle/>
                    <a:p>
                      <a:r>
                        <a:rPr sz="1000" b="0" i="0">
                          <a:solidFill>
                            <a:srgbClr val="1A1440"/>
                          </a:solidFill>
                          <a:latin typeface="Calibri"/>
                        </a:rPr>
                        <a:t>321,256</a:t>
                      </a:r>
                    </a:p>
                  </a:txBody>
                  <a:tcPr marL="101600" marR="101600" marT="38100" marB="38100" anchor="ctr">
                    <a:solidFill>
                      <a:srgbClr val="F4F2FA"/>
                    </a:solidFill>
                  </a:tcPr>
                </a:tc>
                <a:tc>
                  <a:txBody>
                    <a:bodyPr/>
                    <a:lstStyle/>
                    <a:p>
                      <a:r>
                        <a:rPr sz="1000" b="0" i="0">
                          <a:solidFill>
                            <a:srgbClr val="1A1440"/>
                          </a:solidFill>
                          <a:latin typeface="Calibri"/>
                        </a:rPr>
                        <a:t>329,609</a:t>
                      </a:r>
                    </a:p>
                  </a:txBody>
                  <a:tcPr marL="101600" marR="101600" marT="38100" marB="38100" anchor="ctr">
                    <a:solidFill>
                      <a:srgbClr val="F4F2FA"/>
                    </a:solidFill>
                  </a:tcPr>
                </a:tc>
                <a:tc>
                  <a:txBody>
                    <a:bodyPr/>
                    <a:lstStyle/>
                    <a:p>
                      <a:r>
                        <a:rPr sz="1000" b="0" i="0">
                          <a:solidFill>
                            <a:srgbClr val="1A1440"/>
                          </a:solidFill>
                          <a:latin typeface="Calibri"/>
                        </a:rPr>
                        <a:t>2,747</a:t>
                      </a:r>
                    </a:p>
                  </a:txBody>
                  <a:tcPr marL="101600" marR="101600" marT="38100" marB="38100" anchor="ctr">
                    <a:solidFill>
                      <a:srgbClr val="F4F2FA"/>
                    </a:solidFill>
                  </a:tcPr>
                </a:tc>
              </a:tr>
              <a:tr h="310896">
                <a:tc>
                  <a:txBody>
                    <a:bodyPr/>
                    <a:lstStyle/>
                    <a:p>
                      <a:r>
                        <a:rPr sz="1000" b="0" i="0">
                          <a:solidFill>
                            <a:srgbClr val="1A1440"/>
                          </a:solidFill>
                          <a:latin typeface="Calibri"/>
                        </a:rPr>
                        <a:t>9 Nov</a:t>
                      </a:r>
                    </a:p>
                  </a:txBody>
                  <a:tcPr marL="101600" marR="101600" marT="38100" marB="38100" anchor="ctr">
                    <a:solidFill>
                      <a:srgbClr val="FFFFFF"/>
                    </a:solidFill>
                  </a:tcPr>
                </a:tc>
                <a:tc>
                  <a:txBody>
                    <a:bodyPr/>
                    <a:lstStyle/>
                    <a:p>
                      <a:r>
                        <a:rPr sz="1000" b="0" i="0">
                          <a:solidFill>
                            <a:srgbClr val="1A1440"/>
                          </a:solidFill>
                          <a:latin typeface="Calibri"/>
                        </a:rPr>
                        <a:t>196,144</a:t>
                      </a:r>
                    </a:p>
                  </a:txBody>
                  <a:tcPr marL="101600" marR="101600" marT="38100" marB="38100" anchor="ctr">
                    <a:solidFill>
                      <a:srgbClr val="FFFFFF"/>
                    </a:solidFill>
                  </a:tcPr>
                </a:tc>
                <a:tc>
                  <a:txBody>
                    <a:bodyPr/>
                    <a:lstStyle/>
                    <a:p>
                      <a:r>
                        <a:rPr sz="1000" b="0" i="0">
                          <a:solidFill>
                            <a:srgbClr val="1A1440"/>
                          </a:solidFill>
                          <a:latin typeface="Calibri"/>
                        </a:rPr>
                        <a:t>201,244</a:t>
                      </a:r>
                    </a:p>
                  </a:txBody>
                  <a:tcPr marL="101600" marR="101600" marT="38100" marB="38100" anchor="ctr">
                    <a:solidFill>
                      <a:srgbClr val="FFFFFF"/>
                    </a:solidFill>
                  </a:tcPr>
                </a:tc>
                <a:tc>
                  <a:txBody>
                    <a:bodyPr/>
                    <a:lstStyle/>
                    <a:p>
                      <a:r>
                        <a:rPr sz="1000" b="0" i="0">
                          <a:solidFill>
                            <a:srgbClr val="1A1440"/>
                          </a:solidFill>
                          <a:latin typeface="Calibri"/>
                        </a:rPr>
                        <a:t>1,678</a:t>
                      </a:r>
                    </a:p>
                  </a:txBody>
                  <a:tcPr marL="101600" marR="101600" marT="38100" marB="38100" anchor="ctr">
                    <a:solidFill>
                      <a:srgbClr val="FFFFFF"/>
                    </a:solidFill>
                  </a:tcPr>
                </a:tc>
              </a:tr>
              <a:tr h="310896">
                <a:tc>
                  <a:txBody>
                    <a:bodyPr/>
                    <a:lstStyle/>
                    <a:p>
                      <a:r>
                        <a:rPr sz="1000" b="0" i="0">
                          <a:solidFill>
                            <a:srgbClr val="1A1440"/>
                          </a:solidFill>
                          <a:latin typeface="Calibri"/>
                        </a:rPr>
                        <a:t>16 Nov</a:t>
                      </a:r>
                    </a:p>
                  </a:txBody>
                  <a:tcPr marL="101600" marR="101600" marT="38100" marB="38100" anchor="ctr">
                    <a:solidFill>
                      <a:srgbClr val="F4F2FA"/>
                    </a:solidFill>
                  </a:tcPr>
                </a:tc>
                <a:tc>
                  <a:txBody>
                    <a:bodyPr/>
                    <a:lstStyle/>
                    <a:p>
                      <a:r>
                        <a:rPr sz="1000" b="0" i="0">
                          <a:solidFill>
                            <a:srgbClr val="1A1440"/>
                          </a:solidFill>
                          <a:latin typeface="Calibri"/>
                        </a:rPr>
                        <a:t>237,016</a:t>
                      </a:r>
                    </a:p>
                  </a:txBody>
                  <a:tcPr marL="101600" marR="101600" marT="38100" marB="38100" anchor="ctr">
                    <a:solidFill>
                      <a:srgbClr val="F4F2FA"/>
                    </a:solidFill>
                  </a:tcPr>
                </a:tc>
                <a:tc>
                  <a:txBody>
                    <a:bodyPr/>
                    <a:lstStyle/>
                    <a:p>
                      <a:r>
                        <a:rPr sz="1000" b="0" i="0">
                          <a:solidFill>
                            <a:srgbClr val="1A1440"/>
                          </a:solidFill>
                          <a:latin typeface="Calibri"/>
                        </a:rPr>
                        <a:t>243,178</a:t>
                      </a:r>
                    </a:p>
                  </a:txBody>
                  <a:tcPr marL="101600" marR="101600" marT="38100" marB="38100" anchor="ctr">
                    <a:solidFill>
                      <a:srgbClr val="F4F2FA"/>
                    </a:solidFill>
                  </a:tcPr>
                </a:tc>
                <a:tc>
                  <a:txBody>
                    <a:bodyPr/>
                    <a:lstStyle/>
                    <a:p>
                      <a:r>
                        <a:rPr sz="1000" b="0" i="0">
                          <a:solidFill>
                            <a:srgbClr val="1A1440"/>
                          </a:solidFill>
                          <a:latin typeface="Calibri"/>
                        </a:rPr>
                        <a:t>2,027</a:t>
                      </a:r>
                    </a:p>
                  </a:txBody>
                  <a:tcPr marL="101600" marR="101600" marT="38100" marB="38100" anchor="ctr">
                    <a:solidFill>
                      <a:srgbClr val="F4F2FA"/>
                    </a:solidFill>
                  </a:tcPr>
                </a:tc>
              </a:tr>
              <a:tr h="310896">
                <a:tc>
                  <a:txBody>
                    <a:bodyPr/>
                    <a:lstStyle/>
                    <a:p>
                      <a:r>
                        <a:rPr sz="1000" b="0" i="0">
                          <a:solidFill>
                            <a:srgbClr val="1A1440"/>
                          </a:solidFill>
                          <a:latin typeface="Calibri"/>
                        </a:rPr>
                        <a:t>23 Nov</a:t>
                      </a:r>
                    </a:p>
                  </a:txBody>
                  <a:tcPr marL="101600" marR="101600" marT="38100" marB="38100" anchor="ctr">
                    <a:solidFill>
                      <a:srgbClr val="FFFFFF"/>
                    </a:solidFill>
                  </a:tcPr>
                </a:tc>
                <a:tc>
                  <a:txBody>
                    <a:bodyPr/>
                    <a:lstStyle/>
                    <a:p>
                      <a:r>
                        <a:rPr sz="1000" b="0" i="0">
                          <a:solidFill>
                            <a:srgbClr val="1A1440"/>
                          </a:solidFill>
                          <a:latin typeface="Calibri"/>
                        </a:rPr>
                        <a:t>225,992</a:t>
                      </a:r>
                    </a:p>
                  </a:txBody>
                  <a:tcPr marL="101600" marR="101600" marT="38100" marB="38100" anchor="ctr">
                    <a:solidFill>
                      <a:srgbClr val="FFFFFF"/>
                    </a:solidFill>
                  </a:tcPr>
                </a:tc>
                <a:tc>
                  <a:txBody>
                    <a:bodyPr/>
                    <a:lstStyle/>
                    <a:p>
                      <a:r>
                        <a:rPr sz="1000" b="0" i="0">
                          <a:solidFill>
                            <a:srgbClr val="1A1440"/>
                          </a:solidFill>
                          <a:latin typeface="Calibri"/>
                        </a:rPr>
                        <a:t>231,868</a:t>
                      </a:r>
                    </a:p>
                  </a:txBody>
                  <a:tcPr marL="101600" marR="101600" marT="38100" marB="38100" anchor="ctr">
                    <a:solidFill>
                      <a:srgbClr val="FFFFFF"/>
                    </a:solidFill>
                  </a:tcPr>
                </a:tc>
                <a:tc>
                  <a:txBody>
                    <a:bodyPr/>
                    <a:lstStyle/>
                    <a:p>
                      <a:r>
                        <a:rPr sz="1000" b="0" i="0">
                          <a:solidFill>
                            <a:srgbClr val="1A1440"/>
                          </a:solidFill>
                          <a:latin typeface="Calibri"/>
                        </a:rPr>
                        <a:t>1,933</a:t>
                      </a:r>
                    </a:p>
                  </a:txBody>
                  <a:tcPr marL="101600" marR="101600" marT="38100" marB="38100" anchor="ctr">
                    <a:solidFill>
                      <a:srgbClr val="FFFFFF"/>
                    </a:solidFill>
                  </a:tcPr>
                </a:tc>
              </a:tr>
              <a:tr h="310896">
                <a:tc>
                  <a:txBody>
                    <a:bodyPr/>
                    <a:lstStyle/>
                    <a:p>
                      <a:r>
                        <a:rPr sz="1000" b="0" i="0">
                          <a:solidFill>
                            <a:srgbClr val="1A1440"/>
                          </a:solidFill>
                          <a:latin typeface="Calibri"/>
                        </a:rPr>
                        <a:t>30 Nov</a:t>
                      </a:r>
                    </a:p>
                  </a:txBody>
                  <a:tcPr marL="101600" marR="101600" marT="38100" marB="38100" anchor="ctr">
                    <a:solidFill>
                      <a:srgbClr val="F4F2FA"/>
                    </a:solidFill>
                  </a:tcPr>
                </a:tc>
                <a:tc>
                  <a:txBody>
                    <a:bodyPr/>
                    <a:lstStyle/>
                    <a:p>
                      <a:r>
                        <a:rPr sz="1000" b="0" i="0">
                          <a:solidFill>
                            <a:srgbClr val="1A1440"/>
                          </a:solidFill>
                          <a:latin typeface="Calibri"/>
                        </a:rPr>
                        <a:t>227,136</a:t>
                      </a:r>
                    </a:p>
                  </a:txBody>
                  <a:tcPr marL="101600" marR="101600" marT="38100" marB="38100" anchor="ctr">
                    <a:solidFill>
                      <a:srgbClr val="F4F2FA"/>
                    </a:solidFill>
                  </a:tcPr>
                </a:tc>
                <a:tc>
                  <a:txBody>
                    <a:bodyPr/>
                    <a:lstStyle/>
                    <a:p>
                      <a:r>
                        <a:rPr sz="1000" b="0" i="0">
                          <a:solidFill>
                            <a:srgbClr val="1A1440"/>
                          </a:solidFill>
                          <a:latin typeface="Calibri"/>
                        </a:rPr>
                        <a:t>233,042</a:t>
                      </a:r>
                    </a:p>
                  </a:txBody>
                  <a:tcPr marL="101600" marR="101600" marT="38100" marB="38100" anchor="ctr">
                    <a:solidFill>
                      <a:srgbClr val="F4F2FA"/>
                    </a:solidFill>
                  </a:tcPr>
                </a:tc>
                <a:tc>
                  <a:txBody>
                    <a:bodyPr/>
                    <a:lstStyle/>
                    <a:p>
                      <a:r>
                        <a:rPr sz="10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874768"/>
            <a:ext cx="11130991" cy="1186688"/>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Shifts are the plan over 120, rounded up: 20,275 in all, 515 more than the 19,760 the forecast alone needs. </a:t>
            </a:r>
            <a:r>
              <a:rPr sz="1400" b="1" i="0">
                <a:solidFill>
                  <a:srgbClr val="1A1440"/>
                </a:solidFill>
                <a:latin typeface="Calibri"/>
              </a:rPr>
              <a:t>The error bar:</a:t>
            </a:r>
            <a:r>
              <a:rPr sz="1400" b="0" i="0">
                <a:solidFill>
                  <a:srgbClr val="1A1440"/>
                </a:solidFill>
                <a:latin typeface="Calibri"/>
              </a:rPr>
              <a:t> the forecast missed by 6,615 shipments a week on the hidden weeks, about Rs 35,800 of idle shifts when it ran that far high and Rs 1.65 lakh of late shipments when that far low, and by 4,034 a week on 2025's festival. For 19 October, demand at the hidden weeks' extremes would need 3,413 to 3,906 shifts against the 3,719 booked.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other plan costs at least Rs 82.2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each other plan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59104"/>
                <a:gridCol w="2163932"/>
                <a:gridCol w="2163932"/>
                <a:gridCol w="1744021"/>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r h="335280">
                <a:tc>
                  <a:txBody>
                    <a:bodyPr/>
                    <a:lstStyle/>
                    <a:p>
                      <a:r>
                        <a:rPr sz="1200" b="0" i="0">
                          <a:solidFill>
                            <a:srgbClr val="1A1440"/>
                          </a:solidFill>
                          <a:latin typeface="Calibri"/>
                        </a:rPr>
                        <a:t>The plan, festival-aligned plus 2.6 percent</a:t>
                      </a:r>
                    </a:p>
                  </a:txBody>
                  <a:tcPr marL="101600" marR="101600" marT="38100" marB="38100" anchor="ctr">
                    <a:solidFill>
                      <a:srgbClr val="F4F2FA"/>
                    </a:solidFill>
                  </a:tcPr>
                </a:tc>
                <a:tc>
                  <a:txBody>
                    <a:bodyPr/>
                    <a:lstStyle/>
                    <a:p>
                      <a:r>
                        <a:rPr sz="1200" b="0" i="0">
                          <a:solidFill>
                            <a:srgbClr val="1A1440"/>
                          </a:solidFill>
                          <a:latin typeface="Calibri"/>
                        </a:rPr>
                        <a:t>61,639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Rs 3.3 lakh</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booking by each other forecast costs; the 2025 back-test is the evidence that it places the rush well. The cushion's Rs 3.3 lakh is what the insurance costs if demand lands exactly on the forecast.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21256"/>
          <a:ext cx="11130991" cy="4039616"/>
        </p:xfrm>
        <a:graphic>
          <a:graphicData uri="http://schemas.openxmlformats.org/drawingml/2006/table">
            <a:tbl>
              <a:tblPr firstRow="0" bandRow="0">
                <a:tableStyleId>{2D5ABB26-0587-4C30-8999-92F81FD0307C}</a:tableStyleId>
              </a:tblPr>
              <a:tblGrid>
                <a:gridCol w="4946853"/>
                <a:gridCol w="6184138"/>
              </a:tblGrid>
              <a:tr h="352552">
                <a:tc>
                  <a:txBody>
                    <a:bodyPr/>
                    <a:lstStyle/>
                    <a:p>
                      <a:r>
                        <a:rPr sz="1350" b="1" i="0">
                          <a:solidFill>
                            <a:srgbClr val="FFFFFF"/>
                          </a:solidFill>
                          <a:latin typeface="Calibri"/>
                        </a:rPr>
                        <a:t>The doubt</a:t>
                      </a:r>
                    </a:p>
                  </a:txBody>
                  <a:tcPr marL="101600" marR="101600" marT="38100" marB="38100" anchor="ctr">
                    <a:solidFill>
                      <a:srgbClr val="1A0F5C"/>
                    </a:solidFill>
                  </a:tcPr>
                </a:tc>
                <a:tc>
                  <a:txBody>
                    <a:bodyPr/>
                    <a:lstStyle/>
                    <a:p>
                      <a:r>
                        <a:rPr sz="1350" b="1" i="0">
                          <a:solidFill>
                            <a:srgbClr val="FFFFFF"/>
                          </a:solidFill>
                          <a:latin typeface="Calibri"/>
                        </a:rPr>
                        <a:t>What we have, and what would settle it</a:t>
                      </a:r>
                    </a:p>
                  </a:txBody>
                  <a:tcPr marL="101600" marR="101600" marT="38100" marB="38100" anchor="ctr">
                    <a:solidFill>
                      <a:srgbClr val="1A0F5C"/>
                    </a:solidFill>
                  </a:tcPr>
                </a:tc>
              </a:tr>
              <a:tr h="352552">
                <a:tc>
                  <a:txBody>
                    <a:bodyPr/>
                    <a:lstStyle/>
                    <a:p>
                      <a:r>
                        <a:rPr sz="13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300" b="0" i="0">
                          <a:solidFill>
                            <a:srgbClr val="1A1440"/>
                          </a:solidFill>
                          <a:latin typeface="Calibri"/>
                        </a:rPr>
                        <a:t>One festival, the 2025 back-test; another festival would settle it</a:t>
                      </a:r>
                    </a:p>
                  </a:txBody>
                  <a:tcPr marL="101600" marR="101600" marT="38100" marB="38100" anchor="ctr">
                    <a:solidFill>
                      <a:srgbClr val="FFFFFF"/>
                    </a:solidFill>
                  </a:tcPr>
                </a:tc>
              </a:tr>
              <a:tr h="352552">
                <a:tc>
                  <a:txBody>
                    <a:bodyPr/>
                    <a:lstStyle/>
                    <a:p>
                      <a:r>
                        <a:rPr sz="1300" b="0" i="0">
                          <a:solidFill>
                            <a:srgbClr val="1A1440"/>
                          </a:solidFill>
                          <a:latin typeface="Calibri"/>
                        </a:rPr>
                        <a:t>Two years hold two festivals</a:t>
                      </a:r>
                    </a:p>
                  </a:txBody>
                  <a:tcPr marL="101600" marR="101600" marT="38100" marB="38100" anchor="ctr">
                    <a:solidFill>
                      <a:srgbClr val="F4F2FA"/>
                    </a:solidFill>
                  </a:tcPr>
                </a:tc>
                <a:tc>
                  <a:txBody>
                    <a:bodyPr/>
                    <a:lstStyle/>
                    <a:p>
                      <a:r>
                        <a:rPr sz="1300" b="0" i="0">
                          <a:solidFill>
                            <a:srgbClr val="1A1440"/>
                          </a:solidFill>
                          <a:latin typeface="Calibri"/>
                        </a:rPr>
                        <a:t>Two examples of the festival's shape; only a third year settles it</a:t>
                      </a:r>
                    </a:p>
                  </a:txBody>
                  <a:tcPr marL="101600" marR="101600" marT="38100" marB="38100" anchor="ctr">
                    <a:solidFill>
                      <a:srgbClr val="F4F2FA"/>
                    </a:solidFill>
                  </a:tcPr>
                </a:tc>
              </a:tr>
              <a:tr h="577088">
                <a:tc>
                  <a:txBody>
                    <a:bodyPr/>
                    <a:lstStyle/>
                    <a:p>
                      <a:r>
                        <a:rPr sz="1300" b="0" i="0">
                          <a:solidFill>
                            <a:srgbClr val="1A1440"/>
                          </a:solidFill>
                          <a:latin typeface="Calibri"/>
                        </a:rPr>
                        <a:t>The hidden weeks hold no festive week</a:t>
                      </a:r>
                    </a:p>
                  </a:txBody>
                  <a:tcPr marL="101600" marR="101600" marT="38100" marB="38100" anchor="ctr">
                    <a:solidFill>
                      <a:srgbClr val="FFFFFF"/>
                    </a:solidFill>
                  </a:tcPr>
                </a:tc>
                <a:tc>
                  <a:txBody>
                    <a:bodyPr/>
                    <a:lstStyle/>
                    <a:p>
                      <a:r>
                        <a:rPr sz="1300" b="0" i="0">
                          <a:solidFill>
                            <a:srgbClr val="1A1440"/>
                          </a:solidFill>
                          <a:latin typeface="Calibri"/>
                        </a:rPr>
                        <a:t>The 2025 festival's 4,034 a week; a rolling origin through that festival would settle it</a:t>
                      </a:r>
                    </a:p>
                  </a:txBody>
                  <a:tcPr marL="101600" marR="101600" marT="38100" marB="38100" anchor="ctr">
                    <a:solidFill>
                      <a:srgbClr val="FFFFFF"/>
                    </a:solidFill>
                  </a:tcPr>
                </a:tc>
              </a:tr>
              <a:tr h="801624">
                <a:tc>
                  <a:txBody>
                    <a:bodyPr/>
                    <a:lstStyle/>
                    <a:p>
                      <a:r>
                        <a:rPr sz="1300" b="0" i="0">
                          <a:solidFill>
                            <a:srgbClr val="1A1440"/>
                          </a:solidFill>
                          <a:latin typeface="Calibri"/>
                        </a:rPr>
                        <a:t>Capacity caps the peak</a:t>
                      </a:r>
                    </a:p>
                  </a:txBody>
                  <a:tcPr marL="101600" marR="101600" marT="38100" marB="38100" anchor="ctr">
                    <a:solidFill>
                      <a:srgbClr val="F4F2FA"/>
                    </a:solidFill>
                  </a:tcPr>
                </a:tc>
                <a:tc>
                  <a:txBody>
                    <a:bodyPr/>
                    <a:lstStyle/>
                    <a:p>
                      <a:r>
                        <a:rPr sz="13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4F2FA"/>
                    </a:solidFill>
                  </a:tcPr>
                </a:tc>
              </a:tr>
              <a:tr h="352552">
                <a:tc>
                  <a:txBody>
                    <a:bodyPr/>
                    <a:lstStyle/>
                    <a:p>
                      <a:r>
                        <a:rPr sz="1300" b="0" i="0">
                          <a:solidFill>
                            <a:srgbClr val="1A1440"/>
                          </a:solidFill>
                          <a:latin typeface="Calibri"/>
                        </a:rPr>
                        <a:t>Growth of 4 percent a year</a:t>
                      </a:r>
                    </a:p>
                  </a:txBody>
                  <a:tcPr marL="101600" marR="101600" marT="38100" marB="38100" anchor="ctr">
                    <a:solidFill>
                      <a:srgbClr val="FFFFFF"/>
                    </a:solidFill>
                  </a:tcPr>
                </a:tc>
                <a:tc>
                  <a:txBody>
                    <a:bodyPr/>
                    <a:lstStyle/>
                    <a:p>
                      <a:r>
                        <a:rPr sz="1300" b="0" i="0">
                          <a:solidFill>
                            <a:srgbClr val="1A1440"/>
                          </a:solidFill>
                          <a:latin typeface="Calibri"/>
                        </a:rPr>
                        <a:t>Two years' evidence; a third year would settle it</a:t>
                      </a:r>
                    </a:p>
                  </a:txBody>
                  <a:tcPr marL="101600" marR="101600" marT="38100" marB="38100" anchor="ctr">
                    <a:solidFill>
                      <a:srgbClr val="FFFFFF"/>
                    </a:solidFill>
                  </a:tcPr>
                </a:tc>
              </a:tr>
              <a:tr h="1250696">
                <a:tc>
                  <a:txBody>
                    <a:bodyPr/>
                    <a:lstStyle/>
                    <a:p>
                      <a:r>
                        <a:rPr sz="1300" b="0" i="0">
                          <a:solidFill>
                            <a:srgbClr val="1A1440"/>
                          </a:solidFill>
                          <a:latin typeface="Calibri"/>
                        </a:rPr>
                        <a:t>A tax change rode on the 2025 festival</a:t>
                      </a:r>
                    </a:p>
                  </a:txBody>
                  <a:tcPr marL="101600" marR="101600" marT="38100" marB="38100" anchor="ctr">
                    <a:solidFill>
                      <a:srgbClr val="F4F2FA"/>
                    </a:solidFill>
                  </a:tcPr>
                </a:tc>
                <a:tc>
                  <a:txBody>
                    <a:bodyPr/>
                    <a:lstStyle/>
                    <a:p>
                      <a:r>
                        <a:rPr sz="1300" b="0" i="0">
                          <a:solidFill>
                            <a:srgbClr val="1A1440"/>
                          </a:solidFill>
                          <a:latin typeface="Calibri"/>
                        </a:rPr>
                        <a:t>Two-wheeler retail registrations ran at 31.5 lakh in October 2025 against 12.9 lakh in September, part of it credited to cuts in GST, India's goods and services tax (FADA, the Federation of Automobile Dealers Associations, release of 7 November 2025, checked 12 October 2026); a series with the tax change marked would settle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does the morning leave on the board?</a:t>
            </a:r>
          </a:p>
        </p:txBody>
      </p:sp>
      <p:pic>
        <p:nvPicPr>
          <p:cNvPr id="9" name="mermaid diagram" descr="052451889d7f1b16.png"/>
          <p:cNvPicPr>
            <a:picLocks noChangeAspect="1"/>
          </p:cNvPicPr>
          <p:nvPr/>
        </p:nvPicPr>
        <p:blipFill>
          <a:blip r:embed="rId5"/>
          <a:stretch>
            <a:fillRect/>
          </a:stretch>
        </p:blipFill>
        <p:spPr>
          <a:xfrm>
            <a:off x="829168" y="1664208"/>
            <a:ext cx="10533357"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To finance: right growth, wrong weeks, since copied by calendar the 4 percent puts the peak on 5 October and sits 308,048 shipments short. To the vendor's sponsor: a fit of 1.4 percent, and 16,400 a week off on weeks it never saw. The rule: beat the bot on hidden weeks, place the festival, cover demand in 0.82 of weeks.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