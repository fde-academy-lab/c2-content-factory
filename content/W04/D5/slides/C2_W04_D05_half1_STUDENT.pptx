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question in the subtitle: it is the row's</a:t>
            </a:r>
          </a:p>
          <a:p>
            <a:r>
              <a:t>Day focus, word for word. Say the order of the day once: five topics on the chai stall, then the</a:t>
            </a:r>
          </a:p>
          <a:p>
            <a:r>
              <a:t>Flipkart case, then Kalpa in the lab. Transition: where Friday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five subtopics of the curriculum row, in</a:t>
            </a:r>
          </a:p>
          <a:p>
            <a:r>
              <a:t>its order. Subtopics 4 and 5 share chapter 4 because both rest on one decision: a forecast earns</a:t>
            </a:r>
          </a:p>
          <a:p>
            <a:r>
              <a:t>trust by beating the baseline on periods it never saw, and it is good enough when a better one</a:t>
            </a:r>
          </a:p>
          <a:p>
            <a:r>
              <a:t>would change no decision. Say the minutes. The concept map follows. Transition: how the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dashed box holds what</a:t>
            </a:r>
          </a:p>
          <a:p>
            <a:r>
              <a:t>the chapters reuse, each named again at the point of reuse: Week 2 Thursday's pivot trend view in</a:t>
            </a:r>
          </a:p>
          <a:p>
            <a:r>
              <a:t>chapter 1, Week 2 Wednesday's LAG in chapter 2 (a seasonal copy is LAG by a season), Week 1 Monday's</a:t>
            </a:r>
          </a:p>
          <a:p>
            <a:r>
              <a:t>average that one giant miss can move and Week 1 Tuesday's matched windows in chapter 3, Wednesday's</a:t>
            </a:r>
          </a:p>
          <a:p>
            <a:r>
              <a:t>lift beyond chance in chapter 4, and Thursday's rule to align cohorts and never blend them in the</a:t>
            </a:r>
          </a:p>
          <a:p>
            <a:r>
              <a:t>case's festival alignment. The map returns, with the current chapter lit, at every chapter's close.</a:t>
            </a:r>
          </a:p>
          <a:p>
            <a:r>
              <a:t>Explorer: scene F1. 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it as the destination: read the two forecasts and the ask, nothing more. Ask</a:t>
            </a:r>
          </a:p>
          <a:p>
            <a:r>
              <a:t>the room what would make either forecast wrong, and write the answers on the board without judging</a:t>
            </a:r>
          </a:p>
          <a:p>
            <a:r>
              <a:t>them; chapter 5 opens on the ticket in full and returns to the list.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1 of 4, 22 minutes. The example runs through all four concept chapters: a</a:t>
            </a:r>
          </a:p>
          <a:p>
            <a:r>
              <a:t>chai stall at a hostel gate, every number invented and labelled invented, 730 days of cups that the</a:t>
            </a:r>
          </a:p>
          <a:p>
            <a:r>
              <a:t>day's own generator wrote. Notebook 01 runs beside the chapter. Transition: who needs the reading.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definitions, then the four questions; each gets a number before the</a:t>
            </a:r>
          </a:p>
          <a:p>
            <a:r>
              <a:t>next is asked. The stall sells about 100 cups on a weekday; every number in this chapter is</a:t>
            </a:r>
          </a:p>
          <a:p>
            <a:r>
              <a:t>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misconception on the table first. Vote, two minutes with a</a:t>
            </a:r>
          </a:p>
          <a:p>
            <a:r>
              <a:t>neighbour, vote again, and keep both counts on the board. The plausible wrong number is 100 over 60,</a:t>
            </a:r>
          </a:p>
          <a:p>
            <a:r>
              <a:t>plus 67 percent; the decision it would mislead is two-thirds more milk. Option c is the honest</a:t>
            </a:r>
          </a:p>
          <a:p>
            <a:r>
              <a:t>first instinct; the next slide shows why fourteen days settle it.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word season after it. Count the bars</a:t>
            </a:r>
          </a:p>
          <a:p>
            <a:r>
              <a:t>aloud from Monday 30 September. Explorer: scene F1, the season slider. Transition: reading growth</a:t>
            </a:r>
          </a:p>
          <a:p>
            <a:r>
              <a:t>without the beat fooling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StatQuest's move: tiny numbers, every step said aloud. Ask why this Monday against</a:t>
            </a:r>
          </a:p>
          <a:p>
            <a:r>
              <a:t>last Monday does not show the growth: a week's growth is too small to see under a wobble of a few</a:t>
            </a:r>
          </a:p>
          <a:p>
            <a:r>
              <a:t>cups, so a year apart is the comparison that shows it. Transition: a whole year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picture, then name the parts. FPP3's words: a trend "exists when there is</a:t>
            </a:r>
          </a:p>
          <a:p>
            <a:r>
              <a:t>a long-term increase or decrease in the data"; seasonality "is always of a fixed and known period",</a:t>
            </a:r>
          </a:p>
          <a:p>
            <a:r>
              <a:t>and "one series can have more than one seasonal pattern"; a cycle shows "rises and falls that are</a:t>
            </a:r>
          </a:p>
          <a:p>
            <a:r>
              <a:t>not of a fixed frequency". Sources: https://otexts.com/fpp3/graphics.html#sec-tspatterns and</a:t>
            </a:r>
          </a:p>
          <a:p>
            <a:r>
              <a:t>https://otexts.com/fpp3/decomposition.html#sec-components (both checked 13 October 2026). The</a:t>
            </a:r>
          </a:p>
          <a:p>
            <a:r>
              <a:t>stall's seasons grow with its level, since Sunday is always 0.6 of an ordinary day, which FPP3 calls</a:t>
            </a:r>
          </a:p>
          <a:p>
            <a:r>
              <a:t>a multiplicative decomposition. Transition: the same reading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Krish Naik's move: one plain sentence for each line. Why 364 and never a calendar year of days: 364 is</a:t>
            </a:r>
          </a:p>
          <a:p>
            <a:r>
              <a:t>52 whole weeks, so a Monday lands on a Monday and the weekly beat stays in step.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Ask the c1 set's first item aloud:</a:t>
            </a:r>
          </a:p>
          <a:p>
            <a:r>
              <a:t>the mess used 25 kg of rice on a Monday and 40 kg on a Sunday; which comparison reads growth? Key d,</a:t>
            </a:r>
          </a:p>
          <a:p>
            <a:r>
              <a:t>either the same day a week apart or the same week a year apart. Transition: where the reading goes.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Transition: chapter 2, the rules that copy the past.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2 of 4, 23 minutes. Notebook 02 runs beside the chapter. Transition: who</a:t>
            </a:r>
          </a:p>
          <a:p>
            <a:r>
              <a:t>needs a rule that runs on paper.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the rule with the most arithmetic forecasts best. Vote,</a:t>
            </a:r>
          </a:p>
          <a:p>
            <a:r>
              <a:t>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three markers above next Sunday. Ask which rule a shift supervisor</a:t>
            </a:r>
          </a:p>
          <a:p>
            <a:r>
              <a:t>could run in their head: all three, which is why they are baselines. Transition: each rule by hand.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drift aloud: the step from the first day to the last is 5 cups over 3 steps,</a:t>
            </a:r>
          </a:p>
          <a:p>
            <a:r>
              <a:t>about 1.7 a day, added once. Notebook 02 counts each by hand and by code and checks that the two</a:t>
            </a:r>
          </a:p>
          <a:p>
            <a:r>
              <a:t>agree. Transition: a whole year, and a rule that needs one more 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worked day: on Wednesday 26 November 2025, the first exam day, the stall sold</a:t>
            </a:r>
          </a:p>
          <a:p>
            <a:r>
              <a:t>154; naive copied Tuesday's 110 and fell 44 short; the yearly copy took the first exam day of 2024,</a:t>
            </a:r>
          </a:p>
          <a:p>
            <a:r>
              <a:t>140, and fell 14 short; 140 x 1.10 = 154. Finance's habit, last year plus 4 percent, is this same</a:t>
            </a:r>
          </a:p>
          <a:p>
            <a:r>
              <a:t>move: the seasonal naive times a growth factor. The formulas are FPP3's, section 5.2:</a:t>
            </a:r>
          </a:p>
          <a:p>
            <a:r>
              <a:t>https://otexts.com/fpp3/toolbox.html#sec-simple-methods (checked 13 October 2026), where the</a:t>
            </a:r>
          </a:p>
          <a:p>
            <a:r>
              <a:t>seasonal naive's general form reaches back whole seasons when h is longer than one. Transition: a</a:t>
            </a:r>
          </a:p>
          <a:p>
            <a:r>
              <a:t>festival that moves.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left panel's dip arrives a week late; the right panel's sits on Diwali week.</a:t>
            </a:r>
          </a:p>
          <a:p>
            <a:r>
              <a:t>Say plainly that festival-aligned is this course's construction, built on the textbook's seasonal</a:t>
            </a:r>
          </a:p>
          <a:p>
            <a:r>
              <a:t>naive, so nobody quotes it as a standard method. Explorer: scene F3, the festival marker.</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c2 set's first item aloud: at the mess the last four days used 25, 26, 25</a:t>
            </a:r>
          </a:p>
          <a:p>
            <a:r>
              <a:t>and 27 kg and last Sunday 42 kg; which rule, and what does it say for next Sunday? Key c, the</a:t>
            </a:r>
          </a:p>
          <a:p>
            <a:r>
              <a:t>seasonal naive, 42. Transition: where the rules go.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aliases come after the textbook names: seasonal naive first, then same week last</a:t>
            </a:r>
          </a:p>
          <a:p>
            <a:r>
              <a:t>year, then the house bot. Transition: chapter 3, scoring a rule on days it never saw.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3 of 4, 30 minutes. Notebook 03 runs beside the chapter. Transition: who</a:t>
            </a:r>
          </a:p>
          <a:p>
            <a:r>
              <a:t>needs the score.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 cup unsold wastes about Rs 6 of milk and a cup short</a:t>
            </a:r>
          </a:p>
          <a:p>
            <a:r>
              <a:t>loses about Rs 12 of margin; both are invented.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is that a rule can be judged on the days it has already seen.</a:t>
            </a:r>
          </a:p>
          <a:p>
            <a:r>
              <a:t>Vote, argue, vote again.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F2, the split slider. The FPP3 line is section 5.8:</a:t>
            </a:r>
          </a:p>
          <a:p>
            <a:r>
              <a:t>https://otexts.com/fpp3/toolbox.html#sec-accuracy (checked 13 October 2026). Options b and d fail</a:t>
            </a:r>
          </a:p>
          <a:p>
            <a:r>
              <a:t>because a random day has later days in the training set; option c tests the dearest days only, so the</a:t>
            </a:r>
          </a:p>
          <a:p>
            <a:r>
              <a:t>score says nothing about an ordinary order. Transition: counting the misses.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StatQuest's move: each step aloud. A miss here is what the rule said minus what</a:t>
            </a:r>
          </a:p>
          <a:p>
            <a:r>
              <a:t>sold, so positive means too high; FPP3 writes the error the other way round, sold minus said, which</a:t>
            </a:r>
          </a:p>
          <a:p>
            <a:r>
              <a:t>flips the sign and leaves the size alone. Transition: when a percent misleads.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FPP3, section 5.8: "Mean absolute error: MAE = mean(|e_t|)"; percentage errors have</a:t>
            </a:r>
          </a:p>
          <a:p>
            <a:r>
              <a:t>"the advantage of being unit-free", and the disadvantage of "being infinite or undefined if y_t = 0</a:t>
            </a:r>
          </a:p>
          <a:p>
            <a:r>
              <a:t>for any t in the period of interest, and having extreme values if any y_t is close to zero" (checked</a:t>
            </a:r>
          </a:p>
          <a:p>
            <a:r>
              <a:t>13 October 2026). The milkman hears cups and rupees; MAPE is for comparing this stall with one twice</a:t>
            </a:r>
          </a:p>
          <a:p>
            <a:r>
              <a:t>its size. Transition: two rules with the same score.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Predict before revealing the costs: which rule costs more? Most rooms say they cost</a:t>
            </a:r>
          </a:p>
          <a:p>
            <a:r>
              <a:t>the same. Flipkart's case meets this again in chapter 6, where a forecast with a worse MAE costs less</a:t>
            </a:r>
          </a:p>
          <a:p>
            <a:r>
              <a:t>once priced.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c3 set's first item aloud: five hidden days missed by 12, -8, 5, -15 and 6</a:t>
            </a:r>
          </a:p>
          <a:p>
            <a:r>
              <a:t>kg; what is the MAE, and which way does the rule lean? Key a, 9.2 kg and no lean. Transition: where</a:t>
            </a:r>
          </a:p>
          <a:p>
            <a:r>
              <a:t>the score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Week 1 Monday showed that one giant miss moves a mean; Week 1 Tuesday compared like</a:t>
            </a:r>
          </a:p>
          <a:p>
            <a:r>
              <a:t>with like. Ten minutes' break follows. Transition: after the break, chapter 4.</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Concept 4 of 4, 20 minutes, after the break. Two of the row's subtopics share this</a:t>
            </a:r>
          </a:p>
          <a:p>
            <a:r>
              <a:t>Chapter because both rest on one decision. Notebook 04 runs beside it. Transition: who needs the</a:t>
            </a:r>
          </a:p>
          <a:p>
            <a:r>
              <a:t>verdict.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the model that fits history best will forecast best. Vote.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curve's 168 needs no algebra: the four days' differences are 4, -6 and 12, their</a:t>
            </a:r>
          </a:p>
          <a:p>
            <a:r>
              <a:t>differences -10 and 18, and theirs 28; carry the 28 down and the curve climbs to 168. FPP3, section</a:t>
            </a:r>
          </a:p>
          <a:p>
            <a:r>
              <a:t>5.8: "A model which fits the training data well will not necessarily forecast well. A perfect fit</a:t>
            </a:r>
          </a:p>
          <a:p>
            <a:r>
              <a:t>can always be obtained by using a model with enough parameters" (checked 13 October 2026).</a:t>
            </a:r>
          </a:p>
          <a:p>
            <a:r>
              <a:t>Transition: the nephew's next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Both rules are scored on the same seven days by the same measure, fixed before</a:t>
            </a:r>
          </a:p>
          <a:p>
            <a:r>
              <a:t>either ran. Transition: is a better rule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row's mid-session question in its short form: which of three model scores</a:t>
            </a:r>
          </a:p>
          <a:p>
            <a:r>
              <a:t>earns a place, and which changes nothing? The c4 set's second item asks it on Flipkart's numbers.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prints the note from its variables, so every number in it is the one</a:t>
            </a:r>
          </a:p>
          <a:p>
            <a:r>
              <a:t>the notebook computed.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c4 set's first item aloud: the curve fits all four days and says 168, the</a:t>
            </a:r>
          </a:p>
          <a:p>
            <a:r>
              <a:t>line says 109; which do you trust, and why? Key b. Transition: where the verdict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Wednesday's lift asked for beyond chance and Thursday's cohorts for beyond the blend;</a:t>
            </a:r>
          </a:p>
          <a:p>
            <a:r>
              <a:t>today a forecast must get beyond the copy. The concept block ends here. Transition: the case, read in</a:t>
            </a:r>
          </a:p>
          <a:p>
            <a:r>
              <a:t>full.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1 of 3, levels L1 and L2, round one of the tournament. Applies chapters 1</a:t>
            </a:r>
          </a:p>
          <a:p>
            <a:r>
              <a:t>and 2. Twelve printed weeks per table; no laptop opens until notebook 05.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questions. Each gets a number before the next is asked.</a:t>
            </a:r>
          </a:p>
          <a:p>
            <a:r>
              <a:t>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then the label line. Today is a tournament in three</a:t>
            </a:r>
          </a:p>
          <a:p>
            <a:r>
              <a:t>rounds: count by hand, score on hidden weeks, then place the festival and size the plan. Point at</a:t>
            </a:r>
          </a:p>
          <a:p>
            <a:r>
              <a:t>the four tables and their columns; every case number today comes from them. Return to the list of</a:t>
            </a:r>
          </a:p>
          <a:p>
            <a:r>
              <a:t>what would make each forecast wrong from S5.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The rule is fixed now, before anyone</a:t>
            </a:r>
          </a:p>
          <a:p>
            <a:r>
              <a:t>scores: mean absolute error in shipments on the thirteen held-out weeks, chapter 3's measure, then</a:t>
            </a:r>
          </a:p>
          <a:p>
            <a:r>
              <a:t>the same misses priced. Groups enter their own one-line rule in round one. Transition: the first</a:t>
            </a:r>
          </a:p>
          <a:p>
            <a:r>
              <a:t>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with the</a:t>
            </a:r>
          </a:p>
          <a:p>
            <a:r>
              <a:t>sale, before the festival, so they arrive in time, which is why the peak comes early. If most of the</a:t>
            </a:r>
          </a:p>
          <a:p>
            <a:r>
              <a:t>room voted a, ask what a customer does on Diwali itself. Transition: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textbook names first: seasonal naive, which the tournament calls the house bot</a:t>
            </a:r>
          </a:p>
          <a:p>
            <a:r>
              <a:t>and finance calls same week last year. Festival-aligned is this programme's construction. The 4</a:t>
            </a:r>
          </a:p>
          <a:p>
            <a:r>
              <a:t>percent is measured: notebook 06 sets the latest 39 training weeks against the same weeks a year</a:t>
            </a:r>
          </a:p>
          <a:p>
            <a:r>
              <a:t>earlier and gets 4.0 percent, the same figure finance uses. Groups work each rule on the twelve</a:t>
            </a:r>
          </a:p>
          <a:p>
            <a:r>
              <a:t>printed rows before voting; the actual that week was 308,900, held until the vote. Transition: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the stall's dip in chapter 2 moved the same way. As in a Veritasium video, the reveal follows the</a:t>
            </a:r>
          </a:p>
          <a:p>
            <a:r>
              <a:t>vote of S43.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in half two, and the festival calendar card answers it there.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map left to right; the dashed box is chapter 6. Transition: chapter 6, the</a:t>
            </a:r>
          </a:p>
          <a:p>
            <a:r>
              <a:t>hold-out.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2 of 3, levels L2 and L3, round two of the tournament. Applies chapters 2, 3</a:t>
            </a:r>
          </a:p>
          <a:p>
            <a:r>
              <a:t>and 4. Notebook 06 runs 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 books eight weeks, but its last week is ten weeks past the data, and the</a:t>
            </a:r>
          </a:p>
          <a:p>
            <a:r>
              <a:t>horizon is the farthest week ahead. Point at the August sale inside the hidden weeks: a copy of last</a:t>
            </a:r>
          </a:p>
          <a:p>
            <a:r>
              <a:t>year knows about it, naive does not. Explorer: scene F2, the split slider.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answers before the scoreboard runs, as learners do on Brilliant. Option d</a:t>
            </a:r>
          </a:p>
          <a:p>
            <a:r>
              <a:t>names the tie on purpose, and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chart uses Tufte's small multiples, one rule per panel on the same axes. The bot</a:t>
            </a:r>
          </a:p>
          <a:p>
            <a:r>
              <a:t>beats naive because it carries the August sale; it loses to the 4 percent rules because a growing</a:t>
            </a:r>
          </a:p>
          <a:p>
            <a:r>
              <a:t>series makes last year too low, the stall's lesson from chapter 2.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Then every learner types the vendor's score into notebook 06's empty</a:t>
            </a:r>
          </a:p>
          <a:p>
            <a:r>
              <a:t>cell and reads the number aloud. Chapter 4's curve through four days is the same mistake at a</a:t>
            </a:r>
          </a:p>
          <a:p>
            <a:r>
              <a:t>stall's size.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 Ask</a:t>
            </a:r>
          </a:p>
          <a:p>
            <a:r>
              <a:t>which way each rule's misses run before anyone votes: chapter 3's lean, at Flipkart's size.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result stand; it is true of this data. The room should leave with the</a:t>
            </a:r>
          </a:p>
          <a:p>
            <a:r>
              <a:t>reason: a late shipment costs 4.6 times a spare one, the stall's Rs 12 against Rs 6 at Flipkart's</a:t>
            </a:r>
          </a:p>
          <a:p>
            <a:r>
              <a:t>scale.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plan's case rests on two things this hold-out cannot test: the festival's</a:t>
            </a:r>
          </a:p>
          <a:p>
            <a:r>
              <a:t>placement, which chapter 7 tests on 2025's festival, and how high to lean, which the plan quantile</a:t>
            </a:r>
          </a:p>
          <a:p>
            <a:r>
              <a:t>sizes beyond today's row (the fallback hour, and notebook 07's depth section). Transition: the same</a:t>
            </a:r>
          </a:p>
          <a:p>
            <a:r>
              <a:t>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prints the thirteen misses; the last cell adds them. Transition:</a:t>
            </a:r>
          </a:p>
          <a:p>
            <a:r>
              <a:t>chapter 6's answers.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Lunch follows; the afternoon opens on chapter 7.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9.png"/><Relationship Id="rId7" Type="http://schemas.openxmlformats.org/officeDocument/2006/relationships/image" Target="../media/image24.png"/><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3.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6.png"/><Relationship Id="rId6" Type="http://schemas.openxmlformats.org/officeDocument/2006/relationships/image" Target="../media/image39.png"/><Relationship Id="rId7" Type="http://schemas.openxmlformats.org/officeDocument/2006/relationships/image" Target="../media/image27.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Forecasting basics: how much the plan delivers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does the plan deliver, against a baseline that is hard to beat?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Friday answers one question with five topics: how much will a plan deliver, and how wrong could its number be? The topics are taught first on a chai stall at a hostel gate, whose cups are invented and small enough to count by hand. Then Flipkart's Lucknow fulfilment centre uses all five to book its festive packer shifts, an illustrative case: the company is real, the situation and the data are synthetic, built for this class. The lab runs the same method on Kalpa Retail's revenue.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65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49557f3c05cfb8d6.png"/>
          <p:cNvPicPr>
            <a:picLocks noChangeAspect="1"/>
          </p:cNvPicPr>
          <p:nvPr/>
        </p:nvPicPr>
        <p:blipFill>
          <a:blip r:embed="rId5"/>
          <a:stretch>
            <a:fillRect/>
          </a:stretch>
        </p:blipFill>
        <p:spPr>
          <a:xfrm>
            <a:off x="530352" y="1956816"/>
            <a:ext cx="11130991" cy="1924240"/>
          </a:xfrm>
          <a:prstGeom prst="rect">
            <a:avLst/>
          </a:prstGeom>
        </p:spPr>
      </p:pic>
      <p:sp>
        <p:nvSpPr>
          <p:cNvPr id="10" name="TextBox 9"/>
          <p:cNvSpPr txBox="1"/>
          <p:nvPr/>
        </p:nvSpPr>
        <p:spPr>
          <a:xfrm>
            <a:off x="530352" y="40273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day asked what a number is compared with, and each node carries the number its day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Friday teach, in which order, and where is each practised?</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4667418"/>
                <a:gridCol w="1963372"/>
                <a:gridCol w="3585800"/>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Trend and seasonality, read before modelling</a:t>
                      </a:r>
                    </a:p>
                  </a:txBody>
                  <a:tcPr marL="101600" marR="101600" marT="38100" marB="38100" anchor="ctr">
                    <a:solidFill>
                      <a:srgbClr val="FFFFFF"/>
                    </a:solidFill>
                  </a:tcPr>
                </a:tc>
                <a:tc>
                  <a:txBody>
                    <a:bodyPr/>
                    <a:lstStyle/>
                    <a:p>
                      <a:r>
                        <a:rPr sz="1200" b="0" i="0">
                          <a:solidFill>
                            <a:srgbClr val="1A1440"/>
                          </a:solidFill>
                          <a:latin typeface="Calibri"/>
                        </a:rPr>
                        <a:t>22 minutes</a:t>
                      </a:r>
                    </a:p>
                  </a:txBody>
                  <a:tcPr marL="101600" marR="101600" marT="38100" marB="38100" anchor="ctr">
                    <a:solidFill>
                      <a:srgbClr val="FFFFFF"/>
                    </a:solidFill>
                  </a:tcPr>
                </a:tc>
                <a:tc>
                  <a:txBody>
                    <a:bodyPr/>
                    <a:lstStyle/>
                    <a:p>
                      <a:r>
                        <a:rPr sz="1200" b="0" i="0">
                          <a:solidFill>
                            <a:srgbClr val="1A1440"/>
                          </a:solidFill>
                          <a:latin typeface="Calibri"/>
                        </a:rPr>
                        <a:t>01, trend and seasonality</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Naive, seasonal naive and drift baselines</a:t>
                      </a:r>
                    </a:p>
                  </a:txBody>
                  <a:tcPr marL="101600" marR="101600" marT="38100" marB="38100" anchor="ctr">
                    <a:solidFill>
                      <a:srgbClr val="F4F2FA"/>
                    </a:solidFill>
                  </a:tcPr>
                </a:tc>
                <a:tc>
                  <a:txBody>
                    <a:bodyPr/>
                    <a:lstStyle/>
                    <a:p>
                      <a:r>
                        <a:rPr sz="1200" b="0" i="0">
                          <a:solidFill>
                            <a:srgbClr val="1A1440"/>
                          </a:solidFill>
                          <a:latin typeface="Calibri"/>
                        </a:rPr>
                        <a:t>23 minutes</a:t>
                      </a:r>
                    </a:p>
                  </a:txBody>
                  <a:tcPr marL="101600" marR="101600" marT="38100" marB="38100" anchor="ctr">
                    <a:solidFill>
                      <a:srgbClr val="F4F2FA"/>
                    </a:solidFill>
                  </a:tcPr>
                </a:tc>
                <a:tc>
                  <a:txBody>
                    <a:bodyPr/>
                    <a:lstStyle/>
                    <a:p>
                      <a:r>
                        <a:rPr sz="1200" b="0" i="0">
                          <a:solidFill>
                            <a:srgbClr val="1A1440"/>
                          </a:solidFill>
                          <a:latin typeface="Calibri"/>
                        </a:rPr>
                        <a:t>02, naive, seasonal naive, drift</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Holding out; MAE and MAPE in the business's units</a:t>
                      </a:r>
                    </a:p>
                  </a:txBody>
                  <a:tcPr marL="101600" marR="101600" marT="38100" marB="38100" anchor="ctr">
                    <a:solidFill>
                      <a:srgbClr val="FFFFFF"/>
                    </a:solidFill>
                  </a:tcPr>
                </a:tc>
                <a:tc>
                  <a:txBody>
                    <a:bodyPr/>
                    <a:lstStyle/>
                    <a:p>
                      <a:r>
                        <a:rPr sz="1200" b="0" i="0">
                          <a:solidFill>
                            <a:srgbClr val="1A1440"/>
                          </a:solidFill>
                          <a:latin typeface="Calibri"/>
                        </a:rPr>
                        <a:t>30 minutes</a:t>
                      </a:r>
                    </a:p>
                  </a:txBody>
                  <a:tcPr marL="101600" marR="101600" marT="38100" marB="38100" anchor="ctr">
                    <a:solidFill>
                      <a:srgbClr val="FFFFFF"/>
                    </a:solidFill>
                  </a:tcPr>
                </a:tc>
                <a:tc>
                  <a:txBody>
                    <a:bodyPr/>
                    <a:lstStyle/>
                    <a:p>
                      <a:r>
                        <a:rPr sz="1200" b="0" i="0">
                          <a:solidFill>
                            <a:srgbClr val="1A1440"/>
                          </a:solidFill>
                          <a:latin typeface="Calibri"/>
                        </a:rPr>
                        <a:t>03, hold-out, MAE, MAPE</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Beating the baseline; the vendor curve tested</a:t>
                      </a:r>
                    </a:p>
                  </a:txBody>
                  <a:tcPr marL="101600" marR="101600" marT="38100" marB="38100" anchor="ctr">
                    <a:solidFill>
                      <a:srgbClr val="F4F2FA"/>
                    </a:solidFill>
                  </a:tcPr>
                </a:tc>
                <a:tc>
                  <a:txBody>
                    <a:bodyPr/>
                    <a:lstStyle/>
                    <a:p>
                      <a:r>
                        <a:rPr sz="1200" b="0" i="0">
                          <a:solidFill>
                            <a:srgbClr val="1A1440"/>
                          </a:solidFill>
                          <a:latin typeface="Calibri"/>
                        </a:rPr>
                        <a:t>20 minutes, shared</a:t>
                      </a:r>
                    </a:p>
                  </a:txBody>
                  <a:tcPr marL="101600" marR="101600" marT="38100" marB="38100" anchor="ctr">
                    <a:solidFill>
                      <a:srgbClr val="F4F2FA"/>
                    </a:solidFill>
                  </a:tcPr>
                </a:tc>
                <a:tc>
                  <a:txBody>
                    <a:bodyPr/>
                    <a:lstStyle/>
                    <a:p>
                      <a:r>
                        <a:rPr sz="1200" b="0" i="0">
                          <a:solidFill>
                            <a:srgbClr val="1A1440"/>
                          </a:solidFill>
                          <a:latin typeface="Calibri"/>
                        </a:rPr>
                        <a:t>04, beating the baseline, good enough</a:t>
                      </a:r>
                    </a:p>
                  </a:txBody>
                  <a:tcPr marL="101600" marR="101600" marT="38100" marB="38100" anchor="ctr">
                    <a:solidFill>
                      <a:srgbClr val="F4F2FA"/>
                    </a:solidFill>
                  </a:tcPr>
                </a:tc>
              </a:tr>
              <a:tr h="335280">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good-enough call and the forecast note</a:t>
                      </a:r>
                    </a:p>
                  </a:txBody>
                  <a:tcPr marL="101600" marR="101600" marT="38100" marB="38100" anchor="ctr">
                    <a:solidFill>
                      <a:srgbClr val="FFFFFF"/>
                    </a:solidFill>
                  </a:tcPr>
                </a:tc>
                <a:tc>
                  <a:txBody>
                    <a:bodyPr/>
                    <a:lstStyle/>
                    <a:p>
                      <a:r>
                        <a:rPr sz="1200" b="0" i="0">
                          <a:solidFill>
                            <a:srgbClr val="1A1440"/>
                          </a:solidFill>
                          <a:latin typeface="Calibri"/>
                        </a:rPr>
                        <a:t>the same 20 minutes</a:t>
                      </a:r>
                    </a:p>
                  </a:txBody>
                  <a:tcPr marL="101600" marR="101600" marT="38100" marB="38100" anchor="ctr">
                    <a:solidFill>
                      <a:srgbClr val="FFFFFF"/>
                    </a:solidFill>
                  </a:tcPr>
                </a:tc>
                <a:tc>
                  <a:txBody>
                    <a:bodyPr/>
                    <a:lstStyle/>
                    <a:p>
                      <a:r>
                        <a:rPr sz="1200" b="0" i="0">
                          <a:solidFill>
                            <a:srgbClr val="1A1440"/>
                          </a:solidFill>
                          <a:latin typeface="Calibri"/>
                        </a:rPr>
                        <a:t>04, the same notebook</a:t>
                      </a:r>
                    </a:p>
                  </a:txBody>
                  <a:tcPr marL="101600" marR="101600" marT="38100" marB="38100" anchor="ctr">
                    <a:solidFill>
                      <a:srgbClr val="FFFFFF"/>
                    </a:solidFill>
                  </a:tcPr>
                </a:tc>
              </a:tr>
              <a:tr h="335280">
                <a:tc>
                  <a:txBody>
                    <a:bodyPr/>
                    <a:lstStyle/>
                    <a:p>
                      <a:r>
                        <a:rPr sz="1200" b="0" i="0">
                          <a:solidFill>
                            <a:srgbClr val="1A1440"/>
                          </a:solidFill>
                          <a:latin typeface="Calibri"/>
                        </a:rPr>
                        <a:t>5 to 7</a:t>
                      </a:r>
                    </a:p>
                  </a:txBody>
                  <a:tcPr marL="101600" marR="101600" marT="38100" marB="38100" anchor="ctr">
                    <a:solidFill>
                      <a:srgbClr val="F4F2FA"/>
                    </a:solidFill>
                  </a:tcPr>
                </a:tc>
                <a:tc>
                  <a:txBody>
                    <a:bodyPr/>
                    <a:lstStyle/>
                    <a:p>
                      <a:r>
                        <a:rPr sz="1200" b="0" i="0">
                          <a:solidFill>
                            <a:srgbClr val="1A1440"/>
                          </a:solidFill>
                          <a:latin typeface="Calibri"/>
                        </a:rPr>
                        <a:t>The case: Flipkart's Lucknow fulfilment centre</a:t>
                      </a:r>
                    </a:p>
                  </a:txBody>
                  <a:tcPr marL="101600" marR="101600" marT="38100" marB="38100" anchor="ctr">
                    <a:solidFill>
                      <a:srgbClr val="F4F2FA"/>
                    </a:solidFill>
                  </a:tcPr>
                </a:tc>
                <a:tc>
                  <a:txBody>
                    <a:bodyPr/>
                    <a:lstStyle/>
                    <a:p>
                      <a:r>
                        <a:rPr sz="1200" b="0" i="0">
                          <a:solidFill>
                            <a:srgbClr val="1A1440"/>
                          </a:solidFill>
                          <a:latin typeface="Calibri"/>
                        </a:rPr>
                        <a:t>102 minutes</a:t>
                      </a:r>
                    </a:p>
                  </a:txBody>
                  <a:tcPr marL="101600" marR="101600" marT="38100" marB="38100" anchor="ctr">
                    <a:solidFill>
                      <a:srgbClr val="F4F2FA"/>
                    </a:solidFill>
                  </a:tcPr>
                </a:tc>
                <a:tc>
                  <a:txBody>
                    <a:bodyPr/>
                    <a:lstStyle/>
                    <a:p>
                      <a:r>
                        <a:rPr sz="1200" b="0" i="0">
                          <a:solidFill>
                            <a:srgbClr val="1A1440"/>
                          </a:solidFill>
                          <a:latin typeface="Calibri"/>
                        </a:rPr>
                        <a:t>05 to 07, one per case chapter</a:t>
                      </a:r>
                    </a:p>
                  </a:txBody>
                  <a:tcPr marL="101600" marR="101600" marT="38100" marB="38100" anchor="ctr">
                    <a:solidFill>
                      <a:srgbClr val="F4F2FA"/>
                    </a:solidFill>
                  </a:tcPr>
                </a:tc>
              </a:tr>
              <a:tr h="335280">
                <a:tc>
                  <a:txBody>
                    <a:bodyPr/>
                    <a:lstStyle/>
                    <a:p>
                      <a:r>
                        <a:rPr sz="1200" b="0" i="0">
                          <a:solidFill>
                            <a:srgbClr val="1A1440"/>
                          </a:solidFill>
                          <a:latin typeface="Calibri"/>
                        </a:rPr>
                        <a:t>Lab</a:t>
                      </a:r>
                    </a:p>
                  </a:txBody>
                  <a:tcPr marL="101600" marR="101600" marT="38100" marB="38100" anchor="ctr">
                    <a:solidFill>
                      <a:srgbClr val="FFFFFF"/>
                    </a:solidFill>
                  </a:tcPr>
                </a:tc>
                <a:tc>
                  <a:txBody>
                    <a:bodyPr/>
                    <a:lstStyle/>
                    <a:p>
                      <a:r>
                        <a:rPr sz="1200" b="0" i="0">
                          <a:solidFill>
                            <a:srgbClr val="1A1440"/>
                          </a:solidFill>
                          <a:latin typeface="Calibri"/>
                        </a:rPr>
                        <a:t>The same method on Kalpa Retail's revenue</a:t>
                      </a:r>
                    </a:p>
                  </a:txBody>
                  <a:tcPr marL="101600" marR="101600" marT="38100" marB="38100" anchor="ctr">
                    <a:solidFill>
                      <a:srgbClr val="FFFFFF"/>
                    </a:solidFill>
                  </a:tcPr>
                </a:tc>
                <a:tc>
                  <a:txBody>
                    <a:bodyPr/>
                    <a:lstStyle/>
                    <a:p>
                      <a:r>
                        <a:rPr sz="1200" b="0" i="0">
                          <a:solidFill>
                            <a:srgbClr val="1A1440"/>
                          </a:solidFill>
                          <a:latin typeface="Calibri"/>
                        </a:rPr>
                        <a:t>the lab's length</a:t>
                      </a:r>
                    </a:p>
                  </a:txBody>
                  <a:tcPr marL="101600" marR="101600" marT="38100" marB="38100" anchor="ctr">
                    <a:solidFill>
                      <a:srgbClr val="FFFFFF"/>
                    </a:solidFill>
                  </a:tcPr>
                </a:tc>
                <a:tc>
                  <a:txBody>
                    <a:bodyPr/>
                    <a:lstStyle/>
                    <a:p>
                      <a:r>
                        <a:rPr sz="1200" b="0" i="0">
                          <a:solidFill>
                            <a:srgbClr val="1A1440"/>
                          </a:solidFill>
                          <a:latin typeface="Calibri"/>
                        </a:rPr>
                        <a:t>08</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topics rest on earlier weeks and feed the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Friday's five topics connect to each other, to earlier weeks and to the case?</a:t>
            </a:r>
          </a:p>
        </p:txBody>
      </p:sp>
      <p:pic>
        <p:nvPicPr>
          <p:cNvPr id="9" name="mermaid diagram" descr="fe2c1e64f0b75269.png"/>
          <p:cNvPicPr>
            <a:picLocks noChangeAspect="1"/>
          </p:cNvPicPr>
          <p:nvPr/>
        </p:nvPicPr>
        <p:blipFill>
          <a:blip r:embed="rId5"/>
          <a:stretch>
            <a:fillRect/>
          </a:stretch>
        </p:blipFill>
        <p:spPr>
          <a:xfrm>
            <a:off x="530352" y="1956816"/>
            <a:ext cx="11130991" cy="1239587"/>
          </a:xfrm>
          <a:prstGeom prst="rect">
            <a:avLst/>
          </a:prstGeom>
        </p:spPr>
      </p:pic>
      <p:sp>
        <p:nvSpPr>
          <p:cNvPr id="10" name="TextBox 9"/>
          <p:cNvSpPr txBox="1"/>
          <p:nvPr/>
        </p:nvSpPr>
        <p:spPr>
          <a:xfrm>
            <a:off x="530352" y="33427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lit box is one of the curriculum's five topics, in its order; after the case, Saturday's drill and Week 5's first baseline reuse all five.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two forecasts for one festive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five topics be used, and what must the planner hand in?</a:t>
            </a:r>
          </a:p>
        </p:txBody>
      </p:sp>
      <p:graphicFrame>
        <p:nvGraphicFramePr>
          <p:cNvPr id="9" name="Table 8"/>
          <p:cNvGraphicFramePr>
            <a:graphicFrameLocks noGrp="1"/>
          </p:cNvGraphicFramePr>
          <p:nvPr/>
        </p:nvGraphicFramePr>
        <p:xfrm>
          <a:off x="530352" y="1682496"/>
          <a:ext cx="11130990" cy="3590544"/>
        </p:xfrm>
        <a:graphic>
          <a:graphicData uri="http://schemas.openxmlformats.org/drawingml/2006/table">
            <a:tbl>
              <a:tblPr firstRow="0" bandRow="0">
                <a:tableStyleId>{2D5ABB26-0587-4C30-8999-92F81FD0307C}</a:tableStyleId>
              </a:tblPr>
              <a:tblGrid>
                <a:gridCol w="3198111"/>
                <a:gridCol w="7932879"/>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542544">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Flipkart's Lucknow fulfilment centre (FC), the warehouse where orders are packed and shipped: outbound shipments a week, and the packer shifts that pack them</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a:t>
                      </a:r>
                    </a:p>
                  </a:txBody>
                  <a:tcPr marL="101600" marR="101600" marT="38100" marB="38100" anchor="ctr">
                    <a:solidFill>
                      <a:srgbClr val="F4F2FA"/>
                    </a:solidFill>
                  </a:tcPr>
                </a:tc>
                <a:tc>
                  <a:txBody>
                    <a:bodyPr/>
                    <a:lstStyle/>
                    <a:p>
                      <a:r>
                        <a:rPr sz="1200" b="0" i="0">
                          <a:solidFill>
                            <a:srgbClr val="1A1440"/>
                          </a:solidFill>
                          <a:latin typeface="Calibri"/>
                        </a:rPr>
                        <a:t>An ordinary week in late 2024 shipped about 210,000; 104 weeks run from the week of 30 September 2024 to 21 September 2026, with a festive peak each year</a:t>
                      </a:r>
                    </a:p>
                  </a:txBody>
                  <a:tcPr marL="101600" marR="101600" marT="38100" marB="38100" anchor="ctr">
                    <a:solidFill>
                      <a:srgbClr val="F4F2FA"/>
                    </a:solidFill>
                  </a:tcPr>
                </a:tc>
              </a:tr>
              <a:tr h="542544">
                <a:tc>
                  <a:txBody>
                    <a:bodyPr/>
                    <a:lstStyle/>
                    <a:p>
                      <a:r>
                        <a:rPr sz="1200" b="0" i="0">
                          <a:solidFill>
                            <a:srgbClr val="1A1440"/>
                          </a:solidFill>
                          <a:latin typeface="Calibri"/>
                        </a:rPr>
                        <a:t>The two forecasts</a:t>
                      </a:r>
                    </a:p>
                  </a:txBody>
                  <a:tcPr marL="101600" marR="101600" marT="38100" marB="38100" anchor="ctr">
                    <a:solidFill>
                      <a:srgbClr val="FFFFFF"/>
                    </a:solidFill>
                  </a:tcPr>
                </a:tc>
                <a:tc>
                  <a:txBody>
                    <a:bodyPr/>
                    <a:lstStyle/>
                    <a:p>
                      <a:r>
                        <a:rPr sz="1200" b="0" i="0">
                          <a:solidFill>
                            <a:srgbClr val="1A1440"/>
                          </a:solidFill>
                          <a:latin typeface="Calibri"/>
                        </a:rPr>
                        <a:t>A vendor's model: the eight festive weeks 22 percent above the same weeks last year; finance: those weeks plus 4 percent; eighteen percentage points apart</a:t>
                      </a:r>
                    </a:p>
                  </a:txBody>
                  <a:tcPr marL="101600" marR="101600" marT="38100" marB="38100" anchor="ctr">
                    <a:solidFill>
                      <a:srgbClr val="FFFFFF"/>
                    </a:solidFill>
                  </a:tcPr>
                </a:tc>
              </a:tr>
              <a:tr h="749808">
                <a:tc>
                  <a:txBody>
                    <a:bodyPr/>
                    <a:lstStyle/>
                    <a:p>
                      <a:r>
                        <a:rPr sz="1200" b="0" i="0">
                          <a:solidFill>
                            <a:srgbClr val="1A1440"/>
                          </a:solidFill>
                          <a:latin typeface="Calibri"/>
                        </a:rPr>
                        <a:t>The data</a:t>
                      </a:r>
                    </a:p>
                  </a:txBody>
                  <a:tcPr marL="101600" marR="101600" marT="38100" marB="38100" anchor="ctr">
                    <a:solidFill>
                      <a:srgbClr val="F4F2FA"/>
                    </a:solidFill>
                  </a:tcPr>
                </a:tc>
                <a:tc>
                  <a:txBody>
                    <a:bodyPr/>
                    <a:lstStyle/>
                    <a:p>
                      <a:r>
                        <a:rPr sz="1200" b="0" i="0">
                          <a:solidFill>
                            <a:srgbClr val="1A1440"/>
                          </a:solidFill>
                          <a:latin typeface="Calibri"/>
                        </a:rPr>
                        <a:t>weekly_shipments (week_start, shipments, packer_shifts_worked, overtime_shifts); vendor_forecast (week_start, vendor_shipments, kind); calendar (week_start, diwali_week, sale_week); costs (item, rs, low, high)</a:t>
                      </a:r>
                    </a:p>
                  </a:txBody>
                  <a:tcPr marL="101600" marR="101600" marT="38100" marB="38100" anchor="ctr">
                    <a:solidFill>
                      <a:srgbClr val="F4F2FA"/>
                    </a:solidFill>
                  </a:tcPr>
                </a:tc>
              </a:tr>
              <a:tr h="542544">
                <a:tc>
                  <a:txBody>
                    <a:bodyPr/>
                    <a:lstStyle/>
                    <a:p>
                      <a:r>
                        <a:rPr sz="1200" b="0" i="0">
                          <a:solidFill>
                            <a:srgbClr val="1A1440"/>
                          </a:solidFill>
                          <a:latin typeface="Calibri"/>
                        </a:rPr>
                        <a:t>The ask, due Friday</a:t>
                      </a:r>
                    </a:p>
                  </a:txBody>
                  <a:tcPr marL="101600" marR="101600" marT="38100" marB="38100" anchor="ctr">
                    <a:solidFill>
                      <a:srgbClr val="FFFFFF"/>
                    </a:solidFill>
                  </a:tcPr>
                </a:tc>
                <a:tc>
                  <a:txBody>
                    <a:bodyPr/>
                    <a:lstStyle/>
                    <a:p>
                      <a:r>
                        <a:rPr sz="12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335280">
                <a:tc>
                  <a:txBody>
                    <a:bodyPr/>
                    <a:lstStyle/>
                    <a:p>
                      <a:r>
                        <a:rPr sz="1200" b="0" i="0">
                          <a:solidFill>
                            <a:srgbClr val="1A1440"/>
                          </a:solidFill>
                          <a:latin typeface="Calibri"/>
                        </a:rPr>
                        <a:t>Caveats</a:t>
                      </a:r>
                    </a:p>
                  </a:txBody>
                  <a:tcPr marL="101600" marR="101600" marT="38100" marB="38100" anchor="ctr">
                    <a:solidFill>
                      <a:srgbClr val="F4F2FA"/>
                    </a:solidFill>
                  </a:tcPr>
                </a:tc>
                <a:tc>
                  <a:txBody>
                    <a:bodyPr/>
                    <a:lstStyle/>
                    <a:p>
                      <a:r>
                        <a:rPr sz="1200" b="0" i="0">
                          <a:solidFill>
                            <a:srgbClr val="1A1440"/>
                          </a:solidFill>
                          <a:latin typeface="Calibri"/>
                        </a:rPr>
                        <a:t>Diwali moves by weeks each year; a late shipment costs more than an idle shift</a:t>
                      </a:r>
                    </a:p>
                  </a:txBody>
                  <a:tcPr marL="101600" marR="101600" marT="38100" marB="38100" anchor="ctr">
                    <a:solidFill>
                      <a:srgbClr val="F4F2FA"/>
                    </a:solidFill>
                  </a:tcPr>
                </a:tc>
              </a:tr>
            </a:tbl>
          </a:graphicData>
        </a:graphic>
      </p:graphicFrame>
      <p:sp>
        <p:nvSpPr>
          <p:cNvPr id="10" name="TextBox 9"/>
          <p:cNvSpPr txBox="1"/>
          <p:nvPr/>
        </p:nvSpPr>
        <p:spPr>
          <a:xfrm>
            <a:off x="530352" y="552907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and seasonality, read before modelling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series tell?</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a chai stall's cups (invented) for their beat, their climb and their wobble before any rule copies them.</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come before any forecasting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reading, and which questions lead to it?</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a:t>
            </a:r>
            <a:r>
              <a:rPr sz="1400" b="1" i="0">
                <a:solidFill>
                  <a:srgbClr val="1A1440"/>
                </a:solidFill>
                <a:latin typeface="Calibri"/>
              </a:rPr>
              <a:t>time series</a:t>
            </a:r>
            <a:r>
              <a:rPr sz="1400" b="0" i="0">
                <a:solidFill>
                  <a:srgbClr val="1A1440"/>
                </a:solidFill>
                <a:latin typeface="Calibri"/>
              </a:rPr>
              <a:t> is one number per equal period, in time order: cups a day here, shipments a week at Flipkart, revenue a month at Kalpa. A </a:t>
            </a:r>
            <a:r>
              <a:rPr sz="1400" b="1" i="0">
                <a:solidFill>
                  <a:srgbClr val="1A1440"/>
                </a:solidFill>
                <a:latin typeface="Calibri"/>
              </a:rPr>
              <a:t>forecast</a:t>
            </a:r>
            <a:r>
              <a:rPr sz="1400" b="0" i="0">
                <a:solidFill>
                  <a:srgbClr val="1A1440"/>
                </a:solidFill>
                <a:latin typeface="Calibri"/>
              </a:rPr>
              <a:t> is a number for a period nobody has seen yet.</a:t>
            </a:r>
          </a:p>
        </p:txBody>
      </p:sp>
      <p:sp>
        <p:nvSpPr>
          <p:cNvPr id="10" name="Rounded Rectangle 9"/>
          <p:cNvSpPr/>
          <p:nvPr/>
        </p:nvSpPr>
        <p:spPr>
          <a:xfrm>
            <a:off x="530352" y="2513584"/>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641600"/>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632456"/>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stall's owner orders milk every evening for the next three days, and Flipkart's FC planner books packer shifts weeks ahead; a reading that takes a weekly dip for a fall, or a rise for growth, orders milk that sours and packers who stand idle.</a:t>
            </a:r>
          </a:p>
        </p:txBody>
      </p:sp>
      <p:sp>
        <p:nvSpPr>
          <p:cNvPr id="13" name="Rounded Rectangle 12"/>
          <p:cNvSpPr/>
          <p:nvPr/>
        </p:nvSpPr>
        <p:spPr>
          <a:xfrm>
            <a:off x="530352" y="36459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7739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764788"/>
            <a:ext cx="10564063" cy="322580"/>
          </a:xfrm>
          <a:prstGeom prst="rect">
            <a:avLst/>
          </a:prstGeom>
          <a:noFill/>
        </p:spPr>
        <p:txBody>
          <a:bodyPr wrap="square" anchor="ctr" lIns="0" rIns="0" tIns="0" bIns="0">
            <a:spAutoFit/>
          </a:bodyPr>
          <a:lstStyle/>
          <a:p>
            <a:r>
              <a:rPr sz="1300" b="1">
                <a:solidFill>
                  <a:srgbClr val="5B3FD6"/>
                </a:solidFill>
                <a:latin typeface="Calibri"/>
              </a:rPr>
              <a:t>The questions on the way. </a:t>
            </a:r>
            <a:r>
              <a:rPr sz="1300" b="0" i="0">
                <a:solidFill>
                  <a:srgbClr val="1A1440"/>
                </a:solidFill>
                <a:latin typeface="Calibri"/>
              </a:rPr>
              <a:t>Four, in this order:</a:t>
            </a:r>
          </a:p>
        </p:txBody>
      </p:sp>
      <p:sp>
        <p:nvSpPr>
          <p:cNvPr id="16" name="Rectangle 15"/>
          <p:cNvSpPr/>
          <p:nvPr/>
        </p:nvSpPr>
        <p:spPr>
          <a:xfrm>
            <a:off x="1853145" y="488289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BEAT</a:t>
            </a:r>
          </a:p>
        </p:txBody>
      </p:sp>
      <p:sp>
        <p:nvSpPr>
          <p:cNvPr id="18" name="Oval 17"/>
          <p:cNvSpPr/>
          <p:nvPr/>
        </p:nvSpPr>
        <p:spPr>
          <a:xfrm>
            <a:off x="1752561"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how often?</a:t>
            </a:r>
          </a:p>
        </p:txBody>
      </p:sp>
      <p:sp>
        <p:nvSpPr>
          <p:cNvPr id="21" name="TextBox 20"/>
          <p:cNvSpPr txBox="1"/>
          <p:nvPr/>
        </p:nvSpPr>
        <p:spPr>
          <a:xfrm>
            <a:off x="694944"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A Sunday dip every 7 days.</a:t>
            </a:r>
          </a:p>
        </p:txBody>
      </p:sp>
      <p:sp>
        <p:nvSpPr>
          <p:cNvPr id="22" name="TextBox 21"/>
          <p:cNvSpPr txBox="1"/>
          <p:nvPr/>
        </p:nvSpPr>
        <p:spPr>
          <a:xfrm>
            <a:off x="3358819"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CLIMB</a:t>
            </a:r>
          </a:p>
        </p:txBody>
      </p:sp>
      <p:sp>
        <p:nvSpPr>
          <p:cNvPr id="23" name="Oval 22"/>
          <p:cNvSpPr/>
          <p:nvPr/>
        </p:nvSpPr>
        <p:spPr>
          <a:xfrm>
            <a:off x="4581029"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Is the stall growing?</a:t>
            </a:r>
          </a:p>
        </p:txBody>
      </p:sp>
      <p:sp>
        <p:nvSpPr>
          <p:cNvPr id="26" name="TextBox 25"/>
          <p:cNvSpPr txBox="1"/>
          <p:nvPr/>
        </p:nvSpPr>
        <p:spPr>
          <a:xfrm>
            <a:off x="3523411"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The same day, a season apart.</a:t>
            </a:r>
          </a:p>
        </p:txBody>
      </p:sp>
      <p:sp>
        <p:nvSpPr>
          <p:cNvPr id="27" name="TextBox 26"/>
          <p:cNvSpPr txBox="1"/>
          <p:nvPr/>
        </p:nvSpPr>
        <p:spPr>
          <a:xfrm>
            <a:off x="6187287"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YEAR</a:t>
            </a:r>
          </a:p>
        </p:txBody>
      </p:sp>
      <p:sp>
        <p:nvSpPr>
          <p:cNvPr id="28" name="Oval 27"/>
          <p:cNvSpPr/>
          <p:nvPr/>
        </p:nvSpPr>
        <p:spPr>
          <a:xfrm>
            <a:off x="7409497" y="47914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202936"/>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349240"/>
            <a:ext cx="2316403" cy="218186"/>
          </a:xfrm>
          <a:prstGeom prst="rect">
            <a:avLst/>
          </a:prstGeom>
          <a:noFill/>
        </p:spPr>
        <p:txBody>
          <a:bodyPr wrap="square" anchor="t" lIns="0" rIns="0" tIns="0" bIns="0">
            <a:spAutoFit/>
          </a:bodyPr>
          <a:lstStyle/>
          <a:p>
            <a:pPr algn="l"/>
            <a:r>
              <a:rPr sz="1100" b="1" i="0">
                <a:solidFill>
                  <a:srgbClr val="1A0F5C"/>
                </a:solidFill>
                <a:latin typeface="Calibri"/>
              </a:rPr>
              <a:t>What repeats yearly?</a:t>
            </a:r>
          </a:p>
        </p:txBody>
      </p:sp>
      <p:sp>
        <p:nvSpPr>
          <p:cNvPr id="31" name="TextBox 30"/>
          <p:cNvSpPr txBox="1"/>
          <p:nvPr/>
        </p:nvSpPr>
        <p:spPr>
          <a:xfrm>
            <a:off x="6351879" y="5604002"/>
            <a:ext cx="2316403" cy="185166"/>
          </a:xfrm>
          <a:prstGeom prst="rect">
            <a:avLst/>
          </a:prstGeom>
          <a:noFill/>
        </p:spPr>
        <p:txBody>
          <a:bodyPr wrap="square" anchor="t" lIns="0" rIns="0" tIns="0" bIns="0">
            <a:spAutoFit/>
          </a:bodyPr>
          <a:lstStyle/>
          <a:p>
            <a:pPr algn="l"/>
            <a:r>
              <a:rPr sz="900" b="0" i="0">
                <a:solidFill>
                  <a:srgbClr val="6B6690"/>
                </a:solidFill>
                <a:latin typeface="Calibri"/>
              </a:rPr>
              <a:t>Exams up, Diwali week down.</a:t>
            </a:r>
          </a:p>
        </p:txBody>
      </p:sp>
      <p:sp>
        <p:nvSpPr>
          <p:cNvPr id="32" name="TextBox 31"/>
          <p:cNvSpPr txBox="1"/>
          <p:nvPr/>
        </p:nvSpPr>
        <p:spPr>
          <a:xfrm>
            <a:off x="9015755" y="431596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REST</a:t>
            </a:r>
          </a:p>
        </p:txBody>
      </p:sp>
      <p:sp>
        <p:nvSpPr>
          <p:cNvPr id="33" name="Oval 32"/>
          <p:cNvSpPr/>
          <p:nvPr/>
        </p:nvSpPr>
        <p:spPr>
          <a:xfrm>
            <a:off x="10237965" y="479145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202936"/>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349240"/>
            <a:ext cx="2316403" cy="218186"/>
          </a:xfrm>
          <a:prstGeom prst="rect">
            <a:avLst/>
          </a:prstGeom>
          <a:noFill/>
        </p:spPr>
        <p:txBody>
          <a:bodyPr wrap="square" anchor="t" lIns="0" rIns="0" tIns="0" bIns="0">
            <a:spAutoFit/>
          </a:bodyPr>
          <a:lstStyle/>
          <a:p>
            <a:pPr algn="l"/>
            <a:r>
              <a:rPr sz="1100" b="1" i="0">
                <a:solidFill>
                  <a:srgbClr val="FFFFFF"/>
                </a:solidFill>
                <a:latin typeface="Calibri"/>
              </a:rPr>
              <a:t>What is left over?</a:t>
            </a:r>
          </a:p>
        </p:txBody>
      </p:sp>
      <p:sp>
        <p:nvSpPr>
          <p:cNvPr id="36" name="TextBox 35"/>
          <p:cNvSpPr txBox="1"/>
          <p:nvPr/>
        </p:nvSpPr>
        <p:spPr>
          <a:xfrm>
            <a:off x="9180347" y="5604002"/>
            <a:ext cx="2316403" cy="185166"/>
          </a:xfrm>
          <a:prstGeom prst="rect">
            <a:avLst/>
          </a:prstGeom>
          <a:noFill/>
        </p:spPr>
        <p:txBody>
          <a:bodyPr wrap="square" anchor="t" lIns="0" rIns="0" tIns="0" bIns="0">
            <a:spAutoFit/>
          </a:bodyPr>
          <a:lstStyle/>
          <a:p>
            <a:pPr algn="l"/>
            <a:r>
              <a:rPr sz="900" b="0" i="0">
                <a:solidFill>
                  <a:srgbClr val="CFC9EE"/>
                </a:solidFill>
                <a:latin typeface="Calibri"/>
              </a:rPr>
              <a:t>A wobble of a few cups.</a:t>
            </a:r>
          </a:p>
        </p:txBody>
      </p:sp>
      <p:sp>
        <p:nvSpPr>
          <p:cNvPr id="37" name="Oval 3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9" name="Oval 3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 sold 100 and Sunday 60: up 67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60 cups on Sunday 6 October 2024 and 100 on Monday 7 October (invented). What does that say?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fast</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Monday is 67 percent above the day before.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weekly beat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Sundays always sell less, and nothing has grown.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8ffc1bc6d67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Cannot tell</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Two days are too few to say anything.</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Growing on weekdays</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Weekdays rose while Sundays did not.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Sunday always dips; that is the weekly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stall's first fourteen days show?</a:t>
            </a:r>
          </a:p>
        </p:txBody>
      </p:sp>
      <p:pic>
        <p:nvPicPr>
          <p:cNvPr id="9" name="mermaid diagram" descr="C2_W04_D05_stall_first_fortnight_STUDENT.png"/>
          <p:cNvPicPr>
            <a:picLocks noChangeAspect="1"/>
          </p:cNvPicPr>
          <p:nvPr/>
        </p:nvPicPr>
        <p:blipFill>
          <a:blip r:embed="rId4"/>
          <a:stretch>
            <a:fillRect/>
          </a:stretch>
        </p:blipFill>
        <p:spPr>
          <a:xfrm>
            <a:off x="2507836" y="1664208"/>
            <a:ext cx="7176022"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first fourteen days, Sundays in red (invented numbers)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answer is b. Both Sundays sold about 60 (60 and 61), every other day about 100. A repeat on a fixed beat is a </a:t>
            </a:r>
            <a:r>
              <a:rPr sz="1400" b="1" i="0">
                <a:solidFill>
                  <a:srgbClr val="1A1440"/>
                </a:solidFill>
                <a:latin typeface="Calibri"/>
              </a:rPr>
              <a:t>season</a:t>
            </a:r>
            <a:r>
              <a:rPr sz="1400" b="0" i="0">
                <a:solidFill>
                  <a:srgbClr val="1A1440"/>
                </a:solidFill>
                <a:latin typeface="Calibri"/>
              </a:rPr>
              <a:t>, and its </a:t>
            </a:r>
            <a:r>
              <a:rPr sz="1400" b="1" i="0">
                <a:solidFill>
                  <a:srgbClr val="1A1440"/>
                </a:solidFill>
                <a:latin typeface="Calibri"/>
              </a:rPr>
              <a:t>length</a:t>
            </a:r>
            <a:r>
              <a:rPr sz="1400" b="0" i="0">
                <a:solidFill>
                  <a:srgbClr val="1A1440"/>
                </a:solidFill>
                <a:latin typeface="Calibri"/>
              </a:rPr>
              <a:t> is the number of periods before it repeats: 7 days here, 52 weeks in Flipkart's year. </a:t>
            </a:r>
            <a:r>
              <a:rPr sz="1400" b="1" i="0">
                <a:solidFill>
                  <a:srgbClr val="1A1440"/>
                </a:solidFill>
                <a:latin typeface="Calibri"/>
              </a:rPr>
              <a:t>The plausible wrong number:</a:t>
            </a:r>
            <a:r>
              <a:rPr sz="1400" b="0" i="0">
                <a:solidFill>
                  <a:srgbClr val="1A1440"/>
                </a:solidFill>
                <a:latin typeface="Calibri"/>
              </a:rPr>
              <a:t> plus 67 percent, Monday over Sunday. </a:t>
            </a:r>
            <a:r>
              <a:rPr sz="1400" b="1" i="0">
                <a:solidFill>
                  <a:srgbClr val="1A1440"/>
                </a:solidFill>
                <a:latin typeface="Calibri"/>
              </a:rPr>
              <a:t>The decision it misleads:</a:t>
            </a:r>
            <a:r>
              <a:rPr sz="1400" b="0" i="0">
                <a:solidFill>
                  <a:srgbClr val="1A1440"/>
                </a:solidFill>
                <a:latin typeface="Calibri"/>
              </a:rPr>
              <a:t> two-thirds more milk, which sours. </a:t>
            </a:r>
            <a:r>
              <a:rPr sz="1400" b="1" i="0">
                <a:solidFill>
                  <a:srgbClr val="1A1440"/>
                </a:solidFill>
                <a:latin typeface="Calibri"/>
              </a:rPr>
              <a:t>The check:</a:t>
            </a:r>
            <a:r>
              <a:rPr sz="1400" b="0" i="0">
                <a:solidFill>
                  <a:srgbClr val="1A1440"/>
                </a:solidFill>
                <a:latin typeface="Calibri"/>
              </a:rPr>
              <a:t> Monday against the Monday before, 100 against 100. </a:t>
            </a:r>
            <a:r>
              <a:rPr sz="1400" b="1" i="0">
                <a:solidFill>
                  <a:srgbClr val="1A1440"/>
                </a:solidFill>
                <a:latin typeface="Calibri"/>
              </a:rPr>
              <a:t>The fix:</a:t>
            </a:r>
            <a:r>
              <a:rPr sz="1400" b="0" i="0">
                <a:solidFill>
                  <a:srgbClr val="1A1440"/>
                </a:solidFill>
                <a:latin typeface="Calibri"/>
              </a:rPr>
              <a:t> compare the same point a season apart.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65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growth a season apart: up 10 percent a year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growth read without the weekly beat fooling you?</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The comparison, 52 weeks apart</a:t>
                      </a:r>
                    </a:p>
                  </a:txBody>
                  <a:tcPr marL="101600" marR="101600" marT="38100" marB="38100" anchor="ctr">
                    <a:solidFill>
                      <a:srgbClr val="1A0F5C"/>
                    </a:solidFill>
                  </a:tcPr>
                </a:tc>
                <a:tc>
                  <a:txBody>
                    <a:bodyPr/>
                    <a:lstStyle/>
                    <a:p>
                      <a:r>
                        <a:rPr sz="1250" b="1" i="0">
                          <a:solidFill>
                            <a:srgbClr val="FFFFFF"/>
                          </a:solidFill>
                          <a:latin typeface="Calibri"/>
                        </a:rPr>
                        <a:t>2024</a:t>
                      </a:r>
                    </a:p>
                  </a:txBody>
                  <a:tcPr marL="101600" marR="101600" marT="38100" marB="38100" anchor="ctr">
                    <a:solidFill>
                      <a:srgbClr val="1A0F5C"/>
                    </a:solidFill>
                  </a:tcPr>
                </a:tc>
                <a:tc>
                  <a:txBody>
                    <a:bodyPr/>
                    <a:lstStyle/>
                    <a:p>
                      <a:r>
                        <a:rPr sz="1250" b="1" i="0">
                          <a:solidFill>
                            <a:srgbClr val="FFFFFF"/>
                          </a:solidFill>
                          <a:latin typeface="Calibri"/>
                        </a:rPr>
                        <a:t>2025</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Sunday 6 October 2024 against Sunday 5 October 2025</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66</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Monday 7 October 2024 against Monday 6 October 2025</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c>
                  <a:txBody>
                    <a:bodyPr/>
                    <a:lstStyle/>
                    <a:p>
                      <a:r>
                        <a:rPr sz="1200" b="0" i="0">
                          <a:solidFill>
                            <a:srgbClr val="1A1440"/>
                          </a:solidFill>
                          <a:latin typeface="Calibri"/>
                        </a:rPr>
                        <a:t>1.10</a:t>
                      </a:r>
                    </a:p>
                  </a:txBody>
                  <a:tcPr marL="101600" marR="101600" marT="38100" marB="38100" anchor="ctr">
                    <a:solidFill>
                      <a:srgbClr val="F4F2FA"/>
                    </a:solidFill>
                  </a:tcPr>
                </a:tc>
              </a:tr>
              <a:tr h="335280">
                <a:tc>
                  <a:txBody>
                    <a:bodyPr/>
                    <a:lstStyle/>
                    <a:p>
                      <a:r>
                        <a:rPr sz="1200" b="0" i="0">
                          <a:solidFill>
                            <a:srgbClr val="1A1440"/>
                          </a:solidFill>
                          <a:latin typeface="Calibri"/>
                        </a:rPr>
                        <a:t>The fourteen days from 30 September 2024, against the fourteen from 29 September 2025</a:t>
                      </a:r>
                    </a:p>
                  </a:txBody>
                  <a:tcPr marL="101600" marR="101600" marT="38100" marB="38100" anchor="ctr">
                    <a:solidFill>
                      <a:srgbClr val="FFFFFF"/>
                    </a:solidFill>
                  </a:tcPr>
                </a:tc>
                <a:tc>
                  <a:txBody>
                    <a:bodyPr/>
                    <a:lstStyle/>
                    <a:p>
                      <a:r>
                        <a:rPr sz="1200" b="0" i="0">
                          <a:solidFill>
                            <a:srgbClr val="1A1440"/>
                          </a:solidFill>
                          <a:latin typeface="Calibri"/>
                        </a:rPr>
                        <a:t>1,315</a:t>
                      </a:r>
                    </a:p>
                  </a:txBody>
                  <a:tcPr marL="101600" marR="101600" marT="38100" marB="38100" anchor="ctr">
                    <a:solidFill>
                      <a:srgbClr val="FFFFFF"/>
                    </a:solidFill>
                  </a:tcPr>
                </a:tc>
                <a:tc>
                  <a:txBody>
                    <a:bodyPr/>
                    <a:lstStyle/>
                    <a:p>
                      <a:r>
                        <a:rPr sz="1200" b="0" i="0">
                          <a:solidFill>
                            <a:srgbClr val="1A1440"/>
                          </a:solidFill>
                          <a:latin typeface="Calibri"/>
                        </a:rPr>
                        <a:t>1,450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 it aloud: 110 over 100 is 1.10, up 10 percent in a year; 66 over 60 is 1.10 again; the two fortnights give 1,450 over 1,315, about 1.10. The </a:t>
            </a:r>
            <a:r>
              <a:rPr sz="1600" b="1" i="0">
                <a:solidFill>
                  <a:srgbClr val="1A1440"/>
                </a:solidFill>
                <a:latin typeface="Calibri"/>
              </a:rPr>
              <a:t>trend</a:t>
            </a:r>
            <a:r>
              <a:rPr sz="1600" b="0" i="0">
                <a:solidFill>
                  <a:srgbClr val="1A1440"/>
                </a:solidFill>
                <a:latin typeface="Calibri"/>
              </a:rPr>
              <a:t> is the slow climb, read by comparing the same point a season apart, and Sunday's share of an ordinary day stays 0.6 in both years, 60 over 100 and 66 over 110, while the level grows.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65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Seasons can peak or dip; the trend climbs beneath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whole year look like, and what is a series made of?</a:t>
            </a:r>
          </a:p>
        </p:txBody>
      </p:sp>
      <p:pic>
        <p:nvPicPr>
          <p:cNvPr id="9" name="mermaid diagram" descr="C2_W04_D05_stall_two_years_STUDENT.png"/>
          <p:cNvPicPr>
            <a:picLocks noChangeAspect="1"/>
          </p:cNvPicPr>
          <p:nvPr/>
        </p:nvPicPr>
        <p:blipFill>
          <a:blip r:embed="rId4"/>
          <a:stretch>
            <a:fillRect/>
          </a:stretch>
        </p:blipFill>
        <p:spPr>
          <a:xfrm>
            <a:off x="2293602" y="1664208"/>
            <a:ext cx="760448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of the stall's weeks laid over each other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exam fortnight that closes each semester lifts the stall to about 1.4 times an ordinary fortnight in both years (1.39 and 1.41), and Diwali week drops it to about 0.4 (0.40 both years) as the hostel empties, a week earlier in 2025. Named last: a series is a </a:t>
            </a:r>
            <a:r>
              <a:rPr sz="1200" b="1" i="0">
                <a:solidFill>
                  <a:srgbClr val="1A1440"/>
                </a:solidFill>
                <a:latin typeface="Calibri"/>
              </a:rPr>
              <a:t>trend</a:t>
            </a:r>
            <a:r>
              <a:rPr sz="1200" b="0" i="0">
                <a:solidFill>
                  <a:srgbClr val="1A1440"/>
                </a:solidFill>
                <a:latin typeface="Calibri"/>
              </a:rPr>
              <a:t> times its </a:t>
            </a:r>
            <a:r>
              <a:rPr sz="1200" b="1" i="0">
                <a:solidFill>
                  <a:srgbClr val="1A1440"/>
                </a:solidFill>
                <a:latin typeface="Calibri"/>
              </a:rPr>
              <a:t>seasons</a:t>
            </a:r>
            <a:r>
              <a:rPr sz="1200" b="0" i="0">
                <a:solidFill>
                  <a:srgbClr val="1A1440"/>
                </a:solidFill>
                <a:latin typeface="Calibri"/>
              </a:rPr>
              <a:t> times a </a:t>
            </a:r>
            <a:r>
              <a:rPr sz="1200" b="1" i="0">
                <a:solidFill>
                  <a:srgbClr val="1A1440"/>
                </a:solidFill>
                <a:latin typeface="Calibri"/>
              </a:rPr>
              <a:t>remainder</a:t>
            </a:r>
            <a:r>
              <a:rPr sz="1200" b="0" i="0">
                <a:solidFill>
                  <a:srgbClr val="1A1440"/>
                </a:solidFill>
                <a:latin typeface="Calibri"/>
              </a:rPr>
              <a:t>, the wobble left over, about 4.7 cups either way. Forecasting: Principles and Practice writes it as a sum, y = T + S + R, when the seasons do not grow with the level. A </a:t>
            </a:r>
            <a:r>
              <a:rPr sz="1200" b="1" i="0">
                <a:solidFill>
                  <a:srgbClr val="1A1440"/>
                </a:solidFill>
                <a:latin typeface="Calibri"/>
              </a:rPr>
              <a:t>cycle</a:t>
            </a:r>
            <a:r>
              <a:rPr sz="1200" b="0" i="0">
                <a:solidFill>
                  <a:srgbClr val="1A1440"/>
                </a:solidFill>
                <a:latin typeface="Calibri"/>
              </a:rPr>
              <a:t>, a rise and fall with no fixed length, needs more than two years to see.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65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same reading in four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cups = stall.set_index("date").cups        # one number a day, in order</a:t>
            </a:r>
          </a:p>
          <a:p>
            <a:pPr>
              <a:spcAft>
                <a:spcPts val="200"/>
              </a:spcAft>
            </a:pPr>
            <a:r>
              <a:rPr sz="1400" b="0" i="0">
                <a:solidFill>
                  <a:srgbClr val="A9A3D2"/>
                </a:solidFill>
                <a:latin typeface="Consolas"/>
              </a:rPr>
              <a:t># the weekly beat: Sunday over Monday, 60 / 100 = 0.6</a:t>
            </a:r>
          </a:p>
          <a:p>
            <a:pPr>
              <a:spcAft>
                <a:spcPts val="200"/>
              </a:spcAft>
            </a:pPr>
            <a:r>
              <a:rPr sz="1400" b="0" i="0">
                <a:solidFill>
                  <a:srgbClr val="E4E1F1"/>
                </a:solidFill>
                <a:latin typeface="Consolas"/>
              </a:rPr>
              <a:t>share = cups["2024-10-06"] / cups["2024-10-07"]</a:t>
            </a:r>
          </a:p>
          <a:p>
            <a:pPr>
              <a:spcAft>
                <a:spcPts val="200"/>
              </a:spcAft>
            </a:pPr>
            <a:r>
              <a:rPr sz="1400" b="0" i="0">
                <a:solidFill>
                  <a:srgbClr val="A9A3D2"/>
                </a:solidFill>
                <a:latin typeface="Consolas"/>
              </a:rPr>
              <a:t># growth a season apart: 110 / 100 - 1 = 10 percent</a:t>
            </a:r>
          </a:p>
          <a:p>
            <a:pPr>
              <a:spcAft>
                <a:spcPts val="200"/>
              </a:spcAft>
            </a:pPr>
            <a:r>
              <a:rPr sz="1400" b="0" i="0">
                <a:solidFill>
                  <a:srgbClr val="E4E1F1"/>
                </a:solidFill>
                <a:latin typeface="Consolas"/>
              </a:rPr>
              <a:t>growth = cups["2025-10-06"] / cups["2024-10-07"] - 1</a:t>
            </a:r>
          </a:p>
          <a:p>
            <a:pPr>
              <a:spcAft>
                <a:spcPts val="200"/>
              </a:spcAft>
            </a:pPr>
            <a:r>
              <a:rPr sz="1400" b="0" i="0">
                <a:solidFill>
                  <a:srgbClr val="A9A3D2"/>
                </a:solidFill>
                <a:latin typeface="Consolas"/>
              </a:rPr>
              <a:t># every day against the same weekday 364 days back</a:t>
            </a:r>
          </a:p>
          <a:p>
            <a:pPr>
              <a:spcAft>
                <a:spcPts val="200"/>
              </a:spcAft>
            </a:pPr>
            <a:r>
              <a:rPr sz="1400" b="0" i="0">
                <a:solidFill>
                  <a:srgbClr val="E4E1F1"/>
                </a:solidFill>
                <a:latin typeface="Consolas"/>
              </a:rPr>
              <a:t>yearly = cups / cups.shift(364)</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shift(364) slides the whole series down 364 rows, so each day's row holds the same weekday 52 weeks earlier; Week 2 Wednesday's LAG did the same in SQL. Notebook 01 runs these lines on all 730 days and draws each picture.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reading a series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Read the series' shape before choosing any rule that copies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season repeats on a fixed beat, up or down, so count its length before using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Read growth by comparing the same point a season apart, never neighbours.</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What is left after the trend and the seasons is the remainder, and a cycle needs years to see.</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"Before any model I plot the series and read its trend, its seasons with their lengths, and what is left, because the baseline I must beat depends on them."</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65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reading feeds chapter 2's rules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b5b6929bb22536c.png"/>
          <p:cNvPicPr>
            <a:picLocks noChangeAspect="1"/>
          </p:cNvPicPr>
          <p:nvPr/>
        </p:nvPicPr>
        <p:blipFill>
          <a:blip r:embed="rId5"/>
          <a:stretch>
            <a:fillRect/>
          </a:stretch>
        </p:blipFill>
        <p:spPr>
          <a:xfrm>
            <a:off x="3029789" y="1664208"/>
            <a:ext cx="613211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Flipkart's Lucknow centre the same reading finds a level near 210,000 shipments a week, growth of about 4 percent a year, two seasons (the festive weeks, and the week that holds the first of the month) and a wobble of a few percent.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65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Naive, seasonal naive and drift baselines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a copy fail?</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Run three copy rules by hand on the stall's days (invented), and see where each one fails.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copy rules, each one line of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rule that runs on paper, and which questions lead to it?</a:t>
            </a:r>
          </a:p>
        </p:txBody>
      </p:sp>
      <p:sp>
        <p:nvSpPr>
          <p:cNvPr id="9" name="TextBox 8"/>
          <p:cNvSpPr txBox="1"/>
          <p:nvPr/>
        </p:nvSpPr>
        <p:spPr>
          <a:xfrm>
            <a:off x="530352" y="168249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baseline</a:t>
            </a:r>
            <a:r>
              <a:rPr sz="1600" b="0" i="0">
                <a:solidFill>
                  <a:srgbClr val="1A1440"/>
                </a:solidFill>
                <a:latin typeface="Calibri"/>
              </a:rPr>
              <a:t> is the simplest rule that could be right, and its job is to be beaten: any cleverer forecast must do better than it.</a:t>
            </a:r>
          </a:p>
        </p:txBody>
      </p:sp>
      <p:sp>
        <p:nvSpPr>
          <p:cNvPr id="10" name="Rounded Rectangle 9"/>
          <p:cNvSpPr/>
          <p:nvPr/>
        </p:nvSpPr>
        <p:spPr>
          <a:xfrm>
            <a:off x="530352" y="25826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7106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701544"/>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orders milk tonight with no spreadsheet open, and Flipkart's FC planner, whose tournament sends nothing to the plan that loses to a copy rule.</a:t>
            </a:r>
          </a:p>
        </p:txBody>
      </p:sp>
      <p:sp>
        <p:nvSpPr>
          <p:cNvPr id="13" name="Rounded Rectangle 12"/>
          <p:cNvSpPr/>
          <p:nvPr/>
        </p:nvSpPr>
        <p:spPr>
          <a:xfrm>
            <a:off x="530352" y="355498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6830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673856"/>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6" name="Rectangle 15"/>
          <p:cNvSpPr/>
          <p:nvPr/>
        </p:nvSpPr>
        <p:spPr>
          <a:xfrm>
            <a:off x="1853145" y="4827523"/>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COPY</a:t>
            </a:r>
          </a:p>
        </p:txBody>
      </p:sp>
      <p:sp>
        <p:nvSpPr>
          <p:cNvPr id="18" name="Oval 17"/>
          <p:cNvSpPr/>
          <p:nvPr/>
        </p:nvSpPr>
        <p:spPr>
          <a:xfrm>
            <a:off x="1752561"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30352"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4944"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1" name="TextBox 20"/>
          <p:cNvSpPr txBox="1"/>
          <p:nvPr/>
        </p:nvSpPr>
        <p:spPr>
          <a:xfrm>
            <a:off x="694944"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last day, last season, a line.</a:t>
            </a:r>
          </a:p>
        </p:txBody>
      </p:sp>
      <p:sp>
        <p:nvSpPr>
          <p:cNvPr id="22" name="TextBox 21"/>
          <p:cNvSpPr txBox="1"/>
          <p:nvPr/>
        </p:nvSpPr>
        <p:spPr>
          <a:xfrm>
            <a:off x="3358819"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SUNDAY</a:t>
            </a:r>
          </a:p>
        </p:txBody>
      </p:sp>
      <p:sp>
        <p:nvSpPr>
          <p:cNvPr id="23" name="Oval 22"/>
          <p:cNvSpPr/>
          <p:nvPr/>
        </p:nvSpPr>
        <p:spPr>
          <a:xfrm>
            <a:off x="4581029"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3358819"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411" y="529386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wins next Sunday?</a:t>
            </a:r>
          </a:p>
        </p:txBody>
      </p:sp>
      <p:sp>
        <p:nvSpPr>
          <p:cNvPr id="26" name="TextBox 25"/>
          <p:cNvSpPr txBox="1"/>
          <p:nvPr/>
        </p:nvSpPr>
        <p:spPr>
          <a:xfrm>
            <a:off x="3523411" y="558165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one that respects the beat.</a:t>
            </a:r>
          </a:p>
        </p:txBody>
      </p:sp>
      <p:sp>
        <p:nvSpPr>
          <p:cNvPr id="27" name="TextBox 26"/>
          <p:cNvSpPr txBox="1"/>
          <p:nvPr/>
        </p:nvSpPr>
        <p:spPr>
          <a:xfrm>
            <a:off x="6187287"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YEAR</a:t>
            </a:r>
          </a:p>
        </p:txBody>
      </p:sp>
      <p:sp>
        <p:nvSpPr>
          <p:cNvPr id="28" name="Oval 27"/>
          <p:cNvSpPr/>
          <p:nvPr/>
        </p:nvSpPr>
        <p:spPr>
          <a:xfrm>
            <a:off x="7409497" y="473608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187287" y="514756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51879" y="5293868"/>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yearly copy miss?</a:t>
            </a:r>
          </a:p>
        </p:txBody>
      </p:sp>
      <p:sp>
        <p:nvSpPr>
          <p:cNvPr id="31" name="TextBox 30"/>
          <p:cNvSpPr txBox="1"/>
          <p:nvPr/>
        </p:nvSpPr>
        <p:spPr>
          <a:xfrm>
            <a:off x="6351879" y="579628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year's growth.</a:t>
            </a:r>
          </a:p>
        </p:txBody>
      </p:sp>
      <p:sp>
        <p:nvSpPr>
          <p:cNvPr id="32" name="TextBox 31"/>
          <p:cNvSpPr txBox="1"/>
          <p:nvPr/>
        </p:nvSpPr>
        <p:spPr>
          <a:xfrm>
            <a:off x="9015755" y="426059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 FESTIVAL</a:t>
            </a:r>
          </a:p>
        </p:txBody>
      </p:sp>
      <p:sp>
        <p:nvSpPr>
          <p:cNvPr id="33" name="Oval 32"/>
          <p:cNvSpPr/>
          <p:nvPr/>
        </p:nvSpPr>
        <p:spPr>
          <a:xfrm>
            <a:off x="10237965" y="473608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9015755" y="514756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180347" y="5293868"/>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breaks when it moves?</a:t>
            </a:r>
          </a:p>
        </p:txBody>
      </p:sp>
      <p:sp>
        <p:nvSpPr>
          <p:cNvPr id="36" name="TextBox 35"/>
          <p:cNvSpPr txBox="1"/>
          <p:nvPr/>
        </p:nvSpPr>
        <p:spPr>
          <a:xfrm>
            <a:off x="9180347" y="5581650"/>
            <a:ext cx="2316403" cy="201676"/>
          </a:xfrm>
          <a:prstGeom prst="rect">
            <a:avLst/>
          </a:prstGeom>
          <a:noFill/>
        </p:spPr>
        <p:txBody>
          <a:bodyPr wrap="square" anchor="t" lIns="0" rIns="0" tIns="0" bIns="0">
            <a:spAutoFit/>
          </a:bodyPr>
          <a:lstStyle/>
          <a:p>
            <a:pPr algn="l"/>
            <a:r>
              <a:rPr sz="1000" b="0" i="0">
                <a:solidFill>
                  <a:srgbClr val="CFC9EE"/>
                </a:solidFill>
                <a:latin typeface="Calibri"/>
              </a:rPr>
              <a:t>Every calendar copy.</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9" name="Oval 38"/>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41" name="Oval 4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3" name="Oval 4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5" name="Oval 4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7" name="Oval 46"/>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forecasts next Sunday's cups best?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last four days sold 98, 104, 101 and 103, and last Sunday 61 (invented). Which rule lands nearest next Sunday?</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103.</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day plus the average step: about 105.</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Seasonal 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last Sunday: 61.</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seasonal naive, 61 against 60 sold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say for Sunday 19 January 2025, and how far off was it?</a:t>
            </a:r>
          </a:p>
        </p:txBody>
      </p:sp>
      <p:pic>
        <p:nvPicPr>
          <p:cNvPr id="9" name="mermaid diagram" descr="C2_W04_D05_stall_three_rules_STUDENT.png"/>
          <p:cNvPicPr>
            <a:picLocks noChangeAspect="1"/>
          </p:cNvPicPr>
          <p:nvPr/>
        </p:nvPicPr>
        <p:blipFill>
          <a:blip r:embed="rId4"/>
          <a:stretch>
            <a:fillRect/>
          </a:stretch>
        </p:blipFill>
        <p:spPr>
          <a:xfrm>
            <a:off x="2292402" y="1664208"/>
            <a:ext cx="760689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stall's week and three forecasts for next Sunday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Next Sunday sold 60. </a:t>
            </a:r>
            <a:r>
              <a:rPr sz="1600" b="1" i="0">
                <a:solidFill>
                  <a:srgbClr val="1A1440"/>
                </a:solidFill>
                <a:latin typeface="Calibri"/>
              </a:rPr>
              <a:t>Naive</a:t>
            </a:r>
            <a:r>
              <a:rPr sz="1600" b="0" i="0">
                <a:solidFill>
                  <a:srgbClr val="1A1440"/>
                </a:solidFill>
                <a:latin typeface="Calibri"/>
              </a:rPr>
              <a:t>, the last value repeated, said 103 and missed by 43; </a:t>
            </a:r>
            <a:r>
              <a:rPr sz="1600" b="1" i="0">
                <a:solidFill>
                  <a:srgbClr val="1A1440"/>
                </a:solidFill>
                <a:latin typeface="Calibri"/>
              </a:rPr>
              <a:t>drift</a:t>
            </a:r>
            <a:r>
              <a:rPr sz="1600" b="0" i="0">
                <a:solidFill>
                  <a:srgbClr val="1A1440"/>
                </a:solidFill>
                <a:latin typeface="Calibri"/>
              </a:rPr>
              <a:t>, the last value plus the average step so far, said 104.7 and missed by 44.7; the </a:t>
            </a:r>
            <a:r>
              <a:rPr sz="1600" b="1" i="0">
                <a:solidFill>
                  <a:srgbClr val="1A1440"/>
                </a:solidFill>
                <a:latin typeface="Calibri"/>
              </a:rPr>
              <a:t>seasonal naive</a:t>
            </a:r>
            <a:r>
              <a:rPr sz="1600" b="0" i="0">
                <a:solidFill>
                  <a:srgbClr val="1A1440"/>
                </a:solidFill>
                <a:latin typeface="Calibri"/>
              </a:rPr>
              <a:t>, the value one season back, said 61 and missed by 1. When a beat is strong, the plainest copy that respects it wins.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rule in one line,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rule reach its number, and how does code reach the same?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932112"/>
                <a:gridCol w="5351762"/>
                <a:gridCol w="3847116"/>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Next Sunday, worked by hand</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103</a:t>
                      </a:r>
                    </a:p>
                  </a:txBody>
                  <a:tcPr marL="101600" marR="101600" marT="38100" marB="38100" anchor="ctr">
                    <a:solidFill>
                      <a:srgbClr val="FFFFFF"/>
                    </a:solidFill>
                  </a:tcPr>
                </a:tc>
              </a:tr>
              <a:tr h="369824">
                <a:tc>
                  <a:txBody>
                    <a:bodyPr/>
                    <a:lstStyle/>
                    <a:p>
                      <a:r>
                        <a:rPr sz="1400" b="0" i="0">
                          <a:solidFill>
                            <a:srgbClr val="1A1440"/>
                          </a:solidFill>
                          <a:latin typeface="Calibri"/>
                        </a:rPr>
                        <a:t>Drift</a:t>
                      </a:r>
                    </a:p>
                  </a:txBody>
                  <a:tcPr marL="101600" marR="101600" marT="38100" marB="38100" anchor="ctr">
                    <a:solidFill>
                      <a:srgbClr val="F4F2FA"/>
                    </a:solidFill>
                  </a:tcPr>
                </a:tc>
                <a:tc>
                  <a:txBody>
                    <a:bodyPr/>
                    <a:lstStyle/>
                    <a:p>
                      <a:r>
                        <a:rPr sz="1400" b="0" i="0">
                          <a:solidFill>
                            <a:srgbClr val="1A1440"/>
                          </a:solidFill>
                          <a:latin typeface="Calibri"/>
                        </a:rPr>
                        <a:t>the last value plus the average step so far</a:t>
                      </a:r>
                    </a:p>
                  </a:txBody>
                  <a:tcPr marL="101600" marR="101600" marT="38100" marB="38100" anchor="ctr">
                    <a:solidFill>
                      <a:srgbClr val="F4F2FA"/>
                    </a:solidFill>
                  </a:tcPr>
                </a:tc>
                <a:tc>
                  <a:txBody>
                    <a:bodyPr/>
                    <a:lstStyle/>
                    <a:p>
                      <a:r>
                        <a:rPr sz="1400" b="0" i="0">
                          <a:solidFill>
                            <a:srgbClr val="1A1440"/>
                          </a:solidFill>
                          <a:latin typeface="Calibri"/>
                        </a:rPr>
                        <a:t>103 + (103 - 98) / 3 = 104.7</a:t>
                      </a:r>
                    </a:p>
                  </a:txBody>
                  <a:tcPr marL="101600" marR="101600" marT="38100" marB="38100" anchor="ctr">
                    <a:solidFill>
                      <a:srgbClr val="F4F2FA"/>
                    </a:solidFill>
                  </a:tcPr>
                </a:tc>
              </a:tr>
              <a:tr h="369824">
                <a:tc>
                  <a:txBody>
                    <a:bodyPr/>
                    <a:lstStyle/>
                    <a:p>
                      <a:r>
                        <a:rPr sz="1400" b="0" i="0">
                          <a:solidFill>
                            <a:srgbClr val="1A1440"/>
                          </a:solidFill>
                          <a:latin typeface="Calibri"/>
                        </a:rPr>
                        <a:t>Seasonal naive</a:t>
                      </a:r>
                    </a:p>
                  </a:txBody>
                  <a:tcPr marL="101600" marR="101600" marT="38100" marB="38100" anchor="ctr">
                    <a:solidFill>
                      <a:srgbClr val="FFFFFF"/>
                    </a:solidFill>
                  </a:tcPr>
                </a:tc>
                <a:tc>
                  <a:txBody>
                    <a:bodyPr/>
                    <a:lstStyle/>
                    <a:p>
                      <a:r>
                        <a:rPr sz="1400" b="0" i="0">
                          <a:solidFill>
                            <a:srgbClr val="1A1440"/>
                          </a:solidFill>
                          <a:latin typeface="Calibri"/>
                        </a:rPr>
                        <a:t>the value one season back, 7 days here</a:t>
                      </a:r>
                    </a:p>
                  </a:txBody>
                  <a:tcPr marL="101600" marR="101600" marT="38100" marB="38100" anchor="ctr">
                    <a:solidFill>
                      <a:srgbClr val="FFFFFF"/>
                    </a:solidFill>
                  </a:tcPr>
                </a:tc>
                <a:tc>
                  <a:txBody>
                    <a:bodyPr/>
                    <a:lstStyle/>
                    <a:p>
                      <a:r>
                        <a:rPr sz="1400" b="0" i="0">
                          <a:solidFill>
                            <a:srgbClr val="1A1440"/>
                          </a:solidFill>
                          <a:latin typeface="Calibri"/>
                        </a:rPr>
                        <a:t>last Sunday's 61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82016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82016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82016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021328"/>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four = [98, 104, 101, 103]                      # Wednesday to Saturday (invented)</a:t>
            </a:r>
          </a:p>
          <a:p>
            <a:pPr>
              <a:spcAft>
                <a:spcPts val="200"/>
              </a:spcAft>
            </a:pPr>
            <a:r>
              <a:rPr sz="1400" b="0" i="0">
                <a:solidFill>
                  <a:srgbClr val="E4E1F1"/>
                </a:solidFill>
                <a:latin typeface="Consolas"/>
              </a:rPr>
              <a:t>naive = four[-1]                                # 103</a:t>
            </a:r>
          </a:p>
          <a:p>
            <a:pPr>
              <a:spcAft>
                <a:spcPts val="200"/>
              </a:spcAft>
            </a:pPr>
            <a:r>
              <a:rPr sz="1400" b="0" i="0">
                <a:solidFill>
                  <a:srgbClr val="E4E1F1"/>
                </a:solidFill>
                <a:latin typeface="Consolas"/>
              </a:rPr>
              <a:t>drift = four[-1] + (four[-1] - four[0]) / 3     # 103 + 5 / 3 = 104.7</a:t>
            </a:r>
          </a:p>
          <a:p>
            <a:pPr>
              <a:spcAft>
                <a:spcPts val="200"/>
              </a:spcAft>
            </a:pPr>
            <a:r>
              <a:rPr sz="1400" b="0" i="0">
                <a:solidFill>
                  <a:srgbClr val="E4E1F1"/>
                </a:solidFill>
                <a:latin typeface="Consolas"/>
              </a:rPr>
              <a:t>seasonal_naive = cups.shift(7)                  # every day copies the same day a week back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5" name="Oval 24"/>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yearly copy needs the year's growth added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rule do around the exams, and what is each rule's formula?</a:t>
            </a:r>
          </a:p>
        </p:txBody>
      </p:sp>
      <p:pic>
        <p:nvPicPr>
          <p:cNvPr id="9" name="mermaid diagram" descr="C2_W04_D05_stall_exam_rules_STUDENT.png"/>
          <p:cNvPicPr>
            <a:picLocks noChangeAspect="1"/>
          </p:cNvPicPr>
          <p:nvPr/>
        </p:nvPicPr>
        <p:blipFill>
          <a:blip r:embed="rId4"/>
          <a:stretch>
            <a:fillRect/>
          </a:stretch>
        </p:blipFill>
        <p:spPr>
          <a:xfrm>
            <a:off x="1936166" y="1664208"/>
            <a:ext cx="831936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November 2025 exam fortnight under three rules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Around the November 2025 exams naive, yesterday's cups, misses by 20.6 cups a day; the yearly copy, the same weekday 364 days back, misses by 10.5, mostly the year's growth; times 1.10 it misses by 3.0. Named last, with T the last period a rule may see, h the periods ahead and m the season's length: </a:t>
            </a:r>
            <a:r>
              <a:rPr sz="1200" b="1" i="0">
                <a:solidFill>
                  <a:srgbClr val="1A1440"/>
                </a:solidFill>
                <a:latin typeface="Calibri"/>
              </a:rPr>
              <a:t>naive</a:t>
            </a:r>
            <a:r>
              <a:rPr sz="1200" b="0" i="0">
                <a:solidFill>
                  <a:srgbClr val="1A1440"/>
                </a:solidFill>
                <a:latin typeface="Calibri"/>
              </a:rPr>
              <a:t>, forecast(T + h) = y(T); </a:t>
            </a:r>
            <a:r>
              <a:rPr sz="1200" b="1" i="0">
                <a:solidFill>
                  <a:srgbClr val="1A1440"/>
                </a:solidFill>
                <a:latin typeface="Calibri"/>
              </a:rPr>
              <a:t>seasonal naive</a:t>
            </a:r>
            <a:r>
              <a:rPr sz="1200" b="0" i="0">
                <a:solidFill>
                  <a:srgbClr val="1A1440"/>
                </a:solidFill>
                <a:latin typeface="Calibri"/>
              </a:rPr>
              <a:t>, forecast(T + h) = y(T + h - m); </a:t>
            </a:r>
            <a:r>
              <a:rPr sz="1200" b="1" i="0">
                <a:solidFill>
                  <a:srgbClr val="1A1440"/>
                </a:solidFill>
                <a:latin typeface="Calibri"/>
              </a:rPr>
              <a:t>drift</a:t>
            </a:r>
            <a:r>
              <a:rPr sz="1200" b="0" i="0">
                <a:solidFill>
                  <a:srgbClr val="1A1440"/>
                </a:solidFill>
                <a:latin typeface="Calibri"/>
              </a:rPr>
              <a:t>, forecast(T + h) = y(T) + h x (y(T) - y(1)) / (T - 1), the line from the first value to the last, extended.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65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calendar copy lands a moving festival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Diwali came eleven days earlier in 2025. What does a yearly copy do with that?</a:t>
            </a:r>
          </a:p>
        </p:txBody>
      </p:sp>
      <p:pic>
        <p:nvPicPr>
          <p:cNvPr id="9" name="mermaid diagram" descr="C2_W04_D05_stall_diwali_moved_STUDENT.png"/>
          <p:cNvPicPr>
            <a:picLocks noChangeAspect="1"/>
          </p:cNvPicPr>
          <p:nvPr/>
        </p:nvPicPr>
        <p:blipFill>
          <a:blip r:embed="rId4"/>
          <a:stretch>
            <a:fillRect/>
          </a:stretch>
        </p:blipFill>
        <p:spPr>
          <a:xfrm>
            <a:off x="2325673" y="1664208"/>
            <a:ext cx="7540348" cy="3022600"/>
          </a:xfrm>
          <a:prstGeom prst="rect">
            <a:avLst/>
          </a:prstGeom>
        </p:spPr>
      </p:pic>
      <p:sp>
        <p:nvSpPr>
          <p:cNvPr id="10" name="picture caption"/>
          <p:cNvSpPr txBox="1"/>
          <p:nvPr/>
        </p:nvSpPr>
        <p:spPr>
          <a:xfrm>
            <a:off x="530352" y="47233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dip under the calendar copy and the festival-aligned copy (invented numbers)</a:t>
            </a:r>
          </a:p>
        </p:txBody>
      </p:sp>
      <p:sp>
        <p:nvSpPr>
          <p:cNvPr id="11" name="Rounded Rectangle 10"/>
          <p:cNvSpPr/>
          <p:nvPr/>
        </p:nvSpPr>
        <p:spPr>
          <a:xfrm>
            <a:off x="530352" y="5049520"/>
            <a:ext cx="11130991" cy="9855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77536"/>
            <a:ext cx="45720" cy="729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68392"/>
            <a:ext cx="10564063" cy="802640"/>
          </a:xfrm>
          <a:prstGeom prst="rect">
            <a:avLst/>
          </a:prstGeom>
          <a:noFill/>
        </p:spPr>
        <p:txBody>
          <a:bodyPr wrap="square" anchor="ctr" lIns="0" rIns="0" tIns="0" bIns="0">
            <a:spAutoFit/>
          </a:bodyPr>
          <a:lstStyle/>
          <a:p>
            <a:r>
              <a:rPr sz="1000" b="1">
                <a:solidFill>
                  <a:srgbClr val="5B3FD6"/>
                </a:solidFill>
                <a:latin typeface="Calibri"/>
              </a:rPr>
              <a:t>The plausible wrong number. </a:t>
            </a:r>
            <a:r>
              <a:rPr sz="1000" b="0" i="0">
                <a:solidFill>
                  <a:srgbClr val="1A1440"/>
                </a:solidFill>
                <a:latin typeface="Calibri"/>
              </a:rPr>
              <a:t>The calendar copy says 100 cups for Diwali 2025, Monday 20 October, copied from an ordinary Monday of 2024, when 44 sold, and 40 for Thursday 30 October 2025, copied from Diwali 2024 itself, when 110 sold. </a:t>
            </a:r>
            <a:r>
              <a:rPr sz="1000" b="1" i="0">
                <a:solidFill>
                  <a:srgbClr val="1A1440"/>
                </a:solidFill>
                <a:latin typeface="Calibri"/>
              </a:rPr>
              <a:t>The decision it misleads:</a:t>
            </a:r>
            <a:r>
              <a:rPr sz="1000" b="0" i="0">
                <a:solidFill>
                  <a:srgbClr val="1A1440"/>
                </a:solidFill>
                <a:latin typeface="Calibri"/>
              </a:rPr>
              <a:t> 56 cups of milk sour on one day and the stall runs 70 cups short on another. </a:t>
            </a:r>
            <a:r>
              <a:rPr sz="1000" b="1" i="0">
                <a:solidFill>
                  <a:srgbClr val="1A1440"/>
                </a:solidFill>
                <a:latin typeface="Calibri"/>
              </a:rPr>
              <a:t>The check:</a:t>
            </a:r>
            <a:r>
              <a:rPr sz="1000" b="0" i="0">
                <a:solidFill>
                  <a:srgbClr val="1A1440"/>
                </a:solidFill>
                <a:latin typeface="Calibri"/>
              </a:rPr>
              <a:t> the festival calendar. </a:t>
            </a:r>
            <a:r>
              <a:rPr sz="1000" b="1" i="0">
                <a:solidFill>
                  <a:srgbClr val="1A1440"/>
                </a:solidFill>
                <a:latin typeface="Calibri"/>
              </a:rPr>
              <a:t>The fix:</a:t>
            </a:r>
            <a:r>
              <a:rPr sz="1000" b="0" i="0">
                <a:solidFill>
                  <a:srgbClr val="1A1440"/>
                </a:solidFill>
                <a:latin typeface="Calibri"/>
              </a:rPr>
              <a:t> near the festival, copy the day at the same distance from last year's Diwali. This programme calls that copy </a:t>
            </a:r>
            <a:r>
              <a:rPr sz="1000" b="1" i="0">
                <a:solidFill>
                  <a:srgbClr val="1A1440"/>
                </a:solidFill>
                <a:latin typeface="Calibri"/>
              </a:rPr>
              <a:t>festival-aligned</a:t>
            </a:r>
            <a:r>
              <a:rPr sz="1000" b="0" i="0">
                <a:solidFill>
                  <a:srgbClr val="1A1440"/>
                </a:solidFill>
                <a:latin typeface="Calibri"/>
              </a:rPr>
              <a:t>, its own extension of the seasonal naive; here it misses by at most 13 cups.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a copy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baseline is the simplest rule that could be right, and every forecast must beat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Naive repeats the last value, the seasonal naive the value one season back, and drift extends the line from the first value to the last.</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When a beat is strong, the copy that respects it wins, and a yearly copy needs the year's growth added.</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festival that moves breaks every calendar copy, so copy by distance from the festival.</a:t>
            </a:r>
          </a:p>
        </p:txBody>
      </p:sp>
      <p:sp>
        <p:nvSpPr>
          <p:cNvPr id="17" name="Rounded Rectangle 16"/>
          <p:cNvSpPr/>
          <p:nvPr/>
        </p:nvSpPr>
        <p:spPr>
          <a:xfrm>
            <a:off x="530352" y="40934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4256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53542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682752"/>
          </a:xfrm>
          <a:prstGeom prst="rect">
            <a:avLst/>
          </a:prstGeom>
          <a:noFill/>
        </p:spPr>
        <p:txBody>
          <a:bodyPr wrap="square" anchor="t" lIns="0" rIns="0" tIns="0" bIns="0">
            <a:spAutoFit/>
          </a:bodyPr>
          <a:lstStyle/>
          <a:p>
            <a:r>
              <a:rPr sz="1500" b="0" i="0">
                <a:solidFill>
                  <a:srgbClr val="1A1440"/>
                </a:solidFill>
                <a:latin typeface="Calibri"/>
              </a:rPr>
              <a:t>"Naive, seasonal naive and drift are the baselines any forecast must beat, and on seasonal data the seasonal naive is the one to beat."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65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go to chapter 3's scoring and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cea8f9fb7c07572.png"/>
          <p:cNvPicPr>
            <a:picLocks noChangeAspect="1"/>
          </p:cNvPicPr>
          <p:nvPr/>
        </p:nvPicPr>
        <p:blipFill>
          <a:blip r:embed="rId5"/>
          <a:stretch>
            <a:fillRect/>
          </a:stretch>
        </p:blipFill>
        <p:spPr>
          <a:xfrm>
            <a:off x="2789936" y="1664208"/>
            <a:ext cx="6611821"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seasonal naive with m = 52 is "the same week last year", which the tournament calls the </a:t>
            </a:r>
            <a:r>
              <a:rPr sz="1600" b="1" i="0">
                <a:solidFill>
                  <a:srgbClr val="1A1440"/>
                </a:solidFill>
                <a:latin typeface="Calibri"/>
              </a:rPr>
              <a:t>house bot</a:t>
            </a:r>
            <a:r>
              <a:rPr sz="1600" b="0" i="0">
                <a:solidFill>
                  <a:srgbClr val="1A1440"/>
                </a:solidFill>
                <a:latin typeface="Calibri"/>
              </a:rPr>
              <a:t>; finance's rule is the house bot times 1.04, and drift's step is about 70 shipments a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65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MAE and MAPE in the business's units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forecast scored?</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Hide the stall's latest days, score a rule on them in cups and in rupees, and say which way it leans.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65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a rule only on days it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who wants to know how wrong the milk order could be before trusting a rule, and Flipkart's regional operations head, who must say yes or no to a vendor's curve before a shift is booked.</a:t>
            </a:r>
          </a:p>
        </p:txBody>
      </p:sp>
      <p:sp>
        <p:nvSpPr>
          <p:cNvPr id="12" name="Rounded Rectangle 11"/>
          <p:cNvSpPr/>
          <p:nvPr/>
        </p:nvSpPr>
        <p:spPr>
          <a:xfrm>
            <a:off x="530352" y="31958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Five, in this order:</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days do we hide?</a:t>
            </a:r>
          </a:p>
        </p:txBody>
      </p:sp>
      <p:sp>
        <p:nvSpPr>
          <p:cNvPr id="20" name="TextBox 19"/>
          <p:cNvSpPr txBox="1"/>
          <p:nvPr/>
        </p:nvSpPr>
        <p:spPr>
          <a:xfrm>
            <a:off x="694944"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latest, as many as the order reaches.</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In cups, signs dropped: MAE.</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PERCENT</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When does a percent mislead?</a:t>
            </a:r>
          </a:p>
        </p:txBody>
      </p:sp>
      <p:sp>
        <p:nvSpPr>
          <p:cNvPr id="30" name="TextBox 29"/>
          <p:cNvSpPr txBox="1"/>
          <p:nvPr/>
        </p:nvSpPr>
        <p:spPr>
          <a:xfrm>
            <a:off x="5220492"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On a day that sells almost nothing.</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LEAN</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is it wrong?</a:t>
            </a:r>
          </a:p>
        </p:txBody>
      </p:sp>
      <p:sp>
        <p:nvSpPr>
          <p:cNvPr id="35" name="TextBox 34"/>
          <p:cNvSpPr txBox="1"/>
          <p:nvPr/>
        </p:nvSpPr>
        <p:spPr>
          <a:xfrm>
            <a:off x="7483266"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Short and over cost differently.</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does it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12 a cup short, Rs 6 unsold.</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three days judge a three-day milk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owner orders milk for the next three days. To judge a rule, which three of the last fourteen days do you hide?</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last three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Days 12, 13 and 14.</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Three at random</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So any weekday may be tested.</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three busiest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days that cost the most.</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Any three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makes no difference which.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as many as the order reaches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the latest days, and what are the origin and the horizon?</a:t>
            </a:r>
          </a:p>
        </p:txBody>
      </p:sp>
      <p:pic>
        <p:nvPicPr>
          <p:cNvPr id="9" name="mermaid diagram" descr="C2_W04_D05_stall_hidden_days_STUDENT.png"/>
          <p:cNvPicPr>
            <a:picLocks noChangeAspect="1"/>
          </p:cNvPicPr>
          <p:nvPr/>
        </p:nvPicPr>
        <p:blipFill>
          <a:blip r:embed="rId4"/>
          <a:stretch>
            <a:fillRect/>
          </a:stretch>
        </p:blipFill>
        <p:spPr>
          <a:xfrm>
            <a:off x="2588386" y="1664208"/>
            <a:ext cx="7014922"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Fourteen days with the last three hidden (invented numbers)</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answer is a. Hide the latest days, at least as many as the forecast must reach ahead: three here. Day 11 is the </a:t>
            </a:r>
            <a:r>
              <a:rPr sz="1200" b="1" i="0">
                <a:solidFill>
                  <a:srgbClr val="1A1440"/>
                </a:solidFill>
                <a:latin typeface="Calibri"/>
              </a:rPr>
              <a:t>origin</a:t>
            </a:r>
            <a:r>
              <a:rPr sz="1200" b="0" i="0">
                <a:solidFill>
                  <a:srgbClr val="1A1440"/>
                </a:solidFill>
                <a:latin typeface="Calibri"/>
              </a:rPr>
              <a:t>, the last day the rule may see; three days is the </a:t>
            </a:r>
            <a:r>
              <a:rPr sz="1200" b="1" i="0">
                <a:solidFill>
                  <a:srgbClr val="1A1440"/>
                </a:solidFill>
                <a:latin typeface="Calibri"/>
              </a:rPr>
              <a:t>horizon</a:t>
            </a:r>
            <a:r>
              <a:rPr sz="1200" b="0" i="0">
                <a:solidFill>
                  <a:srgbClr val="1A1440"/>
                </a:solidFill>
                <a:latin typeface="Calibri"/>
              </a:rPr>
              <a:t>; days 1 to 11 are the </a:t>
            </a:r>
            <a:r>
              <a:rPr sz="1200" b="1" i="0">
                <a:solidFill>
                  <a:srgbClr val="1A1440"/>
                </a:solidFill>
                <a:latin typeface="Calibri"/>
              </a:rPr>
              <a:t>training</a:t>
            </a:r>
            <a:r>
              <a:rPr sz="1200" b="0" i="0">
                <a:solidFill>
                  <a:srgbClr val="1A1440"/>
                </a:solidFill>
                <a:latin typeface="Calibri"/>
              </a:rPr>
              <a:t> days and days 12 to 14 the </a:t>
            </a:r>
            <a:r>
              <a:rPr sz="1200" b="1" i="0">
                <a:solidFill>
                  <a:srgbClr val="1A1440"/>
                </a:solidFill>
                <a:latin typeface="Calibri"/>
              </a:rPr>
              <a:t>hidden</a:t>
            </a:r>
            <a:r>
              <a:rPr sz="1200" b="0" i="0">
                <a:solidFill>
                  <a:srgbClr val="1A1440"/>
                </a:solidFill>
                <a:latin typeface="Calibri"/>
              </a:rPr>
              <a:t> days, also called the hold-out or test set. Tomorrow looks most like the newest days, and a random hole would let a rule borrow days that come after the one it forecasts, which a real tomorrow never offers. The test set should be "at least as large as the maximum forecast horizon required" (Forecasting: Principles and Practice, section 5.8).</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5 cups, MAPE 4.8 percent, leaning 1.7 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score made from three misses, and which way does the rule lean?</a:t>
            </a:r>
          </a:p>
        </p:txBody>
      </p:sp>
      <p:graphicFrame>
        <p:nvGraphicFramePr>
          <p:cNvPr id="9" name="Table 8"/>
          <p:cNvGraphicFramePr>
            <a:graphicFrameLocks noGrp="1"/>
          </p:cNvGraphicFramePr>
          <p:nvPr/>
        </p:nvGraphicFramePr>
        <p:xfrm>
          <a:off x="530352" y="1820672"/>
          <a:ext cx="11130990" cy="1341120"/>
        </p:xfrm>
        <a:graphic>
          <a:graphicData uri="http://schemas.openxmlformats.org/drawingml/2006/table">
            <a:tbl>
              <a:tblPr firstRow="0" bandRow="0">
                <a:tableStyleId>{2D5ABB26-0587-4C30-8999-92F81FD0307C}</a:tableStyleId>
              </a:tblPr>
              <a:tblGrid>
                <a:gridCol w="2632399"/>
                <a:gridCol w="2632399"/>
                <a:gridCol w="914400"/>
                <a:gridCol w="4951792"/>
              </a:tblGrid>
              <a:tr h="335280">
                <a:tc>
                  <a:txBody>
                    <a:bodyPr/>
                    <a:lstStyle/>
                    <a:p>
                      <a:r>
                        <a:rPr sz="1250" b="1" i="0">
                          <a:solidFill>
                            <a:srgbClr val="FFFFFF"/>
                          </a:solidFill>
                          <a:latin typeface="Calibri"/>
                        </a:rPr>
                        <a:t>Hidden day</a:t>
                      </a:r>
                    </a:p>
                  </a:txBody>
                  <a:tcPr marL="101600" marR="101600" marT="38100" marB="38100" anchor="ctr">
                    <a:solidFill>
                      <a:srgbClr val="1A0F5C"/>
                    </a:solidFill>
                  </a:tcPr>
                </a:tc>
                <a:tc>
                  <a:txBody>
                    <a:bodyPr/>
                    <a:lstStyle/>
                    <a:p>
                      <a:r>
                        <a:rPr sz="1250" b="1" i="0">
                          <a:solidFill>
                            <a:srgbClr val="FFFFFF"/>
                          </a:solidFill>
                          <a:latin typeface="Calibri"/>
                        </a:rPr>
                        <a:t>Naive said</a:t>
                      </a:r>
                    </a:p>
                  </a:txBody>
                  <a:tcPr marL="101600" marR="101600" marT="38100" marB="38100" anchor="ctr">
                    <a:solidFill>
                      <a:srgbClr val="1A0F5C"/>
                    </a:solidFill>
                  </a:tcPr>
                </a:tc>
                <a:tc>
                  <a:txBody>
                    <a:bodyPr/>
                    <a:lstStyle/>
                    <a:p>
                      <a:r>
                        <a:rPr sz="1250" b="1" i="0">
                          <a:solidFill>
                            <a:srgbClr val="FFFFFF"/>
                          </a:solidFill>
                          <a:latin typeface="Calibri"/>
                        </a:rPr>
                        <a:t>Sold</a:t>
                      </a:r>
                    </a:p>
                  </a:txBody>
                  <a:tcPr marL="101600" marR="101600" marT="38100" marB="38100" anchor="ctr">
                    <a:solidFill>
                      <a:srgbClr val="1A0F5C"/>
                    </a:solidFill>
                  </a:tcPr>
                </a:tc>
                <a:tc>
                  <a:txBody>
                    <a:bodyPr/>
                    <a:lstStyle/>
                    <a:p>
                      <a:r>
                        <a:rPr sz="1250" b="1" i="0">
                          <a:solidFill>
                            <a:srgbClr val="FFFFFF"/>
                          </a:solidFill>
                          <a:latin typeface="Calibri"/>
                        </a:rPr>
                        <a:t>Miss: said minus sold</a:t>
                      </a:r>
                    </a:p>
                  </a:txBody>
                  <a:tcPr marL="101600" marR="101600" marT="38100" marB="38100" anchor="ctr">
                    <a:solidFill>
                      <a:srgbClr val="1A0F5C"/>
                    </a:solidFill>
                  </a:tcPr>
                </a:tc>
              </a:tr>
              <a:tr h="335280">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-10, so 10 cups short</a:t>
                      </a:r>
                    </a:p>
                  </a:txBody>
                  <a:tcPr marL="101600" marR="101600" marT="38100" marB="38100" anchor="ctr">
                    <a:solidFill>
                      <a:srgbClr val="FFFFFF"/>
                    </a:solidFill>
                  </a:tcPr>
                </a:tc>
              </a:tr>
              <a:tr h="335280">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95</a:t>
                      </a:r>
                    </a:p>
                  </a:txBody>
                  <a:tcPr marL="101600" marR="101600" marT="38100" marB="38100" anchor="ctr">
                    <a:solidFill>
                      <a:srgbClr val="F4F2FA"/>
                    </a:solidFill>
                  </a:tcPr>
                </a:tc>
                <a:tc>
                  <a:txBody>
                    <a:bodyPr/>
                    <a:lstStyle/>
                    <a:p>
                      <a:r>
                        <a:rPr sz="1200" b="0" i="0">
                          <a:solidFill>
                            <a:srgbClr val="1A1440"/>
                          </a:solidFill>
                          <a:latin typeface="Calibri"/>
                        </a:rPr>
                        <a:t>+5, so 5 cups unsold</a:t>
                      </a:r>
                    </a:p>
                  </a:txBody>
                  <a:tcPr marL="101600" marR="101600" marT="38100" marB="38100" anchor="ctr">
                    <a:solidFill>
                      <a:srgbClr val="F4F2FA"/>
                    </a:solidFill>
                  </a:tcPr>
                </a:tc>
              </a:tr>
              <a:tr h="335280">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4178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MAE</a:t>
            </a:r>
            <a:r>
              <a:rPr sz="1600" b="0" i="0">
                <a:solidFill>
                  <a:srgbClr val="1A1440"/>
                </a:solidFill>
                <a:latin typeface="Calibri"/>
              </a:rPr>
              <a:t> drops the signs and averages: (10 + 5 + 0) / 3 = 5.0 cups. </a:t>
            </a:r>
            <a:r>
              <a:rPr sz="1600" b="1" i="0">
                <a:solidFill>
                  <a:srgbClr val="1A1440"/>
                </a:solidFill>
                <a:latin typeface="Calibri"/>
              </a:rPr>
              <a:t>MAPE</a:t>
            </a:r>
            <a:r>
              <a:rPr sz="1600" b="0" i="0">
                <a:solidFill>
                  <a:srgbClr val="1A1440"/>
                </a:solidFill>
                <a:latin typeface="Calibri"/>
              </a:rPr>
              <a:t> divides each miss by what sold first: (10/110 + 5/95 + 0/100) / 3 = 4.8 percent. The </a:t>
            </a:r>
            <a:r>
              <a:rPr sz="1600" b="1" i="0">
                <a:solidFill>
                  <a:srgbClr val="1A1440"/>
                </a:solidFill>
                <a:latin typeface="Calibri"/>
              </a:rPr>
              <a:t>lean</a:t>
            </a:r>
            <a:r>
              <a:rPr sz="1600" b="0" i="0">
                <a:solidFill>
                  <a:srgbClr val="1A1440"/>
                </a:solidFill>
                <a:latin typeface="Calibri"/>
              </a:rPr>
              <a:t> keeps the signs: -5 / 3 = -1.7, so the rule runs low. Priced, 10 cups short at Rs 12 and 5 unsold at Rs 6 cost Rs 150.</a:t>
            </a:r>
          </a:p>
        </p:txBody>
      </p:sp>
      <p:sp>
        <p:nvSpPr>
          <p:cNvPr id="11" name="Rounded Rectangle 10"/>
          <p:cNvSpPr/>
          <p:nvPr/>
        </p:nvSpPr>
        <p:spPr>
          <a:xfrm>
            <a:off x="530352" y="4594352"/>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722368"/>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722368"/>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722368"/>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923536"/>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miss = [100 - sold for sold in [110, 95, 100]]                      # -10, +5, 0</a:t>
            </a:r>
          </a:p>
          <a:p>
            <a:pPr>
              <a:spcAft>
                <a:spcPts val="200"/>
              </a:spcAft>
            </a:pPr>
            <a:r>
              <a:rPr sz="1400" b="0" i="0">
                <a:solidFill>
                  <a:srgbClr val="E4E1F1"/>
                </a:solidFill>
                <a:latin typeface="Consolas"/>
              </a:rPr>
              <a:t>mae = sum(abs(m) for m in miss) / 3                                  # 5.0 cups</a:t>
            </a:r>
          </a:p>
          <a:p>
            <a:pPr>
              <a:spcAft>
                <a:spcPts val="200"/>
              </a:spcAft>
            </a:pPr>
            <a:r>
              <a:rPr sz="1400" b="0" i="0">
                <a:solidFill>
                  <a:srgbClr val="E4E1F1"/>
                </a:solidFill>
                <a:latin typeface="Consolas"/>
              </a:rPr>
              <a:t>mape = sum(abs(m) / s for m, s in zip(miss, [110, 95, 100])) / 3     # 0.048, 4.8 percent</a:t>
            </a:r>
          </a:p>
          <a:p>
            <a:pPr>
              <a:spcAft>
                <a:spcPts val="200"/>
              </a:spcAft>
            </a:pPr>
            <a:r>
              <a:rPr sz="1400" b="0" i="0">
                <a:solidFill>
                  <a:srgbClr val="E4E1F1"/>
                </a:solidFill>
                <a:latin typeface="Consolas"/>
              </a:rPr>
              <a:t>lean = sum(miss) / 3                                                 # -1.7: the rule runs low</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MAPE breaks on a quiet day; MAE keeps the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does a percent mislead, and which score goes to the milkman?</a:t>
            </a:r>
          </a:p>
        </p:txBody>
      </p:sp>
      <p:pic>
        <p:nvPicPr>
          <p:cNvPr id="9" name="mermaid diagram" descr="C2_W04_D05_stall_mape_STUDENT.png"/>
          <p:cNvPicPr>
            <a:picLocks noChangeAspect="1"/>
          </p:cNvPicPr>
          <p:nvPr/>
        </p:nvPicPr>
        <p:blipFill>
          <a:blip r:embed="rId4"/>
          <a:stretch>
            <a:fillRect/>
          </a:stretch>
        </p:blipFill>
        <p:spPr>
          <a:xfrm>
            <a:off x="2660749" y="1664208"/>
            <a:ext cx="6870196"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same 15-cup miss in cups and in percent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Two invented days, apart from the stall's record, each miss by 15 cups: 15 over 85 is 17.6 percent of a busy day, and 15 over 5 is 300 percent of a rain day when the stall shut after an hour. Named last: </a:t>
            </a:r>
            <a:r>
              <a:rPr sz="1200" b="1" i="0">
                <a:solidFill>
                  <a:srgbClr val="1A1440"/>
                </a:solidFill>
                <a:latin typeface="Calibri"/>
              </a:rPr>
              <a:t>MAE</a:t>
            </a:r>
            <a:r>
              <a:rPr sz="1200" b="0" i="0">
                <a:solidFill>
                  <a:srgbClr val="1A1440"/>
                </a:solidFill>
                <a:latin typeface="Calibri"/>
              </a:rPr>
              <a:t>, the mean absolute error, is the mean of the misses with their signs dropped, in the unit the cost is in; </a:t>
            </a:r>
            <a:r>
              <a:rPr sz="1200" b="1" i="0">
                <a:solidFill>
                  <a:srgbClr val="1A1440"/>
                </a:solidFill>
                <a:latin typeface="Calibri"/>
              </a:rPr>
              <a:t>MAPE</a:t>
            </a:r>
            <a:r>
              <a:rPr sz="1200" b="0" i="0">
                <a:solidFill>
                  <a:srgbClr val="1A1440"/>
                </a:solidFill>
                <a:latin typeface="Calibri"/>
              </a:rPr>
              <a:t>, the mean absolute percentage error, is the mean of each miss over what sold, which compares stalls of different sizes and runs to extremes when a day sells close to zero.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Same MAE, different rupees: report the lean too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rules both miss by 10 cups a day. Which costs more?</a:t>
            </a:r>
          </a:p>
        </p:txBody>
      </p:sp>
      <p:pic>
        <p:nvPicPr>
          <p:cNvPr id="9" name="mermaid diagram" descr="C2_W04_D05_stall_lean_STUDENT.png"/>
          <p:cNvPicPr>
            <a:picLocks noChangeAspect="1"/>
          </p:cNvPicPr>
          <p:nvPr/>
        </p:nvPicPr>
        <p:blipFill>
          <a:blip r:embed="rId4"/>
          <a:stretch>
            <a:fillRect/>
          </a:stretch>
        </p:blipFill>
        <p:spPr>
          <a:xfrm>
            <a:off x="2369453" y="1664208"/>
            <a:ext cx="7452787"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rules with the same MAE and different costs (invented numbers)</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"Both rules score MAE 10, so they are equally good." </a:t>
            </a:r>
            <a:r>
              <a:rPr sz="1100" b="1" i="0">
                <a:solidFill>
                  <a:srgbClr val="1A1440"/>
                </a:solidFill>
                <a:latin typeface="Calibri"/>
              </a:rPr>
              <a:t>The decision it misleads:</a:t>
            </a:r>
            <a:r>
              <a:rPr sz="1100" b="0" i="0">
                <a:solidFill>
                  <a:srgbClr val="1A1440"/>
                </a:solidFill>
                <a:latin typeface="Calibri"/>
              </a:rPr>
              <a:t> the cheaper rule dropped for no reason. </a:t>
            </a:r>
            <a:r>
              <a:rPr sz="1100" b="1" i="0">
                <a:solidFill>
                  <a:srgbClr val="1A1440"/>
                </a:solidFill>
                <a:latin typeface="Calibri"/>
              </a:rPr>
              <a:t>The check:</a:t>
            </a:r>
            <a:r>
              <a:rPr sz="1100" b="0" i="0">
                <a:solidFill>
                  <a:srgbClr val="1A1440"/>
                </a:solidFill>
                <a:latin typeface="Calibri"/>
              </a:rPr>
              <a:t> the sign of each miss. Rule P runs 10 over on both days: 20 cups unsold at Rs 6, Rs 120. Rule Q runs 10 over, then 10 short: Rs 60 plus Rs 120, Rs 180. </a:t>
            </a:r>
            <a:r>
              <a:rPr sz="1100" b="1" i="0">
                <a:solidFill>
                  <a:srgbClr val="1A1440"/>
                </a:solidFill>
                <a:latin typeface="Calibri"/>
              </a:rPr>
              <a:t>The fix:</a:t>
            </a:r>
            <a:r>
              <a:rPr sz="1100" b="0" i="0">
                <a:solidFill>
                  <a:srgbClr val="1A1440"/>
                </a:solidFill>
                <a:latin typeface="Calibri"/>
              </a:rPr>
              <a:t> report the MAE and the lean together, and price each direction.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scoring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hear?</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Hide the latest periods, at least as many as the forecast must reach ahead, and forecast them all from one origin.</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Fix the measure before anyone scores, in the unit the cost is in.</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Keep MAPE for comparing series of different sizes, and never on periods that sell close to zero.</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627888"/>
          </a:xfrm>
          <a:prstGeom prst="rect">
            <a:avLst/>
          </a:prstGeom>
          <a:noFill/>
        </p:spPr>
        <p:txBody>
          <a:bodyPr wrap="square" anchor="t" lIns="0" rIns="0" tIns="0" bIns="0">
            <a:spAutoFit/>
          </a:bodyPr>
          <a:lstStyle/>
          <a:p>
            <a:r>
              <a:rPr sz="1500" b="0" i="0">
                <a:solidFill>
                  <a:srgbClr val="1A1440"/>
                </a:solidFill>
                <a:latin typeface="Calibri"/>
              </a:rPr>
              <a:t>Report which way a rule leans beside how far it misses, because a miss short and a miss over cost different amounts.</a:t>
            </a:r>
          </a:p>
        </p:txBody>
      </p:sp>
      <p:sp>
        <p:nvSpPr>
          <p:cNvPr id="17" name="Rounded Rectangle 16"/>
          <p:cNvSpPr/>
          <p:nvPr/>
        </p:nvSpPr>
        <p:spPr>
          <a:xfrm>
            <a:off x="530352" y="435254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814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92404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941832"/>
          </a:xfrm>
          <a:prstGeom prst="rect">
            <a:avLst/>
          </a:prstGeom>
          <a:noFill/>
        </p:spPr>
        <p:txBody>
          <a:bodyPr wrap="square" anchor="t" lIns="0" rIns="0" tIns="0" bIns="0">
            <a:spAutoFit/>
          </a:bodyPr>
          <a:lstStyle/>
          <a:p>
            <a:r>
              <a:rPr sz="1500" b="0" i="0">
                <a:solidFill>
                  <a:srgbClr val="1A1440"/>
                </a:solidFill>
                <a:latin typeface="Calibri"/>
              </a:rPr>
              <a:t>[S] "How do you evaluate a forecast?" "I hold out the latest periods, as many as the horizon, fix the error measure in the business's unit before scoring, compare with the naive and the seasonal naive, and price each direction."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65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Scoring feeds chapter 4 and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35fbffe84b60d620.png"/>
          <p:cNvPicPr>
            <a:picLocks noChangeAspect="1"/>
          </p:cNvPicPr>
          <p:nvPr/>
        </p:nvPicPr>
        <p:blipFill>
          <a:blip r:embed="rId5"/>
          <a:stretch>
            <a:fillRect/>
          </a:stretch>
        </p:blipFill>
        <p:spPr>
          <a:xfrm>
            <a:off x="2381078" y="1664208"/>
            <a:ext cx="7429537"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At Flipkart the latest thirteen weeks, 29 June to 21 September 2026, are hidden, the origin is 22 June and the horizon ten weeks; a spare shipment costs Rs 5.42 and a late one Rs 25.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Beating the baseline; the vendor curve tested; the good-enough call and the forecast note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does it earn trust?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Watch a perfect fit forecast badly, race a clever rule against the seasonal naive on hidden days, stop improving when the decision stops changing, and write the four-line note.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forecast earns trust only on unseen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verdict,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stall's owner, offered a "model" by a nephew with a laptop, and Flipkart's regional operations head, offered a vendor's curve that fits history within 2 percent.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in this order:</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perfect fit say?</a:t>
            </a:r>
          </a:p>
        </p:txBody>
      </p:sp>
      <p:sp>
        <p:nvSpPr>
          <p:cNvPr id="20" name="TextBox 19"/>
          <p:cNvSpPr txBox="1"/>
          <p:nvPr/>
        </p:nvSpPr>
        <p:spPr>
          <a:xfrm>
            <a:off x="694944"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About tomorrow, nothing.</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RACE</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the clever rule win?</a:t>
            </a:r>
          </a:p>
        </p:txBody>
      </p:sp>
      <p:sp>
        <p:nvSpPr>
          <p:cNvPr id="25" name="TextBox 24"/>
          <p:cNvSpPr txBox="1"/>
          <p:nvPr/>
        </p:nvSpPr>
        <p:spPr>
          <a:xfrm>
            <a:off x="3523411"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on hidden days.</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better worth having?</a:t>
            </a:r>
          </a:p>
        </p:txBody>
      </p:sp>
      <p:sp>
        <p:nvSpPr>
          <p:cNvPr id="30" name="TextBox 29"/>
          <p:cNvSpPr txBox="1"/>
          <p:nvPr/>
        </p:nvSpPr>
        <p:spPr>
          <a:xfrm>
            <a:off x="6351879" y="4955794"/>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if the order changes.</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NOTE</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goes to the milkman?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Four lines.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forecast for day 5 lands closest?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stall sold 100, 104, 98 and 110 cups on four days (invented). Which forecast for day 5 lands closest?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straight line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best line through the four days, about 109.</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pline_46e5c4f8269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exact curve</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passes through all four days exactly.</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last day, 110.</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qual_08ba08324b53.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They land within five cups of each other.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exact fit misses by 66, the worst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day 5 sell, and what does that say about fit?</a:t>
            </a:r>
          </a:p>
        </p:txBody>
      </p:sp>
      <p:pic>
        <p:nvPicPr>
          <p:cNvPr id="9" name="mermaid diagram" descr="C2_W04_D05_stall_fit_forecast_STUDENT.png"/>
          <p:cNvPicPr>
            <a:picLocks noChangeAspect="1"/>
          </p:cNvPicPr>
          <p:nvPr/>
        </p:nvPicPr>
        <p:blipFill>
          <a:blip r:embed="rId4"/>
          <a:stretch>
            <a:fillRect/>
          </a:stretch>
        </p:blipFill>
        <p:spPr>
          <a:xfrm>
            <a:off x="2501339" y="1664208"/>
            <a:ext cx="718901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perfect fit on four days and its forecast for day 5 (invented numbers)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answer is a, with naive a cup behind. Day 5 sold 102. The curve through all four days fits them perfectly, with an error of 0, and said 168: a miss of 66. The straight line, about 3.1 cups from the four days on average, said 109 and missed by 7; naive said 110 and missed by 8. </a:t>
            </a:r>
            <a:r>
              <a:rPr sz="1200" b="1" i="0">
                <a:solidFill>
                  <a:srgbClr val="1A1440"/>
                </a:solidFill>
                <a:latin typeface="Calibri"/>
              </a:rPr>
              <a:t>Fit</a:t>
            </a:r>
            <a:r>
              <a:rPr sz="1200" b="0" i="0">
                <a:solidFill>
                  <a:srgbClr val="1A1440"/>
                </a:solidFill>
                <a:latin typeface="Calibri"/>
              </a:rPr>
              <a:t> is how close a rule sits to the days it was built on; </a:t>
            </a:r>
            <a:r>
              <a:rPr sz="1200" b="1" i="0">
                <a:solidFill>
                  <a:srgbClr val="1A1440"/>
                </a:solidFill>
                <a:latin typeface="Calibri"/>
              </a:rPr>
              <a:t>forecast error</a:t>
            </a:r>
            <a:r>
              <a:rPr sz="1200" b="0" i="0">
                <a:solidFill>
                  <a:srgbClr val="1A1440"/>
                </a:solidFill>
                <a:latin typeface="Calibri"/>
              </a:rPr>
              <a:t> is how far it misses days it never saw. An interviewer says in-sample and out-of-sample.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nephew's mean loses to the seasonal naive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seven hidden days, does the nephew's clever rule beat the baseline?</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9367755"/>
                <a:gridCol w="1763235"/>
              </a:tblGrid>
              <a:tr h="369824">
                <a:tc>
                  <a:txBody>
                    <a:bodyPr/>
                    <a:lstStyle/>
                    <a:p>
                      <a:r>
                        <a:rPr sz="1450" b="1" i="0">
                          <a:solidFill>
                            <a:srgbClr val="FFFFFF"/>
                          </a:solidFill>
                          <a:latin typeface="Calibri"/>
                        </a:rPr>
                        <a:t>Rule, on the seven hidden days, 10 to 16 March 2025</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The nephew's rule: the mean of the last seven days, 97.6 cups every day</a:t>
                      </a:r>
                    </a:p>
                  </a:txBody>
                  <a:tcPr marL="101600" marR="101600" marT="38100" marB="38100" anchor="ctr">
                    <a:solidFill>
                      <a:srgbClr val="FFFFFF"/>
                    </a:solidFill>
                  </a:tcPr>
                </a:tc>
                <a:tc>
                  <a:txBody>
                    <a:bodyPr/>
                    <a:lstStyle/>
                    <a:p>
                      <a:r>
                        <a:rPr sz="1400" b="0" i="0">
                          <a:solidFill>
                            <a:srgbClr val="1A1440"/>
                          </a:solidFill>
                          <a:latin typeface="Calibri"/>
                        </a:rPr>
                        <a:t>12.4 cups</a:t>
                      </a:r>
                    </a:p>
                  </a:txBody>
                  <a:tcPr marL="101600" marR="101600" marT="38100" marB="38100" anchor="ctr">
                    <a:solidFill>
                      <a:srgbClr val="FFFFFF"/>
                    </a:solidFill>
                  </a:tcPr>
                </a:tc>
              </a:tr>
              <a:tr h="369824">
                <a:tc>
                  <a:txBody>
                    <a:bodyPr/>
                    <a:lstStyle/>
                    <a:p>
                      <a:r>
                        <a:rPr sz="1400" b="0" i="0">
                          <a:solidFill>
                            <a:srgbClr val="1A1440"/>
                          </a:solidFill>
                          <a:latin typeface="Calibri"/>
                        </a:rPr>
                        <a:t>The seasonal naive: the same day last week, 100 on Monday to 63 on Sunday</a:t>
                      </a:r>
                    </a:p>
                  </a:txBody>
                  <a:tcPr marL="101600" marR="101600" marT="38100" marB="38100" anchor="ctr">
                    <a:solidFill>
                      <a:srgbClr val="F4F2FA"/>
                    </a:solidFill>
                  </a:tcPr>
                </a:tc>
                <a:tc>
                  <a:txBody>
                    <a:bodyPr/>
                    <a:lstStyle/>
                    <a:p>
                      <a:r>
                        <a:rPr sz="1400" b="0" i="0">
                          <a:solidFill>
                            <a:srgbClr val="1A1440"/>
                          </a:solidFill>
                          <a:latin typeface="Calibri"/>
                        </a:rPr>
                        <a:t>4.0 cups</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mean ignores the Sunday dip and misses that Sunday by 34.6 cups. Nothing goes to the milk order unless it beats the seasonal naive on days it never saw, by the measure fixed first.</a:t>
            </a:r>
          </a:p>
        </p:txBody>
      </p:sp>
      <p:sp>
        <p:nvSpPr>
          <p:cNvPr id="11" name="Rounded Rectangle 10"/>
          <p:cNvSpPr/>
          <p:nvPr/>
        </p:nvSpPr>
        <p:spPr>
          <a:xfrm>
            <a:off x="530352" y="42224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435051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435051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435051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45516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seen, hidden = cups[:7], cups[7:]      # 3 to 9 March, 10 to 16 March</a:t>
            </a:r>
          </a:p>
          <a:p>
            <a:pPr>
              <a:spcAft>
                <a:spcPts val="200"/>
              </a:spcAft>
            </a:pPr>
            <a:r>
              <a:rPr sz="1400" b="0" i="0">
                <a:solidFill>
                  <a:srgbClr val="E4E1F1"/>
                </a:solidFill>
                <a:latin typeface="Consolas"/>
              </a:rPr>
              <a:t>mean_rule = sum(seen) / 7              # 97.6 cups, every day</a:t>
            </a:r>
          </a:p>
          <a:p>
            <a:pPr>
              <a:spcAft>
                <a:spcPts val="200"/>
              </a:spcAft>
            </a:pPr>
            <a:r>
              <a:rPr sz="1400" b="0" i="0">
                <a:solidFill>
                  <a:srgbClr val="E4E1F1"/>
                </a:solidFill>
                <a:latin typeface="Consolas"/>
              </a:rPr>
              <a:t>mae_mean = sum(abs(mean_rule - h) for h in hidden) / 7      # 12.4</a:t>
            </a:r>
          </a:p>
          <a:p>
            <a:pPr>
              <a:spcAft>
                <a:spcPts val="200"/>
              </a:spcAft>
            </a:pPr>
            <a:r>
              <a:rPr sz="1400" b="0" i="0">
                <a:solidFill>
                  <a:srgbClr val="E4E1F1"/>
                </a:solidFill>
                <a:latin typeface="Consolas"/>
              </a:rPr>
              <a:t>mae_seasonal = sum(abs(s - h) for s, h in zip(seen, hidden)) / 7</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6" name="Oval 2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rule orders the same cans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better forecast worth having when milk comes in cans of 40 cups?</a:t>
            </a:r>
          </a:p>
        </p:txBody>
      </p:sp>
      <p:pic>
        <p:nvPicPr>
          <p:cNvPr id="9" name="mermaid diagram" descr="C2_W04_D05_stall_cans_STUDENT.png"/>
          <p:cNvPicPr>
            <a:picLocks noChangeAspect="1"/>
          </p:cNvPicPr>
          <p:nvPr/>
        </p:nvPicPr>
        <p:blipFill>
          <a:blip r:embed="rId4"/>
          <a:stretch>
            <a:fillRect/>
          </a:stretch>
        </p:blipFill>
        <p:spPr>
          <a:xfrm>
            <a:off x="1633570" y="1664208"/>
            <a:ext cx="892455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Cans ordered under three forecasts for the seven hidden days (invented numbers)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seasonal naive orders 3 cans a weekday and 2 on Sunday, exactly what a forecast that knew the future would order, on all seven days; the nephew's mean orders a third can on Sunday, Rs 240 of milk that sours. Named last: </a:t>
            </a:r>
            <a:r>
              <a:rPr sz="1600" b="1" i="0">
                <a:solidFill>
                  <a:srgbClr val="1A1440"/>
                </a:solidFill>
                <a:latin typeface="Calibri"/>
              </a:rPr>
              <a:t>good enough</a:t>
            </a:r>
            <a:r>
              <a:rPr sz="1600" b="0" i="0">
                <a:solidFill>
                  <a:srgbClr val="1A1440"/>
                </a:solidFill>
                <a:latin typeface="Calibri"/>
              </a:rPr>
              <a:t> is a claim about the decision, never about the model. A better forecast is worth having only if it would change what gets ordered, so the owner stops improving here.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forecast note carries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send the milkman, and what goes in each line?</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380744"/>
                <a:gridCol w="7750246"/>
              </a:tblGrid>
              <a:tr h="369824">
                <a:tc>
                  <a:txBody>
                    <a:bodyPr/>
                    <a:lstStyle/>
                    <a:p>
                      <a:r>
                        <a:rPr sz="1450" b="1" i="0">
                          <a:solidFill>
                            <a:srgbClr val="FFFFFF"/>
                          </a:solidFill>
                          <a:latin typeface="Calibri"/>
                        </a:rPr>
                        <a:t>Line</a:t>
                      </a:r>
                    </a:p>
                  </a:txBody>
                  <a:tcPr marL="101600" marR="101600" marT="38100" marB="38100" anchor="ctr">
                    <a:solidFill>
                      <a:srgbClr val="1A0F5C"/>
                    </a:solidFill>
                  </a:tcPr>
                </a:tc>
                <a:tc>
                  <a:txBody>
                    <a:bodyPr/>
                    <a:lstStyle/>
                    <a:p>
                      <a:r>
                        <a:rPr sz="1450" b="1" i="0">
                          <a:solidFill>
                            <a:srgbClr val="FFFFFF"/>
                          </a:solidFill>
                          <a:latin typeface="Calibri"/>
                        </a:rPr>
                        <a:t>What it says, for the stall</a:t>
                      </a:r>
                    </a:p>
                  </a:txBody>
                  <a:tcPr marL="101600" marR="101600" marT="38100" marB="38100" anchor="ctr">
                    <a:solidFill>
                      <a:srgbClr val="1A0F5C"/>
                    </a:solidFill>
                  </a:tcPr>
                </a:tc>
              </a:tr>
              <a:tr h="369824">
                <a:tc>
                  <a:txBody>
                    <a:bodyPr/>
                    <a:lstStyle/>
                    <a:p>
                      <a:r>
                        <a:rPr sz="1400" b="0" i="0">
                          <a:solidFill>
                            <a:srgbClr val="1A1440"/>
                          </a:solidFill>
                          <a:latin typeface="Calibri"/>
                        </a:rPr>
                        <a:t>The number</a:t>
                      </a:r>
                    </a:p>
                  </a:txBody>
                  <a:tcPr marL="101600" marR="101600" marT="38100" marB="38100" anchor="ctr">
                    <a:solidFill>
                      <a:srgbClr val="FFFFFF"/>
                    </a:solidFill>
                  </a:tcPr>
                </a:tc>
                <a:tc>
                  <a:txBody>
                    <a:bodyPr/>
                    <a:lstStyle/>
                    <a:p>
                      <a:r>
                        <a:rPr sz="1400" b="0" i="0">
                          <a:solidFill>
                            <a:srgbClr val="1A1440"/>
                          </a:solidFill>
                          <a:latin typeface="Calibri"/>
                        </a:rPr>
                        <a:t>3 cans a day Monday to Saturday, 2 on Sunday</a:t>
                      </a:r>
                    </a:p>
                  </a:txBody>
                  <a:tcPr marL="101600" marR="101600" marT="38100" marB="38100" anchor="ctr">
                    <a:solidFill>
                      <a:srgbClr val="FFFFFF"/>
                    </a:solidFill>
                  </a:tcPr>
                </a:tc>
              </a:tr>
              <a:tr h="611632">
                <a:tc>
                  <a:txBody>
                    <a:bodyPr/>
                    <a:lstStyle/>
                    <a:p>
                      <a:r>
                        <a:rPr sz="1400" b="0" i="0">
                          <a:solidFill>
                            <a:srgbClr val="1A1440"/>
                          </a:solidFill>
                          <a:latin typeface="Calibri"/>
                        </a:rPr>
                        <a:t>The method</a:t>
                      </a:r>
                    </a:p>
                  </a:txBody>
                  <a:tcPr marL="101600" marR="101600" marT="38100" marB="38100" anchor="ctr">
                    <a:solidFill>
                      <a:srgbClr val="F4F2FA"/>
                    </a:solidFill>
                  </a:tcPr>
                </a:tc>
                <a:tc>
                  <a:txBody>
                    <a:bodyPr/>
                    <a:lstStyle/>
                    <a:p>
                      <a:r>
                        <a:rPr sz="1400" b="0" i="0">
                          <a:solidFill>
                            <a:srgbClr val="1A1440"/>
                          </a:solidFill>
                          <a:latin typeface="Calibri"/>
                        </a:rPr>
                        <a:t>the same day last week, the seasonal naive, which beat the nephew's mean on seven hidden days</a:t>
                      </a:r>
                    </a:p>
                  </a:txBody>
                  <a:tcPr marL="101600" marR="101600" marT="38100" marB="38100" anchor="ctr">
                    <a:solidFill>
                      <a:srgbClr val="F4F2FA"/>
                    </a:solidFill>
                  </a:tcPr>
                </a:tc>
              </a:tr>
              <a:tr h="611632">
                <a:tc>
                  <a:txBody>
                    <a:bodyPr/>
                    <a:lstStyle/>
                    <a:p>
                      <a:r>
                        <a:rPr sz="1400" b="0" i="0">
                          <a:solidFill>
                            <a:srgbClr val="1A1440"/>
                          </a:solidFill>
                          <a:latin typeface="Calibri"/>
                        </a:rPr>
                        <a:t>The error bar</a:t>
                      </a:r>
                    </a:p>
                  </a:txBody>
                  <a:tcPr marL="101600" marR="101600" marT="38100" marB="38100" anchor="ctr">
                    <a:solidFill>
                      <a:srgbClr val="FFFFFF"/>
                    </a:solidFill>
                  </a:tcPr>
                </a:tc>
                <a:tc>
                  <a:txBody>
                    <a:bodyPr/>
                    <a:lstStyle/>
                    <a:p>
                      <a:r>
                        <a:rPr sz="1400" b="0" i="0">
                          <a:solidFill>
                            <a:srgbClr val="1A1440"/>
                          </a:solidFill>
                          <a:latin typeface="Calibri"/>
                        </a:rPr>
                        <a:t>4.0 cups a day on those days: about Rs 24 a day if it runs high, Rs 48 if it runs short</a:t>
                      </a:r>
                    </a:p>
                  </a:txBody>
                  <a:tcPr marL="101600" marR="101600" marT="38100" marB="38100" anchor="ctr">
                    <a:solidFill>
                      <a:srgbClr val="FFFFFF"/>
                    </a:solidFill>
                  </a:tcPr>
                </a:tc>
              </a:tr>
              <a:tr h="369824">
                <a:tc>
                  <a:txBody>
                    <a:bodyPr/>
                    <a:lstStyle/>
                    <a:p>
                      <a:r>
                        <a:rPr sz="1400" b="0" i="0">
                          <a:solidFill>
                            <a:srgbClr val="1A1440"/>
                          </a:solidFill>
                          <a:latin typeface="Calibri"/>
                        </a:rPr>
                        <a:t>What would make it wrong</a:t>
                      </a:r>
                    </a:p>
                  </a:txBody>
                  <a:tcPr marL="101600" marR="101600" marT="38100" marB="38100" anchor="ctr">
                    <a:solidFill>
                      <a:srgbClr val="F4F2FA"/>
                    </a:solidFill>
                  </a:tcPr>
                </a:tc>
                <a:tc>
                  <a:txBody>
                    <a:bodyPr/>
                    <a:lstStyle/>
                    <a:p>
                      <a:r>
                        <a:rPr sz="1400" b="0" i="0">
                          <a:solidFill>
                            <a:srgbClr val="1A1440"/>
                          </a:solidFill>
                          <a:latin typeface="Calibri"/>
                        </a:rPr>
                        <a:t>exams starting early, or the hostel emptying for a holiday</a:t>
                      </a:r>
                    </a:p>
                  </a:txBody>
                  <a:tcPr marL="101600" marR="101600" marT="38100" marB="38100" anchor="ctr">
                    <a:solidFill>
                      <a:srgbClr val="F4F2FA"/>
                    </a:solidFill>
                  </a:tcPr>
                </a:tc>
              </a:tr>
            </a:tbl>
          </a:graphicData>
        </a:graphic>
      </p:graphicFrame>
      <p:sp>
        <p:nvSpPr>
          <p:cNvPr id="10" name="TextBox 9"/>
          <p:cNvSpPr txBox="1"/>
          <p:nvPr/>
        </p:nvSpPr>
        <p:spPr>
          <a:xfrm>
            <a:off x="530352" y="45455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Flipkart's staffing note in chapter 7 carries the same four lines and one more: a line each to finance and to the vendor's sponsor.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trusting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which questions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Fit is measured on the days a rule was built on, and it proves nothing about tomorrow.</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Nothing goes to the order unless it beats the seasonal naive on hidden days, by the measure fixed first.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Good enough is a claim about the decision: stop improving when a better forecast would order the same.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627888"/>
          </a:xfrm>
          <a:prstGeom prst="rect">
            <a:avLst/>
          </a:prstGeom>
          <a:noFill/>
        </p:spPr>
        <p:txBody>
          <a:bodyPr wrap="square" anchor="t" lIns="0" rIns="0" tIns="0" bIns="0">
            <a:spAutoFit/>
          </a:bodyPr>
          <a:lstStyle/>
          <a:p>
            <a:r>
              <a:rPr sz="1500" b="0" i="0">
                <a:solidFill>
                  <a:srgbClr val="1A1440"/>
                </a:solidFill>
                <a:latin typeface="Calibri"/>
              </a:rPr>
              <a:t>The note carries the number, the method, the error bar in the unit and in rupees, and what would make it wrong.</a:t>
            </a:r>
          </a:p>
        </p:txBody>
      </p:sp>
      <p:sp>
        <p:nvSpPr>
          <p:cNvPr id="17" name="Rounded Rectangle 16"/>
          <p:cNvSpPr/>
          <p:nvPr/>
        </p:nvSpPr>
        <p:spPr>
          <a:xfrm>
            <a:off x="530352" y="409346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941832"/>
          </a:xfrm>
          <a:prstGeom prst="rect">
            <a:avLst/>
          </a:prstGeom>
          <a:noFill/>
        </p:spPr>
        <p:txBody>
          <a:bodyPr wrap="square" anchor="t" lIns="0" rIns="0" tIns="0" bIns="0">
            <a:spAutoFit/>
          </a:bodyPr>
          <a:lstStyle/>
          <a:p>
            <a:r>
              <a:rPr sz="1500" b="0" i="0">
                <a:solidFill>
                  <a:srgbClr val="1A1440"/>
                </a:solidFill>
                <a:latin typeface="Calibri"/>
              </a:rPr>
              <a:t>[F] "What baseline must any forecast beat, and why?" [F] "A vendor promises 22 percent growth; how do you test the claim?" Each is answered with the hidden days and the seasonal naive, never with the fit.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verdict feeds chapters 6 and 7 and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4068dcddab05484b.png"/>
          <p:cNvPicPr>
            <a:picLocks noChangeAspect="1"/>
          </p:cNvPicPr>
          <p:nvPr/>
        </p:nvPicPr>
        <p:blipFill>
          <a:blip r:embed="rId5"/>
          <a:stretch>
            <a:fillRect/>
          </a:stretch>
        </p:blipFill>
        <p:spPr>
          <a:xfrm>
            <a:off x="2058975" y="1664208"/>
            <a:ext cx="8073743"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Chapter 6 tests the vendor's curve the same way, its fit on the weeks it was built on against its forecast on thirteen weeks it never saw, and chapter 7 sizes the plan in shifts of 120 shipments.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Trend, seasonality and baselines on Flipkart's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is the peak?</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 the ticket in full, count twelve of Flipkart's weeks by hand, and run the rules on Diwali 2025's week.</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trend and seasonality, read before modelling; chapter 2, naive, seasonal naive and drift baselines.</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rule copy?</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Naive, seasonal naive and festival-aligned, each in one line.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0" name="Oval 3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6" name="Oval 45"/>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721608"/>
        </p:xfrm>
        <a:graphic>
          <a:graphicData uri="http://schemas.openxmlformats.org/drawingml/2006/table">
            <a:tbl>
              <a:tblPr firstRow="0" bandRow="0">
                <a:tableStyleId>{2D5ABB26-0587-4C30-8999-92F81FD0307C}</a:tableStyleId>
              </a:tblPr>
              <a:tblGrid>
                <a:gridCol w="2388790"/>
                <a:gridCol w="8742200"/>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(FC), the warehouse where orders are packed and shipped: outbound shipments and packer shifts</a:t>
                      </a:r>
                    </a:p>
                  </a:txBody>
                  <a:tcPr marL="101600" marR="101600" marT="38100" marB="38100" anchor="ctr">
                    <a:solidFill>
                      <a:srgbClr val="FFFFFF"/>
                    </a:solidFill>
                  </a:tcPr>
                </a:tc>
              </a:tr>
              <a:tr h="310896">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calendar table flags each year's festive sale weeks</a:t>
                      </a:r>
                    </a:p>
                  </a:txBody>
                  <a:tcPr marL="101600" marR="101600" marT="38100" marB="38100" anchor="ctr">
                    <a:solidFill>
                      <a:srgbClr val="FFFFFF"/>
                    </a:solidFill>
                  </a:tcPr>
                </a:tc>
              </a:tr>
              <a:tr h="438912">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the eight weeks to staff, 22 percent above the same weeks last year; finance's rule is those weeks plus 4 percent: eighteen percentage points apart. The vendor's sponsor, the manager who brought the model in, backs the 22</a:t>
                      </a:r>
                    </a:p>
                  </a:txBody>
                  <a:tcPr marL="101600" marR="101600" marT="38100" marB="38100" anchor="ctr">
                    <a:solidFill>
                      <a:srgbClr val="F4F2FA"/>
                    </a:solidFill>
                  </a:tcPr>
                </a:tc>
              </a:tr>
              <a:tr h="594360">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for weeks the model was built on, holdout for its forecasts of the hidden weeks, forecast for the weeks ahead);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 packer packs about 120 shipments a shift; a packer-shift is one packer working one shift. A late shipment costs Rs 25 (range Rs 15 to 40). An idle packer-shift costs Rs 650 (range Rs 500 to 800), so a spare shipment, planned for and never shipped, costs Rs 650 / 120 = Rs 5.42</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660136"/>
            <a:ext cx="11130991" cy="409448"/>
          </a:xfrm>
          <a:prstGeom prst="rect">
            <a:avLst/>
          </a:prstGeom>
          <a:noFill/>
        </p:spPr>
        <p:txBody>
          <a:bodyPr wrap="square" anchor="t" lIns="0" rIns="0" tIns="0" bIns="0">
            <a:spAutoFit/>
          </a:bodyPr>
          <a:lstStyle/>
          <a:p>
            <a:pPr>
              <a:spcAft>
                <a:spcPts val="500"/>
              </a:spcAft>
            </a:pPr>
            <a:r>
              <a:rPr sz="11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19,760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19,760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3,625 in the week of 19 October, from a forecast that keeps each week's distance from Diwali.</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 HOW WRONG IT COULD BE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The forecast's average miss on thirteen weeks it never saw: about Rs 35,800 of idle shifts when it runs that far high, Rs 1.65 lakh of late shipments when that far low.</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copies the calendar, which round three tests.</a:t>
            </a:r>
          </a:p>
        </p:txBody>
      </p:sp>
      <p:sp>
        <p:nvSpPr>
          <p:cNvPr id="27" name="Rounded Rectangle 26"/>
          <p:cNvSpPr/>
          <p:nvPr/>
        </p:nvSpPr>
        <p:spPr>
          <a:xfrm>
            <a:off x="530352" y="44841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the seasonal naive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6" name="Oval 3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8" name="Oval 3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0" name="Oval 3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3" name="Oval 42"/>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534183" y="1664208"/>
            <a:ext cx="7123328"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busiest week is two weeks before Diwali's week both times: 401,000 shipments in the week of 14 October 2024 and 418,200 in the week of 6 October 2025. Both fall in the festive sale, which the calendar table flags in the third and second weeks before Diwali's week. Diwali's own week ships 296,900 and 308,900, and the week after is the lowest. Chapter 1's reading, on Flipkart's weeks: the festival is a yearly season, a peak and then a dip.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Seasonal naive, the house bot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Festival-aligned is chapter 2's fix at Flipkart's scale: from five weeks before Diwali's week to four after, copy the week at the same distance from last year's Diwali, otherwise the same calendar week, then add 4 percent, the growth the training weeks show.</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8" name="Oval 3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2" name="Oval 4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44" name="Oval 4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3720373"/>
                <a:gridCol w="3954487"/>
                <a:gridCol w="1374553"/>
                <a:gridCol w="2081576"/>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Seasonal naive, the house bot</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4" name="Oval 23"/>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2" name="Oval 21"/>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560320"/>
        </p:xfrm>
        <a:graphic>
          <a:graphicData uri="http://schemas.openxmlformats.org/drawingml/2006/table">
            <a:tbl>
              <a:tblPr firstRow="0" bandRow="0">
                <a:tableStyleId>{2D5ABB26-0587-4C30-8999-92F81FD0307C}</a:tableStyleId>
              </a:tblPr>
              <a:tblGrid>
                <a:gridCol w="4534868"/>
                <a:gridCol w="6596122"/>
              </a:tblGrid>
              <a:tr h="1337056">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the supply chain behind Flipkart's deliveries, added 14 million cubic feet of warehousing space ahead of The Big Billion Days, Flipkart's yearly festive sale, and more than 2.5 lakh direct and indirect festive employment opportunities were created (Flipkart's announcement,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0" name="Oval 19"/>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7848b8d9663a7524.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In the M5 forecasting competition, on Walmart's daily sales of 3,049 products, the seasonal naive (there, the same weekday a week earlier) scored 0.847 against 1.752 for naive on M5's weighted scaled error, lower being better, and only 35.8 percent of the competing teams beat it; the winner, a machine-learning method, reached 0.520 (M5 results workbook and accuracy paper, checked 12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is the peak?</a:t>
            </a:r>
          </a:p>
        </p:txBody>
      </p:sp>
      <p:sp>
        <p:nvSpPr>
          <p:cNvPr id="21" name="Oval 20"/>
          <p:cNvSpPr/>
          <p:nvPr/>
        </p:nvSpPr>
        <p:spPr>
          <a:xfrm>
            <a:off x="81064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Holding out and the vendor curve tested, on thirteen hidden weeks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Score every rule and the vendor's curve on thirteen weeks none of them saw, which way each is wrong, and what each direction costs.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series tell?</a:t>
            </a:r>
          </a:p>
        </p:txBody>
      </p:sp>
      <p:sp>
        <p:nvSpPr>
          <p:cNvPr id="12" name="Rounded Rectangle 11"/>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a copy fail?</a:t>
            </a:r>
          </a:p>
        </p:txBody>
      </p:sp>
      <p:sp>
        <p:nvSpPr>
          <p:cNvPr id="13" name="Rounded Rectangle 12"/>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forecast scored?</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does it earn trust?</a:t>
            </a:r>
          </a:p>
        </p:txBody>
      </p:sp>
      <p:sp>
        <p:nvSpPr>
          <p:cNvPr id="15" name="Rounded Rectangle 14"/>
          <p:cNvSpPr/>
          <p:nvPr/>
        </p:nvSpPr>
        <p:spPr>
          <a:xfrm>
            <a:off x="825898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is the peak?</a:t>
            </a:r>
          </a:p>
        </p:txBody>
      </p:sp>
      <p:sp>
        <p:nvSpPr>
          <p:cNvPr id="16" name="Rounded Rectangle 15"/>
          <p:cNvSpPr/>
          <p:nvPr/>
        </p:nvSpPr>
        <p:spPr>
          <a:xfrm>
            <a:off x="9800364"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how much the plan delivers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65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2, the baselines; chapter 3, holding out, MAE and MAPE in the business's units; chapter 4, beating the baseline and the vendor curve tested.</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5" name="Rectangle 14"/>
          <p:cNvSpPr/>
          <p:nvPr/>
        </p:nvSpPr>
        <p:spPr>
          <a:xfrm>
            <a:off x="1570299" y="4468368"/>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7" name="Oval 16"/>
          <p:cNvSpPr/>
          <p:nvPr/>
        </p:nvSpPr>
        <p:spPr>
          <a:xfrm>
            <a:off x="146971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20" name="TextBox 19"/>
          <p:cNvSpPr txBox="1"/>
          <p:nvPr/>
        </p:nvSpPr>
        <p:spPr>
          <a:xfrm>
            <a:off x="694944"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origin.</a:t>
            </a:r>
          </a:p>
        </p:txBody>
      </p:sp>
      <p:sp>
        <p:nvSpPr>
          <p:cNvPr id="21" name="TextBox 20"/>
          <p:cNvSpPr txBox="1"/>
          <p:nvPr/>
        </p:nvSpPr>
        <p:spPr>
          <a:xfrm>
            <a:off x="2793126"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22" name="Oval 21"/>
          <p:cNvSpPr/>
          <p:nvPr/>
        </p:nvSpPr>
        <p:spPr>
          <a:xfrm>
            <a:off x="373248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4934712"/>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5" name="TextBox 24"/>
          <p:cNvSpPr txBox="1"/>
          <p:nvPr/>
        </p:nvSpPr>
        <p:spPr>
          <a:xfrm>
            <a:off x="2957718" y="543712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6" name="TextBox 25"/>
          <p:cNvSpPr txBox="1"/>
          <p:nvPr/>
        </p:nvSpPr>
        <p:spPr>
          <a:xfrm>
            <a:off x="5055900"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7" name="Oval 26"/>
          <p:cNvSpPr/>
          <p:nvPr/>
        </p:nvSpPr>
        <p:spPr>
          <a:xfrm>
            <a:off x="5995263"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30" name="TextBox 29"/>
          <p:cNvSpPr txBox="1"/>
          <p:nvPr/>
        </p:nvSpPr>
        <p:spPr>
          <a:xfrm>
            <a:off x="5220492"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31" name="TextBox 30"/>
          <p:cNvSpPr txBox="1"/>
          <p:nvPr/>
        </p:nvSpPr>
        <p:spPr>
          <a:xfrm>
            <a:off x="7318674"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32" name="Oval 31"/>
          <p:cNvSpPr/>
          <p:nvPr/>
        </p:nvSpPr>
        <p:spPr>
          <a:xfrm>
            <a:off x="825803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788408"/>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4934712"/>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5" name="TextBox 34"/>
          <p:cNvSpPr txBox="1"/>
          <p:nvPr/>
        </p:nvSpPr>
        <p:spPr>
          <a:xfrm>
            <a:off x="7483266" y="5222494"/>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6" name="TextBox 35"/>
          <p:cNvSpPr txBox="1"/>
          <p:nvPr/>
        </p:nvSpPr>
        <p:spPr>
          <a:xfrm>
            <a:off x="9581448" y="3901440"/>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7" name="Oval 36"/>
          <p:cNvSpPr/>
          <p:nvPr/>
        </p:nvSpPr>
        <p:spPr>
          <a:xfrm>
            <a:off x="10520812"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788408"/>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4934712"/>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40" name="TextBox 39"/>
          <p:cNvSpPr txBox="1"/>
          <p:nvPr/>
        </p:nvSpPr>
        <p:spPr>
          <a:xfrm>
            <a:off x="9746040" y="5222494"/>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late, Rs 5.42 spare (Rs 650 / 120).</a:t>
            </a:r>
          </a:p>
        </p:txBody>
      </p:sp>
      <p:sp>
        <p:nvSpPr>
          <p:cNvPr id="41" name="Oval 4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43" name="Oval 4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45" name="Oval 4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47" name="Oval 4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9" name="Oval 4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51" name="Oval 5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Chapter 3's rule on Flipkart's weeks: the hidden weeks are 29 June to 21 September 2026; the 91 training weeks before them are all a rule may see, and the last, 22 June, is the origin. The plan's last week, 30 November, sits ten weeks after the last week of data, so the horizon is ten weeks and thirteen hidden weeks cover it. The score is MAE in shipments, because the cost is counted per shipment.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632401" y="1664208"/>
            <a:ext cx="8926893"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Festival-aligned and finance's rule miss by 6,615 shipments a week, the house bot by 9,831, drift by 14,842 and naive by 14,923. The tie is honest: no hidden week falls between five weeks before a Diwali week and four after,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sponsor says its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052684" y="1664208"/>
            <a:ext cx="8086326" cy="3040380"/>
          </a:xfrm>
          <a:prstGeom prst="rect">
            <a:avLst/>
          </a:prstGeom>
        </p:spPr>
      </p:pic>
      <p:sp>
        <p:nvSpPr>
          <p:cNvPr id="10" name="picture caption"/>
          <p:cNvSpPr txBox="1"/>
          <p:nvPr/>
        </p:nvSpPr>
        <p:spPr>
          <a:xfrm>
            <a:off x="530352" y="47411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506730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9531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86172"/>
            <a:ext cx="10564063" cy="784860"/>
          </a:xfrm>
          <a:prstGeom prst="rect">
            <a:avLst/>
          </a:prstGeom>
          <a:noFill/>
        </p:spPr>
        <p:txBody>
          <a:bodyPr wrap="square" anchor="ctr" lIns="0" rIns="0" tIns="0" bIns="0">
            <a:spAutoFit/>
          </a:bodyPr>
          <a:lstStyle/>
          <a:p>
            <a:r>
              <a:rPr sz="1300" b="1">
                <a:solidFill>
                  <a:srgbClr val="5B3FD6"/>
                </a:solidFill>
                <a:latin typeface="Calibri"/>
              </a:rPr>
              <a:t>The plausible wrong number: </a:t>
            </a:r>
            <a:r>
              <a:rPr sz="1300" b="0" i="0">
                <a:solidFill>
                  <a:srgbClr val="1A1440"/>
                </a:solidFill>
                <a:latin typeface="Calibri"/>
              </a:rPr>
              <a:t>"within 2 percent of every week, so its plus 22 can be trusted"; its worst fitted week is 1.4 percent off. </a:t>
            </a:r>
            <a:r>
              <a:rPr sz="1300" b="1" i="0">
                <a:solidFill>
                  <a:srgbClr val="1A1440"/>
                </a:solidFill>
                <a:latin typeface="Calibri"/>
              </a:rPr>
              <a:t>The decision it misleads:</a:t>
            </a:r>
            <a:r>
              <a:rPr sz="1300" b="0" i="0">
                <a:solidFill>
                  <a:srgbClr val="1A1440"/>
                </a:solidFill>
                <a:latin typeface="Calibri"/>
              </a:rPr>
              <a:t> a plan 22 percent above last year. </a:t>
            </a:r>
            <a:r>
              <a:rPr sz="1300" b="1" i="0">
                <a:solidFill>
                  <a:srgbClr val="1A1440"/>
                </a:solidFill>
                <a:latin typeface="Calibri"/>
              </a:rPr>
              <a:t>The check:</a:t>
            </a:r>
            <a:r>
              <a:rPr sz="1300" b="0" i="0">
                <a:solidFill>
                  <a:srgbClr val="1A1440"/>
                </a:solidFill>
                <a:latin typeface="Calibri"/>
              </a:rPr>
              <a:t> its error on weeks it never saw, 16,400 a week, 67 percent worse than the house bot. </a:t>
            </a:r>
            <a:r>
              <a:rPr sz="1300" b="1" i="0">
                <a:solidFill>
                  <a:srgbClr val="1A1440"/>
                </a:solidFill>
                <a:latin typeface="Calibri"/>
              </a:rPr>
              <a:t>The fix:</a:t>
            </a:r>
            <a:r>
              <a:rPr sz="13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4" name="Oval 23"/>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2034912" y="1664208"/>
            <a:ext cx="812186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vendor errs high on 12 of 13 weeks, and a spare shipment is the cheap kind of miss: Rs 11.9 lakh against Rs 13.5 lakh for festival-aligned, each added over the thirteen weeks.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2" name="Oval 2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Nobody chose how high it runs</a:t>
            </a:r>
          </a:p>
        </p:txBody>
      </p:sp>
      <p:sp>
        <p:nvSpPr>
          <p:cNvPr id="14" name="TextBox 13"/>
          <p:cNvSpPr txBox="1"/>
          <p:nvPr/>
        </p:nvSpPr>
        <p:spPr>
          <a:xfrm>
            <a:off x="731519"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hidden weeks 1 to 6, 11.5 percent in weeks 8 to 13.</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Send festival-aligned, priced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forecast that beat the bot, with its error bar in rupees each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37" name="Oval 3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41" name="Oval 4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43" name="Oval 42"/>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Notebook 06's last table prints the thirteen misses; added up, they give the same 6,615. The split also says the forecast errs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32" name="Oval 31"/>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65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statistical methods beat the machine-learning ones at every horizon tested, and even Naive 2, a seasonal random walk, beat half of them one step ahead (Makridakis and colleagues, PLOS ONE, 2018); in the M5 competition machine learning took every top place. Either way the winner was decided on weeks the model never saw (both checked 12 October 2026). Chapter 4's </a:t>
            </a:r>
            <a:r>
              <a:rPr sz="1600" b="1" i="0">
                <a:solidFill>
                  <a:srgbClr val="1A1440"/>
                </a:solidFill>
                <a:latin typeface="Calibri"/>
              </a:rPr>
              <a:t>good enough</a:t>
            </a:r>
            <a:r>
              <a:rPr sz="1600" b="0" i="0">
                <a:solidFill>
                  <a:srgbClr val="1A1440"/>
                </a:solidFill>
                <a:latin typeface="Calibri"/>
              </a:rPr>
              <a:t> asks the afternoon's question: would a better forecast book different shifts?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series tell?</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When does a copy fail?</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How is a forecast scored?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When does it earn trust?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is the peak?</a:t>
            </a:r>
          </a:p>
        </p:txBody>
      </p:sp>
      <p:sp>
        <p:nvSpPr>
          <p:cNvPr id="21" name="Oval 20"/>
          <p:cNvSpPr/>
          <p:nvPr/>
        </p:nvSpPr>
        <p:spPr>
          <a:xfrm>
            <a:off x="81064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16169"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Which rule wins?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