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 screen as the room sits down. Read the title, then the table top to bottom, then</a:t>
            </a:r>
          </a:p>
          <a:p>
            <a:r>
              <a:t>the label line. Today is a tournament in three rounds: count by hand, score on hidden weeks, then</a:t>
            </a:r>
          </a:p>
          <a:p>
            <a:r>
              <a:t>place the festival and price the plan. Define one word as it appears: a forecast is a number for</a:t>
            </a:r>
          </a:p>
          <a:p>
            <a:r>
              <a:t>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picture first and the names after, as 3Blue1Brown does. The real series has a</a:t>
            </a:r>
          </a:p>
          <a:p>
            <a:r>
              <a:t>growth of about 4 percent a year (trend), two seasons, the festival each year and the week holding</a:t>
            </a:r>
          </a:p>
          <a:p>
            <a:r>
              <a:t>the 1st of each month, no cycle two years can show, and a wobble of a few percent (noise). The</a:t>
            </a:r>
          </a:p>
          <a:p>
            <a:r>
              <a:t>definitions follow Forecasting: Principles and Practice, section 2.3. Explorer: scene F1, the</a:t>
            </a:r>
          </a:p>
          <a:p>
            <a:r>
              <a:t>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A baseline is a</a:t>
            </a:r>
          </a:p>
          <a:p>
            <a:r>
              <a:t>simple rule any model must beat, and the house bot is the tournament's. The 4 percent is measured:</a:t>
            </a:r>
          </a:p>
          <a:p>
            <a:r>
              <a:t>notebook 02 sets the latest 39 training weeks against the same weeks a year earlier and gets 4.0</a:t>
            </a:r>
          </a:p>
          <a:p>
            <a:r>
              <a:t>percent, the same figure finance uses.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As in a Veritasium video, the reveal follows the vote of S9.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on S28, and the festival calendar card answers it on S29.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hidden weeks cover the ten-week horizon with room. The plan books eight</a:t>
            </a:r>
          </a:p>
          <a:p>
            <a:r>
              <a:t>weeks, but its last week is ten weeks past the data, and the horizon is the farthest week ahead. Point at the</a:t>
            </a:r>
          </a:p>
          <a:p>
            <a:r>
              <a:t>August sale inside the 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MAPE divides by the actual, so a week that ships almost</a:t>
            </a:r>
          </a:p>
          <a:p>
            <a:r>
              <a:t>nothing makes it explode.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02's empty</a:t>
            </a:r>
          </a:p>
          <a:p>
            <a:r>
              <a:t>cell and reads the number aloud.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a late shipment costs 4.6 times a spare one.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so it</a:t>
            </a:r>
          </a:p>
          <a:p>
            <a:r>
              <a:t>settles placement and leaves the size of the error open. The vendor has no festive forecast to</a:t>
            </a:r>
          </a:p>
          <a:p>
            <a:r>
              <a:t>score, only its fit. Predict before S31 appears: finance's eight weeks sit 4 percent above the</a:t>
            </a:r>
          </a:p>
          <a:p>
            <a:r>
              <a:t>same calendar weeks of 2025; against 2025's weeks counted from Diwali, are they above or below,</a:t>
            </a:r>
          </a:p>
          <a:p>
            <a:r>
              <a:t>and by roughly how much? Take a show of hands and write the split on the board. Transition: what</a:t>
            </a:r>
          </a:p>
          <a:p>
            <a:r>
              <a:t>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Predict before S32 appears: should the plan book the forecast itself, less,</a:t>
            </a:r>
          </a:p>
          <a:p>
            <a:r>
              <a:t>or more, and in about how many weeks of ten should it cover demand? Most rooms say the forecast</a:t>
            </a:r>
          </a:p>
          <a:p>
            <a:r>
              <a:t>itself, covering half.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a:t>
            </a:r>
          </a:p>
          <a:p>
            <a:r>
              <a:t>the week of 19 October with each of the thirteen hidden-week misses tried as its demand. The total</a:t>
            </a:r>
          </a:p>
          <a:p>
            <a:r>
              <a:t>is lowest between 2 and 3 percent above the forecast. The rule is named after a seller deciding</a:t>
            </a:r>
          </a:p>
          <a:p>
            <a:r>
              <a:t>how many newspapers to stock. If the late cost rises toward Rs 40, the low point moves right.</a:t>
            </a:r>
          </a:p>
          <a:p>
            <a:r>
              <a:t>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10th and 11th dots. With thirteen weeks the true point could sit</a:t>
            </a:r>
          </a:p>
          <a:p>
            <a:r>
              <a:t>anywhere from about 2 to 3 percent, and the curve on S32 is nearly flat there. Notebook 03 prints</a:t>
            </a:r>
          </a:p>
          <a:p>
            <a:r>
              <a:t>the sorted list. 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forecast joins the week's map as the promise the plan is held to: Thursday's</a:t>
            </a:r>
          </a:p>
          <a:p>
            <a:r>
              <a:t>time axis feeds it and Monday's guardrails bound what it may chase. Each stakeholder is partly</a:t>
            </a:r>
          </a:p>
          <a:p>
            <a:r>
              <a:t>right, so concede the true part first; the afternoon writes the staffing note from these three</a:t>
            </a:r>
          </a:p>
          <a:p>
            <a:r>
              <a:t>lines.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The forecast's average miss on thirteen weeks it never saw: about Rs 35,800 of idle shifts when it runs that far high, Rs 1.65 lakh of late shipments when that far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254330" y="1664208"/>
            <a:ext cx="7683035"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2165572" y="1664208"/>
            <a:ext cx="786055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repeat on a fixed beat, yearly here (season), the rise and fall with no fixed length (cycle) and what is left over (noise). A series can carry more than one season.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3783584"/>
        </p:xfrm>
        <a:graphic>
          <a:graphicData uri="http://schemas.openxmlformats.org/drawingml/2006/table">
            <a:tbl>
              <a:tblPr firstRow="0" bandRow="0">
                <a:tableStyleId>{2D5ABB26-0587-4C30-8999-92F81FD0307C}</a:tableStyleId>
              </a:tblPr>
              <a:tblGrid>
                <a:gridCol w="3493997"/>
                <a:gridCol w="3886014"/>
                <a:gridCol w="375097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 the house bot, or seasonal copy</a:t>
                      </a:r>
                    </a:p>
                  </a:txBody>
                  <a:tcPr marL="101600" marR="101600" marT="38100" marB="38100" anchor="ctr">
                    <a:solidFill>
                      <a:srgbClr val="F4F2FA"/>
                    </a:solidFill>
                  </a:tcPr>
                </a:tc>
                <a:tc>
                  <a:txBody>
                    <a:bodyPr/>
                    <a:lstStyle/>
                    <a:p>
                      <a:r>
                        <a:rPr sz="1400" b="0" i="0">
                          <a:solidFill>
                            <a:srgbClr val="1A1440"/>
                          </a:solidFill>
                          <a:latin typeface="Calibri"/>
                        </a:rPr>
                        <a:t>The same point one season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line from the first value to the last, extended</a:t>
                      </a:r>
                    </a:p>
                  </a:txBody>
                  <a:tcPr marL="101600" marR="101600" marT="38100" marB="38100" anchor="ctr">
                    <a:solidFill>
                      <a:srgbClr val="FFFFFF"/>
                    </a:solidFill>
                  </a:tcPr>
                </a:tc>
                <a:tc>
                  <a:txBody>
                    <a:bodyPr/>
                    <a:lstStyle/>
                    <a:p>
                      <a:r>
                        <a:rPr sz="1400" b="0" i="0">
                          <a:solidFill>
                            <a:srgbClr val="1A1440"/>
                          </a:solidFill>
                          <a:latin typeface="Calibri"/>
                        </a:rPr>
                        <a:t>51 plus the average step, (51 - 50) / 3: about 51.3</a:t>
                      </a:r>
                    </a:p>
                  </a:txBody>
                  <a:tcPr marL="101600" marR="101600" marT="38100" marB="38100" anchor="ctr">
                    <a:solidFill>
                      <a:srgbClr val="FFFFFF"/>
                    </a:solidFill>
                  </a:tcPr>
                </a:tc>
              </a:tr>
              <a:tr h="1578864">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From five weeks before Diwali's week to four after, the week at the same distance from last year's Diwali; otherwise the same calendar week; then plus 4 percent, the growth the training weeks show</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house bot's rule one season back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a:t>
            </a:r>
            <a:r>
              <a:rPr sz="1400" b="1" i="0">
                <a:solidFill>
                  <a:srgbClr val="1A1440"/>
                </a:solidFill>
                <a:latin typeface="Calibri"/>
              </a:rPr>
              <a:t>hidden weeks</a:t>
            </a:r>
            <a:r>
              <a:rPr sz="1400" b="0" i="0">
                <a:solidFill>
                  <a:srgbClr val="1A1440"/>
                </a:solidFill>
                <a:latin typeface="Calibri"/>
              </a:rPr>
              <a:t> (the hold-out, or test set) are kept from every rule: 29 June to 21 September 2026. The 91 </a:t>
            </a:r>
            <a:r>
              <a:rPr sz="1400" b="1" i="0">
                <a:solidFill>
                  <a:srgbClr val="1A1440"/>
                </a:solidFill>
                <a:latin typeface="Calibri"/>
              </a:rPr>
              <a:t>training weeks</a:t>
            </a:r>
            <a:r>
              <a:rPr sz="1400" b="0" i="0">
                <a:solidFill>
                  <a:srgbClr val="1A1440"/>
                </a:solidFill>
                <a:latin typeface="Calibri"/>
              </a:rPr>
              <a:t> before them are all a rule may see; the last, 22 June, is the </a:t>
            </a:r>
            <a:r>
              <a:rPr sz="1400" b="1" i="0">
                <a:solidFill>
                  <a:srgbClr val="1A1440"/>
                </a:solidFill>
                <a:latin typeface="Calibri"/>
              </a:rPr>
              <a:t>origin</a:t>
            </a:r>
            <a:r>
              <a:rPr sz="1400" b="0" i="0">
                <a:solidFill>
                  <a:srgbClr val="1A1440"/>
                </a:solidFill>
                <a:latin typeface="Calibri"/>
              </a:rPr>
              <a:t> every forecast is made from. The plan's last week, 30 November, sits ten weeks after the last week of data, 21 September: that reach, ten weeks, is the </a:t>
            </a:r>
            <a:r>
              <a:rPr sz="1400" b="1" i="0">
                <a:solidFill>
                  <a:srgbClr val="1A1440"/>
                </a:solidFill>
                <a:latin typeface="Calibri"/>
              </a:rPr>
              <a:t>horizon</a:t>
            </a:r>
            <a:r>
              <a:rPr sz="1400" b="0" i="0">
                <a:solidFill>
                  <a:srgbClr val="1A1440"/>
                </a:solidFill>
                <a:latin typeface="Calibri"/>
              </a:rPr>
              <a:t>, and the test should be at least as long (Forecasting: Principles and Practice,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t>
            </a:r>
            <a:r>
              <a:rPr sz="1600" b="1" i="0">
                <a:solidFill>
                  <a:srgbClr val="1A1440"/>
                </a:solidFill>
                <a:latin typeface="Calibri"/>
              </a:rPr>
              <a:t>MAPE</a:t>
            </a:r>
            <a:r>
              <a:rPr sz="1600" b="0" i="0">
                <a:solidFill>
                  <a:srgbClr val="1A1440"/>
                </a:solidFill>
                <a:latin typeface="Calibri"/>
              </a:rPr>
              <a:t>, the mean absolute percentage error, averages misses as percents of what shipped: useful across centres of different sizes, but the costs here are per shipment, and 2 percent of a peak week is twice the shipments of 2 percent of a quiet one.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02's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a seasonal random walk, beat half of them one step ahead (Makridakis and colleagues, PLOS ONE, 2018); in the M5 competition machine learning took every top place. Either way the winner was decided on weeks the model never saw (both checked 12 October 2026). </a:t>
            </a:r>
            <a:r>
              <a:rPr sz="1600" b="1" i="0">
                <a:solidFill>
                  <a:srgbClr val="1A1440"/>
                </a:solidFill>
                <a:latin typeface="Calibri"/>
              </a:rPr>
              <a:t>Good enough</a:t>
            </a:r>
            <a:r>
              <a:rPr sz="1600" b="0" i="0">
                <a:solidFill>
                  <a:srgbClr val="1A1440"/>
                </a:solidFill>
                <a:latin typeface="Calibri"/>
              </a:rPr>
              <a:t> is a claim about the decision: a better forecast is worth having only if it books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CUSHION</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late shipment costs 4.6 times a spare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504970" y="1664208"/>
            <a:ext cx="718175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Raise the plan by one shipment. Over 100 weeks, if demand beats the plan in 18, that shipment saves 18 x Rs 25 = Rs 450 and wastes 82 x Rs 5.42 = Rs 444: about even. So the cheapest plan covers demand in 25 / (25 + 5.42), about 0.82, of weeks: the newsvendor rule.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1687216" y="1664208"/>
            <a:ext cx="8817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plan covers 10 of the 13 weeks, and the 11th sits just above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820672"/>
          <a:ext cx="11130990" cy="2798064"/>
        </p:xfrm>
        <a:graphic>
          <a:graphicData uri="http://schemas.openxmlformats.org/drawingml/2006/table">
            <a:tbl>
              <a:tblPr firstRow="0" bandRow="0">
                <a:tableStyleId>{2D5ABB26-0587-4C30-8999-92F81FD0307C}</a:tableStyleId>
              </a:tblPr>
              <a:tblGrid>
                <a:gridCol w="914400"/>
                <a:gridCol w="914400"/>
                <a:gridCol w="5672996"/>
                <a:gridCol w="3629194"/>
              </a:tblGrid>
              <a:tr h="310896">
                <a:tc>
                  <a:txBody>
                    <a:bodyPr/>
                    <a:lstStyle/>
                    <a:p>
                      <a:r>
                        <a:rPr sz="1050" b="1" i="0">
                          <a:solidFill>
                            <a:srgbClr val="FFFFFF"/>
                          </a:solidFill>
                          <a:latin typeface="Calibri"/>
                        </a:rPr>
                        <a:t>Week of</a:t>
                      </a:r>
                    </a:p>
                  </a:txBody>
                  <a:tcPr marL="101600" marR="101600" marT="38100" marB="38100" anchor="ctr">
                    <a:solidFill>
                      <a:srgbClr val="1A0F5C"/>
                    </a:solidFill>
                  </a:tcPr>
                </a:tc>
                <a:tc>
                  <a:txBody>
                    <a:bodyPr/>
                    <a:lstStyle/>
                    <a:p>
                      <a:r>
                        <a:rPr sz="1050" b="1" i="0">
                          <a:solidFill>
                            <a:srgbClr val="FFFFFF"/>
                          </a:solidFill>
                          <a:latin typeface="Calibri"/>
                        </a:rPr>
                        <a:t>Forecast</a:t>
                      </a:r>
                    </a:p>
                  </a:txBody>
                  <a:tcPr marL="101600" marR="101600" marT="38100" marB="38100" anchor="ctr">
                    <a:solidFill>
                      <a:srgbClr val="1A0F5C"/>
                    </a:solidFill>
                  </a:tcPr>
                </a:tc>
                <a:tc>
                  <a:txBody>
                    <a:bodyPr/>
                    <a:lstStyle/>
                    <a:p>
                      <a:r>
                        <a:rPr sz="1050" b="1" i="0">
                          <a:solidFill>
                            <a:srgbClr val="FFFFFF"/>
                          </a:solidFill>
                          <a:latin typeface="Calibri"/>
                        </a:rPr>
                        <a:t>Plan, plus 2.6 percent</a:t>
                      </a:r>
                    </a:p>
                  </a:txBody>
                  <a:tcPr marL="101600" marR="101600" marT="38100" marB="38100" anchor="ctr">
                    <a:solidFill>
                      <a:srgbClr val="1A0F5C"/>
                    </a:solidFill>
                  </a:tcPr>
                </a:tc>
                <a:tc>
                  <a:txBody>
                    <a:bodyPr/>
                    <a:lstStyle/>
                    <a:p>
                      <a:r>
                        <a:rPr sz="1050" b="1" i="0">
                          <a:solidFill>
                            <a:srgbClr val="FFFFFF"/>
                          </a:solidFill>
                          <a:latin typeface="Calibri"/>
                        </a:rPr>
                        <a:t>Packer shifts</a:t>
                      </a:r>
                    </a:p>
                  </a:txBody>
                  <a:tcPr marL="101600" marR="101600" marT="38100" marB="38100" anchor="ctr">
                    <a:solidFill>
                      <a:srgbClr val="1A0F5C"/>
                    </a:solidFill>
                  </a:tcPr>
                </a:tc>
              </a:tr>
              <a:tr h="310896">
                <a:tc>
                  <a:txBody>
                    <a:bodyPr/>
                    <a:lstStyle/>
                    <a:p>
                      <a:r>
                        <a:rPr sz="1000" b="0" i="0">
                          <a:solidFill>
                            <a:srgbClr val="1A1440"/>
                          </a:solidFill>
                          <a:latin typeface="Calibri"/>
                        </a:rPr>
                        <a:t>12 Oct</a:t>
                      </a:r>
                    </a:p>
                  </a:txBody>
                  <a:tcPr marL="101600" marR="101600" marT="38100" marB="38100" anchor="ctr">
                    <a:solidFill>
                      <a:srgbClr val="FFFFFF"/>
                    </a:solidFill>
                  </a:tcPr>
                </a:tc>
                <a:tc>
                  <a:txBody>
                    <a:bodyPr/>
                    <a:lstStyle/>
                    <a:p>
                      <a:r>
                        <a:rPr sz="1000" b="0" i="0">
                          <a:solidFill>
                            <a:srgbClr val="1A1440"/>
                          </a:solidFill>
                          <a:latin typeface="Calibri"/>
                        </a:rPr>
                        <a:t>344,448</a:t>
                      </a:r>
                    </a:p>
                  </a:txBody>
                  <a:tcPr marL="101600" marR="101600" marT="38100" marB="38100" anchor="ctr">
                    <a:solidFill>
                      <a:srgbClr val="FFFFFF"/>
                    </a:solidFill>
                  </a:tcPr>
                </a:tc>
                <a:tc>
                  <a:txBody>
                    <a:bodyPr/>
                    <a:lstStyle/>
                    <a:p>
                      <a:r>
                        <a:rPr sz="1000" b="0" i="0">
                          <a:solidFill>
                            <a:srgbClr val="1A1440"/>
                          </a:solidFill>
                          <a:latin typeface="Calibri"/>
                        </a:rPr>
                        <a:t>353,404</a:t>
                      </a:r>
                    </a:p>
                  </a:txBody>
                  <a:tcPr marL="101600" marR="101600" marT="38100" marB="38100" anchor="ctr">
                    <a:solidFill>
                      <a:srgbClr val="FFFFFF"/>
                    </a:solidFill>
                  </a:tcPr>
                </a:tc>
                <a:tc>
                  <a:txBody>
                    <a:bodyPr/>
                    <a:lstStyle/>
                    <a:p>
                      <a:r>
                        <a:rPr sz="1000" b="0" i="0">
                          <a:solidFill>
                            <a:srgbClr val="1A1440"/>
                          </a:solidFill>
                          <a:latin typeface="Calibri"/>
                        </a:rPr>
                        <a:t>2,946</a:t>
                      </a:r>
                    </a:p>
                  </a:txBody>
                  <a:tcPr marL="101600" marR="101600" marT="38100" marB="38100" anchor="ctr">
                    <a:solidFill>
                      <a:srgbClr val="FFFFFF"/>
                    </a:solidFill>
                  </a:tcPr>
                </a:tc>
              </a:tr>
              <a:tr h="310896">
                <a:tc>
                  <a:txBody>
                    <a:bodyPr/>
                    <a:lstStyle/>
                    <a:p>
                      <a:r>
                        <a:rPr sz="1000" b="0" i="0">
                          <a:solidFill>
                            <a:srgbClr val="1A1440"/>
                          </a:solidFill>
                          <a:latin typeface="Calibri"/>
                        </a:rPr>
                        <a:t>19 Oct</a:t>
                      </a:r>
                    </a:p>
                  </a:txBody>
                  <a:tcPr marL="101600" marR="101600" marT="38100" marB="38100" anchor="ctr">
                    <a:solidFill>
                      <a:srgbClr val="F4F2FA"/>
                    </a:solidFill>
                  </a:tcPr>
                </a:tc>
                <a:tc>
                  <a:txBody>
                    <a:bodyPr/>
                    <a:lstStyle/>
                    <a:p>
                      <a:r>
                        <a:rPr sz="1000" b="0" i="0">
                          <a:solidFill>
                            <a:srgbClr val="1A1440"/>
                          </a:solidFill>
                          <a:latin typeface="Calibri"/>
                        </a:rPr>
                        <a:t>434,928</a:t>
                      </a:r>
                    </a:p>
                  </a:txBody>
                  <a:tcPr marL="101600" marR="101600" marT="38100" marB="38100" anchor="ctr">
                    <a:solidFill>
                      <a:srgbClr val="F4F2FA"/>
                    </a:solidFill>
                  </a:tcPr>
                </a:tc>
                <a:tc>
                  <a:txBody>
                    <a:bodyPr/>
                    <a:lstStyle/>
                    <a:p>
                      <a:r>
                        <a:rPr sz="1000" b="0" i="0">
                          <a:solidFill>
                            <a:srgbClr val="1A1440"/>
                          </a:solidFill>
                          <a:latin typeface="Calibri"/>
                        </a:rPr>
                        <a:t>446,236</a:t>
                      </a:r>
                    </a:p>
                  </a:txBody>
                  <a:tcPr marL="101600" marR="101600" marT="38100" marB="38100" anchor="ctr">
                    <a:solidFill>
                      <a:srgbClr val="F4F2FA"/>
                    </a:solidFill>
                  </a:tcPr>
                </a:tc>
                <a:tc>
                  <a:txBody>
                    <a:bodyPr/>
                    <a:lstStyle/>
                    <a:p>
                      <a:r>
                        <a:rPr sz="1000" b="0" i="0">
                          <a:solidFill>
                            <a:srgbClr val="1A1440"/>
                          </a:solidFill>
                          <a:latin typeface="Calibri"/>
                        </a:rPr>
                        <a:t>3,719</a:t>
                      </a:r>
                    </a:p>
                  </a:txBody>
                  <a:tcPr marL="101600" marR="101600" marT="38100" marB="38100" anchor="ctr">
                    <a:solidFill>
                      <a:srgbClr val="F4F2FA"/>
                    </a:solidFill>
                  </a:tcPr>
                </a:tc>
              </a:tr>
              <a:tr h="310896">
                <a:tc>
                  <a:txBody>
                    <a:bodyPr/>
                    <a:lstStyle/>
                    <a:p>
                      <a:r>
                        <a:rPr sz="1000" b="0" i="0">
                          <a:solidFill>
                            <a:srgbClr val="1A1440"/>
                          </a:solidFill>
                          <a:latin typeface="Calibri"/>
                        </a:rPr>
                        <a:t>26 Oct</a:t>
                      </a:r>
                    </a:p>
                  </a:txBody>
                  <a:tcPr marL="101600" marR="101600" marT="38100" marB="38100" anchor="ctr">
                    <a:solidFill>
                      <a:srgbClr val="FFFFFF"/>
                    </a:solidFill>
                  </a:tcPr>
                </a:tc>
                <a:tc>
                  <a:txBody>
                    <a:bodyPr/>
                    <a:lstStyle/>
                    <a:p>
                      <a:r>
                        <a:rPr sz="1000" b="0" i="0">
                          <a:solidFill>
                            <a:srgbClr val="1A1440"/>
                          </a:solidFill>
                          <a:latin typeface="Calibri"/>
                        </a:rPr>
                        <a:t>383,760</a:t>
                      </a:r>
                    </a:p>
                  </a:txBody>
                  <a:tcPr marL="101600" marR="101600" marT="38100" marB="38100" anchor="ctr">
                    <a:solidFill>
                      <a:srgbClr val="FFFFFF"/>
                    </a:solidFill>
                  </a:tcPr>
                </a:tc>
                <a:tc>
                  <a:txBody>
                    <a:bodyPr/>
                    <a:lstStyle/>
                    <a:p>
                      <a:r>
                        <a:rPr sz="1000" b="0" i="0">
                          <a:solidFill>
                            <a:srgbClr val="1A1440"/>
                          </a:solidFill>
                          <a:latin typeface="Calibri"/>
                        </a:rPr>
                        <a:t>393,738</a:t>
                      </a:r>
                    </a:p>
                  </a:txBody>
                  <a:tcPr marL="101600" marR="101600" marT="38100" marB="38100" anchor="ctr">
                    <a:solidFill>
                      <a:srgbClr val="FFFFFF"/>
                    </a:solidFill>
                  </a:tcPr>
                </a:tc>
                <a:tc>
                  <a:txBody>
                    <a:bodyPr/>
                    <a:lstStyle/>
                    <a:p>
                      <a:r>
                        <a:rPr sz="1000" b="0" i="0">
                          <a:solidFill>
                            <a:srgbClr val="1A1440"/>
                          </a:solidFill>
                          <a:latin typeface="Calibri"/>
                        </a:rPr>
                        <a:t>3,282</a:t>
                      </a:r>
                    </a:p>
                  </a:txBody>
                  <a:tcPr marL="101600" marR="101600" marT="38100" marB="38100" anchor="ctr">
                    <a:solidFill>
                      <a:srgbClr val="FFFFFF"/>
                    </a:solidFill>
                  </a:tcPr>
                </a:tc>
              </a:tr>
              <a:tr h="310896">
                <a:tc>
                  <a:txBody>
                    <a:bodyPr/>
                    <a:lstStyle/>
                    <a:p>
                      <a:r>
                        <a:rPr sz="1000" b="0" i="0">
                          <a:solidFill>
                            <a:srgbClr val="1A1440"/>
                          </a:solidFill>
                          <a:latin typeface="Calibri"/>
                        </a:rPr>
                        <a:t>2 Nov</a:t>
                      </a:r>
                    </a:p>
                  </a:txBody>
                  <a:tcPr marL="101600" marR="101600" marT="38100" marB="38100" anchor="ctr">
                    <a:solidFill>
                      <a:srgbClr val="F4F2FA"/>
                    </a:solidFill>
                  </a:tcPr>
                </a:tc>
                <a:tc>
                  <a:txBody>
                    <a:bodyPr/>
                    <a:lstStyle/>
                    <a:p>
                      <a:r>
                        <a:rPr sz="1000" b="0" i="0">
                          <a:solidFill>
                            <a:srgbClr val="1A1440"/>
                          </a:solidFill>
                          <a:latin typeface="Calibri"/>
                        </a:rPr>
                        <a:t>321,256</a:t>
                      </a:r>
                    </a:p>
                  </a:txBody>
                  <a:tcPr marL="101600" marR="101600" marT="38100" marB="38100" anchor="ctr">
                    <a:solidFill>
                      <a:srgbClr val="F4F2FA"/>
                    </a:solidFill>
                  </a:tcPr>
                </a:tc>
                <a:tc>
                  <a:txBody>
                    <a:bodyPr/>
                    <a:lstStyle/>
                    <a:p>
                      <a:r>
                        <a:rPr sz="1000" b="0" i="0">
                          <a:solidFill>
                            <a:srgbClr val="1A1440"/>
                          </a:solidFill>
                          <a:latin typeface="Calibri"/>
                        </a:rPr>
                        <a:t>329,609</a:t>
                      </a:r>
                    </a:p>
                  </a:txBody>
                  <a:tcPr marL="101600" marR="101600" marT="38100" marB="38100" anchor="ctr">
                    <a:solidFill>
                      <a:srgbClr val="F4F2FA"/>
                    </a:solidFill>
                  </a:tcPr>
                </a:tc>
                <a:tc>
                  <a:txBody>
                    <a:bodyPr/>
                    <a:lstStyle/>
                    <a:p>
                      <a:r>
                        <a:rPr sz="1000" b="0" i="0">
                          <a:solidFill>
                            <a:srgbClr val="1A1440"/>
                          </a:solidFill>
                          <a:latin typeface="Calibri"/>
                        </a:rPr>
                        <a:t>2,747</a:t>
                      </a:r>
                    </a:p>
                  </a:txBody>
                  <a:tcPr marL="101600" marR="101600" marT="38100" marB="38100" anchor="ctr">
                    <a:solidFill>
                      <a:srgbClr val="F4F2FA"/>
                    </a:solidFill>
                  </a:tcPr>
                </a:tc>
              </a:tr>
              <a:tr h="310896">
                <a:tc>
                  <a:txBody>
                    <a:bodyPr/>
                    <a:lstStyle/>
                    <a:p>
                      <a:r>
                        <a:rPr sz="1000" b="0" i="0">
                          <a:solidFill>
                            <a:srgbClr val="1A1440"/>
                          </a:solidFill>
                          <a:latin typeface="Calibri"/>
                        </a:rPr>
                        <a:t>9 Nov</a:t>
                      </a:r>
                    </a:p>
                  </a:txBody>
                  <a:tcPr marL="101600" marR="101600" marT="38100" marB="38100" anchor="ctr">
                    <a:solidFill>
                      <a:srgbClr val="FFFFFF"/>
                    </a:solidFill>
                  </a:tcPr>
                </a:tc>
                <a:tc>
                  <a:txBody>
                    <a:bodyPr/>
                    <a:lstStyle/>
                    <a:p>
                      <a:r>
                        <a:rPr sz="1000" b="0" i="0">
                          <a:solidFill>
                            <a:srgbClr val="1A1440"/>
                          </a:solidFill>
                          <a:latin typeface="Calibri"/>
                        </a:rPr>
                        <a:t>196,144</a:t>
                      </a:r>
                    </a:p>
                  </a:txBody>
                  <a:tcPr marL="101600" marR="101600" marT="38100" marB="38100" anchor="ctr">
                    <a:solidFill>
                      <a:srgbClr val="FFFFFF"/>
                    </a:solidFill>
                  </a:tcPr>
                </a:tc>
                <a:tc>
                  <a:txBody>
                    <a:bodyPr/>
                    <a:lstStyle/>
                    <a:p>
                      <a:r>
                        <a:rPr sz="1000" b="0" i="0">
                          <a:solidFill>
                            <a:srgbClr val="1A1440"/>
                          </a:solidFill>
                          <a:latin typeface="Calibri"/>
                        </a:rPr>
                        <a:t>201,244</a:t>
                      </a:r>
                    </a:p>
                  </a:txBody>
                  <a:tcPr marL="101600" marR="101600" marT="38100" marB="38100" anchor="ctr">
                    <a:solidFill>
                      <a:srgbClr val="FFFFFF"/>
                    </a:solidFill>
                  </a:tcPr>
                </a:tc>
                <a:tc>
                  <a:txBody>
                    <a:bodyPr/>
                    <a:lstStyle/>
                    <a:p>
                      <a:r>
                        <a:rPr sz="1000" b="0" i="0">
                          <a:solidFill>
                            <a:srgbClr val="1A1440"/>
                          </a:solidFill>
                          <a:latin typeface="Calibri"/>
                        </a:rPr>
                        <a:t>1,678</a:t>
                      </a:r>
                    </a:p>
                  </a:txBody>
                  <a:tcPr marL="101600" marR="101600" marT="38100" marB="38100" anchor="ctr">
                    <a:solidFill>
                      <a:srgbClr val="FFFFFF"/>
                    </a:solidFill>
                  </a:tcPr>
                </a:tc>
              </a:tr>
              <a:tr h="310896">
                <a:tc>
                  <a:txBody>
                    <a:bodyPr/>
                    <a:lstStyle/>
                    <a:p>
                      <a:r>
                        <a:rPr sz="1000" b="0" i="0">
                          <a:solidFill>
                            <a:srgbClr val="1A1440"/>
                          </a:solidFill>
                          <a:latin typeface="Calibri"/>
                        </a:rPr>
                        <a:t>16 Nov</a:t>
                      </a:r>
                    </a:p>
                  </a:txBody>
                  <a:tcPr marL="101600" marR="101600" marT="38100" marB="38100" anchor="ctr">
                    <a:solidFill>
                      <a:srgbClr val="F4F2FA"/>
                    </a:solidFill>
                  </a:tcPr>
                </a:tc>
                <a:tc>
                  <a:txBody>
                    <a:bodyPr/>
                    <a:lstStyle/>
                    <a:p>
                      <a:r>
                        <a:rPr sz="1000" b="0" i="0">
                          <a:solidFill>
                            <a:srgbClr val="1A1440"/>
                          </a:solidFill>
                          <a:latin typeface="Calibri"/>
                        </a:rPr>
                        <a:t>237,016</a:t>
                      </a:r>
                    </a:p>
                  </a:txBody>
                  <a:tcPr marL="101600" marR="101600" marT="38100" marB="38100" anchor="ctr">
                    <a:solidFill>
                      <a:srgbClr val="F4F2FA"/>
                    </a:solidFill>
                  </a:tcPr>
                </a:tc>
                <a:tc>
                  <a:txBody>
                    <a:bodyPr/>
                    <a:lstStyle/>
                    <a:p>
                      <a:r>
                        <a:rPr sz="1000" b="0" i="0">
                          <a:solidFill>
                            <a:srgbClr val="1A1440"/>
                          </a:solidFill>
                          <a:latin typeface="Calibri"/>
                        </a:rPr>
                        <a:t>243,178</a:t>
                      </a:r>
                    </a:p>
                  </a:txBody>
                  <a:tcPr marL="101600" marR="101600" marT="38100" marB="38100" anchor="ctr">
                    <a:solidFill>
                      <a:srgbClr val="F4F2FA"/>
                    </a:solidFill>
                  </a:tcPr>
                </a:tc>
                <a:tc>
                  <a:txBody>
                    <a:bodyPr/>
                    <a:lstStyle/>
                    <a:p>
                      <a:r>
                        <a:rPr sz="1000" b="0" i="0">
                          <a:solidFill>
                            <a:srgbClr val="1A1440"/>
                          </a:solidFill>
                          <a:latin typeface="Calibri"/>
                        </a:rPr>
                        <a:t>2,027</a:t>
                      </a:r>
                    </a:p>
                  </a:txBody>
                  <a:tcPr marL="101600" marR="101600" marT="38100" marB="38100" anchor="ctr">
                    <a:solidFill>
                      <a:srgbClr val="F4F2FA"/>
                    </a:solidFill>
                  </a:tcPr>
                </a:tc>
              </a:tr>
              <a:tr h="310896">
                <a:tc>
                  <a:txBody>
                    <a:bodyPr/>
                    <a:lstStyle/>
                    <a:p>
                      <a:r>
                        <a:rPr sz="1000" b="0" i="0">
                          <a:solidFill>
                            <a:srgbClr val="1A1440"/>
                          </a:solidFill>
                          <a:latin typeface="Calibri"/>
                        </a:rPr>
                        <a:t>23 Nov</a:t>
                      </a:r>
                    </a:p>
                  </a:txBody>
                  <a:tcPr marL="101600" marR="101600" marT="38100" marB="38100" anchor="ctr">
                    <a:solidFill>
                      <a:srgbClr val="FFFFFF"/>
                    </a:solidFill>
                  </a:tcPr>
                </a:tc>
                <a:tc>
                  <a:txBody>
                    <a:bodyPr/>
                    <a:lstStyle/>
                    <a:p>
                      <a:r>
                        <a:rPr sz="1000" b="0" i="0">
                          <a:solidFill>
                            <a:srgbClr val="1A1440"/>
                          </a:solidFill>
                          <a:latin typeface="Calibri"/>
                        </a:rPr>
                        <a:t>225,992</a:t>
                      </a:r>
                    </a:p>
                  </a:txBody>
                  <a:tcPr marL="101600" marR="101600" marT="38100" marB="38100" anchor="ctr">
                    <a:solidFill>
                      <a:srgbClr val="FFFFFF"/>
                    </a:solidFill>
                  </a:tcPr>
                </a:tc>
                <a:tc>
                  <a:txBody>
                    <a:bodyPr/>
                    <a:lstStyle/>
                    <a:p>
                      <a:r>
                        <a:rPr sz="1000" b="0" i="0">
                          <a:solidFill>
                            <a:srgbClr val="1A1440"/>
                          </a:solidFill>
                          <a:latin typeface="Calibri"/>
                        </a:rPr>
                        <a:t>231,868</a:t>
                      </a:r>
                    </a:p>
                  </a:txBody>
                  <a:tcPr marL="101600" marR="101600" marT="38100" marB="38100" anchor="ctr">
                    <a:solidFill>
                      <a:srgbClr val="FFFFFF"/>
                    </a:solidFill>
                  </a:tcPr>
                </a:tc>
                <a:tc>
                  <a:txBody>
                    <a:bodyPr/>
                    <a:lstStyle/>
                    <a:p>
                      <a:r>
                        <a:rPr sz="1000" b="0" i="0">
                          <a:solidFill>
                            <a:srgbClr val="1A1440"/>
                          </a:solidFill>
                          <a:latin typeface="Calibri"/>
                        </a:rPr>
                        <a:t>1,933</a:t>
                      </a:r>
                    </a:p>
                  </a:txBody>
                  <a:tcPr marL="101600" marR="101600" marT="38100" marB="38100" anchor="ctr">
                    <a:solidFill>
                      <a:srgbClr val="FFFFFF"/>
                    </a:solidFill>
                  </a:tcPr>
                </a:tc>
              </a:tr>
              <a:tr h="310896">
                <a:tc>
                  <a:txBody>
                    <a:bodyPr/>
                    <a:lstStyle/>
                    <a:p>
                      <a:r>
                        <a:rPr sz="1000" b="0" i="0">
                          <a:solidFill>
                            <a:srgbClr val="1A1440"/>
                          </a:solidFill>
                          <a:latin typeface="Calibri"/>
                        </a:rPr>
                        <a:t>30 Nov</a:t>
                      </a:r>
                    </a:p>
                  </a:txBody>
                  <a:tcPr marL="101600" marR="101600" marT="38100" marB="38100" anchor="ctr">
                    <a:solidFill>
                      <a:srgbClr val="F4F2FA"/>
                    </a:solidFill>
                  </a:tcPr>
                </a:tc>
                <a:tc>
                  <a:txBody>
                    <a:bodyPr/>
                    <a:lstStyle/>
                    <a:p>
                      <a:r>
                        <a:rPr sz="1000" b="0" i="0">
                          <a:solidFill>
                            <a:srgbClr val="1A1440"/>
                          </a:solidFill>
                          <a:latin typeface="Calibri"/>
                        </a:rPr>
                        <a:t>227,136</a:t>
                      </a:r>
                    </a:p>
                  </a:txBody>
                  <a:tcPr marL="101600" marR="101600" marT="38100" marB="38100" anchor="ctr">
                    <a:solidFill>
                      <a:srgbClr val="F4F2FA"/>
                    </a:solidFill>
                  </a:tcPr>
                </a:tc>
                <a:tc>
                  <a:txBody>
                    <a:bodyPr/>
                    <a:lstStyle/>
                    <a:p>
                      <a:r>
                        <a:rPr sz="1000" b="0" i="0">
                          <a:solidFill>
                            <a:srgbClr val="1A1440"/>
                          </a:solidFill>
                          <a:latin typeface="Calibri"/>
                        </a:rPr>
                        <a:t>233,042</a:t>
                      </a:r>
                    </a:p>
                  </a:txBody>
                  <a:tcPr marL="101600" marR="101600" marT="38100" marB="38100" anchor="ctr">
                    <a:solidFill>
                      <a:srgbClr val="F4F2FA"/>
                    </a:solidFill>
                  </a:tcPr>
                </a:tc>
                <a:tc>
                  <a:txBody>
                    <a:bodyPr/>
                    <a:lstStyle/>
                    <a:p>
                      <a:r>
                        <a:rPr sz="10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874768"/>
            <a:ext cx="11130991"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Shifts are the plan over 120, rounded up: 20,275 in all, 515 more than the 19,760 the forecast alone needs. </a:t>
            </a:r>
            <a:r>
              <a:rPr sz="1400" b="1" i="0">
                <a:solidFill>
                  <a:srgbClr val="1A1440"/>
                </a:solidFill>
                <a:latin typeface="Calibri"/>
              </a:rPr>
              <a:t>The error bar:</a:t>
            </a:r>
            <a:r>
              <a:rPr sz="1400" b="0" i="0">
                <a:solidFill>
                  <a:srgbClr val="1A1440"/>
                </a:solidFill>
                <a:latin typeface="Calibri"/>
              </a:rPr>
              <a:t> the forecast missed by 6,615 shipments a week on the hidden weeks, about Rs 35,800 of idle shifts when it ran that far high and Rs 1.65 lakh of late shipments when that far low, and by 4,034 a week on 2025's festival. For 19 October, demand at the hidden weeks' extremes would need 3,413 to 3,906 shifts against the 3,719 booked.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booking by each other forecast costs; the 2025 back-test is the evidence that it places the rush well.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21256"/>
          <a:ext cx="11130991" cy="4039616"/>
        </p:xfrm>
        <a:graphic>
          <a:graphicData uri="http://schemas.openxmlformats.org/drawingml/2006/table">
            <a:tbl>
              <a:tblPr firstRow="0" bandRow="0">
                <a:tableStyleId>{2D5ABB26-0587-4C30-8999-92F81FD0307C}</a:tableStyleId>
              </a:tblPr>
              <a:tblGrid>
                <a:gridCol w="4946853"/>
                <a:gridCol w="6184138"/>
              </a:tblGrid>
              <a:tr h="352552">
                <a:tc>
                  <a:txBody>
                    <a:bodyPr/>
                    <a:lstStyle/>
                    <a:p>
                      <a:r>
                        <a:rPr sz="1350" b="1" i="0">
                          <a:solidFill>
                            <a:srgbClr val="FFFFFF"/>
                          </a:solidFill>
                          <a:latin typeface="Calibri"/>
                        </a:rPr>
                        <a:t>The doubt</a:t>
                      </a:r>
                    </a:p>
                  </a:txBody>
                  <a:tcPr marL="101600" marR="101600" marT="38100" marB="38100" anchor="ctr">
                    <a:solidFill>
                      <a:srgbClr val="1A0F5C"/>
                    </a:solidFill>
                  </a:tcPr>
                </a:tc>
                <a:tc>
                  <a:txBody>
                    <a:bodyPr/>
                    <a:lstStyle/>
                    <a:p>
                      <a:r>
                        <a:rPr sz="1350" b="1" i="0">
                          <a:solidFill>
                            <a:srgbClr val="FFFFFF"/>
                          </a:solidFill>
                          <a:latin typeface="Calibri"/>
                        </a:rPr>
                        <a:t>What we have, and what would settle it</a:t>
                      </a:r>
                    </a:p>
                  </a:txBody>
                  <a:tcPr marL="101600" marR="101600" marT="38100" marB="38100" anchor="ctr">
                    <a:solidFill>
                      <a:srgbClr val="1A0F5C"/>
                    </a:solidFill>
                  </a:tcPr>
                </a:tc>
              </a:tr>
              <a:tr h="352552">
                <a:tc>
                  <a:txBody>
                    <a:bodyPr/>
                    <a:lstStyle/>
                    <a:p>
                      <a:r>
                        <a:rPr sz="13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300" b="0" i="0">
                          <a:solidFill>
                            <a:srgbClr val="1A1440"/>
                          </a:solidFill>
                          <a:latin typeface="Calibri"/>
                        </a:rPr>
                        <a:t>One festival, the 2025 back-test; another festival would settle it</a:t>
                      </a:r>
                    </a:p>
                  </a:txBody>
                  <a:tcPr marL="101600" marR="101600" marT="38100" marB="38100" anchor="ctr">
                    <a:solidFill>
                      <a:srgbClr val="FFFFFF"/>
                    </a:solidFill>
                  </a:tcPr>
                </a:tc>
              </a:tr>
              <a:tr h="352552">
                <a:tc>
                  <a:txBody>
                    <a:bodyPr/>
                    <a:lstStyle/>
                    <a:p>
                      <a:r>
                        <a:rPr sz="1300" b="0" i="0">
                          <a:solidFill>
                            <a:srgbClr val="1A1440"/>
                          </a:solidFill>
                          <a:latin typeface="Calibri"/>
                        </a:rPr>
                        <a:t>Two years hold two festivals</a:t>
                      </a:r>
                    </a:p>
                  </a:txBody>
                  <a:tcPr marL="101600" marR="101600" marT="38100" marB="38100" anchor="ctr">
                    <a:solidFill>
                      <a:srgbClr val="F4F2FA"/>
                    </a:solidFill>
                  </a:tcPr>
                </a:tc>
                <a:tc>
                  <a:txBody>
                    <a:bodyPr/>
                    <a:lstStyle/>
                    <a:p>
                      <a:r>
                        <a:rPr sz="1300" b="0" i="0">
                          <a:solidFill>
                            <a:srgbClr val="1A1440"/>
                          </a:solidFill>
                          <a:latin typeface="Calibri"/>
                        </a:rPr>
                        <a:t>Two examples of the festival's shape; only a third year settles it</a:t>
                      </a:r>
                    </a:p>
                  </a:txBody>
                  <a:tcPr marL="101600" marR="101600" marT="38100" marB="38100" anchor="ctr">
                    <a:solidFill>
                      <a:srgbClr val="F4F2FA"/>
                    </a:solidFill>
                  </a:tcPr>
                </a:tc>
              </a:tr>
              <a:tr h="577088">
                <a:tc>
                  <a:txBody>
                    <a:bodyPr/>
                    <a:lstStyle/>
                    <a:p>
                      <a:r>
                        <a:rPr sz="13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300" b="0" i="0">
                          <a:solidFill>
                            <a:srgbClr val="1A1440"/>
                          </a:solidFill>
                          <a:latin typeface="Calibri"/>
                        </a:rPr>
                        <a:t>The 2025 festival's 4,034 a week; a rolling origin through that festival would settle it</a:t>
                      </a:r>
                    </a:p>
                  </a:txBody>
                  <a:tcPr marL="101600" marR="101600" marT="38100" marB="38100" anchor="ctr">
                    <a:solidFill>
                      <a:srgbClr val="FFFFFF"/>
                    </a:solidFill>
                  </a:tcPr>
                </a:tc>
              </a:tr>
              <a:tr h="801624">
                <a:tc>
                  <a:txBody>
                    <a:bodyPr/>
                    <a:lstStyle/>
                    <a:p>
                      <a:r>
                        <a:rPr sz="1300" b="0" i="0">
                          <a:solidFill>
                            <a:srgbClr val="1A1440"/>
                          </a:solidFill>
                          <a:latin typeface="Calibri"/>
                        </a:rPr>
                        <a:t>Capacity caps the peak</a:t>
                      </a:r>
                    </a:p>
                  </a:txBody>
                  <a:tcPr marL="101600" marR="101600" marT="38100" marB="38100" anchor="ctr">
                    <a:solidFill>
                      <a:srgbClr val="F4F2FA"/>
                    </a:solidFill>
                  </a:tcPr>
                </a:tc>
                <a:tc>
                  <a:txBody>
                    <a:bodyPr/>
                    <a:lstStyle/>
                    <a:p>
                      <a:r>
                        <a:rPr sz="13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r h="352552">
                <a:tc>
                  <a:txBody>
                    <a:bodyPr/>
                    <a:lstStyle/>
                    <a:p>
                      <a:r>
                        <a:rPr sz="1300" b="0" i="0">
                          <a:solidFill>
                            <a:srgbClr val="1A1440"/>
                          </a:solidFill>
                          <a:latin typeface="Calibri"/>
                        </a:rPr>
                        <a:t>Growth of 4 percent a year</a:t>
                      </a:r>
                    </a:p>
                  </a:txBody>
                  <a:tcPr marL="101600" marR="101600" marT="38100" marB="38100" anchor="ctr">
                    <a:solidFill>
                      <a:srgbClr val="FFFFFF"/>
                    </a:solidFill>
                  </a:tcPr>
                </a:tc>
                <a:tc>
                  <a:txBody>
                    <a:bodyPr/>
                    <a:lstStyle/>
                    <a:p>
                      <a:r>
                        <a:rPr sz="1300" b="0" i="0">
                          <a:solidFill>
                            <a:srgbClr val="1A1440"/>
                          </a:solidFill>
                          <a:latin typeface="Calibri"/>
                        </a:rPr>
                        <a:t>Two years' evidence; a third year would settle it</a:t>
                      </a:r>
                    </a:p>
                  </a:txBody>
                  <a:tcPr marL="101600" marR="101600" marT="38100" marB="38100" anchor="ctr">
                    <a:solidFill>
                      <a:srgbClr val="FFFFFF"/>
                    </a:solidFill>
                  </a:tcPr>
                </a:tc>
              </a:tr>
              <a:tr h="1250696">
                <a:tc>
                  <a:txBody>
                    <a:bodyPr/>
                    <a:lstStyle/>
                    <a:p>
                      <a:r>
                        <a:rPr sz="1300" b="0" i="0">
                          <a:solidFill>
                            <a:srgbClr val="1A1440"/>
                          </a:solidFill>
                          <a:latin typeface="Calibri"/>
                        </a:rPr>
                        <a:t>A tax change rode on the 2025 festival</a:t>
                      </a:r>
                    </a:p>
                  </a:txBody>
                  <a:tcPr marL="101600" marR="101600" marT="38100" marB="38100" anchor="ctr">
                    <a:solidFill>
                      <a:srgbClr val="F4F2FA"/>
                    </a:solidFill>
                  </a:tcPr>
                </a:tc>
                <a:tc>
                  <a:txBody>
                    <a:bodyPr/>
                    <a:lstStyle/>
                    <a:p>
                      <a:r>
                        <a:rPr sz="1300" b="0" i="0">
                          <a:solidFill>
                            <a:srgbClr val="1A1440"/>
                          </a:solidFill>
                          <a:latin typeface="Calibri"/>
                        </a:rPr>
                        <a:t>Two-wheeler retail registrations ran at 31.5 lakh in October 2025 against 12.9 lakh in September, part of it credited to cuts in GST, India's goods and services tax (FADA, the Federation of Automobile Dealers Associations, release of 7 November 2025, checked 12 October 2026); a series with the tax change marked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pic>
        <p:nvPicPr>
          <p:cNvPr id="9" name="mermaid diagram" descr="052451889d7f1b16.png"/>
          <p:cNvPicPr>
            <a:picLocks noChangeAspect="1"/>
          </p:cNvPicPr>
          <p:nvPr/>
        </p:nvPicPr>
        <p:blipFill>
          <a:blip r:embed="rId5"/>
          <a:stretch>
            <a:fillRect/>
          </a:stretch>
        </p:blipFill>
        <p:spPr>
          <a:xfrm>
            <a:off x="829168" y="1664208"/>
            <a:ext cx="1053335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To finance: right growth, wrong weeks, since copied by calendar the 4 percent puts the peak on 5 October and sits 308,048 shipments short. To the vendor's sponsor: a fit of 1.4 percent, and 16,400 a week off on weeks it never saw. The rule: beat the bot on hidden weeks, place the festival, cover demand in 0.82 of weeks.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