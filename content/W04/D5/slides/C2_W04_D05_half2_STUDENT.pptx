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minutes, on screen as the room comes back. The first hour is the trainer's: the staffing</a:t>
            </a:r>
          </a:p>
          <a:p>
            <a:r>
              <a:t>note, the interview room, the Kahoot and Saturday's preview.</a:t>
            </a:r>
          </a:p>
          <a:p>
            <a:r>
              <a:t>Then the IITGN faculty session W4-4 (tentative) runs, or the fallback hour.</a:t>
            </a:r>
          </a:p>
          <a:p>
            <a:r>
              <a:t>Read the three numbers; every group's note starts from them. Transition: the morning on one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question at the top with its anchor, then region one. The board grows a</a:t>
            </a:r>
          </a:p>
          <a:p>
            <a:r>
              <a:t>region a slide and ends with every pitfall the morning met. Explorer: scene F1.</a:t>
            </a:r>
          </a:p>
          <a:p>
            <a:r>
              <a:t>Transition: region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Region two holds the vendor's two mistakes: a close fit, and the 2025 spike read</a:t>
            </a:r>
          </a:p>
          <a:p>
            <a:r>
              <a:t>as growth, which is why its curve climbs with the weeks ahead. Explorer: scene F2. Transition:</a:t>
            </a:r>
          </a:p>
          <a:p>
            <a:r>
              <a:t>region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The finished board is the staffing note's skeleton: one line per region, then the</a:t>
            </a:r>
          </a:p>
          <a:p>
            <a:r>
              <a:t>shifts. Explorer: scenes F3 and F4. Transition: what the note must 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minutes, unguided, in groups of about four. TAs circulate with the scorer's card from Tuesday:</a:t>
            </a:r>
          </a:p>
          <a:p>
            <a:r>
              <a:t>claim as title, one piece of evidence with its denominator, the caveat in sight, the action with its</a:t>
            </a:r>
          </a:p>
          <a:p>
            <a:r>
              <a:t>cost. A group that splits the difference between 4 and 22 is asked which rule either one beat on</a:t>
            </a:r>
          </a:p>
          <a:p>
            <a:r>
              <a:t>the hidden weeks. Transition: what a strong first line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Tuesday's rule: the title is the claim. Read each pair aloud and ask which line a</a:t>
            </a:r>
          </a:p>
          <a:p>
            <a:r>
              <a:t>regional head could forward unchanged. Transition: the two people who will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Concede the true half first, then answer from the evidence, then say what would</a:t>
            </a:r>
          </a:p>
          <a:p>
            <a:r>
              <a:t>change your mind: a vendor forecast scored on 2025's festival from data to September 2025.</a:t>
            </a:r>
          </a:p>
          <a:p>
            <a:r>
              <a:t>Transition: the interview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picture every note should be able to describe in one sentence. Transition:</a:t>
            </a:r>
          </a:p>
          <a:p>
            <a:r>
              <a:t>the interview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full transcript, with the clarifying questions and the scorecard, is in</a:t>
            </a:r>
          </a:p>
          <a:p>
            <a:r>
              <a:t>`extras/C2_W04_D05_interview_transcripts_STUDENT.md`; pairs read it and score the hire-grade answer</a:t>
            </a:r>
          </a:p>
          <a:p>
            <a:r>
              <a:t>on the card. Transition: the follow-ups.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Each follow-up changes the question so only the reasoning transfers. Zillow's</a:t>
            </a:r>
          </a:p>
          <a:p>
            <a:r>
              <a:t>figures are from its Q3 2021 shareholder letter, checked 12 October 2026: price forecasts three to</a:t>
            </a:r>
          </a:p>
          <a:p>
            <a:r>
              <a:t>six months ahead, a public guardrail of plus or minus 200 basis points (a basis point is a</a:t>
            </a:r>
          </a:p>
          <a:p>
            <a:r>
              <a:t>hundredth of a percent) of breakeven unit economics, a swing of about 1,200 basis points to an</a:t>
            </a:r>
          </a:p>
          <a:p>
            <a:r>
              <a:t>expected minus 500 to minus 700, more homes bought than planned, renovation capacity short, an</a:t>
            </a:r>
          </a:p>
          <a:p>
            <a:r>
              <a:t>inventory write-down of about USD 304 million and the business wound down. The guardrail sat on the</a:t>
            </a:r>
          </a:p>
          <a:p>
            <a:r>
              <a:t>margin, which suggests the forecast's error was wider than the band; and a forecast used to bid wins</a:t>
            </a:r>
          </a:p>
          <a:p>
            <a:r>
              <a:t>where it guesses high, so the homes bought carried its errors one way. Two more follow-ups sit in the transcripts:</a:t>
            </a:r>
          </a:p>
          <a:p>
            <a:r>
              <a:t>the cushion read from the scored weeks, and the overtime that may cap the peak. Transition: the same</a:t>
            </a:r>
          </a:p>
          <a:p>
            <a:r>
              <a:t>idea at an AI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Ask the room which cost is the Rs 25 and which the Rs 5.42 here: a timed-out</a:t>
            </a:r>
          </a:p>
          <a:p>
            <a:r>
              <a:t>request, and the idle capacity one request would have used; both are per unit of demand, as the</a:t>
            </a:r>
          </a:p>
          <a:p>
            <a:r>
              <a:t>packer costs are per shipment. Ask what the forecast can be tested on if the feature has never launched: nothing,</a:t>
            </a:r>
          </a:p>
          <a:p>
            <a:r>
              <a:t>so say it is untested and keep capacity that can stretch. The worked sizing (2 lakh users, 1</a:t>
            </a:r>
          </a:p>
          <a:p>
            <a:r>
              <a:t>percent in the peak minute, 1,000 prompt and 500 answer tokens, all invented, about 330 requests open</a:t>
            </a:r>
          </a:p>
          <a:p>
            <a:r>
              <a:t>at once) is in the transcripts. Transition: the guesstimate.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 if time allows, in pairs against a three-minute clock. The scorer checks the</a:t>
            </a:r>
          </a:p>
          <a:p>
            <a:r>
              <a:t>structure and the sanity check, never the final number. SIAM's release:</a:t>
            </a:r>
          </a:p>
          <a:p>
            <a:r>
              <a:t>https://www.siam.in/news-&amp;-updates/press-releases/x/605 (checked 12 October 2026). Transition: the</a:t>
            </a:r>
          </a:p>
          <a:p>
            <a:r>
              <a:t>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Read the handoff line as written, then point at the four words: the faculty</a:t>
            </a:r>
          </a:p>
          <a:p>
            <a:r>
              <a:t>session defines them properly, and this table only says what each one is for.</a:t>
            </a:r>
          </a:p>
          <a:p>
            <a:r>
              <a:t>Park any "is the vendor's model an ARIMA" question for the faculty session (tentative).</a:t>
            </a:r>
          </a:p>
          <a:p>
            <a:r>
              <a:t>Transition: the Kahoot.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12 minutes. Kahoot is ungraded. The pack is `kahoot/C2_W04_D05_quiz_STUDENT.md`. Spend two</a:t>
            </a:r>
          </a:p>
          <a:p>
            <a:r>
              <a:t>minutes on item 6 if the room splits: the blend is a size-weighted average of cohort rates.</a:t>
            </a:r>
          </a:p>
          <a:p>
            <a:r>
              <a:t>Transition: Saturday.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three cards are the cheat sheet's crux lines, word for word. Transition: the</a:t>
            </a:r>
          </a:p>
          <a:p>
            <a:r>
              <a:t>faculty session (tentative) or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morning left a plan, a bar and a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the three chapters settle before lunch?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20,275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PACKER SHIFTS OVER EIGHT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350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festival-aligned, raised 2.6 percent, 3,719 in the week of 19 October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6,615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SHIPMENTS A WEEK, THE ERROR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350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forecast's average miss on thirteen hidden weeks: about Rs 35,800 if it runs high, Rs 1.65 lakh if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SHARE OF WEEKS TO 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350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25 / (25 + 5.42): a late shipment costs 4.6 times a spare 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419856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Illustrative case: the company is real, the situation and the data are synthetic, built for this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board for the day, region one: the past's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forecast earns the plan's trust? The board fills one region per chapter.</a:t>
            </a:r>
          </a:p>
        </p:txBody>
      </p:sp>
      <p:pic>
        <p:nvPicPr>
          <p:cNvPr id="9" name="mermaid diagram" descr="237cc437ae3e0d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054" y="1682496"/>
            <a:ext cx="1716920" cy="4517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1917" y="1956816"/>
            <a:ext cx="5899425" cy="1048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Chapter 1 filled this region: both years peak two weeks before Diwali's week, so a copy counts weeks from the festival.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S1a  ·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Region two: the copy any forecast must beat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must a forecast beat before it books a shift?</a:t>
            </a:r>
          </a:p>
        </p:txBody>
      </p:sp>
      <p:pic>
        <p:nvPicPr>
          <p:cNvPr id="9" name="mermaid diagram" descr="9effdfacb80c6c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89" y="1682496"/>
            <a:ext cx="3542851" cy="4517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1917" y="1956816"/>
            <a:ext cx="5899425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Chapter 2 filled this one: a forecast earns trust only on weeks it never saw, against a copy of last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S1b  ·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Region three: how wrong, and in which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wrong could the plan be, and which way costs more?</a:t>
            </a:r>
          </a:p>
        </p:txBody>
      </p:sp>
      <p:pic>
        <p:nvPicPr>
          <p:cNvPr id="9" name="mermaid diagram" descr="6f5eb04a19ef72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1096"/>
            <a:ext cx="4786326" cy="3979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1917" y="1956816"/>
            <a:ext cx="5899425" cy="1048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Chapter 3 filled the last: a late shipment costs 4.6 times a spare one, so the plan sits 2.6 percent above the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S1c  ·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staffing note: five lines,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each group hand the regional operations head in twenty minutes?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2079894" cy="2765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file-text_5c86fecc28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1677558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claim as the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534664"/>
            <a:ext cx="1677558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How many shifts, which weeks, from which forecast, in one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3126" y="1956816"/>
            <a:ext cx="2079894" cy="2765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4294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alendar_52de2a0009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022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94294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4294" y="2962656"/>
            <a:ext cx="1677558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festival placed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4294" y="353466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Which week is the peak and why: the distance from Diwali, never the calendar.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5900" y="1956816"/>
            <a:ext cx="2079894" cy="2765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57068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ruler_ec66f5961a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796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57068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068" y="2962656"/>
            <a:ext cx="1677558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error bar in rupees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068" y="3534664"/>
            <a:ext cx="1677558" cy="944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miss a week in shipments, its cost if high and if low, and the rule's record on 2025's festival.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8674" y="1956816"/>
            <a:ext cx="2079894" cy="2765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19842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circle-alert_2885187cc1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570" y="22677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19842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9842" y="2962656"/>
            <a:ext cx="1677558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What would make it wrong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9842" y="3534664"/>
            <a:ext cx="1677558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Three facts that would move the number, each with its check.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1448" y="1956816"/>
            <a:ext cx="2079894" cy="2765552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82616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scale_e4d6117bdfb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344" y="2267712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82616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616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two answered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2616" y="330352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One line to finance, one to the vendor's sponsor, conceding the true part.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4905248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set is exercises/unguided/C2_W04_D05_staffing_note_STUDENT.md: the note's decisions as lettered items, then the note itself.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note's first line carries 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first line lets the operations head act without reading on?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04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889524"/>
                <a:gridCol w="624146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first line that stalls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first line that decides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"Forecasting analysis for the festive season"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"Book 20,275 packer shifts for 12 October to 30 November, peaking at 3,719 in the week of 19 October"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"The vendor projects 22 percent growth"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"The vendor's curve lost to a copy of last year on thirteen hidden weeks, so it does not set the plan"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"Finance suggests plus 4 percent"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"Finance's 4 percent is the right growth on the wrong weeks: it puts the peak on 5 October, before the plan's first week"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Finance and the vendor's sponsor are each partly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is true in each objection, and what answers the rest?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5474055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calculator_852ec1ae17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5071719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5071719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"Last year plus 4 is what the budget holds"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5071719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True: the training weeks grew 4.0 percent. Not true for the weeks: copied by calendar it puts the peak on 5 October, before the plan's first week, and sits 308,048 shipments short.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956816"/>
            <a:ext cx="5474055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8455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trending-up_0f9f078814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183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8455" y="2724912"/>
            <a:ext cx="5071719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VENDOR'S 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455" y="2962656"/>
            <a:ext cx="5071719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"The model fits every week of history"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3303524"/>
            <a:ext cx="5071719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True: within 1.4 percent. That is the problem: on thirteen weeks it never saw it missed by 16,400 a week, 67 percent worse than the copy of last year.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of four forecasts book the wrong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weeks does each forecast book the most packers for?</a:t>
            </a:r>
          </a:p>
        </p:txBody>
      </p:sp>
      <p:pic>
        <p:nvPicPr>
          <p:cNvPr id="9" name="mermaid diagram" descr="C2_W04_D05_window_2026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364" y="1664208"/>
            <a:ext cx="8980966" cy="3491992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19277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Four forecasts for 28 September to 30 November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The house bot, finance's rule and the vendor put their biggest week on 5 October, a week before the plan's first week; festival-aligned puts it on 19 October, two weeks before Diwali's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"How do you evaluate a forecast?" Two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separates a weak answer from a hire-grade one?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2944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67088"/>
                <a:gridCol w="566390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Weak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Hire-grade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"We used a good model and the fit was within 2 percent."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"I hold out the latest weeks as a test set, at least as many as the forecast must reach ahead, and forecast them from one origin."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Judges by the fit to history, or a random split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Scores only weeks after the origin, then rolls the origin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number for the error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error in shipments, then priced each way, each forecast at its own 0.82 point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Picks the model with the best story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Sends nothing that loses to a copy of last year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Takes the calendar for granted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Checks where the festival falls this year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follow-ups that change 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interviewer ask next, and what does a strong candidate say?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4557" y="2523744"/>
            <a:ext cx="7542580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FOLLOW-UP 1</a:t>
            </a:r>
          </a:p>
        </p:txBody>
      </p:sp>
      <p:sp>
        <p:nvSpPr>
          <p:cNvPr id="11" name="Oval 10"/>
          <p:cNvSpPr/>
          <p:nvPr/>
        </p:nvSpPr>
        <p:spPr>
          <a:xfrm>
            <a:off x="222397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3588410" cy="1595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MAE or MAPE, and when?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3259226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Shipments when the cost is per shipment; MASE or WAPE across centres. MAPE explodes near zero, and here it ranks the rules as MAE does.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164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FOLLOW-UP 2</a:t>
            </a:r>
          </a:p>
        </p:txBody>
      </p:sp>
      <p:sp>
        <p:nvSpPr>
          <p:cNvPr id="16" name="Oval 15"/>
          <p:cNvSpPr/>
          <p:nvPr/>
        </p:nvSpPr>
        <p:spPr>
          <a:xfrm>
            <a:off x="599526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1642" y="2843784"/>
            <a:ext cx="3588410" cy="1595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234" y="2990088"/>
            <a:ext cx="3259226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festival moves three weeks: what breaks?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6234" y="3492500"/>
            <a:ext cx="3259226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Every calendar copy, the seasonal naive and finance's rule; the festival-aligned copy moves with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293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FOLLOW-UP 3</a:t>
            </a:r>
          </a:p>
        </p:txBody>
      </p:sp>
      <p:sp>
        <p:nvSpPr>
          <p:cNvPr id="21" name="Oval 20"/>
          <p:cNvSpPr/>
          <p:nvPr/>
        </p:nvSpPr>
        <p:spPr>
          <a:xfrm>
            <a:off x="9766554" y="2432304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2932" y="2843784"/>
            <a:ext cx="3588410" cy="15951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7524" y="2990088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did a forecast cost Zillow?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7524" y="3277870"/>
            <a:ext cx="3259226" cy="862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Its margin guardrail was 2 percentage points either side of breakeven; price forecasts three to six months out missed by more, the margin swung about 12 percentage points, and Zillow wrote down about USD 304 million.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AI variant: inference capacity for a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would the same method size servers for an AI product launch?</a:t>
            </a:r>
          </a:p>
        </p:txBody>
      </p:sp>
      <p:pic>
        <p:nvPicPr>
          <p:cNvPr id="9" name="mermaid diagram" descr="5d9713e6e3aac4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" y="1956816"/>
            <a:ext cx="10629900" cy="21002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4203382"/>
            <a:ext cx="11130991" cy="160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A1440"/>
                </a:solidFill>
                <a:latin typeface="Calibri"/>
              </a:rPr>
              <a:t>Inference</a:t>
            </a:r>
            <a:r>
              <a:rPr sz="1600" b="0" i="0">
                <a:solidFill>
                  <a:srgbClr val="1A1440"/>
                </a:solidFill>
                <a:latin typeface="Calibri"/>
              </a:rPr>
              <a:t> is the computing a model does each time it answers a user. Size the peak from the ground up as requests open at once, with prompt and answer tokens kept apart; check it against earlier launches lined up by days from launch with the weekday kept; set capacity to the latency target with headroom. The two costs, per request, decide how much to book ahead, and a staged rollout, on-demand capacity, rate limits and a waitlist cover the rest. Written for the programme; it quotes no company's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Two-wheelers a year: about 2.2 crore,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do you size a number from nothing, and check it against something known?</a:t>
            </a:r>
          </a:p>
        </p:txBody>
      </p:sp>
      <p:pic>
        <p:nvPicPr>
          <p:cNvPr id="9" name="mermaid diagram" descr="629daa93d38497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874794"/>
            <a:ext cx="11130991" cy="23784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399514"/>
            <a:ext cx="11130991" cy="16078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527530"/>
            <a:ext cx="45720" cy="13517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18386"/>
            <a:ext cx="10564063" cy="14249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range and the catch.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replacement years alone swing the answer from about 1.7 to 2.9 crore. October 2025's retail registrations were 31.5 lakh (FADA, the Federation of Automobile Dealers Associations), after a quiet September; times twelve that is about 3.78 crore, 74 percent above SIAM's year, a month of registrations set against a year of dealer sales: never annualise a peak month (both releases checked 12 October 2026).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Handoff: the baseline is the bar to beat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IITGN faculty session W4-4 pick up from here? It is tentative, and the fallback hour runs if it cannot.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4530"/>
            <a:ext cx="11130991" cy="9677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2546"/>
            <a:ext cx="45720" cy="71170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3402"/>
            <a:ext cx="10564063" cy="784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5B3FD6"/>
                </a:solidFill>
                <a:latin typeface="Calibri"/>
              </a:rPr>
              <a:t>The handoff line. </a:t>
            </a:r>
            <a:r>
              <a:rPr sz="1300" b="0" i="0">
                <a:solidFill>
                  <a:srgbClr val="1A1440"/>
                </a:solidFill>
                <a:latin typeface="Calibri"/>
              </a:rPr>
              <a:t>Your baseline is hard to beat, and you now know what any model must beat and on which weeks. The next 120 minutes show how a series remembers itself, autocorrelation, and what a smoothing or ARIMA model would have to do to earn its place above the festival-aligned baseline on the thirteen held-out weeks.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3086862"/>
          <a:ext cx="11130991" cy="2840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14997"/>
                <a:gridCol w="801599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word you will hear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 here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It is the simple copy any model must beat on the hidden weeks: festival-aligned, which missed by 6,615 a week.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Autocorrelation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It measures how closely each week's shipments follow the week a fixed number of weeks earlier, one back or 52 back.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Smoothing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It forecasts from an average of past weeks that gives the most recent weeks the most weight.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It forecasts from the series' own past weeks and its own past misses, the pattern autocorrelation measures.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Held-out weeks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These thirteen have already picked the rule and set the cushion, so a new model is fairest judged on weeks no choice has used, such as a rolling origin through 2025's festival.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Kahoot: eight calls, twenty seconds each, item 7 forty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of today's calls can the room make fast?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33284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week a copy of last year uses for Diwali 2026's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Shipments or percent for the error, and when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curve that fits every past week within 2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"good enough" is a claim about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weeks to hide, and how many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Thursday's return: a flat blend over falling cohorts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share of weeks a plan should cover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Plus 4 against which window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FRIDAY  ·  FLIPKART, LUCKNOW  · 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Close: beat the bot, place the festival, price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week close on, and what does Saturday test?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21544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badge-check_df01016c75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Beat the bot on hidden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In shipments, then rupees, against a copy of last year, before any model earns the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alendar_52de2a0009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Copy by distance from Diwali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calendar copy moved 2025's peak a week late and moves 2026's two weeks early.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cale_b0ee069e81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Cover 0.82 of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late shipment costs 4.6 times a spare one, so the plan sits 2.6 percent above the forecast.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94124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A1440"/>
                </a:solidFill>
                <a:latin typeface="Calibri"/>
              </a:rPr>
              <a:t>Saturday</a:t>
            </a:r>
            <a:r>
              <a:rPr sz="1600" b="0" i="0">
                <a:solidFill>
                  <a:srgbClr val="1A1440"/>
                </a:solidFill>
                <a:latin typeface="Calibri"/>
              </a:rPr>
              <a:t> runs the recap paper and moves each day's method to another company: Friday's goes to Amazon India's festive staffing, then to Kalpa's four units. Tonight: the take-home and Saturday's preview.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Week 4 Day 5: how much is coming, and how wrong could we 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