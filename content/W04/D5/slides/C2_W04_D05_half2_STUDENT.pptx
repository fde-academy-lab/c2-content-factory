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as the room comes back. The first hour is the trainer's: the staffing</a:t>
            </a:r>
          </a:p>
          <a:p>
            <a:r>
              <a:t>note, the interview room, the Kahoot and Saturday's preview.</a:t>
            </a:r>
          </a:p>
          <a:p>
            <a:r>
              <a:t>Then the IITGN faculty session W4-4 (tentative) runs, or the fallback hour.</a:t>
            </a:r>
          </a:p>
          <a:p>
            <a:r>
              <a:t>Read the three numbers; every group's note starts from them. Transition: what the</a:t>
            </a:r>
          </a:p>
          <a:p>
            <a:r>
              <a:t>note must carry.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unguided, in groups of about four. TAs circulate with the scorer's card from Tuesday:</a:t>
            </a:r>
          </a:p>
          <a:p>
            <a:r>
              <a:t>claim as title, one piece of evidence with its denominator, the caveat in sight, the action with its</a:t>
            </a:r>
          </a:p>
          <a:p>
            <a:r>
              <a:t>cost. A group that splits the difference between 4 and 22 is asked which rule either one beat on</a:t>
            </a:r>
          </a:p>
          <a:p>
            <a:r>
              <a:t>the hidden weeks. Transition: what a strong first line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rule: the title is the claim. Read each pair aloud and ask which line a</a:t>
            </a:r>
          </a:p>
          <a:p>
            <a:r>
              <a:t>regional head could forward unchanged. Transition: the two people who will object.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Concede the true half first, then answer from the evidence, then say what would</a:t>
            </a:r>
          </a:p>
          <a:p>
            <a:r>
              <a:t>change your mind: a vendor forecast scored on 2025's festival from data to September 2025.</a:t>
            </a:r>
          </a:p>
          <a:p>
            <a:r>
              <a:t>Transition: the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picture every note should be able to describe in one sentence. Transition:</a:t>
            </a:r>
          </a:p>
          <a:p>
            <a:r>
              <a:t>the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full transcript, with the clarifying questions and the scorecard, is in</a:t>
            </a:r>
          </a:p>
          <a:p>
            <a:r>
              <a:t>`extras/C2_W04_D05_interview_transcripts_STUDENT.md`; pairs read it and score the hire-grade answer</a:t>
            </a:r>
          </a:p>
          <a:p>
            <a:r>
              <a:t>on the card.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follow-up changes the question so only the reasoning transfers. Zillow's</a:t>
            </a:r>
          </a:p>
          <a:p>
            <a:r>
              <a:t>figures are from its Q3 2021 shareholder letter, checked 12 October 2026. Transition: the same idea</a:t>
            </a:r>
          </a:p>
          <a:p>
            <a:r>
              <a:t>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room which cost is the Rs 25 and which the Rs 5.42 here. Transition: the</a:t>
            </a:r>
          </a:p>
          <a:p>
            <a:r>
              <a:t>guesstimate.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if time allows, in pairs against a three-minute clock. The scorer checks the</a:t>
            </a:r>
          </a:p>
          <a:p>
            <a:r>
              <a:t>structure and the sanity check, never the final number. 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handoff line as written.</a:t>
            </a:r>
          </a:p>
          <a:p>
            <a:r>
              <a:t>Park any "is the vendor's model an ARIMA" question for the faculty session (tentative).</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Kahoot is ungraded. The pack is `kahoot/C2_W04_D05_quiz_STUDENT.md`. Spend two</a:t>
            </a:r>
          </a:p>
          <a:p>
            <a:r>
              <a:t>minutes on item 6 if the room splits: the blend is a size-weighted average of cohort rates.</a:t>
            </a:r>
          </a:p>
          <a:p>
            <a:r>
              <a:t>Transition: Saturday.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cards are the cheat sheet's crux lines, word for word. Transition: the</a:t>
            </a:r>
          </a:p>
          <a:p>
            <a:r>
              <a:t>faculty session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4.png"/><Relationship Id="rId7"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left a plan, a bar and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three chapters settle before lunch?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20,275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PACKER SHIFTS OVER EIGHT WEEKS</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raised 2.6 percent, 3,719 in the week of 19 October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A WEEK, THE ERROR BAR</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on thirteen hidden weeks: Rs 35,832 if high, Rs 1.7 lakh if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SHARE OF WEEKS TO COVER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 (25 + 5.42): being short costs 4.6 times being long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22" name="TextBox 2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staffing note: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the regional operations head in twenty minutes?</a:t>
            </a:r>
          </a:p>
        </p:txBody>
      </p:sp>
      <p:sp>
        <p:nvSpPr>
          <p:cNvPr id="9" name="Rounded Rectangle 8"/>
          <p:cNvSpPr/>
          <p:nvPr/>
        </p:nvSpPr>
        <p:spPr>
          <a:xfrm>
            <a:off x="530352"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claim as the title</a:t>
            </a:r>
          </a:p>
        </p:txBody>
      </p:sp>
      <p:sp>
        <p:nvSpPr>
          <p:cNvPr id="14" name="TextBox 13"/>
          <p:cNvSpPr txBox="1"/>
          <p:nvPr/>
        </p:nvSpPr>
        <p:spPr>
          <a:xfrm>
            <a:off x="731519"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How many shifts, which weeks, from which forecast, in one sentence.</a:t>
            </a:r>
          </a:p>
        </p:txBody>
      </p:sp>
      <p:sp>
        <p:nvSpPr>
          <p:cNvPr id="15" name="Rounded Rectangle 14"/>
          <p:cNvSpPr/>
          <p:nvPr/>
        </p:nvSpPr>
        <p:spPr>
          <a:xfrm>
            <a:off x="2793126"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104022" y="2267712"/>
            <a:ext cx="237744" cy="237744"/>
          </a:xfrm>
          <a:prstGeom prst="rect">
            <a:avLst/>
          </a:prstGeom>
        </p:spPr>
      </p:pic>
      <p:sp>
        <p:nvSpPr>
          <p:cNvPr id="18" name="TextBox 17"/>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2994294"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festival placed</a:t>
            </a:r>
          </a:p>
        </p:txBody>
      </p:sp>
      <p:sp>
        <p:nvSpPr>
          <p:cNvPr id="20" name="TextBox 19"/>
          <p:cNvSpPr txBox="1"/>
          <p:nvPr/>
        </p:nvSpPr>
        <p:spPr>
          <a:xfrm>
            <a:off x="2994294"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Which week is the peak and why: the distance from Diwali, never the calendar.</a:t>
            </a:r>
          </a:p>
        </p:txBody>
      </p:sp>
      <p:sp>
        <p:nvSpPr>
          <p:cNvPr id="21" name="Rounded Rectangle 20"/>
          <p:cNvSpPr/>
          <p:nvPr/>
        </p:nvSpPr>
        <p:spPr>
          <a:xfrm>
            <a:off x="5055900"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5366796" y="2267712"/>
            <a:ext cx="237744" cy="237744"/>
          </a:xfrm>
          <a:prstGeom prst="rect">
            <a:avLst/>
          </a:prstGeom>
        </p:spPr>
      </p:pic>
      <p:sp>
        <p:nvSpPr>
          <p:cNvPr id="24" name="TextBox 23"/>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5257068"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error bar in rupees</a:t>
            </a:r>
          </a:p>
        </p:txBody>
      </p:sp>
      <p:sp>
        <p:nvSpPr>
          <p:cNvPr id="26" name="TextBox 25"/>
          <p:cNvSpPr txBox="1"/>
          <p:nvPr/>
        </p:nvSpPr>
        <p:spPr>
          <a:xfrm>
            <a:off x="5257068"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Shipments a week, priced in each direction, and the festival's own record.</a:t>
            </a:r>
          </a:p>
        </p:txBody>
      </p:sp>
      <p:sp>
        <p:nvSpPr>
          <p:cNvPr id="27" name="Rounded Rectangle 26"/>
          <p:cNvSpPr/>
          <p:nvPr/>
        </p:nvSpPr>
        <p:spPr>
          <a:xfrm>
            <a:off x="7318674"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alert_2885187cc141.png"/>
          <p:cNvPicPr>
            <a:picLocks noChangeAspect="1"/>
          </p:cNvPicPr>
          <p:nvPr/>
        </p:nvPicPr>
        <p:blipFill>
          <a:blip r:embed="rId7"/>
          <a:stretch>
            <a:fillRect/>
          </a:stretch>
        </p:blipFill>
        <p:spPr>
          <a:xfrm>
            <a:off x="7629570" y="2267712"/>
            <a:ext cx="237744" cy="237744"/>
          </a:xfrm>
          <a:prstGeom prst="rect">
            <a:avLst/>
          </a:prstGeom>
        </p:spPr>
      </p:pic>
      <p:sp>
        <p:nvSpPr>
          <p:cNvPr id="30" name="TextBox 29"/>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7519842"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What would make it wrong</a:t>
            </a:r>
          </a:p>
        </p:txBody>
      </p:sp>
      <p:sp>
        <p:nvSpPr>
          <p:cNvPr id="32" name="TextBox 31"/>
          <p:cNvSpPr txBox="1"/>
          <p:nvPr/>
        </p:nvSpPr>
        <p:spPr>
          <a:xfrm>
            <a:off x="7519842"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Three facts that would move the number, each with its check.</a:t>
            </a:r>
          </a:p>
        </p:txBody>
      </p:sp>
      <p:sp>
        <p:nvSpPr>
          <p:cNvPr id="33" name="Rounded Rectangle 32"/>
          <p:cNvSpPr/>
          <p:nvPr/>
        </p:nvSpPr>
        <p:spPr>
          <a:xfrm>
            <a:off x="9581448" y="1956816"/>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cale_e4d6117bdfb8.png"/>
          <p:cNvPicPr>
            <a:picLocks noChangeAspect="1"/>
          </p:cNvPicPr>
          <p:nvPr/>
        </p:nvPicPr>
        <p:blipFill>
          <a:blip r:embed="rId8"/>
          <a:stretch>
            <a:fillRect/>
          </a:stretch>
        </p:blipFill>
        <p:spPr>
          <a:xfrm>
            <a:off x="9892344" y="2267712"/>
            <a:ext cx="237744" cy="237744"/>
          </a:xfrm>
          <a:prstGeom prst="rect">
            <a:avLst/>
          </a:prstGeom>
        </p:spPr>
      </p:pic>
      <p:sp>
        <p:nvSpPr>
          <p:cNvPr id="36" name="TextBox 35"/>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5</a:t>
            </a:r>
          </a:p>
        </p:txBody>
      </p:sp>
      <p:sp>
        <p:nvSpPr>
          <p:cNvPr id="37" name="TextBox 36"/>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two answered</a:t>
            </a:r>
          </a:p>
        </p:txBody>
      </p:sp>
      <p:sp>
        <p:nvSpPr>
          <p:cNvPr id="38" name="TextBox 37"/>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One line to finance, one to the vendor's sponsor, conceding the true part.</a:t>
            </a:r>
          </a:p>
        </p:txBody>
      </p:sp>
      <p:sp>
        <p:nvSpPr>
          <p:cNvPr id="39" name="TextBox 38"/>
          <p:cNvSpPr txBox="1"/>
          <p:nvPr/>
        </p:nvSpPr>
        <p:spPr>
          <a:xfrm>
            <a:off x="530352" y="47152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set is exercises/unguided/C2_W04_D05_staffing_note_STUDENT.md: the note's decisions as lettered items, then the note itself.</a:t>
            </a:r>
          </a:p>
        </p:txBody>
      </p:sp>
      <p:sp>
        <p:nvSpPr>
          <p:cNvPr id="40" name="TextBox 3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note's first line carries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first line lets the operations head act without reading on?</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889524"/>
                <a:gridCol w="6241466"/>
              </a:tblGrid>
              <a:tr h="369824">
                <a:tc>
                  <a:txBody>
                    <a:bodyPr/>
                    <a:lstStyle/>
                    <a:p>
                      <a:r>
                        <a:rPr sz="1450" b="1" i="0">
                          <a:solidFill>
                            <a:srgbClr val="FFFFFF"/>
                          </a:solidFill>
                          <a:latin typeface="Calibri"/>
                        </a:rPr>
                        <a:t>A first line that stalls</a:t>
                      </a:r>
                    </a:p>
                  </a:txBody>
                  <a:tcPr marL="101600" marR="101600" marT="38100" marB="38100" anchor="ctr">
                    <a:solidFill>
                      <a:srgbClr val="1A0F5C"/>
                    </a:solidFill>
                  </a:tcPr>
                </a:tc>
                <a:tc>
                  <a:txBody>
                    <a:bodyPr/>
                    <a:lstStyle/>
                    <a:p>
                      <a:r>
                        <a:rPr sz="1450" b="1" i="0">
                          <a:solidFill>
                            <a:srgbClr val="FFFFFF"/>
                          </a:solidFill>
                          <a:latin typeface="Calibri"/>
                        </a:rPr>
                        <a:t>A first line that decides</a:t>
                      </a:r>
                    </a:p>
                  </a:txBody>
                  <a:tcPr marL="101600" marR="101600" marT="38100" marB="38100" anchor="ctr">
                    <a:solidFill>
                      <a:srgbClr val="1A0F5C"/>
                    </a:solidFill>
                  </a:tcPr>
                </a:tc>
              </a:tr>
              <a:tr h="611632">
                <a:tc>
                  <a:txBody>
                    <a:bodyPr/>
                    <a:lstStyle/>
                    <a:p>
                      <a:r>
                        <a:rPr sz="1400" b="0" i="0">
                          <a:solidFill>
                            <a:srgbClr val="1A1440"/>
                          </a:solidFill>
                          <a:latin typeface="Calibri"/>
                        </a:rPr>
                        <a:t>"Forecasting analysis for the festive season"</a:t>
                      </a:r>
                    </a:p>
                  </a:txBody>
                  <a:tcPr marL="101600" marR="101600" marT="38100" marB="38100" anchor="ctr">
                    <a:solidFill>
                      <a:srgbClr val="FFFFFF"/>
                    </a:solidFill>
                  </a:tcPr>
                </a:tc>
                <a:tc>
                  <a:txBody>
                    <a:bodyPr/>
                    <a:lstStyle/>
                    <a:p>
                      <a:r>
                        <a:rPr sz="1400" b="0" i="0">
                          <a:solidFill>
                            <a:srgbClr val="1A1440"/>
                          </a:solidFill>
                          <a:latin typeface="Calibri"/>
                        </a:rPr>
                        <a:t>"Book 20,275 packer shifts for 12 October to 30 November, peaking at 3,719 in the week of 19 October"</a:t>
                      </a:r>
                    </a:p>
                  </a:txBody>
                  <a:tcPr marL="101600" marR="101600" marT="38100" marB="38100" anchor="ctr">
                    <a:solidFill>
                      <a:srgbClr val="FFFFFF"/>
                    </a:solidFill>
                  </a:tcPr>
                </a:tc>
              </a:tr>
              <a:tr h="611632">
                <a:tc>
                  <a:txBody>
                    <a:bodyPr/>
                    <a:lstStyle/>
                    <a:p>
                      <a:r>
                        <a:rPr sz="1400" b="0" i="0">
                          <a:solidFill>
                            <a:srgbClr val="1A1440"/>
                          </a:solidFill>
                          <a:latin typeface="Calibri"/>
                        </a:rPr>
                        <a:t>"The vendor projects 22 percent growth"</a:t>
                      </a:r>
                    </a:p>
                  </a:txBody>
                  <a:tcPr marL="101600" marR="101600" marT="38100" marB="38100" anchor="ctr">
                    <a:solidFill>
                      <a:srgbClr val="F4F2FA"/>
                    </a:solidFill>
                  </a:tcPr>
                </a:tc>
                <a:tc>
                  <a:txBody>
                    <a:bodyPr/>
                    <a:lstStyle/>
                    <a:p>
                      <a:r>
                        <a:rPr sz="1400" b="0" i="0">
                          <a:solidFill>
                            <a:srgbClr val="1A1440"/>
                          </a:solidFill>
                          <a:latin typeface="Calibri"/>
                        </a:rPr>
                        <a:t>"The vendor's curve lost to a copy of last year on thirteen hidden weeks, so it does not set the plan"</a:t>
                      </a:r>
                    </a:p>
                  </a:txBody>
                  <a:tcPr marL="101600" marR="101600" marT="38100" marB="38100" anchor="ctr">
                    <a:solidFill>
                      <a:srgbClr val="F4F2FA"/>
                    </a:solidFill>
                  </a:tcPr>
                </a:tc>
              </a:tr>
              <a:tr h="611632">
                <a:tc>
                  <a:txBody>
                    <a:bodyPr/>
                    <a:lstStyle/>
                    <a:p>
                      <a:r>
                        <a:rPr sz="1400" b="0" i="0">
                          <a:solidFill>
                            <a:srgbClr val="1A1440"/>
                          </a:solidFill>
                          <a:latin typeface="Calibri"/>
                        </a:rPr>
                        <a:t>"Finance suggests plus 4 percent"</a:t>
                      </a:r>
                    </a:p>
                  </a:txBody>
                  <a:tcPr marL="101600" marR="101600" marT="38100" marB="38100" anchor="ctr">
                    <a:solidFill>
                      <a:srgbClr val="FFFFFF"/>
                    </a:solidFill>
                  </a:tcPr>
                </a:tc>
                <a:tc>
                  <a:txBody>
                    <a:bodyPr/>
                    <a:lstStyle/>
                    <a:p>
                      <a:r>
                        <a:rPr sz="1400" b="0" i="0">
                          <a:solidFill>
                            <a:srgbClr val="1A1440"/>
                          </a:solidFill>
                          <a:latin typeface="Calibri"/>
                        </a:rPr>
                        <a:t>"Finance's 4 percent is the right growth on the wrong weeks: it books the peak on 5 October"</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 and the vendor's sponsor are each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each objection, and what answers the rest?</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"Last year plus 4 is what the budget holds"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the two years grew 4.0 percent. Not true for the weeks: copied by calendar it books the peak on 5 October and sits 308,048 shipments short.</a:t>
            </a:r>
          </a:p>
        </p:txBody>
      </p:sp>
      <p:sp>
        <p:nvSpPr>
          <p:cNvPr id="15" name="Rounded Rectangle 14"/>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VENDOR'S SPONSOR</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"The model fits every week of history"</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within 1.4 percent. That is the problem: on thirteen weeks it never saw it missed by 16,400 a week, 67 percent worse than the copy of last year.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of four forecasts book the wrong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each forecast book the most packers for?</a:t>
            </a:r>
          </a:p>
        </p:txBody>
      </p:sp>
      <p:pic>
        <p:nvPicPr>
          <p:cNvPr id="9" name="mermaid diagram" descr="C2_W04_D05_window_2026_STUDENT.png"/>
          <p:cNvPicPr>
            <a:picLocks noChangeAspect="1"/>
          </p:cNvPicPr>
          <p:nvPr/>
        </p:nvPicPr>
        <p:blipFill>
          <a:blip r:embed="rId4"/>
          <a:stretch>
            <a:fillRect/>
          </a:stretch>
        </p:blipFill>
        <p:spPr>
          <a:xfrm>
            <a:off x="1605364" y="1664208"/>
            <a:ext cx="8980966"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book their biggest week on 5 October; festival-aligned books it on 19 October, two weeks before Diwali's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do you evaluate a forecast?"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weak answer from a hire-grade one?</a:t>
            </a:r>
          </a:p>
        </p:txBody>
      </p:sp>
      <p:graphicFrame>
        <p:nvGraphicFramePr>
          <p:cNvPr id="9" name="Table 8"/>
          <p:cNvGraphicFramePr>
            <a:graphicFrameLocks noGrp="1"/>
          </p:cNvGraphicFramePr>
          <p:nvPr/>
        </p:nvGraphicFramePr>
        <p:xfrm>
          <a:off x="530352" y="1956816"/>
          <a:ext cx="11130991" cy="2460752"/>
        </p:xfrm>
        <a:graphic>
          <a:graphicData uri="http://schemas.openxmlformats.org/drawingml/2006/table">
            <a:tbl>
              <a:tblPr firstRow="0" bandRow="0">
                <a:tableStyleId>{2D5ABB26-0587-4C30-8999-92F81FD0307C}</a:tableStyleId>
              </a:tblPr>
              <a:tblGrid>
                <a:gridCol w="5467088"/>
                <a:gridCol w="5663903"/>
              </a:tblGrid>
              <a:tr h="369824">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"We used a good model and the fit was within 2 percent."</a:t>
                      </a:r>
                    </a:p>
                  </a:txBody>
                  <a:tcPr marL="101600" marR="101600" marT="38100" marB="38100" anchor="ctr">
                    <a:solidFill>
                      <a:srgbClr val="FFFFFF"/>
                    </a:solidFill>
                  </a:tcPr>
                </a:tc>
                <a:tc>
                  <a:txBody>
                    <a:bodyPr/>
                    <a:lstStyle/>
                    <a:p>
                      <a:r>
                        <a:rPr sz="1400" b="0" i="0">
                          <a:solidFill>
                            <a:srgbClr val="1A1440"/>
                          </a:solidFill>
                          <a:latin typeface="Calibri"/>
                        </a:rPr>
                        <a:t>"I hide the latest weeks, at least as many as the plan covers, and forecast them from one week."</a:t>
                      </a:r>
                    </a:p>
                  </a:txBody>
                  <a:tcPr marL="101600" marR="101600" marT="38100" marB="38100" anchor="ctr">
                    <a:solidFill>
                      <a:srgbClr val="FFFFFF"/>
                    </a:solidFill>
                  </a:tcPr>
                </a:tc>
              </a:tr>
              <a:tr h="369824">
                <a:tc>
                  <a:txBody>
                    <a:bodyPr/>
                    <a:lstStyle/>
                    <a:p>
                      <a:r>
                        <a:rPr sz="1400" b="0" i="0">
                          <a:solidFill>
                            <a:srgbClr val="1A1440"/>
                          </a:solidFill>
                          <a:latin typeface="Calibri"/>
                        </a:rPr>
                        <a:t>Judges by the fit to history</a:t>
                      </a:r>
                    </a:p>
                  </a:txBody>
                  <a:tcPr marL="101600" marR="101600" marT="38100" marB="38100" anchor="ctr">
                    <a:solidFill>
                      <a:srgbClr val="F4F2FA"/>
                    </a:solidFill>
                  </a:tcPr>
                </a:tc>
                <a:tc>
                  <a:txBody>
                    <a:bodyPr/>
                    <a:lstStyle/>
                    <a:p>
                      <a:r>
                        <a:rPr sz="1400" b="0" i="0">
                          <a:solidFill>
                            <a:srgbClr val="1A1440"/>
                          </a:solidFill>
                          <a:latin typeface="Calibri"/>
                        </a:rPr>
                        <a:t>Scores only weeks the model never saw</a:t>
                      </a:r>
                    </a:p>
                  </a:txBody>
                  <a:tcPr marL="101600" marR="101600" marT="38100" marB="38100" anchor="ctr">
                    <a:solidFill>
                      <a:srgbClr val="F4F2FA"/>
                    </a:solidFill>
                  </a:tcPr>
                </a:tc>
              </a:tr>
              <a:tr h="369824">
                <a:tc>
                  <a:txBody>
                    <a:bodyPr/>
                    <a:lstStyle/>
                    <a:p>
                      <a:r>
                        <a:rPr sz="1400" b="0" i="0">
                          <a:solidFill>
                            <a:srgbClr val="1A1440"/>
                          </a:solidFill>
                          <a:latin typeface="Calibri"/>
                        </a:rPr>
                        <a:t>One number for the error</a:t>
                      </a:r>
                    </a:p>
                  </a:txBody>
                  <a:tcPr marL="101600" marR="101600" marT="38100" marB="38100" anchor="ctr">
                    <a:solidFill>
                      <a:srgbClr val="FFFFFF"/>
                    </a:solidFill>
                  </a:tcPr>
                </a:tc>
                <a:tc>
                  <a:txBody>
                    <a:bodyPr/>
                    <a:lstStyle/>
                    <a:p>
                      <a:r>
                        <a:rPr sz="1400" b="0" i="0">
                          <a:solidFill>
                            <a:srgbClr val="1A1440"/>
                          </a:solidFill>
                          <a:latin typeface="Calibri"/>
                        </a:rPr>
                        <a:t>The error in shipments, then priced in each direction</a:t>
                      </a:r>
                    </a:p>
                  </a:txBody>
                  <a:tcPr marL="101600" marR="101600" marT="38100" marB="38100" anchor="ctr">
                    <a:solidFill>
                      <a:srgbClr val="FFFFFF"/>
                    </a:solidFill>
                  </a:tcPr>
                </a:tc>
              </a:tr>
              <a:tr h="369824">
                <a:tc>
                  <a:txBody>
                    <a:bodyPr/>
                    <a:lstStyle/>
                    <a:p>
                      <a:r>
                        <a:rPr sz="1400" b="0" i="0">
                          <a:solidFill>
                            <a:srgbClr val="1A1440"/>
                          </a:solidFill>
                          <a:latin typeface="Calibri"/>
                        </a:rPr>
                        <a:t>Picks the model with the best story</a:t>
                      </a:r>
                    </a:p>
                  </a:txBody>
                  <a:tcPr marL="101600" marR="101600" marT="38100" marB="38100" anchor="ctr">
                    <a:solidFill>
                      <a:srgbClr val="F4F2FA"/>
                    </a:solidFill>
                  </a:tcPr>
                </a:tc>
                <a:tc>
                  <a:txBody>
                    <a:bodyPr/>
                    <a:lstStyle/>
                    <a:p>
                      <a:r>
                        <a:rPr sz="1400" b="0" i="0">
                          <a:solidFill>
                            <a:srgbClr val="1A1440"/>
                          </a:solidFill>
                          <a:latin typeface="Calibri"/>
                        </a:rPr>
                        <a:t>Sends nothing that loses to a copy of last year</a:t>
                      </a:r>
                    </a:p>
                  </a:txBody>
                  <a:tcPr marL="101600" marR="101600" marT="38100" marB="38100" anchor="ctr">
                    <a:solidFill>
                      <a:srgbClr val="F4F2FA"/>
                    </a:solidFill>
                  </a:tcPr>
                </a:tc>
              </a:tr>
              <a:tr h="369824">
                <a:tc>
                  <a:txBody>
                    <a:bodyPr/>
                    <a:lstStyle/>
                    <a:p>
                      <a:r>
                        <a:rPr sz="1400" b="0" i="0">
                          <a:solidFill>
                            <a:srgbClr val="1A1440"/>
                          </a:solidFill>
                          <a:latin typeface="Calibri"/>
                        </a:rPr>
                        <a:t>Takes the calendar for granted</a:t>
                      </a:r>
                    </a:p>
                  </a:txBody>
                  <a:tcPr marL="101600" marR="101600" marT="38100" marB="38100" anchor="ctr">
                    <a:solidFill>
                      <a:srgbClr val="FFFFFF"/>
                    </a:solidFill>
                  </a:tcPr>
                </a:tc>
                <a:tc>
                  <a:txBody>
                    <a:bodyPr/>
                    <a:lstStyle/>
                    <a:p>
                      <a:r>
                        <a:rPr sz="1400" b="0" i="0">
                          <a:solidFill>
                            <a:srgbClr val="1A1440"/>
                          </a:solidFill>
                          <a:latin typeface="Calibri"/>
                        </a:rPr>
                        <a:t>Checks where the festival falls this year</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that change the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strong candidate say?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MAE or MAPE, and when?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Shipments when the cost is per shipment; percent only to compare series of different sizes.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465836"/>
          </a:xfrm>
          <a:prstGeom prst="rect">
            <a:avLst/>
          </a:prstGeom>
          <a:noFill/>
        </p:spPr>
        <p:txBody>
          <a:bodyPr wrap="square" anchor="t" lIns="0" rIns="0" tIns="0" bIns="0">
            <a:spAutoFit/>
          </a:bodyPr>
          <a:lstStyle/>
          <a:p>
            <a:pPr algn="l"/>
            <a:r>
              <a:rPr sz="1300" b="1" i="0">
                <a:solidFill>
                  <a:srgbClr val="1A0F5C"/>
                </a:solidFill>
                <a:latin typeface="Calibri"/>
              </a:rPr>
              <a:t>The festival moves three weeks: what breaks?</a:t>
            </a:r>
          </a:p>
        </p:txBody>
      </p:sp>
      <p:sp>
        <p:nvSpPr>
          <p:cNvPr id="19" name="TextBox 18"/>
          <p:cNvSpPr txBox="1"/>
          <p:nvPr/>
        </p:nvSpPr>
        <p:spPr>
          <a:xfrm>
            <a:off x="4466234" y="3492500"/>
            <a:ext cx="3259226" cy="366776"/>
          </a:xfrm>
          <a:prstGeom prst="rect">
            <a:avLst/>
          </a:prstGeom>
          <a:noFill/>
        </p:spPr>
        <p:txBody>
          <a:bodyPr wrap="square" anchor="t" lIns="0" rIns="0" tIns="0" bIns="0">
            <a:spAutoFit/>
          </a:bodyPr>
          <a:lstStyle/>
          <a:p>
            <a:pPr algn="l"/>
            <a:r>
              <a:rPr sz="1000" b="0" i="0">
                <a:solidFill>
                  <a:srgbClr val="6B6690"/>
                </a:solidFill>
                <a:latin typeface="Calibri"/>
              </a:rPr>
              <a:t>Every calendar copy, the house bot and finance's rule; the festival-aligned copy moves with it.</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did a forecast cost Zillow?</a:t>
            </a:r>
          </a:p>
        </p:txBody>
      </p:sp>
      <p:sp>
        <p:nvSpPr>
          <p:cNvPr id="24" name="TextBox 23"/>
          <p:cNvSpPr txBox="1"/>
          <p:nvPr/>
        </p:nvSpPr>
        <p:spPr>
          <a:xfrm>
            <a:off x="8237524" y="3277870"/>
            <a:ext cx="3259226" cy="531876"/>
          </a:xfrm>
          <a:prstGeom prst="rect">
            <a:avLst/>
          </a:prstGeom>
          <a:noFill/>
        </p:spPr>
        <p:txBody>
          <a:bodyPr wrap="square" anchor="t" lIns="0" rIns="0" tIns="0" bIns="0">
            <a:spAutoFit/>
          </a:bodyPr>
          <a:lstStyle/>
          <a:p>
            <a:pPr algn="l"/>
            <a:r>
              <a:rPr sz="1000" b="0" i="0">
                <a:solidFill>
                  <a:srgbClr val="CFC9EE"/>
                </a:solidFill>
                <a:latin typeface="Calibri"/>
              </a:rPr>
              <a:t>A guardrail of plus or minus 200 basis points swung about 1,200; a write-down of about USD 304 million (F3).</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 variant: inference capacity for a launch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the same method size servers for an AI product launch?</a:t>
            </a:r>
          </a:p>
        </p:txBody>
      </p:sp>
      <p:pic>
        <p:nvPicPr>
          <p:cNvPr id="9" name="mermaid diagram" descr="055ea139bd333f68.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launch is the festival: line it up by days from the launch, never by calendar date. The plan sits above the forecast because being short means timeouts. This variant is written for the programme and quotes no company's figures.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Two-wheelers a year: about 2.16 crore, checked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size a number from nothing, and check it against something known?</a:t>
            </a:r>
          </a:p>
        </p:txBody>
      </p:sp>
      <p:pic>
        <p:nvPicPr>
          <p:cNvPr id="9" name="mermaid diagram" descr="dc4977127c51dc04.png"/>
          <p:cNvPicPr>
            <a:picLocks noChangeAspect="1"/>
          </p:cNvPicPr>
          <p:nvPr/>
        </p:nvPicPr>
        <p:blipFill>
          <a:blip r:embed="rId5"/>
          <a:stretch>
            <a:fillRect/>
          </a:stretch>
        </p:blipFill>
        <p:spPr>
          <a:xfrm>
            <a:off x="530352" y="1956816"/>
            <a:ext cx="11130991" cy="1962193"/>
          </a:xfrm>
          <a:prstGeom prst="rect">
            <a:avLst/>
          </a:prstGeom>
        </p:spPr>
      </p:pic>
      <p:sp>
        <p:nvSpPr>
          <p:cNvPr id="10" name="Rounded Rectangle 9"/>
          <p:cNvSpPr/>
          <p:nvPr/>
        </p:nvSpPr>
        <p:spPr>
          <a:xfrm>
            <a:off x="530352" y="4065313"/>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93329"/>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4185"/>
            <a:ext cx="10564063" cy="891540"/>
          </a:xfrm>
          <a:prstGeom prst="rect">
            <a:avLst/>
          </a:prstGeom>
          <a:noFill/>
        </p:spPr>
        <p:txBody>
          <a:bodyPr wrap="square" anchor="ctr" lIns="0" rIns="0" tIns="0" bIns="0">
            <a:spAutoFit/>
          </a:bodyPr>
          <a:lstStyle/>
          <a:p>
            <a:r>
              <a:rPr sz="1500" b="1">
                <a:solidFill>
                  <a:srgbClr val="5B3FD6"/>
                </a:solidFill>
                <a:latin typeface="Calibri"/>
              </a:rPr>
              <a:t>The catch. </a:t>
            </a:r>
            <a:r>
              <a:rPr sz="1500" b="0" i="0">
                <a:solidFill>
                  <a:srgbClr val="1A1440"/>
                </a:solidFill>
                <a:latin typeface="Calibri"/>
              </a:rPr>
              <a:t>October 2025's retail alone was 31,49,846 two-wheelers (FADA, F5); times twelve that is about 3.78 crore, 74 percent too high: never annualise a festive month. SIAM's figure is from its FY 2025-26 release (T3, checked 12 October 2026).</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the baseline is the bar to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W4-4 (tentative) pick up from here?</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baseline is hard to beat, and you now know what any model must beat and on which weeks. The next 120 minutes show how a series remembers itself, autocorrelation, and what a smoothing or ARIMA model would have to do to earn its place above the festival-aligned baseline on the thirteen held-out weeks.</a:t>
            </a:r>
          </a:p>
        </p:txBody>
      </p:sp>
      <p:sp>
        <p:nvSpPr>
          <p:cNvPr id="12" name="TextBox 11"/>
          <p:cNvSpPr txBox="1"/>
          <p:nvPr/>
        </p:nvSpPr>
        <p:spPr>
          <a:xfrm>
            <a:off x="530352" y="3462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faculty session is tentative until IIT Gandhinagar confirms it; if it does not run today, the fallback hour runs in its place.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in twenty seconds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calls can the room make fast?</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tests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Which week a copy of last year uses for Diwali 2026's week</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Shipments or percent for the error, and when</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A curve that fits every past week within 2 percent</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"good enough" is a claim about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Which weeks to hide, and how many</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Thursday's return: a flat blend over falling cohorts</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The share of weeks a plan should cover</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Plus 4 against which window</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 close on, and what does Saturday test?</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on hidden weeks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In shipments, then rupees, against a copy of last year, before any model earns the plan.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CALENDAR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calendar copy moved 2025's peak a week late and moves 2026's two weeks early.</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Plan at the 0.82 share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Being short costs 4.6 times being long, so the plan sits 2.6 percent above the forecast.</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Saturday</a:t>
            </a:r>
            <a:r>
              <a:rPr sz="1600" b="0" i="0">
                <a:solidFill>
                  <a:srgbClr val="1A1440"/>
                </a:solidFill>
                <a:latin typeface="Calibri"/>
              </a:rPr>
              <a:t> runs the recap paper and moves each day's method to another company: Friday's goes to Amazon India's festive staffing, then to Kalpa's four units. Tonight: the take-home and Saturday's preview.</a:t>
            </a:r>
          </a:p>
        </p:txBody>
      </p:sp>
      <p:sp>
        <p:nvSpPr>
          <p:cNvPr id="28" name="TextBox 2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