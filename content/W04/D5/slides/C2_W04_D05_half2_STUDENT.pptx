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as the room comes back. The first hour is the trainer's: the staffing</a:t>
            </a:r>
          </a:p>
          <a:p>
            <a:r>
              <a:t>note, the interview room, the Kahoot and Saturday's preview.</a:t>
            </a:r>
          </a:p>
          <a:p>
            <a:r>
              <a:t>Then the IITGN faculty session W4-4 (tentative) runs, or the fallback hour.</a:t>
            </a:r>
          </a:p>
          <a:p>
            <a:r>
              <a:t>Read the three numbers; every group's note starts from them. Transition: the morning on one board.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question at the top with its anchor, then region one. The board grows a</a:t>
            </a:r>
          </a:p>
          <a:p>
            <a:r>
              <a:t>region a slide and ends with every pitfall the morning met. Explorer: scene F1.</a:t>
            </a:r>
          </a:p>
          <a:p>
            <a:r>
              <a:t>Transition: region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Region two holds the vendor's two mistakes: a close fit, and the 2025 spike read</a:t>
            </a:r>
          </a:p>
          <a:p>
            <a:r>
              <a:t>as growth, which is why its curve climbs with the weeks ahead. Explorer: scene F2. Transition:</a:t>
            </a:r>
          </a:p>
          <a:p>
            <a:r>
              <a:t>region three.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finished board is the staffing note's skeleton: one line per region, then the</a:t>
            </a:r>
          </a:p>
          <a:p>
            <a:r>
              <a:t>shifts. Explorer: scenes F3 and F4. Transition: what the note must carry.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unguided, in groups of about four. TAs circulate with the scorer's card from Tuesday:</a:t>
            </a:r>
          </a:p>
          <a:p>
            <a:r>
              <a:t>claim as title, one piece of evidence with its denominator, the caveat in sight, the action with its</a:t>
            </a:r>
          </a:p>
          <a:p>
            <a:r>
              <a:t>cost. A group that splits the difference between 4 and 22 is asked which rule either one beat on</a:t>
            </a:r>
          </a:p>
          <a:p>
            <a:r>
              <a:t>the hidden weeks. Transition: what a strong first line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rule: the title is the claim. Read each pair aloud and ask which line a</a:t>
            </a:r>
          </a:p>
          <a:p>
            <a:r>
              <a:t>regional head could forward unchanged. Transition: the two people who will object.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Concede the true half first, then answer from the evidence, then say what would</a:t>
            </a:r>
          </a:p>
          <a:p>
            <a:r>
              <a:t>change your mind: a vendor forecast scored on 2025's festival from data to September 2025.</a:t>
            </a:r>
          </a:p>
          <a:p>
            <a:r>
              <a:t>Transition: the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picture every note should be able to describe in one sentence. Transition:</a:t>
            </a:r>
          </a:p>
          <a:p>
            <a:r>
              <a:t>the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full transcript, with the clarifying questions and the scorecard, is in</a:t>
            </a:r>
          </a:p>
          <a:p>
            <a:r>
              <a:t>`extras/C2_W04_D05_interview_transcripts_STUDENT.md`; pairs read it and score the hire-grade answer</a:t>
            </a:r>
          </a:p>
          <a:p>
            <a:r>
              <a:t>on the card.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follow-up changes the question so only the reasoning transfers. Zillow's</a:t>
            </a:r>
          </a:p>
          <a:p>
            <a:r>
              <a:t>figures are from its Q3 2021 shareholder letter, checked 12 October 2026: price forecasts three to</a:t>
            </a:r>
          </a:p>
          <a:p>
            <a:r>
              <a:t>six months ahead, a public guardrail of plus or minus 200 basis points (a basis point is a</a:t>
            </a:r>
          </a:p>
          <a:p>
            <a:r>
              <a:t>hundredth of a percent) of breakeven unit economics, a swing of about 1,200 basis points to an</a:t>
            </a:r>
          </a:p>
          <a:p>
            <a:r>
              <a:t>expected minus 500 to minus 700, more homes bought than planned, renovation capacity short, an</a:t>
            </a:r>
          </a:p>
          <a:p>
            <a:r>
              <a:t>inventory write-down of about USD 304 million and the business wound down. The guardrail sat on the</a:t>
            </a:r>
          </a:p>
          <a:p>
            <a:r>
              <a:t>margin, which suggests the forecast's error was wider than the band; and a forecast used to bid wins</a:t>
            </a:r>
          </a:p>
          <a:p>
            <a:r>
              <a:t>where it guesses high, so the homes bought carried its errors one way. Two more follow-ups sit in the transcripts:</a:t>
            </a:r>
          </a:p>
          <a:p>
            <a:r>
              <a:t>the cushion read from the scored weeks, and the overtime that may cap the peak. Transition: the same</a:t>
            </a:r>
          </a:p>
          <a:p>
            <a:r>
              <a:t>idea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room which cost is the Rs 25 and which the Rs 5.42 here: the timeouts a</a:t>
            </a:r>
          </a:p>
          <a:p>
            <a:r>
              <a:t>GPU would prevent, and its rent for the whole booking; both are set per machine, as the packer costs</a:t>
            </a:r>
          </a:p>
          <a:p>
            <a:r>
              <a:t>are set per shipment of a booked shift. Ask what the forecast can be tested on if the feature has never launched: nothing,</a:t>
            </a:r>
          </a:p>
          <a:p>
            <a:r>
              <a:t>so say it is untested and keep capacity that can stretch. The worked sizing (2 lakh users, 1</a:t>
            </a:r>
          </a:p>
          <a:p>
            <a:r>
              <a:t>percent in the peak minute, 1,000 prompt and 500 answer tokens, all invented, about 330 requests open</a:t>
            </a:r>
          </a:p>
          <a:p>
            <a:r>
              <a:t>at once) is in the transcripts. Transition: the guesstimate.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if time allows, in pairs against a three-minute clock. The scorer checks the</a:t>
            </a:r>
          </a:p>
          <a:p>
            <a:r>
              <a:t>structure and the sanity check, never the final number. SIAM's release:</a:t>
            </a:r>
          </a:p>
          <a:p>
            <a:r>
              <a:t>https://www.siam.in/news-&amp;-updates/press-releases/x/605 (checked 12 October 2026). Transition: the</a:t>
            </a:r>
          </a:p>
          <a:p>
            <a:r>
              <a:t>handoff.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line as written, then point at the four words: the faculty</a:t>
            </a:r>
          </a:p>
          <a:p>
            <a:r>
              <a:t>session defines them properly, and this table only says what each one is for.</a:t>
            </a:r>
          </a:p>
          <a:p>
            <a:r>
              <a:t>Park any "is the vendor's model an ARIMA" question for the faculty session (tentative).</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Kahoot is ungraded. The pack is `kahoot/C2_W04_D05_quiz_STUDENT.md`. Spend two</a:t>
            </a:r>
          </a:p>
          <a:p>
            <a:r>
              <a:t>minutes on item 6 if the room splits: the blend is a size-weighted average of cohort rates.</a:t>
            </a:r>
          </a:p>
          <a:p>
            <a:r>
              <a:t>Transition: Saturday.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cards are the cheat sheet's crux lines, word for word. Transition: the</a:t>
            </a:r>
          </a:p>
          <a:p>
            <a:r>
              <a:t>faculty session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left a plan, a bar and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three chapters settle before lunch?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20,275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PACKER SHIFTS OVER EIGHT WEEKS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raised 2.6 percent, 3,719 in the week of 19 October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A WEEK, THE TYPICAL MISS</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the forecast's average miss on thirteen hidden weeks: about Rs 35,800 if it runs high, Rs 1.65 lakh if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 OF WEEKS TO COVER</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25 / (25 + 5.42): a late shipment costs 4.6 times a spare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board for the day, region one: the past's shape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forecast earns the plan's trust? The board fills one region per chapter.</a:t>
            </a:r>
          </a:p>
        </p:txBody>
      </p:sp>
      <p:pic>
        <p:nvPicPr>
          <p:cNvPr id="9" name="mermaid diagram" descr="237cc437ae3e0d52.png"/>
          <p:cNvPicPr>
            <a:picLocks noChangeAspect="1"/>
          </p:cNvPicPr>
          <p:nvPr/>
        </p:nvPicPr>
        <p:blipFill>
          <a:blip r:embed="rId5"/>
          <a:stretch>
            <a:fillRect/>
          </a:stretch>
        </p:blipFill>
        <p:spPr>
          <a:xfrm>
            <a:off x="2065054" y="1682496"/>
            <a:ext cx="1716920" cy="4517136"/>
          </a:xfrm>
          <a:prstGeom prst="rect">
            <a:avLst/>
          </a:prstGeom>
        </p:spPr>
      </p:pic>
      <p:sp>
        <p:nvSpPr>
          <p:cNvPr id="10" name="TextBox 9"/>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1 filled this region: both years peak two weeks before Diwali's week, so a copy counts weeks from the festival.</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S1a  ·  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Region two: the copy any forecast must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forecast beat before it books a shift?</a:t>
            </a:r>
          </a:p>
        </p:txBody>
      </p:sp>
      <p:pic>
        <p:nvPicPr>
          <p:cNvPr id="9" name="mermaid diagram" descr="9effdfacb80c6c2f.png"/>
          <p:cNvPicPr>
            <a:picLocks noChangeAspect="1"/>
          </p:cNvPicPr>
          <p:nvPr/>
        </p:nvPicPr>
        <p:blipFill>
          <a:blip r:embed="rId5"/>
          <a:stretch>
            <a:fillRect/>
          </a:stretch>
        </p:blipFill>
        <p:spPr>
          <a:xfrm>
            <a:off x="1152089" y="1682496"/>
            <a:ext cx="3542851"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2 filled this one: a forecast earns trust only on weeks it never saw, against a copy of last year.</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S1b  ·  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Region three: how wrong, and in which direction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wrong could the plan be, and which way costs more?</a:t>
            </a:r>
          </a:p>
        </p:txBody>
      </p:sp>
      <p:pic>
        <p:nvPicPr>
          <p:cNvPr id="9" name="mermaid diagram" descr="6f5eb04a19ef72fd.png"/>
          <p:cNvPicPr>
            <a:picLocks noChangeAspect="1"/>
          </p:cNvPicPr>
          <p:nvPr/>
        </p:nvPicPr>
        <p:blipFill>
          <a:blip r:embed="rId5"/>
          <a:stretch>
            <a:fillRect/>
          </a:stretch>
        </p:blipFill>
        <p:spPr>
          <a:xfrm>
            <a:off x="530352" y="1951096"/>
            <a:ext cx="4786326" cy="3979934"/>
          </a:xfrm>
          <a:prstGeom prst="rect">
            <a:avLst/>
          </a:prstGeom>
        </p:spPr>
      </p:pic>
      <p:sp>
        <p:nvSpPr>
          <p:cNvPr id="10" name="TextBox 9"/>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3 filled the last: a late shipment costs 4.6 times a spare one, so the plan sits 2.6 percent above the forecast.</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S1c  ·  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staffing note: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the regional operations head in twenty minutes?</a:t>
            </a:r>
          </a:p>
        </p:txBody>
      </p:sp>
      <p:sp>
        <p:nvSpPr>
          <p:cNvPr id="9" name="Rounded Rectangle 8"/>
          <p:cNvSpPr/>
          <p:nvPr/>
        </p:nvSpPr>
        <p:spPr>
          <a:xfrm>
            <a:off x="530352"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claim as the title</a:t>
            </a:r>
          </a:p>
        </p:txBody>
      </p:sp>
      <p:sp>
        <p:nvSpPr>
          <p:cNvPr id="14" name="TextBox 13"/>
          <p:cNvSpPr txBox="1"/>
          <p:nvPr/>
        </p:nvSpPr>
        <p:spPr>
          <a:xfrm>
            <a:off x="731519"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How many shifts, which weeks, from which forecast, in one sentence.</a:t>
            </a:r>
          </a:p>
        </p:txBody>
      </p:sp>
      <p:sp>
        <p:nvSpPr>
          <p:cNvPr id="15" name="Rounded Rectangle 14"/>
          <p:cNvSpPr/>
          <p:nvPr/>
        </p:nvSpPr>
        <p:spPr>
          <a:xfrm>
            <a:off x="2793126"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104022" y="2267712"/>
            <a:ext cx="237744" cy="237744"/>
          </a:xfrm>
          <a:prstGeom prst="rect">
            <a:avLst/>
          </a:prstGeom>
        </p:spPr>
      </p:pic>
      <p:sp>
        <p:nvSpPr>
          <p:cNvPr id="18" name="TextBox 17"/>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2994294"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festival placed</a:t>
            </a:r>
          </a:p>
        </p:txBody>
      </p:sp>
      <p:sp>
        <p:nvSpPr>
          <p:cNvPr id="20" name="TextBox 19"/>
          <p:cNvSpPr txBox="1"/>
          <p:nvPr/>
        </p:nvSpPr>
        <p:spPr>
          <a:xfrm>
            <a:off x="2994294"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Which week is the peak and why: the distance from Diwali, never the calendar.</a:t>
            </a:r>
          </a:p>
        </p:txBody>
      </p:sp>
      <p:sp>
        <p:nvSpPr>
          <p:cNvPr id="21" name="Rounded Rectangle 20"/>
          <p:cNvSpPr/>
          <p:nvPr/>
        </p:nvSpPr>
        <p:spPr>
          <a:xfrm>
            <a:off x="5055900"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5366796" y="2267712"/>
            <a:ext cx="237744" cy="237744"/>
          </a:xfrm>
          <a:prstGeom prst="rect">
            <a:avLst/>
          </a:prstGeom>
        </p:spPr>
      </p:pic>
      <p:sp>
        <p:nvSpPr>
          <p:cNvPr id="24" name="TextBox 23"/>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5257068"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error bar in rupees</a:t>
            </a:r>
          </a:p>
        </p:txBody>
      </p:sp>
      <p:sp>
        <p:nvSpPr>
          <p:cNvPr id="26" name="TextBox 25"/>
          <p:cNvSpPr txBox="1"/>
          <p:nvPr/>
        </p:nvSpPr>
        <p:spPr>
          <a:xfrm>
            <a:off x="5257068" y="3534664"/>
            <a:ext cx="1677558" cy="944626"/>
          </a:xfrm>
          <a:prstGeom prst="rect">
            <a:avLst/>
          </a:prstGeom>
          <a:noFill/>
        </p:spPr>
        <p:txBody>
          <a:bodyPr wrap="square" anchor="t" lIns="0" rIns="0" tIns="0" bIns="0">
            <a:spAutoFit/>
          </a:bodyPr>
          <a:lstStyle/>
          <a:p>
            <a:pPr algn="l"/>
            <a:r>
              <a:rPr sz="1100" b="0" i="0">
                <a:solidFill>
                  <a:srgbClr val="6B6690"/>
                </a:solidFill>
                <a:latin typeface="Calibri"/>
              </a:rPr>
              <a:t>The miss a week in shipments, its cost if high and if low, and the rule's record on 2025's festival.</a:t>
            </a:r>
          </a:p>
        </p:txBody>
      </p:sp>
      <p:sp>
        <p:nvSpPr>
          <p:cNvPr id="27" name="Rounded Rectangle 26"/>
          <p:cNvSpPr/>
          <p:nvPr/>
        </p:nvSpPr>
        <p:spPr>
          <a:xfrm>
            <a:off x="7318674"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alert_2885187cc141.png"/>
          <p:cNvPicPr>
            <a:picLocks noChangeAspect="1"/>
          </p:cNvPicPr>
          <p:nvPr/>
        </p:nvPicPr>
        <p:blipFill>
          <a:blip r:embed="rId7"/>
          <a:stretch>
            <a:fillRect/>
          </a:stretch>
        </p:blipFill>
        <p:spPr>
          <a:xfrm>
            <a:off x="7629570" y="2267712"/>
            <a:ext cx="237744" cy="237744"/>
          </a:xfrm>
          <a:prstGeom prst="rect">
            <a:avLst/>
          </a:prstGeom>
        </p:spPr>
      </p:pic>
      <p:sp>
        <p:nvSpPr>
          <p:cNvPr id="30" name="TextBox 29"/>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7519842"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What would make it wrong</a:t>
            </a:r>
          </a:p>
        </p:txBody>
      </p:sp>
      <p:sp>
        <p:nvSpPr>
          <p:cNvPr id="32" name="TextBox 31"/>
          <p:cNvSpPr txBox="1"/>
          <p:nvPr/>
        </p:nvSpPr>
        <p:spPr>
          <a:xfrm>
            <a:off x="7519842"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Three facts that would move the number, each with its check.</a:t>
            </a:r>
          </a:p>
        </p:txBody>
      </p:sp>
      <p:sp>
        <p:nvSpPr>
          <p:cNvPr id="33" name="Rounded Rectangle 32"/>
          <p:cNvSpPr/>
          <p:nvPr/>
        </p:nvSpPr>
        <p:spPr>
          <a:xfrm>
            <a:off x="9581448" y="1956816"/>
            <a:ext cx="2079894" cy="276555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cale_e4d6117bdfb8.png"/>
          <p:cNvPicPr>
            <a:picLocks noChangeAspect="1"/>
          </p:cNvPicPr>
          <p:nvPr/>
        </p:nvPicPr>
        <p:blipFill>
          <a:blip r:embed="rId8"/>
          <a:stretch>
            <a:fillRect/>
          </a:stretch>
        </p:blipFill>
        <p:spPr>
          <a:xfrm>
            <a:off x="9892344" y="2267712"/>
            <a:ext cx="237744" cy="237744"/>
          </a:xfrm>
          <a:prstGeom prst="rect">
            <a:avLst/>
          </a:prstGeom>
        </p:spPr>
      </p:pic>
      <p:sp>
        <p:nvSpPr>
          <p:cNvPr id="36" name="TextBox 35"/>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5</a:t>
            </a:r>
          </a:p>
        </p:txBody>
      </p:sp>
      <p:sp>
        <p:nvSpPr>
          <p:cNvPr id="37" name="TextBox 36"/>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two answered</a:t>
            </a:r>
          </a:p>
        </p:txBody>
      </p:sp>
      <p:sp>
        <p:nvSpPr>
          <p:cNvPr id="38" name="TextBox 37"/>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One line to finance, one to the vendor's sponsor, conceding the true part.</a:t>
            </a:r>
          </a:p>
        </p:txBody>
      </p:sp>
      <p:sp>
        <p:nvSpPr>
          <p:cNvPr id="39" name="TextBox 38"/>
          <p:cNvSpPr txBox="1"/>
          <p:nvPr/>
        </p:nvSpPr>
        <p:spPr>
          <a:xfrm>
            <a:off x="530352" y="4905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set is exercises/unguided/C2_W04_D05_staffing_note_STUDENT.md: the note's decisions as lettered items, then the note itself.</a:t>
            </a:r>
          </a:p>
        </p:txBody>
      </p:sp>
      <p:sp>
        <p:nvSpPr>
          <p:cNvPr id="40" name="TextBox 3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note's first line carries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first line lets the operations head act without reading on?</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889524"/>
                <a:gridCol w="6241466"/>
              </a:tblGrid>
              <a:tr h="369824">
                <a:tc>
                  <a:txBody>
                    <a:bodyPr/>
                    <a:lstStyle/>
                    <a:p>
                      <a:r>
                        <a:rPr sz="1450" b="1" i="0">
                          <a:solidFill>
                            <a:srgbClr val="FFFFFF"/>
                          </a:solidFill>
                          <a:latin typeface="Calibri"/>
                        </a:rPr>
                        <a:t>A first line that stalls</a:t>
                      </a:r>
                    </a:p>
                  </a:txBody>
                  <a:tcPr marL="101600" marR="101600" marT="38100" marB="38100" anchor="ctr">
                    <a:solidFill>
                      <a:srgbClr val="1A0F5C"/>
                    </a:solidFill>
                  </a:tcPr>
                </a:tc>
                <a:tc>
                  <a:txBody>
                    <a:bodyPr/>
                    <a:lstStyle/>
                    <a:p>
                      <a:r>
                        <a:rPr sz="1450" b="1" i="0">
                          <a:solidFill>
                            <a:srgbClr val="FFFFFF"/>
                          </a:solidFill>
                          <a:latin typeface="Calibri"/>
                        </a:rPr>
                        <a:t>A first line that decides</a:t>
                      </a:r>
                    </a:p>
                  </a:txBody>
                  <a:tcPr marL="101600" marR="101600" marT="38100" marB="38100" anchor="ctr">
                    <a:solidFill>
                      <a:srgbClr val="1A0F5C"/>
                    </a:solidFill>
                  </a:tcPr>
                </a:tc>
              </a:tr>
              <a:tr h="611632">
                <a:tc>
                  <a:txBody>
                    <a:bodyPr/>
                    <a:lstStyle/>
                    <a:p>
                      <a:r>
                        <a:rPr sz="1400" b="0" i="0">
                          <a:solidFill>
                            <a:srgbClr val="1A1440"/>
                          </a:solidFill>
                          <a:latin typeface="Calibri"/>
                        </a:rPr>
                        <a:t>"Forecasting analysis for the festive season"</a:t>
                      </a:r>
                    </a:p>
                  </a:txBody>
                  <a:tcPr marL="101600" marR="101600" marT="38100" marB="38100" anchor="ctr">
                    <a:solidFill>
                      <a:srgbClr val="FFFFFF"/>
                    </a:solidFill>
                  </a:tcPr>
                </a:tc>
                <a:tc>
                  <a:txBody>
                    <a:bodyPr/>
                    <a:lstStyle/>
                    <a:p>
                      <a:r>
                        <a:rPr sz="1400" b="0" i="0">
                          <a:solidFill>
                            <a:srgbClr val="1A1440"/>
                          </a:solidFill>
                          <a:latin typeface="Calibri"/>
                        </a:rPr>
                        <a:t>"Book 20,275 packer shifts for 12 October to 30 November, peaking at 3,719 in the week of 19 October"</a:t>
                      </a:r>
                    </a:p>
                  </a:txBody>
                  <a:tcPr marL="101600" marR="101600" marT="38100" marB="38100" anchor="ctr">
                    <a:solidFill>
                      <a:srgbClr val="FFFFFF"/>
                    </a:solidFill>
                  </a:tcPr>
                </a:tc>
              </a:tr>
              <a:tr h="611632">
                <a:tc>
                  <a:txBody>
                    <a:bodyPr/>
                    <a:lstStyle/>
                    <a:p>
                      <a:r>
                        <a:rPr sz="1400" b="0" i="0">
                          <a:solidFill>
                            <a:srgbClr val="1A1440"/>
                          </a:solidFill>
                          <a:latin typeface="Calibri"/>
                        </a:rPr>
                        <a:t>"The vendor projects 22 percent growth"</a:t>
                      </a:r>
                    </a:p>
                  </a:txBody>
                  <a:tcPr marL="101600" marR="101600" marT="38100" marB="38100" anchor="ctr">
                    <a:solidFill>
                      <a:srgbClr val="F4F2FA"/>
                    </a:solidFill>
                  </a:tcPr>
                </a:tc>
                <a:tc>
                  <a:txBody>
                    <a:bodyPr/>
                    <a:lstStyle/>
                    <a:p>
                      <a:r>
                        <a:rPr sz="1400" b="0" i="0">
                          <a:solidFill>
                            <a:srgbClr val="1A1440"/>
                          </a:solidFill>
                          <a:latin typeface="Calibri"/>
                        </a:rPr>
                        <a:t>"The vendor's curve lost to a copy of last year on thirteen hidden weeks, so it does not set the plan"</a:t>
                      </a:r>
                    </a:p>
                  </a:txBody>
                  <a:tcPr marL="101600" marR="101600" marT="38100" marB="38100" anchor="ctr">
                    <a:solidFill>
                      <a:srgbClr val="F4F2FA"/>
                    </a:solidFill>
                  </a:tcPr>
                </a:tc>
              </a:tr>
              <a:tr h="611632">
                <a:tc>
                  <a:txBody>
                    <a:bodyPr/>
                    <a:lstStyle/>
                    <a:p>
                      <a:r>
                        <a:rPr sz="1400" b="0" i="0">
                          <a:solidFill>
                            <a:srgbClr val="1A1440"/>
                          </a:solidFill>
                          <a:latin typeface="Calibri"/>
                        </a:rPr>
                        <a:t>"Finance suggests plus 4 percent"</a:t>
                      </a:r>
                    </a:p>
                  </a:txBody>
                  <a:tcPr marL="101600" marR="101600" marT="38100" marB="38100" anchor="ctr">
                    <a:solidFill>
                      <a:srgbClr val="FFFFFF"/>
                    </a:solidFill>
                  </a:tcPr>
                </a:tc>
                <a:tc>
                  <a:txBody>
                    <a:bodyPr/>
                    <a:lstStyle/>
                    <a:p>
                      <a:r>
                        <a:rPr sz="1400" b="0" i="0">
                          <a:solidFill>
                            <a:srgbClr val="1A1440"/>
                          </a:solidFill>
                          <a:latin typeface="Calibri"/>
                        </a:rPr>
                        <a:t>"Finance's 4 percent is the right growth on the wrong weeks: it puts the peak on 5 October, before the plan's first week"</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 and the vendor's sponsor are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each objection, and what answers the rest?</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"Last year plus 4 is what the budget holds"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the training weeks grew 4.0 percent. Not true for the weeks: copied by calendar it puts the peak on 5 October, before the plan's first week, and sits 308,048 shipments short.</a:t>
            </a:r>
          </a:p>
        </p:txBody>
      </p:sp>
      <p:sp>
        <p:nvSpPr>
          <p:cNvPr id="15" name="Rounded Rectangle 14"/>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VENDOR'S SPONSOR</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"The model fits every week of history"</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within 1.4 percent. That is the problem: on thirteen weeks it never saw it missed by 16,400 a week, 67 percent worse than the copy of last year.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of four forecasts book the wrong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each forecast book the most packers for?</a:t>
            </a:r>
          </a:p>
        </p:txBody>
      </p:sp>
      <p:pic>
        <p:nvPicPr>
          <p:cNvPr id="9" name="mermaid diagram" descr="C2_W04_D05_window_2026_STUDENT.png"/>
          <p:cNvPicPr>
            <a:picLocks noChangeAspect="1"/>
          </p:cNvPicPr>
          <p:nvPr/>
        </p:nvPicPr>
        <p:blipFill>
          <a:blip r:embed="rId4"/>
          <a:stretch>
            <a:fillRect/>
          </a:stretch>
        </p:blipFill>
        <p:spPr>
          <a:xfrm>
            <a:off x="1605364" y="1664208"/>
            <a:ext cx="898096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put their biggest week on 5 October, a week before the plan's first week; festival-aligned puts it on 19 October, two weeks before Diwali's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do you evaluate a forecast?"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weak answer from a hire-grade one?</a:t>
            </a:r>
          </a:p>
        </p:txBody>
      </p:sp>
      <p:graphicFrame>
        <p:nvGraphicFramePr>
          <p:cNvPr id="9" name="Table 8"/>
          <p:cNvGraphicFramePr>
            <a:graphicFrameLocks noGrp="1"/>
          </p:cNvGraphicFramePr>
          <p:nvPr/>
        </p:nvGraphicFramePr>
        <p:xfrm>
          <a:off x="530352" y="1956816"/>
          <a:ext cx="11130991" cy="2944368"/>
        </p:xfrm>
        <a:graphic>
          <a:graphicData uri="http://schemas.openxmlformats.org/drawingml/2006/table">
            <a:tbl>
              <a:tblPr firstRow="0" bandRow="0">
                <a:tableStyleId>{2D5ABB26-0587-4C30-8999-92F81FD0307C}</a:tableStyleId>
              </a:tblPr>
              <a:tblGrid>
                <a:gridCol w="5467088"/>
                <a:gridCol w="566390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853440">
                <a:tc>
                  <a:txBody>
                    <a:bodyPr/>
                    <a:lstStyle/>
                    <a:p>
                      <a:r>
                        <a:rPr sz="1400" b="0" i="0">
                          <a:solidFill>
                            <a:srgbClr val="1A1440"/>
                          </a:solidFill>
                          <a:latin typeface="Calibri"/>
                        </a:rPr>
                        <a:t>"We used a good model and the fit was within 2 percent."</a:t>
                      </a:r>
                    </a:p>
                  </a:txBody>
                  <a:tcPr marL="101600" marR="101600" marT="38100" marB="38100" anchor="ctr">
                    <a:solidFill>
                      <a:srgbClr val="FFFFFF"/>
                    </a:solidFill>
                  </a:tcPr>
                </a:tc>
                <a:tc>
                  <a:txBody>
                    <a:bodyPr/>
                    <a:lstStyle/>
                    <a:p>
                      <a:r>
                        <a:rPr sz="1400" b="0" i="0">
                          <a:solidFill>
                            <a:srgbClr val="1A1440"/>
                          </a:solidFill>
                          <a:latin typeface="Calibri"/>
                        </a:rPr>
                        <a:t>"I hold out the latest weeks as a test set, at least as many as the forecast must reach ahead, and forecast them from one origin."</a:t>
                      </a:r>
                    </a:p>
                  </a:txBody>
                  <a:tcPr marL="101600" marR="101600" marT="38100" marB="38100" anchor="ctr">
                    <a:solidFill>
                      <a:srgbClr val="FFFFFF"/>
                    </a:solidFill>
                  </a:tcPr>
                </a:tc>
              </a:tr>
              <a:tr h="369824">
                <a:tc>
                  <a:txBody>
                    <a:bodyPr/>
                    <a:lstStyle/>
                    <a:p>
                      <a:r>
                        <a:rPr sz="1400" b="0" i="0">
                          <a:solidFill>
                            <a:srgbClr val="1A1440"/>
                          </a:solidFill>
                          <a:latin typeface="Calibri"/>
                        </a:rPr>
                        <a:t>Judges by the fit to history, or a random split</a:t>
                      </a:r>
                    </a:p>
                  </a:txBody>
                  <a:tcPr marL="101600" marR="101600" marT="38100" marB="38100" anchor="ctr">
                    <a:solidFill>
                      <a:srgbClr val="F4F2FA"/>
                    </a:solidFill>
                  </a:tcPr>
                </a:tc>
                <a:tc>
                  <a:txBody>
                    <a:bodyPr/>
                    <a:lstStyle/>
                    <a:p>
                      <a:r>
                        <a:rPr sz="1400" b="0" i="0">
                          <a:solidFill>
                            <a:srgbClr val="1A1440"/>
                          </a:solidFill>
                          <a:latin typeface="Calibri"/>
                        </a:rPr>
                        <a:t>Scores only weeks after the origin, then rolls the origin</a:t>
                      </a:r>
                    </a:p>
                  </a:txBody>
                  <a:tcPr marL="101600" marR="101600" marT="38100" marB="38100" anchor="ctr">
                    <a:solidFill>
                      <a:srgbClr val="F4F2FA"/>
                    </a:solidFill>
                  </a:tcPr>
                </a:tc>
              </a:tr>
              <a:tr h="611632">
                <a:tc>
                  <a:txBody>
                    <a:bodyPr/>
                    <a:lstStyle/>
                    <a:p>
                      <a:r>
                        <a:rPr sz="1400" b="0" i="0">
                          <a:solidFill>
                            <a:srgbClr val="1A1440"/>
                          </a:solidFill>
                          <a:latin typeface="Calibri"/>
                        </a:rPr>
                        <a:t>One number for the error</a:t>
                      </a:r>
                    </a:p>
                  </a:txBody>
                  <a:tcPr marL="101600" marR="101600" marT="38100" marB="38100" anchor="ctr">
                    <a:solidFill>
                      <a:srgbClr val="FFFFFF"/>
                    </a:solidFill>
                  </a:tcPr>
                </a:tc>
                <a:tc>
                  <a:txBody>
                    <a:bodyPr/>
                    <a:lstStyle/>
                    <a:p>
                      <a:r>
                        <a:rPr sz="1400" b="0" i="0">
                          <a:solidFill>
                            <a:srgbClr val="1A1440"/>
                          </a:solidFill>
                          <a:latin typeface="Calibri"/>
                        </a:rPr>
                        <a:t>The error in shipments, then priced each way, each forecast at its own 0.82 point</a:t>
                      </a:r>
                    </a:p>
                  </a:txBody>
                  <a:tcPr marL="101600" marR="101600" marT="38100" marB="38100" anchor="ctr">
                    <a:solidFill>
                      <a:srgbClr val="FFFFFF"/>
                    </a:solidFill>
                  </a:tcPr>
                </a:tc>
              </a:tr>
              <a:tr h="369824">
                <a:tc>
                  <a:txBody>
                    <a:bodyPr/>
                    <a:lstStyle/>
                    <a:p>
                      <a:r>
                        <a:rPr sz="1400" b="0" i="0">
                          <a:solidFill>
                            <a:srgbClr val="1A1440"/>
                          </a:solidFill>
                          <a:latin typeface="Calibri"/>
                        </a:rPr>
                        <a:t>Picks the model with the best story</a:t>
                      </a:r>
                    </a:p>
                  </a:txBody>
                  <a:tcPr marL="101600" marR="101600" marT="38100" marB="38100" anchor="ctr">
                    <a:solidFill>
                      <a:srgbClr val="F4F2FA"/>
                    </a:solidFill>
                  </a:tcPr>
                </a:tc>
                <a:tc>
                  <a:txBody>
                    <a:bodyPr/>
                    <a:lstStyle/>
                    <a:p>
                      <a:r>
                        <a:rPr sz="1400" b="0" i="0">
                          <a:solidFill>
                            <a:srgbClr val="1A1440"/>
                          </a:solidFill>
                          <a:latin typeface="Calibri"/>
                        </a:rPr>
                        <a:t>Sends nothing that loses to a copy of last year</a:t>
                      </a:r>
                    </a:p>
                  </a:txBody>
                  <a:tcPr marL="101600" marR="101600" marT="38100" marB="38100" anchor="ctr">
                    <a:solidFill>
                      <a:srgbClr val="F4F2FA"/>
                    </a:solidFill>
                  </a:tcPr>
                </a:tc>
              </a:tr>
              <a:tr h="369824">
                <a:tc>
                  <a:txBody>
                    <a:bodyPr/>
                    <a:lstStyle/>
                    <a:p>
                      <a:r>
                        <a:rPr sz="1400" b="0" i="0">
                          <a:solidFill>
                            <a:srgbClr val="1A1440"/>
                          </a:solidFill>
                          <a:latin typeface="Calibri"/>
                        </a:rPr>
                        <a:t>Takes the calendar for granted</a:t>
                      </a:r>
                    </a:p>
                  </a:txBody>
                  <a:tcPr marL="101600" marR="101600" marT="38100" marB="38100" anchor="ctr">
                    <a:solidFill>
                      <a:srgbClr val="FFFFFF"/>
                    </a:solidFill>
                  </a:tcPr>
                </a:tc>
                <a:tc>
                  <a:txBody>
                    <a:bodyPr/>
                    <a:lstStyle/>
                    <a:p>
                      <a:r>
                        <a:rPr sz="1400" b="0" i="0">
                          <a:solidFill>
                            <a:srgbClr val="1A1440"/>
                          </a:solidFill>
                          <a:latin typeface="Calibri"/>
                        </a:rPr>
                        <a:t>Checks where the festival falls this year</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that change the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strong candidate say?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7678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MAE or MAPE, and when?</a:t>
            </a:r>
          </a:p>
        </p:txBody>
      </p:sp>
      <p:sp>
        <p:nvSpPr>
          <p:cNvPr id="14" name="TextBox 13"/>
          <p:cNvSpPr txBox="1"/>
          <p:nvPr/>
        </p:nvSpPr>
        <p:spPr>
          <a:xfrm>
            <a:off x="694944" y="3277870"/>
            <a:ext cx="3259226" cy="531876"/>
          </a:xfrm>
          <a:prstGeom prst="rect">
            <a:avLst/>
          </a:prstGeom>
          <a:noFill/>
        </p:spPr>
        <p:txBody>
          <a:bodyPr wrap="square" anchor="t" lIns="0" rIns="0" tIns="0" bIns="0">
            <a:spAutoFit/>
          </a:bodyPr>
          <a:lstStyle/>
          <a:p>
            <a:pPr algn="l"/>
            <a:r>
              <a:rPr sz="1000" b="0" i="0">
                <a:solidFill>
                  <a:srgbClr val="6B6690"/>
                </a:solidFill>
                <a:latin typeface="Calibri"/>
              </a:rPr>
              <a:t>Shipments when the cost is per shipment; MASE or WAPE across centres. MAPE explodes near zero, and here it ranks the rules as MAE does.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7678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465836"/>
          </a:xfrm>
          <a:prstGeom prst="rect">
            <a:avLst/>
          </a:prstGeom>
          <a:noFill/>
        </p:spPr>
        <p:txBody>
          <a:bodyPr wrap="square" anchor="t" lIns="0" rIns="0" tIns="0" bIns="0">
            <a:spAutoFit/>
          </a:bodyPr>
          <a:lstStyle/>
          <a:p>
            <a:pPr algn="l"/>
            <a:r>
              <a:rPr sz="1300" b="1" i="0">
                <a:solidFill>
                  <a:srgbClr val="1A0F5C"/>
                </a:solidFill>
                <a:latin typeface="Calibri"/>
              </a:rPr>
              <a:t>Suppose the festival moves three weeks: what breaks?</a:t>
            </a:r>
          </a:p>
        </p:txBody>
      </p:sp>
      <p:sp>
        <p:nvSpPr>
          <p:cNvPr id="19" name="TextBox 18"/>
          <p:cNvSpPr txBox="1"/>
          <p:nvPr/>
        </p:nvSpPr>
        <p:spPr>
          <a:xfrm>
            <a:off x="4466234" y="3492500"/>
            <a:ext cx="3259226" cy="531876"/>
          </a:xfrm>
          <a:prstGeom prst="rect">
            <a:avLst/>
          </a:prstGeom>
          <a:noFill/>
        </p:spPr>
        <p:txBody>
          <a:bodyPr wrap="square" anchor="t" lIns="0" rIns="0" tIns="0" bIns="0">
            <a:spAutoFit/>
          </a:bodyPr>
          <a:lstStyle/>
          <a:p>
            <a:pPr algn="l"/>
            <a:r>
              <a:rPr sz="1000" b="0" i="0">
                <a:solidFill>
                  <a:srgbClr val="6B6690"/>
                </a:solidFill>
                <a:latin typeface="Calibri"/>
              </a:rPr>
              <a:t>Every calendar copy, the seasonal naive and finance's rule; the festival-aligned copy moves with it.</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7678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did a forecast cost Zillow?</a:t>
            </a:r>
          </a:p>
        </p:txBody>
      </p:sp>
      <p:sp>
        <p:nvSpPr>
          <p:cNvPr id="24" name="TextBox 23"/>
          <p:cNvSpPr txBox="1"/>
          <p:nvPr/>
        </p:nvSpPr>
        <p:spPr>
          <a:xfrm>
            <a:off x="8237524" y="3277870"/>
            <a:ext cx="3259226" cy="1027176"/>
          </a:xfrm>
          <a:prstGeom prst="rect">
            <a:avLst/>
          </a:prstGeom>
          <a:noFill/>
        </p:spPr>
        <p:txBody>
          <a:bodyPr wrap="square" anchor="t" lIns="0" rIns="0" tIns="0" bIns="0">
            <a:spAutoFit/>
          </a:bodyPr>
          <a:lstStyle/>
          <a:p>
            <a:pPr algn="l"/>
            <a:r>
              <a:rPr sz="1000" b="0" i="0">
                <a:solidFill>
                  <a:srgbClr val="CFC9EE"/>
                </a:solidFill>
                <a:latin typeface="Calibri"/>
              </a:rPr>
              <a:t>Its margin guardrail was 2 percentage points either side of breakeven; price forecasts three to six months out missed both ways by more than Zillow had modelled, the margin swung about 12 percentage points, and Zillow wrote down about USD 304 million.</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 variant: inference capacity for a launch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the same method size servers for an AI product launch?</a:t>
            </a:r>
          </a:p>
        </p:txBody>
      </p:sp>
      <p:pic>
        <p:nvPicPr>
          <p:cNvPr id="9" name="mermaid diagram" descr="5d9713e6e3aac475.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Inference</a:t>
            </a:r>
            <a:r>
              <a:rPr sz="1600" b="0" i="0">
                <a:solidFill>
                  <a:srgbClr val="1A1440"/>
                </a:solidFill>
                <a:latin typeface="Calibri"/>
              </a:rPr>
              <a:t> is the computing a model does each time it answers a user. Size the peak from the ground up as requests open at once, with prompt and answer tokens kept apart; check it against earlier launches lined up by days from launch with the weekday kept; set capacity to the latency target with headroom. The two costs, per machine over the booking, decide how much to book ahead, and a staged rollout, on-demand capacity, rate limits and a waitlist cover the rest. Written for the programme; it quotes no company's figures.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Two-wheelers a year: about 2.2 crore, checked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size a number from nothing, and check it against something known?</a:t>
            </a:r>
          </a:p>
        </p:txBody>
      </p:sp>
      <p:pic>
        <p:nvPicPr>
          <p:cNvPr id="9" name="mermaid diagram" descr="629daa93d3849711.png"/>
          <p:cNvPicPr>
            <a:picLocks noChangeAspect="1"/>
          </p:cNvPicPr>
          <p:nvPr/>
        </p:nvPicPr>
        <p:blipFill>
          <a:blip r:embed="rId5"/>
          <a:stretch>
            <a:fillRect/>
          </a:stretch>
        </p:blipFill>
        <p:spPr>
          <a:xfrm>
            <a:off x="530352" y="1874794"/>
            <a:ext cx="11130991" cy="2378416"/>
          </a:xfrm>
          <a:prstGeom prst="rect">
            <a:avLst/>
          </a:prstGeom>
        </p:spPr>
      </p:pic>
      <p:sp>
        <p:nvSpPr>
          <p:cNvPr id="10" name="Rounded Rectangle 9"/>
          <p:cNvSpPr/>
          <p:nvPr/>
        </p:nvSpPr>
        <p:spPr>
          <a:xfrm>
            <a:off x="530352" y="439951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2753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18386"/>
            <a:ext cx="10564063" cy="1424940"/>
          </a:xfrm>
          <a:prstGeom prst="rect">
            <a:avLst/>
          </a:prstGeom>
          <a:noFill/>
        </p:spPr>
        <p:txBody>
          <a:bodyPr wrap="square" anchor="ctr" lIns="0" rIns="0" tIns="0" bIns="0">
            <a:spAutoFit/>
          </a:bodyPr>
          <a:lstStyle/>
          <a:p>
            <a:r>
              <a:rPr sz="1500" b="1">
                <a:solidFill>
                  <a:srgbClr val="5B3FD6"/>
                </a:solidFill>
                <a:latin typeface="Calibri"/>
              </a:rPr>
              <a:t>The range and the catch. </a:t>
            </a:r>
            <a:r>
              <a:rPr sz="1500" b="0" i="0">
                <a:solidFill>
                  <a:srgbClr val="1A1440"/>
                </a:solidFill>
                <a:latin typeface="Calibri"/>
              </a:rPr>
              <a:t>The replacement years alone swing the answer from about 1.7 to 2.9 crore. October 2025's retail registrations were 31.5 lakh (FADA, the Federation of Automobile Dealers Associations), after a quiet September; times twelve that is about 3.78 crore, 74 percent above SIAM's year, a month of registrations set against a year of dealer sales: never annualise a peak month (both releases checked 12 October 2026).</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the baseline is the bar to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W4-4 pick up from here? It is tentative, and the fallback hour runs if it cannot.</a:t>
            </a:r>
          </a:p>
        </p:txBody>
      </p:sp>
      <p:sp>
        <p:nvSpPr>
          <p:cNvPr id="9" name="Rounded Rectangle 8"/>
          <p:cNvSpPr/>
          <p:nvPr/>
        </p:nvSpPr>
        <p:spPr>
          <a:xfrm>
            <a:off x="530352" y="195453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254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3402"/>
            <a:ext cx="10564063" cy="784860"/>
          </a:xfrm>
          <a:prstGeom prst="rect">
            <a:avLst/>
          </a:prstGeom>
          <a:noFill/>
        </p:spPr>
        <p:txBody>
          <a:bodyPr wrap="square" anchor="ctr" lIns="0" rIns="0" tIns="0" bIns="0">
            <a:spAutoFit/>
          </a:bodyPr>
          <a:lstStyle/>
          <a:p>
            <a:r>
              <a:rPr sz="1300" b="1">
                <a:solidFill>
                  <a:srgbClr val="5B3FD6"/>
                </a:solidFill>
                <a:latin typeface="Calibri"/>
              </a:rPr>
              <a:t>The handoff line. </a:t>
            </a:r>
            <a:r>
              <a:rPr sz="13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graphicFrame>
        <p:nvGraphicFramePr>
          <p:cNvPr id="12" name="Table 11"/>
          <p:cNvGraphicFramePr>
            <a:graphicFrameLocks noGrp="1"/>
          </p:cNvGraphicFramePr>
          <p:nvPr/>
        </p:nvGraphicFramePr>
        <p:xfrm>
          <a:off x="530352" y="3086862"/>
          <a:ext cx="11130991" cy="2840736"/>
        </p:xfrm>
        <a:graphic>
          <a:graphicData uri="http://schemas.openxmlformats.org/drawingml/2006/table">
            <a:tbl>
              <a:tblPr firstRow="0" bandRow="0">
                <a:tableStyleId>{2D5ABB26-0587-4C30-8999-92F81FD0307C}</a:tableStyleId>
              </a:tblPr>
              <a:tblGrid>
                <a:gridCol w="3114997"/>
                <a:gridCol w="8015994"/>
              </a:tblGrid>
              <a:tr h="335280">
                <a:tc>
                  <a:txBody>
                    <a:bodyPr/>
                    <a:lstStyle/>
                    <a:p>
                      <a:r>
                        <a:rPr sz="1250" b="1" i="0">
                          <a:solidFill>
                            <a:srgbClr val="FFFFFF"/>
                          </a:solidFill>
                          <a:latin typeface="Calibri"/>
                        </a:rPr>
                        <a:t>The word you will hear</a:t>
                      </a:r>
                    </a:p>
                  </a:txBody>
                  <a:tcPr marL="101600" marR="101600" marT="38100" marB="38100" anchor="ctr">
                    <a:solidFill>
                      <a:srgbClr val="1A0F5C"/>
                    </a:solidFill>
                  </a:tcPr>
                </a:tc>
                <a:tc>
                  <a:txBody>
                    <a:bodyPr/>
                    <a:lstStyle/>
                    <a:p>
                      <a:r>
                        <a:rPr sz="1250" b="1" i="0">
                          <a:solidFill>
                            <a:srgbClr val="FFFFFF"/>
                          </a:solidFill>
                          <a:latin typeface="Calibri"/>
                        </a:rPr>
                        <a:t>What it means here</a:t>
                      </a:r>
                    </a:p>
                  </a:txBody>
                  <a:tcPr marL="101600" marR="101600" marT="38100" marB="38100" anchor="ctr">
                    <a:solidFill>
                      <a:srgbClr val="1A0F5C"/>
                    </a:solidFill>
                  </a:tcPr>
                </a:tc>
              </a:tr>
              <a:tr h="542544">
                <a:tc>
                  <a:txBody>
                    <a:bodyPr/>
                    <a:lstStyle/>
                    <a:p>
                      <a:r>
                        <a:rPr sz="1200" b="0" i="0">
                          <a:solidFill>
                            <a:srgbClr val="1A1440"/>
                          </a:solidFill>
                          <a:latin typeface="Calibri"/>
                        </a:rPr>
                        <a:t>Baseline</a:t>
                      </a:r>
                    </a:p>
                  </a:txBody>
                  <a:tcPr marL="101600" marR="101600" marT="38100" marB="38100" anchor="ctr">
                    <a:solidFill>
                      <a:srgbClr val="FFFFFF"/>
                    </a:solidFill>
                  </a:tcPr>
                </a:tc>
                <a:tc>
                  <a:txBody>
                    <a:bodyPr/>
                    <a:lstStyle/>
                    <a:p>
                      <a:r>
                        <a:rPr sz="1200" b="0" i="0">
                          <a:solidFill>
                            <a:srgbClr val="1A1440"/>
                          </a:solidFill>
                          <a:latin typeface="Calibri"/>
                        </a:rPr>
                        <a:t>It is the simple copy any model must beat on the hidden weeks: festival-aligned, which missed by 6,615 a week.</a:t>
                      </a:r>
                    </a:p>
                  </a:txBody>
                  <a:tcPr marL="101600" marR="101600" marT="38100" marB="38100" anchor="ctr">
                    <a:solidFill>
                      <a:srgbClr val="FFFFFF"/>
                    </a:solidFill>
                  </a:tcPr>
                </a:tc>
              </a:tr>
              <a:tr h="542544">
                <a:tc>
                  <a:txBody>
                    <a:bodyPr/>
                    <a:lstStyle/>
                    <a:p>
                      <a:r>
                        <a:rPr sz="1200" b="0" i="0">
                          <a:solidFill>
                            <a:srgbClr val="1A1440"/>
                          </a:solidFill>
                          <a:latin typeface="Calibri"/>
                        </a:rPr>
                        <a:t>Autocorrelation</a:t>
                      </a:r>
                    </a:p>
                  </a:txBody>
                  <a:tcPr marL="101600" marR="101600" marT="38100" marB="38100" anchor="ctr">
                    <a:solidFill>
                      <a:srgbClr val="F4F2FA"/>
                    </a:solidFill>
                  </a:tcPr>
                </a:tc>
                <a:tc>
                  <a:txBody>
                    <a:bodyPr/>
                    <a:lstStyle/>
                    <a:p>
                      <a:r>
                        <a:rPr sz="1200" b="0" i="0">
                          <a:solidFill>
                            <a:srgbClr val="1A1440"/>
                          </a:solidFill>
                          <a:latin typeface="Calibri"/>
                        </a:rPr>
                        <a:t>It measures how closely each week's shipments follow the week a fixed number of weeks earlier, one back or 52 back.</a:t>
                      </a:r>
                    </a:p>
                  </a:txBody>
                  <a:tcPr marL="101600" marR="101600" marT="38100" marB="38100" anchor="ctr">
                    <a:solidFill>
                      <a:srgbClr val="F4F2FA"/>
                    </a:solidFill>
                  </a:tcPr>
                </a:tc>
              </a:tr>
              <a:tr h="335280">
                <a:tc>
                  <a:txBody>
                    <a:bodyPr/>
                    <a:lstStyle/>
                    <a:p>
                      <a:r>
                        <a:rPr sz="1200" b="0" i="0">
                          <a:solidFill>
                            <a:srgbClr val="1A1440"/>
                          </a:solidFill>
                          <a:latin typeface="Calibri"/>
                        </a:rPr>
                        <a:t>Smoothing</a:t>
                      </a:r>
                    </a:p>
                  </a:txBody>
                  <a:tcPr marL="101600" marR="101600" marT="38100" marB="38100" anchor="ctr">
                    <a:solidFill>
                      <a:srgbClr val="FFFFFF"/>
                    </a:solidFill>
                  </a:tcPr>
                </a:tc>
                <a:tc>
                  <a:txBody>
                    <a:bodyPr/>
                    <a:lstStyle/>
                    <a:p>
                      <a:r>
                        <a:rPr sz="1200" b="0" i="0">
                          <a:solidFill>
                            <a:srgbClr val="1A1440"/>
                          </a:solidFill>
                          <a:latin typeface="Calibri"/>
                        </a:rPr>
                        <a:t>It forecasts from an average of past weeks that gives the most recent weeks the most weight.</a:t>
                      </a:r>
                    </a:p>
                  </a:txBody>
                  <a:tcPr marL="101600" marR="101600" marT="38100" marB="38100" anchor="ctr">
                    <a:solidFill>
                      <a:srgbClr val="FFFFFF"/>
                    </a:solidFill>
                  </a:tcPr>
                </a:tc>
              </a:tr>
              <a:tr h="542544">
                <a:tc>
                  <a:txBody>
                    <a:bodyPr/>
                    <a:lstStyle/>
                    <a:p>
                      <a:r>
                        <a:rPr sz="1200" b="0" i="0">
                          <a:solidFill>
                            <a:srgbClr val="1A1440"/>
                          </a:solidFill>
                          <a:latin typeface="Calibri"/>
                        </a:rPr>
                        <a:t>ARIMA</a:t>
                      </a:r>
                    </a:p>
                  </a:txBody>
                  <a:tcPr marL="101600" marR="101600" marT="38100" marB="38100" anchor="ctr">
                    <a:solidFill>
                      <a:srgbClr val="F4F2FA"/>
                    </a:solidFill>
                  </a:tcPr>
                </a:tc>
                <a:tc>
                  <a:txBody>
                    <a:bodyPr/>
                    <a:lstStyle/>
                    <a:p>
                      <a:r>
                        <a:rPr sz="1200" b="0" i="0">
                          <a:solidFill>
                            <a:srgbClr val="1A1440"/>
                          </a:solidFill>
                          <a:latin typeface="Calibri"/>
                        </a:rPr>
                        <a:t>It forecasts from the series' own past weeks and its own past misses, the pattern autocorrelation measures.</a:t>
                      </a:r>
                    </a:p>
                  </a:txBody>
                  <a:tcPr marL="101600" marR="101600" marT="38100" marB="38100" anchor="ctr">
                    <a:solidFill>
                      <a:srgbClr val="F4F2FA"/>
                    </a:solidFill>
                  </a:tcPr>
                </a:tc>
              </a:tr>
              <a:tr h="542544">
                <a:tc>
                  <a:txBody>
                    <a:bodyPr/>
                    <a:lstStyle/>
                    <a:p>
                      <a:r>
                        <a:rPr sz="1200" b="0" i="0">
                          <a:solidFill>
                            <a:srgbClr val="1A1440"/>
                          </a:solidFill>
                          <a:latin typeface="Calibri"/>
                        </a:rPr>
                        <a:t>Held-out weeks</a:t>
                      </a:r>
                    </a:p>
                  </a:txBody>
                  <a:tcPr marL="101600" marR="101600" marT="38100" marB="38100" anchor="ctr">
                    <a:solidFill>
                      <a:srgbClr val="FFFFFF"/>
                    </a:solidFill>
                  </a:tcPr>
                </a:tc>
                <a:tc>
                  <a:txBody>
                    <a:bodyPr/>
                    <a:lstStyle/>
                    <a:p>
                      <a:r>
                        <a:rPr sz="1200" b="0" i="0">
                          <a:solidFill>
                            <a:srgbClr val="1A1440"/>
                          </a:solidFill>
                          <a:latin typeface="Calibri"/>
                        </a:rPr>
                        <a:t>The thirteen the handoff line names; since they also picked the rule and set the cushion, a new model that beats the baseline there is checked again on a rolling origin through 2025's festival.</a:t>
                      </a:r>
                    </a:p>
                  </a:txBody>
                  <a:tcPr marL="101600" marR="101600" marT="38100" marB="38100" anchor="ctr">
                    <a:solidFill>
                      <a:srgbClr val="FFFFFF"/>
                    </a:solidFill>
                  </a:tcPr>
                </a:tc>
              </a:tr>
            </a:tbl>
          </a:graphicData>
        </a:graphic>
      </p:graphicFrame>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twenty seconds each, item 7 forty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calls can the room make fast?</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tests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Which week a copy of last year uses for Diwali 2026's week</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Shipments or percent for the error, and when</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A curve that fits every past week within 2 percent</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"good enough" is a claim about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Which weeks to hide, and how many</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Thursday's return: a flat blend over falling cohorts</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The share of weeks a plan should cover</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Plus 4 against which window</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 close on, and what does Saturday test?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on hidden weeks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In shipments, then rupees, against a copy of last year, before any model earns the plan.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CALENDAR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calendar copy moved 2025's peak a week late and moves 2026's two weeks early.</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Cover 0.82 of weeks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late shipment costs 4.6 times a spare one, so the plan sits 2.6 percent above the forecast.</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Saturday</a:t>
            </a:r>
            <a:r>
              <a:rPr sz="1600" b="0" i="0">
                <a:solidFill>
                  <a:srgbClr val="1A1440"/>
                </a:solidFill>
                <a:latin typeface="Calibri"/>
              </a:rPr>
              <a:t> runs the recap paper and moves each day's method to another company: Friday's goes to Amazon India's festive staffing, then to Kalpa's four units. Tonight: the take-home and Saturday's preview.</a:t>
            </a:r>
          </a:p>
        </p:txBody>
      </p:sp>
      <p:sp>
        <p:nvSpPr>
          <p:cNvPr id="28" name="TextBox 2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