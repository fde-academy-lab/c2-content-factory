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as the room comes back. The first hour is the trainer's: the staffing note in groups,</a:t>
            </a:r>
          </a:p>
          <a:p>
            <a:r>
              <a:t>the interview transcript in pairs, the Kahoot and Saturday's preview.</a:t>
            </a:r>
          </a:p>
          <a:p>
            <a:r>
              <a:t>Then the IITGN faculty session W4-4 (tentative), or the fallback hour.</a:t>
            </a:r>
          </a:p>
          <a:p>
            <a:r>
              <a:t>Transition: where the morning left the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every group's note starts from them. Transition: what the</a:t>
            </a:r>
          </a:p>
          <a:p>
            <a:r>
              <a:t>note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unguided, in the nine groups. TAs circulate with the scorer's card from Tuesday:</a:t>
            </a:r>
          </a:p>
          <a:p>
            <a:r>
              <a:t>claim as title, one piece of evidence with its denominator, the caveat in sight, the action with its</a:t>
            </a:r>
          </a:p>
          <a:p>
            <a:r>
              <a:t>cost. A group that splits the difference between 4 and 22 is asked which rule either one beat on</a:t>
            </a:r>
          </a:p>
          <a:p>
            <a:r>
              <a:t>the hidden weeks. 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Concede the true half first, then answer from the evidence, then say what would</a:t>
            </a:r>
          </a:p>
          <a:p>
            <a:r>
              <a:t>change your mind: a vendor forecast scored on 2025's festival from data to September 2025.</a:t>
            </a:r>
          </a:p>
          <a:p>
            <a:r>
              <a:t>Transition: 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picture every note should be able to describe in one sentence. Transition:</a:t>
            </a:r>
          </a:p>
          <a:p>
            <a:r>
              <a:t>the interview question.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full transcript, with the clarifying questions and the scorecard, is in</a:t>
            </a:r>
          </a:p>
          <a:p>
            <a:r>
              <a:t>`extras/C2_W04_D05_interview_transcripts_STUDENT.md`; pairs read it and score the hire-grade answer</a:t>
            </a:r>
          </a:p>
          <a:p>
            <a:r>
              <a:t>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follow-up changes the question so only the reasoning transfers. Zillow's</a:t>
            </a:r>
          </a:p>
          <a:p>
            <a:r>
              <a:t>figures are from its Q3 2021 shareholder letter, checked 12 October 2026. Transition: the same idea</a:t>
            </a:r>
          </a:p>
          <a:p>
            <a:r>
              <a:t>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which cost is the Rs 25 and which the Rs 5.42 here. Transition: the</a:t>
            </a:r>
          </a:p>
          <a:p>
            <a:r>
              <a:t>guesstimate.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time allows, in pairs against a five-minute clock. The scorer checks the</a:t>
            </a:r>
          </a:p>
          <a:p>
            <a:r>
              <a:t>structure and the sanity check, never the final number. 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Kahoot is ungraded. The pack is `kahoot/C2_W04_D05_quiz_STUDENT.md`. Spend two</a:t>
            </a:r>
          </a:p>
          <a:p>
            <a:r>
              <a:t>minutes on item 6 if the room splits: the blend is a size-weighted average of cohort rates.</a:t>
            </a:r>
          </a:p>
          <a:p>
            <a:r>
              <a:t>Transition: Saturday.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cards are the cheat sheet's crux lines, word for word.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ILLUSTRATIVE CASE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Flipkart Lucknow: the staffing note and its error bar</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staffing note: the method, packer shifts a week, the error bar in rupees in each direction, and what would make it wrong.”</a:t>
            </a:r>
          </a:p>
        </p:txBody>
      </p:sp>
      <p:sp>
        <p:nvSpPr>
          <p:cNvPr id="10" name="TextBox 9"/>
          <p:cNvSpPr txBox="1"/>
          <p:nvPr/>
        </p:nvSpPr>
        <p:spPr>
          <a:xfrm>
            <a:off x="621792" y="498195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ask on the ticket, to the FC planner and the regional operations head, due Friday. Illustrative case: the company is real, the situation and the data are synthetic, built for this class.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Flipkart Lucknow: the staffing note and its error bar</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left a plan, a bar and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chapters settle before lunch?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20,275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PACKER SHIFTS OVER EIGHT WEEKS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raised 2.6 percent, 3,719 in the week of 19 October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A WEEK, THE ERROR BAR</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on thirteen hidden weeks: Rs 35,832 if high, Rs 1.7 lakh if low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SHARE OF WEEKS TO COVER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 (25 + 5.42): being short costs 4.6 times being long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 in thirty minutes?</a:t>
            </a:r>
          </a:p>
        </p:txBody>
      </p:sp>
      <p:sp>
        <p:nvSpPr>
          <p:cNvPr id="9" name="Rounded Rectangle 8"/>
          <p:cNvSpPr/>
          <p:nvPr/>
        </p:nvSpPr>
        <p:spPr>
          <a:xfrm>
            <a:off x="530352"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Shipments a week, priced in each direction, and the festival's own record.</a:t>
            </a:r>
          </a:p>
        </p:txBody>
      </p:sp>
      <p:sp>
        <p:nvSpPr>
          <p:cNvPr id="27" name="Rounded Rectangle 26"/>
          <p:cNvSpPr/>
          <p:nvPr/>
        </p:nvSpPr>
        <p:spPr>
          <a:xfrm>
            <a:off x="7318674"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715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a:t>
            </a:r>
          </a:p>
        </p:txBody>
      </p:sp>
      <p:sp>
        <p:nvSpPr>
          <p:cNvPr id="40" name="TextBox 3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20,275 packer shifts for 12 October to 30 November, peaking at 3,719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books the peak on 5 October"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two years grew 4.0 percent. Not true for the weeks: copied by calendar it books the peak on 5 October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book their biggest week on 5 October; festival-aligned books it on 19 October, two weeks before Diwali's week.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do you evaluate a forecast?"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9" name="Table 8"/>
          <p:cNvGraphicFramePr>
            <a:graphicFrameLocks noGrp="1"/>
          </p:cNvGraphicFramePr>
          <p:nvPr/>
        </p:nvGraphicFramePr>
        <p:xfrm>
          <a:off x="530352" y="1956816"/>
          <a:ext cx="11130991" cy="2460752"/>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hide the latest weeks, at least as many as the plan covers, and forecast them from one week."</a:t>
                      </a:r>
                    </a:p>
                  </a:txBody>
                  <a:tcPr marL="101600" marR="101600" marT="38100" marB="38100" anchor="ctr">
                    <a:solidFill>
                      <a:srgbClr val="FFFFFF"/>
                    </a:solidFill>
                  </a:tcPr>
                </a:tc>
              </a:tr>
              <a:tr h="369824">
                <a:tc>
                  <a:txBody>
                    <a:bodyPr/>
                    <a:lstStyle/>
                    <a:p>
                      <a:r>
                        <a:rPr sz="1400" b="0" i="0">
                          <a:solidFill>
                            <a:srgbClr val="1A1440"/>
                          </a:solidFill>
                          <a:latin typeface="Calibri"/>
                        </a:rPr>
                        <a:t>Judges by the fit to history</a:t>
                      </a:r>
                    </a:p>
                  </a:txBody>
                  <a:tcPr marL="101600" marR="101600" marT="38100" marB="38100" anchor="ctr">
                    <a:solidFill>
                      <a:srgbClr val="F4F2FA"/>
                    </a:solidFill>
                  </a:tcPr>
                </a:tc>
                <a:tc>
                  <a:txBody>
                    <a:bodyPr/>
                    <a:lstStyle/>
                    <a:p>
                      <a:r>
                        <a:rPr sz="1400" b="0" i="0">
                          <a:solidFill>
                            <a:srgbClr val="1A1440"/>
                          </a:solidFill>
                          <a:latin typeface="Calibri"/>
                        </a:rPr>
                        <a:t>Scores only weeks the model never saw</a:t>
                      </a:r>
                    </a:p>
                  </a:txBody>
                  <a:tcPr marL="101600" marR="101600" marT="38100" marB="38100" anchor="ctr">
                    <a:solidFill>
                      <a:srgbClr val="F4F2FA"/>
                    </a:solidFill>
                  </a:tcPr>
                </a:tc>
              </a:tr>
              <a:tr h="369824">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priced in each direction</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percent only to compare series of different sizes.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The festival moves three weeks: what breaks?</a:t>
            </a:r>
          </a:p>
        </p:txBody>
      </p:sp>
      <p:sp>
        <p:nvSpPr>
          <p:cNvPr id="19" name="TextBox 18"/>
          <p:cNvSpPr txBox="1"/>
          <p:nvPr/>
        </p:nvSpPr>
        <p:spPr>
          <a:xfrm>
            <a:off x="4466234" y="349250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calendar copy, the house bot and finance's rule; the festival-aligned copy moves with it.</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4" name="TextBox 23"/>
          <p:cNvSpPr txBox="1"/>
          <p:nvPr/>
        </p:nvSpPr>
        <p:spPr>
          <a:xfrm>
            <a:off x="8237524" y="3277870"/>
            <a:ext cx="3259226" cy="531876"/>
          </a:xfrm>
          <a:prstGeom prst="rect">
            <a:avLst/>
          </a:prstGeom>
          <a:noFill/>
        </p:spPr>
        <p:txBody>
          <a:bodyPr wrap="square" anchor="t" lIns="0" rIns="0" tIns="0" bIns="0">
            <a:spAutoFit/>
          </a:bodyPr>
          <a:lstStyle/>
          <a:p>
            <a:pPr algn="l"/>
            <a:r>
              <a:rPr sz="1000" b="0" i="0">
                <a:solidFill>
                  <a:srgbClr val="CFC9EE"/>
                </a:solidFill>
                <a:latin typeface="Calibri"/>
              </a:rPr>
              <a:t>A guardrail of plus or minus 200 basis points swung about 1,200; a write-down of about USD 304 million (F3).</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9" name="mermaid diagram" descr="055ea139bd333f68.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launch is the festival: line it up by days from the launch, never by calendar date. The plan sits above the forecast because being short means timeouts. This variant is written for the programme and quotes no company's figures.</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2.16 crore, 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9" name="mermaid diagram" descr="dc4977127c51dc04.png"/>
          <p:cNvPicPr>
            <a:picLocks noChangeAspect="1"/>
          </p:cNvPicPr>
          <p:nvPr/>
        </p:nvPicPr>
        <p:blipFill>
          <a:blip r:embed="rId5"/>
          <a:stretch>
            <a:fillRect/>
          </a:stretch>
        </p:blipFill>
        <p:spPr>
          <a:xfrm>
            <a:off x="530352" y="1956816"/>
            <a:ext cx="11130991" cy="1962193"/>
          </a:xfrm>
          <a:prstGeom prst="rect">
            <a:avLst/>
          </a:prstGeom>
        </p:spPr>
      </p:pic>
      <p:sp>
        <p:nvSpPr>
          <p:cNvPr id="10" name="Rounded Rectangle 9"/>
          <p:cNvSpPr/>
          <p:nvPr/>
        </p:nvSpPr>
        <p:spPr>
          <a:xfrm>
            <a:off x="530352" y="4065313"/>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93329"/>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4185"/>
            <a:ext cx="10564063" cy="891540"/>
          </a:xfrm>
          <a:prstGeom prst="rect">
            <a:avLst/>
          </a:prstGeom>
          <a:noFill/>
        </p:spPr>
        <p:txBody>
          <a:bodyPr wrap="square" anchor="ctr" lIns="0" rIns="0" tIns="0" bIns="0">
            <a:spAutoFit/>
          </a:bodyPr>
          <a:lstStyle/>
          <a:p>
            <a:r>
              <a:rPr sz="1500" b="1">
                <a:solidFill>
                  <a:srgbClr val="5B3FD6"/>
                </a:solidFill>
                <a:latin typeface="Calibri"/>
              </a:rPr>
              <a:t>The catch. </a:t>
            </a:r>
            <a:r>
              <a:rPr sz="1500" b="0" i="0">
                <a:solidFill>
                  <a:srgbClr val="1A1440"/>
                </a:solidFill>
                <a:latin typeface="Calibri"/>
              </a:rPr>
              <a:t>October 2025's retail alone was 31,49,846 two-wheelers (FADA, F5); times twelve that is about 3.78 crore, 74 percent too high: never annualise a festive month. SIAM's figure is from its FY 2025-26 release (T3, checked 12 October 2026).</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(tentative) pick up from here?</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faculty session is tentative until IIT Gandhinagar confirms it; if it does not run today, the fallback hour runs in its place.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in twenty seconds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Shipments or percent for the error,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The share of weeks a plan should cover</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Plus 4 against which window</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Plan at the 0.82 share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Being short costs 4.6 times being long, so the plan sits 2.6 percent above the forecast.</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how much is coming, and how wrong could we be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