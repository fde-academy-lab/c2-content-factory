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Read the four filled boxes left to right: each is</a:t>
            </a:r>
          </a:p>
          <a:p>
            <a:r>
              <a:t>a morning topic with the number it produced at Flipkart. The lit box is the afternoon: the</a:t>
            </a:r>
          </a:p>
          <a:p>
            <a:r>
              <a:t>good-enough call and the note. The first hour is the trainer's: chapter 7, the staffing note, the</a:t>
            </a:r>
          </a:p>
          <a:p>
            <a:r>
              <a:t>handoff, the Kahoot and the close; then the IITGN faculty session W4-4 (tentative) runs, or the</a:t>
            </a:r>
          </a:p>
          <a:p>
            <a:r>
              <a:t>fallback session. Transition: chapter 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3 of 3, levels L3 to L5, round three of the tournament. Applies chapters 1</a:t>
            </a:r>
          </a:p>
          <a:p>
            <a:r>
              <a:t>to 4, and chiefly chapter 4's good-enough call and note. Notebook 07 runs alongside. Transition: the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 on the</a:t>
            </a:r>
          </a:p>
          <a:p>
            <a:r>
              <a:t>case set, after the second vote; its letters and key are this slide's, so read the room's letter</a:t>
            </a:r>
          </a:p>
          <a:p>
            <a:r>
              <a:t>into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finance's 5 October and festival-aligned's 19 October: the same 418,200</a:t>
            </a:r>
          </a:p>
          <a:p>
            <a:r>
              <a:t>times 1.04, two weeks apart. The vendor's model never knew the festival moved; the stall's</a:t>
            </a:r>
          </a:p>
          <a:p>
            <a:r>
              <a:t>calendar copy in chapter 2 made the same mistake with Diwali's dip. Transition: did the placement</a:t>
            </a:r>
          </a:p>
          <a:p>
            <a:r>
              <a:t>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back-test is the only festival the data can test the rules on, so it settles</a:t>
            </a:r>
          </a:p>
          <a:p>
            <a:r>
              <a:t>placement and leaves the size of the festive error open. Quote 10,575, the number a planner in</a:t>
            </a:r>
          </a:p>
          <a:p>
            <a:r>
              <a:t>September 2025 could have had; 4,034 borrows growth from 2026. This course also set the stretch</a:t>
            </a:r>
          </a:p>
          <a:p>
            <a:r>
              <a:t>around Diwali to cover both festivals' busy weeks, so even this test has seen the shape it tests;</a:t>
            </a:r>
          </a:p>
          <a:p>
            <a:r>
              <a:t>the next festival is the clean one. The vendor has no festive forecast to</a:t>
            </a:r>
          </a:p>
          <a:p>
            <a:r>
              <a:t>score, only its fit. Predict before S6 appears: finance's eight weeks sit 4 percent above the same</a:t>
            </a:r>
          </a:p>
          <a:p>
            <a:r>
              <a:t>calendar weeks of 2025; against 2025's weeks counted from Diwali, are they above or below, and by</a:t>
            </a:r>
          </a:p>
          <a:p>
            <a:r>
              <a:t>roughly how much? Write the split on the board.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Chapter 1 read growth by comparing the same point a season apart; here the same</a:t>
            </a:r>
          </a:p>
          <a:p>
            <a:r>
              <a:t>point is the same distance from Diwali, and Week 1 Tuesday's matched windows are the same idea. The</a:t>
            </a:r>
          </a:p>
          <a:p>
            <a:r>
              <a:t>calendar window holds only the tail of 2025's festival, because 2025's peak came before 13 October;</a:t>
            </a:r>
          </a:p>
          <a:p>
            <a:r>
              <a:t>2026's peak falls inside the window. That is why an honest forecast reads plus 19.5 against it.</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first two rows aloud: 344,448 over 120, rounded up, is 2,871 shifts, since</a:t>
            </a:r>
          </a:p>
          <a:p>
            <a:r>
              <a:t>a shipment that does not fill a shift still needs one. A packer-shift is one packer for one shift;</a:t>
            </a:r>
          </a:p>
          <a:p>
            <a:r>
              <a:t>how shifts become people depends on the roster, which the ticket does not give. The typical miss is</a:t>
            </a:r>
          </a:p>
          <a:p>
            <a:r>
              <a:t>chapter 3's MAE in the business's unit, priced each way: 6,615 x Rs 650 / 120 is about Rs 35,800,</a:t>
            </a:r>
          </a:p>
          <a:p>
            <a:r>
              <a:t>worked from the shift's Rs 650 before it rounds to Rs 5.42. The range is how far the hidden weeks ran,</a:t>
            </a:r>
          </a:p>
          <a:p>
            <a:r>
              <a:t>applied to the peak week. Booked at the forecast, the range's ends cost about Rs 1.4 lakh of idle</a:t>
            </a:r>
          </a:p>
          <a:p>
            <a:r>
              <a:t>shifts or Rs 8.4 lakh of late shipments that week. If a learner asks where a margin would go: above</a:t>
            </a:r>
          </a:p>
          <a:p>
            <a:r>
              <a:t>the forecast, since short is the dear side; how far is the plan quantile, beyond the row.</a:t>
            </a:r>
          </a:p>
          <a:p>
            <a:r>
              <a:t>Transition: is a better forecast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the c4 set's second item aloud if it was not sat before lunch: three teams'</a:t>
            </a:r>
          </a:p>
          <a:p>
            <a:r>
              <a:t>models against festival-aligned's 6,615. The plan quantile goes beyond the row's five subtopics; the</a:t>
            </a:r>
          </a:p>
          <a:p>
            <a:r>
              <a:t>fallback deck's part 3 and notebook 07's depth section carry it, so answer "how far above?" with</a:t>
            </a:r>
          </a:p>
          <a:p>
            <a:r>
              <a:t>"above, since short is the dear side", and park the size there by name. Transition: what the other</a:t>
            </a:r>
          </a:p>
          <a:p>
            <a:r>
              <a:t>forecasts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costs are mostly late shipments in the weeks of 19 October to 2 November.</a:t>
            </a:r>
          </a:p>
          <a:p>
            <a:r>
              <a:t>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doubt at a time, each with the fact that would settle it; these are the plan's</a:t>
            </a:r>
          </a:p>
          <a:p>
            <a:r>
              <a:t>"what would make it wrong" line. Transition: the close of round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forecast joins the week's map as the promise the plan is held to: Thursday's</a:t>
            </a:r>
          </a:p>
          <a:p>
            <a:r>
              <a:t>time axis feeds it and Monday's guardrails bound what it may chase. Each stakeholder is partly</a:t>
            </a:r>
          </a:p>
          <a:p>
            <a:r>
              <a:t>right, so concede the true part first; the staffing note is written from these three lines.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unguided, in groups of about four: the groups decide the lettered items now and</a:t>
            </a:r>
          </a:p>
          <a:p>
            <a:r>
              <a:t>write the five lines in the lab. These are chapter 4's four lines with a fifth for the two</a:t>
            </a:r>
          </a:p>
          <a:p>
            <a:r>
              <a:t>stakeholders. TAs circulate with the scorer's card from Tuesday: claim as title, one piece of</a:t>
            </a:r>
          </a:p>
          <a:p>
            <a:r>
              <a:t>evidence with its denominator, the caveat in sight, the action with its cost. A group that splits</a:t>
            </a:r>
          </a:p>
          <a:p>
            <a:r>
              <a:t>the difference between 4 and 22 is asked which rule either one beat on the hidden weeks.</a:t>
            </a:r>
          </a:p>
          <a:p>
            <a:r>
              <a:t>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role cards' one exchange each. The trainer, as finance, says card 1's opening</a:t>
            </a:r>
          </a:p>
          <a:p>
            <a:r>
              <a:t>line and one group answers; the TA, as the vendor's sponsor, says card 2's and another group</a:t>
            </a:r>
          </a:p>
          <a:p>
            <a:r>
              <a:t>answers. Each answer concedes the true half first, then answers from the evidence, then says what</a:t>
            </a:r>
          </a:p>
          <a:p>
            <a:r>
              <a:t>would change its mind: a vendor forecast scored on 2025's festival from data to September 2025.</a:t>
            </a:r>
          </a:p>
          <a:p>
            <a:r>
              <a:t>Transition: the picture every note should describe.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picture every note should be able to describe in one sentence. The interview</a:t>
            </a:r>
          </a:p>
          <a:p>
            <a:r>
              <a:t>room that follows is self-study here and runs in the TA lab's first fifteen minutes.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read in the TA lab's first fifteen minutes. The full transcript, with the clarifying</a:t>
            </a:r>
          </a:p>
          <a:p>
            <a:r>
              <a:t>questions and the scorecard, is in `extras/C2_W04_D05_interview_transcripts_STUDENT.md`; pairs read</a:t>
            </a:r>
          </a:p>
          <a:p>
            <a:r>
              <a:t>it and score the hire-grade answer 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Each follow-up changes the question so only the reasoning transfers.</a:t>
            </a:r>
          </a:p>
          <a:p>
            <a:r>
              <a:t>Zillow's figures are from its Q3 2021 shareholder letter, checked 12 October 2026: price forecasts</a:t>
            </a:r>
          </a:p>
          <a:p>
            <a:r>
              <a:t>three to six months ahead, a public guardrail of plus or minus 200 basis points (a basis point is a</a:t>
            </a:r>
          </a:p>
          <a:p>
            <a:r>
              <a:t>hundredth of a percent) of breakeven unit economics, a swing of about 1,200 basis points to an</a:t>
            </a:r>
          </a:p>
          <a:p>
            <a:r>
              <a:t>expected minus 500 to minus 700, more homes bought than planned, renovation capacity short, an</a:t>
            </a:r>
          </a:p>
          <a:p>
            <a:r>
              <a:t>inventory write-down of about USD 304 million and the business wound down. The guardrail sat on the</a:t>
            </a:r>
          </a:p>
          <a:p>
            <a:r>
              <a:t>margin, which suggests the forecast's error was wider than the band; and a forecast used to bid wins</a:t>
            </a:r>
          </a:p>
          <a:p>
            <a:r>
              <a:t>where it guesses high, so the homes bought carried its errors one way. Two more follow-ups sit in the</a:t>
            </a:r>
          </a:p>
          <a:p>
            <a:r>
              <a:t>transcripts: the cushion read from the scored weeks, beyond the row, and the overtime that may cap</a:t>
            </a:r>
          </a:p>
          <a:p>
            <a:r>
              <a:t>the peak.</a:t>
            </a:r>
          </a:p>
          <a:p>
            <a:r>
              <a:t>Transition: the 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Which cost is the Rs 25 and which the Rs 5.42 here: the timeouts a GPU would</a:t>
            </a:r>
          </a:p>
          <a:p>
            <a:r>
              <a:t>prevent, and its rent for the whole booking; both are set per machine, as the packer costs are set</a:t>
            </a:r>
          </a:p>
          <a:p>
            <a:r>
              <a:t>per shipment of a booked shift. What can the forecast be tested on if the feature has never</a:t>
            </a:r>
          </a:p>
          <a:p>
            <a:r>
              <a:t>launched: nothing, so say it is untested and keep capacity that can stretch. The worked sizing (2</a:t>
            </a:r>
          </a:p>
          <a:p>
            <a:r>
              <a:t>lakh users, 1 percent in the peak minute, 1,000 prompt and 500 answer tokens, all invented, about 330</a:t>
            </a:r>
          </a:p>
          <a:p>
            <a:r>
              <a:t>requests open at once) is in the transcripts. Transition: the guesstimate.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in pairs against a three-minute clock. The scorer checks the structure and</a:t>
            </a:r>
          </a:p>
          <a:p>
            <a:r>
              <a:t>the sanity check, never the final number. SIAM's release:</a:t>
            </a:r>
          </a:p>
          <a:p>
            <a:r>
              <a:t>https://www.siam.in/news-&amp;-updates/press-releases/x/605 (checked 12 October 2026).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 then point at the four words: the faculty</a:t>
            </a:r>
          </a:p>
          <a:p>
            <a:r>
              <a:t>session (tentative) defines them properly, and this table only says what each one is for.</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 is ungraded. The pack is `kahoot/C2_W04_D05_quiz_STUDENT.md`. Spend a minute</a:t>
            </a:r>
          </a:p>
          <a:p>
            <a:r>
              <a:t>on item 6 if the room splits: the blend is a size-weighted average of cohort rates. Transition:</a:t>
            </a:r>
          </a:p>
          <a:p>
            <a:r>
              <a:t>Saturday.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cards restate the cheat sheet's crux lines.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8.png"/><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with the morning's case numbers on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five topics find on Flipkart's weeks before lunch, and what is left for the plan?</a:t>
            </a:r>
          </a:p>
        </p:txBody>
      </p:sp>
      <p:pic>
        <p:nvPicPr>
          <p:cNvPr id="9" name="mermaid diagram" descr="5c073e9d1079458a.png"/>
          <p:cNvPicPr>
            <a:picLocks noChangeAspect="1"/>
          </p:cNvPicPr>
          <p:nvPr/>
        </p:nvPicPr>
        <p:blipFill>
          <a:blip r:embed="rId5"/>
          <a:stretch>
            <a:fillRect/>
          </a:stretch>
        </p:blipFill>
        <p:spPr>
          <a:xfrm>
            <a:off x="530352" y="1956816"/>
            <a:ext cx="11130991" cy="2378416"/>
          </a:xfrm>
          <a:prstGeom prst="rect">
            <a:avLst/>
          </a:prstGeom>
        </p:spPr>
      </p:pic>
      <p:sp>
        <p:nvSpPr>
          <p:cNvPr id="10" name="TextBox 9"/>
          <p:cNvSpPr txBox="1"/>
          <p:nvPr/>
        </p:nvSpPr>
        <p:spPr>
          <a:xfrm>
            <a:off x="530352" y="44815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good-enough call and the staffing note, for the festive window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shifts?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Place this year's festival, test the placement on 2025's, read plus 22 and plus 4 against the right window, and size the plan in shifts with its error bar priced both ways.</a:t>
            </a:r>
          </a:p>
        </p:txBody>
      </p:sp>
      <p:sp>
        <p:nvSpPr>
          <p:cNvPr id="11" name="Rounded Rectangle 10"/>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shifts?</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what does the plan book, and how wrong could it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the windows a growth figure is read against; chapter 2, the calendar copy; chapter 3, a hold-out that holds a festival and the misses priced; chapter 4, the good-enough call and the forecast note.</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5" name="Rectangle 14"/>
          <p:cNvSpPr/>
          <p:nvPr/>
        </p:nvSpPr>
        <p:spPr>
          <a:xfrm>
            <a:off x="1570299" y="4631689"/>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7" name="Oval 16"/>
          <p:cNvSpPr/>
          <p:nvPr/>
        </p:nvSpPr>
        <p:spPr>
          <a:xfrm>
            <a:off x="146971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20" name="TextBox 19"/>
          <p:cNvSpPr txBox="1"/>
          <p:nvPr/>
        </p:nvSpPr>
        <p:spPr>
          <a:xfrm>
            <a:off x="694944"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21" name="TextBox 20"/>
          <p:cNvSpPr txBox="1"/>
          <p:nvPr/>
        </p:nvSpPr>
        <p:spPr>
          <a:xfrm>
            <a:off x="2793126"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22" name="Oval 21"/>
          <p:cNvSpPr/>
          <p:nvPr/>
        </p:nvSpPr>
        <p:spPr>
          <a:xfrm>
            <a:off x="373248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5" name="TextBox 24"/>
          <p:cNvSpPr txBox="1"/>
          <p:nvPr/>
        </p:nvSpPr>
        <p:spPr>
          <a:xfrm>
            <a:off x="2957718"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6" name="TextBox 25"/>
          <p:cNvSpPr txBox="1"/>
          <p:nvPr/>
        </p:nvSpPr>
        <p:spPr>
          <a:xfrm>
            <a:off x="5055900"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7" name="Oval 26"/>
          <p:cNvSpPr/>
          <p:nvPr/>
        </p:nvSpPr>
        <p:spPr>
          <a:xfrm>
            <a:off x="5995263"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30" name="TextBox 29"/>
          <p:cNvSpPr txBox="1"/>
          <p:nvPr/>
        </p:nvSpPr>
        <p:spPr>
          <a:xfrm>
            <a:off x="5220492"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31" name="TextBox 30"/>
          <p:cNvSpPr txBox="1"/>
          <p:nvPr/>
        </p:nvSpPr>
        <p:spPr>
          <a:xfrm>
            <a:off x="7318674"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2" name="Oval 31"/>
          <p:cNvSpPr/>
          <p:nvPr/>
        </p:nvSpPr>
        <p:spPr>
          <a:xfrm>
            <a:off x="825803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5098033"/>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shifts?</a:t>
            </a:r>
          </a:p>
        </p:txBody>
      </p:sp>
      <p:sp>
        <p:nvSpPr>
          <p:cNvPr id="35" name="TextBox 34"/>
          <p:cNvSpPr txBox="1"/>
          <p:nvPr/>
        </p:nvSpPr>
        <p:spPr>
          <a:xfrm>
            <a:off x="7483266" y="5385816"/>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weeks, with the error bar priced.</a:t>
            </a:r>
          </a:p>
        </p:txBody>
      </p:sp>
      <p:sp>
        <p:nvSpPr>
          <p:cNvPr id="36" name="TextBox 35"/>
          <p:cNvSpPr txBox="1"/>
          <p:nvPr/>
        </p:nvSpPr>
        <p:spPr>
          <a:xfrm>
            <a:off x="9581448"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37" name="Oval 36"/>
          <p:cNvSpPr/>
          <p:nvPr/>
        </p:nvSpPr>
        <p:spPr>
          <a:xfrm>
            <a:off x="10520812"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951729"/>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5098033"/>
            <a:ext cx="1750710" cy="465836"/>
          </a:xfrm>
          <a:prstGeom prst="rect">
            <a:avLst/>
          </a:prstGeom>
          <a:noFill/>
        </p:spPr>
        <p:txBody>
          <a:bodyPr wrap="square" anchor="t" lIns="0" rIns="0" tIns="0" bIns="0">
            <a:spAutoFit/>
          </a:bodyPr>
          <a:lstStyle/>
          <a:p>
            <a:pPr algn="l"/>
            <a:r>
              <a:rPr sz="1300" b="1" i="0">
                <a:solidFill>
                  <a:srgbClr val="FFFFFF"/>
                </a:solidFill>
                <a:latin typeface="Calibri"/>
              </a:rPr>
              <a:t>Is better worth having?</a:t>
            </a:r>
          </a:p>
        </p:txBody>
      </p:sp>
      <p:sp>
        <p:nvSpPr>
          <p:cNvPr id="40" name="TextBox 39"/>
          <p:cNvSpPr txBox="1"/>
          <p:nvPr/>
        </p:nvSpPr>
        <p:spPr>
          <a:xfrm>
            <a:off x="9746040" y="5600445"/>
            <a:ext cx="1750710" cy="366776"/>
          </a:xfrm>
          <a:prstGeom prst="rect">
            <a:avLst/>
          </a:prstGeom>
          <a:noFill/>
        </p:spPr>
        <p:txBody>
          <a:bodyPr wrap="square" anchor="t" lIns="0" rIns="0" tIns="0" bIns="0">
            <a:spAutoFit/>
          </a:bodyPr>
          <a:lstStyle/>
          <a:p>
            <a:pPr algn="l"/>
            <a:r>
              <a:rPr sz="1000" b="0" i="0">
                <a:solidFill>
                  <a:srgbClr val="CFC9EE"/>
                </a:solidFill>
                <a:latin typeface="Calibri"/>
              </a:rPr>
              <a:t>Only if it pays for itself.</a:t>
            </a:r>
          </a:p>
        </p:txBody>
      </p:sp>
      <p:sp>
        <p:nvSpPr>
          <p:cNvPr id="41" name="Oval 4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 The stall's calendar copy (invented) put Diwali's dip a week late in chapter 2 the same way.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 </a:t>
            </a:r>
            <a:r>
              <a:rPr sz="1200" b="1" i="0">
                <a:solidFill>
                  <a:srgbClr val="1A1440"/>
                </a:solidFill>
                <a:latin typeface="Calibri"/>
              </a:rPr>
              <a:t>back-test</a:t>
            </a:r>
            <a:r>
              <a:rPr sz="1200" b="0" i="0">
                <a:solidFill>
                  <a:srgbClr val="1A1440"/>
                </a:solidFill>
                <a:latin typeface="Calibri"/>
              </a:rPr>
              <a:t> forecasts an earlier stretch as if the later weeks were unknown: chapter 3's hold-out, placed so that it holds a festival. Over 29 September to 17 November 2025 the house bot missed by 58,250 a week: Rs 79.8 lakh, Rs 69.6 lakh of it late shipments where the rush came before the copy expected it. Festival-aligned, with no growth added, since September 2025 held no year of twins to measure growth on, missed by 10,575 a week and put the peak in the right week; with the 4 percent measured later it would have missed by 4,034.</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read against two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19,760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820418"/>
          <a:ext cx="11130990" cy="3017520"/>
        </p:xfrm>
        <a:graphic>
          <a:graphicData uri="http://schemas.openxmlformats.org/drawingml/2006/table">
            <a:tbl>
              <a:tblPr firstRow="0" bandRow="0">
                <a:tableStyleId>{2D5ABB26-0587-4C30-8999-92F81FD0307C}</a:tableStyleId>
              </a:tblPr>
              <a:tblGrid>
                <a:gridCol w="914400"/>
                <a:gridCol w="3601403"/>
                <a:gridCol w="6615187"/>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Festival-aligned forecast</a:t>
                      </a:r>
                    </a:p>
                  </a:txBody>
                  <a:tcPr marL="101600" marR="101600" marT="38100" marB="38100" anchor="ctr">
                    <a:solidFill>
                      <a:srgbClr val="1A0F5C"/>
                    </a:solidFill>
                  </a:tcPr>
                </a:tc>
                <a:tc>
                  <a:txBody>
                    <a:bodyPr/>
                    <a:lstStyle/>
                    <a:p>
                      <a:r>
                        <a:rPr sz="1250" b="1" i="0">
                          <a:solidFill>
                            <a:srgbClr val="FFFFFF"/>
                          </a:solidFill>
                          <a:latin typeface="Calibri"/>
                        </a:rPr>
                        <a:t>Packer shifts, the forecast over 120, rounded up</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2,871</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3,625</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3,198</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2,678</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1,635</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1,976</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1,884</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1,893</a:t>
                      </a:r>
                    </a:p>
                  </a:txBody>
                  <a:tcPr marL="101600" marR="101600" marT="38100" marB="38100" anchor="ctr">
                    <a:solidFill>
                      <a:srgbClr val="F4F2FA"/>
                    </a:solidFill>
                  </a:tcPr>
                </a:tc>
              </a:tr>
            </a:tbl>
          </a:graphicData>
        </a:graphic>
      </p:graphicFrame>
      <p:sp>
        <p:nvSpPr>
          <p:cNvPr id="10" name="Rounded Rectangle 9"/>
          <p:cNvSpPr/>
          <p:nvPr/>
        </p:nvSpPr>
        <p:spPr>
          <a:xfrm>
            <a:off x="530352" y="509397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2198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12842"/>
            <a:ext cx="10564063" cy="784860"/>
          </a:xfrm>
          <a:prstGeom prst="rect">
            <a:avLst/>
          </a:prstGeom>
          <a:noFill/>
        </p:spPr>
        <p:txBody>
          <a:bodyPr wrap="square" anchor="ctr" lIns="0" rIns="0" tIns="0" bIns="0">
            <a:spAutoFit/>
          </a:bodyPr>
          <a:lstStyle/>
          <a:p>
            <a:r>
              <a:rPr sz="1300" b="1">
                <a:solidFill>
                  <a:srgbClr val="5B3FD6"/>
                </a:solidFill>
                <a:latin typeface="Calibri"/>
              </a:rPr>
              <a:t>The error bar. </a:t>
            </a:r>
            <a:r>
              <a:rPr sz="1300" b="0" i="0">
                <a:solidFill>
                  <a:srgbClr val="1A1440"/>
                </a:solidFill>
                <a:latin typeface="Calibri"/>
              </a:rPr>
              <a:t>A typical miss of 6,615 shipments a week on the hidden weeks, about 55 shifts: about Rs 35,800 of idle shifts if it runs that far high, Rs 1.65 lakh of late shipments if that far low. The range: the hidden weeks ran from 5.9 percent below the forecast to 7.8 percent above, so the week of 19 October could need 3,413 to 3,906 shifts against 3,625 booked.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forecast must pay for itself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Would a forecast better than festival-aligned change the plan by more than it costs?</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27 shifts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HOUSE BOT</a:t>
            </a:r>
          </a:p>
        </p:txBody>
      </p:sp>
      <p:sp>
        <p:nvSpPr>
          <p:cNvPr id="11" name="TextBox 10"/>
          <p:cNvSpPr txBox="1"/>
          <p:nvPr/>
        </p:nvSpPr>
        <p:spPr>
          <a:xfrm>
            <a:off x="530352" y="2639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festival-aligned's MAE is 3,216 shipments a week lower: a real difference in packers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82 shifts</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VENDOR</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9,785 shipments a week lower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542 to 2,500</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FOR A RULE 100 BETTER</a:t>
            </a:r>
          </a:p>
        </p:txBody>
      </p:sp>
      <p:sp>
        <p:nvSpPr>
          <p:cNvPr id="19" name="TextBox 18"/>
          <p:cNvSpPr txBox="1"/>
          <p:nvPr/>
        </p:nvSpPr>
        <p:spPr>
          <a:xfrm>
            <a:off x="8133892" y="2639060"/>
            <a:ext cx="3527450" cy="350266"/>
          </a:xfrm>
          <a:prstGeom prst="rect">
            <a:avLst/>
          </a:prstGeom>
          <a:noFill/>
        </p:spPr>
        <p:txBody>
          <a:bodyPr wrap="square" anchor="t" lIns="0" rIns="0" tIns="0" bIns="0">
            <a:spAutoFit/>
          </a:bodyPr>
          <a:lstStyle/>
          <a:p>
            <a:pPr algn="l"/>
            <a:r>
              <a:rPr sz="950" b="0" i="0">
                <a:solidFill>
                  <a:srgbClr val="6B6690"/>
                </a:solidFill>
                <a:latin typeface="Calibri"/>
              </a:rPr>
              <a:t>100 shipments spare at Rs 5.42, or late at Rs 25: Rs 4,300 to Rs 20,000 over the eight weeks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4's call at Flipkart's scale. A shift is 120 shipments, small beside a typical miss of 6,615, so any better forecast changes some shifts, and good enough becomes a question in rupees. Festival-aligned's leads over the bot and the vendor are worth real money every week; a rule whose MAE is 100 lower earns a place only if it costs less than Rs 542 to Rs 2,500 a week to build and run, and wins on a test that did not choose it. A late shipment costs 4.6 times a spare one, so any margin goes above the forecast; how far is the plan quantile, beyond the row, that is, beyond today's five topics, taught in the fallback session.</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Booked by any other forecast: Rs 82.2 lakh or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booking by each other forecast cost?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02287"/>
                <a:gridCol w="2576205"/>
                <a:gridCol w="2576205"/>
                <a:gridCol w="2076293"/>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each calendar-copied plan costs; the 2025 back-test is the evidence that it places the rush well.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3299968"/>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we have, and what would settle it</a:t>
                      </a:r>
                    </a:p>
                  </a:txBody>
                  <a:tcPr marL="101600" marR="101600" marT="38100" marB="38100" anchor="ctr">
                    <a:solidFill>
                      <a:srgbClr val="1A0F5C"/>
                    </a:solidFill>
                  </a:tcPr>
                </a:tc>
              </a:tr>
              <a:tr h="611632">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One festival, the 2025 back-test; another festival would settle it</a:t>
                      </a:r>
                    </a:p>
                  </a:txBody>
                  <a:tcPr marL="101600" marR="101600" marT="38100" marB="38100" anchor="ctr">
                    <a:solidFill>
                      <a:srgbClr val="FFFFFF"/>
                    </a:solidFill>
                  </a:tcPr>
                </a:tc>
              </a:tr>
              <a:tr h="611632">
                <a:tc>
                  <a:txBody>
                    <a:bodyPr/>
                    <a:lstStyle/>
                    <a:p>
                      <a:r>
                        <a:rPr sz="1400" b="0" i="0">
                          <a:solidFill>
                            <a:srgbClr val="1A1440"/>
                          </a:solidFill>
                          <a:latin typeface="Calibri"/>
                        </a:rPr>
                        <a:t>The hidden weeks hold no festive week</a:t>
                      </a:r>
                    </a:p>
                  </a:txBody>
                  <a:tcPr marL="101600" marR="101600" marT="38100" marB="38100" anchor="ctr">
                    <a:solidFill>
                      <a:srgbClr val="F4F2FA"/>
                    </a:solidFill>
                  </a:tcPr>
                </a:tc>
                <a:tc>
                  <a:txBody>
                    <a:bodyPr/>
                    <a:lstStyle/>
                    <a:p>
                      <a:r>
                        <a:rPr sz="1400" b="0" i="0">
                          <a:solidFill>
                            <a:srgbClr val="1A1440"/>
                          </a:solidFill>
                          <a:latin typeface="Calibri"/>
                        </a:rPr>
                        <a:t>The 2025 festival's 10,575 a week, with no growth; a rolling origin through the next festival would settle it</a:t>
                      </a:r>
                    </a:p>
                  </a:txBody>
                  <a:tcPr marL="101600" marR="101600" marT="38100" marB="38100" anchor="ctr">
                    <a:solidFill>
                      <a:srgbClr val="F4F2FA"/>
                    </a:solidFill>
                  </a:tcPr>
                </a:tc>
              </a:tr>
              <a:tr h="611632">
                <a:tc>
                  <a:txBody>
                    <a:bodyPr/>
                    <a:lstStyle/>
                    <a:p>
                      <a:r>
                        <a:rPr sz="1400" b="0" i="0">
                          <a:solidFill>
                            <a:srgbClr val="1A1440"/>
                          </a:solidFill>
                          <a:latin typeface="Calibri"/>
                        </a:rPr>
                        <a:t>This course chose the stretch around Diwali</a:t>
                      </a:r>
                    </a:p>
                  </a:txBody>
                  <a:tcPr marL="101600" marR="101600" marT="38100" marB="38100" anchor="ctr">
                    <a:solidFill>
                      <a:srgbClr val="FFFFFF"/>
                    </a:solidFill>
                  </a:tcPr>
                </a:tc>
                <a:tc>
                  <a:txBody>
                    <a:bodyPr/>
                    <a:lstStyle/>
                    <a:p>
                      <a:r>
                        <a:rPr sz="1400" b="0" i="0">
                          <a:solidFill>
                            <a:srgbClr val="1A1440"/>
                          </a:solidFill>
                          <a:latin typeface="Calibri"/>
                        </a:rPr>
                        <a:t>It covers both festivals' busy weeks, so the 2025 back-test has seen the shape it tests; the next festival is the clean test</a:t>
                      </a:r>
                    </a:p>
                  </a:txBody>
                  <a:tcPr marL="101600" marR="101600" marT="38100" marB="38100" anchor="ctr">
                    <a:solidFill>
                      <a:srgbClr val="FFFFFF"/>
                    </a:solidFill>
                  </a:tcPr>
                </a:tc>
              </a:tr>
              <a:tr h="1095248">
                <a:tc>
                  <a:txBody>
                    <a:bodyPr/>
                    <a:lstStyle/>
                    <a:p>
                      <a:r>
                        <a:rPr sz="1400" b="0" i="0">
                          <a:solidFill>
                            <a:srgbClr val="1A1440"/>
                          </a:solidFill>
                          <a:latin typeface="Calibri"/>
                        </a:rPr>
                        <a:t>Capacity caps the peak</a:t>
                      </a:r>
                    </a:p>
                  </a:txBody>
                  <a:tcPr marL="101600" marR="101600" marT="38100" marB="38100" anchor="ctr">
                    <a:solidFill>
                      <a:srgbClr val="F4F2FA"/>
                    </a:solidFill>
                  </a:tcPr>
                </a:tc>
                <a:tc>
                  <a:txBody>
                    <a:bodyPr/>
                    <a:lstStyle/>
                    <a:p>
                      <a:r>
                        <a:rPr sz="14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goes to the plan?</a:t>
            </a:r>
          </a:p>
        </p:txBody>
      </p:sp>
      <p:pic>
        <p:nvPicPr>
          <p:cNvPr id="9" name="mermaid diagram" descr="4dd1bb12477626a1.png"/>
          <p:cNvPicPr>
            <a:picLocks noChangeAspect="1"/>
          </p:cNvPicPr>
          <p:nvPr/>
        </p:nvPicPr>
        <p:blipFill>
          <a:blip r:embed="rId5"/>
          <a:stretch>
            <a:fillRect/>
          </a:stretch>
        </p:blipFill>
        <p:spPr>
          <a:xfrm>
            <a:off x="829168" y="1664208"/>
            <a:ext cx="1053335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To finance: right growth, wrong weeks, since copied by calendar the 4 percent puts the peak on 5 October and sits 308,048 shipments short. To the vendor's sponsor: a fit of 1.4 percent, and 16,400 a week off on weeks it never saw. The rule: beat the bot on hidden weeks, place the festival, price the miss both ways.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a:t>
            </a:r>
          </a:p>
        </p:txBody>
      </p:sp>
      <p:sp>
        <p:nvSpPr>
          <p:cNvPr id="9" name="Rounded Rectangle 8"/>
          <p:cNvSpPr/>
          <p:nvPr/>
        </p:nvSpPr>
        <p:spPr>
          <a:xfrm>
            <a:off x="530352"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The typical miss, its cost high and low, the peak week's range, and 2025's honest record.</a:t>
            </a:r>
          </a:p>
        </p:txBody>
      </p:sp>
      <p:sp>
        <p:nvSpPr>
          <p:cNvPr id="27" name="Rounded Rectangle 26"/>
          <p:cNvSpPr/>
          <p:nvPr/>
        </p:nvSpPr>
        <p:spPr>
          <a:xfrm>
            <a:off x="7318674"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7152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 which is written in the lab.</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19,760 packer shifts for 12 October to 30 November, peaking at 3,625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puts the peak on 5 October, before the plan's first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training weeks grew 4.0 percent. Not true for the weeks: copied by calendar it puts the peak on 5 October, before the plan's first week,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put their biggest week on 5 October, a week before the plan's first week; festival-aligned puts it on 19 October, two weeks before Diwali's week.</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 "How do you evaluate a forecast?"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10" name="Table 9"/>
          <p:cNvGraphicFramePr>
            <a:graphicFrameLocks noGrp="1"/>
          </p:cNvGraphicFramePr>
          <p:nvPr/>
        </p:nvGraphicFramePr>
        <p:xfrm>
          <a:off x="530352" y="1956816"/>
          <a:ext cx="11130991" cy="3186176"/>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hold out the latest weeks as a test set, at least as many as the forecast must reach ahead, and forecast them from one origin."</a:t>
                      </a:r>
                    </a:p>
                  </a:txBody>
                  <a:tcPr marL="101600" marR="101600" marT="38100" marB="38100" anchor="ctr">
                    <a:solidFill>
                      <a:srgbClr val="FFFFFF"/>
                    </a:solidFill>
                  </a:tcPr>
                </a:tc>
              </a:tr>
              <a:tr h="611632">
                <a:tc>
                  <a:txBody>
                    <a:bodyPr/>
                    <a:lstStyle/>
                    <a:p>
                      <a:r>
                        <a:rPr sz="1400" b="0" i="0">
                          <a:solidFill>
                            <a:srgbClr val="1A1440"/>
                          </a:solidFill>
                          <a:latin typeface="Calibri"/>
                        </a:rPr>
                        <a:t>Judges by the fit to history, or a random split</a:t>
                      </a:r>
                    </a:p>
                  </a:txBody>
                  <a:tcPr marL="101600" marR="101600" marT="38100" marB="38100" anchor="ctr">
                    <a:solidFill>
                      <a:srgbClr val="F4F2FA"/>
                    </a:solidFill>
                  </a:tcPr>
                </a:tc>
                <a:tc>
                  <a:txBody>
                    <a:bodyPr/>
                    <a:lstStyle/>
                    <a:p>
                      <a:r>
                        <a:rPr sz="1400" b="0" i="0">
                          <a:solidFill>
                            <a:srgbClr val="1A1440"/>
                          </a:solidFill>
                          <a:latin typeface="Calibri"/>
                        </a:rPr>
                        <a:t>Scores only weeks after the origin, then moves the origin on and scores again</a:t>
                      </a:r>
                    </a:p>
                  </a:txBody>
                  <a:tcPr marL="101600" marR="101600" marT="38100" marB="38100" anchor="ctr">
                    <a:solidFill>
                      <a:srgbClr val="F4F2FA"/>
                    </a:solidFill>
                  </a:tcPr>
                </a:tc>
              </a:tr>
              <a:tr h="611632">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the same misses priced each way</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10" name="Rectangle 9"/>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2" name="Oval 11"/>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3588410"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5" name="TextBox 14"/>
          <p:cNvSpPr txBox="1"/>
          <p:nvPr/>
        </p:nvSpPr>
        <p:spPr>
          <a:xfrm>
            <a:off x="694944" y="3277870"/>
            <a:ext cx="3259226" cy="8620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Across centres, MASE, the misses over a naive copy's, or WAPE, total misses over total shipped. MAPE explodes near zero and pulls forecasts low; here it ranks the rules as MAE does, 3.05 to 6.82 percent.</a:t>
            </a:r>
          </a:p>
        </p:txBody>
      </p:sp>
      <p:sp>
        <p:nvSpPr>
          <p:cNvPr id="16" name="TextBox 15"/>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7" name="Oval 16"/>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2843784"/>
            <a:ext cx="3588410"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Suppose the festival moves three weeks: what breaks?</a:t>
            </a:r>
          </a:p>
        </p:txBody>
      </p:sp>
      <p:sp>
        <p:nvSpPr>
          <p:cNvPr id="20" name="TextBox 19"/>
          <p:cNvSpPr txBox="1"/>
          <p:nvPr/>
        </p:nvSpPr>
        <p:spPr>
          <a:xfrm>
            <a:off x="4466234" y="3492500"/>
            <a:ext cx="3259226" cy="531876"/>
          </a:xfrm>
          <a:prstGeom prst="rect">
            <a:avLst/>
          </a:prstGeom>
          <a:noFill/>
        </p:spPr>
        <p:txBody>
          <a:bodyPr wrap="square" anchor="t" lIns="0" rIns="0" tIns="0" bIns="0">
            <a:spAutoFit/>
          </a:bodyPr>
          <a:lstStyle/>
          <a:p>
            <a:pPr algn="l"/>
            <a:r>
              <a:rPr sz="1000" b="0" i="0">
                <a:solidFill>
                  <a:srgbClr val="6B6690"/>
                </a:solidFill>
                <a:latin typeface="Calibri"/>
              </a:rPr>
              <a:t>Every calendar copy, the seasonal naive and finance's rule; the festival-aligned copy moves with it.</a:t>
            </a:r>
          </a:p>
        </p:txBody>
      </p:sp>
      <p:sp>
        <p:nvSpPr>
          <p:cNvPr id="21" name="TextBox 20"/>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2" name="Oval 21"/>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2843784"/>
            <a:ext cx="3588410" cy="1940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5" name="TextBox 24"/>
          <p:cNvSpPr txBox="1"/>
          <p:nvPr/>
        </p:nvSpPr>
        <p:spPr>
          <a:xfrm>
            <a:off x="8237524" y="3277870"/>
            <a:ext cx="3259226" cy="1192276"/>
          </a:xfrm>
          <a:prstGeom prst="rect">
            <a:avLst/>
          </a:prstGeom>
          <a:noFill/>
        </p:spPr>
        <p:txBody>
          <a:bodyPr wrap="square" anchor="t" lIns="0" rIns="0" tIns="0" bIns="0">
            <a:spAutoFit/>
          </a:bodyPr>
          <a:lstStyle/>
          <a:p>
            <a:pPr algn="l"/>
            <a:r>
              <a:rPr sz="1000" b="0" i="0">
                <a:solidFill>
                  <a:srgbClr val="CFC9EE"/>
                </a:solidFill>
                <a:latin typeface="Calibri"/>
              </a:rPr>
              <a:t>Its margin guardrail was 2 percentage points either side of breakeven; price forecasts three to six months out missed both ways by more than Zillow had modelled, the margin swung about 12 percentage points, and Zillow wrote down, that is, cut the book value of its homes by, about USD 304 million.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10" name="mermaid diagram" descr="5d9713e6e3aac475.png"/>
          <p:cNvPicPr>
            <a:picLocks noChangeAspect="1"/>
          </p:cNvPicPr>
          <p:nvPr/>
        </p:nvPicPr>
        <p:blipFill>
          <a:blip r:embed="rId5"/>
          <a:stretch>
            <a:fillRect/>
          </a:stretch>
        </p:blipFill>
        <p:spPr>
          <a:xfrm>
            <a:off x="780897" y="1761648"/>
            <a:ext cx="10629900" cy="2100262"/>
          </a:xfrm>
          <a:prstGeom prst="rect">
            <a:avLst/>
          </a:prstGeom>
        </p:spPr>
      </p:pic>
      <p:sp>
        <p:nvSpPr>
          <p:cNvPr id="11" name="TextBox 10"/>
          <p:cNvSpPr txBox="1"/>
          <p:nvPr/>
        </p:nvSpPr>
        <p:spPr>
          <a:xfrm>
            <a:off x="530352" y="4005072"/>
            <a:ext cx="11130991" cy="2194559"/>
          </a:xfrm>
          <a:prstGeom prst="rect">
            <a:avLst/>
          </a:prstGeom>
          <a:noFill/>
        </p:spPr>
        <p:txBody>
          <a:bodyPr wrap="square" anchor="t" lIns="0" rIns="0" tIns="0" bIns="0">
            <a:spAutoFit/>
          </a:bodyPr>
          <a:lstStyle/>
          <a:p>
            <a:r>
              <a:rPr sz="1600" b="1" i="0">
                <a:solidFill>
                  <a:srgbClr val="1A1440"/>
                </a:solidFill>
                <a:latin typeface="Calibri"/>
              </a:rPr>
              <a:t>Inference</a:t>
            </a:r>
            <a:r>
              <a:rPr sz="1600" b="0" i="0">
                <a:solidFill>
                  <a:srgbClr val="1A1440"/>
                </a:solidFill>
                <a:latin typeface="Calibri"/>
              </a:rPr>
              <a:t> is the computing a model does each time it answers a user; a </a:t>
            </a:r>
            <a:r>
              <a:rPr sz="1600" b="1" i="0">
                <a:solidFill>
                  <a:srgbClr val="1A1440"/>
                </a:solidFill>
                <a:latin typeface="Calibri"/>
              </a:rPr>
              <a:t>token</a:t>
            </a:r>
            <a:r>
              <a:rPr sz="1600" b="0" i="0">
                <a:solidFill>
                  <a:srgbClr val="1A1440"/>
                </a:solidFill>
                <a:latin typeface="Calibri"/>
              </a:rPr>
              <a:t> is a piece of a word the model reads or writes; </a:t>
            </a:r>
            <a:r>
              <a:rPr sz="1600" b="1" i="0">
                <a:solidFill>
                  <a:srgbClr val="1A1440"/>
                </a:solidFill>
                <a:latin typeface="Calibri"/>
              </a:rPr>
              <a:t>latency</a:t>
            </a:r>
            <a:r>
              <a:rPr sz="1600" b="0" i="0">
                <a:solidFill>
                  <a:srgbClr val="1A1440"/>
                </a:solidFill>
                <a:latin typeface="Calibri"/>
              </a:rPr>
              <a:t> is the wait for an answer; </a:t>
            </a:r>
            <a:r>
              <a:rPr sz="1600" b="1" i="0">
                <a:solidFill>
                  <a:srgbClr val="1A1440"/>
                </a:solidFill>
                <a:latin typeface="Calibri"/>
              </a:rPr>
              <a:t>headroom</a:t>
            </a:r>
            <a:r>
              <a:rPr sz="1600" b="0" i="0">
                <a:solidFill>
                  <a:srgbClr val="1A1440"/>
                </a:solidFill>
                <a:latin typeface="Calibri"/>
              </a:rPr>
              <a:t> is capacity kept spare above the forecast; a </a:t>
            </a:r>
            <a:r>
              <a:rPr sz="1600" b="1" i="0">
                <a:solidFill>
                  <a:srgbClr val="1A1440"/>
                </a:solidFill>
                <a:latin typeface="Calibri"/>
              </a:rPr>
              <a:t>GPU</a:t>
            </a:r>
            <a:r>
              <a:rPr sz="1600" b="0" i="0">
                <a:solidFill>
                  <a:srgbClr val="1A1440"/>
                </a:solidFill>
                <a:latin typeface="Calibri"/>
              </a:rPr>
              <a:t> is the chip that runs the model; </a:t>
            </a:r>
            <a:r>
              <a:rPr sz="1600" b="1" i="0">
                <a:solidFill>
                  <a:srgbClr val="1A1440"/>
                </a:solidFill>
                <a:latin typeface="Calibri"/>
              </a:rPr>
              <a:t>rate limits</a:t>
            </a:r>
            <a:r>
              <a:rPr sz="1600" b="0" i="0">
                <a:solidFill>
                  <a:srgbClr val="1A1440"/>
                </a:solidFill>
                <a:latin typeface="Calibri"/>
              </a:rPr>
              <a:t> cap how many requests a user may send. Size the peak from the ground up as requests open at once, with prompt and answer tokens kept apart; check it against earlier launches lined up by days from launch with the weekday kept; set capacity to the latency target with headroom. The two costs, per machine over the booking, decide how much to book ahead, and a staged rollout, on-demand capacity, rate limits and a waitlist cover the rest. Written for the programme; it quotes no company's figures.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2.2 crore, checked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10" name="mermaid diagram" descr="629daa93d3849711.png"/>
          <p:cNvPicPr>
            <a:picLocks noChangeAspect="1"/>
          </p:cNvPicPr>
          <p:nvPr/>
        </p:nvPicPr>
        <p:blipFill>
          <a:blip r:embed="rId5"/>
          <a:stretch>
            <a:fillRect/>
          </a:stretch>
        </p:blipFill>
        <p:spPr>
          <a:xfrm>
            <a:off x="530352" y="1874794"/>
            <a:ext cx="11130991" cy="2378416"/>
          </a:xfrm>
          <a:prstGeom prst="rect">
            <a:avLst/>
          </a:prstGeom>
        </p:spPr>
      </p:pic>
      <p:sp>
        <p:nvSpPr>
          <p:cNvPr id="11" name="Rounded Rectangle 10"/>
          <p:cNvSpPr/>
          <p:nvPr/>
        </p:nvSpPr>
        <p:spPr>
          <a:xfrm>
            <a:off x="530352" y="439951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2753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18386"/>
            <a:ext cx="10564063" cy="1424940"/>
          </a:xfrm>
          <a:prstGeom prst="rect">
            <a:avLst/>
          </a:prstGeom>
          <a:noFill/>
        </p:spPr>
        <p:txBody>
          <a:bodyPr wrap="square" anchor="ctr" lIns="0" rIns="0" tIns="0" bIns="0">
            <a:spAutoFit/>
          </a:bodyPr>
          <a:lstStyle/>
          <a:p>
            <a:r>
              <a:rPr sz="1500" b="1">
                <a:solidFill>
                  <a:srgbClr val="5B3FD6"/>
                </a:solidFill>
                <a:latin typeface="Calibri"/>
              </a:rPr>
              <a:t>The range and the catch. </a:t>
            </a:r>
            <a:r>
              <a:rPr sz="1500" b="0" i="0">
                <a:solidFill>
                  <a:srgbClr val="1A1440"/>
                </a:solidFill>
                <a:latin typeface="Calibri"/>
              </a:rPr>
              <a:t>Replacement every 6 to 10 years, the assumed range, alone swings the answer from about 1.7 to 2.9 crore. October 2025's retail registrations were 31.5 lakh (FADA, the Federation of Automobile Dealers Associations), after a quiet September; times twelve that is about 3.78 crore, 74 percent above SIAM's year, a month of registrations set against a year of dealer sales: never annualise a peak month (both releases checked 12 October 2026).</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pick up from here? It is tentative, and the fallback session runs if it cannot.</a:t>
            </a:r>
          </a:p>
        </p:txBody>
      </p:sp>
      <p:sp>
        <p:nvSpPr>
          <p:cNvPr id="9" name="Rounded Rectangle 8"/>
          <p:cNvSpPr/>
          <p:nvPr/>
        </p:nvSpPr>
        <p:spPr>
          <a:xfrm>
            <a:off x="530352" y="185089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891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9770"/>
            <a:ext cx="10564063" cy="784860"/>
          </a:xfrm>
          <a:prstGeom prst="rect">
            <a:avLst/>
          </a:prstGeom>
          <a:noFill/>
        </p:spPr>
        <p:txBody>
          <a:bodyPr wrap="square" anchor="ctr" lIns="0" rIns="0" tIns="0" bIns="0">
            <a:spAutoFit/>
          </a:bodyPr>
          <a:lstStyle/>
          <a:p>
            <a:r>
              <a:rPr sz="1300" b="1">
                <a:solidFill>
                  <a:srgbClr val="5B3FD6"/>
                </a:solidFill>
                <a:latin typeface="Calibri"/>
              </a:rPr>
              <a:t>The handoff line. </a:t>
            </a:r>
            <a:r>
              <a:rPr sz="13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graphicFrame>
        <p:nvGraphicFramePr>
          <p:cNvPr id="12" name="Table 11"/>
          <p:cNvGraphicFramePr>
            <a:graphicFrameLocks noGrp="1"/>
          </p:cNvGraphicFramePr>
          <p:nvPr/>
        </p:nvGraphicFramePr>
        <p:xfrm>
          <a:off x="530352" y="2983230"/>
          <a:ext cx="11130991" cy="3048000"/>
        </p:xfrm>
        <a:graphic>
          <a:graphicData uri="http://schemas.openxmlformats.org/drawingml/2006/table">
            <a:tbl>
              <a:tblPr firstRow="0" bandRow="0">
                <a:tableStyleId>{2D5ABB26-0587-4C30-8999-92F81FD0307C}</a:tableStyleId>
              </a:tblPr>
              <a:tblGrid>
                <a:gridCol w="3114997"/>
                <a:gridCol w="8015994"/>
              </a:tblGrid>
              <a:tr h="335280">
                <a:tc>
                  <a:txBody>
                    <a:bodyPr/>
                    <a:lstStyle/>
                    <a:p>
                      <a:r>
                        <a:rPr sz="1250" b="1" i="0">
                          <a:solidFill>
                            <a:srgbClr val="FFFFFF"/>
                          </a:solidFill>
                          <a:latin typeface="Calibri"/>
                        </a:rPr>
                        <a:t>The word you will hear</a:t>
                      </a:r>
                    </a:p>
                  </a:txBody>
                  <a:tcPr marL="101600" marR="101600" marT="38100" marB="38100" anchor="ctr">
                    <a:solidFill>
                      <a:srgbClr val="1A0F5C"/>
                    </a:solidFill>
                  </a:tcPr>
                </a:tc>
                <a:tc>
                  <a:txBody>
                    <a:bodyPr/>
                    <a:lstStyle/>
                    <a:p>
                      <a:r>
                        <a:rPr sz="1250" b="1" i="0">
                          <a:solidFill>
                            <a:srgbClr val="FFFFFF"/>
                          </a:solidFill>
                          <a:latin typeface="Calibri"/>
                        </a:rPr>
                        <a:t>What it means here</a:t>
                      </a:r>
                    </a:p>
                  </a:txBody>
                  <a:tcPr marL="101600" marR="101600" marT="38100" marB="38100" anchor="ctr">
                    <a:solidFill>
                      <a:srgbClr val="1A0F5C"/>
                    </a:solidFill>
                  </a:tcPr>
                </a:tc>
              </a:tr>
              <a:tr h="542544">
                <a:tc>
                  <a:txBody>
                    <a:bodyPr/>
                    <a:lstStyle/>
                    <a:p>
                      <a:r>
                        <a:rPr sz="1200" b="0" i="0">
                          <a:solidFill>
                            <a:srgbClr val="1A1440"/>
                          </a:solidFill>
                          <a:latin typeface="Calibri"/>
                        </a:rPr>
                        <a:t>Baseline</a:t>
                      </a:r>
                    </a:p>
                  </a:txBody>
                  <a:tcPr marL="101600" marR="101600" marT="38100" marB="38100" anchor="ctr">
                    <a:solidFill>
                      <a:srgbClr val="FFFFFF"/>
                    </a:solidFill>
                  </a:tcPr>
                </a:tc>
                <a:tc>
                  <a:txBody>
                    <a:bodyPr/>
                    <a:lstStyle/>
                    <a:p>
                      <a:r>
                        <a:rPr sz="1200" b="0" i="0">
                          <a:solidFill>
                            <a:srgbClr val="1A1440"/>
                          </a:solidFill>
                          <a:latin typeface="Calibri"/>
                        </a:rPr>
                        <a:t>It is the simple copy any model must beat on the hidden weeks: festival-aligned, which missed by 6,615 a week.</a:t>
                      </a:r>
                    </a:p>
                  </a:txBody>
                  <a:tcPr marL="101600" marR="101600" marT="38100" marB="38100" anchor="ctr">
                    <a:solidFill>
                      <a:srgbClr val="FFFFFF"/>
                    </a:solidFill>
                  </a:tcPr>
                </a:tc>
              </a:tr>
              <a:tr h="542544">
                <a:tc>
                  <a:txBody>
                    <a:bodyPr/>
                    <a:lstStyle/>
                    <a:p>
                      <a:r>
                        <a:rPr sz="1200" b="0" i="0">
                          <a:solidFill>
                            <a:srgbClr val="1A1440"/>
                          </a:solidFill>
                          <a:latin typeface="Calibri"/>
                        </a:rPr>
                        <a:t>Autocorrelation</a:t>
                      </a:r>
                    </a:p>
                  </a:txBody>
                  <a:tcPr marL="101600" marR="101600" marT="38100" marB="38100" anchor="ctr">
                    <a:solidFill>
                      <a:srgbClr val="F4F2FA"/>
                    </a:solidFill>
                  </a:tcPr>
                </a:tc>
                <a:tc>
                  <a:txBody>
                    <a:bodyPr/>
                    <a:lstStyle/>
                    <a:p>
                      <a:r>
                        <a:rPr sz="1200" b="0" i="0">
                          <a:solidFill>
                            <a:srgbClr val="1A1440"/>
                          </a:solidFill>
                          <a:latin typeface="Calibri"/>
                        </a:rPr>
                        <a:t>It measures how closely each week's shipments follow the week a fixed number of weeks earlier, one back or 52 back.</a:t>
                      </a:r>
                    </a:p>
                  </a:txBody>
                  <a:tcPr marL="101600" marR="101600" marT="38100" marB="38100" anchor="ctr">
                    <a:solidFill>
                      <a:srgbClr val="F4F2FA"/>
                    </a:solidFill>
                  </a:tcPr>
                </a:tc>
              </a:tr>
              <a:tr h="335280">
                <a:tc>
                  <a:txBody>
                    <a:bodyPr/>
                    <a:lstStyle/>
                    <a:p>
                      <a:r>
                        <a:rPr sz="1200" b="0" i="0">
                          <a:solidFill>
                            <a:srgbClr val="1A1440"/>
                          </a:solidFill>
                          <a:latin typeface="Calibri"/>
                        </a:rPr>
                        <a:t>Smoothing</a:t>
                      </a:r>
                    </a:p>
                  </a:txBody>
                  <a:tcPr marL="101600" marR="101600" marT="38100" marB="38100" anchor="ctr">
                    <a:solidFill>
                      <a:srgbClr val="FFFFFF"/>
                    </a:solidFill>
                  </a:tcPr>
                </a:tc>
                <a:tc>
                  <a:txBody>
                    <a:bodyPr/>
                    <a:lstStyle/>
                    <a:p>
                      <a:r>
                        <a:rPr sz="1200" b="0" i="0">
                          <a:solidFill>
                            <a:srgbClr val="1A1440"/>
                          </a:solidFill>
                          <a:latin typeface="Calibri"/>
                        </a:rPr>
                        <a:t>It forecasts from an average of past weeks that gives the most recent weeks the most weight.</a:t>
                      </a:r>
                    </a:p>
                  </a:txBody>
                  <a:tcPr marL="101600" marR="101600" marT="38100" marB="38100" anchor="ctr">
                    <a:solidFill>
                      <a:srgbClr val="FFFFFF"/>
                    </a:solidFill>
                  </a:tcPr>
                </a:tc>
              </a:tr>
              <a:tr h="542544">
                <a:tc>
                  <a:txBody>
                    <a:bodyPr/>
                    <a:lstStyle/>
                    <a:p>
                      <a:r>
                        <a:rPr sz="1200" b="0" i="0">
                          <a:solidFill>
                            <a:srgbClr val="1A1440"/>
                          </a:solidFill>
                          <a:latin typeface="Calibri"/>
                        </a:rPr>
                        <a:t>ARIMA</a:t>
                      </a:r>
                    </a:p>
                  </a:txBody>
                  <a:tcPr marL="101600" marR="101600" marT="38100" marB="38100" anchor="ctr">
                    <a:solidFill>
                      <a:srgbClr val="F4F2FA"/>
                    </a:solidFill>
                  </a:tcPr>
                </a:tc>
                <a:tc>
                  <a:txBody>
                    <a:bodyPr/>
                    <a:lstStyle/>
                    <a:p>
                      <a:r>
                        <a:rPr sz="1200" b="0" i="0">
                          <a:solidFill>
                            <a:srgbClr val="1A1440"/>
                          </a:solidFill>
                          <a:latin typeface="Calibri"/>
                        </a:rPr>
                        <a:t>It forecasts from the series' own past weeks and its own past misses, the pattern autocorrelation measures.</a:t>
                      </a:r>
                    </a:p>
                  </a:txBody>
                  <a:tcPr marL="101600" marR="101600" marT="38100" marB="38100" anchor="ctr">
                    <a:solidFill>
                      <a:srgbClr val="F4F2FA"/>
                    </a:solidFill>
                  </a:tcPr>
                </a:tc>
              </a:tr>
              <a:tr h="749808">
                <a:tc>
                  <a:txBody>
                    <a:bodyPr/>
                    <a:lstStyle/>
                    <a:p>
                      <a:r>
                        <a:rPr sz="1200" b="0" i="0">
                          <a:solidFill>
                            <a:srgbClr val="1A1440"/>
                          </a:solidFill>
                          <a:latin typeface="Calibri"/>
                        </a:rPr>
                        <a:t>Held-out weeks</a:t>
                      </a:r>
                    </a:p>
                  </a:txBody>
                  <a:tcPr marL="101600" marR="101600" marT="38100" marB="38100" anchor="ctr">
                    <a:solidFill>
                      <a:srgbClr val="FFFFFF"/>
                    </a:solidFill>
                  </a:tcPr>
                </a:tc>
                <a:tc>
                  <a:txBody>
                    <a:bodyPr/>
                    <a:lstStyle/>
                    <a:p>
                      <a:r>
                        <a:rPr sz="1200" b="0" i="0">
                          <a:solidFill>
                            <a:srgbClr val="1A1440"/>
                          </a:solidFill>
                          <a:latin typeface="Calibri"/>
                        </a:rPr>
                        <a:t>The thirteen the handoff line names; since they also picked the rule, a new model that beats the baseline there is checked again from many origins in turn, a rolling origin, through 2025's festival.</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 by the curriculum's topic</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Naive, seasonal naive and drift baselines: 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Holding out; MAE and MAPE in the business's units: shipments or percent,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Beating the baseline; the vendor curve tested: 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good-enough call and the forecast note: 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the same miss, short or over, priced</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Trend and seasonality, read before modelling: which comparison reads growth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miss both ways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a typical miss of 6,615 a week costs Rs 1.65 lakh short or Rs 35,800 over.</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