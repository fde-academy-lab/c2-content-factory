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room comes back. The morning's chosen forecast is on the board with its MAE</a:t>
            </a:r>
          </a:p>
          <a:p>
            <a:r>
              <a:t>in rupees. The afternoon is unguided: each group writes the staffing note, then the room reads</a:t>
            </a:r>
          </a:p>
          <a:p>
            <a:r>
              <a:t>the interview transcripts and the AI-company variant, and the handoff lines up Saturday's</a:t>
            </a:r>
          </a:p>
          <a:p>
            <a:r>
              <a:t>transfer drill.</a:t>
            </a:r>
          </a:p>
          <a:p>
            <a:r>
              <a:t>Transition: S1, the morning's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morning picked the forecast and set its error bar. The afternoon turns that</a:t>
            </a:r>
          </a:p>
          <a:p>
            <a:r>
              <a:t>into a staffing note the room can defend. The transcript follows the note, so the interview</a:t>
            </a:r>
          </a:p>
          <a:p>
            <a:r>
              <a:t>language carries the room's own number.</a:t>
            </a:r>
          </a:p>
          <a:p>
            <a:r>
              <a:t>Transition: S2, the brief for the unguided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unguided. Groups work in their nine seats; the TAs circulate. The scorecard is</a:t>
            </a:r>
          </a:p>
          <a:p>
            <a:r>
              <a:t>the one from Tuesday's studio: claim as the title, one piece of evidence with its denominator or</a:t>
            </a:r>
          </a:p>
          <a:p>
            <a:r>
              <a:t>one chart, the caveat in plain sight, the action with its cost in rupees and weeks. If a group</a:t>
            </a:r>
          </a:p>
          <a:p>
            <a:r>
              <a:t>splits the vendor's 22 and finance's 4, challenge the choice: "which baseline did either of them</a:t>
            </a:r>
          </a:p>
          <a:p>
            <a:r>
              <a:t>beat on the hold-out?"</a:t>
            </a:r>
          </a:p>
          <a:p>
            <a:r>
              <a:t>Transition: S3, the interview transcript.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Three follow-ups the interviewer uses: 'MAE in shipments or MAPE in percent, and</a:t>
            </a:r>
          </a:p>
          <a:p>
            <a:r>
              <a:t>when' (shipments when the per-shipment cost is the planning cost; percent when sizes vary across</a:t>
            </a:r>
          </a:p>
          <a:p>
            <a:r>
              <a:t>series). 'The festival moves by three weeks this year; what breaks' (SWLY and finance both break;</a:t>
            </a:r>
          </a:p>
          <a:p>
            <a:r>
              <a:t>festival-aligned moves with it). 'What did forecast error cost Zillow, and which guardrail failed'</a:t>
            </a:r>
          </a:p>
          <a:p>
            <a:r>
              <a:t>(the public plus or minus 200 bp was breached, the swing was 1,200, the write-down about USD 304</a:t>
            </a:r>
          </a:p>
          <a:p>
            <a:r>
              <a:t>million, the workforce cut by about a quarter, F3). The weak answer opens on the method; the</a:t>
            </a:r>
          </a:p>
          <a:p>
            <a:r>
              <a:t>hire-grade answer opens on the measure.</a:t>
            </a:r>
          </a:p>
          <a:p>
            <a:r>
              <a:t>Transition: S4,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programme-written AI variant; no public company's figure is quoted</a:t>
            </a:r>
          </a:p>
          <a:p>
            <a:r>
              <a:t>here. The shape of the method is the same as the festival: find the horizon, hold out, pick a</a:t>
            </a:r>
          </a:p>
          <a:p>
            <a:r>
              <a:t>baseline, measure in the right unit, cost the two directions. The variant works for payments load</a:t>
            </a:r>
          </a:p>
          <a:p>
            <a:r>
              <a:t>on sale day and for ride-hailing surge too.</a:t>
            </a:r>
          </a:p>
          <a:p>
            <a:r>
              <a:t>Transition: S5, the morning handoff into the IITGN block or the fallback.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and set the question. The faculty session is tentative until</a:t>
            </a:r>
          </a:p>
          <a:p>
            <a:r>
              <a:t>IIT Gandhinagar confirms (sync block above), and a STUDENT file says tentative beside any</a:t>
            </a:r>
          </a:p>
          <a:p>
            <a:r>
              <a:t>mention of the block. If the block slips, S6 opens the rolling-origin hour.</a:t>
            </a:r>
          </a:p>
          <a:p>
            <a:r>
              <a:t>Transition: S6, the fallback 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120 minutes if run. The fallback teaches nothing the block owns: no autocorrelation, no</a:t>
            </a:r>
          </a:p>
          <a:p>
            <a:r>
              <a:t>smoothing, no ARIMA. The row of parts above gives the minute budget by eye (35, 30, 30, 25).</a:t>
            </a:r>
          </a:p>
          <a:p>
            <a:r>
              <a:t>Transition: S7, Kahoot.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Kahoot is daily and ungraded. The trap item (Q3) is already answered on the</a:t>
            </a:r>
          </a:p>
          <a:p>
            <a:r>
              <a:t>scoreboard, but the return question from Thursday is worth two minutes of discussion if the room</a:t>
            </a:r>
          </a:p>
          <a:p>
            <a:r>
              <a:t>is slow: the mechanism is a size-weighted blend of cohort rates, where larger younger cohorts</a:t>
            </a:r>
          </a:p>
          <a:p>
            <a:r>
              <a:t>mask the older cohorts' decline.</a:t>
            </a:r>
          </a:p>
          <a:p>
            <a:r>
              <a:t>Transition: S8, Saturday's preview.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 over Saturday's preview with the three briefs it opens on (Amazon India's</a:t>
            </a:r>
          </a:p>
          <a:p>
            <a:r>
              <a:t>fulfilment centre is the one for today's method). The one-rule line is what the week closes on</a:t>
            </a:r>
          </a:p>
          <a:p>
            <a:r>
              <a:t>in the Saturday paper's part 5.</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FRIDAY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staffing note, the interview, and Saturday's bridge</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“The plan goes to Friday with its error bar, its cost per direction, and the baseline it had to beat.”</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FC planner at Flipkart's Lucknow fulfilment centre, hand-off to the regional operations head</a:t>
            </a:r>
          </a:p>
        </p:txBody>
      </p:sp>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The staffing note, the interview, and Saturday's bridge</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left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land, and what is left for the afternoon?</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CHOSEN FORECAST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Festival-aligned with drift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Beats the vendor by 200 percent on the hold-out; places the peak at the right week.</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ERROR BAR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Hold-out MAE 5,674</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Shipments per week; priced in rupees per direction (Rs 30,760 if over, Rs 1.42 lakh if under).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culator_0c03871b1cb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PLAN QUANTILE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0.82</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From 25 over 25 plus 5.42; the plan sits above the median because being short costs 4.6 times being long.</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afternoon writes the staffing note each group hands to the regional operations head, with the method, the forecast, the error bar in rupees and three facts that would move it.</a:t>
            </a:r>
          </a:p>
        </p:txBody>
      </p:sp>
      <p:sp>
        <p:nvSpPr>
          <p:cNvPr id="28" name="TextBox 27"/>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unguided exercise: write the staffing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produce in the next 30 minutes, and who is the reader?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 PAGE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Method, forecast, error bar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Name the method, give the eight-week shipment forecast, state the hold-out MAE in rupees per direction.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PACKERS PER WEEK</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Shifts raised to 0.82</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Shipments divided by 120, raised toward the 0.82 quantile from the error bar.</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alert_cbcafc1efee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WOULD MAKE IT WRONG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Three facts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Which facts would move the number: a festival-adjacent GST change, a new vendor without Lucknow history, a capacity-clipped series.</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Interview transcript: how do you evaluate a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strong answer look like, and what does a weak answer skip?</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853440">
                <a:tc>
                  <a:txBody>
                    <a:bodyPr/>
                    <a:lstStyle/>
                    <a:p>
                      <a:r>
                        <a:rPr sz="1400" b="0" i="0">
                          <a:solidFill>
                            <a:srgbClr val="1A1440"/>
                          </a:solidFill>
                          <a:latin typeface="Calibri"/>
                        </a:rPr>
                        <a:t>"We used ARIMA and the fit was good."</a:t>
                      </a:r>
                    </a:p>
                  </a:txBody>
                  <a:tcPr marL="101600" marR="101600" marT="38100" marB="38100" anchor="ctr">
                    <a:solidFill>
                      <a:srgbClr val="FFFFFF"/>
                    </a:solidFill>
                  </a:tcPr>
                </a:tc>
                <a:tc>
                  <a:txBody>
                    <a:bodyPr/>
                    <a:lstStyle/>
                    <a:p>
                      <a:r>
                        <a:rPr sz="1400" b="0" i="0">
                          <a:solidFill>
                            <a:srgbClr val="1A1440"/>
                          </a:solidFill>
                          <a:latin typeface="Calibri"/>
                        </a:rPr>
                        <a:t>"I hold out as many periods as the horizon, score in the business's unit, and compare with the naive and the seasonal naive before trusting any model."</a:t>
                      </a:r>
                    </a:p>
                  </a:txBody>
                  <a:tcPr marL="101600" marR="101600" marT="38100" marB="38100" anchor="ctr">
                    <a:solidFill>
                      <a:srgbClr val="FFFFFF"/>
                    </a:solidFill>
                  </a:tcPr>
                </a:tc>
              </a:tr>
              <a:tr h="369824">
                <a:tc>
                  <a:txBody>
                    <a:bodyPr/>
                    <a:lstStyle/>
                    <a:p>
                      <a:r>
                        <a:rPr sz="1400" b="0" i="0">
                          <a:solidFill>
                            <a:srgbClr val="1A1440"/>
                          </a:solidFill>
                          <a:latin typeface="Calibri"/>
                        </a:rPr>
                        <a:t>Judges by in-sample fit.</a:t>
                      </a:r>
                    </a:p>
                  </a:txBody>
                  <a:tcPr marL="101600" marR="101600" marT="38100" marB="38100" anchor="ctr">
                    <a:solidFill>
                      <a:srgbClr val="F4F2FA"/>
                    </a:solidFill>
                  </a:tcPr>
                </a:tc>
                <a:tc>
                  <a:txBody>
                    <a:bodyPr/>
                    <a:lstStyle/>
                    <a:p>
                      <a:r>
                        <a:rPr sz="1400" b="0" i="0">
                          <a:solidFill>
                            <a:srgbClr val="1A1440"/>
                          </a:solidFill>
                          <a:latin typeface="Calibri"/>
                        </a:rPr>
                        <a:t>Names the baseline and the hold-out, both set before scoring.</a:t>
                      </a:r>
                    </a:p>
                  </a:txBody>
                  <a:tcPr marL="101600" marR="101600" marT="38100" marB="38100" anchor="ctr">
                    <a:solidFill>
                      <a:srgbClr val="F4F2FA"/>
                    </a:solidFill>
                  </a:tcPr>
                </a:tc>
              </a:tr>
              <a:tr h="369824">
                <a:tc>
                  <a:txBody>
                    <a:bodyPr/>
                    <a:lstStyle/>
                    <a:p>
                      <a:r>
                        <a:rPr sz="1400" b="0" i="0">
                          <a:solidFill>
                            <a:srgbClr val="1A1440"/>
                          </a:solidFill>
                          <a:latin typeface="Calibri"/>
                        </a:rPr>
                        <a:t>Picks a model.</a:t>
                      </a:r>
                    </a:p>
                  </a:txBody>
                  <a:tcPr marL="101600" marR="101600" marT="38100" marB="38100" anchor="ctr">
                    <a:solidFill>
                      <a:srgbClr val="FFFFFF"/>
                    </a:solidFill>
                  </a:tcPr>
                </a:tc>
                <a:tc>
                  <a:txBody>
                    <a:bodyPr/>
                    <a:lstStyle/>
                    <a:p>
                      <a:r>
                        <a:rPr sz="1400" b="0" i="0">
                          <a:solidFill>
                            <a:srgbClr val="1A1440"/>
                          </a:solidFill>
                          <a:latin typeface="Calibri"/>
                        </a:rPr>
                        <a:t>Earns a model's place over a baseline.</a:t>
                      </a:r>
                    </a:p>
                  </a:txBody>
                  <a:tcPr marL="101600" marR="101600" marT="38100" marB="38100" anchor="ctr">
                    <a:solidFill>
                      <a:srgbClr val="FFFFFF"/>
                    </a:solidFill>
                  </a:tcPr>
                </a:tc>
              </a:tr>
              <a:tr h="369824">
                <a:tc>
                  <a:txBody>
                    <a:bodyPr/>
                    <a:lstStyle/>
                    <a:p>
                      <a:r>
                        <a:rPr sz="1400" b="0" i="0">
                          <a:solidFill>
                            <a:srgbClr val="1A1440"/>
                          </a:solidFill>
                          <a:latin typeface="Calibri"/>
                        </a:rPr>
                        <a:t>Reports one number.</a:t>
                      </a:r>
                    </a:p>
                  </a:txBody>
                  <a:tcPr marL="101600" marR="101600" marT="38100" marB="38100" anchor="ctr">
                    <a:solidFill>
                      <a:srgbClr val="F4F2FA"/>
                    </a:solidFill>
                  </a:tcPr>
                </a:tc>
                <a:tc>
                  <a:txBody>
                    <a:bodyPr/>
                    <a:lstStyle/>
                    <a:p>
                      <a:r>
                        <a:rPr sz="1400" b="0" i="0">
                          <a:solidFill>
                            <a:srgbClr val="1A1440"/>
                          </a:solidFill>
                          <a:latin typeface="Calibri"/>
                        </a:rPr>
                        <a:t>Reports MAE in the two directions, since the costs are not the same.</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 variant: forecast inference demand for a launch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forecast requests per minute around an AI product launch?</a:t>
            </a:r>
          </a:p>
        </p:txBody>
      </p:sp>
      <p:pic>
        <p:nvPicPr>
          <p:cNvPr id="9" name="mermaid diagram" descr="de21f224a222d476.png"/>
          <p:cNvPicPr>
            <a:picLocks noChangeAspect="1"/>
          </p:cNvPicPr>
          <p:nvPr/>
        </p:nvPicPr>
        <p:blipFill>
          <a:blip r:embed="rId5"/>
          <a:stretch>
            <a:fillRect/>
          </a:stretch>
        </p:blipFill>
        <p:spPr>
          <a:xfrm>
            <a:off x="780897" y="1811369"/>
            <a:ext cx="10629900" cy="2357437"/>
          </a:xfrm>
          <a:prstGeom prst="rect">
            <a:avLst/>
          </a:prstGeom>
        </p:spPr>
      </p:pic>
      <p:graphicFrame>
        <p:nvGraphicFramePr>
          <p:cNvPr id="10" name="Table 9"/>
          <p:cNvGraphicFramePr>
            <a:graphicFrameLocks noGrp="1"/>
          </p:cNvGraphicFramePr>
          <p:nvPr/>
        </p:nvGraphicFramePr>
        <p:xfrm>
          <a:off x="530352" y="4315110"/>
          <a:ext cx="11130991" cy="1755648"/>
        </p:xfrm>
        <a:graphic>
          <a:graphicData uri="http://schemas.openxmlformats.org/drawingml/2006/table">
            <a:tbl>
              <a:tblPr firstRow="0" bandRow="0">
                <a:tableStyleId>{2D5ABB26-0587-4C30-8999-92F81FD0307C}</a:tableStyleId>
              </a:tblPr>
              <a:tblGrid>
                <a:gridCol w="2625448"/>
                <a:gridCol w="8505543"/>
              </a:tblGrid>
              <a:tr h="335280">
                <a:tc>
                  <a:txBody>
                    <a:bodyPr/>
                    <a:lstStyle/>
                    <a:p>
                      <a:r>
                        <a:rPr sz="1250" b="1" i="0">
                          <a:solidFill>
                            <a:srgbClr val="FFFFFF"/>
                          </a:solidFill>
                          <a:latin typeface="Calibri"/>
                        </a:rPr>
                        <a:t>The spike</a:t>
                      </a:r>
                    </a:p>
                  </a:txBody>
                  <a:tcPr marL="101600" marR="101600" marT="38100" marB="38100" anchor="ctr">
                    <a:solidFill>
                      <a:srgbClr val="1A0F5C"/>
                    </a:solidFill>
                  </a:tcPr>
                </a:tc>
                <a:tc>
                  <a:txBody>
                    <a:bodyPr/>
                    <a:lstStyle/>
                    <a:p>
                      <a:r>
                        <a:rPr sz="1250" b="1" i="0">
                          <a:solidFill>
                            <a:srgbClr val="FFFFFF"/>
                          </a:solidFill>
                          <a:latin typeface="Calibri"/>
                        </a:rPr>
                        <a:t>The launch window acts like the festival: a known date, a known shape, a short history to learn from.</a:t>
                      </a:r>
                    </a:p>
                  </a:txBody>
                  <a:tcPr marL="101600" marR="101600" marT="38100" marB="38100" anchor="ctr">
                    <a:solidFill>
                      <a:srgbClr val="1A0F5C"/>
                    </a:solidFill>
                  </a:tcPr>
                </a:tc>
              </a:tr>
              <a:tr h="335280">
                <a:tc>
                  <a:txBody>
                    <a:bodyPr/>
                    <a:lstStyle/>
                    <a:p>
                      <a:r>
                        <a:rPr sz="1200" b="0" i="0">
                          <a:solidFill>
                            <a:srgbClr val="1A1440"/>
                          </a:solidFill>
                          <a:latin typeface="Calibri"/>
                        </a:rPr>
                        <a:t>The hold-out</a:t>
                      </a:r>
                    </a:p>
                  </a:txBody>
                  <a:tcPr marL="101600" marR="101600" marT="38100" marB="38100" anchor="ctr">
                    <a:solidFill>
                      <a:srgbClr val="FFFFFF"/>
                    </a:solidFill>
                  </a:tcPr>
                </a:tc>
                <a:tc>
                  <a:txBody>
                    <a:bodyPr/>
                    <a:lstStyle/>
                    <a:p>
                      <a:r>
                        <a:rPr sz="1200" b="0" i="0">
                          <a:solidFill>
                            <a:srgbClr val="1A1440"/>
                          </a:solidFill>
                          <a:latin typeface="Calibri"/>
                        </a:rPr>
                        <a:t>Spans the horizon the capacity plan has to cover; nothing shorter is honest.</a:t>
                      </a:r>
                    </a:p>
                  </a:txBody>
                  <a:tcPr marL="101600" marR="101600" marT="38100" marB="38100" anchor="ctr">
                    <a:solidFill>
                      <a:srgbClr val="FFFFFF"/>
                    </a:solidFill>
                  </a:tcPr>
                </a:tc>
              </a:tr>
              <a:tr h="542544">
                <a:tc>
                  <a:txBody>
                    <a:bodyPr/>
                    <a:lstStyle/>
                    <a:p>
                      <a:r>
                        <a:rPr sz="1200" b="0" i="0">
                          <a:solidFill>
                            <a:srgbClr val="1A1440"/>
                          </a:solidFill>
                          <a:latin typeface="Calibri"/>
                        </a:rPr>
                        <a:t>The baseline</a:t>
                      </a:r>
                    </a:p>
                  </a:txBody>
                  <a:tcPr marL="101600" marR="101600" marT="38100" marB="38100" anchor="ctr">
                    <a:solidFill>
                      <a:srgbClr val="F4F2FA"/>
                    </a:solidFill>
                  </a:tcPr>
                </a:tc>
                <a:tc>
                  <a:txBody>
                    <a:bodyPr/>
                    <a:lstStyle/>
                    <a:p>
                      <a:r>
                        <a:rPr sz="1200" b="0" i="0">
                          <a:solidFill>
                            <a:srgbClr val="1A1440"/>
                          </a:solidFill>
                          <a:latin typeface="Calibri"/>
                        </a:rPr>
                        <a:t>A traffic model for the days around the launch, built from the last launch's shape. The vendor model has to beat it.</a:t>
                      </a:r>
                    </a:p>
                  </a:txBody>
                  <a:tcPr marL="101600" marR="101600" marT="38100" marB="38100" anchor="ctr">
                    <a:solidFill>
                      <a:srgbClr val="F4F2FA"/>
                    </a:solidFill>
                  </a:tcPr>
                </a:tc>
              </a:tr>
              <a:tr h="542544">
                <a:tc>
                  <a:txBody>
                    <a:bodyPr/>
                    <a:lstStyle/>
                    <a:p>
                      <a:r>
                        <a:rPr sz="1200" b="0" i="0">
                          <a:solidFill>
                            <a:srgbClr val="1A1440"/>
                          </a:solidFill>
                          <a:latin typeface="Calibri"/>
                        </a:rPr>
                        <a:t>The asymmetric cost</a:t>
                      </a:r>
                    </a:p>
                  </a:txBody>
                  <a:tcPr marL="101600" marR="101600" marT="38100" marB="38100" anchor="ctr">
                    <a:solidFill>
                      <a:srgbClr val="FFFFFF"/>
                    </a:solidFill>
                  </a:tcPr>
                </a:tc>
                <a:tc>
                  <a:txBody>
                    <a:bodyPr/>
                    <a:lstStyle/>
                    <a:p>
                      <a:r>
                        <a:rPr sz="1200" b="0" i="0">
                          <a:solidFill>
                            <a:srgbClr val="1A1440"/>
                          </a:solidFill>
                          <a:latin typeface="Calibri"/>
                        </a:rPr>
                        <a:t>Over-provisioned capacity is a weekly cost; timeouts in the launch minute cost a product's reputation. The plan sits above the median.</a:t>
                      </a:r>
                    </a:p>
                  </a:txBody>
                  <a:tcPr marL="101600" marR="101600" marT="38100" marB="38100" anchor="ctr">
                    <a:solidFill>
                      <a:srgbClr val="FFFFFF"/>
                    </a:solidFill>
                  </a:tcPr>
                </a:tc>
              </a:tr>
            </a:tbl>
          </a:graphicData>
        </a:graphic>
      </p:graphicFrame>
      <p:sp>
        <p:nvSpPr>
          <p:cNvPr id="11" name="TextBox 1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to the faculty block (W4-4, tentative)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afternoon stop, and what will the IITGN block pick up?</a:t>
            </a:r>
          </a:p>
        </p:txBody>
      </p:sp>
      <p:pic>
        <p:nvPicPr>
          <p:cNvPr id="9" name="mermaid diagram" descr="8c8128eb53001444.png"/>
          <p:cNvPicPr>
            <a:picLocks noChangeAspect="1"/>
          </p:cNvPicPr>
          <p:nvPr/>
        </p:nvPicPr>
        <p:blipFill>
          <a:blip r:embed="rId5"/>
          <a:stretch>
            <a:fillRect/>
          </a:stretch>
        </p:blipFill>
        <p:spPr>
          <a:xfrm>
            <a:off x="780897" y="1761648"/>
            <a:ext cx="10629900" cy="2100262"/>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sp>
        <p:nvSpPr>
          <p:cNvPr id="13" name="TextBox 12"/>
          <p:cNvSpPr txBox="1"/>
          <p:nvPr/>
        </p:nvSpPr>
        <p:spPr>
          <a:xfrm>
            <a:off x="530352" y="551078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Faculty block tentative; confirmation pending from IIT Gandhinagar. If the block slips, the fallback below runs in its place.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Fallback: the rolling-origin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if the block slips, and what does it earn?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Shorter hold-out</a:t>
            </a:r>
          </a:p>
        </p:txBody>
      </p:sp>
      <p:sp>
        <p:nvSpPr>
          <p:cNvPr id="14" name="TextBox 13"/>
          <p:cNvSpPr txBox="1"/>
          <p:nvPr/>
        </p:nvSpPr>
        <p:spPr>
          <a:xfrm>
            <a:off x="694944"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Rescore with four weeks held out instead of thirteen; name what changed and why a test shorter than the horizon misleads.</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Rolling origin</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Forecast one week ahead from each of six origins; read the errors as a line.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Zillow and Target Canada</a:t>
            </a:r>
          </a:p>
        </p:txBody>
      </p:sp>
      <p:sp>
        <p:nvSpPr>
          <p:cNvPr id="24" name="TextBox 23"/>
          <p:cNvSpPr txBox="1"/>
          <p:nvPr/>
        </p:nvSpPr>
        <p:spPr>
          <a:xfrm>
            <a:off x="6351879"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Which guardrail failed at Zillow (F3) and what history Target's buyers had (F4); the Lucknow equivalent of each.</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Second transcript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Finance and the vendor's sponsor each want theirs in front of the plan.</a:t>
            </a:r>
          </a:p>
        </p:txBody>
      </p:sp>
      <p:sp>
        <p:nvSpPr>
          <p:cNvPr id="30" name="TextBox 2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in nine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take away, and what returns from Thursday?</a:t>
            </a:r>
          </a:p>
        </p:txBody>
      </p:sp>
      <p:graphicFrame>
        <p:nvGraphicFramePr>
          <p:cNvPr id="9" name="Table 8"/>
          <p:cNvGraphicFramePr>
            <a:graphicFrameLocks noGrp="1"/>
          </p:cNvGraphicFramePr>
          <p:nvPr/>
        </p:nvGraphicFramePr>
        <p:xfrm>
          <a:off x="530352" y="1793240"/>
          <a:ext cx="11130990" cy="4295648"/>
        </p:xfrm>
        <a:graphic>
          <a:graphicData uri="http://schemas.openxmlformats.org/drawingml/2006/table">
            <a:tbl>
              <a:tblPr firstRow="0" bandRow="0">
                <a:tableStyleId>{2D5ABB26-0587-4C30-8999-92F81FD0307C}</a:tableStyleId>
              </a:tblPr>
              <a:tblGrid>
                <a:gridCol w="3006662"/>
                <a:gridCol w="8124328"/>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611632">
                <a:tc>
                  <a:txBody>
                    <a:bodyPr/>
                    <a:lstStyle/>
                    <a:p>
                      <a:r>
                        <a:rPr sz="1400" b="0" i="0">
                          <a:solidFill>
                            <a:srgbClr val="1A1440"/>
                          </a:solidFill>
                          <a:latin typeface="Calibri"/>
                        </a:rPr>
                        <a:t>Q1</a:t>
                      </a:r>
                    </a:p>
                  </a:txBody>
                  <a:tcPr marL="101600" marR="101600" marT="38100" marB="38100" anchor="ctr">
                    <a:solidFill>
                      <a:srgbClr val="FFFFFF"/>
                    </a:solidFill>
                  </a:tcPr>
                </a:tc>
                <a:tc>
                  <a:txBody>
                    <a:bodyPr/>
                    <a:lstStyle/>
                    <a:p>
                      <a:r>
                        <a:rPr sz="1400" b="0" i="0">
                          <a:solidFill>
                            <a:srgbClr val="1A1440"/>
                          </a:solidFill>
                          <a:latin typeface="Calibri"/>
                        </a:rPr>
                        <a:t>The seasonal naive forecast for next November's Diwali week is which number from the twelve rows?</a:t>
                      </a:r>
                    </a:p>
                  </a:txBody>
                  <a:tcPr marL="101600" marR="101600" marT="38100" marB="38100" anchor="ctr">
                    <a:solidFill>
                      <a:srgbClr val="FFFFFF"/>
                    </a:solidFill>
                  </a:tcPr>
                </a:tc>
              </a:tr>
              <a:tr h="369824">
                <a:tc>
                  <a:txBody>
                    <a:bodyPr/>
                    <a:lstStyle/>
                    <a:p>
                      <a:r>
                        <a:rPr sz="1400" b="0" i="0">
                          <a:solidFill>
                            <a:srgbClr val="1A1440"/>
                          </a:solidFill>
                          <a:latin typeface="Calibri"/>
                        </a:rPr>
                        <a:t>Q2</a:t>
                      </a:r>
                    </a:p>
                  </a:txBody>
                  <a:tcPr marL="101600" marR="101600" marT="38100" marB="38100" anchor="ctr">
                    <a:solidFill>
                      <a:srgbClr val="F4F2FA"/>
                    </a:solidFill>
                  </a:tcPr>
                </a:tc>
                <a:tc>
                  <a:txBody>
                    <a:bodyPr/>
                    <a:lstStyle/>
                    <a:p>
                      <a:r>
                        <a:rPr sz="1400" b="0" i="0">
                          <a:solidFill>
                            <a:srgbClr val="1A1440"/>
                          </a:solidFill>
                          <a:latin typeface="Calibri"/>
                        </a:rPr>
                        <a:t>MAE in shipments versus MAPE in percent: which when, and why?</a:t>
                      </a:r>
                    </a:p>
                  </a:txBody>
                  <a:tcPr marL="101600" marR="101600" marT="38100" marB="38100" anchor="ctr">
                    <a:solidFill>
                      <a:srgbClr val="F4F2FA"/>
                    </a:solidFill>
                  </a:tcPr>
                </a:tc>
              </a:tr>
              <a:tr h="369824">
                <a:tc>
                  <a:txBody>
                    <a:bodyPr/>
                    <a:lstStyle/>
                    <a:p>
                      <a:r>
                        <a:rPr sz="1400" b="0" i="0">
                          <a:solidFill>
                            <a:srgbClr val="1A1440"/>
                          </a:solidFill>
                          <a:latin typeface="Calibri"/>
                        </a:rPr>
                        <a:t>Q3 (trap)</a:t>
                      </a:r>
                    </a:p>
                  </a:txBody>
                  <a:tcPr marL="101600" marR="101600" marT="38100" marB="38100" anchor="ctr">
                    <a:solidFill>
                      <a:srgbClr val="FFFFFF"/>
                    </a:solidFill>
                  </a:tcPr>
                </a:tc>
                <a:tc>
                  <a:txBody>
                    <a:bodyPr/>
                    <a:lstStyle/>
                    <a:p>
                      <a:r>
                        <a:rPr sz="1400" b="0" i="0">
                          <a:solidFill>
                            <a:srgbClr val="1A1440"/>
                          </a:solidFill>
                          <a:latin typeface="Calibri"/>
                        </a:rPr>
                        <a:t>The vendor curve fits every training week within 2 percent; is it a good forecast?</a:t>
                      </a:r>
                    </a:p>
                  </a:txBody>
                  <a:tcPr marL="101600" marR="101600" marT="38100" marB="38100" anchor="ctr">
                    <a:solidFill>
                      <a:srgbClr val="FFFFFF"/>
                    </a:solidFill>
                  </a:tcPr>
                </a:tc>
              </a:tr>
              <a:tr h="611632">
                <a:tc>
                  <a:txBody>
                    <a:bodyPr/>
                    <a:lstStyle/>
                    <a:p>
                      <a:r>
                        <a:rPr sz="1400" b="0" i="0">
                          <a:solidFill>
                            <a:srgbClr val="1A1440"/>
                          </a:solidFill>
                          <a:latin typeface="Calibri"/>
                        </a:rPr>
                        <a:t>Q4</a:t>
                      </a:r>
                    </a:p>
                  </a:txBody>
                  <a:tcPr marL="101600" marR="101600" marT="38100" marB="38100" anchor="ctr">
                    <a:solidFill>
                      <a:srgbClr val="F4F2FA"/>
                    </a:solidFill>
                  </a:tcPr>
                </a:tc>
                <a:tc>
                  <a:txBody>
                    <a:bodyPr/>
                    <a:lstStyle/>
                    <a:p>
                      <a:r>
                        <a:rPr sz="1400" b="0" i="0">
                          <a:solidFill>
                            <a:srgbClr val="1A1440"/>
                          </a:solidFill>
                          <a:latin typeface="Calibri"/>
                        </a:rPr>
                        <a:t>Good enough is a claim about which of these: the model, the data, the decision, or the week?</a:t>
                      </a:r>
                    </a:p>
                  </a:txBody>
                  <a:tcPr marL="101600" marR="101600" marT="38100" marB="38100" anchor="ctr">
                    <a:solidFill>
                      <a:srgbClr val="F4F2FA"/>
                    </a:solidFill>
                  </a:tcPr>
                </a:tc>
              </a:tr>
              <a:tr h="369824">
                <a:tc>
                  <a:txBody>
                    <a:bodyPr/>
                    <a:lstStyle/>
                    <a:p>
                      <a:r>
                        <a:rPr sz="1400" b="0" i="0">
                          <a:solidFill>
                            <a:srgbClr val="1A1440"/>
                          </a:solidFill>
                          <a:latin typeface="Calibri"/>
                        </a:rPr>
                        <a:t>Q5</a:t>
                      </a:r>
                    </a:p>
                  </a:txBody>
                  <a:tcPr marL="101600" marR="101600" marT="38100" marB="38100" anchor="ctr">
                    <a:solidFill>
                      <a:srgbClr val="FFFFFF"/>
                    </a:solidFill>
                  </a:tcPr>
                </a:tc>
                <a:tc>
                  <a:txBody>
                    <a:bodyPr/>
                    <a:lstStyle/>
                    <a:p>
                      <a:r>
                        <a:rPr sz="1400" b="0" i="0">
                          <a:solidFill>
                            <a:srgbClr val="1A1440"/>
                          </a:solidFill>
                          <a:latin typeface="Calibri"/>
                        </a:rPr>
                        <a:t>Which thirteen weeks did we hold out, and why those weeks?</a:t>
                      </a:r>
                    </a:p>
                  </a:txBody>
                  <a:tcPr marL="101600" marR="101600" marT="38100" marB="38100" anchor="ctr">
                    <a:solidFill>
                      <a:srgbClr val="FFFFFF"/>
                    </a:solidFill>
                  </a:tcPr>
                </a:tc>
              </a:tr>
              <a:tr h="611632">
                <a:tc>
                  <a:txBody>
                    <a:bodyPr/>
                    <a:lstStyle/>
                    <a:p>
                      <a:r>
                        <a:rPr sz="1400" b="0" i="0">
                          <a:solidFill>
                            <a:srgbClr val="1A1440"/>
                          </a:solidFill>
                          <a:latin typeface="Calibri"/>
                        </a:rPr>
                        <a:t>Return from Thursday</a:t>
                      </a:r>
                    </a:p>
                  </a:txBody>
                  <a:tcPr marL="101600" marR="101600" marT="38100" marB="38100" anchor="ctr">
                    <a:solidFill>
                      <a:srgbClr val="F4F2FA"/>
                    </a:solidFill>
                  </a:tcPr>
                </a:tc>
                <a:tc>
                  <a:txBody>
                    <a:bodyPr/>
                    <a:lstStyle/>
                    <a:p>
                      <a:r>
                        <a:rPr sz="1400" b="0" i="0">
                          <a:solidFill>
                            <a:srgbClr val="1A1440"/>
                          </a:solidFill>
                          <a:latin typeface="Calibri"/>
                        </a:rPr>
                        <a:t>Blended retention stayed flat while every cohort declined; what is the one-sentence mechanism?</a:t>
                      </a:r>
                    </a:p>
                  </a:txBody>
                  <a:tcPr marL="101600" marR="101600" marT="38100" marB="38100" anchor="ctr">
                    <a:solidFill>
                      <a:srgbClr val="F4F2FA"/>
                    </a:solidFill>
                  </a:tcPr>
                </a:tc>
              </a:tr>
              <a:tr h="369824">
                <a:tc>
                  <a:txBody>
                    <a:bodyPr/>
                    <a:lstStyle/>
                    <a:p>
                      <a:r>
                        <a:rPr sz="1400" b="0" i="0">
                          <a:solidFill>
                            <a:srgbClr val="1A1440"/>
                          </a:solidFill>
                          <a:latin typeface="Calibri"/>
                        </a:rPr>
                        <a:t>Bonus 1</a:t>
                      </a:r>
                    </a:p>
                  </a:txBody>
                  <a:tcPr marL="101600" marR="101600" marT="38100" marB="38100" anchor="ctr">
                    <a:solidFill>
                      <a:srgbClr val="FFFFFF"/>
                    </a:solidFill>
                  </a:tcPr>
                </a:tc>
                <a:tc>
                  <a:txBody>
                    <a:bodyPr/>
                    <a:lstStyle/>
                    <a:p>
                      <a:r>
                        <a:rPr sz="1400" b="0" i="0">
                          <a:solidFill>
                            <a:srgbClr val="1A1440"/>
                          </a:solidFill>
                          <a:latin typeface="Calibri"/>
                        </a:rPr>
                        <a:t>Diwali 2026 falls on Sun 8 Nov; the Diwali week begins on which Monday?</a:t>
                      </a:r>
                    </a:p>
                  </a:txBody>
                  <a:tcPr marL="101600" marR="101600" marT="38100" marB="38100" anchor="ctr">
                    <a:solidFill>
                      <a:srgbClr val="FFFFFF"/>
                    </a:solidFill>
                  </a:tcPr>
                </a:tc>
              </a:tr>
              <a:tr h="611632">
                <a:tc>
                  <a:txBody>
                    <a:bodyPr/>
                    <a:lstStyle/>
                    <a:p>
                      <a:r>
                        <a:rPr sz="1400" b="0" i="0">
                          <a:solidFill>
                            <a:srgbClr val="1A1440"/>
                          </a:solidFill>
                          <a:latin typeface="Calibri"/>
                        </a:rPr>
                        <a:t>Bonus 2</a:t>
                      </a:r>
                    </a:p>
                  </a:txBody>
                  <a:tcPr marL="101600" marR="101600" marT="38100" marB="38100" anchor="ctr">
                    <a:solidFill>
                      <a:srgbClr val="F4F2FA"/>
                    </a:solidFill>
                  </a:tcPr>
                </a:tc>
                <a:tc>
                  <a:txBody>
                    <a:bodyPr/>
                    <a:lstStyle/>
                    <a:p>
                      <a:r>
                        <a:rPr sz="1400" b="0" i="0">
                          <a:solidFill>
                            <a:srgbClr val="1A1440"/>
                          </a:solidFill>
                          <a:latin typeface="Calibri"/>
                        </a:rPr>
                        <a:t>A plan at the median when the under-cost is 4.6 times the over-cost: which direction is wrong and by how much?</a:t>
                      </a:r>
                    </a:p>
                  </a:txBody>
                  <a:tcPr marL="101600" marR="101600" marT="38100" marB="38100" anchor="ctr">
                    <a:solidFill>
                      <a:srgbClr val="F4F2FA"/>
                    </a:solidFill>
                  </a:tcPr>
                </a:tc>
              </a:tr>
            </a:tbl>
          </a:graphicData>
        </a:graphic>
      </p:graphicFrame>
      <p:sp>
        <p:nvSpPr>
          <p:cNvPr id="10" name="TextBox 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11" name="TextBox 1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Saturday tests the method on new companies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Saturday test, and what carries from today?</a:t>
            </a:r>
          </a:p>
        </p:txBody>
      </p:sp>
      <p:sp>
        <p:nvSpPr>
          <p:cNvPr id="9" name="Rounded Rectangle 8"/>
          <p:cNvSpPr/>
          <p:nvPr/>
        </p:nvSpPr>
        <p:spPr>
          <a:xfrm>
            <a:off x="53035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uffle_1f5f2f56d50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 MORNING</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transfer drill</a:t>
            </a:r>
          </a:p>
        </p:txBody>
      </p:sp>
      <p:sp>
        <p:nvSpPr>
          <p:cNvPr id="14" name="TextBox 13"/>
          <p:cNvSpPr txBox="1"/>
          <p:nvPr/>
        </p:nvSpPr>
        <p:spPr>
          <a:xfrm>
            <a:off x="731519" y="3303524"/>
            <a:ext cx="3186074" cy="944626"/>
          </a:xfrm>
          <a:prstGeom prst="rect">
            <a:avLst/>
          </a:prstGeom>
          <a:noFill/>
        </p:spPr>
        <p:txBody>
          <a:bodyPr wrap="square" anchor="t" lIns="0" rIns="0" tIns="0" bIns="0">
            <a:spAutoFit/>
          </a:bodyPr>
          <a:lstStyle/>
          <a:p>
            <a:pPr algn="l"/>
            <a:r>
              <a:rPr sz="1100" b="0" i="0">
                <a:solidFill>
                  <a:srgbClr val="6B6690"/>
                </a:solidFill>
                <a:latin typeface="Calibri"/>
              </a:rPr>
              <a:t>Monday's method at Ola or Rapido, Wednesday's at Blinkit or Zepto, Thursday's at Swiggy One, Friday's at Amazon India. What stays is the method, what changes is the metric, the constraint and the cost of an error.</a:t>
            </a:r>
          </a:p>
        </p:txBody>
      </p:sp>
      <p:sp>
        <p:nvSpPr>
          <p:cNvPr id="15" name="Rounded Rectangle 14"/>
          <p:cNvSpPr/>
          <p:nvPr/>
        </p:nvSpPr>
        <p:spPr>
          <a:xfrm>
            <a:off x="430164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pen_fe4a846c208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 PAPER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120 minutes, 43 items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Six parts, interview grade, every arithmetic key recomputed on the day's facts.</a:t>
            </a:r>
          </a:p>
        </p:txBody>
      </p:sp>
      <p:sp>
        <p:nvSpPr>
          <p:cNvPr id="21" name="Rounded Rectangle 20"/>
          <p:cNvSpPr/>
          <p:nvPr/>
        </p:nvSpPr>
        <p:spPr>
          <a:xfrm>
            <a:off x="8072932" y="1956816"/>
            <a:ext cx="3588410"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FRIDAY LEAVES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rule, one plan</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A forecast must beat the baseline on weeks it has not seen before it earns the plan; the baseline for a seasonal business is same-week-last-year or its festival-aligned twin.</a:t>
            </a:r>
          </a:p>
        </p:txBody>
      </p:sp>
      <p:sp>
        <p:nvSpPr>
          <p:cNvPr id="27" name="TextBox 2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6B6690"/>
                </a:solidFill>
                <a:latin typeface="Calibri"/>
              </a:rPr>
              <a:t>Week 4 Day 5: afternoon, staffing note and interview</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