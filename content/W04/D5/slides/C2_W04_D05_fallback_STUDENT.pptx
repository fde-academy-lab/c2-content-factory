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 screen only if the faculty session (tentative) slips. Nothing here teaches</a:t>
            </a:r>
          </a:p>
          <a:p>
            <a:r>
              <a:t>autocorrelation, smoothing or ARIMA: the faculty session (tentative) owns them. Read the four parts.</a:t>
            </a:r>
          </a:p>
          <a:p>
            <a:r>
              <a:t>Each ends on one line a group writes down. Transition:</a:t>
            </a:r>
          </a:p>
          <a:p>
            <a:r>
              <a:t>part 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Groups run notebook 02 with the split moved to 24 August 2026, or read this table.</a:t>
            </a:r>
          </a:p>
          <a:p>
            <a:r>
              <a:t>The vendor's four weeks are its old forecast, made from 22 June, so they are its farthest weeks</a:t>
            </a:r>
          </a:p>
          <a:p>
            <a:r>
              <a:t>ahead. Transition: why naive moved most.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Vote, argue for one minute, vote again. a and c are partly true; b is the cause.</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Show the four misses on the board. The house bot and festival-aligned barely move</a:t>
            </a:r>
          </a:p>
          <a:p>
            <a:r>
              <a:t>because they copy last year's weeks and ignore the origin. Transition: the rule this proves.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Each group writes one line: what a four-week test would have let the vendor's</a:t>
            </a:r>
          </a:p>
          <a:p>
            <a:r>
              <a:t>sponsor claim. Transition: part 2, rolling the origin.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This is the rolling-origin picture of FPP3's section 5.10 (checked 12 October</a:t>
            </a:r>
          </a:p>
          <a:p>
            <a:r>
              <a:t>2026), on the twelve printed rows. Groups work it by hand. Transition: the five forecasts.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Each group takes one row and calls out its two misses. Festival-aligned copies</a:t>
            </a:r>
          </a:p>
          <a:p>
            <a:r>
              <a:t>2024's week at the same distance from Diwali, plus 4 percent. Transition: the vote.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Groups add their row's misses to the board first.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71,180 over 2,040 is about thirty-five: b was the closest option. Transition:</a:t>
            </a:r>
          </a:p>
          <a:p>
            <a:r>
              <a:t>part 3, two real failures.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Groups name the Lucknow equivalent: a vendor forecast allowed to run past its</a:t>
            </a:r>
          </a:p>
          <a:p>
            <a:r>
              <a:t>own error bar with nobody watching it. Transition: Target Canada.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The forecasting account is Canadian Business's, through the archived copy the</a:t>
            </a:r>
          </a:p>
          <a:p>
            <a:r>
              <a:t>research ledger cites. The Lucknow version: a vendor model with no Lucknow festival in its record.</a:t>
            </a:r>
          </a:p>
          <a:p>
            <a:r>
              <a:t>Transition: the two 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Each group writes the check in one line. Transition: part 4, the second</a:t>
            </a:r>
          </a:p>
          <a:p>
            <a:r>
              <a:t>transcript.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Pairs play the planner and one stakeholder, then swap. The full [D] transcript is</a:t>
            </a:r>
          </a:p>
          <a:p>
            <a:r>
              <a:t>in `extras/C2_W04_D05_interview_transcripts_STUDENT.md`. Transition: the close.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faculty session (tentative) picks up autocorrelation and smoothing from here</a:t>
            </a:r>
          </a:p>
          <a:p>
            <a:r>
              <a:t>whenever it runs. Transition: close for the 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parts, each testing the morning's choice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runs in the next 120 minutes, and in what order?</a:t>
            </a:r>
          </a:p>
        </p:txBody>
      </p:sp>
      <p:pic>
        <p:nvPicPr>
          <p:cNvPr id="9" name="mermaid diagram" descr="f7bebd1c83210485.png"/>
          <p:cNvPicPr>
            <a:picLocks noChangeAspect="1"/>
          </p:cNvPicPr>
          <p:nvPr/>
        </p:nvPicPr>
        <p:blipFill>
          <a:blip r:embed="rId5"/>
          <a:stretch>
            <a:fillRect/>
          </a:stretch>
        </p:blipFill>
        <p:spPr>
          <a:xfrm>
            <a:off x="780897" y="1956816"/>
            <a:ext cx="10629900" cy="1600200"/>
          </a:xfrm>
          <a:prstGeom prst="rect">
            <a:avLst/>
          </a:prstGeom>
        </p:spPr>
      </p:pic>
      <p:sp>
        <p:nvSpPr>
          <p:cNvPr id="10" name="TextBox 9"/>
          <p:cNvSpPr txBox="1"/>
          <p:nvPr/>
        </p:nvSpPr>
        <p:spPr>
          <a:xfrm>
            <a:off x="530352" y="37033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This hour runs only if the IITGN faculty session W4-4 (tentative) does not run. Illustrative case: the company is real, the situation and the data are synthetic, built for this class.</a:t>
            </a:r>
          </a:p>
        </p:txBody>
      </p:sp>
      <p:sp>
        <p:nvSpPr>
          <p:cNvPr id="11" name="TextBox 1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2" name="TextBox 1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14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Hide four weeks, forecast from 24 August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rules score when only the last four weeks are hidden?</a:t>
            </a:r>
          </a:p>
        </p:txBody>
      </p:sp>
      <p:pic>
        <p:nvPicPr>
          <p:cNvPr id="9" name="mermaid diagram" descr="C2_W04_D05_four_vs_thirteen_STUDENT.png"/>
          <p:cNvPicPr>
            <a:picLocks noChangeAspect="1"/>
          </p:cNvPicPr>
          <p:nvPr/>
        </p:nvPicPr>
        <p:blipFill>
          <a:blip r:embed="rId4"/>
          <a:stretch>
            <a:fillRect/>
          </a:stretch>
        </p:blipFill>
        <p:spPr>
          <a:xfrm>
            <a:off x="2032232" y="1664208"/>
            <a:ext cx="8127229" cy="3491992"/>
          </a:xfrm>
          <a:prstGeom prst="rect">
            <a:avLst/>
          </a:prstGeom>
        </p:spPr>
      </p:pic>
      <p:sp>
        <p:nvSpPr>
          <p:cNvPr id="10" name="picture caption"/>
          <p:cNvSpPr txBox="1"/>
          <p:nvPr/>
        </p:nvSpPr>
        <p:spPr>
          <a:xfrm>
            <a:off x="530352" y="5192776"/>
            <a:ext cx="11130991" cy="316992"/>
          </a:xfrm>
          <a:prstGeom prst="rect">
            <a:avLst/>
          </a:prstGeom>
          <a:noFill/>
        </p:spPr>
        <p:txBody>
          <a:bodyPr wrap="square" anchor="t" lIns="0" rIns="0" tIns="0" bIns="0">
            <a:spAutoFit/>
          </a:bodyPr>
          <a:lstStyle/>
          <a:p>
            <a:pPr algn="ctr"/>
            <a:r>
              <a:rPr sz="1200" b="0" i="0">
                <a:solidFill>
                  <a:srgbClr val="6B6690"/>
                </a:solidFill>
                <a:latin typeface="Calibri"/>
              </a:rPr>
              <a:t>MAE by rule on thirteen hidden weeks and on the last four</a:t>
            </a:r>
          </a:p>
        </p:txBody>
      </p:sp>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order barely moves; the numbers move a great deal. The four-week test rests on four misses and on one origin week.</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did naive jump from 14,923 to 37,050?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in the four-week test, made naive's average miss more than double?</a:t>
            </a:r>
          </a:p>
        </p:txBody>
      </p:sp>
      <p:sp>
        <p:nvSpPr>
          <p:cNvPr id="9" name="Rounded Rectangle 8"/>
          <p:cNvSpPr/>
          <p:nvPr/>
        </p:nvSpPr>
        <p:spPr>
          <a:xfrm>
            <a:off x="530352"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The last four weeks are harder</a:t>
            </a:r>
          </a:p>
        </p:txBody>
      </p:sp>
      <p:sp>
        <p:nvSpPr>
          <p:cNvPr id="14" name="TextBox 13"/>
          <p:cNvSpPr txBox="1"/>
          <p:nvPr/>
        </p:nvSpPr>
        <p:spPr>
          <a:xfrm>
            <a:off x="731519" y="3534664"/>
            <a:ext cx="2243251" cy="218186"/>
          </a:xfrm>
          <a:prstGeom prst="rect">
            <a:avLst/>
          </a:prstGeom>
          <a:noFill/>
        </p:spPr>
        <p:txBody>
          <a:bodyPr wrap="square" anchor="t" lIns="0" rIns="0" tIns="0" bIns="0">
            <a:spAutoFit/>
          </a:bodyPr>
          <a:lstStyle/>
          <a:p>
            <a:pPr algn="l"/>
            <a:r>
              <a:rPr sz="1100" b="0" i="0">
                <a:solidFill>
                  <a:srgbClr val="6B6690"/>
                </a:solidFill>
                <a:latin typeface="Calibri"/>
              </a:rPr>
              <a:t>September ships more than July.</a:t>
            </a:r>
          </a:p>
        </p:txBody>
      </p:sp>
      <p:sp>
        <p:nvSpPr>
          <p:cNvPr id="15" name="Rounded Rectangle 14"/>
          <p:cNvSpPr/>
          <p:nvPr/>
        </p:nvSpPr>
        <p:spPr>
          <a:xfrm>
            <a:off x="3358819"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The origin week was a dip</a:t>
            </a:r>
          </a:p>
        </p:txBody>
      </p:sp>
      <p:sp>
        <p:nvSpPr>
          <p:cNvPr id="20" name="TextBox 19"/>
          <p:cNvSpPr txBox="1"/>
          <p:nvPr/>
        </p:nvSpPr>
        <p:spPr>
          <a:xfrm>
            <a:off x="3559987"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week of 24 August shipped 196,600.</a:t>
            </a:r>
          </a:p>
        </p:txBody>
      </p:sp>
      <p:sp>
        <p:nvSpPr>
          <p:cNvPr id="21" name="Rounded Rectangle 20"/>
          <p:cNvSpPr/>
          <p:nvPr/>
        </p:nvSpPr>
        <p:spPr>
          <a:xfrm>
            <a:off x="6187287"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Four weeks are too few to average</a:t>
            </a:r>
          </a:p>
        </p:txBody>
      </p:sp>
      <p:sp>
        <p:nvSpPr>
          <p:cNvPr id="26" name="TextBox 25"/>
          <p:cNvSpPr txBox="1"/>
          <p:nvPr/>
        </p:nvSpPr>
        <p:spPr>
          <a:xfrm>
            <a:off x="6388455" y="3534664"/>
            <a:ext cx="2243251" cy="218186"/>
          </a:xfrm>
          <a:prstGeom prst="rect">
            <a:avLst/>
          </a:prstGeom>
          <a:noFill/>
        </p:spPr>
        <p:txBody>
          <a:bodyPr wrap="square" anchor="t" lIns="0" rIns="0" tIns="0" bIns="0">
            <a:spAutoFit/>
          </a:bodyPr>
          <a:lstStyle/>
          <a:p>
            <a:pPr algn="l"/>
            <a:r>
              <a:rPr sz="1100" b="0" i="0">
                <a:solidFill>
                  <a:srgbClr val="6B6690"/>
                </a:solidFill>
                <a:latin typeface="Calibri"/>
              </a:rPr>
              <a:t>Any one miss moves the mean.</a:t>
            </a:r>
          </a:p>
        </p:txBody>
      </p:sp>
      <p:sp>
        <p:nvSpPr>
          <p:cNvPr id="27" name="Rounded Rectangle 26"/>
          <p:cNvSpPr/>
          <p:nvPr/>
        </p:nvSpPr>
        <p:spPr>
          <a:xfrm>
            <a:off x="9015755"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Naive ignores growth</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It never adds the 4 percent.</a:t>
            </a:r>
          </a:p>
        </p:txBody>
      </p:sp>
      <p:sp>
        <p:nvSpPr>
          <p:cNvPr id="33" name="TextBox 3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14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origin week was a dip, 196,600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one origin week set every naive miss?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196,600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WEEK OF 24 AUGUST 2026</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origin naive repeats four times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41,800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ITS FIRST MISS, TOO LOW</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then 37,100, 33,700 and 35,600, all too low</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37,050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NAIVE'S MAE ON FOUR WEEKS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against 14,923 on thirteen</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short test judges the origin as much as the rule. All four of naive's misses are too low, so its MAE is the gap between the dip and the four weeks' average, 233,650. The thirteen-week test started from 218,300, close to its hidden weeks' average of 217,746: luck in the other direction.</a:t>
            </a:r>
          </a:p>
        </p:txBody>
      </p:sp>
      <p:sp>
        <p:nvSpPr>
          <p:cNvPr id="22" name="TextBox 2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4 / 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test shorter than the plan judges too little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must the hidden weeks span at least the eight weeks the plan covers?</a:t>
            </a:r>
          </a:p>
        </p:txBody>
      </p:sp>
      <p:sp>
        <p:nvSpPr>
          <p:cNvPr id="9" name="Rounded Rectangle 8"/>
          <p:cNvSpPr/>
          <p:nvPr/>
        </p:nvSpPr>
        <p:spPr>
          <a:xfrm>
            <a:off x="53035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ruler_6c9ce23c020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RULE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At least as long as the horizon</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The plan books eight weeks, so the test hides at least eight (FPP3, section 5.8, checked 12 October 2026).</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trending-up_0f9f07881489.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VENDOR</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Its gap grows with the weeks ahead</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148 percent worse than festival-aligned on thirteen weeks, 233 percent on its four farthest.</a:t>
            </a:r>
          </a:p>
        </p:txBody>
      </p:sp>
      <p:sp>
        <p:nvSpPr>
          <p:cNvPr id="21" name="Rounded Rectangle 20"/>
          <p:cNvSpPr/>
          <p:nvPr/>
        </p:nvSpPr>
        <p:spPr>
          <a:xfrm>
            <a:off x="807293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huffle_1f5f2f56d507.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LUCK</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One origin can flatter or punish</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 rule that looked fine from 22 June looks poor from 24 August.</a:t>
            </a:r>
          </a:p>
        </p:txBody>
      </p:sp>
      <p:sp>
        <p:nvSpPr>
          <p:cNvPr id="27" name="TextBox 2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5 / 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Roll the origin: one week ahead, five times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rolling origin show that one hidden block cannot?</a:t>
            </a:r>
          </a:p>
        </p:txBody>
      </p:sp>
      <p:pic>
        <p:nvPicPr>
          <p:cNvPr id="9" name="mermaid diagram" descr="a2c12a290d95efdf.png"/>
          <p:cNvPicPr>
            <a:picLocks noChangeAspect="1"/>
          </p:cNvPicPr>
          <p:nvPr/>
        </p:nvPicPr>
        <p:blipFill>
          <a:blip r:embed="rId5"/>
          <a:stretch>
            <a:fillRect/>
          </a:stretch>
        </p:blipFill>
        <p:spPr>
          <a:xfrm>
            <a:off x="530352" y="1956816"/>
            <a:ext cx="11130991" cy="1129748"/>
          </a:xfrm>
          <a:prstGeom prst="rect">
            <a:avLst/>
          </a:prstGeom>
        </p:spPr>
      </p:pic>
      <p:sp>
        <p:nvSpPr>
          <p:cNvPr id="10" name="TextBox 9"/>
          <p:cNvSpPr txBox="1"/>
          <p:nvPr/>
        </p:nvSpPr>
        <p:spPr>
          <a:xfrm>
            <a:off x="530352" y="32328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forecast is made from the week before and scored, then the origin moves on one week. The twelve rows hold five such steps in 2025: from 29 September to 27 October, forecasting the week after each.</a:t>
            </a:r>
          </a:p>
        </p:txBody>
      </p:sp>
      <p:sp>
        <p:nvSpPr>
          <p:cNvPr id="11" name="TextBox 1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2" name="TextBox 1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6 / 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one-week forecasts, worked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naive and festival-aligned forecast one week ahead through 2025's festival?</a:t>
            </a:r>
          </a:p>
        </p:txBody>
      </p:sp>
      <p:graphicFrame>
        <p:nvGraphicFramePr>
          <p:cNvPr id="9" name="Table 8"/>
          <p:cNvGraphicFramePr>
            <a:graphicFrameLocks noGrp="1"/>
          </p:cNvGraphicFramePr>
          <p:nvPr/>
        </p:nvGraphicFramePr>
        <p:xfrm>
          <a:off x="530352" y="1956816"/>
          <a:ext cx="11130989" cy="2011680"/>
        </p:xfrm>
        <a:graphic>
          <a:graphicData uri="http://schemas.openxmlformats.org/drawingml/2006/table">
            <a:tbl>
              <a:tblPr firstRow="0" bandRow="0">
                <a:tableStyleId>{2D5ABB26-0587-4C30-8999-92F81FD0307C}</a:tableStyleId>
              </a:tblPr>
              <a:tblGrid>
                <a:gridCol w="1910666"/>
                <a:gridCol w="3021197"/>
                <a:gridCol w="2069313"/>
                <a:gridCol w="2280843"/>
                <a:gridCol w="1848970"/>
              </a:tblGrid>
              <a:tr h="335280">
                <a:tc>
                  <a:txBody>
                    <a:bodyPr/>
                    <a:lstStyle/>
                    <a:p>
                      <a:r>
                        <a:rPr sz="1250" b="1" i="0">
                          <a:solidFill>
                            <a:srgbClr val="FFFFFF"/>
                          </a:solidFill>
                          <a:latin typeface="Calibri"/>
                        </a:rPr>
                        <a:t>Week forecast</a:t>
                      </a:r>
                    </a:p>
                  </a:txBody>
                  <a:tcPr marL="101600" marR="101600" marT="38100" marB="38100" anchor="ctr">
                    <a:solidFill>
                      <a:srgbClr val="1A0F5C"/>
                    </a:solidFill>
                  </a:tcPr>
                </a:tc>
                <a:tc>
                  <a:txBody>
                    <a:bodyPr/>
                    <a:lstStyle/>
                    <a:p>
                      <a:r>
                        <a:rPr sz="1250" b="1" i="0">
                          <a:solidFill>
                            <a:srgbClr val="FFFFFF"/>
                          </a:solidFill>
                          <a:latin typeface="Calibri"/>
                        </a:rPr>
                        <a:t>Naive: the week before</a:t>
                      </a:r>
                    </a:p>
                  </a:txBody>
                  <a:tcPr marL="101600" marR="101600" marT="38100" marB="38100" anchor="ctr">
                    <a:solidFill>
                      <a:srgbClr val="1A0F5C"/>
                    </a:solidFill>
                  </a:tcPr>
                </a:tc>
                <a:tc>
                  <a:txBody>
                    <a:bodyPr/>
                    <a:lstStyle/>
                    <a:p>
                      <a:r>
                        <a:rPr sz="1250" b="1" i="0">
                          <a:solidFill>
                            <a:srgbClr val="FFFFFF"/>
                          </a:solidFill>
                          <a:latin typeface="Calibri"/>
                        </a:rPr>
                        <a:t>Naive's miss</a:t>
                      </a:r>
                    </a:p>
                  </a:txBody>
                  <a:tcPr marL="101600" marR="101600" marT="38100" marB="38100" anchor="ctr">
                    <a:solidFill>
                      <a:srgbClr val="1A0F5C"/>
                    </a:solidFill>
                  </a:tcPr>
                </a:tc>
                <a:tc>
                  <a:txBody>
                    <a:bodyPr/>
                    <a:lstStyle/>
                    <a:p>
                      <a:r>
                        <a:rPr sz="1250" b="1" i="0">
                          <a:solidFill>
                            <a:srgbClr val="FFFFFF"/>
                          </a:solidFill>
                          <a:latin typeface="Calibri"/>
                        </a:rPr>
                        <a:t>Festival-aligned</a:t>
                      </a:r>
                    </a:p>
                  </a:txBody>
                  <a:tcPr marL="101600" marR="101600" marT="38100" marB="38100" anchor="ctr">
                    <a:solidFill>
                      <a:srgbClr val="1A0F5C"/>
                    </a:solidFill>
                  </a:tcPr>
                </a:tc>
                <a:tc>
                  <a:txBody>
                    <a:bodyPr/>
                    <a:lstStyle/>
                    <a:p>
                      <a:r>
                        <a:rPr sz="1250" b="1" i="0">
                          <a:solidFill>
                            <a:srgbClr val="FFFFFF"/>
                          </a:solidFill>
                          <a:latin typeface="Calibri"/>
                        </a:rPr>
                        <a:t>Its miss</a:t>
                      </a:r>
                    </a:p>
                  </a:txBody>
                  <a:tcPr marL="101600" marR="101600" marT="38100" marB="38100" anchor="ctr">
                    <a:solidFill>
                      <a:srgbClr val="1A0F5C"/>
                    </a:solidFill>
                  </a:tcPr>
                </a:tc>
              </a:tr>
              <a:tr h="335280">
                <a:tc>
                  <a:txBody>
                    <a:bodyPr/>
                    <a:lstStyle/>
                    <a:p>
                      <a:r>
                        <a:rPr sz="1200" b="0" i="0">
                          <a:solidFill>
                            <a:srgbClr val="1A1440"/>
                          </a:solidFill>
                          <a:latin typeface="Calibri"/>
                        </a:rPr>
                        <a:t>6 Oct 2025</a:t>
                      </a:r>
                    </a:p>
                  </a:txBody>
                  <a:tcPr marL="101600" marR="101600" marT="38100" marB="38100" anchor="ctr">
                    <a:solidFill>
                      <a:srgbClr val="FFFFFF"/>
                    </a:solidFill>
                  </a:tcPr>
                </a:tc>
                <a:tc>
                  <a:txBody>
                    <a:bodyPr/>
                    <a:lstStyle/>
                    <a:p>
                      <a:r>
                        <a:rPr sz="1200" b="0" i="0">
                          <a:solidFill>
                            <a:srgbClr val="1A1440"/>
                          </a:solidFill>
                          <a:latin typeface="Calibri"/>
                        </a:rPr>
                        <a:t>331,200</a:t>
                      </a:r>
                    </a:p>
                  </a:txBody>
                  <a:tcPr marL="101600" marR="101600" marT="38100" marB="38100" anchor="ctr">
                    <a:solidFill>
                      <a:srgbClr val="FFFFFF"/>
                    </a:solidFill>
                  </a:tcPr>
                </a:tc>
                <a:tc>
                  <a:txBody>
                    <a:bodyPr/>
                    <a:lstStyle/>
                    <a:p>
                      <a:r>
                        <a:rPr sz="1200" b="0" i="0">
                          <a:solidFill>
                            <a:srgbClr val="1A1440"/>
                          </a:solidFill>
                          <a:latin typeface="Calibri"/>
                        </a:rPr>
                        <a:t>87,000 too low</a:t>
                      </a:r>
                    </a:p>
                  </a:txBody>
                  <a:tcPr marL="101600" marR="101600" marT="38100" marB="38100" anchor="ctr">
                    <a:solidFill>
                      <a:srgbClr val="FFFFFF"/>
                    </a:solidFill>
                  </a:tcPr>
                </a:tc>
                <a:tc>
                  <a:txBody>
                    <a:bodyPr/>
                    <a:lstStyle/>
                    <a:p>
                      <a:r>
                        <a:rPr sz="1200" b="0" i="0">
                          <a:solidFill>
                            <a:srgbClr val="1A1440"/>
                          </a:solidFill>
                          <a:latin typeface="Calibri"/>
                        </a:rPr>
                        <a:t>417,040</a:t>
                      </a:r>
                    </a:p>
                  </a:txBody>
                  <a:tcPr marL="101600" marR="101600" marT="38100" marB="38100" anchor="ctr">
                    <a:solidFill>
                      <a:srgbClr val="FFFFFF"/>
                    </a:solidFill>
                  </a:tcPr>
                </a:tc>
                <a:tc>
                  <a:txBody>
                    <a:bodyPr/>
                    <a:lstStyle/>
                    <a:p>
                      <a:r>
                        <a:rPr sz="1200" b="0" i="0">
                          <a:solidFill>
                            <a:srgbClr val="1A1440"/>
                          </a:solidFill>
                          <a:latin typeface="Calibri"/>
                        </a:rPr>
                        <a:t>1,160 too low</a:t>
                      </a:r>
                    </a:p>
                  </a:txBody>
                  <a:tcPr marL="101600" marR="101600" marT="38100" marB="38100" anchor="ctr">
                    <a:solidFill>
                      <a:srgbClr val="FFFFFF"/>
                    </a:solidFill>
                  </a:tcPr>
                </a:tc>
              </a:tr>
              <a:tr h="335280">
                <a:tc>
                  <a:txBody>
                    <a:bodyPr/>
                    <a:lstStyle/>
                    <a:p>
                      <a:r>
                        <a:rPr sz="1200" b="0" i="0">
                          <a:solidFill>
                            <a:srgbClr val="1A1440"/>
                          </a:solidFill>
                          <a:latin typeface="Calibri"/>
                        </a:rPr>
                        <a:t>13 Oct 2025</a:t>
                      </a:r>
                    </a:p>
                  </a:txBody>
                  <a:tcPr marL="101600" marR="101600" marT="38100" marB="38100" anchor="ctr">
                    <a:solidFill>
                      <a:srgbClr val="F4F2FA"/>
                    </a:solidFill>
                  </a:tcPr>
                </a:tc>
                <a:tc>
                  <a:txBody>
                    <a:bodyPr/>
                    <a:lstStyle/>
                    <a:p>
                      <a:r>
                        <a:rPr sz="1200" b="0" i="0">
                          <a:solidFill>
                            <a:srgbClr val="1A1440"/>
                          </a:solidFill>
                          <a:latin typeface="Calibri"/>
                        </a:rPr>
                        <a:t>418,200</a:t>
                      </a:r>
                    </a:p>
                  </a:txBody>
                  <a:tcPr marL="101600" marR="101600" marT="38100" marB="38100" anchor="ctr">
                    <a:solidFill>
                      <a:srgbClr val="F4F2FA"/>
                    </a:solidFill>
                  </a:tcPr>
                </a:tc>
                <a:tc>
                  <a:txBody>
                    <a:bodyPr/>
                    <a:lstStyle/>
                    <a:p>
                      <a:r>
                        <a:rPr sz="1200" b="0" i="0">
                          <a:solidFill>
                            <a:srgbClr val="1A1440"/>
                          </a:solidFill>
                          <a:latin typeface="Calibri"/>
                        </a:rPr>
                        <a:t>49,200 too high</a:t>
                      </a:r>
                    </a:p>
                  </a:txBody>
                  <a:tcPr marL="101600" marR="101600" marT="38100" marB="38100" anchor="ctr">
                    <a:solidFill>
                      <a:srgbClr val="F4F2FA"/>
                    </a:solidFill>
                  </a:tcPr>
                </a:tc>
                <a:tc>
                  <a:txBody>
                    <a:bodyPr/>
                    <a:lstStyle/>
                    <a:p>
                      <a:r>
                        <a:rPr sz="1200" b="0" i="0">
                          <a:solidFill>
                            <a:srgbClr val="1A1440"/>
                          </a:solidFill>
                          <a:latin typeface="Calibri"/>
                        </a:rPr>
                        <a:t>370,448</a:t>
                      </a:r>
                    </a:p>
                  </a:txBody>
                  <a:tcPr marL="101600" marR="101600" marT="38100" marB="38100" anchor="ctr">
                    <a:solidFill>
                      <a:srgbClr val="F4F2FA"/>
                    </a:solidFill>
                  </a:tcPr>
                </a:tc>
                <a:tc>
                  <a:txBody>
                    <a:bodyPr/>
                    <a:lstStyle/>
                    <a:p>
                      <a:r>
                        <a:rPr sz="1200" b="0" i="0">
                          <a:solidFill>
                            <a:srgbClr val="1A1440"/>
                          </a:solidFill>
                          <a:latin typeface="Calibri"/>
                        </a:rPr>
                        <a:t>1,448 too high</a:t>
                      </a:r>
                    </a:p>
                  </a:txBody>
                  <a:tcPr marL="101600" marR="101600" marT="38100" marB="38100" anchor="ctr">
                    <a:solidFill>
                      <a:srgbClr val="F4F2FA"/>
                    </a:solidFill>
                  </a:tcPr>
                </a:tc>
              </a:tr>
              <a:tr h="335280">
                <a:tc>
                  <a:txBody>
                    <a:bodyPr/>
                    <a:lstStyle/>
                    <a:p>
                      <a:r>
                        <a:rPr sz="1200" b="0" i="0">
                          <a:solidFill>
                            <a:srgbClr val="1A1440"/>
                          </a:solidFill>
                          <a:latin typeface="Calibri"/>
                        </a:rPr>
                        <a:t>20 Oct 2025</a:t>
                      </a:r>
                    </a:p>
                  </a:txBody>
                  <a:tcPr marL="101600" marR="101600" marT="38100" marB="38100" anchor="ctr">
                    <a:solidFill>
                      <a:srgbClr val="FFFFFF"/>
                    </a:solidFill>
                  </a:tcPr>
                </a:tc>
                <a:tc>
                  <a:txBody>
                    <a:bodyPr/>
                    <a:lstStyle/>
                    <a:p>
                      <a:r>
                        <a:rPr sz="1200" b="0" i="0">
                          <a:solidFill>
                            <a:srgbClr val="1A1440"/>
                          </a:solidFill>
                          <a:latin typeface="Calibri"/>
                        </a:rPr>
                        <a:t>369,000</a:t>
                      </a:r>
                    </a:p>
                  </a:txBody>
                  <a:tcPr marL="101600" marR="101600" marT="38100" marB="38100" anchor="ctr">
                    <a:solidFill>
                      <a:srgbClr val="FFFFFF"/>
                    </a:solidFill>
                  </a:tcPr>
                </a:tc>
                <a:tc>
                  <a:txBody>
                    <a:bodyPr/>
                    <a:lstStyle/>
                    <a:p>
                      <a:r>
                        <a:rPr sz="1200" b="0" i="0">
                          <a:solidFill>
                            <a:srgbClr val="1A1440"/>
                          </a:solidFill>
                          <a:latin typeface="Calibri"/>
                        </a:rPr>
                        <a:t>60,100 too high</a:t>
                      </a:r>
                    </a:p>
                  </a:txBody>
                  <a:tcPr marL="101600" marR="101600" marT="38100" marB="38100" anchor="ctr">
                    <a:solidFill>
                      <a:srgbClr val="FFFFFF"/>
                    </a:solidFill>
                  </a:tcPr>
                </a:tc>
                <a:tc>
                  <a:txBody>
                    <a:bodyPr/>
                    <a:lstStyle/>
                    <a:p>
                      <a:r>
                        <a:rPr sz="1200" b="0" i="0">
                          <a:solidFill>
                            <a:srgbClr val="1A1440"/>
                          </a:solidFill>
                          <a:latin typeface="Calibri"/>
                        </a:rPr>
                        <a:t>308,776</a:t>
                      </a:r>
                    </a:p>
                  </a:txBody>
                  <a:tcPr marL="101600" marR="101600" marT="38100" marB="38100" anchor="ctr">
                    <a:solidFill>
                      <a:srgbClr val="FFFFFF"/>
                    </a:solidFill>
                  </a:tcPr>
                </a:tc>
                <a:tc>
                  <a:txBody>
                    <a:bodyPr/>
                    <a:lstStyle/>
                    <a:p>
                      <a:r>
                        <a:rPr sz="1200" b="0" i="0">
                          <a:solidFill>
                            <a:srgbClr val="1A1440"/>
                          </a:solidFill>
                          <a:latin typeface="Calibri"/>
                        </a:rPr>
                        <a:t>124 too low</a:t>
                      </a:r>
                    </a:p>
                  </a:txBody>
                  <a:tcPr marL="101600" marR="101600" marT="38100" marB="38100" anchor="ctr">
                    <a:solidFill>
                      <a:srgbClr val="FFFFFF"/>
                    </a:solidFill>
                  </a:tcPr>
                </a:tc>
              </a:tr>
              <a:tr h="335280">
                <a:tc>
                  <a:txBody>
                    <a:bodyPr/>
                    <a:lstStyle/>
                    <a:p>
                      <a:r>
                        <a:rPr sz="1200" b="0" i="0">
                          <a:solidFill>
                            <a:srgbClr val="1A1440"/>
                          </a:solidFill>
                          <a:latin typeface="Calibri"/>
                        </a:rPr>
                        <a:t>27 Oct 2025</a:t>
                      </a:r>
                    </a:p>
                  </a:txBody>
                  <a:tcPr marL="101600" marR="101600" marT="38100" marB="38100" anchor="ctr">
                    <a:solidFill>
                      <a:srgbClr val="F4F2FA"/>
                    </a:solidFill>
                  </a:tcPr>
                </a:tc>
                <a:tc>
                  <a:txBody>
                    <a:bodyPr/>
                    <a:lstStyle/>
                    <a:p>
                      <a:r>
                        <a:rPr sz="1200" b="0" i="0">
                          <a:solidFill>
                            <a:srgbClr val="1A1440"/>
                          </a:solidFill>
                          <a:latin typeface="Calibri"/>
                        </a:rPr>
                        <a:t>308,900</a:t>
                      </a:r>
                    </a:p>
                  </a:txBody>
                  <a:tcPr marL="101600" marR="101600" marT="38100" marB="38100" anchor="ctr">
                    <a:solidFill>
                      <a:srgbClr val="F4F2FA"/>
                    </a:solidFill>
                  </a:tcPr>
                </a:tc>
                <a:tc>
                  <a:txBody>
                    <a:bodyPr/>
                    <a:lstStyle/>
                    <a:p>
                      <a:r>
                        <a:rPr sz="1200" b="0" i="0">
                          <a:solidFill>
                            <a:srgbClr val="1A1440"/>
                          </a:solidFill>
                          <a:latin typeface="Calibri"/>
                        </a:rPr>
                        <a:t>120,300 too high</a:t>
                      </a:r>
                    </a:p>
                  </a:txBody>
                  <a:tcPr marL="101600" marR="101600" marT="38100" marB="38100" anchor="ctr">
                    <a:solidFill>
                      <a:srgbClr val="F4F2FA"/>
                    </a:solidFill>
                  </a:tcPr>
                </a:tc>
                <a:tc>
                  <a:txBody>
                    <a:bodyPr/>
                    <a:lstStyle/>
                    <a:p>
                      <a:r>
                        <a:rPr sz="1200" b="0" i="0">
                          <a:solidFill>
                            <a:srgbClr val="1A1440"/>
                          </a:solidFill>
                          <a:latin typeface="Calibri"/>
                        </a:rPr>
                        <a:t>187,824</a:t>
                      </a:r>
                    </a:p>
                  </a:txBody>
                  <a:tcPr marL="101600" marR="101600" marT="38100" marB="38100" anchor="ctr">
                    <a:solidFill>
                      <a:srgbClr val="F4F2FA"/>
                    </a:solidFill>
                  </a:tcPr>
                </a:tc>
                <a:tc>
                  <a:txBody>
                    <a:bodyPr/>
                    <a:lstStyle/>
                    <a:p>
                      <a:r>
                        <a:rPr sz="1200" b="0" i="0">
                          <a:solidFill>
                            <a:srgbClr val="1A1440"/>
                          </a:solidFill>
                          <a:latin typeface="Calibri"/>
                        </a:rPr>
                        <a:t>776 too low</a:t>
                      </a:r>
                    </a:p>
                  </a:txBody>
                  <a:tcPr marL="101600" marR="101600" marT="38100" marB="38100" anchor="ctr">
                    <a:solidFill>
                      <a:srgbClr val="F4F2FA"/>
                    </a:solidFill>
                  </a:tcPr>
                </a:tc>
              </a:tr>
              <a:tr h="335280">
                <a:tc>
                  <a:txBody>
                    <a:bodyPr/>
                    <a:lstStyle/>
                    <a:p>
                      <a:r>
                        <a:rPr sz="1200" b="0" i="0">
                          <a:solidFill>
                            <a:srgbClr val="1A1440"/>
                          </a:solidFill>
                          <a:latin typeface="Calibri"/>
                        </a:rPr>
                        <a:t>3 Nov 2025</a:t>
                      </a:r>
                    </a:p>
                  </a:txBody>
                  <a:tcPr marL="101600" marR="101600" marT="38100" marB="38100" anchor="ctr">
                    <a:solidFill>
                      <a:srgbClr val="FFFFFF"/>
                    </a:solidFill>
                  </a:tcPr>
                </a:tc>
                <a:tc>
                  <a:txBody>
                    <a:bodyPr/>
                    <a:lstStyle/>
                    <a:p>
                      <a:r>
                        <a:rPr sz="1200" b="0" i="0">
                          <a:solidFill>
                            <a:srgbClr val="1A1440"/>
                          </a:solidFill>
                          <a:latin typeface="Calibri"/>
                        </a:rPr>
                        <a:t>188,600</a:t>
                      </a:r>
                    </a:p>
                  </a:txBody>
                  <a:tcPr marL="101600" marR="101600" marT="38100" marB="38100" anchor="ctr">
                    <a:solidFill>
                      <a:srgbClr val="FFFFFF"/>
                    </a:solidFill>
                  </a:tcPr>
                </a:tc>
                <a:tc>
                  <a:txBody>
                    <a:bodyPr/>
                    <a:lstStyle/>
                    <a:p>
                      <a:r>
                        <a:rPr sz="1200" b="0" i="0">
                          <a:solidFill>
                            <a:srgbClr val="1A1440"/>
                          </a:solidFill>
                          <a:latin typeface="Calibri"/>
                        </a:rPr>
                        <a:t>39,300 too low</a:t>
                      </a:r>
                    </a:p>
                  </a:txBody>
                  <a:tcPr marL="101600" marR="101600" marT="38100" marB="38100" anchor="ctr">
                    <a:solidFill>
                      <a:srgbClr val="FFFFFF"/>
                    </a:solidFill>
                  </a:tcPr>
                </a:tc>
                <a:tc>
                  <a:txBody>
                    <a:bodyPr/>
                    <a:lstStyle/>
                    <a:p>
                      <a:r>
                        <a:rPr sz="1200" b="0" i="0">
                          <a:solidFill>
                            <a:srgbClr val="1A1440"/>
                          </a:solidFill>
                          <a:latin typeface="Calibri"/>
                        </a:rPr>
                        <a:t>221,208</a:t>
                      </a:r>
                    </a:p>
                  </a:txBody>
                  <a:tcPr marL="101600" marR="101600" marT="38100" marB="38100" anchor="ctr">
                    <a:solidFill>
                      <a:srgbClr val="FFFFFF"/>
                    </a:solidFill>
                  </a:tcPr>
                </a:tc>
                <a:tc>
                  <a:txBody>
                    <a:bodyPr/>
                    <a:lstStyle/>
                    <a:p>
                      <a:r>
                        <a:rPr sz="1200" b="0" i="0">
                          <a:solidFill>
                            <a:srgbClr val="1A1440"/>
                          </a:solidFill>
                          <a:latin typeface="Calibri"/>
                        </a:rPr>
                        <a:t>6,692 too low</a:t>
                      </a:r>
                    </a:p>
                  </a:txBody>
                  <a:tcPr marL="101600" marR="101600" marT="38100" marB="38100" anchor="ctr">
                    <a:solidFill>
                      <a:srgbClr val="FFFFFF"/>
                    </a:solidFill>
                  </a:tcPr>
                </a:tc>
              </a:tr>
            </a:tbl>
          </a:graphicData>
        </a:graphic>
      </p:graphicFrame>
      <p:sp>
        <p:nvSpPr>
          <p:cNvPr id="10" name="TextBox 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1" name="TextBox 1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7 / 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rule swings most through the festival?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Over the five one-week forecasts, whose average miss is larger, and by how much?</a:t>
            </a:r>
          </a:p>
        </p:txBody>
      </p:sp>
      <p:sp>
        <p:nvSpPr>
          <p:cNvPr id="9" name="Rounded Rectangle 8"/>
          <p:cNvSpPr/>
          <p:nvPr/>
        </p:nvSpPr>
        <p:spPr>
          <a:xfrm>
            <a:off x="530352"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Naive, by about ten times</a:t>
            </a:r>
          </a:p>
        </p:txBody>
      </p:sp>
      <p:sp>
        <p:nvSpPr>
          <p:cNvPr id="14" name="TextBox 13"/>
          <p:cNvSpPr txBox="1"/>
          <p:nvPr/>
        </p:nvSpPr>
        <p:spPr>
          <a:xfrm>
            <a:off x="731519"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week before is a poor guide when weeks change fast.</a:t>
            </a:r>
          </a:p>
        </p:txBody>
      </p:sp>
      <p:sp>
        <p:nvSpPr>
          <p:cNvPr id="15" name="Rounded Rectangle 14"/>
          <p:cNvSpPr/>
          <p:nvPr/>
        </p:nvSpPr>
        <p:spPr>
          <a:xfrm>
            <a:off x="3358819"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Naive, by about thirty-five times</a:t>
            </a:r>
          </a:p>
        </p:txBody>
      </p:sp>
      <p:sp>
        <p:nvSpPr>
          <p:cNvPr id="20" name="TextBox 19"/>
          <p:cNvSpPr txBox="1"/>
          <p:nvPr/>
        </p:nvSpPr>
        <p:spPr>
          <a:xfrm>
            <a:off x="3559987"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Every festive week differs sharply from the last.</a:t>
            </a:r>
          </a:p>
        </p:txBody>
      </p:sp>
      <p:sp>
        <p:nvSpPr>
          <p:cNvPr id="21" name="Rounded Rectangle 20"/>
          <p:cNvSpPr/>
          <p:nvPr/>
        </p:nvSpPr>
        <p:spPr>
          <a:xfrm>
            <a:off x="6187287"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Festival-aligned, narrowly</a:t>
            </a:r>
          </a:p>
        </p:txBody>
      </p:sp>
      <p:sp>
        <p:nvSpPr>
          <p:cNvPr id="26" name="TextBox 25"/>
          <p:cNvSpPr txBox="1"/>
          <p:nvPr/>
        </p:nvSpPr>
        <p:spPr>
          <a:xfrm>
            <a:off x="6388455"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Copying 2024 adds 2024's own noise.</a:t>
            </a:r>
          </a:p>
        </p:txBody>
      </p:sp>
      <p:sp>
        <p:nvSpPr>
          <p:cNvPr id="27" name="Rounded Rectangle 26"/>
          <p:cNvSpPr/>
          <p:nvPr/>
        </p:nvSpPr>
        <p:spPr>
          <a:xfrm>
            <a:off x="9015755"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A tie: one week ahead, both are close</a:t>
            </a:r>
          </a:p>
        </p:txBody>
      </p:sp>
      <p:sp>
        <p:nvSpPr>
          <p:cNvPr id="32" name="TextBox 31"/>
          <p:cNvSpPr txBox="1"/>
          <p:nvPr/>
        </p:nvSpPr>
        <p:spPr>
          <a:xfrm>
            <a:off x="9216923" y="3534664"/>
            <a:ext cx="2243251" cy="218186"/>
          </a:xfrm>
          <a:prstGeom prst="rect">
            <a:avLst/>
          </a:prstGeom>
          <a:noFill/>
        </p:spPr>
        <p:txBody>
          <a:bodyPr wrap="square" anchor="t" lIns="0" rIns="0" tIns="0" bIns="0">
            <a:spAutoFit/>
          </a:bodyPr>
          <a:lstStyle/>
          <a:p>
            <a:pPr algn="l"/>
            <a:r>
              <a:rPr sz="1100" b="0" i="0">
                <a:solidFill>
                  <a:srgbClr val="6B6690"/>
                </a:solidFill>
                <a:latin typeface="Calibri"/>
              </a:rPr>
              <a:t>A week is short.</a:t>
            </a:r>
          </a:p>
        </p:txBody>
      </p:sp>
      <p:sp>
        <p:nvSpPr>
          <p:cNvPr id="33" name="TextBox 3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8 / 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naive, by about thirty-five times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rolling origin say about naive near a festival?</a:t>
            </a:r>
          </a:p>
        </p:txBody>
      </p:sp>
      <p:pic>
        <p:nvPicPr>
          <p:cNvPr id="9" name="mermaid diagram" descr="C2_W04_D05_rolling_origin_STUDENT.png"/>
          <p:cNvPicPr>
            <a:picLocks noChangeAspect="1"/>
          </p:cNvPicPr>
          <p:nvPr/>
        </p:nvPicPr>
        <p:blipFill>
          <a:blip r:embed="rId4"/>
          <a:stretch>
            <a:fillRect/>
          </a:stretch>
        </p:blipFill>
        <p:spPr>
          <a:xfrm>
            <a:off x="2400728" y="1664208"/>
            <a:ext cx="7390239"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Naive and festival-aligned, one week ahead from five origins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Naive's five misses average 71,180 a week and festival-aligned's 2,040. Near a festival the week before is a poor guide, because the weeks change sharply; last year's week at the same distance from Diwali is a good one.</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9 / 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Zillow: a forecast broke its own guardrail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Zillow's forecasting miss cost, and which guardrail failed?</a:t>
            </a:r>
          </a:p>
        </p:txBody>
      </p:sp>
      <p:graphicFrame>
        <p:nvGraphicFramePr>
          <p:cNvPr id="9" name="Table 8"/>
          <p:cNvGraphicFramePr>
            <a:graphicFrameLocks noGrp="1"/>
          </p:cNvGraphicFramePr>
          <p:nvPr/>
        </p:nvGraphicFramePr>
        <p:xfrm>
          <a:off x="530352" y="1956816"/>
          <a:ext cx="11130991" cy="2574544"/>
        </p:xfrm>
        <a:graphic>
          <a:graphicData uri="http://schemas.openxmlformats.org/drawingml/2006/table">
            <a:tbl>
              <a:tblPr firstRow="0" bandRow="0">
                <a:tableStyleId>{2D5ABB26-0587-4C30-8999-92F81FD0307C}</a:tableStyleId>
              </a:tblPr>
              <a:tblGrid>
                <a:gridCol w="2257107"/>
                <a:gridCol w="8873884"/>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Zillow Offers, 2021 (Zillow's Q3 2021 shareholder letter, checked 12 October 2026)</a:t>
                      </a:r>
                    </a:p>
                  </a:txBody>
                  <a:tcPr marL="101600" marR="101600" marT="38100" marB="38100" anchor="ctr">
                    <a:solidFill>
                      <a:srgbClr val="1A0F5C"/>
                    </a:solidFill>
                  </a:tcPr>
                </a:tc>
              </a:tr>
              <a:tr h="369824">
                <a:tc>
                  <a:txBody>
                    <a:bodyPr/>
                    <a:lstStyle/>
                    <a:p>
                      <a:r>
                        <a:rPr sz="1400" b="0" i="0">
                          <a:solidFill>
                            <a:srgbClr val="1A1440"/>
                          </a:solidFill>
                          <a:latin typeface="Calibri"/>
                        </a:rPr>
                        <a:t>The forecast</a:t>
                      </a:r>
                    </a:p>
                  </a:txBody>
                  <a:tcPr marL="101600" marR="101600" marT="38100" marB="38100" anchor="ctr">
                    <a:solidFill>
                      <a:srgbClr val="FFFFFF"/>
                    </a:solidFill>
                  </a:tcPr>
                </a:tc>
                <a:tc>
                  <a:txBody>
                    <a:bodyPr/>
                    <a:lstStyle/>
                    <a:p>
                      <a:r>
                        <a:rPr sz="1400" b="0" i="0">
                          <a:solidFill>
                            <a:srgbClr val="1A1440"/>
                          </a:solidFill>
                          <a:latin typeface="Calibri"/>
                        </a:rPr>
                        <a:t>Home prices three to six months ahead, to buy homes and resell them</a:t>
                      </a:r>
                    </a:p>
                  </a:txBody>
                  <a:tcPr marL="101600" marR="101600" marT="38100" marB="38100" anchor="ctr">
                    <a:solidFill>
                      <a:srgbClr val="FFFFFF"/>
                    </a:solidFill>
                  </a:tcPr>
                </a:tc>
              </a:tr>
              <a:tr h="611632">
                <a:tc>
                  <a:txBody>
                    <a:bodyPr/>
                    <a:lstStyle/>
                    <a:p>
                      <a:r>
                        <a:rPr sz="1400" b="0" i="0">
                          <a:solidFill>
                            <a:srgbClr val="1A1440"/>
                          </a:solidFill>
                          <a:latin typeface="Calibri"/>
                        </a:rPr>
                        <a:t>The guardrail</a:t>
                      </a:r>
                    </a:p>
                  </a:txBody>
                  <a:tcPr marL="101600" marR="101600" marT="38100" marB="38100" anchor="ctr">
                    <a:solidFill>
                      <a:srgbClr val="F4F2FA"/>
                    </a:solidFill>
                  </a:tcPr>
                </a:tc>
                <a:tc>
                  <a:txBody>
                    <a:bodyPr/>
                    <a:lstStyle/>
                    <a:p>
                      <a:r>
                        <a:rPr sz="1400" b="0" i="0">
                          <a:solidFill>
                            <a:srgbClr val="1A1440"/>
                          </a:solidFill>
                          <a:latin typeface="Calibri"/>
                        </a:rPr>
                        <a:t>Public targets of plus or minus 200 basis points, 2 percent, of breakeven unit economics: what Zillow made or lost on each home it resold was meant to stay near zero</a:t>
                      </a:r>
                    </a:p>
                  </a:txBody>
                  <a:tcPr marL="101600" marR="101600" marT="38100" marB="38100" anchor="ctr">
                    <a:solidFill>
                      <a:srgbClr val="F4F2FA"/>
                    </a:solidFill>
                  </a:tcPr>
                </a:tc>
              </a:tr>
              <a:tr h="611632">
                <a:tc>
                  <a:txBody>
                    <a:bodyPr/>
                    <a:lstStyle/>
                    <a:p>
                      <a:r>
                        <a:rPr sz="1400" b="0" i="0">
                          <a:solidFill>
                            <a:srgbClr val="1A1440"/>
                          </a:solidFill>
                          <a:latin typeface="Calibri"/>
                        </a:rPr>
                        <a:t>The miss</a:t>
                      </a:r>
                    </a:p>
                  </a:txBody>
                  <a:tcPr marL="101600" marR="101600" marT="38100" marB="38100" anchor="ctr">
                    <a:solidFill>
                      <a:srgbClr val="FFFFFF"/>
                    </a:solidFill>
                  </a:tcPr>
                </a:tc>
                <a:tc>
                  <a:txBody>
                    <a:bodyPr/>
                    <a:lstStyle/>
                    <a:p>
                      <a:r>
                        <a:rPr sz="1400" b="0" i="0">
                          <a:solidFill>
                            <a:srgbClr val="1A1440"/>
                          </a:solidFill>
                          <a:latin typeface="Calibri"/>
                        </a:rPr>
                        <a:t>Unit economics swung about 1,200 basis points, 12 percentage points, from Q2 to an expected minus 500 to minus 700 basis points in Q4 2021</a:t>
                      </a:r>
                    </a:p>
                  </a:txBody>
                  <a:tcPr marL="101600" marR="101600" marT="38100" marB="38100" anchor="ctr">
                    <a:solidFill>
                      <a:srgbClr val="FFFFFF"/>
                    </a:solidFill>
                  </a:tcPr>
                </a:tc>
              </a:tr>
              <a:tr h="611632">
                <a:tc>
                  <a:txBody>
                    <a:bodyPr/>
                    <a:lstStyle/>
                    <a:p>
                      <a:r>
                        <a:rPr sz="1400" b="0" i="0">
                          <a:solidFill>
                            <a:srgbClr val="1A1440"/>
                          </a:solidFill>
                          <a:latin typeface="Calibri"/>
                        </a:rPr>
                        <a:t>The cost</a:t>
                      </a:r>
                    </a:p>
                  </a:txBody>
                  <a:tcPr marL="101600" marR="101600" marT="38100" marB="38100" anchor="ctr">
                    <a:solidFill>
                      <a:srgbClr val="F4F2FA"/>
                    </a:solidFill>
                  </a:tcPr>
                </a:tc>
                <a:tc>
                  <a:txBody>
                    <a:bodyPr/>
                    <a:lstStyle/>
                    <a:p>
                      <a:r>
                        <a:rPr sz="1400" b="0" i="0">
                          <a:solidFill>
                            <a:srgbClr val="1A1440"/>
                          </a:solidFill>
                          <a:latin typeface="Calibri"/>
                        </a:rPr>
                        <a:t>A write-down of about USD 304 million: homes in stock marked below what Zillow paid; the business wound down, and about 25 percent of the workforce was cut</a:t>
                      </a:r>
                    </a:p>
                  </a:txBody>
                  <a:tcPr marL="101600" marR="101600" marT="38100" marB="38100" anchor="ctr">
                    <a:solidFill>
                      <a:srgbClr val="F4F2FA"/>
                    </a:solidFill>
                  </a:tcPr>
                </a:tc>
              </a:tr>
            </a:tbl>
          </a:graphicData>
        </a:graphic>
      </p:graphicFrame>
      <p:sp>
        <p:nvSpPr>
          <p:cNvPr id="10" name="TextBox 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1" name="TextBox 1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10 / 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Target Canada: a forecast with no history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Target's buyers have to forecast with in Canada?</a:t>
            </a:r>
          </a:p>
        </p:txBody>
      </p:sp>
      <p:graphicFrame>
        <p:nvGraphicFramePr>
          <p:cNvPr id="9" name="Table 8"/>
          <p:cNvGraphicFramePr>
            <a:graphicFrameLocks noGrp="1"/>
          </p:cNvGraphicFramePr>
          <p:nvPr/>
        </p:nvGraphicFramePr>
        <p:xfrm>
          <a:off x="530352" y="1956816"/>
          <a:ext cx="11130990" cy="2204720"/>
        </p:xfrm>
        <a:graphic>
          <a:graphicData uri="http://schemas.openxmlformats.org/drawingml/2006/table">
            <a:tbl>
              <a:tblPr firstRow="0" bandRow="0">
                <a:tableStyleId>{2D5ABB26-0587-4C30-8999-92F81FD0307C}</a:tableStyleId>
              </a:tblPr>
              <a:tblGrid>
                <a:gridCol w="3290491"/>
                <a:gridCol w="7840499"/>
              </a:tblGrid>
              <a:tr h="611632">
                <a:tc>
                  <a:txBody>
                    <a:bodyPr/>
                    <a:lstStyle/>
                    <a:p/>
                  </a:txBody>
                  <a:tcPr marL="101600" marR="101600" marT="38100" marB="38100" anchor="ctr">
                    <a:solidFill>
                      <a:srgbClr val="1A0F5C"/>
                    </a:solidFill>
                  </a:tcPr>
                </a:tc>
                <a:tc>
                  <a:txBody>
                    <a:bodyPr/>
                    <a:lstStyle/>
                    <a:p>
                      <a:r>
                        <a:rPr sz="1450" b="1" i="0">
                          <a:solidFill>
                            <a:srgbClr val="FFFFFF"/>
                          </a:solidFill>
                          <a:latin typeface="Calibri"/>
                        </a:rPr>
                        <a:t>Target Canada, 2013 to 2015 (Target's release of 15 January 2015 and Canadian Business, checked 12 October 2026)</a:t>
                      </a:r>
                    </a:p>
                  </a:txBody>
                  <a:tcPr marL="101600" marR="101600" marT="38100" marB="38100" anchor="ctr">
                    <a:solidFill>
                      <a:srgbClr val="1A0F5C"/>
                    </a:solidFill>
                  </a:tcPr>
                </a:tc>
              </a:tr>
              <a:tr h="611632">
                <a:tc>
                  <a:txBody>
                    <a:bodyPr/>
                    <a:lstStyle/>
                    <a:p>
                      <a:r>
                        <a:rPr sz="1400" b="0" i="0">
                          <a:solidFill>
                            <a:srgbClr val="1A1440"/>
                          </a:solidFill>
                          <a:latin typeface="Calibri"/>
                        </a:rPr>
                        <a:t>The decision</a:t>
                      </a:r>
                    </a:p>
                  </a:txBody>
                  <a:tcPr marL="101600" marR="101600" marT="38100" marB="38100" anchor="ctr">
                    <a:solidFill>
                      <a:srgbClr val="FFFFFF"/>
                    </a:solidFill>
                  </a:tcPr>
                </a:tc>
                <a:tc>
                  <a:txBody>
                    <a:bodyPr/>
                    <a:lstStyle/>
                    <a:p>
                      <a:r>
                        <a:rPr sz="1400" b="0" i="0">
                          <a:solidFill>
                            <a:srgbClr val="1A1440"/>
                          </a:solidFill>
                          <a:latin typeface="Calibri"/>
                        </a:rPr>
                        <a:t>Target announced on 15 January 2015 that it would close all 133 Canadian stores, about 17,600 employees</a:t>
                      </a:r>
                    </a:p>
                  </a:txBody>
                  <a:tcPr marL="101600" marR="101600" marT="38100" marB="38100" anchor="ctr">
                    <a:solidFill>
                      <a:srgbClr val="FFFFFF"/>
                    </a:solidFill>
                  </a:tcPr>
                </a:tc>
              </a:tr>
              <a:tr h="611632">
                <a:tc>
                  <a:txBody>
                    <a:bodyPr/>
                    <a:lstStyle/>
                    <a:p>
                      <a:r>
                        <a:rPr sz="1400" b="0" i="0">
                          <a:solidFill>
                            <a:srgbClr val="1A1440"/>
                          </a:solidFill>
                          <a:latin typeface="Calibri"/>
                        </a:rPr>
                        <a:t>The forecasting failure</a:t>
                      </a:r>
                    </a:p>
                  </a:txBody>
                  <a:tcPr marL="101600" marR="101600" marT="38100" marB="38100" anchor="ctr">
                    <a:solidFill>
                      <a:srgbClr val="F4F2FA"/>
                    </a:solidFill>
                  </a:tcPr>
                </a:tc>
                <a:tc>
                  <a:txBody>
                    <a:bodyPr/>
                    <a:lstStyle/>
                    <a:p>
                      <a:r>
                        <a:rPr sz="1400" b="0" i="0">
                          <a:solidFill>
                            <a:srgbClr val="1A1440"/>
                          </a:solidFill>
                          <a:latin typeface="Calibri"/>
                        </a:rPr>
                        <a:t>Its forecasting and replenishment system needed years of history and could not forecast new stores, so buyers used optimistic projections instead</a:t>
                      </a:r>
                    </a:p>
                  </a:txBody>
                  <a:tcPr marL="101600" marR="101600" marT="38100" marB="38100" anchor="ctr">
                    <a:solidFill>
                      <a:srgbClr val="F4F2FA"/>
                    </a:solidFill>
                  </a:tcPr>
                </a:tc>
              </a:tr>
              <a:tr h="369824">
                <a:tc>
                  <a:txBody>
                    <a:bodyPr/>
                    <a:lstStyle/>
                    <a:p>
                      <a:r>
                        <a:rPr sz="1400" b="0" i="0">
                          <a:solidFill>
                            <a:srgbClr val="1A1440"/>
                          </a:solidFill>
                          <a:latin typeface="Calibri"/>
                        </a:rPr>
                        <a:t>What followed</a:t>
                      </a:r>
                    </a:p>
                  </a:txBody>
                  <a:tcPr marL="101600" marR="101600" marT="38100" marB="38100" anchor="ctr">
                    <a:solidFill>
                      <a:srgbClr val="FFFFFF"/>
                    </a:solidFill>
                  </a:tcPr>
                </a:tc>
                <a:tc>
                  <a:txBody>
                    <a:bodyPr/>
                    <a:lstStyle/>
                    <a:p>
                      <a:r>
                        <a:rPr sz="1400" b="0" i="0">
                          <a:solidFill>
                            <a:srgbClr val="1A1440"/>
                          </a:solidFill>
                          <a:latin typeface="Calibri"/>
                        </a:rPr>
                        <a:t>Distribution centres overflowed while shelves sat empty</a:t>
                      </a:r>
                    </a:p>
                  </a:txBody>
                  <a:tcPr marL="101600" marR="101600" marT="38100" marB="38100" anchor="ctr">
                    <a:solidFill>
                      <a:srgbClr val="FFFFFF"/>
                    </a:solidFill>
                  </a:tcPr>
                </a:tc>
              </a:tr>
            </a:tbl>
          </a:graphicData>
        </a:graphic>
      </p:graphicFrame>
      <p:sp>
        <p:nvSpPr>
          <p:cNvPr id="10" name="TextBox 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1" name="TextBox 1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11 / 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failures, and their Lucknow versions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in today's plan would have caught each failure?</a:t>
            </a:r>
          </a:p>
        </p:txBody>
      </p:sp>
      <p:graphicFrame>
        <p:nvGraphicFramePr>
          <p:cNvPr id="9" name="Table 8"/>
          <p:cNvGraphicFramePr>
            <a:graphicFrameLocks noGrp="1"/>
          </p:cNvGraphicFramePr>
          <p:nvPr/>
        </p:nvGraphicFramePr>
        <p:xfrm>
          <a:off x="530352" y="1956816"/>
          <a:ext cx="11130989" cy="1593088"/>
        </p:xfrm>
        <a:graphic>
          <a:graphicData uri="http://schemas.openxmlformats.org/drawingml/2006/table">
            <a:tbl>
              <a:tblPr firstRow="0" bandRow="0">
                <a:tableStyleId>{2D5ABB26-0587-4C30-8999-92F81FD0307C}</a:tableStyleId>
              </a:tblPr>
              <a:tblGrid>
                <a:gridCol w="3132847"/>
                <a:gridCol w="3999071"/>
                <a:gridCol w="3999071"/>
              </a:tblGrid>
              <a:tr h="369824">
                <a:tc>
                  <a:txBody>
                    <a:bodyPr/>
                    <a:lstStyle/>
                    <a:p>
                      <a:r>
                        <a:rPr sz="1450" b="1" i="0">
                          <a:solidFill>
                            <a:srgbClr val="FFFFFF"/>
                          </a:solidFill>
                          <a:latin typeface="Calibri"/>
                        </a:rPr>
                        <a:t>The failure</a:t>
                      </a:r>
                    </a:p>
                  </a:txBody>
                  <a:tcPr marL="101600" marR="101600" marT="38100" marB="38100" anchor="ctr">
                    <a:solidFill>
                      <a:srgbClr val="1A0F5C"/>
                    </a:solidFill>
                  </a:tcPr>
                </a:tc>
                <a:tc>
                  <a:txBody>
                    <a:bodyPr/>
                    <a:lstStyle/>
                    <a:p>
                      <a:r>
                        <a:rPr sz="1450" b="1" i="0">
                          <a:solidFill>
                            <a:srgbClr val="FFFFFF"/>
                          </a:solidFill>
                          <a:latin typeface="Calibri"/>
                        </a:rPr>
                        <a:t>The Lucknow version</a:t>
                      </a:r>
                    </a:p>
                  </a:txBody>
                  <a:tcPr marL="101600" marR="101600" marT="38100" marB="38100" anchor="ctr">
                    <a:solidFill>
                      <a:srgbClr val="1A0F5C"/>
                    </a:solidFill>
                  </a:tcPr>
                </a:tc>
                <a:tc>
                  <a:txBody>
                    <a:bodyPr/>
                    <a:lstStyle/>
                    <a:p>
                      <a:r>
                        <a:rPr sz="1450" b="1" i="0">
                          <a:solidFill>
                            <a:srgbClr val="FFFFFF"/>
                          </a:solidFill>
                          <a:latin typeface="Calibri"/>
                        </a:rPr>
                        <a:t>The check that catches it</a:t>
                      </a:r>
                    </a:p>
                  </a:txBody>
                  <a:tcPr marL="101600" marR="101600" marT="38100" marB="38100" anchor="ctr">
                    <a:solidFill>
                      <a:srgbClr val="1A0F5C"/>
                    </a:solidFill>
                  </a:tcPr>
                </a:tc>
              </a:tr>
              <a:tr h="611632">
                <a:tc>
                  <a:txBody>
                    <a:bodyPr/>
                    <a:lstStyle/>
                    <a:p>
                      <a:r>
                        <a:rPr sz="1400" b="0" i="0">
                          <a:solidFill>
                            <a:srgbClr val="1A1440"/>
                          </a:solidFill>
                          <a:latin typeface="Calibri"/>
                        </a:rPr>
                        <a:t>Zillow: a forecast ran past its own guardrail</a:t>
                      </a:r>
                    </a:p>
                  </a:txBody>
                  <a:tcPr marL="101600" marR="101600" marT="38100" marB="38100" anchor="ctr">
                    <a:solidFill>
                      <a:srgbClr val="FFFFFF"/>
                    </a:solidFill>
                  </a:tcPr>
                </a:tc>
                <a:tc>
                  <a:txBody>
                    <a:bodyPr/>
                    <a:lstStyle/>
                    <a:p>
                      <a:r>
                        <a:rPr sz="1400" b="0" i="0">
                          <a:solidFill>
                            <a:srgbClr val="1A1440"/>
                          </a:solidFill>
                          <a:latin typeface="Calibri"/>
                        </a:rPr>
                        <a:t>The vendor's curve, high on 12 of 13 hidden weeks and climbing</a:t>
                      </a:r>
                    </a:p>
                  </a:txBody>
                  <a:tcPr marL="101600" marR="101600" marT="38100" marB="38100" anchor="ctr">
                    <a:solidFill>
                      <a:srgbClr val="FFFFFF"/>
                    </a:solidFill>
                  </a:tcPr>
                </a:tc>
                <a:tc>
                  <a:txBody>
                    <a:bodyPr/>
                    <a:lstStyle/>
                    <a:p>
                      <a:r>
                        <a:rPr sz="1400" b="0" i="0">
                          <a:solidFill>
                            <a:srgbClr val="1A1440"/>
                          </a:solidFill>
                          <a:latin typeface="Calibri"/>
                        </a:rPr>
                        <a:t>Score every week's miss against the error bar, and stop when it is breached</a:t>
                      </a:r>
                    </a:p>
                  </a:txBody>
                  <a:tcPr marL="101600" marR="101600" marT="38100" marB="38100" anchor="ctr">
                    <a:solidFill>
                      <a:srgbClr val="FFFFFF"/>
                    </a:solidFill>
                  </a:tcPr>
                </a:tc>
              </a:tr>
              <a:tr h="611632">
                <a:tc>
                  <a:txBody>
                    <a:bodyPr/>
                    <a:lstStyle/>
                    <a:p>
                      <a:r>
                        <a:rPr sz="1400" b="0" i="0">
                          <a:solidFill>
                            <a:srgbClr val="1A1440"/>
                          </a:solidFill>
                          <a:latin typeface="Calibri"/>
                        </a:rPr>
                        <a:t>Target Canada: a forecast with no history</a:t>
                      </a:r>
                    </a:p>
                  </a:txBody>
                  <a:tcPr marL="101600" marR="101600" marT="38100" marB="38100" anchor="ctr">
                    <a:solidFill>
                      <a:srgbClr val="F4F2FA"/>
                    </a:solidFill>
                  </a:tcPr>
                </a:tc>
                <a:tc>
                  <a:txBody>
                    <a:bodyPr/>
                    <a:lstStyle/>
                    <a:p>
                      <a:r>
                        <a:rPr sz="1400" b="0" i="0">
                          <a:solidFill>
                            <a:srgbClr val="1A1440"/>
                          </a:solidFill>
                          <a:latin typeface="Calibri"/>
                        </a:rPr>
                        <a:t>A vendor model never scored on a Lucknow festival</a:t>
                      </a:r>
                    </a:p>
                  </a:txBody>
                  <a:tcPr marL="101600" marR="101600" marT="38100" marB="38100" anchor="ctr">
                    <a:solidFill>
                      <a:srgbClr val="F4F2FA"/>
                    </a:solidFill>
                  </a:tcPr>
                </a:tc>
                <a:tc>
                  <a:txBody>
                    <a:bodyPr/>
                    <a:lstStyle/>
                    <a:p>
                      <a:r>
                        <a:rPr sz="1400" b="0" i="0">
                          <a:solidFill>
                            <a:srgbClr val="1A1440"/>
                          </a:solidFill>
                          <a:latin typeface="Calibri"/>
                        </a:rPr>
                        <a:t>Score it on 2025's festival from data to September 2025 before it books a shift</a:t>
                      </a:r>
                    </a:p>
                  </a:txBody>
                  <a:tcPr marL="101600" marR="101600" marT="38100" marB="38100" anchor="ctr">
                    <a:solidFill>
                      <a:srgbClr val="F4F2FA"/>
                    </a:solidFill>
                  </a:tcPr>
                </a:tc>
              </a:tr>
            </a:tbl>
          </a:graphicData>
        </a:graphic>
      </p:graphicFrame>
      <p:sp>
        <p:nvSpPr>
          <p:cNvPr id="10" name="TextBox 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1" name="TextBox 1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12 / 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 Finance and the sponsor each want theirs</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How does a candidate choose between two stakeholders' forecasts and present the error? [D] tags a differentiator, a question that separates strong candidates.</a:t>
            </a:r>
          </a:p>
        </p:txBody>
      </p:sp>
      <p:graphicFrame>
        <p:nvGraphicFramePr>
          <p:cNvPr id="9" name="Table 8"/>
          <p:cNvGraphicFramePr>
            <a:graphicFrameLocks noGrp="1"/>
          </p:cNvGraphicFramePr>
          <p:nvPr/>
        </p:nvGraphicFramePr>
        <p:xfrm>
          <a:off x="530352" y="1956816"/>
          <a:ext cx="11130990" cy="2204720"/>
        </p:xfrm>
        <a:graphic>
          <a:graphicData uri="http://schemas.openxmlformats.org/drawingml/2006/table">
            <a:tbl>
              <a:tblPr firstRow="0" bandRow="0">
                <a:tableStyleId>{2D5ABB26-0587-4C30-8999-92F81FD0307C}</a:tableStyleId>
              </a:tblPr>
              <a:tblGrid>
                <a:gridCol w="5565495"/>
                <a:gridCol w="5565495"/>
              </a:tblGrid>
              <a:tr h="369824">
                <a:tc>
                  <a:txBody>
                    <a:bodyPr/>
                    <a:lstStyle/>
                    <a:p>
                      <a:r>
                        <a:rPr sz="1450" b="1" i="0">
                          <a:solidFill>
                            <a:srgbClr val="FFFFFF"/>
                          </a:solidFill>
                          <a:latin typeface="Calibri"/>
                        </a:rPr>
                        <a:t>A weak answer</a:t>
                      </a:r>
                    </a:p>
                  </a:txBody>
                  <a:tcPr marL="101600" marR="101600" marT="38100" marB="38100" anchor="ctr">
                    <a:solidFill>
                      <a:srgbClr val="1A0F5C"/>
                    </a:solidFill>
                  </a:tcPr>
                </a:tc>
                <a:tc>
                  <a:txBody>
                    <a:bodyPr/>
                    <a:lstStyle/>
                    <a:p>
                      <a:r>
                        <a:rPr sz="1450" b="1" i="0">
                          <a:solidFill>
                            <a:srgbClr val="FFFFFF"/>
                          </a:solidFill>
                          <a:latin typeface="Calibri"/>
                        </a:rPr>
                        <a:t>A hire-grade answer</a:t>
                      </a:r>
                    </a:p>
                  </a:txBody>
                  <a:tcPr marL="101600" marR="101600" marT="38100" marB="38100" anchor="ctr">
                    <a:solidFill>
                      <a:srgbClr val="1A0F5C"/>
                    </a:solidFill>
                  </a:tcPr>
                </a:tc>
              </a:tr>
              <a:tr h="611632">
                <a:tc>
                  <a:txBody>
                    <a:bodyPr/>
                    <a:lstStyle/>
                    <a:p>
                      <a:r>
                        <a:rPr sz="1400" b="0" i="0">
                          <a:solidFill>
                            <a:srgbClr val="1A1440"/>
                          </a:solidFill>
                          <a:latin typeface="Calibri"/>
                        </a:rPr>
                        <a:t>"I would average the two: 13 percent sits between 4 and 22."</a:t>
                      </a:r>
                    </a:p>
                  </a:txBody>
                  <a:tcPr marL="101600" marR="101600" marT="38100" marB="38100" anchor="ctr">
                    <a:solidFill>
                      <a:srgbClr val="FFFFFF"/>
                    </a:solidFill>
                  </a:tcPr>
                </a:tc>
                <a:tc>
                  <a:txBody>
                    <a:bodyPr/>
                    <a:lstStyle/>
                    <a:p>
                      <a:r>
                        <a:rPr sz="1400" b="0" i="0">
                          <a:solidFill>
                            <a:srgbClr val="1A1440"/>
                          </a:solidFill>
                          <a:latin typeface="Calibri"/>
                        </a:rPr>
                        <a:t>"I would score both on weeks neither saw, against a copy of last year, in shipments and in rupees."</a:t>
                      </a:r>
                    </a:p>
                  </a:txBody>
                  <a:tcPr marL="101600" marR="101600" marT="38100" marB="38100" anchor="ctr">
                    <a:solidFill>
                      <a:srgbClr val="FFFFFF"/>
                    </a:solidFill>
                  </a:tcPr>
                </a:tc>
              </a:tr>
              <a:tr h="611632">
                <a:tc>
                  <a:txBody>
                    <a:bodyPr/>
                    <a:lstStyle/>
                    <a:p>
                      <a:r>
                        <a:rPr sz="1400" b="0" i="0">
                          <a:solidFill>
                            <a:srgbClr val="1A1440"/>
                          </a:solidFill>
                          <a:latin typeface="Calibri"/>
                        </a:rPr>
                        <a:t>Picks the more senior stakeholder's number</a:t>
                      </a:r>
                    </a:p>
                  </a:txBody>
                  <a:tcPr marL="101600" marR="101600" marT="38100" marB="38100" anchor="ctr">
                    <a:solidFill>
                      <a:srgbClr val="F4F2FA"/>
                    </a:solidFill>
                  </a:tcPr>
                </a:tc>
                <a:tc>
                  <a:txBody>
                    <a:bodyPr/>
                    <a:lstStyle/>
                    <a:p>
                      <a:r>
                        <a:rPr sz="1400" b="0" i="0">
                          <a:solidFill>
                            <a:srgbClr val="1A1440"/>
                          </a:solidFill>
                          <a:latin typeface="Calibri"/>
                        </a:rPr>
                        <a:t>Concedes what is true in each: finance's growth, the vendor's fit</a:t>
                      </a:r>
                    </a:p>
                  </a:txBody>
                  <a:tcPr marL="101600" marR="101600" marT="38100" marB="38100" anchor="ctr">
                    <a:solidFill>
                      <a:srgbClr val="F4F2FA"/>
                    </a:solidFill>
                  </a:tcPr>
                </a:tc>
              </a:tr>
              <a:tr h="611632">
                <a:tc>
                  <a:txBody>
                    <a:bodyPr/>
                    <a:lstStyle/>
                    <a:p>
                      <a:r>
                        <a:rPr sz="1400" b="0" i="0">
                          <a:solidFill>
                            <a:srgbClr val="1A1440"/>
                          </a:solidFill>
                          <a:latin typeface="Calibri"/>
                        </a:rPr>
                        <a:t>Gives one number with no range</a:t>
                      </a:r>
                    </a:p>
                  </a:txBody>
                  <a:tcPr marL="101600" marR="101600" marT="38100" marB="38100" anchor="ctr">
                    <a:solidFill>
                      <a:srgbClr val="FFFFFF"/>
                    </a:solidFill>
                  </a:tcPr>
                </a:tc>
                <a:tc>
                  <a:txBody>
                    <a:bodyPr/>
                    <a:lstStyle/>
                    <a:p>
                      <a:r>
                        <a:rPr sz="1400" b="0" i="0">
                          <a:solidFill>
                            <a:srgbClr val="1A1440"/>
                          </a:solidFill>
                          <a:latin typeface="Calibri"/>
                        </a:rPr>
                        <a:t>Gives the plan, its error bar in each direction, and what would change it</a:t>
                      </a:r>
                    </a:p>
                  </a:txBody>
                  <a:tcPr marL="101600" marR="101600" marT="38100" marB="38100" anchor="ctr">
                    <a:solidFill>
                      <a:srgbClr val="FFFFFF"/>
                    </a:solidFill>
                  </a:tcPr>
                </a:tc>
              </a:tr>
            </a:tbl>
          </a:graphicData>
        </a:graphic>
      </p:graphicFrame>
      <p:sp>
        <p:nvSpPr>
          <p:cNvPr id="10" name="TextBox 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1" name="TextBox 1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13 /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FALLBACK</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the rule that holds without the session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survives this hour, whether or not the faculty session (tentative) runs?</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ruler_ec66f5961a9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TEST</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As long as the plan</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Hide at least as many weeks as the plan books, from one origin.</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FESTIVAL</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Copy by distance from Diwali</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One week ahead, naive missed by 71,180 through the festival.</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adge-check_df01016c75a5.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PLAN</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Beat the bot, then price it</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Nothing books a shift until it beats a copy of last year on hidden weeks.</a:t>
            </a:r>
          </a:p>
        </p:txBody>
      </p:sp>
      <p:sp>
        <p:nvSpPr>
          <p:cNvPr id="27" name="TextBox 2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14 / 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