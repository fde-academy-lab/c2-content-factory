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on screen only if the faculty session (tentative) slips. Nothing here teaches</a:t>
            </a:r>
          </a:p>
          <a:p>
            <a:r>
              <a:t>autocorrelation, smoothing or ARIMA: the faculty session (tentative) owns them. Read the five parts;</a:t>
            </a:r>
          </a:p>
          <a:p>
            <a:r>
              <a:t>part 3 goes beyond the curriculum row's five subtopics, and says so on its first slide.</a:t>
            </a:r>
          </a:p>
          <a:p>
            <a:r>
              <a:t>Each ends on one line a group writes down. Transition:</a:t>
            </a:r>
          </a:p>
          <a:p>
            <a:r>
              <a:t>part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8 minutes. Groups run notebook 06 with the split moved to 24 August 2026, or read this table.</a:t>
            </a:r>
          </a:p>
          <a:p>
            <a:r>
              <a:t>The vendor's four weeks are its old forecast, made from 22 June, so they are its farthest weeks</a:t>
            </a:r>
          </a:p>
          <a:p>
            <a:r>
              <a:t>ahead. Transition: why naive moved most.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Vote, argue for one minute, vote again. a and c are partly true; b is the cause.</a:t>
            </a:r>
          </a:p>
          <a:p>
            <a:r>
              <a:t>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Show the four misses on the board. The house bot and festival-aligned barely move</a:t>
            </a:r>
          </a:p>
          <a:p>
            <a:r>
              <a:t>because they copy last year's weeks and ignore the origin. Transition: the rule this proves.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Each group writes one line: what a four-week test would have let the vendor's</a:t>
            </a:r>
          </a:p>
          <a:p>
            <a:r>
              <a:t>sponsor claim. Transition: part 2, rolling the origin.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This is the rolling-origin picture of FPP3's section 5.10 (checked 12 October</a:t>
            </a:r>
          </a:p>
          <a:p>
            <a:r>
              <a:t>2026), on the twelve printed rows. Groups work it by hand. Transition: the five forecasts.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12 minutes. Each group takes one row and calls out its two misses. Festival-aligned copies</a:t>
            </a:r>
          </a:p>
          <a:p>
            <a:r>
              <a:t>2024's week at the same distance from Diwali, plus 4 percent. Transition: the vote.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Groups add their row's misses to the board first. 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8 minutes. 71,180 over 2,040 is about thirty-five: b was the closest option. Transition:</a:t>
            </a:r>
          </a:p>
          <a:p>
            <a:r>
              <a:t>part 3, how far above the forecast the plan should sit.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Vote first. The day's plan, 19,760 shifts, books festival-aligned's forecast itself</a:t>
            </a:r>
          </a:p>
          <a:p>
            <a:r>
              <a:t>and prices the error bar both ways; this part asks how far a planner should lean. Transition: the</a:t>
            </a:r>
          </a:p>
          <a:p>
            <a:r>
              <a:t>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Work the 100 weeks on the board first, then read the curve: the average cost of the</a:t>
            </a:r>
          </a:p>
          <a:p>
            <a:r>
              <a:t>week of 19 October with each of the thirteen hidden-week misses tried as its demand. The total is</a:t>
            </a:r>
          </a:p>
          <a:p>
            <a:r>
              <a:t>lowest between 2 and 3 percent above the forecast. If the late cost rises toward Rs 40, the low point</a:t>
            </a:r>
          </a:p>
          <a:p>
            <a:r>
              <a:t>moves right. Explorer: scene F4. Transition: reading the 0.82 off thirteen weeks.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Point at the 10th and 11th dots. With thirteen weeks the true point could sit</a:t>
            </a:r>
          </a:p>
          <a:p>
            <a:r>
              <a:t>anywhere from about 2 to 3 percent, and the curve on S11 is nearly flat there. The cushion is read</a:t>
            </a:r>
          </a:p>
          <a:p>
            <a:r>
              <a:t>from the same weeks it is scored on, so every forecast is compared at its own 0.82 point; a rolling</a:t>
            </a:r>
          </a:p>
          <a:p>
            <a:r>
              <a:t>origin through 2025's festival would set it on weeks the test never touches. Transition: the plan,</a:t>
            </a:r>
          </a:p>
          <a:p>
            <a:r>
              <a:t>raised.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Walk the first row aloud: 344,448 times 1.026 is 353,404, over 120 and rounded up is</a:t>
            </a:r>
          </a:p>
          <a:p>
            <a:r>
              <a:t>2,946 shifts. Each group writes one line: what the 515 extra shifts buy, and what would lower them.</a:t>
            </a:r>
          </a:p>
          <a:p>
            <a:r>
              <a:t>Transition: part 4, two real failures.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The guardrail sat on the margin, which suggests the price forecast's error three to</a:t>
            </a:r>
          </a:p>
          <a:p>
            <a:r>
              <a:t>six months out was wider than the whole band; Zillow did stop, by winding the business down. Groups name</a:t>
            </a:r>
          </a:p>
          <a:p>
            <a:r>
              <a:t>the Lucknow equivalent: a cushion thinner than the forecast's error at the plan's horizon.</a:t>
            </a:r>
          </a:p>
          <a:p>
            <a:r>
              <a:t>Transition: Target Canada.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The forecasting account is Canadian Business's, through the archived copy the</a:t>
            </a:r>
          </a:p>
          <a:p>
            <a:r>
              <a:t>research ledger cites. The Lucknow version: a vendor model with no Lucknow festival in its record.</a:t>
            </a:r>
          </a:p>
          <a:p>
            <a:r>
              <a:t>Transition: the two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Each group writes the check in one line. Transition: part 5, the second</a:t>
            </a:r>
          </a:p>
          <a:p>
            <a:r>
              <a:t>transcript.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23 minutes. Pairs play the planner and one stakeholder, then swap. The full [D] transcript is</a:t>
            </a:r>
          </a:p>
          <a:p>
            <a:r>
              <a:t>in `extras/C2_W04_D05_interview_transcripts_STUDENT.md`. Transition: the close.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faculty session (tentative) picks up autocorrelation and smoothing from here</a:t>
            </a:r>
          </a:p>
          <a:p>
            <a:r>
              <a:t>whenever it runs. Transition: close for the 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xml"/><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FORECASTING BASICS  ·  FALLBACK</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parts, each testing the day's choice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runs in the next 120 minutes, and in what order?</a:t>
            </a:r>
          </a:p>
        </p:txBody>
      </p:sp>
      <p:pic>
        <p:nvPicPr>
          <p:cNvPr id="9" name="mermaid diagram" descr="318abff76339a967.png"/>
          <p:cNvPicPr>
            <a:picLocks noChangeAspect="1"/>
          </p:cNvPicPr>
          <p:nvPr/>
        </p:nvPicPr>
        <p:blipFill>
          <a:blip r:embed="rId5"/>
          <a:stretch>
            <a:fillRect/>
          </a:stretch>
        </p:blipFill>
        <p:spPr>
          <a:xfrm>
            <a:off x="530352" y="1956816"/>
            <a:ext cx="11130991" cy="1748136"/>
          </a:xfrm>
          <a:prstGeom prst="rect">
            <a:avLst/>
          </a:prstGeom>
        </p:spPr>
      </p:pic>
      <p:sp>
        <p:nvSpPr>
          <p:cNvPr id="10" name="TextBox 9"/>
          <p:cNvSpPr txBox="1"/>
          <p:nvPr/>
        </p:nvSpPr>
        <p:spPr>
          <a:xfrm>
            <a:off x="530352" y="38512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This hour runs only if the IITGN faculty session W4-4 (tentative) does not run. Illustrative case: the company is real, the situation and the data are synthetic, built for this class.</a:t>
            </a:r>
          </a:p>
        </p:txBody>
      </p:sp>
      <p:sp>
        <p:nvSpPr>
          <p:cNvPr id="11" name="TextBox 10"/>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6B6690"/>
                </a:solidFill>
                <a:latin typeface="Calibri"/>
              </a:rPr>
              <a:t>Week 4, Day 5. Forecasting basics: the fallback hour</a:t>
            </a:r>
          </a:p>
        </p:txBody>
      </p:sp>
      <p:sp>
        <p:nvSpPr>
          <p:cNvPr id="12" name="TextBox 1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1 /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FORECASTING BASICS  ·  FALLBACK</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Hide four weeks, forecast from 24 August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the rules score when only the last four weeks are hidden?</a:t>
            </a:r>
          </a:p>
        </p:txBody>
      </p:sp>
      <p:pic>
        <p:nvPicPr>
          <p:cNvPr id="9" name="mermaid diagram" descr="C2_W04_D05_four_vs_thirteen_STUDENT.png"/>
          <p:cNvPicPr>
            <a:picLocks noChangeAspect="1"/>
          </p:cNvPicPr>
          <p:nvPr/>
        </p:nvPicPr>
        <p:blipFill>
          <a:blip r:embed="rId4"/>
          <a:stretch>
            <a:fillRect/>
          </a:stretch>
        </p:blipFill>
        <p:spPr>
          <a:xfrm>
            <a:off x="2353822" y="1664208"/>
            <a:ext cx="7484050" cy="3215640"/>
          </a:xfrm>
          <a:prstGeom prst="rect">
            <a:avLst/>
          </a:prstGeom>
        </p:spPr>
      </p:pic>
      <p:sp>
        <p:nvSpPr>
          <p:cNvPr id="10" name="picture caption"/>
          <p:cNvSpPr txBox="1"/>
          <p:nvPr/>
        </p:nvSpPr>
        <p:spPr>
          <a:xfrm>
            <a:off x="530352" y="4916424"/>
            <a:ext cx="11130991" cy="316992"/>
          </a:xfrm>
          <a:prstGeom prst="rect">
            <a:avLst/>
          </a:prstGeom>
          <a:noFill/>
        </p:spPr>
        <p:txBody>
          <a:bodyPr wrap="square" anchor="t" lIns="0" rIns="0" tIns="0" bIns="0">
            <a:spAutoFit/>
          </a:bodyPr>
          <a:lstStyle/>
          <a:p>
            <a:pPr algn="ctr"/>
            <a:r>
              <a:rPr sz="1200" b="0" i="0">
                <a:solidFill>
                  <a:srgbClr val="6B6690"/>
                </a:solidFill>
                <a:latin typeface="Calibri"/>
              </a:rPr>
              <a:t>MAE by rule on thirteen hidden weeks and on the last four</a:t>
            </a:r>
          </a:p>
        </p:txBody>
      </p:sp>
      <p:sp>
        <p:nvSpPr>
          <p:cNvPr id="11" name="TextBox 10"/>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Festival-aligned and finance's rule still lead and the house bot stays next, while naive and drift fall below the vendor; every number moves a great deal. The four-week test rests on four misses and on one origin week.</a:t>
            </a:r>
          </a:p>
        </p:txBody>
      </p:sp>
      <p:sp>
        <p:nvSpPr>
          <p:cNvPr id="12" name="TextBox 11"/>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6B6690"/>
                </a:solidFill>
                <a:latin typeface="Calibri"/>
              </a:rPr>
              <a:t>Week 4, Day 5. Forecasting basics: the fallback hour</a:t>
            </a:r>
          </a:p>
        </p:txBody>
      </p:sp>
      <p:sp>
        <p:nvSpPr>
          <p:cNvPr id="13" name="TextBox 1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FORECASTING BASICS  ·  FALLBACK</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did naive jump from 14,923 to 37,050?</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in the four-week test, made naive's average miss more than double?</a:t>
            </a:r>
          </a:p>
        </p:txBody>
      </p:sp>
      <p:sp>
        <p:nvSpPr>
          <p:cNvPr id="9" name="Rounded Rectangle 8"/>
          <p:cNvSpPr/>
          <p:nvPr/>
        </p:nvSpPr>
        <p:spPr>
          <a:xfrm>
            <a:off x="530352"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list_637b34e7c72a.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498856"/>
          </a:xfrm>
          <a:prstGeom prst="rect">
            <a:avLst/>
          </a:prstGeom>
          <a:noFill/>
        </p:spPr>
        <p:txBody>
          <a:bodyPr wrap="square" anchor="t" lIns="0" rIns="0" tIns="0" bIns="0">
            <a:spAutoFit/>
          </a:bodyPr>
          <a:lstStyle/>
          <a:p>
            <a:pPr algn="l"/>
            <a:r>
              <a:rPr sz="1400" b="1" i="0">
                <a:solidFill>
                  <a:srgbClr val="1A0F5C"/>
                </a:solidFill>
                <a:latin typeface="Calibri"/>
              </a:rPr>
              <a:t>The last four weeks are harder</a:t>
            </a:r>
          </a:p>
        </p:txBody>
      </p:sp>
      <p:sp>
        <p:nvSpPr>
          <p:cNvPr id="14" name="TextBox 13"/>
          <p:cNvSpPr txBox="1"/>
          <p:nvPr/>
        </p:nvSpPr>
        <p:spPr>
          <a:xfrm>
            <a:off x="731519" y="3534664"/>
            <a:ext cx="2243251" cy="218186"/>
          </a:xfrm>
          <a:prstGeom prst="rect">
            <a:avLst/>
          </a:prstGeom>
          <a:noFill/>
        </p:spPr>
        <p:txBody>
          <a:bodyPr wrap="square" anchor="t" lIns="0" rIns="0" tIns="0" bIns="0">
            <a:spAutoFit/>
          </a:bodyPr>
          <a:lstStyle/>
          <a:p>
            <a:pPr algn="l"/>
            <a:r>
              <a:rPr sz="1100" b="0" i="0">
                <a:solidFill>
                  <a:srgbClr val="6B6690"/>
                </a:solidFill>
                <a:latin typeface="Calibri"/>
              </a:rPr>
              <a:t>September ships more than July.</a:t>
            </a:r>
          </a:p>
        </p:txBody>
      </p:sp>
      <p:sp>
        <p:nvSpPr>
          <p:cNvPr id="15" name="Rounded Rectangle 14"/>
          <p:cNvSpPr/>
          <p:nvPr/>
        </p:nvSpPr>
        <p:spPr>
          <a:xfrm>
            <a:off x="3358819"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list_637b34e7c72a.png"/>
          <p:cNvPicPr>
            <a:picLocks noChangeAspect="1"/>
          </p:cNvPicPr>
          <p:nvPr/>
        </p:nvPicPr>
        <p:blipFill>
          <a:blip r:embed="rId4"/>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498856"/>
          </a:xfrm>
          <a:prstGeom prst="rect">
            <a:avLst/>
          </a:prstGeom>
          <a:noFill/>
        </p:spPr>
        <p:txBody>
          <a:bodyPr wrap="square" anchor="t" lIns="0" rIns="0" tIns="0" bIns="0">
            <a:spAutoFit/>
          </a:bodyPr>
          <a:lstStyle/>
          <a:p>
            <a:pPr algn="l"/>
            <a:r>
              <a:rPr sz="1400" b="1" i="0">
                <a:solidFill>
                  <a:srgbClr val="1A0F5C"/>
                </a:solidFill>
                <a:latin typeface="Calibri"/>
              </a:rPr>
              <a:t>The origin week was a dip</a:t>
            </a:r>
          </a:p>
        </p:txBody>
      </p:sp>
      <p:sp>
        <p:nvSpPr>
          <p:cNvPr id="20" name="TextBox 19"/>
          <p:cNvSpPr txBox="1"/>
          <p:nvPr/>
        </p:nvSpPr>
        <p:spPr>
          <a:xfrm>
            <a:off x="3559987" y="3534664"/>
            <a:ext cx="2243251" cy="399796"/>
          </a:xfrm>
          <a:prstGeom prst="rect">
            <a:avLst/>
          </a:prstGeom>
          <a:noFill/>
        </p:spPr>
        <p:txBody>
          <a:bodyPr wrap="square" anchor="t" lIns="0" rIns="0" tIns="0" bIns="0">
            <a:spAutoFit/>
          </a:bodyPr>
          <a:lstStyle/>
          <a:p>
            <a:pPr algn="l"/>
            <a:r>
              <a:rPr sz="1100" b="0" i="0">
                <a:solidFill>
                  <a:srgbClr val="6B6690"/>
                </a:solidFill>
                <a:latin typeface="Calibri"/>
              </a:rPr>
              <a:t>The week of 24 August shipped 196,600.</a:t>
            </a:r>
          </a:p>
        </p:txBody>
      </p:sp>
      <p:sp>
        <p:nvSpPr>
          <p:cNvPr id="21" name="Rounded Rectangle 20"/>
          <p:cNvSpPr/>
          <p:nvPr/>
        </p:nvSpPr>
        <p:spPr>
          <a:xfrm>
            <a:off x="6187287"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list_637b34e7c72a.png"/>
          <p:cNvPicPr>
            <a:picLocks noChangeAspect="1"/>
          </p:cNvPicPr>
          <p:nvPr/>
        </p:nvPicPr>
        <p:blipFill>
          <a:blip r:embed="rId4"/>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498856"/>
          </a:xfrm>
          <a:prstGeom prst="rect">
            <a:avLst/>
          </a:prstGeom>
          <a:noFill/>
        </p:spPr>
        <p:txBody>
          <a:bodyPr wrap="square" anchor="t" lIns="0" rIns="0" tIns="0" bIns="0">
            <a:spAutoFit/>
          </a:bodyPr>
          <a:lstStyle/>
          <a:p>
            <a:pPr algn="l"/>
            <a:r>
              <a:rPr sz="1400" b="1" i="0">
                <a:solidFill>
                  <a:srgbClr val="1A0F5C"/>
                </a:solidFill>
                <a:latin typeface="Calibri"/>
              </a:rPr>
              <a:t>Four weeks are too few to average</a:t>
            </a:r>
          </a:p>
        </p:txBody>
      </p:sp>
      <p:sp>
        <p:nvSpPr>
          <p:cNvPr id="26" name="TextBox 25"/>
          <p:cNvSpPr txBox="1"/>
          <p:nvPr/>
        </p:nvSpPr>
        <p:spPr>
          <a:xfrm>
            <a:off x="6388455" y="3534664"/>
            <a:ext cx="2243251" cy="218186"/>
          </a:xfrm>
          <a:prstGeom prst="rect">
            <a:avLst/>
          </a:prstGeom>
          <a:noFill/>
        </p:spPr>
        <p:txBody>
          <a:bodyPr wrap="square" anchor="t" lIns="0" rIns="0" tIns="0" bIns="0">
            <a:spAutoFit/>
          </a:bodyPr>
          <a:lstStyle/>
          <a:p>
            <a:pPr algn="l"/>
            <a:r>
              <a:rPr sz="1100" b="0" i="0">
                <a:solidFill>
                  <a:srgbClr val="6B6690"/>
                </a:solidFill>
                <a:latin typeface="Calibri"/>
              </a:rPr>
              <a:t>Any one miss moves the mean.</a:t>
            </a:r>
          </a:p>
        </p:txBody>
      </p:sp>
      <p:sp>
        <p:nvSpPr>
          <p:cNvPr id="27" name="Rounded Rectangle 26"/>
          <p:cNvSpPr/>
          <p:nvPr/>
        </p:nvSpPr>
        <p:spPr>
          <a:xfrm>
            <a:off x="9015755"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list_637b34e7c72a.png"/>
          <p:cNvPicPr>
            <a:picLocks noChangeAspect="1"/>
          </p:cNvPicPr>
          <p:nvPr/>
        </p:nvPicPr>
        <p:blipFill>
          <a:blip r:embed="rId4"/>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Naive ignores growth</a:t>
            </a:r>
          </a:p>
        </p:txBody>
      </p:sp>
      <p:sp>
        <p:nvSpPr>
          <p:cNvPr id="32" name="TextBox 31"/>
          <p:cNvSpPr txBox="1"/>
          <p:nvPr/>
        </p:nvSpPr>
        <p:spPr>
          <a:xfrm>
            <a:off x="9216923"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It never adds the 4 percent.</a:t>
            </a:r>
          </a:p>
        </p:txBody>
      </p:sp>
      <p:sp>
        <p:nvSpPr>
          <p:cNvPr id="33" name="TextBox 3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6B6690"/>
                </a:solidFill>
                <a:latin typeface="Calibri"/>
              </a:rPr>
              <a:t>Week 4, Day 5. Forecasting basics: the fallback hour</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FORECASTING BASICS  ·  FALLBACK</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origin week was a dip, 196,600</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one origin week set every naive miss?</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196,600</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WEEK OF 24 AUGUST 2026</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origin naive repeats four times</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41,800</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ITS FIRST MISS, TOO LOW</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then 37,100, 33,700 and 35,600, all too low</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37,050</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NAIVE'S MAE ON FOUR WEEKS</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against 14,923 on thirteen</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short test judges the origin as much as the rule. All four of naive's misses are too low, so its MAE is the gap between the dip and the four weeks' average, 233,650. The thirteen-week test started from 218,300, close to its hidden weeks' average of 217,746: luck in the other direction.</a:t>
            </a:r>
          </a:p>
        </p:txBody>
      </p:sp>
      <p:sp>
        <p:nvSpPr>
          <p:cNvPr id="22" name="TextBox 21"/>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6B6690"/>
                </a:solidFill>
                <a:latin typeface="Calibri"/>
              </a:rPr>
              <a:t>Week 4, Day 5. Forecasting basics: the fallback hour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FORECASTING BASICS  ·  FALLBACK</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test shorter than the horizon judges too little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must the hidden weeks reach at least as far ahead as the plan does, ten weeks?</a:t>
            </a:r>
          </a:p>
        </p:txBody>
      </p:sp>
      <p:sp>
        <p:nvSpPr>
          <p:cNvPr id="9" name="Rounded Rectangle 8"/>
          <p:cNvSpPr/>
          <p:nvPr/>
        </p:nvSpPr>
        <p:spPr>
          <a:xfrm>
            <a:off x="530352" y="1956816"/>
            <a:ext cx="3588410" cy="234442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ruler_6c9ce23c020b.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THE RULE</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At least as long as the horizon</a:t>
            </a:r>
          </a:p>
        </p:txBody>
      </p:sp>
      <p:sp>
        <p:nvSpPr>
          <p:cNvPr id="14" name="TextBox 13"/>
          <p:cNvSpPr txBox="1"/>
          <p:nvPr/>
        </p:nvSpPr>
        <p:spPr>
          <a:xfrm>
            <a:off x="731519" y="3303524"/>
            <a:ext cx="3186074" cy="763016"/>
          </a:xfrm>
          <a:prstGeom prst="rect">
            <a:avLst/>
          </a:prstGeom>
          <a:noFill/>
        </p:spPr>
        <p:txBody>
          <a:bodyPr wrap="square" anchor="t" lIns="0" rIns="0" tIns="0" bIns="0">
            <a:spAutoFit/>
          </a:bodyPr>
          <a:lstStyle/>
          <a:p>
            <a:pPr algn="l"/>
            <a:r>
              <a:rPr sz="1100" b="0" i="0">
                <a:solidFill>
                  <a:srgbClr val="CFC9EE"/>
                </a:solidFill>
                <a:latin typeface="Calibri"/>
              </a:rPr>
              <a:t>The plan's last week is ten weeks past the data, so the test must reach ten weeks ahead; four cannot (FPP3, section 5.8, checked 13 October 2026).</a:t>
            </a:r>
          </a:p>
        </p:txBody>
      </p:sp>
      <p:sp>
        <p:nvSpPr>
          <p:cNvPr id="15" name="Rounded Rectangle 14"/>
          <p:cNvSpPr/>
          <p:nvPr/>
        </p:nvSpPr>
        <p:spPr>
          <a:xfrm>
            <a:off x="4301642" y="1956816"/>
            <a:ext cx="3588410"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trending-up_0f9f07881489.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VENDOR</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Its gap grows with the weeks ahead</a:t>
            </a:r>
          </a:p>
        </p:txBody>
      </p:sp>
      <p:sp>
        <p:nvSpPr>
          <p:cNvPr id="20" name="TextBox 19"/>
          <p:cNvSpPr txBox="1"/>
          <p:nvPr/>
        </p:nvSpPr>
        <p:spPr>
          <a:xfrm>
            <a:off x="4502810"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148 percent worse than festival-aligned on thirteen weeks, 233 percent on its four farthest.</a:t>
            </a:r>
          </a:p>
        </p:txBody>
      </p:sp>
      <p:sp>
        <p:nvSpPr>
          <p:cNvPr id="21" name="Rounded Rectangle 20"/>
          <p:cNvSpPr/>
          <p:nvPr/>
        </p:nvSpPr>
        <p:spPr>
          <a:xfrm>
            <a:off x="8072932" y="1956816"/>
            <a:ext cx="3588410"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shuffle_1f5f2f56d507.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LUCK</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One origin can flatter or punish</a:t>
            </a:r>
          </a:p>
        </p:txBody>
      </p:sp>
      <p:sp>
        <p:nvSpPr>
          <p:cNvPr id="26" name="TextBox 25"/>
          <p:cNvSpPr txBox="1"/>
          <p:nvPr/>
        </p:nvSpPr>
        <p:spPr>
          <a:xfrm>
            <a:off x="827410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A rule that looked fine from 22 June looks poor from 24 August.</a:t>
            </a:r>
          </a:p>
        </p:txBody>
      </p:sp>
      <p:sp>
        <p:nvSpPr>
          <p:cNvPr id="27" name="TextBox 2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6B6690"/>
                </a:solidFill>
                <a:latin typeface="Calibri"/>
              </a:rPr>
              <a:t>Week 4, Day 5. Forecasting basics: the fallback hour</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FORECASTING BASICS  ·  FALLBACK</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Roll the origin: one week ahead, five times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rolling origin show that one hidden block cannot?</a:t>
            </a:r>
          </a:p>
        </p:txBody>
      </p:sp>
      <p:pic>
        <p:nvPicPr>
          <p:cNvPr id="9" name="mermaid diagram" descr="a2c12a290d95efdf.png"/>
          <p:cNvPicPr>
            <a:picLocks noChangeAspect="1"/>
          </p:cNvPicPr>
          <p:nvPr/>
        </p:nvPicPr>
        <p:blipFill>
          <a:blip r:embed="rId5"/>
          <a:stretch>
            <a:fillRect/>
          </a:stretch>
        </p:blipFill>
        <p:spPr>
          <a:xfrm>
            <a:off x="530352" y="1956816"/>
            <a:ext cx="11130991" cy="1129748"/>
          </a:xfrm>
          <a:prstGeom prst="rect">
            <a:avLst/>
          </a:prstGeom>
        </p:spPr>
      </p:pic>
      <p:sp>
        <p:nvSpPr>
          <p:cNvPr id="10" name="TextBox 9"/>
          <p:cNvSpPr txBox="1"/>
          <p:nvPr/>
        </p:nvSpPr>
        <p:spPr>
          <a:xfrm>
            <a:off x="530352" y="323286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Each forecast is made from the week before and scored, then the origin moves on one week. The twelve rows hold five such steps in 2025: from 29 September to 27 October, forecasting the week after each.</a:t>
            </a:r>
          </a:p>
        </p:txBody>
      </p:sp>
      <p:sp>
        <p:nvSpPr>
          <p:cNvPr id="11" name="TextBox 10"/>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6B6690"/>
                </a:solidFill>
                <a:latin typeface="Calibri"/>
              </a:rPr>
              <a:t>Week 4, Day 5. Forecasting basics: the fallback hour</a:t>
            </a:r>
          </a:p>
        </p:txBody>
      </p:sp>
      <p:sp>
        <p:nvSpPr>
          <p:cNvPr id="12" name="TextBox 1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FORECASTING BASICS  ·  FALLBACK</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one-week forecasts, worked by hand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naive and festival-aligned forecast one week ahead through 2025's festival?</a:t>
            </a:r>
          </a:p>
        </p:txBody>
      </p:sp>
      <p:graphicFrame>
        <p:nvGraphicFramePr>
          <p:cNvPr id="9" name="Table 8"/>
          <p:cNvGraphicFramePr>
            <a:graphicFrameLocks noGrp="1"/>
          </p:cNvGraphicFramePr>
          <p:nvPr/>
        </p:nvGraphicFramePr>
        <p:xfrm>
          <a:off x="530352" y="1956816"/>
          <a:ext cx="11130989" cy="2011680"/>
        </p:xfrm>
        <a:graphic>
          <a:graphicData uri="http://schemas.openxmlformats.org/drawingml/2006/table">
            <a:tbl>
              <a:tblPr firstRow="0" bandRow="0">
                <a:tableStyleId>{2D5ABB26-0587-4C30-8999-92F81FD0307C}</a:tableStyleId>
              </a:tblPr>
              <a:tblGrid>
                <a:gridCol w="1910666"/>
                <a:gridCol w="3021197"/>
                <a:gridCol w="2069313"/>
                <a:gridCol w="2280843"/>
                <a:gridCol w="1848970"/>
              </a:tblGrid>
              <a:tr h="335280">
                <a:tc>
                  <a:txBody>
                    <a:bodyPr/>
                    <a:lstStyle/>
                    <a:p>
                      <a:r>
                        <a:rPr sz="1250" b="1" i="0">
                          <a:solidFill>
                            <a:srgbClr val="FFFFFF"/>
                          </a:solidFill>
                          <a:latin typeface="Calibri"/>
                        </a:rPr>
                        <a:t>Week forecast</a:t>
                      </a:r>
                    </a:p>
                  </a:txBody>
                  <a:tcPr marL="101600" marR="101600" marT="38100" marB="38100" anchor="ctr">
                    <a:solidFill>
                      <a:srgbClr val="1A0F5C"/>
                    </a:solidFill>
                  </a:tcPr>
                </a:tc>
                <a:tc>
                  <a:txBody>
                    <a:bodyPr/>
                    <a:lstStyle/>
                    <a:p>
                      <a:r>
                        <a:rPr sz="1250" b="1" i="0">
                          <a:solidFill>
                            <a:srgbClr val="FFFFFF"/>
                          </a:solidFill>
                          <a:latin typeface="Calibri"/>
                        </a:rPr>
                        <a:t>Naive: the week before</a:t>
                      </a:r>
                    </a:p>
                  </a:txBody>
                  <a:tcPr marL="101600" marR="101600" marT="38100" marB="38100" anchor="ctr">
                    <a:solidFill>
                      <a:srgbClr val="1A0F5C"/>
                    </a:solidFill>
                  </a:tcPr>
                </a:tc>
                <a:tc>
                  <a:txBody>
                    <a:bodyPr/>
                    <a:lstStyle/>
                    <a:p>
                      <a:r>
                        <a:rPr sz="1250" b="1" i="0">
                          <a:solidFill>
                            <a:srgbClr val="FFFFFF"/>
                          </a:solidFill>
                          <a:latin typeface="Calibri"/>
                        </a:rPr>
                        <a:t>Naive's miss</a:t>
                      </a:r>
                    </a:p>
                  </a:txBody>
                  <a:tcPr marL="101600" marR="101600" marT="38100" marB="38100" anchor="ctr">
                    <a:solidFill>
                      <a:srgbClr val="1A0F5C"/>
                    </a:solidFill>
                  </a:tcPr>
                </a:tc>
                <a:tc>
                  <a:txBody>
                    <a:bodyPr/>
                    <a:lstStyle/>
                    <a:p>
                      <a:r>
                        <a:rPr sz="1250" b="1" i="0">
                          <a:solidFill>
                            <a:srgbClr val="FFFFFF"/>
                          </a:solidFill>
                          <a:latin typeface="Calibri"/>
                        </a:rPr>
                        <a:t>Festival-aligned</a:t>
                      </a:r>
                    </a:p>
                  </a:txBody>
                  <a:tcPr marL="101600" marR="101600" marT="38100" marB="38100" anchor="ctr">
                    <a:solidFill>
                      <a:srgbClr val="1A0F5C"/>
                    </a:solidFill>
                  </a:tcPr>
                </a:tc>
                <a:tc>
                  <a:txBody>
                    <a:bodyPr/>
                    <a:lstStyle/>
                    <a:p>
                      <a:r>
                        <a:rPr sz="1250" b="1" i="0">
                          <a:solidFill>
                            <a:srgbClr val="FFFFFF"/>
                          </a:solidFill>
                          <a:latin typeface="Calibri"/>
                        </a:rPr>
                        <a:t>Its miss</a:t>
                      </a:r>
                    </a:p>
                  </a:txBody>
                  <a:tcPr marL="101600" marR="101600" marT="38100" marB="38100" anchor="ctr">
                    <a:solidFill>
                      <a:srgbClr val="1A0F5C"/>
                    </a:solidFill>
                  </a:tcPr>
                </a:tc>
              </a:tr>
              <a:tr h="335280">
                <a:tc>
                  <a:txBody>
                    <a:bodyPr/>
                    <a:lstStyle/>
                    <a:p>
                      <a:r>
                        <a:rPr sz="1200" b="0" i="0">
                          <a:solidFill>
                            <a:srgbClr val="1A1440"/>
                          </a:solidFill>
                          <a:latin typeface="Calibri"/>
                        </a:rPr>
                        <a:t>6 Oct 2025</a:t>
                      </a:r>
                    </a:p>
                  </a:txBody>
                  <a:tcPr marL="101600" marR="101600" marT="38100" marB="38100" anchor="ctr">
                    <a:solidFill>
                      <a:srgbClr val="FFFFFF"/>
                    </a:solidFill>
                  </a:tcPr>
                </a:tc>
                <a:tc>
                  <a:txBody>
                    <a:bodyPr/>
                    <a:lstStyle/>
                    <a:p>
                      <a:r>
                        <a:rPr sz="1200" b="0" i="0">
                          <a:solidFill>
                            <a:srgbClr val="1A1440"/>
                          </a:solidFill>
                          <a:latin typeface="Calibri"/>
                        </a:rPr>
                        <a:t>331,200</a:t>
                      </a:r>
                    </a:p>
                  </a:txBody>
                  <a:tcPr marL="101600" marR="101600" marT="38100" marB="38100" anchor="ctr">
                    <a:solidFill>
                      <a:srgbClr val="FFFFFF"/>
                    </a:solidFill>
                  </a:tcPr>
                </a:tc>
                <a:tc>
                  <a:txBody>
                    <a:bodyPr/>
                    <a:lstStyle/>
                    <a:p>
                      <a:r>
                        <a:rPr sz="1200" b="0" i="0">
                          <a:solidFill>
                            <a:srgbClr val="1A1440"/>
                          </a:solidFill>
                          <a:latin typeface="Calibri"/>
                        </a:rPr>
                        <a:t>87,000 too low</a:t>
                      </a:r>
                    </a:p>
                  </a:txBody>
                  <a:tcPr marL="101600" marR="101600" marT="38100" marB="38100" anchor="ctr">
                    <a:solidFill>
                      <a:srgbClr val="FFFFFF"/>
                    </a:solidFill>
                  </a:tcPr>
                </a:tc>
                <a:tc>
                  <a:txBody>
                    <a:bodyPr/>
                    <a:lstStyle/>
                    <a:p>
                      <a:r>
                        <a:rPr sz="1200" b="0" i="0">
                          <a:solidFill>
                            <a:srgbClr val="1A1440"/>
                          </a:solidFill>
                          <a:latin typeface="Calibri"/>
                        </a:rPr>
                        <a:t>417,040</a:t>
                      </a:r>
                    </a:p>
                  </a:txBody>
                  <a:tcPr marL="101600" marR="101600" marT="38100" marB="38100" anchor="ctr">
                    <a:solidFill>
                      <a:srgbClr val="FFFFFF"/>
                    </a:solidFill>
                  </a:tcPr>
                </a:tc>
                <a:tc>
                  <a:txBody>
                    <a:bodyPr/>
                    <a:lstStyle/>
                    <a:p>
                      <a:r>
                        <a:rPr sz="1200" b="0" i="0">
                          <a:solidFill>
                            <a:srgbClr val="1A1440"/>
                          </a:solidFill>
                          <a:latin typeface="Calibri"/>
                        </a:rPr>
                        <a:t>1,160 too low</a:t>
                      </a:r>
                    </a:p>
                  </a:txBody>
                  <a:tcPr marL="101600" marR="101600" marT="38100" marB="38100" anchor="ctr">
                    <a:solidFill>
                      <a:srgbClr val="FFFFFF"/>
                    </a:solidFill>
                  </a:tcPr>
                </a:tc>
              </a:tr>
              <a:tr h="335280">
                <a:tc>
                  <a:txBody>
                    <a:bodyPr/>
                    <a:lstStyle/>
                    <a:p>
                      <a:r>
                        <a:rPr sz="1200" b="0" i="0">
                          <a:solidFill>
                            <a:srgbClr val="1A1440"/>
                          </a:solidFill>
                          <a:latin typeface="Calibri"/>
                        </a:rPr>
                        <a:t>13 Oct 2025</a:t>
                      </a:r>
                    </a:p>
                  </a:txBody>
                  <a:tcPr marL="101600" marR="101600" marT="38100" marB="38100" anchor="ctr">
                    <a:solidFill>
                      <a:srgbClr val="F4F2FA"/>
                    </a:solidFill>
                  </a:tcPr>
                </a:tc>
                <a:tc>
                  <a:txBody>
                    <a:bodyPr/>
                    <a:lstStyle/>
                    <a:p>
                      <a:r>
                        <a:rPr sz="1200" b="0" i="0">
                          <a:solidFill>
                            <a:srgbClr val="1A1440"/>
                          </a:solidFill>
                          <a:latin typeface="Calibri"/>
                        </a:rPr>
                        <a:t>418,200</a:t>
                      </a:r>
                    </a:p>
                  </a:txBody>
                  <a:tcPr marL="101600" marR="101600" marT="38100" marB="38100" anchor="ctr">
                    <a:solidFill>
                      <a:srgbClr val="F4F2FA"/>
                    </a:solidFill>
                  </a:tcPr>
                </a:tc>
                <a:tc>
                  <a:txBody>
                    <a:bodyPr/>
                    <a:lstStyle/>
                    <a:p>
                      <a:r>
                        <a:rPr sz="1200" b="0" i="0">
                          <a:solidFill>
                            <a:srgbClr val="1A1440"/>
                          </a:solidFill>
                          <a:latin typeface="Calibri"/>
                        </a:rPr>
                        <a:t>49,200 too high</a:t>
                      </a:r>
                    </a:p>
                  </a:txBody>
                  <a:tcPr marL="101600" marR="101600" marT="38100" marB="38100" anchor="ctr">
                    <a:solidFill>
                      <a:srgbClr val="F4F2FA"/>
                    </a:solidFill>
                  </a:tcPr>
                </a:tc>
                <a:tc>
                  <a:txBody>
                    <a:bodyPr/>
                    <a:lstStyle/>
                    <a:p>
                      <a:r>
                        <a:rPr sz="1200" b="0" i="0">
                          <a:solidFill>
                            <a:srgbClr val="1A1440"/>
                          </a:solidFill>
                          <a:latin typeface="Calibri"/>
                        </a:rPr>
                        <a:t>370,448</a:t>
                      </a:r>
                    </a:p>
                  </a:txBody>
                  <a:tcPr marL="101600" marR="101600" marT="38100" marB="38100" anchor="ctr">
                    <a:solidFill>
                      <a:srgbClr val="F4F2FA"/>
                    </a:solidFill>
                  </a:tcPr>
                </a:tc>
                <a:tc>
                  <a:txBody>
                    <a:bodyPr/>
                    <a:lstStyle/>
                    <a:p>
                      <a:r>
                        <a:rPr sz="1200" b="0" i="0">
                          <a:solidFill>
                            <a:srgbClr val="1A1440"/>
                          </a:solidFill>
                          <a:latin typeface="Calibri"/>
                        </a:rPr>
                        <a:t>1,448 too high</a:t>
                      </a:r>
                    </a:p>
                  </a:txBody>
                  <a:tcPr marL="101600" marR="101600" marT="38100" marB="38100" anchor="ctr">
                    <a:solidFill>
                      <a:srgbClr val="F4F2FA"/>
                    </a:solidFill>
                  </a:tcPr>
                </a:tc>
              </a:tr>
              <a:tr h="335280">
                <a:tc>
                  <a:txBody>
                    <a:bodyPr/>
                    <a:lstStyle/>
                    <a:p>
                      <a:r>
                        <a:rPr sz="1200" b="0" i="0">
                          <a:solidFill>
                            <a:srgbClr val="1A1440"/>
                          </a:solidFill>
                          <a:latin typeface="Calibri"/>
                        </a:rPr>
                        <a:t>20 Oct 2025</a:t>
                      </a:r>
                    </a:p>
                  </a:txBody>
                  <a:tcPr marL="101600" marR="101600" marT="38100" marB="38100" anchor="ctr">
                    <a:solidFill>
                      <a:srgbClr val="FFFFFF"/>
                    </a:solidFill>
                  </a:tcPr>
                </a:tc>
                <a:tc>
                  <a:txBody>
                    <a:bodyPr/>
                    <a:lstStyle/>
                    <a:p>
                      <a:r>
                        <a:rPr sz="1200" b="0" i="0">
                          <a:solidFill>
                            <a:srgbClr val="1A1440"/>
                          </a:solidFill>
                          <a:latin typeface="Calibri"/>
                        </a:rPr>
                        <a:t>369,000</a:t>
                      </a:r>
                    </a:p>
                  </a:txBody>
                  <a:tcPr marL="101600" marR="101600" marT="38100" marB="38100" anchor="ctr">
                    <a:solidFill>
                      <a:srgbClr val="FFFFFF"/>
                    </a:solidFill>
                  </a:tcPr>
                </a:tc>
                <a:tc>
                  <a:txBody>
                    <a:bodyPr/>
                    <a:lstStyle/>
                    <a:p>
                      <a:r>
                        <a:rPr sz="1200" b="0" i="0">
                          <a:solidFill>
                            <a:srgbClr val="1A1440"/>
                          </a:solidFill>
                          <a:latin typeface="Calibri"/>
                        </a:rPr>
                        <a:t>60,100 too high</a:t>
                      </a:r>
                    </a:p>
                  </a:txBody>
                  <a:tcPr marL="101600" marR="101600" marT="38100" marB="38100" anchor="ctr">
                    <a:solidFill>
                      <a:srgbClr val="FFFFFF"/>
                    </a:solidFill>
                  </a:tcPr>
                </a:tc>
                <a:tc>
                  <a:txBody>
                    <a:bodyPr/>
                    <a:lstStyle/>
                    <a:p>
                      <a:r>
                        <a:rPr sz="1200" b="0" i="0">
                          <a:solidFill>
                            <a:srgbClr val="1A1440"/>
                          </a:solidFill>
                          <a:latin typeface="Calibri"/>
                        </a:rPr>
                        <a:t>308,776</a:t>
                      </a:r>
                    </a:p>
                  </a:txBody>
                  <a:tcPr marL="101600" marR="101600" marT="38100" marB="38100" anchor="ctr">
                    <a:solidFill>
                      <a:srgbClr val="FFFFFF"/>
                    </a:solidFill>
                  </a:tcPr>
                </a:tc>
                <a:tc>
                  <a:txBody>
                    <a:bodyPr/>
                    <a:lstStyle/>
                    <a:p>
                      <a:r>
                        <a:rPr sz="1200" b="0" i="0">
                          <a:solidFill>
                            <a:srgbClr val="1A1440"/>
                          </a:solidFill>
                          <a:latin typeface="Calibri"/>
                        </a:rPr>
                        <a:t>124 too low</a:t>
                      </a:r>
                    </a:p>
                  </a:txBody>
                  <a:tcPr marL="101600" marR="101600" marT="38100" marB="38100" anchor="ctr">
                    <a:solidFill>
                      <a:srgbClr val="FFFFFF"/>
                    </a:solidFill>
                  </a:tcPr>
                </a:tc>
              </a:tr>
              <a:tr h="335280">
                <a:tc>
                  <a:txBody>
                    <a:bodyPr/>
                    <a:lstStyle/>
                    <a:p>
                      <a:r>
                        <a:rPr sz="1200" b="0" i="0">
                          <a:solidFill>
                            <a:srgbClr val="1A1440"/>
                          </a:solidFill>
                          <a:latin typeface="Calibri"/>
                        </a:rPr>
                        <a:t>27 Oct 2025</a:t>
                      </a:r>
                    </a:p>
                  </a:txBody>
                  <a:tcPr marL="101600" marR="101600" marT="38100" marB="38100" anchor="ctr">
                    <a:solidFill>
                      <a:srgbClr val="F4F2FA"/>
                    </a:solidFill>
                  </a:tcPr>
                </a:tc>
                <a:tc>
                  <a:txBody>
                    <a:bodyPr/>
                    <a:lstStyle/>
                    <a:p>
                      <a:r>
                        <a:rPr sz="1200" b="0" i="0">
                          <a:solidFill>
                            <a:srgbClr val="1A1440"/>
                          </a:solidFill>
                          <a:latin typeface="Calibri"/>
                        </a:rPr>
                        <a:t>308,900</a:t>
                      </a:r>
                    </a:p>
                  </a:txBody>
                  <a:tcPr marL="101600" marR="101600" marT="38100" marB="38100" anchor="ctr">
                    <a:solidFill>
                      <a:srgbClr val="F4F2FA"/>
                    </a:solidFill>
                  </a:tcPr>
                </a:tc>
                <a:tc>
                  <a:txBody>
                    <a:bodyPr/>
                    <a:lstStyle/>
                    <a:p>
                      <a:r>
                        <a:rPr sz="1200" b="0" i="0">
                          <a:solidFill>
                            <a:srgbClr val="1A1440"/>
                          </a:solidFill>
                          <a:latin typeface="Calibri"/>
                        </a:rPr>
                        <a:t>120,300 too high</a:t>
                      </a:r>
                    </a:p>
                  </a:txBody>
                  <a:tcPr marL="101600" marR="101600" marT="38100" marB="38100" anchor="ctr">
                    <a:solidFill>
                      <a:srgbClr val="F4F2FA"/>
                    </a:solidFill>
                  </a:tcPr>
                </a:tc>
                <a:tc>
                  <a:txBody>
                    <a:bodyPr/>
                    <a:lstStyle/>
                    <a:p>
                      <a:r>
                        <a:rPr sz="1200" b="0" i="0">
                          <a:solidFill>
                            <a:srgbClr val="1A1440"/>
                          </a:solidFill>
                          <a:latin typeface="Calibri"/>
                        </a:rPr>
                        <a:t>187,824</a:t>
                      </a:r>
                    </a:p>
                  </a:txBody>
                  <a:tcPr marL="101600" marR="101600" marT="38100" marB="38100" anchor="ctr">
                    <a:solidFill>
                      <a:srgbClr val="F4F2FA"/>
                    </a:solidFill>
                  </a:tcPr>
                </a:tc>
                <a:tc>
                  <a:txBody>
                    <a:bodyPr/>
                    <a:lstStyle/>
                    <a:p>
                      <a:r>
                        <a:rPr sz="1200" b="0" i="0">
                          <a:solidFill>
                            <a:srgbClr val="1A1440"/>
                          </a:solidFill>
                          <a:latin typeface="Calibri"/>
                        </a:rPr>
                        <a:t>776 too low</a:t>
                      </a:r>
                    </a:p>
                  </a:txBody>
                  <a:tcPr marL="101600" marR="101600" marT="38100" marB="38100" anchor="ctr">
                    <a:solidFill>
                      <a:srgbClr val="F4F2FA"/>
                    </a:solidFill>
                  </a:tcPr>
                </a:tc>
              </a:tr>
              <a:tr h="335280">
                <a:tc>
                  <a:txBody>
                    <a:bodyPr/>
                    <a:lstStyle/>
                    <a:p>
                      <a:r>
                        <a:rPr sz="1200" b="0" i="0">
                          <a:solidFill>
                            <a:srgbClr val="1A1440"/>
                          </a:solidFill>
                          <a:latin typeface="Calibri"/>
                        </a:rPr>
                        <a:t>3 Nov 2025</a:t>
                      </a:r>
                    </a:p>
                  </a:txBody>
                  <a:tcPr marL="101600" marR="101600" marT="38100" marB="38100" anchor="ctr">
                    <a:solidFill>
                      <a:srgbClr val="FFFFFF"/>
                    </a:solidFill>
                  </a:tcPr>
                </a:tc>
                <a:tc>
                  <a:txBody>
                    <a:bodyPr/>
                    <a:lstStyle/>
                    <a:p>
                      <a:r>
                        <a:rPr sz="1200" b="0" i="0">
                          <a:solidFill>
                            <a:srgbClr val="1A1440"/>
                          </a:solidFill>
                          <a:latin typeface="Calibri"/>
                        </a:rPr>
                        <a:t>188,600</a:t>
                      </a:r>
                    </a:p>
                  </a:txBody>
                  <a:tcPr marL="101600" marR="101600" marT="38100" marB="38100" anchor="ctr">
                    <a:solidFill>
                      <a:srgbClr val="FFFFFF"/>
                    </a:solidFill>
                  </a:tcPr>
                </a:tc>
                <a:tc>
                  <a:txBody>
                    <a:bodyPr/>
                    <a:lstStyle/>
                    <a:p>
                      <a:r>
                        <a:rPr sz="1200" b="0" i="0">
                          <a:solidFill>
                            <a:srgbClr val="1A1440"/>
                          </a:solidFill>
                          <a:latin typeface="Calibri"/>
                        </a:rPr>
                        <a:t>39,300 too low</a:t>
                      </a:r>
                    </a:p>
                  </a:txBody>
                  <a:tcPr marL="101600" marR="101600" marT="38100" marB="38100" anchor="ctr">
                    <a:solidFill>
                      <a:srgbClr val="FFFFFF"/>
                    </a:solidFill>
                  </a:tcPr>
                </a:tc>
                <a:tc>
                  <a:txBody>
                    <a:bodyPr/>
                    <a:lstStyle/>
                    <a:p>
                      <a:r>
                        <a:rPr sz="1200" b="0" i="0">
                          <a:solidFill>
                            <a:srgbClr val="1A1440"/>
                          </a:solidFill>
                          <a:latin typeface="Calibri"/>
                        </a:rPr>
                        <a:t>221,208</a:t>
                      </a:r>
                    </a:p>
                  </a:txBody>
                  <a:tcPr marL="101600" marR="101600" marT="38100" marB="38100" anchor="ctr">
                    <a:solidFill>
                      <a:srgbClr val="FFFFFF"/>
                    </a:solidFill>
                  </a:tcPr>
                </a:tc>
                <a:tc>
                  <a:txBody>
                    <a:bodyPr/>
                    <a:lstStyle/>
                    <a:p>
                      <a:r>
                        <a:rPr sz="1200" b="0" i="0">
                          <a:solidFill>
                            <a:srgbClr val="1A1440"/>
                          </a:solidFill>
                          <a:latin typeface="Calibri"/>
                        </a:rPr>
                        <a:t>6,692 too low</a:t>
                      </a:r>
                    </a:p>
                  </a:txBody>
                  <a:tcPr marL="101600" marR="101600" marT="38100" marB="38100" anchor="ctr">
                    <a:solidFill>
                      <a:srgbClr val="FFFFFF"/>
                    </a:solidFill>
                  </a:tcPr>
                </a:tc>
              </a:tr>
            </a:tbl>
          </a:graphicData>
        </a:graphic>
      </p:graphicFrame>
      <p:sp>
        <p:nvSpPr>
          <p:cNvPr id="10" name="TextBox 9"/>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6B6690"/>
                </a:solidFill>
                <a:latin typeface="Calibri"/>
              </a:rPr>
              <a:t>Week 4, Day 5. Forecasting basics: the fallback hour</a:t>
            </a:r>
          </a:p>
        </p:txBody>
      </p:sp>
      <p:sp>
        <p:nvSpPr>
          <p:cNvPr id="11" name="TextBox 1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FORECASTING BASICS  ·  FALLBACK</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rule swings most through the festival?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Over the five one-week forecasts, whose average miss is larger, and by how much?</a:t>
            </a:r>
          </a:p>
        </p:txBody>
      </p:sp>
      <p:sp>
        <p:nvSpPr>
          <p:cNvPr id="9" name="Rounded Rectangle 8"/>
          <p:cNvSpPr/>
          <p:nvPr/>
        </p:nvSpPr>
        <p:spPr>
          <a:xfrm>
            <a:off x="530352"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list_637b34e7c72a.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498856"/>
          </a:xfrm>
          <a:prstGeom prst="rect">
            <a:avLst/>
          </a:prstGeom>
          <a:noFill/>
        </p:spPr>
        <p:txBody>
          <a:bodyPr wrap="square" anchor="t" lIns="0" rIns="0" tIns="0" bIns="0">
            <a:spAutoFit/>
          </a:bodyPr>
          <a:lstStyle/>
          <a:p>
            <a:pPr algn="l"/>
            <a:r>
              <a:rPr sz="1400" b="1" i="0">
                <a:solidFill>
                  <a:srgbClr val="1A0F5C"/>
                </a:solidFill>
                <a:latin typeface="Calibri"/>
              </a:rPr>
              <a:t>Naive, by about ten times</a:t>
            </a:r>
          </a:p>
        </p:txBody>
      </p:sp>
      <p:sp>
        <p:nvSpPr>
          <p:cNvPr id="14" name="TextBox 13"/>
          <p:cNvSpPr txBox="1"/>
          <p:nvPr/>
        </p:nvSpPr>
        <p:spPr>
          <a:xfrm>
            <a:off x="731519" y="3534664"/>
            <a:ext cx="2243251" cy="399796"/>
          </a:xfrm>
          <a:prstGeom prst="rect">
            <a:avLst/>
          </a:prstGeom>
          <a:noFill/>
        </p:spPr>
        <p:txBody>
          <a:bodyPr wrap="square" anchor="t" lIns="0" rIns="0" tIns="0" bIns="0">
            <a:spAutoFit/>
          </a:bodyPr>
          <a:lstStyle/>
          <a:p>
            <a:pPr algn="l"/>
            <a:r>
              <a:rPr sz="1100" b="0" i="0">
                <a:solidFill>
                  <a:srgbClr val="6B6690"/>
                </a:solidFill>
                <a:latin typeface="Calibri"/>
              </a:rPr>
              <a:t>The week before is a poor guide when weeks change fast.</a:t>
            </a:r>
          </a:p>
        </p:txBody>
      </p:sp>
      <p:sp>
        <p:nvSpPr>
          <p:cNvPr id="15" name="Rounded Rectangle 14"/>
          <p:cNvSpPr/>
          <p:nvPr/>
        </p:nvSpPr>
        <p:spPr>
          <a:xfrm>
            <a:off x="3358819"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list_637b34e7c72a.png"/>
          <p:cNvPicPr>
            <a:picLocks noChangeAspect="1"/>
          </p:cNvPicPr>
          <p:nvPr/>
        </p:nvPicPr>
        <p:blipFill>
          <a:blip r:embed="rId4"/>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498856"/>
          </a:xfrm>
          <a:prstGeom prst="rect">
            <a:avLst/>
          </a:prstGeom>
          <a:noFill/>
        </p:spPr>
        <p:txBody>
          <a:bodyPr wrap="square" anchor="t" lIns="0" rIns="0" tIns="0" bIns="0">
            <a:spAutoFit/>
          </a:bodyPr>
          <a:lstStyle/>
          <a:p>
            <a:pPr algn="l"/>
            <a:r>
              <a:rPr sz="1400" b="1" i="0">
                <a:solidFill>
                  <a:srgbClr val="1A0F5C"/>
                </a:solidFill>
                <a:latin typeface="Calibri"/>
              </a:rPr>
              <a:t>Naive, by about thirty-five times</a:t>
            </a:r>
          </a:p>
        </p:txBody>
      </p:sp>
      <p:sp>
        <p:nvSpPr>
          <p:cNvPr id="20" name="TextBox 19"/>
          <p:cNvSpPr txBox="1"/>
          <p:nvPr/>
        </p:nvSpPr>
        <p:spPr>
          <a:xfrm>
            <a:off x="3559987" y="3534664"/>
            <a:ext cx="2243251" cy="399796"/>
          </a:xfrm>
          <a:prstGeom prst="rect">
            <a:avLst/>
          </a:prstGeom>
          <a:noFill/>
        </p:spPr>
        <p:txBody>
          <a:bodyPr wrap="square" anchor="t" lIns="0" rIns="0" tIns="0" bIns="0">
            <a:spAutoFit/>
          </a:bodyPr>
          <a:lstStyle/>
          <a:p>
            <a:pPr algn="l"/>
            <a:r>
              <a:rPr sz="1100" b="0" i="0">
                <a:solidFill>
                  <a:srgbClr val="6B6690"/>
                </a:solidFill>
                <a:latin typeface="Calibri"/>
              </a:rPr>
              <a:t>Every festive week differs sharply from the last.</a:t>
            </a:r>
          </a:p>
        </p:txBody>
      </p:sp>
      <p:sp>
        <p:nvSpPr>
          <p:cNvPr id="21" name="Rounded Rectangle 20"/>
          <p:cNvSpPr/>
          <p:nvPr/>
        </p:nvSpPr>
        <p:spPr>
          <a:xfrm>
            <a:off x="6187287"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list_637b34e7c72a.png"/>
          <p:cNvPicPr>
            <a:picLocks noChangeAspect="1"/>
          </p:cNvPicPr>
          <p:nvPr/>
        </p:nvPicPr>
        <p:blipFill>
          <a:blip r:embed="rId4"/>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498856"/>
          </a:xfrm>
          <a:prstGeom prst="rect">
            <a:avLst/>
          </a:prstGeom>
          <a:noFill/>
        </p:spPr>
        <p:txBody>
          <a:bodyPr wrap="square" anchor="t" lIns="0" rIns="0" tIns="0" bIns="0">
            <a:spAutoFit/>
          </a:bodyPr>
          <a:lstStyle/>
          <a:p>
            <a:pPr algn="l"/>
            <a:r>
              <a:rPr sz="1400" b="1" i="0">
                <a:solidFill>
                  <a:srgbClr val="1A0F5C"/>
                </a:solidFill>
                <a:latin typeface="Calibri"/>
              </a:rPr>
              <a:t>Festival-aligned, narrowly</a:t>
            </a:r>
          </a:p>
        </p:txBody>
      </p:sp>
      <p:sp>
        <p:nvSpPr>
          <p:cNvPr id="26" name="TextBox 25"/>
          <p:cNvSpPr txBox="1"/>
          <p:nvPr/>
        </p:nvSpPr>
        <p:spPr>
          <a:xfrm>
            <a:off x="6388455" y="3534664"/>
            <a:ext cx="2243251" cy="399796"/>
          </a:xfrm>
          <a:prstGeom prst="rect">
            <a:avLst/>
          </a:prstGeom>
          <a:noFill/>
        </p:spPr>
        <p:txBody>
          <a:bodyPr wrap="square" anchor="t" lIns="0" rIns="0" tIns="0" bIns="0">
            <a:spAutoFit/>
          </a:bodyPr>
          <a:lstStyle/>
          <a:p>
            <a:pPr algn="l"/>
            <a:r>
              <a:rPr sz="1100" b="0" i="0">
                <a:solidFill>
                  <a:srgbClr val="6B6690"/>
                </a:solidFill>
                <a:latin typeface="Calibri"/>
              </a:rPr>
              <a:t>Copying 2024 adds 2024's own noise.</a:t>
            </a:r>
          </a:p>
        </p:txBody>
      </p:sp>
      <p:sp>
        <p:nvSpPr>
          <p:cNvPr id="27" name="Rounded Rectangle 26"/>
          <p:cNvSpPr/>
          <p:nvPr/>
        </p:nvSpPr>
        <p:spPr>
          <a:xfrm>
            <a:off x="9015755"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list_637b34e7c72a.png"/>
          <p:cNvPicPr>
            <a:picLocks noChangeAspect="1"/>
          </p:cNvPicPr>
          <p:nvPr/>
        </p:nvPicPr>
        <p:blipFill>
          <a:blip r:embed="rId4"/>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498856"/>
          </a:xfrm>
          <a:prstGeom prst="rect">
            <a:avLst/>
          </a:prstGeom>
          <a:noFill/>
        </p:spPr>
        <p:txBody>
          <a:bodyPr wrap="square" anchor="t" lIns="0" rIns="0" tIns="0" bIns="0">
            <a:spAutoFit/>
          </a:bodyPr>
          <a:lstStyle/>
          <a:p>
            <a:pPr algn="l"/>
            <a:r>
              <a:rPr sz="1400" b="1" i="0">
                <a:solidFill>
                  <a:srgbClr val="1A0F5C"/>
                </a:solidFill>
                <a:latin typeface="Calibri"/>
              </a:rPr>
              <a:t>A tie: one week ahead, both are close</a:t>
            </a:r>
          </a:p>
        </p:txBody>
      </p:sp>
      <p:sp>
        <p:nvSpPr>
          <p:cNvPr id="32" name="TextBox 31"/>
          <p:cNvSpPr txBox="1"/>
          <p:nvPr/>
        </p:nvSpPr>
        <p:spPr>
          <a:xfrm>
            <a:off x="9216923" y="3534664"/>
            <a:ext cx="2243251" cy="218186"/>
          </a:xfrm>
          <a:prstGeom prst="rect">
            <a:avLst/>
          </a:prstGeom>
          <a:noFill/>
        </p:spPr>
        <p:txBody>
          <a:bodyPr wrap="square" anchor="t" lIns="0" rIns="0" tIns="0" bIns="0">
            <a:spAutoFit/>
          </a:bodyPr>
          <a:lstStyle/>
          <a:p>
            <a:pPr algn="l"/>
            <a:r>
              <a:rPr sz="1100" b="0" i="0">
                <a:solidFill>
                  <a:srgbClr val="6B6690"/>
                </a:solidFill>
                <a:latin typeface="Calibri"/>
              </a:rPr>
              <a:t>A week is short.</a:t>
            </a:r>
          </a:p>
        </p:txBody>
      </p:sp>
      <p:sp>
        <p:nvSpPr>
          <p:cNvPr id="33" name="TextBox 3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6B6690"/>
                </a:solidFill>
                <a:latin typeface="Calibri"/>
              </a:rPr>
              <a:t>Week 4, Day 5. Forecasting basics: the fallback hour</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FORECASTING BASICS  ·  FALLBACK</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naive, by about thirty-five times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rolling origin say about naive near a festival?</a:t>
            </a:r>
          </a:p>
        </p:txBody>
      </p:sp>
      <p:pic>
        <p:nvPicPr>
          <p:cNvPr id="9" name="mermaid diagram" descr="C2_W04_D05_rolling_origin_STUDENT.png"/>
          <p:cNvPicPr>
            <a:picLocks noChangeAspect="1"/>
          </p:cNvPicPr>
          <p:nvPr/>
        </p:nvPicPr>
        <p:blipFill>
          <a:blip r:embed="rId4"/>
          <a:stretch>
            <a:fillRect/>
          </a:stretch>
        </p:blipFill>
        <p:spPr>
          <a:xfrm>
            <a:off x="2400728" y="1664208"/>
            <a:ext cx="7390239" cy="3215640"/>
          </a:xfrm>
          <a:prstGeom prst="rect">
            <a:avLst/>
          </a:prstGeom>
        </p:spPr>
      </p:pic>
      <p:sp>
        <p:nvSpPr>
          <p:cNvPr id="10" name="picture caption"/>
          <p:cNvSpPr txBox="1"/>
          <p:nvPr/>
        </p:nvSpPr>
        <p:spPr>
          <a:xfrm>
            <a:off x="530352" y="4916424"/>
            <a:ext cx="11130991" cy="316992"/>
          </a:xfrm>
          <a:prstGeom prst="rect">
            <a:avLst/>
          </a:prstGeom>
          <a:noFill/>
        </p:spPr>
        <p:txBody>
          <a:bodyPr wrap="square" anchor="t" lIns="0" rIns="0" tIns="0" bIns="0">
            <a:spAutoFit/>
          </a:bodyPr>
          <a:lstStyle/>
          <a:p>
            <a:pPr algn="ctr"/>
            <a:r>
              <a:rPr sz="1200" b="0" i="0">
                <a:solidFill>
                  <a:srgbClr val="6B6690"/>
                </a:solidFill>
                <a:latin typeface="Calibri"/>
              </a:rPr>
              <a:t>Naive and festival-aligned, one week ahead from five origins</a:t>
            </a:r>
          </a:p>
        </p:txBody>
      </p:sp>
      <p:sp>
        <p:nvSpPr>
          <p:cNvPr id="11" name="TextBox 10"/>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Naive's five misses average 71,180 a week and festival-aligned's 2,040. Near a festival the week before is a poor guide, because the weeks change sharply; last year's week at the same distance from Diwali is a good one.</a:t>
            </a:r>
          </a:p>
        </p:txBody>
      </p:sp>
      <p:sp>
        <p:nvSpPr>
          <p:cNvPr id="12" name="TextBox 11"/>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6B6690"/>
                </a:solidFill>
                <a:latin typeface="Calibri"/>
              </a:rPr>
              <a:t>Week 4, Day 5. Forecasting basics: the fallback hour</a:t>
            </a:r>
          </a:p>
        </p:txBody>
      </p:sp>
      <p:sp>
        <p:nvSpPr>
          <p:cNvPr id="13" name="TextBox 1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FORECASTING BASICS  ·  FALLBACK</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Beyond the row: how far above the forecast?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day booked the forecast itself, and a late shipment costs 4.6 times a spare one. Where should the plan sit?</a:t>
            </a:r>
          </a:p>
        </p:txBody>
      </p:sp>
      <p:sp>
        <p:nvSpPr>
          <p:cNvPr id="9" name="Rounded Rectangle 8"/>
          <p:cNvSpPr/>
          <p:nvPr/>
        </p:nvSpPr>
        <p:spPr>
          <a:xfrm>
            <a:off x="530352"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list_637b34e7c72a.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At the forecast</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Covering demand in about half the weeks.</a:t>
            </a:r>
          </a:p>
        </p:txBody>
      </p:sp>
      <p:sp>
        <p:nvSpPr>
          <p:cNvPr id="15" name="Rounded Rectangle 14"/>
          <p:cNvSpPr/>
          <p:nvPr/>
        </p:nvSpPr>
        <p:spPr>
          <a:xfrm>
            <a:off x="3358819"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list_637b34e7c72a.png"/>
          <p:cNvPicPr>
            <a:picLocks noChangeAspect="1"/>
          </p:cNvPicPr>
          <p:nvPr/>
        </p:nvPicPr>
        <p:blipFill>
          <a:blip r:embed="rId4"/>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Above the forecast</a:t>
            </a:r>
          </a:p>
        </p:txBody>
      </p:sp>
      <p:sp>
        <p:nvSpPr>
          <p:cNvPr id="20" name="TextBox 19"/>
          <p:cNvSpPr txBox="1"/>
          <p:nvPr/>
        </p:nvSpPr>
        <p:spPr>
          <a:xfrm>
            <a:off x="3559987"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Covering demand in about four weeks of five.</a:t>
            </a:r>
          </a:p>
        </p:txBody>
      </p:sp>
      <p:sp>
        <p:nvSpPr>
          <p:cNvPr id="21" name="Rounded Rectangle 20"/>
          <p:cNvSpPr/>
          <p:nvPr/>
        </p:nvSpPr>
        <p:spPr>
          <a:xfrm>
            <a:off x="6187287"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list_637b34e7c72a.png"/>
          <p:cNvPicPr>
            <a:picLocks noChangeAspect="1"/>
          </p:cNvPicPr>
          <p:nvPr/>
        </p:nvPicPr>
        <p:blipFill>
          <a:blip r:embed="rId4"/>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498856"/>
          </a:xfrm>
          <a:prstGeom prst="rect">
            <a:avLst/>
          </a:prstGeom>
          <a:noFill/>
        </p:spPr>
        <p:txBody>
          <a:bodyPr wrap="square" anchor="t" lIns="0" rIns="0" tIns="0" bIns="0">
            <a:spAutoFit/>
          </a:bodyPr>
          <a:lstStyle/>
          <a:p>
            <a:pPr algn="l"/>
            <a:r>
              <a:rPr sz="1400" b="1" i="0">
                <a:solidFill>
                  <a:srgbClr val="1A0F5C"/>
                </a:solidFill>
                <a:latin typeface="Calibri"/>
              </a:rPr>
              <a:t>Far enough to cover every week</a:t>
            </a:r>
          </a:p>
        </p:txBody>
      </p:sp>
      <p:sp>
        <p:nvSpPr>
          <p:cNvPr id="26" name="TextBox 25"/>
          <p:cNvSpPr txBox="1"/>
          <p:nvPr/>
        </p:nvSpPr>
        <p:spPr>
          <a:xfrm>
            <a:off x="6388455" y="3534664"/>
            <a:ext cx="2243251" cy="399796"/>
          </a:xfrm>
          <a:prstGeom prst="rect">
            <a:avLst/>
          </a:prstGeom>
          <a:noFill/>
        </p:spPr>
        <p:txBody>
          <a:bodyPr wrap="square" anchor="t" lIns="0" rIns="0" tIns="0" bIns="0">
            <a:spAutoFit/>
          </a:bodyPr>
          <a:lstStyle/>
          <a:p>
            <a:pPr algn="l"/>
            <a:r>
              <a:rPr sz="1100" b="0" i="0">
                <a:solidFill>
                  <a:srgbClr val="6B6690"/>
                </a:solidFill>
                <a:latin typeface="Calibri"/>
              </a:rPr>
              <a:t>Since a late parcel is never acceptable.</a:t>
            </a:r>
          </a:p>
        </p:txBody>
      </p:sp>
      <p:sp>
        <p:nvSpPr>
          <p:cNvPr id="27" name="Rounded Rectangle 26"/>
          <p:cNvSpPr/>
          <p:nvPr/>
        </p:nvSpPr>
        <p:spPr>
          <a:xfrm>
            <a:off x="9015755"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list_637b34e7c72a.png"/>
          <p:cNvPicPr>
            <a:picLocks noChangeAspect="1"/>
          </p:cNvPicPr>
          <p:nvPr/>
        </p:nvPicPr>
        <p:blipFill>
          <a:blip r:embed="rId4"/>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Below the forecast</a:t>
            </a:r>
          </a:p>
        </p:txBody>
      </p:sp>
      <p:sp>
        <p:nvSpPr>
          <p:cNvPr id="32" name="TextBox 31"/>
          <p:cNvSpPr txBox="1"/>
          <p:nvPr/>
        </p:nvSpPr>
        <p:spPr>
          <a:xfrm>
            <a:off x="9216923"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Since spare shipments waste money.</a:t>
            </a:r>
          </a:p>
        </p:txBody>
      </p:sp>
      <p:sp>
        <p:nvSpPr>
          <p:cNvPr id="33" name="TextBox 32"/>
          <p:cNvSpPr txBox="1"/>
          <p:nvPr/>
        </p:nvSpPr>
        <p:spPr>
          <a:xfrm>
            <a:off x="530352" y="433527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This part goes beyond the five subtopics of Friday's curriculum row: it is the plan quantile, the spine's addition, taught only in this hour and in notebook 07's depth section.</a:t>
            </a:r>
          </a:p>
        </p:txBody>
      </p:sp>
      <p:sp>
        <p:nvSpPr>
          <p:cNvPr id="34" name="TextBox 33"/>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6B6690"/>
                </a:solidFill>
                <a:latin typeface="Calibri"/>
              </a:rPr>
              <a:t>Week 4, Day 5. Forecasting basics: the fallback hour</a:t>
            </a:r>
          </a:p>
        </p:txBody>
      </p:sp>
      <p:sp>
        <p:nvSpPr>
          <p:cNvPr id="35" name="TextBox 3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FORECASTING BASICS  ·  FALLBACK</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cover 0.82 of weeks, 25 over 25 plus 5.42</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should the plan sit above the forecast, and how far?</a:t>
            </a:r>
          </a:p>
        </p:txBody>
      </p:sp>
      <p:pic>
        <p:nvPicPr>
          <p:cNvPr id="9" name="mermaid diagram" descr="C2_W04_D05_cost_curve_STUDENT.png"/>
          <p:cNvPicPr>
            <a:picLocks noChangeAspect="1"/>
          </p:cNvPicPr>
          <p:nvPr/>
        </p:nvPicPr>
        <p:blipFill>
          <a:blip r:embed="rId4"/>
          <a:stretch>
            <a:fillRect/>
          </a:stretch>
        </p:blipFill>
        <p:spPr>
          <a:xfrm>
            <a:off x="2389245" y="1664208"/>
            <a:ext cx="7413204" cy="3319272"/>
          </a:xfrm>
          <a:prstGeom prst="rect">
            <a:avLst/>
          </a:prstGeom>
        </p:spPr>
      </p:pic>
      <p:sp>
        <p:nvSpPr>
          <p:cNvPr id="10" name="picture caption"/>
          <p:cNvSpPr txBox="1"/>
          <p:nvPr/>
        </p:nvSpPr>
        <p:spPr>
          <a:xfrm>
            <a:off x="530352" y="5020056"/>
            <a:ext cx="11130991" cy="316992"/>
          </a:xfrm>
          <a:prstGeom prst="rect">
            <a:avLst/>
          </a:prstGeom>
          <a:noFill/>
        </p:spPr>
        <p:txBody>
          <a:bodyPr wrap="square" anchor="t" lIns="0" rIns="0" tIns="0" bIns="0">
            <a:spAutoFit/>
          </a:bodyPr>
          <a:lstStyle/>
          <a:p>
            <a:pPr algn="ctr"/>
            <a:r>
              <a:rPr sz="1200" b="0" i="0">
                <a:solidFill>
                  <a:srgbClr val="6B6690"/>
                </a:solidFill>
                <a:latin typeface="Calibri"/>
              </a:rPr>
              <a:t>The average cost of a week's plan against how far it is raised</a:t>
            </a:r>
          </a:p>
        </p:txBody>
      </p:sp>
      <p:sp>
        <p:nvSpPr>
          <p:cNvPr id="11" name="TextBox 10"/>
          <p:cNvSpPr txBox="1"/>
          <p:nvPr/>
        </p:nvSpPr>
        <p:spPr>
          <a:xfrm>
            <a:off x="530352" y="5346192"/>
            <a:ext cx="11130991" cy="853440"/>
          </a:xfrm>
          <a:prstGeom prst="rect">
            <a:avLst/>
          </a:prstGeom>
          <a:noFill/>
        </p:spPr>
        <p:txBody>
          <a:bodyPr wrap="square" anchor="t" lIns="0" rIns="0" tIns="0" bIns="0">
            <a:spAutoFit/>
          </a:bodyPr>
          <a:lstStyle/>
          <a:p>
            <a:r>
              <a:rPr sz="1400" b="0" i="0">
                <a:solidFill>
                  <a:srgbClr val="1A1440"/>
                </a:solidFill>
                <a:latin typeface="Calibri"/>
              </a:rPr>
              <a:t>The answer is b. Raise the plan by one shipment. Over 100 weeks, if demand beats the plan in 18, that shipment saves 18 x Rs 25 = Rs 450 and wastes 82 x Rs 5.42 = Rs 444: about even. So the cheapest plan covers demand in 25 / (25 + 5.42), about 0.82, of weeks: the newsvendor rule, named after a seller deciding how many newspapers to stock.</a:t>
            </a:r>
          </a:p>
        </p:txBody>
      </p:sp>
      <p:sp>
        <p:nvSpPr>
          <p:cNvPr id="12" name="TextBox 11"/>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6B6690"/>
                </a:solidFill>
                <a:latin typeface="Calibri"/>
              </a:rPr>
              <a:t>Week 4, Day 5. Forecasting basics: the fallback hour</a:t>
            </a:r>
          </a:p>
        </p:txBody>
      </p:sp>
      <p:sp>
        <p:nvSpPr>
          <p:cNvPr id="13" name="TextBox 1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FORECASTING BASICS  ·  FALLBACK</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2.6 percent sits 0.82 along thirteen weeks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far above the forecast is the 0.82 point, on the weeks we hid?</a:t>
            </a:r>
          </a:p>
        </p:txBody>
      </p:sp>
      <p:pic>
        <p:nvPicPr>
          <p:cNvPr id="9" name="mermaid diagram" descr="C2_W04_D05_cushion_strip_STUDENT.png"/>
          <p:cNvPicPr>
            <a:picLocks noChangeAspect="1"/>
          </p:cNvPicPr>
          <p:nvPr/>
        </p:nvPicPr>
        <p:blipFill>
          <a:blip r:embed="rId4"/>
          <a:stretch>
            <a:fillRect/>
          </a:stretch>
        </p:blipFill>
        <p:spPr>
          <a:xfrm>
            <a:off x="2066094" y="1664208"/>
            <a:ext cx="8059506" cy="2939288"/>
          </a:xfrm>
          <a:prstGeom prst="rect">
            <a:avLst/>
          </a:prstGeom>
        </p:spPr>
      </p:pic>
      <p:sp>
        <p:nvSpPr>
          <p:cNvPr id="10" name="picture caption"/>
          <p:cNvSpPr txBox="1"/>
          <p:nvPr/>
        </p:nvSpPr>
        <p:spPr>
          <a:xfrm>
            <a:off x="530352" y="4640072"/>
            <a:ext cx="11130991" cy="316992"/>
          </a:xfrm>
          <a:prstGeom prst="rect">
            <a:avLst/>
          </a:prstGeom>
          <a:noFill/>
        </p:spPr>
        <p:txBody>
          <a:bodyPr wrap="square" anchor="t" lIns="0" rIns="0" tIns="0" bIns="0">
            <a:spAutoFit/>
          </a:bodyPr>
          <a:lstStyle/>
          <a:p>
            <a:pPr algn="ctr"/>
            <a:r>
              <a:rPr sz="1200" b="0" i="0">
                <a:solidFill>
                  <a:srgbClr val="6B6690"/>
                </a:solidFill>
                <a:latin typeface="Calibri"/>
              </a:rPr>
              <a:t>Thirteen hidden weeks sorted by how far demand came above festival-aligned</a:t>
            </a:r>
          </a:p>
        </p:txBody>
      </p:sp>
      <p:sp>
        <p:nvSpPr>
          <p:cNvPr id="11" name="TextBox 10"/>
          <p:cNvSpPr txBox="1"/>
          <p:nvPr/>
        </p:nvSpPr>
        <p:spPr>
          <a:xfrm>
            <a:off x="530352" y="4966208"/>
            <a:ext cx="11130991" cy="1233424"/>
          </a:xfrm>
          <a:prstGeom prst="rect">
            <a:avLst/>
          </a:prstGeom>
          <a:noFill/>
        </p:spPr>
        <p:txBody>
          <a:bodyPr wrap="square" anchor="t" lIns="0" rIns="0" tIns="0" bIns="0">
            <a:spAutoFit/>
          </a:bodyPr>
          <a:lstStyle/>
          <a:p>
            <a:r>
              <a:rPr sz="1600" b="0" i="0">
                <a:solidFill>
                  <a:srgbClr val="1A1440"/>
                </a:solidFill>
                <a:latin typeface="Calibri"/>
              </a:rPr>
              <a:t>Sort the thirteen hidden weeks by how far demand came above festival-aligned: from 5.9 percent below to 7.8 percent above. The 0.82 point falls between the 10th week, 2.1 percent, and the 11th, 2.7; read 0.82 of the way along, it is 2.6 percent. The raised forecast covers 10 of the 13 weeks, and the 11th sits just above it.</a:t>
            </a:r>
          </a:p>
        </p:txBody>
      </p:sp>
      <p:sp>
        <p:nvSpPr>
          <p:cNvPr id="12" name="TextBox 11"/>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6B6690"/>
                </a:solidFill>
                <a:latin typeface="Calibri"/>
              </a:rPr>
              <a:t>Week 4, Day 5. Forecasting basics: the fallback hour</a:t>
            </a:r>
          </a:p>
        </p:txBody>
      </p:sp>
      <p:sp>
        <p:nvSpPr>
          <p:cNvPr id="13" name="TextBox 1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FORECASTING BASICS  ·  FALLBACK</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plan, raised: 20,275 packer shifts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many packer shifts does each week need once the plan sits 2.6 percent above the forecast?</a:t>
            </a:r>
          </a:p>
        </p:txBody>
      </p:sp>
      <p:graphicFrame>
        <p:nvGraphicFramePr>
          <p:cNvPr id="9" name="Table 8"/>
          <p:cNvGraphicFramePr>
            <a:graphicFrameLocks noGrp="1"/>
          </p:cNvGraphicFramePr>
          <p:nvPr/>
        </p:nvGraphicFramePr>
        <p:xfrm>
          <a:off x="530352" y="1682496"/>
          <a:ext cx="11130990" cy="3017520"/>
        </p:xfrm>
        <a:graphic>
          <a:graphicData uri="http://schemas.openxmlformats.org/drawingml/2006/table">
            <a:tbl>
              <a:tblPr firstRow="0" bandRow="0">
                <a:tableStyleId>{2D5ABB26-0587-4C30-8999-92F81FD0307C}</a:tableStyleId>
              </a:tblPr>
              <a:tblGrid>
                <a:gridCol w="914400"/>
                <a:gridCol w="2123058"/>
                <a:gridCol w="4957996"/>
                <a:gridCol w="3135536"/>
              </a:tblGrid>
              <a:tr h="335280">
                <a:tc>
                  <a:txBody>
                    <a:bodyPr/>
                    <a:lstStyle/>
                    <a:p>
                      <a:r>
                        <a:rPr sz="1250" b="1" i="0">
                          <a:solidFill>
                            <a:srgbClr val="FFFFFF"/>
                          </a:solidFill>
                          <a:latin typeface="Calibri"/>
                        </a:rPr>
                        <a:t>Week of</a:t>
                      </a:r>
                    </a:p>
                  </a:txBody>
                  <a:tcPr marL="101600" marR="101600" marT="38100" marB="38100" anchor="ctr">
                    <a:solidFill>
                      <a:srgbClr val="1A0F5C"/>
                    </a:solidFill>
                  </a:tcPr>
                </a:tc>
                <a:tc>
                  <a:txBody>
                    <a:bodyPr/>
                    <a:lstStyle/>
                    <a:p>
                      <a:r>
                        <a:rPr sz="1250" b="1" i="0">
                          <a:solidFill>
                            <a:srgbClr val="FFFFFF"/>
                          </a:solidFill>
                          <a:latin typeface="Calibri"/>
                        </a:rPr>
                        <a:t>Forecast</a:t>
                      </a:r>
                    </a:p>
                  </a:txBody>
                  <a:tcPr marL="101600" marR="101600" marT="38100" marB="38100" anchor="ctr">
                    <a:solidFill>
                      <a:srgbClr val="1A0F5C"/>
                    </a:solidFill>
                  </a:tcPr>
                </a:tc>
                <a:tc>
                  <a:txBody>
                    <a:bodyPr/>
                    <a:lstStyle/>
                    <a:p>
                      <a:r>
                        <a:rPr sz="1250" b="1" i="0">
                          <a:solidFill>
                            <a:srgbClr val="FFFFFF"/>
                          </a:solidFill>
                          <a:latin typeface="Calibri"/>
                        </a:rPr>
                        <a:t>Plan, plus 2.6 percent</a:t>
                      </a:r>
                    </a:p>
                  </a:txBody>
                  <a:tcPr marL="101600" marR="101600" marT="38100" marB="38100" anchor="ctr">
                    <a:solidFill>
                      <a:srgbClr val="1A0F5C"/>
                    </a:solidFill>
                  </a:tcPr>
                </a:tc>
                <a:tc>
                  <a:txBody>
                    <a:bodyPr/>
                    <a:lstStyle/>
                    <a:p>
                      <a:r>
                        <a:rPr sz="1250" b="1" i="0">
                          <a:solidFill>
                            <a:srgbClr val="FFFFFF"/>
                          </a:solidFill>
                          <a:latin typeface="Calibri"/>
                        </a:rPr>
                        <a:t>Packer shifts</a:t>
                      </a:r>
                    </a:p>
                  </a:txBody>
                  <a:tcPr marL="101600" marR="101600" marT="38100" marB="38100" anchor="ctr">
                    <a:solidFill>
                      <a:srgbClr val="1A0F5C"/>
                    </a:solidFill>
                  </a:tcPr>
                </a:tc>
              </a:tr>
              <a:tr h="335280">
                <a:tc>
                  <a:txBody>
                    <a:bodyPr/>
                    <a:lstStyle/>
                    <a:p>
                      <a:r>
                        <a:rPr sz="1200" b="0" i="0">
                          <a:solidFill>
                            <a:srgbClr val="1A1440"/>
                          </a:solidFill>
                          <a:latin typeface="Calibri"/>
                        </a:rPr>
                        <a:t>12 Oct</a:t>
                      </a:r>
                    </a:p>
                  </a:txBody>
                  <a:tcPr marL="101600" marR="101600" marT="38100" marB="38100" anchor="ctr">
                    <a:solidFill>
                      <a:srgbClr val="FFFFFF"/>
                    </a:solidFill>
                  </a:tcPr>
                </a:tc>
                <a:tc>
                  <a:txBody>
                    <a:bodyPr/>
                    <a:lstStyle/>
                    <a:p>
                      <a:r>
                        <a:rPr sz="1200" b="0" i="0">
                          <a:solidFill>
                            <a:srgbClr val="1A1440"/>
                          </a:solidFill>
                          <a:latin typeface="Calibri"/>
                        </a:rPr>
                        <a:t>344,448</a:t>
                      </a:r>
                    </a:p>
                  </a:txBody>
                  <a:tcPr marL="101600" marR="101600" marT="38100" marB="38100" anchor="ctr">
                    <a:solidFill>
                      <a:srgbClr val="FFFFFF"/>
                    </a:solidFill>
                  </a:tcPr>
                </a:tc>
                <a:tc>
                  <a:txBody>
                    <a:bodyPr/>
                    <a:lstStyle/>
                    <a:p>
                      <a:r>
                        <a:rPr sz="1200" b="0" i="0">
                          <a:solidFill>
                            <a:srgbClr val="1A1440"/>
                          </a:solidFill>
                          <a:latin typeface="Calibri"/>
                        </a:rPr>
                        <a:t>353,404</a:t>
                      </a:r>
                    </a:p>
                  </a:txBody>
                  <a:tcPr marL="101600" marR="101600" marT="38100" marB="38100" anchor="ctr">
                    <a:solidFill>
                      <a:srgbClr val="FFFFFF"/>
                    </a:solidFill>
                  </a:tcPr>
                </a:tc>
                <a:tc>
                  <a:txBody>
                    <a:bodyPr/>
                    <a:lstStyle/>
                    <a:p>
                      <a:r>
                        <a:rPr sz="1200" b="0" i="0">
                          <a:solidFill>
                            <a:srgbClr val="1A1440"/>
                          </a:solidFill>
                          <a:latin typeface="Calibri"/>
                        </a:rPr>
                        <a:t>2,946</a:t>
                      </a:r>
                    </a:p>
                  </a:txBody>
                  <a:tcPr marL="101600" marR="101600" marT="38100" marB="38100" anchor="ctr">
                    <a:solidFill>
                      <a:srgbClr val="FFFFFF"/>
                    </a:solidFill>
                  </a:tcPr>
                </a:tc>
              </a:tr>
              <a:tr h="335280">
                <a:tc>
                  <a:txBody>
                    <a:bodyPr/>
                    <a:lstStyle/>
                    <a:p>
                      <a:r>
                        <a:rPr sz="1200" b="0" i="0">
                          <a:solidFill>
                            <a:srgbClr val="1A1440"/>
                          </a:solidFill>
                          <a:latin typeface="Calibri"/>
                        </a:rPr>
                        <a:t>19 Oct</a:t>
                      </a:r>
                    </a:p>
                  </a:txBody>
                  <a:tcPr marL="101600" marR="101600" marT="38100" marB="38100" anchor="ctr">
                    <a:solidFill>
                      <a:srgbClr val="F4F2FA"/>
                    </a:solidFill>
                  </a:tcPr>
                </a:tc>
                <a:tc>
                  <a:txBody>
                    <a:bodyPr/>
                    <a:lstStyle/>
                    <a:p>
                      <a:r>
                        <a:rPr sz="1200" b="0" i="0">
                          <a:solidFill>
                            <a:srgbClr val="1A1440"/>
                          </a:solidFill>
                          <a:latin typeface="Calibri"/>
                        </a:rPr>
                        <a:t>434,928</a:t>
                      </a:r>
                    </a:p>
                  </a:txBody>
                  <a:tcPr marL="101600" marR="101600" marT="38100" marB="38100" anchor="ctr">
                    <a:solidFill>
                      <a:srgbClr val="F4F2FA"/>
                    </a:solidFill>
                  </a:tcPr>
                </a:tc>
                <a:tc>
                  <a:txBody>
                    <a:bodyPr/>
                    <a:lstStyle/>
                    <a:p>
                      <a:r>
                        <a:rPr sz="1200" b="0" i="0">
                          <a:solidFill>
                            <a:srgbClr val="1A1440"/>
                          </a:solidFill>
                          <a:latin typeface="Calibri"/>
                        </a:rPr>
                        <a:t>446,236</a:t>
                      </a:r>
                    </a:p>
                  </a:txBody>
                  <a:tcPr marL="101600" marR="101600" marT="38100" marB="38100" anchor="ctr">
                    <a:solidFill>
                      <a:srgbClr val="F4F2FA"/>
                    </a:solidFill>
                  </a:tcPr>
                </a:tc>
                <a:tc>
                  <a:txBody>
                    <a:bodyPr/>
                    <a:lstStyle/>
                    <a:p>
                      <a:r>
                        <a:rPr sz="1200" b="0" i="0">
                          <a:solidFill>
                            <a:srgbClr val="1A1440"/>
                          </a:solidFill>
                          <a:latin typeface="Calibri"/>
                        </a:rPr>
                        <a:t>3,719</a:t>
                      </a:r>
                    </a:p>
                  </a:txBody>
                  <a:tcPr marL="101600" marR="101600" marT="38100" marB="38100" anchor="ctr">
                    <a:solidFill>
                      <a:srgbClr val="F4F2FA"/>
                    </a:solidFill>
                  </a:tcPr>
                </a:tc>
              </a:tr>
              <a:tr h="335280">
                <a:tc>
                  <a:txBody>
                    <a:bodyPr/>
                    <a:lstStyle/>
                    <a:p>
                      <a:r>
                        <a:rPr sz="1200" b="0" i="0">
                          <a:solidFill>
                            <a:srgbClr val="1A1440"/>
                          </a:solidFill>
                          <a:latin typeface="Calibri"/>
                        </a:rPr>
                        <a:t>26 Oct</a:t>
                      </a:r>
                    </a:p>
                  </a:txBody>
                  <a:tcPr marL="101600" marR="101600" marT="38100" marB="38100" anchor="ctr">
                    <a:solidFill>
                      <a:srgbClr val="FFFFFF"/>
                    </a:solidFill>
                  </a:tcPr>
                </a:tc>
                <a:tc>
                  <a:txBody>
                    <a:bodyPr/>
                    <a:lstStyle/>
                    <a:p>
                      <a:r>
                        <a:rPr sz="1200" b="0" i="0">
                          <a:solidFill>
                            <a:srgbClr val="1A1440"/>
                          </a:solidFill>
                          <a:latin typeface="Calibri"/>
                        </a:rPr>
                        <a:t>383,760</a:t>
                      </a:r>
                    </a:p>
                  </a:txBody>
                  <a:tcPr marL="101600" marR="101600" marT="38100" marB="38100" anchor="ctr">
                    <a:solidFill>
                      <a:srgbClr val="FFFFFF"/>
                    </a:solidFill>
                  </a:tcPr>
                </a:tc>
                <a:tc>
                  <a:txBody>
                    <a:bodyPr/>
                    <a:lstStyle/>
                    <a:p>
                      <a:r>
                        <a:rPr sz="1200" b="0" i="0">
                          <a:solidFill>
                            <a:srgbClr val="1A1440"/>
                          </a:solidFill>
                          <a:latin typeface="Calibri"/>
                        </a:rPr>
                        <a:t>393,738</a:t>
                      </a:r>
                    </a:p>
                  </a:txBody>
                  <a:tcPr marL="101600" marR="101600" marT="38100" marB="38100" anchor="ctr">
                    <a:solidFill>
                      <a:srgbClr val="FFFFFF"/>
                    </a:solidFill>
                  </a:tcPr>
                </a:tc>
                <a:tc>
                  <a:txBody>
                    <a:bodyPr/>
                    <a:lstStyle/>
                    <a:p>
                      <a:r>
                        <a:rPr sz="1200" b="0" i="0">
                          <a:solidFill>
                            <a:srgbClr val="1A1440"/>
                          </a:solidFill>
                          <a:latin typeface="Calibri"/>
                        </a:rPr>
                        <a:t>3,282</a:t>
                      </a:r>
                    </a:p>
                  </a:txBody>
                  <a:tcPr marL="101600" marR="101600" marT="38100" marB="38100" anchor="ctr">
                    <a:solidFill>
                      <a:srgbClr val="FFFFFF"/>
                    </a:solidFill>
                  </a:tcPr>
                </a:tc>
              </a:tr>
              <a:tr h="335280">
                <a:tc>
                  <a:txBody>
                    <a:bodyPr/>
                    <a:lstStyle/>
                    <a:p>
                      <a:r>
                        <a:rPr sz="1200" b="0" i="0">
                          <a:solidFill>
                            <a:srgbClr val="1A1440"/>
                          </a:solidFill>
                          <a:latin typeface="Calibri"/>
                        </a:rPr>
                        <a:t>2 Nov</a:t>
                      </a:r>
                    </a:p>
                  </a:txBody>
                  <a:tcPr marL="101600" marR="101600" marT="38100" marB="38100" anchor="ctr">
                    <a:solidFill>
                      <a:srgbClr val="F4F2FA"/>
                    </a:solidFill>
                  </a:tcPr>
                </a:tc>
                <a:tc>
                  <a:txBody>
                    <a:bodyPr/>
                    <a:lstStyle/>
                    <a:p>
                      <a:r>
                        <a:rPr sz="1200" b="0" i="0">
                          <a:solidFill>
                            <a:srgbClr val="1A1440"/>
                          </a:solidFill>
                          <a:latin typeface="Calibri"/>
                        </a:rPr>
                        <a:t>321,256</a:t>
                      </a:r>
                    </a:p>
                  </a:txBody>
                  <a:tcPr marL="101600" marR="101600" marT="38100" marB="38100" anchor="ctr">
                    <a:solidFill>
                      <a:srgbClr val="F4F2FA"/>
                    </a:solidFill>
                  </a:tcPr>
                </a:tc>
                <a:tc>
                  <a:txBody>
                    <a:bodyPr/>
                    <a:lstStyle/>
                    <a:p>
                      <a:r>
                        <a:rPr sz="1200" b="0" i="0">
                          <a:solidFill>
                            <a:srgbClr val="1A1440"/>
                          </a:solidFill>
                          <a:latin typeface="Calibri"/>
                        </a:rPr>
                        <a:t>329,609</a:t>
                      </a:r>
                    </a:p>
                  </a:txBody>
                  <a:tcPr marL="101600" marR="101600" marT="38100" marB="38100" anchor="ctr">
                    <a:solidFill>
                      <a:srgbClr val="F4F2FA"/>
                    </a:solidFill>
                  </a:tcPr>
                </a:tc>
                <a:tc>
                  <a:txBody>
                    <a:bodyPr/>
                    <a:lstStyle/>
                    <a:p>
                      <a:r>
                        <a:rPr sz="1200" b="0" i="0">
                          <a:solidFill>
                            <a:srgbClr val="1A1440"/>
                          </a:solidFill>
                          <a:latin typeface="Calibri"/>
                        </a:rPr>
                        <a:t>2,747</a:t>
                      </a:r>
                    </a:p>
                  </a:txBody>
                  <a:tcPr marL="101600" marR="101600" marT="38100" marB="38100" anchor="ctr">
                    <a:solidFill>
                      <a:srgbClr val="F4F2FA"/>
                    </a:solidFill>
                  </a:tcPr>
                </a:tc>
              </a:tr>
              <a:tr h="335280">
                <a:tc>
                  <a:txBody>
                    <a:bodyPr/>
                    <a:lstStyle/>
                    <a:p>
                      <a:r>
                        <a:rPr sz="1200" b="0" i="0">
                          <a:solidFill>
                            <a:srgbClr val="1A1440"/>
                          </a:solidFill>
                          <a:latin typeface="Calibri"/>
                        </a:rPr>
                        <a:t>9 Nov</a:t>
                      </a:r>
                    </a:p>
                  </a:txBody>
                  <a:tcPr marL="101600" marR="101600" marT="38100" marB="38100" anchor="ctr">
                    <a:solidFill>
                      <a:srgbClr val="FFFFFF"/>
                    </a:solidFill>
                  </a:tcPr>
                </a:tc>
                <a:tc>
                  <a:txBody>
                    <a:bodyPr/>
                    <a:lstStyle/>
                    <a:p>
                      <a:r>
                        <a:rPr sz="1200" b="0" i="0">
                          <a:solidFill>
                            <a:srgbClr val="1A1440"/>
                          </a:solidFill>
                          <a:latin typeface="Calibri"/>
                        </a:rPr>
                        <a:t>196,144</a:t>
                      </a:r>
                    </a:p>
                  </a:txBody>
                  <a:tcPr marL="101600" marR="101600" marT="38100" marB="38100" anchor="ctr">
                    <a:solidFill>
                      <a:srgbClr val="FFFFFF"/>
                    </a:solidFill>
                  </a:tcPr>
                </a:tc>
                <a:tc>
                  <a:txBody>
                    <a:bodyPr/>
                    <a:lstStyle/>
                    <a:p>
                      <a:r>
                        <a:rPr sz="1200" b="0" i="0">
                          <a:solidFill>
                            <a:srgbClr val="1A1440"/>
                          </a:solidFill>
                          <a:latin typeface="Calibri"/>
                        </a:rPr>
                        <a:t>201,244</a:t>
                      </a:r>
                    </a:p>
                  </a:txBody>
                  <a:tcPr marL="101600" marR="101600" marT="38100" marB="38100" anchor="ctr">
                    <a:solidFill>
                      <a:srgbClr val="FFFFFF"/>
                    </a:solidFill>
                  </a:tcPr>
                </a:tc>
                <a:tc>
                  <a:txBody>
                    <a:bodyPr/>
                    <a:lstStyle/>
                    <a:p>
                      <a:r>
                        <a:rPr sz="1200" b="0" i="0">
                          <a:solidFill>
                            <a:srgbClr val="1A1440"/>
                          </a:solidFill>
                          <a:latin typeface="Calibri"/>
                        </a:rPr>
                        <a:t>1,678</a:t>
                      </a:r>
                    </a:p>
                  </a:txBody>
                  <a:tcPr marL="101600" marR="101600" marT="38100" marB="38100" anchor="ctr">
                    <a:solidFill>
                      <a:srgbClr val="FFFFFF"/>
                    </a:solidFill>
                  </a:tcPr>
                </a:tc>
              </a:tr>
              <a:tr h="335280">
                <a:tc>
                  <a:txBody>
                    <a:bodyPr/>
                    <a:lstStyle/>
                    <a:p>
                      <a:r>
                        <a:rPr sz="1200" b="0" i="0">
                          <a:solidFill>
                            <a:srgbClr val="1A1440"/>
                          </a:solidFill>
                          <a:latin typeface="Calibri"/>
                        </a:rPr>
                        <a:t>16 Nov</a:t>
                      </a:r>
                    </a:p>
                  </a:txBody>
                  <a:tcPr marL="101600" marR="101600" marT="38100" marB="38100" anchor="ctr">
                    <a:solidFill>
                      <a:srgbClr val="F4F2FA"/>
                    </a:solidFill>
                  </a:tcPr>
                </a:tc>
                <a:tc>
                  <a:txBody>
                    <a:bodyPr/>
                    <a:lstStyle/>
                    <a:p>
                      <a:r>
                        <a:rPr sz="1200" b="0" i="0">
                          <a:solidFill>
                            <a:srgbClr val="1A1440"/>
                          </a:solidFill>
                          <a:latin typeface="Calibri"/>
                        </a:rPr>
                        <a:t>237,016</a:t>
                      </a:r>
                    </a:p>
                  </a:txBody>
                  <a:tcPr marL="101600" marR="101600" marT="38100" marB="38100" anchor="ctr">
                    <a:solidFill>
                      <a:srgbClr val="F4F2FA"/>
                    </a:solidFill>
                  </a:tcPr>
                </a:tc>
                <a:tc>
                  <a:txBody>
                    <a:bodyPr/>
                    <a:lstStyle/>
                    <a:p>
                      <a:r>
                        <a:rPr sz="1200" b="0" i="0">
                          <a:solidFill>
                            <a:srgbClr val="1A1440"/>
                          </a:solidFill>
                          <a:latin typeface="Calibri"/>
                        </a:rPr>
                        <a:t>243,178</a:t>
                      </a:r>
                    </a:p>
                  </a:txBody>
                  <a:tcPr marL="101600" marR="101600" marT="38100" marB="38100" anchor="ctr">
                    <a:solidFill>
                      <a:srgbClr val="F4F2FA"/>
                    </a:solidFill>
                  </a:tcPr>
                </a:tc>
                <a:tc>
                  <a:txBody>
                    <a:bodyPr/>
                    <a:lstStyle/>
                    <a:p>
                      <a:r>
                        <a:rPr sz="1200" b="0" i="0">
                          <a:solidFill>
                            <a:srgbClr val="1A1440"/>
                          </a:solidFill>
                          <a:latin typeface="Calibri"/>
                        </a:rPr>
                        <a:t>2,027</a:t>
                      </a:r>
                    </a:p>
                  </a:txBody>
                  <a:tcPr marL="101600" marR="101600" marT="38100" marB="38100" anchor="ctr">
                    <a:solidFill>
                      <a:srgbClr val="F4F2FA"/>
                    </a:solidFill>
                  </a:tcPr>
                </a:tc>
              </a:tr>
              <a:tr h="335280">
                <a:tc>
                  <a:txBody>
                    <a:bodyPr/>
                    <a:lstStyle/>
                    <a:p>
                      <a:r>
                        <a:rPr sz="1200" b="0" i="0">
                          <a:solidFill>
                            <a:srgbClr val="1A1440"/>
                          </a:solidFill>
                          <a:latin typeface="Calibri"/>
                        </a:rPr>
                        <a:t>23 Nov</a:t>
                      </a:r>
                    </a:p>
                  </a:txBody>
                  <a:tcPr marL="101600" marR="101600" marT="38100" marB="38100" anchor="ctr">
                    <a:solidFill>
                      <a:srgbClr val="FFFFFF"/>
                    </a:solidFill>
                  </a:tcPr>
                </a:tc>
                <a:tc>
                  <a:txBody>
                    <a:bodyPr/>
                    <a:lstStyle/>
                    <a:p>
                      <a:r>
                        <a:rPr sz="1200" b="0" i="0">
                          <a:solidFill>
                            <a:srgbClr val="1A1440"/>
                          </a:solidFill>
                          <a:latin typeface="Calibri"/>
                        </a:rPr>
                        <a:t>225,992</a:t>
                      </a:r>
                    </a:p>
                  </a:txBody>
                  <a:tcPr marL="101600" marR="101600" marT="38100" marB="38100" anchor="ctr">
                    <a:solidFill>
                      <a:srgbClr val="FFFFFF"/>
                    </a:solidFill>
                  </a:tcPr>
                </a:tc>
                <a:tc>
                  <a:txBody>
                    <a:bodyPr/>
                    <a:lstStyle/>
                    <a:p>
                      <a:r>
                        <a:rPr sz="1200" b="0" i="0">
                          <a:solidFill>
                            <a:srgbClr val="1A1440"/>
                          </a:solidFill>
                          <a:latin typeface="Calibri"/>
                        </a:rPr>
                        <a:t>231,868</a:t>
                      </a:r>
                    </a:p>
                  </a:txBody>
                  <a:tcPr marL="101600" marR="101600" marT="38100" marB="38100" anchor="ctr">
                    <a:solidFill>
                      <a:srgbClr val="FFFFFF"/>
                    </a:solidFill>
                  </a:tcPr>
                </a:tc>
                <a:tc>
                  <a:txBody>
                    <a:bodyPr/>
                    <a:lstStyle/>
                    <a:p>
                      <a:r>
                        <a:rPr sz="1200" b="0" i="0">
                          <a:solidFill>
                            <a:srgbClr val="1A1440"/>
                          </a:solidFill>
                          <a:latin typeface="Calibri"/>
                        </a:rPr>
                        <a:t>1,933</a:t>
                      </a:r>
                    </a:p>
                  </a:txBody>
                  <a:tcPr marL="101600" marR="101600" marT="38100" marB="38100" anchor="ctr">
                    <a:solidFill>
                      <a:srgbClr val="FFFFFF"/>
                    </a:solidFill>
                  </a:tcPr>
                </a:tc>
              </a:tr>
              <a:tr h="335280">
                <a:tc>
                  <a:txBody>
                    <a:bodyPr/>
                    <a:lstStyle/>
                    <a:p>
                      <a:r>
                        <a:rPr sz="1200" b="0" i="0">
                          <a:solidFill>
                            <a:srgbClr val="1A1440"/>
                          </a:solidFill>
                          <a:latin typeface="Calibri"/>
                        </a:rPr>
                        <a:t>30 Nov</a:t>
                      </a:r>
                    </a:p>
                  </a:txBody>
                  <a:tcPr marL="101600" marR="101600" marT="38100" marB="38100" anchor="ctr">
                    <a:solidFill>
                      <a:srgbClr val="F4F2FA"/>
                    </a:solidFill>
                  </a:tcPr>
                </a:tc>
                <a:tc>
                  <a:txBody>
                    <a:bodyPr/>
                    <a:lstStyle/>
                    <a:p>
                      <a:r>
                        <a:rPr sz="1200" b="0" i="0">
                          <a:solidFill>
                            <a:srgbClr val="1A1440"/>
                          </a:solidFill>
                          <a:latin typeface="Calibri"/>
                        </a:rPr>
                        <a:t>227,136</a:t>
                      </a:r>
                    </a:p>
                  </a:txBody>
                  <a:tcPr marL="101600" marR="101600" marT="38100" marB="38100" anchor="ctr">
                    <a:solidFill>
                      <a:srgbClr val="F4F2FA"/>
                    </a:solidFill>
                  </a:tcPr>
                </a:tc>
                <a:tc>
                  <a:txBody>
                    <a:bodyPr/>
                    <a:lstStyle/>
                    <a:p>
                      <a:r>
                        <a:rPr sz="1200" b="0" i="0">
                          <a:solidFill>
                            <a:srgbClr val="1A1440"/>
                          </a:solidFill>
                          <a:latin typeface="Calibri"/>
                        </a:rPr>
                        <a:t>233,042</a:t>
                      </a:r>
                    </a:p>
                  </a:txBody>
                  <a:tcPr marL="101600" marR="101600" marT="38100" marB="38100" anchor="ctr">
                    <a:solidFill>
                      <a:srgbClr val="F4F2FA"/>
                    </a:solidFill>
                  </a:tcPr>
                </a:tc>
                <a:tc>
                  <a:txBody>
                    <a:bodyPr/>
                    <a:lstStyle/>
                    <a:p>
                      <a:r>
                        <a:rPr sz="1200" b="0" i="0">
                          <a:solidFill>
                            <a:srgbClr val="1A1440"/>
                          </a:solidFill>
                          <a:latin typeface="Calibri"/>
                        </a:rPr>
                        <a:t>1,943</a:t>
                      </a:r>
                    </a:p>
                  </a:txBody>
                  <a:tcPr marL="101600" marR="101600" marT="38100" marB="38100" anchor="ctr">
                    <a:solidFill>
                      <a:srgbClr val="F4F2FA"/>
                    </a:solidFill>
                  </a:tcPr>
                </a:tc>
              </a:tr>
            </a:tbl>
          </a:graphicData>
        </a:graphic>
      </p:graphicFrame>
      <p:sp>
        <p:nvSpPr>
          <p:cNvPr id="10" name="TextBox 9"/>
          <p:cNvSpPr txBox="1"/>
          <p:nvPr/>
        </p:nvSpPr>
        <p:spPr>
          <a:xfrm>
            <a:off x="530352" y="4956048"/>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Shifts are the plan over 120, rounded up: 20,275 in all, 515 more than the 19,760 the forecast alone needs. For 19 October, demand at the hidden weeks' extremes would need 3,413 to 3,906 shifts against the 3,719 booked.</a:t>
            </a:r>
          </a:p>
        </p:txBody>
      </p:sp>
      <p:sp>
        <p:nvSpPr>
          <p:cNvPr id="11" name="TextBox 10"/>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6B6690"/>
                </a:solidFill>
                <a:latin typeface="Calibri"/>
              </a:rPr>
              <a:t>Week 4, Day 5. Forecasting basics: the fallback hour</a:t>
            </a:r>
          </a:p>
        </p:txBody>
      </p:sp>
      <p:sp>
        <p:nvSpPr>
          <p:cNvPr id="12" name="TextBox 1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FORECASTING BASICS  ·  FALLBACK</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Zillow: a forecast's error outran its guardrail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Zillow's forecasting miss cost, and which guardrail failed?</a:t>
            </a:r>
          </a:p>
        </p:txBody>
      </p:sp>
      <p:graphicFrame>
        <p:nvGraphicFramePr>
          <p:cNvPr id="9" name="Table 8"/>
          <p:cNvGraphicFramePr>
            <a:graphicFrameLocks noGrp="1"/>
          </p:cNvGraphicFramePr>
          <p:nvPr/>
        </p:nvGraphicFramePr>
        <p:xfrm>
          <a:off x="530352" y="1956816"/>
          <a:ext cx="11130991" cy="3058160"/>
        </p:xfrm>
        <a:graphic>
          <a:graphicData uri="http://schemas.openxmlformats.org/drawingml/2006/table">
            <a:tbl>
              <a:tblPr firstRow="0" bandRow="0">
                <a:tableStyleId>{2D5ABB26-0587-4C30-8999-92F81FD0307C}</a:tableStyleId>
              </a:tblPr>
              <a:tblGrid>
                <a:gridCol w="2257107"/>
                <a:gridCol w="8873884"/>
              </a:tblGrid>
              <a:tr h="369824">
                <a:tc>
                  <a:txBody>
                    <a:bodyPr/>
                    <a:lstStyle/>
                    <a:p/>
                  </a:txBody>
                  <a:tcPr marL="101600" marR="101600" marT="38100" marB="38100" anchor="ctr">
                    <a:solidFill>
                      <a:srgbClr val="1A0F5C"/>
                    </a:solidFill>
                  </a:tcPr>
                </a:tc>
                <a:tc>
                  <a:txBody>
                    <a:bodyPr/>
                    <a:lstStyle/>
                    <a:p>
                      <a:r>
                        <a:rPr sz="1450" b="1" i="0">
                          <a:solidFill>
                            <a:srgbClr val="FFFFFF"/>
                          </a:solidFill>
                          <a:latin typeface="Calibri"/>
                        </a:rPr>
                        <a:t>Zillow Offers, 2021 (Zillow's Q3 2021 shareholder letter, checked 12 October 2026)</a:t>
                      </a:r>
                    </a:p>
                  </a:txBody>
                  <a:tcPr marL="101600" marR="101600" marT="38100" marB="38100" anchor="ctr">
                    <a:solidFill>
                      <a:srgbClr val="1A0F5C"/>
                    </a:solidFill>
                  </a:tcPr>
                </a:tc>
              </a:tr>
              <a:tr h="369824">
                <a:tc>
                  <a:txBody>
                    <a:bodyPr/>
                    <a:lstStyle/>
                    <a:p>
                      <a:r>
                        <a:rPr sz="1400" b="0" i="0">
                          <a:solidFill>
                            <a:srgbClr val="1A1440"/>
                          </a:solidFill>
                          <a:latin typeface="Calibri"/>
                        </a:rPr>
                        <a:t>The forecast</a:t>
                      </a:r>
                    </a:p>
                  </a:txBody>
                  <a:tcPr marL="101600" marR="101600" marT="38100" marB="38100" anchor="ctr">
                    <a:solidFill>
                      <a:srgbClr val="FFFFFF"/>
                    </a:solidFill>
                  </a:tcPr>
                </a:tc>
                <a:tc>
                  <a:txBody>
                    <a:bodyPr/>
                    <a:lstStyle/>
                    <a:p>
                      <a:r>
                        <a:rPr sz="1400" b="0" i="0">
                          <a:solidFill>
                            <a:srgbClr val="1A1440"/>
                          </a:solidFill>
                          <a:latin typeface="Calibri"/>
                        </a:rPr>
                        <a:t>Home prices three to six months ahead, to buy homes and resell them</a:t>
                      </a:r>
                    </a:p>
                  </a:txBody>
                  <a:tcPr marL="101600" marR="101600" marT="38100" marB="38100" anchor="ctr">
                    <a:solidFill>
                      <a:srgbClr val="FFFFFF"/>
                    </a:solidFill>
                  </a:tcPr>
                </a:tc>
              </a:tr>
              <a:tr h="611632">
                <a:tc>
                  <a:txBody>
                    <a:bodyPr/>
                    <a:lstStyle/>
                    <a:p>
                      <a:r>
                        <a:rPr sz="1400" b="0" i="0">
                          <a:solidFill>
                            <a:srgbClr val="1A1440"/>
                          </a:solidFill>
                          <a:latin typeface="Calibri"/>
                        </a:rPr>
                        <a:t>The guardrail</a:t>
                      </a:r>
                    </a:p>
                  </a:txBody>
                  <a:tcPr marL="101600" marR="101600" marT="38100" marB="38100" anchor="ctr">
                    <a:solidFill>
                      <a:srgbClr val="F4F2FA"/>
                    </a:solidFill>
                  </a:tcPr>
                </a:tc>
                <a:tc>
                  <a:txBody>
                    <a:bodyPr/>
                    <a:lstStyle/>
                    <a:p>
                      <a:r>
                        <a:rPr sz="1400" b="0" i="0">
                          <a:solidFill>
                            <a:srgbClr val="1A1440"/>
                          </a:solidFill>
                          <a:latin typeface="Calibri"/>
                        </a:rPr>
                        <a:t>Public targets of plus or minus 200 basis points, 2 percentage points, of breakeven unit economics: what Zillow made or lost on each home it resold was meant to stay near zero</a:t>
                      </a:r>
                    </a:p>
                  </a:txBody>
                  <a:tcPr marL="101600" marR="101600" marT="38100" marB="38100" anchor="ctr">
                    <a:solidFill>
                      <a:srgbClr val="F4F2FA"/>
                    </a:solidFill>
                  </a:tcPr>
                </a:tc>
              </a:tr>
              <a:tr h="1095248">
                <a:tc>
                  <a:txBody>
                    <a:bodyPr/>
                    <a:lstStyle/>
                    <a:p>
                      <a:r>
                        <a:rPr sz="1400" b="0" i="0">
                          <a:solidFill>
                            <a:srgbClr val="1A1440"/>
                          </a:solidFill>
                          <a:latin typeface="Calibri"/>
                        </a:rPr>
                        <a:t>The miss</a:t>
                      </a:r>
                    </a:p>
                  </a:txBody>
                  <a:tcPr marL="101600" marR="101600" marT="38100" marB="38100" anchor="ctr">
                    <a:solidFill>
                      <a:srgbClr val="FFFFFF"/>
                    </a:solidFill>
                  </a:tcPr>
                </a:tc>
                <a:tc>
                  <a:txBody>
                    <a:bodyPr/>
                    <a:lstStyle/>
                    <a:p>
                      <a:r>
                        <a:rPr sz="1400" b="0" i="0">
                          <a:solidFill>
                            <a:srgbClr val="1A1440"/>
                          </a:solidFill>
                          <a:latin typeface="Calibri"/>
                        </a:rPr>
                        <a:t>Price forecasts missed in both directions by far more than Zillow had modelled, and unit economics swung about 1,200 basis points, 12 percentage points, from Q2 to an expected minus 500 to minus 700 basis points in Q4 2021; more offers were accepted than planned, and renovation capacity ran short</a:t>
                      </a:r>
                    </a:p>
                  </a:txBody>
                  <a:tcPr marL="101600" marR="101600" marT="38100" marB="38100" anchor="ctr">
                    <a:solidFill>
                      <a:srgbClr val="FFFFFF"/>
                    </a:solidFill>
                  </a:tcPr>
                </a:tc>
              </a:tr>
              <a:tr h="611632">
                <a:tc>
                  <a:txBody>
                    <a:bodyPr/>
                    <a:lstStyle/>
                    <a:p>
                      <a:r>
                        <a:rPr sz="1400" b="0" i="0">
                          <a:solidFill>
                            <a:srgbClr val="1A1440"/>
                          </a:solidFill>
                          <a:latin typeface="Calibri"/>
                        </a:rPr>
                        <a:t>The cost</a:t>
                      </a:r>
                    </a:p>
                  </a:txBody>
                  <a:tcPr marL="101600" marR="101600" marT="38100" marB="38100" anchor="ctr">
                    <a:solidFill>
                      <a:srgbClr val="F4F2FA"/>
                    </a:solidFill>
                  </a:tcPr>
                </a:tc>
                <a:tc>
                  <a:txBody>
                    <a:bodyPr/>
                    <a:lstStyle/>
                    <a:p>
                      <a:r>
                        <a:rPr sz="1400" b="0" i="0">
                          <a:solidFill>
                            <a:srgbClr val="1A1440"/>
                          </a:solidFill>
                          <a:latin typeface="Calibri"/>
                        </a:rPr>
                        <a:t>A write-down of about USD 304 million on homes bought above what they would now sell for; Zillow wound the business down and cut about 25 percent of its workforce</a:t>
                      </a:r>
                    </a:p>
                  </a:txBody>
                  <a:tcPr marL="101600" marR="101600" marT="38100" marB="38100" anchor="ctr">
                    <a:solidFill>
                      <a:srgbClr val="F4F2FA"/>
                    </a:solidFill>
                  </a:tcPr>
                </a:tc>
              </a:tr>
            </a:tbl>
          </a:graphicData>
        </a:graphic>
      </p:graphicFrame>
      <p:sp>
        <p:nvSpPr>
          <p:cNvPr id="10" name="TextBox 9"/>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6B6690"/>
                </a:solidFill>
                <a:latin typeface="Calibri"/>
              </a:rPr>
              <a:t>Week 4, Day 5. Forecasting basics: the fallback hour</a:t>
            </a:r>
          </a:p>
        </p:txBody>
      </p:sp>
      <p:sp>
        <p:nvSpPr>
          <p:cNvPr id="11" name="TextBox 1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FORECASTING BASICS  ·  FALLBACK</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Target Canada: a forecast with no history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Target's buyers have to forecast with in Canada?</a:t>
            </a:r>
          </a:p>
        </p:txBody>
      </p:sp>
      <p:graphicFrame>
        <p:nvGraphicFramePr>
          <p:cNvPr id="9" name="Table 8"/>
          <p:cNvGraphicFramePr>
            <a:graphicFrameLocks noGrp="1"/>
          </p:cNvGraphicFramePr>
          <p:nvPr/>
        </p:nvGraphicFramePr>
        <p:xfrm>
          <a:off x="530352" y="1956816"/>
          <a:ext cx="11130990" cy="2446528"/>
        </p:xfrm>
        <a:graphic>
          <a:graphicData uri="http://schemas.openxmlformats.org/drawingml/2006/table">
            <a:tbl>
              <a:tblPr firstRow="0" bandRow="0">
                <a:tableStyleId>{2D5ABB26-0587-4C30-8999-92F81FD0307C}</a:tableStyleId>
              </a:tblPr>
              <a:tblGrid>
                <a:gridCol w="3290491"/>
                <a:gridCol w="7840499"/>
              </a:tblGrid>
              <a:tr h="611632">
                <a:tc>
                  <a:txBody>
                    <a:bodyPr/>
                    <a:lstStyle/>
                    <a:p/>
                  </a:txBody>
                  <a:tcPr marL="101600" marR="101600" marT="38100" marB="38100" anchor="ctr">
                    <a:solidFill>
                      <a:srgbClr val="1A0F5C"/>
                    </a:solidFill>
                  </a:tcPr>
                </a:tc>
                <a:tc>
                  <a:txBody>
                    <a:bodyPr/>
                    <a:lstStyle/>
                    <a:p>
                      <a:r>
                        <a:rPr sz="1450" b="1" i="0">
                          <a:solidFill>
                            <a:srgbClr val="FFFFFF"/>
                          </a:solidFill>
                          <a:latin typeface="Calibri"/>
                        </a:rPr>
                        <a:t>Target Canada, 2013 to 2015 (Target's release of 15 January 2015 and Canadian Business, checked 12 October 2026)</a:t>
                      </a:r>
                    </a:p>
                  </a:txBody>
                  <a:tcPr marL="101600" marR="101600" marT="38100" marB="38100" anchor="ctr">
                    <a:solidFill>
                      <a:srgbClr val="1A0F5C"/>
                    </a:solidFill>
                  </a:tcPr>
                </a:tc>
              </a:tr>
              <a:tr h="611632">
                <a:tc>
                  <a:txBody>
                    <a:bodyPr/>
                    <a:lstStyle/>
                    <a:p>
                      <a:r>
                        <a:rPr sz="1400" b="0" i="0">
                          <a:solidFill>
                            <a:srgbClr val="1A1440"/>
                          </a:solidFill>
                          <a:latin typeface="Calibri"/>
                        </a:rPr>
                        <a:t>The decision</a:t>
                      </a:r>
                    </a:p>
                  </a:txBody>
                  <a:tcPr marL="101600" marR="101600" marT="38100" marB="38100" anchor="ctr">
                    <a:solidFill>
                      <a:srgbClr val="FFFFFF"/>
                    </a:solidFill>
                  </a:tcPr>
                </a:tc>
                <a:tc>
                  <a:txBody>
                    <a:bodyPr/>
                    <a:lstStyle/>
                    <a:p>
                      <a:r>
                        <a:rPr sz="1400" b="0" i="0">
                          <a:solidFill>
                            <a:srgbClr val="1A1440"/>
                          </a:solidFill>
                          <a:latin typeface="Calibri"/>
                        </a:rPr>
                        <a:t>Target announced on 15 January 2015 that it would close all 133 Canadian stores, about 17,600 employees</a:t>
                      </a:r>
                    </a:p>
                  </a:txBody>
                  <a:tcPr marL="101600" marR="101600" marT="38100" marB="38100" anchor="ctr">
                    <a:solidFill>
                      <a:srgbClr val="FFFFFF"/>
                    </a:solidFill>
                  </a:tcPr>
                </a:tc>
              </a:tr>
              <a:tr h="853440">
                <a:tc>
                  <a:txBody>
                    <a:bodyPr/>
                    <a:lstStyle/>
                    <a:p>
                      <a:r>
                        <a:rPr sz="1400" b="0" i="0">
                          <a:solidFill>
                            <a:srgbClr val="1A1440"/>
                          </a:solidFill>
                          <a:latin typeface="Calibri"/>
                        </a:rPr>
                        <a:t>The forecasting failure</a:t>
                      </a:r>
                    </a:p>
                  </a:txBody>
                  <a:tcPr marL="101600" marR="101600" marT="38100" marB="38100" anchor="ctr">
                    <a:solidFill>
                      <a:srgbClr val="F4F2FA"/>
                    </a:solidFill>
                  </a:tcPr>
                </a:tc>
                <a:tc>
                  <a:txBody>
                    <a:bodyPr/>
                    <a:lstStyle/>
                    <a:p>
                      <a:r>
                        <a:rPr sz="1400" b="0" i="0">
                          <a:solidFill>
                            <a:srgbClr val="1A1440"/>
                          </a:solidFill>
                          <a:latin typeface="Calibri"/>
                        </a:rPr>
                        <a:t>Its forecasting and replenishment system needed years of sales history the new stores did not have, so buyers used optimistic projections from headquarters, and the item data feeding it was right about 30 percent of the time</a:t>
                      </a:r>
                    </a:p>
                  </a:txBody>
                  <a:tcPr marL="101600" marR="101600" marT="38100" marB="38100" anchor="ctr">
                    <a:solidFill>
                      <a:srgbClr val="F4F2FA"/>
                    </a:solidFill>
                  </a:tcPr>
                </a:tc>
              </a:tr>
              <a:tr h="369824">
                <a:tc>
                  <a:txBody>
                    <a:bodyPr/>
                    <a:lstStyle/>
                    <a:p>
                      <a:r>
                        <a:rPr sz="1400" b="0" i="0">
                          <a:solidFill>
                            <a:srgbClr val="1A1440"/>
                          </a:solidFill>
                          <a:latin typeface="Calibri"/>
                        </a:rPr>
                        <a:t>What followed</a:t>
                      </a:r>
                    </a:p>
                  </a:txBody>
                  <a:tcPr marL="101600" marR="101600" marT="38100" marB="38100" anchor="ctr">
                    <a:solidFill>
                      <a:srgbClr val="FFFFFF"/>
                    </a:solidFill>
                  </a:tcPr>
                </a:tc>
                <a:tc>
                  <a:txBody>
                    <a:bodyPr/>
                    <a:lstStyle/>
                    <a:p>
                      <a:r>
                        <a:rPr sz="1400" b="0" i="0">
                          <a:solidFill>
                            <a:srgbClr val="1A1440"/>
                          </a:solidFill>
                          <a:latin typeface="Calibri"/>
                        </a:rPr>
                        <a:t>Distribution centres overflowed while shelves sat barely stocked</a:t>
                      </a:r>
                    </a:p>
                  </a:txBody>
                  <a:tcPr marL="101600" marR="101600" marT="38100" marB="38100" anchor="ctr">
                    <a:solidFill>
                      <a:srgbClr val="FFFFFF"/>
                    </a:solidFill>
                  </a:tcPr>
                </a:tc>
              </a:tr>
            </a:tbl>
          </a:graphicData>
        </a:graphic>
      </p:graphicFrame>
      <p:sp>
        <p:nvSpPr>
          <p:cNvPr id="10" name="TextBox 9"/>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6B6690"/>
                </a:solidFill>
                <a:latin typeface="Calibri"/>
              </a:rPr>
              <a:t>Week 4, Day 5. Forecasting basics: the fallback hour</a:t>
            </a:r>
          </a:p>
        </p:txBody>
      </p:sp>
      <p:sp>
        <p:nvSpPr>
          <p:cNvPr id="11" name="TextBox 1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FORECASTING BASICS  ·  FALLBACK</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Two failures, and their Lucknow versions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check in today's plan would have caught each failure?</a:t>
            </a:r>
          </a:p>
        </p:txBody>
      </p:sp>
      <p:graphicFrame>
        <p:nvGraphicFramePr>
          <p:cNvPr id="9" name="Table 8"/>
          <p:cNvGraphicFramePr>
            <a:graphicFrameLocks noGrp="1"/>
          </p:cNvGraphicFramePr>
          <p:nvPr/>
        </p:nvGraphicFramePr>
        <p:xfrm>
          <a:off x="530352" y="1956816"/>
          <a:ext cx="11130990" cy="2560320"/>
        </p:xfrm>
        <a:graphic>
          <a:graphicData uri="http://schemas.openxmlformats.org/drawingml/2006/table">
            <a:tbl>
              <a:tblPr firstRow="0" bandRow="0">
                <a:tableStyleId>{2D5ABB26-0587-4C30-8999-92F81FD0307C}</a:tableStyleId>
              </a:tblPr>
              <a:tblGrid>
                <a:gridCol w="3706162"/>
                <a:gridCol w="3712414"/>
                <a:gridCol w="3712414"/>
              </a:tblGrid>
              <a:tr h="369824">
                <a:tc>
                  <a:txBody>
                    <a:bodyPr/>
                    <a:lstStyle/>
                    <a:p>
                      <a:r>
                        <a:rPr sz="1450" b="1" i="0">
                          <a:solidFill>
                            <a:srgbClr val="FFFFFF"/>
                          </a:solidFill>
                          <a:latin typeface="Calibri"/>
                        </a:rPr>
                        <a:t>The failure</a:t>
                      </a:r>
                    </a:p>
                  </a:txBody>
                  <a:tcPr marL="101600" marR="101600" marT="38100" marB="38100" anchor="ctr">
                    <a:solidFill>
                      <a:srgbClr val="1A0F5C"/>
                    </a:solidFill>
                  </a:tcPr>
                </a:tc>
                <a:tc>
                  <a:txBody>
                    <a:bodyPr/>
                    <a:lstStyle/>
                    <a:p>
                      <a:r>
                        <a:rPr sz="1450" b="1" i="0">
                          <a:solidFill>
                            <a:srgbClr val="FFFFFF"/>
                          </a:solidFill>
                          <a:latin typeface="Calibri"/>
                        </a:rPr>
                        <a:t>The Lucknow version</a:t>
                      </a:r>
                    </a:p>
                  </a:txBody>
                  <a:tcPr marL="101600" marR="101600" marT="38100" marB="38100" anchor="ctr">
                    <a:solidFill>
                      <a:srgbClr val="1A0F5C"/>
                    </a:solidFill>
                  </a:tcPr>
                </a:tc>
                <a:tc>
                  <a:txBody>
                    <a:bodyPr/>
                    <a:lstStyle/>
                    <a:p>
                      <a:r>
                        <a:rPr sz="1450" b="1" i="0">
                          <a:solidFill>
                            <a:srgbClr val="FFFFFF"/>
                          </a:solidFill>
                          <a:latin typeface="Calibri"/>
                        </a:rPr>
                        <a:t>The check that catches it</a:t>
                      </a:r>
                    </a:p>
                  </a:txBody>
                  <a:tcPr marL="101600" marR="101600" marT="38100" marB="38100" anchor="ctr">
                    <a:solidFill>
                      <a:srgbClr val="1A0F5C"/>
                    </a:solidFill>
                  </a:tcPr>
                </a:tc>
              </a:tr>
              <a:tr h="853440">
                <a:tc>
                  <a:txBody>
                    <a:bodyPr/>
                    <a:lstStyle/>
                    <a:p>
                      <a:r>
                        <a:rPr sz="1400" b="0" i="0">
                          <a:solidFill>
                            <a:srgbClr val="1A1440"/>
                          </a:solidFill>
                          <a:latin typeface="Calibri"/>
                        </a:rPr>
                        <a:t>Zillow: a forecast's error wider than its margin guardrail</a:t>
                      </a:r>
                    </a:p>
                  </a:txBody>
                  <a:tcPr marL="101600" marR="101600" marT="38100" marB="38100" anchor="ctr">
                    <a:solidFill>
                      <a:srgbClr val="FFFFFF"/>
                    </a:solidFill>
                  </a:tcPr>
                </a:tc>
                <a:tc>
                  <a:txBody>
                    <a:bodyPr/>
                    <a:lstStyle/>
                    <a:p>
                      <a:r>
                        <a:rPr sz="1400" b="0" i="0">
                          <a:solidFill>
                            <a:srgbClr val="1A1440"/>
                          </a:solidFill>
                          <a:latin typeface="Calibri"/>
                        </a:rPr>
                        <a:t>The vendor's curve, high on 12 of 13 hidden weeks and climbing</a:t>
                      </a:r>
                    </a:p>
                  </a:txBody>
                  <a:tcPr marL="101600" marR="101600" marT="38100" marB="38100" anchor="ctr">
                    <a:solidFill>
                      <a:srgbClr val="FFFFFF"/>
                    </a:solidFill>
                  </a:tcPr>
                </a:tc>
                <a:tc>
                  <a:txBody>
                    <a:bodyPr/>
                    <a:lstStyle/>
                    <a:p>
                      <a:r>
                        <a:rPr sz="1400" b="0" i="0">
                          <a:solidFill>
                            <a:srgbClr val="1A1440"/>
                          </a:solidFill>
                          <a:latin typeface="Calibri"/>
                        </a:rPr>
                        <a:t>Size the forecast's miss at the plan's horizon, and compare it with the cushion before booking</a:t>
                      </a:r>
                    </a:p>
                  </a:txBody>
                  <a:tcPr marL="101600" marR="101600" marT="38100" marB="38100" anchor="ctr">
                    <a:solidFill>
                      <a:srgbClr val="FFFFFF"/>
                    </a:solidFill>
                  </a:tcPr>
                </a:tc>
              </a:tr>
              <a:tr h="1337056">
                <a:tc>
                  <a:txBody>
                    <a:bodyPr/>
                    <a:lstStyle/>
                    <a:p>
                      <a:r>
                        <a:rPr sz="1400" b="0" i="0">
                          <a:solidFill>
                            <a:srgbClr val="1A1440"/>
                          </a:solidFill>
                          <a:latin typeface="Calibri"/>
                        </a:rPr>
                        <a:t>Target Canada: a forecast with no history</a:t>
                      </a:r>
                    </a:p>
                  </a:txBody>
                  <a:tcPr marL="101600" marR="101600" marT="38100" marB="38100" anchor="ctr">
                    <a:solidFill>
                      <a:srgbClr val="F4F2FA"/>
                    </a:solidFill>
                  </a:tcPr>
                </a:tc>
                <a:tc>
                  <a:txBody>
                    <a:bodyPr/>
                    <a:lstStyle/>
                    <a:p>
                      <a:r>
                        <a:rPr sz="1400" b="0" i="0">
                          <a:solidFill>
                            <a:srgbClr val="1A1440"/>
                          </a:solidFill>
                          <a:latin typeface="Calibri"/>
                        </a:rPr>
                        <a:t>A vendor model never scored on a Lucknow festival</a:t>
                      </a:r>
                    </a:p>
                  </a:txBody>
                  <a:tcPr marL="101600" marR="101600" marT="38100" marB="38100" anchor="ctr">
                    <a:solidFill>
                      <a:srgbClr val="F4F2FA"/>
                    </a:solidFill>
                  </a:tcPr>
                </a:tc>
                <a:tc>
                  <a:txBody>
                    <a:bodyPr/>
                    <a:lstStyle/>
                    <a:p>
                      <a:r>
                        <a:rPr sz="1400" b="0" i="0">
                          <a:solidFill>
                            <a:srgbClr val="1A1440"/>
                          </a:solidFill>
                          <a:latin typeface="Calibri"/>
                        </a:rPr>
                        <a:t>Score it on 2025's festival from data to September 2025 before it books a shift; with no history at all, size from the ground up and keep capacity that can stretch</a:t>
                      </a:r>
                    </a:p>
                  </a:txBody>
                  <a:tcPr marL="101600" marR="101600" marT="38100" marB="38100" anchor="ctr">
                    <a:solidFill>
                      <a:srgbClr val="F4F2FA"/>
                    </a:solidFill>
                  </a:tcPr>
                </a:tc>
              </a:tr>
            </a:tbl>
          </a:graphicData>
        </a:graphic>
      </p:graphicFrame>
      <p:sp>
        <p:nvSpPr>
          <p:cNvPr id="10" name="TextBox 9"/>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6B6690"/>
                </a:solidFill>
                <a:latin typeface="Calibri"/>
              </a:rPr>
              <a:t>Week 4, Day 5. Forecasting basics: the fallback hour</a:t>
            </a:r>
          </a:p>
        </p:txBody>
      </p:sp>
      <p:sp>
        <p:nvSpPr>
          <p:cNvPr id="11" name="TextBox 1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FORECASTING BASICS  ·  FALLBACK</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[D] Finance and the sponsor each want theirs</a:t>
            </a:r>
          </a:p>
        </p:txBody>
      </p:sp>
      <p:sp>
        <p:nvSpPr>
          <p:cNvPr id="8" name="TextBox 7"/>
          <p:cNvSpPr txBox="1"/>
          <p:nvPr/>
        </p:nvSpPr>
        <p:spPr>
          <a:xfrm>
            <a:off x="530352" y="1243584"/>
            <a:ext cx="11130991" cy="399796"/>
          </a:xfrm>
          <a:prstGeom prst="rect">
            <a:avLst/>
          </a:prstGeom>
          <a:noFill/>
        </p:spPr>
        <p:txBody>
          <a:bodyPr wrap="square" anchor="t" lIns="0" rIns="0" tIns="0" bIns="0">
            <a:spAutoFit/>
          </a:bodyPr>
          <a:lstStyle/>
          <a:p>
            <a:pPr algn="l"/>
            <a:r>
              <a:rPr sz="1100" b="0" i="0">
                <a:solidFill>
                  <a:srgbClr val="6B6690"/>
                </a:solidFill>
                <a:latin typeface="Calibri"/>
              </a:rPr>
              <a:t>How does a candidate choose between two stakeholders' forecasts and present the error? [D] tags a differentiator, a question that separates strong candidates.</a:t>
            </a:r>
          </a:p>
        </p:txBody>
      </p:sp>
      <p:graphicFrame>
        <p:nvGraphicFramePr>
          <p:cNvPr id="9" name="Table 8"/>
          <p:cNvGraphicFramePr>
            <a:graphicFrameLocks noGrp="1"/>
          </p:cNvGraphicFramePr>
          <p:nvPr/>
        </p:nvGraphicFramePr>
        <p:xfrm>
          <a:off x="530352" y="1956816"/>
          <a:ext cx="11130990" cy="2204720"/>
        </p:xfrm>
        <a:graphic>
          <a:graphicData uri="http://schemas.openxmlformats.org/drawingml/2006/table">
            <a:tbl>
              <a:tblPr firstRow="0" bandRow="0">
                <a:tableStyleId>{2D5ABB26-0587-4C30-8999-92F81FD0307C}</a:tableStyleId>
              </a:tblPr>
              <a:tblGrid>
                <a:gridCol w="5565495"/>
                <a:gridCol w="5565495"/>
              </a:tblGrid>
              <a:tr h="369824">
                <a:tc>
                  <a:txBody>
                    <a:bodyPr/>
                    <a:lstStyle/>
                    <a:p>
                      <a:r>
                        <a:rPr sz="1450" b="1" i="0">
                          <a:solidFill>
                            <a:srgbClr val="FFFFFF"/>
                          </a:solidFill>
                          <a:latin typeface="Calibri"/>
                        </a:rPr>
                        <a:t>A weak answer</a:t>
                      </a:r>
                    </a:p>
                  </a:txBody>
                  <a:tcPr marL="101600" marR="101600" marT="38100" marB="38100" anchor="ctr">
                    <a:solidFill>
                      <a:srgbClr val="1A0F5C"/>
                    </a:solidFill>
                  </a:tcPr>
                </a:tc>
                <a:tc>
                  <a:txBody>
                    <a:bodyPr/>
                    <a:lstStyle/>
                    <a:p>
                      <a:r>
                        <a:rPr sz="1450" b="1" i="0">
                          <a:solidFill>
                            <a:srgbClr val="FFFFFF"/>
                          </a:solidFill>
                          <a:latin typeface="Calibri"/>
                        </a:rPr>
                        <a:t>A hire-grade answer</a:t>
                      </a:r>
                    </a:p>
                  </a:txBody>
                  <a:tcPr marL="101600" marR="101600" marT="38100" marB="38100" anchor="ctr">
                    <a:solidFill>
                      <a:srgbClr val="1A0F5C"/>
                    </a:solidFill>
                  </a:tcPr>
                </a:tc>
              </a:tr>
              <a:tr h="611632">
                <a:tc>
                  <a:txBody>
                    <a:bodyPr/>
                    <a:lstStyle/>
                    <a:p>
                      <a:r>
                        <a:rPr sz="1400" b="0" i="0">
                          <a:solidFill>
                            <a:srgbClr val="1A1440"/>
                          </a:solidFill>
                          <a:latin typeface="Calibri"/>
                        </a:rPr>
                        <a:t>"I would go with the vendor, trimmed toward finance: plus 13 percent."</a:t>
                      </a:r>
                    </a:p>
                  </a:txBody>
                  <a:tcPr marL="101600" marR="101600" marT="38100" marB="38100" anchor="ctr">
                    <a:solidFill>
                      <a:srgbClr val="FFFFFF"/>
                    </a:solidFill>
                  </a:tcPr>
                </a:tc>
                <a:tc>
                  <a:txBody>
                    <a:bodyPr/>
                    <a:lstStyle/>
                    <a:p>
                      <a:r>
                        <a:rPr sz="1400" b="0" i="0">
                          <a:solidFill>
                            <a:srgbClr val="1A1440"/>
                          </a:solidFill>
                          <a:latin typeface="Calibri"/>
                        </a:rPr>
                        <a:t>"I would score both on weeks neither saw, against a copy of last year, in shipments and in rupees."</a:t>
                      </a:r>
                    </a:p>
                  </a:txBody>
                  <a:tcPr marL="101600" marR="101600" marT="38100" marB="38100" anchor="ctr">
                    <a:solidFill>
                      <a:srgbClr val="FFFFFF"/>
                    </a:solidFill>
                  </a:tcPr>
                </a:tc>
              </a:tr>
              <a:tr h="611632">
                <a:tc>
                  <a:txBody>
                    <a:bodyPr/>
                    <a:lstStyle/>
                    <a:p>
                      <a:r>
                        <a:rPr sz="1400" b="0" i="0">
                          <a:solidFill>
                            <a:srgbClr val="1A1440"/>
                          </a:solidFill>
                          <a:latin typeface="Calibri"/>
                        </a:rPr>
                        <a:t>Picks the more senior stakeholder's number</a:t>
                      </a:r>
                    </a:p>
                  </a:txBody>
                  <a:tcPr marL="101600" marR="101600" marT="38100" marB="38100" anchor="ctr">
                    <a:solidFill>
                      <a:srgbClr val="F4F2FA"/>
                    </a:solidFill>
                  </a:tcPr>
                </a:tc>
                <a:tc>
                  <a:txBody>
                    <a:bodyPr/>
                    <a:lstStyle/>
                    <a:p>
                      <a:r>
                        <a:rPr sz="1400" b="0" i="0">
                          <a:solidFill>
                            <a:srgbClr val="1A1440"/>
                          </a:solidFill>
                          <a:latin typeface="Calibri"/>
                        </a:rPr>
                        <a:t>Concedes what is true in each: finance's growth, the vendor's tilt to the cheap side</a:t>
                      </a:r>
                    </a:p>
                  </a:txBody>
                  <a:tcPr marL="101600" marR="101600" marT="38100" marB="38100" anchor="ctr">
                    <a:solidFill>
                      <a:srgbClr val="F4F2FA"/>
                    </a:solidFill>
                  </a:tcPr>
                </a:tc>
              </a:tr>
              <a:tr h="611632">
                <a:tc>
                  <a:txBody>
                    <a:bodyPr/>
                    <a:lstStyle/>
                    <a:p>
                      <a:r>
                        <a:rPr sz="1400" b="0" i="0">
                          <a:solidFill>
                            <a:srgbClr val="1A1440"/>
                          </a:solidFill>
                          <a:latin typeface="Calibri"/>
                        </a:rPr>
                        <a:t>Gives one number with no range</a:t>
                      </a:r>
                    </a:p>
                  </a:txBody>
                  <a:tcPr marL="101600" marR="101600" marT="38100" marB="38100" anchor="ctr">
                    <a:solidFill>
                      <a:srgbClr val="FFFFFF"/>
                    </a:solidFill>
                  </a:tcPr>
                </a:tc>
                <a:tc>
                  <a:txBody>
                    <a:bodyPr/>
                    <a:lstStyle/>
                    <a:p>
                      <a:r>
                        <a:rPr sz="1400" b="0" i="0">
                          <a:solidFill>
                            <a:srgbClr val="1A1440"/>
                          </a:solidFill>
                          <a:latin typeface="Calibri"/>
                        </a:rPr>
                        <a:t>Gives the plan, its error bar in each direction, and what would change it</a:t>
                      </a:r>
                    </a:p>
                  </a:txBody>
                  <a:tcPr marL="101600" marR="101600" marT="38100" marB="38100" anchor="ctr">
                    <a:solidFill>
                      <a:srgbClr val="FFFFFF"/>
                    </a:solidFill>
                  </a:tcPr>
                </a:tc>
              </a:tr>
            </a:tbl>
          </a:graphicData>
        </a:graphic>
      </p:graphicFrame>
      <p:sp>
        <p:nvSpPr>
          <p:cNvPr id="10" name="TextBox 9"/>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6B6690"/>
                </a:solidFill>
                <a:latin typeface="Calibri"/>
              </a:rPr>
              <a:t>Week 4, Day 5. Forecasting basics: the fallback hour</a:t>
            </a:r>
          </a:p>
        </p:txBody>
      </p:sp>
      <p:sp>
        <p:nvSpPr>
          <p:cNvPr id="11" name="TextBox 1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FORECASTING BASICS  ·  FALLBACK</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Close: the rule that holds without the session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survives this hour, whether or not the faculty session (tentative) runs?</a:t>
            </a:r>
          </a:p>
        </p:txBody>
      </p:sp>
      <p:sp>
        <p:nvSpPr>
          <p:cNvPr id="9" name="Rounded Rectangle 8"/>
          <p:cNvSpPr/>
          <p:nvPr/>
        </p:nvSpPr>
        <p:spPr>
          <a:xfrm>
            <a:off x="53035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ruler_ec66f5961a99.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TEST</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As long as the plan</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Hide at least as many weeks as the plan reaches ahead, from one origin.</a:t>
            </a:r>
          </a:p>
        </p:txBody>
      </p:sp>
      <p:sp>
        <p:nvSpPr>
          <p:cNvPr id="15" name="Rounded Rectangle 14"/>
          <p:cNvSpPr/>
          <p:nvPr/>
        </p:nvSpPr>
        <p:spPr>
          <a:xfrm>
            <a:off x="430164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calendar_52de2a000930.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FESTIVAL</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Copy by distance from Diwali</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One week ahead, naive missed by 71,180 through the festival.</a:t>
            </a:r>
          </a:p>
        </p:txBody>
      </p:sp>
      <p:sp>
        <p:nvSpPr>
          <p:cNvPr id="21" name="Rounded Rectangle 20"/>
          <p:cNvSpPr/>
          <p:nvPr/>
        </p:nvSpPr>
        <p:spPr>
          <a:xfrm>
            <a:off x="8072932" y="1956816"/>
            <a:ext cx="3588410" cy="1964436"/>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badge-check_df01016c75a5.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THE PLAN</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Beat the bot, then price it</a:t>
            </a:r>
          </a:p>
        </p:txBody>
      </p:sp>
      <p:sp>
        <p:nvSpPr>
          <p:cNvPr id="26" name="TextBox 25"/>
          <p:cNvSpPr txBox="1"/>
          <p:nvPr/>
        </p:nvSpPr>
        <p:spPr>
          <a:xfrm>
            <a:off x="8274100" y="3303524"/>
            <a:ext cx="3186074" cy="399796"/>
          </a:xfrm>
          <a:prstGeom prst="rect">
            <a:avLst/>
          </a:prstGeom>
          <a:noFill/>
        </p:spPr>
        <p:txBody>
          <a:bodyPr wrap="square" anchor="t" lIns="0" rIns="0" tIns="0" bIns="0">
            <a:spAutoFit/>
          </a:bodyPr>
          <a:lstStyle/>
          <a:p>
            <a:pPr algn="l"/>
            <a:r>
              <a:rPr sz="1100" b="0" i="0">
                <a:solidFill>
                  <a:srgbClr val="CFC9EE"/>
                </a:solidFill>
                <a:latin typeface="Calibri"/>
              </a:rPr>
              <a:t>Nothing books a shift until it beats a copy of last year on hidden weeks.</a:t>
            </a:r>
          </a:p>
        </p:txBody>
      </p:sp>
      <p:sp>
        <p:nvSpPr>
          <p:cNvPr id="27" name="TextBox 2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6B6690"/>
                </a:solidFill>
                <a:latin typeface="Calibri"/>
              </a:rPr>
              <a:t>Week 4, Day 5. Forecasting basics: the fallback hour</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