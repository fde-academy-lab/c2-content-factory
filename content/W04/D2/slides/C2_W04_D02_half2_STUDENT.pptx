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straight after lunch. Two turns of seven minutes, then six to rebuild, as the</a:t>
            </a:r>
          </a:p>
          <a:p>
            <a:r>
              <a:t>trainer's studio run sheet sets round two. The member who presented first in round one objects first</a:t>
            </a:r>
          </a:p>
          <a:p>
            <a:r>
              <a:t>now. Collect the rebuilt slides; two groups present theirs to the room at the close if the slack</a:t>
            </a:r>
          </a:p>
          <a:p>
            <a:r>
              <a:t>allows.</a:t>
            </a:r>
          </a:p>
          <a:p>
            <a:r>
              <a:t>Transition: chapter 6, the guesstimate, on a campus canteen.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4 of 5, 30 minutes, after the second studio round. The canteen,</a:t>
            </a:r>
          </a:p>
          <a:p>
            <a:r>
              <a:t>its till, the town, the phone pack and the school's pass rate are invented. Laptops stay shut until</a:t>
            </a:r>
          </a:p>
          <a:p>
            <a:r>
              <a:t>the code glimpse.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decision often cannot wait for data, which is why the method exists, and an</a:t>
            </a:r>
          </a:p>
          <a:p>
            <a:r>
              <a:t>interviewer asks for one because it shows how a person thinks. Read the four questions. Transition:</a:t>
            </a:r>
          </a:p>
          <a:p>
            <a:r>
              <a:t>before any method, everyone writes a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Rosling move first: everyone writes a number on paper before the candidates</a:t>
            </a:r>
          </a:p>
          <a:p>
            <a:r>
              <a:t>appear, and three learners read theirs out. Then the vote, a minute with a neighbour, the vote</a:t>
            </a:r>
          </a:p>
          <a:p>
            <a:r>
              <a:t>again. The misconception to say aloud: "the answer is what matters."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each step; the one first estimates skip is the fourth. Sources, both</a:t>
            </a:r>
          </a:p>
          <a:p>
            <a:r>
              <a:t>checked 13 October 2026: Think Insights, "Guesstimates" (3 December 2018), the row's own reference;</a:t>
            </a:r>
          </a:p>
          <a:p>
            <a:r>
              <a:t>and Aced's guide to analyst interviews, whose interviewer "isn't looking for a precise number". A</a:t>
            </a:r>
          </a:p>
          <a:p>
            <a:r>
              <a:t>number that is wildly off still costs the answer, which is why step 4 exists. Transition: the four</a:t>
            </a:r>
          </a:p>
          <a:p>
            <a:r>
              <a:t>steps, run on the canteen.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the room for each value and its range, write the one it settles on, and say the</a:t>
            </a:r>
          </a:p>
          <a:p>
            <a:r>
              <a:t>running product aloud: 3,000, then 1,350 who buy, then 2,700 cups. Units multiply too: students x</a:t>
            </a:r>
          </a:p>
          <a:p>
            <a:r>
              <a:t>(buyers per student) x (cups per buyer) = cups. Callback: the map has the shape of Week 1's revenue</a:t>
            </a:r>
          </a:p>
          <a:p>
            <a:r>
              <a:t>tree, a chain of factors multiplied. Transition: which guess moves the answer most.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Move one factor at a time, the others held: that is what each bar is. A range that</a:t>
            </a:r>
          </a:p>
          <a:p>
            <a:r>
              <a:t>spans more than twice its low end tells the canteen head which number to count before ordering.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till is the right check: it counts cups, on a weekday, of tea sold. Then the</a:t>
            </a:r>
          </a:p>
          <a:p>
            <a:r>
              <a:t>three tests, which stay on the board all afternoon: unit, period, definition. The unit test's</a:t>
            </a:r>
          </a:p>
          <a:p>
            <a:r>
              <a:t>example is the trap on the next slide.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Read the wrong sentence confidently, as an interviewee would. Ask which</a:t>
            </a:r>
          </a:p>
          <a:p>
            <a:r>
              <a:t>of the four steps was skipped: clarify, since the unit was never written down. Then the code, in</a:t>
            </a:r>
          </a:p>
          <a:p>
            <a:r>
              <a:t>plain words: the ledger's three central guesses multiplied, the till averaged, the gap printed.</a:t>
            </a:r>
          </a:p>
          <a:p>
            <a:r>
              <a:t>Notebook 06 runs every step and all three tests.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known number checks the canteen's weekday estimate: the till</a:t>
            </a:r>
          </a:p>
          <a:p>
            <a:r>
              <a:t>for one weekday, the month's total takings, the coffee count, or the campus head count?" The till</a:t>
            </a:r>
          </a:p>
          <a:p>
            <a:r>
              <a:t>for one weekday: same unit, period and definition. Fill the map's fourth box. Transition: chapter</a:t>
            </a:r>
          </a:p>
          <a:p>
            <a:r>
              <a:t>7,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5 of 5, 10 minutes. Ramesh's shop returns from chapter 1, with the</a:t>
            </a:r>
          </a:p>
          <a:p>
            <a:r>
              <a:t>same invented numbers.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is written because the people who decide read it when the presenter is</a:t>
            </a:r>
          </a:p>
          <a:p>
            <a:r>
              <a:t>not there. It is handed in and read against a short checklist, with nothing graded. Transition: two</a:t>
            </a:r>
          </a:p>
          <a:p>
            <a:r>
              <a:t>openings.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aloud: "a business case needs a spreadsheet and ten</a:t>
            </a:r>
          </a:p>
          <a:p>
            <a:r>
              <a:t>pages." Letter cards up. Transition: the reveal, and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suits Thursday, a slide or a memo: there is no single answer, and the</a:t>
            </a:r>
          </a:p>
          <a:p>
            <a:r>
              <a:t>afternoon's page is the memo form of the morning's slide. Transition: Ramesh's page,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Read the page aloud in under a minute, then point at the order: the</a:t>
            </a:r>
          </a:p>
          <a:p>
            <a:r>
              <a:t>caveat comes before the action, so the reader meets the doubt before the cost. Transition: what</a:t>
            </a:r>
          </a:p>
          <a:p>
            <a:r>
              <a:t>the draft carried that the page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counts come from the page itself: nine lines and 13 numbers on the draft, four</a:t>
            </a:r>
          </a:p>
          <a:p>
            <a:r>
              <a:t>sentences and 7 numbers on the page, four method words against none. Notebook 07 counts them in</a:t>
            </a:r>
          </a:p>
          <a:p>
            <a:r>
              <a:t>three lines and runs the five rules of S69 on both versions: the draft passes none of them.</a:t>
            </a:r>
          </a:p>
          <a:p>
            <a:r>
              <a:t>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"a spreadsheet is attached to the page; which one thing</a:t>
            </a:r>
          </a:p>
          <a:p>
            <a:r>
              <a:t>must still be on the page itself?" The claim, as its first sentence, since the reader may never</a:t>
            </a:r>
          </a:p>
          <a:p>
            <a:r>
              <a:t>open the attachment. Fill the map's last box: all five topics are now taught. Transition: chapter</a:t>
            </a:r>
          </a:p>
          <a:p>
            <a:r>
              <a:t>8, the guesstimate applied to Uber.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L5 of the ladder on an estimate, 37 minutes: 25 on the</a:t>
            </a:r>
          </a:p>
          <a:p>
            <a:r>
              <a:t>drivers worked together and 12 on UPI in pairs. Styles: Brilliant (the chapter opens on which</a:t>
            </a:r>
          </a:p>
          <a:p>
            <a:r>
              <a:t>number would check it), StatQuest (round numbers spoken aloud, the running product on the board),</a:t>
            </a:r>
          </a:p>
          <a:p>
            <a:r>
              <a:t>explorable explanations (the week's explorer at content/W04/D1/demos/C2_W04_D01_week_explorer_STUDENT.html, scene T3,</a:t>
            </a:r>
          </a:p>
          <a:p>
            <a:r>
              <a:t>the guesstimate tree with a slider per factor).</a:t>
            </a:r>
          </a:p>
          <a:p>
            <a:r>
              <a:t>Mid-session drill 2, four estimates and their checks, is in exercises/unguided for the lab if the</a:t>
            </a:r>
          </a:p>
          <a:p>
            <a:r>
              <a:t>room runs short here.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canteen taught the four steps this afternoon; here they meet a number a city head</a:t>
            </a:r>
          </a:p>
          <a:p>
            <a:r>
              <a:t>will spend money on. Transition: which number would check this estimate.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Expect a, because it is the only number</a:t>
            </a:r>
          </a:p>
          <a:p>
            <a:r>
              <a:t>on the list the room has seen. Chapter 6's three tests decide it.</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at the three words on the board since chapter 6: unit, period, definition.</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Chapter 6's first step, on the city. Ask the room for the clarifying questions before showing the table. A candidate</a:t>
            </a:r>
          </a:p>
          <a:p>
            <a:r>
              <a:t>who skips this step is the one who lands on the trap at S78.</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30 seconds.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Trips per person is also the first number to replace: Uber's own dashboard holds</a:t>
            </a:r>
          </a:p>
          <a:p>
            <a:r>
              <a:t>peak trips an hour. The idle share is the assumption Monday showed moving. Explorer scene T3 shows the</a:t>
            </a:r>
          </a:p>
          <a:p>
            <a:r>
              <a:t>same swing: drag the trips-per-person slider from end to end.</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Three minutes to set up, seven on the clock. Collect three pairs' estimates on</a:t>
            </a:r>
          </a:p>
          <a:p>
            <a:r>
              <a:t>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published versions of chapter 6's three tests, one line each: each trap fails</a:t>
            </a:r>
          </a:p>
          <a:p>
            <a:r>
              <a:t>one of the three tests on the board, unit, period or definition.</a:t>
            </a:r>
          </a:p>
          <a:p>
            <a:r>
              <a:t>In 2018 DMRC's line-utilisation count tallied a trip across three lines three times (PTI, 30 May</a:t>
            </a:r>
          </a:p>
          <a:p>
            <a:r>
              <a:t>2018), another definition trap.</a:t>
            </a:r>
          </a:p>
          <a:p>
            <a:r>
              <a:t>Transition: what chapter 8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Then the break, 10 minutes.</a:t>
            </a:r>
          </a:p>
          <a:p>
            <a:r>
              <a:t>Transition: after the break, the page to the city head.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fourth case chapter, L5 in writing, 35 minutes, individual and AI-free. Style:</a:t>
            </a:r>
          </a:p>
          <a:p>
            <a:r>
              <a:t>Feynman (plain words a driver would follow), Minto (the answer first). Transition: what the chapter</a:t>
            </a:r>
          </a:p>
          <a:p>
            <a:r>
              <a:t>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Ramesh's page this afternoon was the worked example; the brief comes next.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checklist handed back after the slot is S69's five rules as five questions: the</a:t>
            </a:r>
          </a:p>
          <a:p>
            <a:r>
              <a:t>claim first with what to do and why, one number with what it is divided by and its window, the</a:t>
            </a:r>
          </a:p>
          <a:p>
            <a:r>
              <a:t>caveat before the action, the action with its cost and who signs, and no method word. Nothing is</a:t>
            </a:r>
          </a:p>
          <a:p>
            <a:r>
              <a:t>graded. Chapter 7's page for Ramesh is the worked example.</a:t>
            </a:r>
          </a:p>
          <a:p>
            <a:r>
              <a:t>Transition: the thirty-five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32 minutes of silent writing; with the 3 minutes of the chapter's opener, S83 and S84 the</a:t>
            </a:r>
          </a:p>
          <a:p>
            <a:r>
              <a:t>chapter is the 35 the brief names. Walk once early to answer scope questions and once near the</a:t>
            </a:r>
          </a:p>
          <a:p>
            <a:r>
              <a:t>end to signal the clock. No teaching inside the slot. Notebook 09 is for after the page is handed</a:t>
            </a:r>
          </a:p>
          <a:p>
            <a:r>
              <a:t>in: it recounts the brief's numbers and runs chapter 7's page rules on a typed copy.</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fifth case chapter, L6 of the ladder, 12 minutes: transcript 1 read in pairs</a:t>
            </a:r>
          </a:p>
          <a:p>
            <a:r>
              <a:t>and scored; transcript 2 and transcript 3, the AI-company variant, are the evening's reading, from</a:t>
            </a:r>
          </a:p>
          <a:p>
            <a:r>
              <a:t>extras/C2_W04_D02_interview_room_STUDENT.md with the scorecard. Style: interview rehearsal on</a:t>
            </a:r>
          </a:p>
          <a:p>
            <a:r>
              <a:t>annotated answers. 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(it rose on the</a:t>
            </a:r>
          </a:p>
          <a:p>
            <a:r>
              <a:t>880 outside the idle tail, who drove about 4 percent more hours at an unchanged Rs 313.5 an hour,</a:t>
            </a:r>
          </a:p>
          <a:p>
            <a:r>
              <a:t>while the idle tail doubled its hours for 12 percent fewer trips and the 140 joiners pulled the read</a:t>
            </a:r>
          </a:p>
          <a:p>
            <a:r>
              <a:t>down), is in extras/C2_W04_D02_interview_room_STUDENT.md, and notebook 10 recomputes the numbers it</a:t>
            </a:r>
          </a:p>
          <a:p>
            <a:r>
              <a:t>speaks.</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8 minutes, the evening's reading with the scorecard. Hire-grade lines for the follow-ups: the case's hours with no trip (22 and 38</a:t>
            </a:r>
          </a:p>
          <a:p>
            <a:r>
              <a:t>percent) are looser than idle at a moment, and like for like, its trips per hour before the launch,</a:t>
            </a:r>
          </a:p>
          <a:p>
            <a:r>
              <a:t>when the wait held at 4.8 minutes, give an idle share of about 0.21 and about 5,000 drivers;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6 minutes, the evening's reading. Ask yourself which of the morning's three objections this resembles. Expect marketing's:</a:t>
            </a:r>
          </a:p>
          <a:p>
            <a:r>
              <a:t>both keep the visible number while the north star does the judging. Check the units: 32 of 100</a:t>
            </a:r>
          </a:p>
          <a:p>
            <a:r>
              <a:t>suggestions accepted, and a fifth of those deleted, leaves about 26 of 100 suggestions shown; a</a:t>
            </a:r>
          </a:p>
          <a:p>
            <a:r>
              <a:t>share of characters would not multiply into a share of suggestions.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close's first part. One line each; ask the room which one bit them today.</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its five topics, their</a:t>
            </a:r>
          </a:p>
          <a:p>
            <a:r>
              <a:t>words and the Instamart ticket's first lines, terms only. Then say the handoff line, as the day sheet has it: "You can</a:t>
            </a:r>
          </a:p>
          <a:p>
            <a:r>
              <a:t>now put a number in front of the people who lose under it and size one from nothing. Tomorrow opens</a:t>
            </a:r>
          </a:p>
          <a:p>
            <a:r>
              <a:t>on five topics about counting what goes with what, then a strip that suggests what goes with what,</a:t>
            </a:r>
          </a:p>
          <a:p>
            <a:r>
              <a:t>and a click-through that fell when the strip began trusting counts. Read the topics and their words</a:t>
            </a:r>
          </a:p>
          <a:p>
            <a:r>
              <a:t>tonight; we count them by hand first."</a:t>
            </a:r>
          </a:p>
          <a:p>
            <a:r>
              <a:t>With the 6 minutes of slack, read three handed-in pages aloud, one strong part each.</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9.png"/><Relationship Id="rId6"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Each group keeps its threes. </a:t>
            </a:r>
            <a:r>
              <a:rPr sz="1500" b="0" i="0">
                <a:solidFill>
                  <a:srgbClr val="1A1440"/>
                </a:solidFill>
                <a:latin typeface="Calibri"/>
              </a:rPr>
              <a:t>Each presenter now shows the slide rebuilt after round one, and answers each objection by naming the appendix page, from the drawer on S51, that holds the detail.</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seats rotate through two turns of seven minutes, and then everyone has six minutes to rebuild their slide</a:t>
            </a:r>
            <a:r>
              <a:rPr sz="1600" b="0" i="0">
                <a:solidFill>
                  <a:srgbClr val="1A1440"/>
                </a:solidFill>
                <a:latin typeface="Calibri"/>
              </a:rPr>
              <a:t> with what the objections showed.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1 / 44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guesstimate: clarify, map, calculate, validate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an unknown?</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taught on a campus canteen's tea, invented for this chapter: a number nobody has measured, built from guesses you can defend, given as a range, and checked against something counted the same 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sizes what nobody has measured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guesstimate: clarify, map, calculate, validate.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canteen head (invented), who must order milk for a weekday before any till report exists, and any interviewer who asks for a number aloud. A </a:t>
            </a:r>
            <a:r>
              <a:rPr sz="1500" b="1" i="0">
                <a:solidFill>
                  <a:srgbClr val="1A1440"/>
                </a:solidFill>
                <a:latin typeface="Calibri"/>
              </a:rPr>
              <a:t>guesstimate</a:t>
            </a:r>
            <a:r>
              <a:rPr sz="1500" b="0" i="0">
                <a:solidFill>
                  <a:srgbClr val="1A1440"/>
                </a:solidFill>
                <a:latin typeface="Calibri"/>
              </a:rPr>
              <a:t> is a rough count of something nobody has measured; an </a:t>
            </a:r>
            <a:r>
              <a:rPr sz="1500" b="1" i="0">
                <a:solidFill>
                  <a:srgbClr val="1A1440"/>
                </a:solidFill>
                <a:latin typeface="Calibri"/>
              </a:rPr>
              <a:t>assumption</a:t>
            </a:r>
            <a:r>
              <a:rPr sz="1500" b="0" i="0">
                <a:solidFill>
                  <a:srgbClr val="1A1440"/>
                </a:solidFill>
                <a:latin typeface="Calibri"/>
              </a:rPr>
              <a:t> is a guess said aloud with its range; the </a:t>
            </a:r>
            <a:r>
              <a:rPr sz="1500" b="1" i="0">
                <a:solidFill>
                  <a:srgbClr val="1A1440"/>
                </a:solidFill>
                <a:latin typeface="Calibri"/>
              </a:rPr>
              <a:t>range</a:t>
            </a:r>
            <a:r>
              <a:rPr sz="1500" b="0" i="0">
                <a:solidFill>
                  <a:srgbClr val="1A1440"/>
                </a:solidFill>
                <a:latin typeface="Calibri"/>
              </a:rPr>
              <a:t> is the lowest and highest answer you would still defend.</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unit, the period, what counts.</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factors multiply into it?</a:t>
            </a:r>
          </a:p>
        </p:txBody>
      </p:sp>
      <p:sp>
        <p:nvSpPr>
          <p:cNvPr id="25" name="TextBox 24"/>
          <p:cNvSpPr txBox="1"/>
          <p:nvPr/>
        </p:nvSpPr>
        <p:spPr>
          <a:xfrm>
            <a:off x="3523411"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chain, each factor a guess said aloud.</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factor sets the range?</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Each guess moved to its ends.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Is the answer sane?</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Checked against a number someone counted.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3 / 44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scores higher, the chain or the near guess?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Write your own number for the cups of tea the campus canteen (invented) sells on a weekday. Then judge two candidates.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Candidate A: </a:t>
            </a:r>
            <a:r>
              <a:rPr sz="1500" b="0" i="0">
                <a:solidFill>
                  <a:srgbClr val="1A1440"/>
                </a:solidFill>
                <a:latin typeface="Calibri"/>
              </a:rPr>
              <a:t>"Students on campus times the share who buy tea times cups each: 3,000 x 0.45 x 2 = 2,700 cups. Checked against the till it runs high, so the share is the guess I would replace with a count first."</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Candidate B: </a:t>
            </a:r>
            <a:r>
              <a:rPr sz="1500" b="0" i="0">
                <a:solidFill>
                  <a:srgbClr val="1A1440"/>
                </a:solidFill>
                <a:latin typeface="Calibri"/>
              </a:rPr>
              <a:t>"About 2,350 cups."</a:t>
            </a:r>
          </a:p>
        </p:txBody>
      </p:sp>
      <p:sp>
        <p:nvSpPr>
          <p:cNvPr id="15" name="TextBox 14"/>
          <p:cNvSpPr txBox="1"/>
          <p:nvPr/>
        </p:nvSpPr>
        <p:spPr>
          <a:xfrm>
            <a:off x="530352" y="3634740"/>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till's five weekdays average 2,340 cups.</a:t>
            </a:r>
          </a:p>
          <a:p>
            <a:pPr>
              <a:spcAft>
                <a:spcPts val="800"/>
              </a:spcAft>
            </a:pPr>
            <a:r>
              <a:rPr sz="1600" b="0" i="0">
                <a:solidFill>
                  <a:srgbClr val="1A1440"/>
                </a:solidFill>
                <a:latin typeface="Calibri"/>
              </a:rPr>
              <a:t>a) B scores higher, because 2,350 sits ten cups from the till</a:t>
            </a:r>
          </a:p>
          <a:p>
            <a:pPr>
              <a:spcAft>
                <a:spcPts val="800"/>
              </a:spcAft>
            </a:pPr>
            <a:r>
              <a:rPr sz="1600" b="0" i="0">
                <a:solidFill>
                  <a:srgbClr val="1A1440"/>
                </a:solidFill>
                <a:latin typeface="Calibri"/>
              </a:rPr>
              <a:t>b) A scores higher, because the chain and the check show how the number was built</a:t>
            </a:r>
          </a:p>
          <a:p>
            <a:pPr>
              <a:spcAft>
                <a:spcPts val="800"/>
              </a:spcAft>
            </a:pPr>
            <a:r>
              <a:rPr sz="1600" b="0" i="0">
                <a:solidFill>
                  <a:srgbClr val="1A1440"/>
                </a:solidFill>
                <a:latin typeface="Calibri"/>
              </a:rPr>
              <a:t>c) They score the same, because both landed near the till</a:t>
            </a:r>
          </a:p>
          <a:p>
            <a:pPr>
              <a:spcAft>
                <a:spcPts val="800"/>
              </a:spcAft>
            </a:pPr>
            <a:r>
              <a:rPr sz="1600" b="0" i="0">
                <a:solidFill>
                  <a:srgbClr val="1A1440"/>
                </a:solidFill>
                <a:latin typeface="Calibri"/>
              </a:rPr>
              <a:t>d) Neither scores, because a number with no data cannot be marked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4 / 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structure and the check are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candidate further from the till score higher?</a:t>
            </a:r>
          </a:p>
        </p:txBody>
      </p:sp>
      <p:pic>
        <p:nvPicPr>
          <p:cNvPr id="9" name="mermaid diagram" descr="d3866130a82e4b0e.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Think Insights' guide to guesstimates says the interviewer "is interested in your thought process; not the final result", and that "the best candidates validate their results &amp; try to spot their own mistake before telling their interviewer they are done". B's 2,350 cannot be checked, defended or improved; A's 2,700 shows which guess to replace. These are the four steps: clarify, map, calculate, validate.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5 / 44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map, calculate: 3,000 x 0.45 x 2 = 2,700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steps run on the canteen, each said aloud?</a:t>
            </a:r>
          </a:p>
        </p:txBody>
      </p:sp>
      <p:pic>
        <p:nvPicPr>
          <p:cNvPr id="9" name="mermaid diagram" descr="ea5aebc731a7b1e4.png"/>
          <p:cNvPicPr>
            <a:picLocks noChangeAspect="1"/>
          </p:cNvPicPr>
          <p:nvPr/>
        </p:nvPicPr>
        <p:blipFill>
          <a:blip r:embed="rId5"/>
          <a:stretch>
            <a:fillRect/>
          </a:stretch>
        </p:blipFill>
        <p:spPr>
          <a:xfrm>
            <a:off x="701972" y="1682496"/>
            <a:ext cx="4443084" cy="4517136"/>
          </a:xfrm>
          <a:prstGeom prst="rect">
            <a:avLst/>
          </a:prstGeom>
        </p:spPr>
      </p:pic>
      <p:graphicFrame>
        <p:nvGraphicFramePr>
          <p:cNvPr id="10" name="Table 9"/>
          <p:cNvGraphicFramePr>
            <a:graphicFrameLocks noGrp="1"/>
          </p:cNvGraphicFramePr>
          <p:nvPr/>
        </p:nvGraphicFramePr>
        <p:xfrm>
          <a:off x="5761917" y="1956816"/>
          <a:ext cx="5899425" cy="2204720"/>
        </p:xfrm>
        <a:graphic>
          <a:graphicData uri="http://schemas.openxmlformats.org/drawingml/2006/table">
            <a:tbl>
              <a:tblPr firstRow="0" bandRow="0">
                <a:tableStyleId>{2D5ABB26-0587-4C30-8999-92F81FD0307C}</a:tableStyleId>
              </a:tblPr>
              <a:tblGrid>
                <a:gridCol w="1546054"/>
                <a:gridCol w="4353371"/>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On the campus canteen (invented)</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One canteen, one weekday, cups and never litres, tea and never coffee</a:t>
                      </a:r>
                    </a:p>
                  </a:txBody>
                  <a:tcPr marL="101600" marR="101600" marT="38100" marB="38100" anchor="ctr">
                    <a:solidFill>
                      <a:srgbClr val="FFFFFF"/>
                    </a:solidFill>
                  </a:tcPr>
                </a:tc>
              </a:tr>
              <a:tr h="611632">
                <a:tc>
                  <a:txBody>
                    <a:bodyPr/>
                    <a:lstStyle/>
                    <a:p>
                      <a:r>
                        <a:rPr sz="1400" b="0" i="0">
                          <a:solidFill>
                            <a:srgbClr val="1A1440"/>
                          </a:solidFill>
                          <a:latin typeface="Calibri"/>
                        </a:rPr>
                        <a:t>Map</a:t>
                      </a:r>
                    </a:p>
                  </a:txBody>
                  <a:tcPr marL="101600" marR="101600" marT="38100" marB="38100" anchor="ctr">
                    <a:solidFill>
                      <a:srgbClr val="F4F2FA"/>
                    </a:solidFill>
                  </a:tcPr>
                </a:tc>
                <a:tc>
                  <a:txBody>
                    <a:bodyPr/>
                    <a:lstStyle/>
                    <a:p>
                      <a:r>
                        <a:rPr sz="1400" b="0" i="0">
                          <a:solidFill>
                            <a:srgbClr val="1A1440"/>
                          </a:solidFill>
                          <a:latin typeface="Calibri"/>
                        </a:rPr>
                        <a:t>Cups a weekday = students on campus x the share who buy tea x cups each buyer drinks</a:t>
                      </a:r>
                    </a:p>
                  </a:txBody>
                  <a:tcPr marL="101600" marR="101600" marT="38100" marB="38100" anchor="ctr">
                    <a:solidFill>
                      <a:srgbClr val="F4F2FA"/>
                    </a:solidFill>
                  </a:tcPr>
                </a:tc>
              </a:tr>
              <a:tr h="611632">
                <a:tc>
                  <a:txBody>
                    <a:bodyPr/>
                    <a:lstStyle/>
                    <a:p>
                      <a:r>
                        <a:rPr sz="1400" b="0" i="0">
                          <a:solidFill>
                            <a:srgbClr val="1A1440"/>
                          </a:solidFill>
                          <a:latin typeface="Calibri"/>
                        </a:rPr>
                        <a:t>Calculate</a:t>
                      </a:r>
                    </a:p>
                  </a:txBody>
                  <a:tcPr marL="101600" marR="101600" marT="38100" marB="38100" anchor="ctr">
                    <a:solidFill>
                      <a:srgbClr val="FFFFFF"/>
                    </a:solidFill>
                  </a:tcPr>
                </a:tc>
                <a:tc>
                  <a:txBody>
                    <a:bodyPr/>
                    <a:lstStyle/>
                    <a:p>
                      <a:r>
                        <a:rPr sz="1400" b="0" i="0">
                          <a:solidFill>
                            <a:srgbClr val="1A1440"/>
                          </a:solidFill>
                          <a:latin typeface="Calibri"/>
                        </a:rPr>
                        <a:t>3,000 students, then 1,350 who buy (x 0.45), then 2,700 cups (x 2)</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 / 44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share who buy sets the range: 1,500 to 3,900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guess, moved from its low end to its high end, moves the answer most?</a:t>
            </a:r>
          </a:p>
        </p:txBody>
      </p:sp>
      <p:pic>
        <p:nvPicPr>
          <p:cNvPr id="9" name="mermaid diagram" descr="C2_W04_D02_canteen_swing_STUDENT.png"/>
          <p:cNvPicPr>
            <a:picLocks noChangeAspect="1"/>
          </p:cNvPicPr>
          <p:nvPr/>
        </p:nvPicPr>
        <p:blipFill>
          <a:blip r:embed="rId4"/>
          <a:stretch>
            <a:fillRect/>
          </a:stretch>
        </p:blipFill>
        <p:spPr>
          <a:xfrm>
            <a:off x="2003214" y="1664208"/>
            <a:ext cx="818526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of the canteen's three invented guesses moves the cups, the others held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The widest bar is the first guess to replace with a count.</a:t>
            </a:r>
            <a:r>
              <a:rPr sz="1600" b="0" i="0">
                <a:solidFill>
                  <a:srgbClr val="1A1440"/>
                </a:solidFill>
                <a:latin typeface="Calibri"/>
              </a:rPr>
              <a:t> With the other two held at their central values, students move the answer from 2,430 to 2,970, cups each from 2,025 to 3,375, and the share who buy from 1,500 to 3,900. </a:t>
            </a:r>
            <a:r>
              <a:rPr sz="1600" b="1" i="0">
                <a:solidFill>
                  <a:srgbClr val="1A1440"/>
                </a:solidFill>
                <a:latin typeface="Calibri"/>
              </a:rPr>
              <a:t>Say it as:</a:t>
            </a:r>
            <a:r>
              <a:rPr sz="1600" b="0" i="0">
                <a:solidFill>
                  <a:srgbClr val="1A1440"/>
                </a:solidFill>
                <a:latin typeface="Calibri"/>
              </a:rPr>
              <a:t> "about 2,700 cups, 1,500 to 3,900 by the share who buy."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7 /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the till says 2,340, so revisit the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2,700 sane, and which three tests must any check pass?</a:t>
            </a:r>
          </a:p>
        </p:txBody>
      </p:sp>
      <p:pic>
        <p:nvPicPr>
          <p:cNvPr id="9" name="mermaid diagram" descr="7162ac3d0c36ae23.png"/>
          <p:cNvPicPr>
            <a:picLocks noChangeAspect="1"/>
          </p:cNvPicPr>
          <p:nvPr/>
        </p:nvPicPr>
        <p:blipFill>
          <a:blip r:embed="rId5"/>
          <a:stretch>
            <a:fillRect/>
          </a:stretch>
        </p:blipFill>
        <p:spPr>
          <a:xfrm>
            <a:off x="823765" y="1664208"/>
            <a:ext cx="10544164" cy="2350516"/>
          </a:xfrm>
          <a:prstGeom prst="rect">
            <a:avLst/>
          </a:prstGeom>
        </p:spPr>
      </p:pic>
      <p:sp>
        <p:nvSpPr>
          <p:cNvPr id="10" name="TextBox 9"/>
          <p:cNvSpPr txBox="1"/>
          <p:nvPr/>
        </p:nvSpPr>
        <p:spPr>
          <a:xfrm>
            <a:off x="530352" y="406044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runs 15.4 percent above the till's 2,340.</a:t>
            </a:r>
            <a:r>
              <a:rPr sz="1600" b="0" i="0">
                <a:solidFill>
                  <a:srgbClr val="1A1440"/>
                </a:solidFill>
                <a:latin typeface="Calibri"/>
              </a:rPr>
              <a:t> The share that lands on the till is 0.39: 3,000 x 0.39 x 2 = 2,340. A check counts only when it is in the same unit, the same period and the same definition.</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Two of the tests, on invented examples. </a:t>
            </a:r>
            <a:r>
              <a:rPr sz="1500" b="0" i="0">
                <a:solidFill>
                  <a:srgbClr val="1A1440"/>
                </a:solidFill>
                <a:latin typeface="Calibri"/>
              </a:rPr>
              <a:t>A 28-day phone pack of 1.5 GB a day is 42 GB and a 30-day month at the same rate is 45 GB, so compare per day: 1.5 GB in both. Gulmohar's 113 passes are 83.7 percent of the 135 who sat and 75.3 percent of the 150 enrolled, so use the denominator the question names.</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44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24,000 people, so 96,000 households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sanity check catch that a careful calculation misses?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town of 24,000 people (invented) has 96,000 households." Size a household business on it and the market is sixteen times too large.</a:t>
            </a:r>
          </a:p>
        </p:txBody>
      </p:sp>
      <p:sp>
        <p:nvSpPr>
          <p:cNvPr id="12" name="Rounded Rectangle 11"/>
          <p:cNvSpPr/>
          <p:nvPr/>
        </p:nvSpPr>
        <p:spPr>
          <a:xfrm>
            <a:off x="530352" y="29291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unit was multiplied where it should have been divided: households are people divided by about four, so about 6,000. </a:t>
            </a:r>
            <a:r>
              <a:rPr sz="1500" b="1" i="0">
                <a:solidFill>
                  <a:srgbClr val="1A1440"/>
                </a:solidFill>
                <a:latin typeface="Calibri"/>
              </a:rPr>
              <a:t>The check:</a:t>
            </a:r>
            <a:r>
              <a:rPr sz="1500" b="0" i="0">
                <a:solidFill>
                  <a:srgbClr val="1A1440"/>
                </a:solidFill>
                <a:latin typeface="Calibri"/>
              </a:rPr>
              <a:t> households never exceed people. </a:t>
            </a:r>
            <a:r>
              <a:rPr sz="1500" b="1" i="0">
                <a:solidFill>
                  <a:srgbClr val="1A1440"/>
                </a:solidFill>
                <a:latin typeface="Calibri"/>
              </a:rPr>
              <a:t>The fix:</a:t>
            </a:r>
            <a:r>
              <a:rPr sz="1500" b="0" i="0">
                <a:solidFill>
                  <a:srgbClr val="1A1440"/>
                </a:solidFill>
                <a:latin typeface="Calibri"/>
              </a:rPr>
              <a:t> write the unit beside every factor before multiplying.</a:t>
            </a:r>
          </a:p>
        </p:txBody>
      </p:sp>
      <p:sp>
        <p:nvSpPr>
          <p:cNvPr id="15" name="Rounded Rectangle 14"/>
          <p:cNvSpPr/>
          <p:nvPr/>
        </p:nvSpPr>
        <p:spPr>
          <a:xfrm>
            <a:off x="530352" y="416814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9615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9615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9615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9732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ledger = pd.read_csv("../data/C2_W04_D02_canteen_ledger_STUDENT.csv")</a:t>
            </a:r>
          </a:p>
          <a:p>
            <a:pPr>
              <a:spcAft>
                <a:spcPts val="200"/>
              </a:spcAft>
            </a:pPr>
            <a:r>
              <a:rPr sz="1400" b="0" i="0">
                <a:solidFill>
                  <a:srgbClr val="E4E1F1"/>
                </a:solidFill>
                <a:latin typeface="Consolas"/>
              </a:rPr>
              <a:t>cups = ledger.central.prod()                       # 3,000 x 0.45 x 2 = 2,700</a:t>
            </a:r>
          </a:p>
          <a:p>
            <a:pPr>
              <a:spcAft>
                <a:spcPts val="200"/>
              </a:spcAft>
            </a:pPr>
            <a:r>
              <a:rPr sz="1400" b="0" i="0">
                <a:solidFill>
                  <a:srgbClr val="E4E1F1"/>
                </a:solidFill>
                <a:latin typeface="Consolas"/>
              </a:rPr>
              <a:t>till = pd.read_csv("../data/C2_W04_D02_canteen_till_STUDENT.csv")</a:t>
            </a:r>
          </a:p>
          <a:p>
            <a:pPr>
              <a:spcAft>
                <a:spcPts val="200"/>
              </a:spcAft>
            </a:pPr>
            <a:r>
              <a:rPr sz="1400" b="0" i="0">
                <a:solidFill>
                  <a:srgbClr val="E4E1F1"/>
                </a:solidFill>
                <a:latin typeface="Consolas"/>
              </a:rPr>
              <a:t>print(round(cups / till.cups_sold.mean() - 1, 3))  # 0.154: the chain runs high</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44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sizing a number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6,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Clarify the unit, the period and what counts before writing any number.</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Map the answer as a chain of factors that multiplies out in the unit you clarified.</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Say each factor aloud with its range, and name the factor that sets the range.</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Validate against a number counted in the same unit, period and definition, and move the answer if the check says so.</a:t>
            </a:r>
          </a:p>
        </p:txBody>
      </p:sp>
      <p:sp>
        <p:nvSpPr>
          <p:cNvPr id="17" name="Rounded Rectangle 16"/>
          <p:cNvSpPr/>
          <p:nvPr/>
        </p:nvSpPr>
        <p:spPr>
          <a:xfrm>
            <a:off x="530352" y="3421888"/>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073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717036"/>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389128"/>
          </a:xfrm>
          <a:prstGeom prst="rect">
            <a:avLst/>
          </a:prstGeom>
          <a:noFill/>
        </p:spPr>
        <p:txBody>
          <a:bodyPr wrap="square" anchor="t" lIns="0" rIns="0" tIns="0" bIns="0">
            <a:spAutoFit/>
          </a:bodyPr>
          <a:lstStyle/>
          <a:p>
            <a:r>
              <a:rPr sz="1300" b="0" i="0">
                <a:solidFill>
                  <a:srgbClr val="1A1440"/>
                </a:solidFill>
                <a:latin typeface="Calibri"/>
              </a:rPr>
              <a:t>[S] A guesstimate: how many customers could a new store sign up to a loyalty tier in its first year?</a:t>
            </a:r>
          </a:p>
        </p:txBody>
      </p:sp>
      <p:pic>
        <p:nvPicPr>
          <p:cNvPr id="22" name="mermaid diagram" descr="d9a00f17e230e911.png"/>
          <p:cNvPicPr>
            <a:picLocks noChangeAspect="1"/>
          </p:cNvPicPr>
          <p:nvPr/>
        </p:nvPicPr>
        <p:blipFill>
          <a:blip r:embed="rId6"/>
          <a:stretch>
            <a:fillRect/>
          </a:stretch>
        </p:blipFill>
        <p:spPr>
          <a:xfrm>
            <a:off x="2963481" y="4414520"/>
            <a:ext cx="6264732" cy="1785112"/>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big is an unknown?</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7" name="Oval 2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9" name="Oval 2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44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a page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AI-free written business case, taught on Ramesh's page (invented): the slide's four parts as four sentences on one page, read in two minutes by someone who was not in the room, written in your own words.</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business case is a written argument for a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AI-free written business case.</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reading his son's page alone in the evening, and later today the city head, reading the page each learner writes by hand. A </a:t>
            </a:r>
            <a:r>
              <a:rPr sz="1500" b="1" i="0">
                <a:solidFill>
                  <a:srgbClr val="1A1440"/>
                </a:solidFill>
                <a:latin typeface="Calibri"/>
              </a:rPr>
              <a:t>business case</a:t>
            </a:r>
            <a:r>
              <a:rPr sz="1500" b="0" i="0">
                <a:solidFill>
                  <a:srgbClr val="1A1440"/>
                </a:solidFill>
                <a:latin typeface="Calibri"/>
              </a:rPr>
              <a:t> says what to do, why, what it costs, what it returns and what could go wrong. It is one page because the reader has two minutes, and it is written without AI because it shows your own thinking.</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opening does the reader act on?</a:t>
            </a:r>
          </a:p>
        </p:txBody>
      </p:sp>
      <p:sp>
        <p:nvSpPr>
          <p:cNvPr id="20" name="TextBox 19"/>
          <p:cNvSpPr txBox="1"/>
          <p:nvPr/>
        </p:nvSpPr>
        <p:spPr>
          <a:xfrm>
            <a:off x="694944"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A list of numbers against one sentence.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Why sentences, not bullets?</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A company that bans slides.</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 in what order?</a:t>
            </a:r>
          </a:p>
        </p:txBody>
      </p:sp>
      <p:sp>
        <p:nvSpPr>
          <p:cNvPr id="30" name="TextBox 29"/>
          <p:cNvSpPr txBox="1"/>
          <p:nvPr/>
        </p:nvSpPr>
        <p:spPr>
          <a:xfrm>
            <a:off x="6351879"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four parts as four sentences.</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words stay off it?</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method words a reader has to decode.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12 / 44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does Ramesh act on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openings for the same page (invented). Does a business case need a spreadsheet and ten pages?</a:t>
            </a:r>
          </a:p>
        </p:txBody>
      </p:sp>
      <p:graphicFrame>
        <p:nvGraphicFramePr>
          <p:cNvPr id="9" name="Table 8"/>
          <p:cNvGraphicFramePr>
            <a:graphicFrameLocks noGrp="1"/>
          </p:cNvGraphicFramePr>
          <p:nvPr/>
        </p:nvGraphicFramePr>
        <p:xfrm>
          <a:off x="530352" y="1956816"/>
          <a:ext cx="11130991" cy="1834896"/>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Opening</a:t>
                      </a:r>
                    </a:p>
                  </a:txBody>
                  <a:tcPr marL="101600" marR="101600" marT="38100" marB="38100" anchor="ctr">
                    <a:solidFill>
                      <a:srgbClr val="1A0F5C"/>
                    </a:solidFill>
                  </a:tcPr>
                </a:tc>
                <a:tc>
                  <a:txBody>
                    <a:bodyPr/>
                    <a:lstStyle/>
                    <a:p>
                      <a:r>
                        <a:rPr sz="1450" b="1" i="0">
                          <a:solidFill>
                            <a:srgbClr val="FFFFFF"/>
                          </a:solidFill>
                          <a:latin typeface="Calibri"/>
                        </a:rPr>
                        <a:t>What it says (invented)</a:t>
                      </a:r>
                    </a:p>
                  </a:txBody>
                  <a:tcPr marL="101600" marR="101600" marT="38100" marB="38100" anchor="ctr">
                    <a:solidFill>
                      <a:srgbClr val="1A0F5C"/>
                    </a:solidFill>
                  </a:tcPr>
                </a:tc>
              </a:tr>
              <a:tr h="611632">
                <a:tc>
                  <a:txBody>
                    <a:bodyPr/>
                    <a:lstStyle/>
                    <a:p>
                      <a:r>
                        <a:rPr sz="1400" b="0" i="0">
                          <a:solidFill>
                            <a:srgbClr val="1A1440"/>
                          </a:solidFill>
                          <a:latin typeface="Calibri"/>
                        </a:rPr>
                        <a:t>A, the draft's first three of nine lines</a:t>
                      </a:r>
                    </a:p>
                  </a:txBody>
                  <a:tcPr marL="101600" marR="101600" marT="38100" marB="38100" anchor="ctr">
                    <a:solidFill>
                      <a:srgbClr val="FFFFFF"/>
                    </a:solidFill>
                  </a:tcPr>
                </a:tc>
                <a:tc>
                  <a:txBody>
                    <a:bodyPr/>
                    <a:lstStyle/>
                    <a:p>
                      <a:r>
                        <a:rPr sz="1400" b="0" i="0">
                          <a:solidFill>
                            <a:srgbClr val="1A1440"/>
                          </a:solidFill>
                          <a:latin typeface="Calibri"/>
                        </a:rPr>
                        <a:t>North star (sales a day): Rs 11,900 to Rs 12,600. Denominator: hours open, 10 to 12. Sales per hour index: 100 to 88.</a:t>
                      </a:r>
                    </a:p>
                  </a:txBody>
                  <a:tcPr marL="101600" marR="101600" marT="38100" marB="38100" anchor="ctr">
                    <a:solidFill>
                      <a:srgbClr val="FFFFFF"/>
                    </a:solidFill>
                  </a:tcPr>
                </a:tc>
              </a:tr>
              <a:tr h="853440">
                <a:tc>
                  <a:txBody>
                    <a:bodyPr/>
                    <a:lstStyle/>
                    <a:p>
                      <a:r>
                        <a:rPr sz="1400" b="0" i="0">
                          <a:solidFill>
                            <a:srgbClr val="1A1440"/>
                          </a:solidFill>
                          <a:latin typeface="Calibri"/>
                        </a:rPr>
                        <a:t>B, the page's first sentence</a:t>
                      </a:r>
                    </a:p>
                  </a:txBody>
                  <a:tcPr marL="101600" marR="101600" marT="38100" marB="38100" anchor="ctr">
                    <a:solidFill>
                      <a:srgbClr val="F4F2FA"/>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4F2FA"/>
                    </a:solidFill>
                  </a:tcPr>
                </a:tc>
              </a:tr>
            </a:tbl>
          </a:graphicData>
        </a:graphic>
      </p:graphicFrame>
      <p:sp>
        <p:nvSpPr>
          <p:cNvPr id="10" name="TextBox 9"/>
          <p:cNvSpPr txBox="1"/>
          <p:nvPr/>
        </p:nvSpPr>
        <p:spPr>
          <a:xfrm>
            <a:off x="530352" y="40477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since it carries more numbers   b) B, since it states the claim in a sentence   c) Neither, without a chart   d) Both equally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13 / 44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Amazon reads six-page memos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sentences beat bullets, and what does a company that bans slides do?</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sentence has to carry its reasoning, where a bullet can hide it, and opening B says what to do and why before any number. Opening A needs a reader who knows what a north star, a denominator and an index are.</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a:t>
            </a:r>
            <a:r>
              <a:rPr sz="1600" b="0" i="0">
                <a:solidFill>
                  <a:srgbClr val="1A1440"/>
                </a:solidFill>
                <a:latin typeface="Calibri"/>
              </a:rPr>
              <a:t> "We don't do PowerPoint (or any other slide-oriented) presentations at Amazon." The owner writes a narratively structured six-page memo, the room reads it in silence at the start of the meeting, and the letter says a great memo "probably should take a week or more".</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13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14 /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page: four parts as four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page say, part by part?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Ramesh's page (invented)</a:t>
                      </a:r>
                    </a:p>
                  </a:txBody>
                  <a:tcPr marL="101600" marR="101600" marT="38100" marB="38100" anchor="ctr">
                    <a:solidFill>
                      <a:srgbClr val="1A0F5C"/>
                    </a:solidFill>
                  </a:tcPr>
                </a:tc>
              </a:tr>
              <a:tr h="611632">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Keep the longer hours for one more month and count the evening's own sales, because the two extra hours have brought Rs 700 a day while each hour of the day now earns less.</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Sales per hour fell from Rs 1,190 in September to Rs 1,050 in October, the two added hours selling at most Rs 350 each, and sales per customer held at Rs 100.</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A festival fortnight fell inside October, so part of the extra Rs 700 a day may be the season.</a:t>
                      </a:r>
                    </a:p>
                  </a:txBody>
                  <a:tcPr marL="101600" marR="101600" marT="38100" marB="38100" anchor="ctr">
                    <a:solidFill>
                      <a:srgbClr val="FFFFFF"/>
                    </a:solidFill>
                  </a:tcPr>
                </a:tc>
              </a:tr>
              <a:tr h="611632">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Keep the hours through November, write the evening's sales in a separate column each day, and decide after thirty days; the helper's two extra hours cost Rs 170 a day, and Ramesh signs.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15 /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had nine lines and four method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page cut, and which plain words replaced the method words?</a:t>
            </a:r>
          </a:p>
        </p:txBody>
      </p:sp>
      <p:pic>
        <p:nvPicPr>
          <p:cNvPr id="9" name="mermaid diagram" descr="C2_W04_D02_kirana_page_counts_STUDENT.png"/>
          <p:cNvPicPr>
            <a:picLocks noChangeAspect="1"/>
          </p:cNvPicPr>
          <p:nvPr/>
        </p:nvPicPr>
        <p:blipFill>
          <a:blip r:embed="rId4"/>
          <a:stretch>
            <a:fillRect/>
          </a:stretch>
        </p:blipFill>
        <p:spPr>
          <a:xfrm>
            <a:off x="530352" y="2356205"/>
            <a:ext cx="4786326" cy="2645461"/>
          </a:xfrm>
          <a:prstGeom prst="rect">
            <a:avLst/>
          </a:prstGeom>
        </p:spPr>
      </p:pic>
      <p:sp>
        <p:nvSpPr>
          <p:cNvPr id="10" name="picture caption"/>
          <p:cNvSpPr txBox="1"/>
          <p:nvPr/>
        </p:nvSpPr>
        <p:spPr>
          <a:xfrm>
            <a:off x="530352" y="5038242"/>
            <a:ext cx="4786326" cy="524256"/>
          </a:xfrm>
          <a:prstGeom prst="rect">
            <a:avLst/>
          </a:prstGeom>
          <a:noFill/>
        </p:spPr>
        <p:txBody>
          <a:bodyPr wrap="square" anchor="t" lIns="0" rIns="0" tIns="0" bIns="0">
            <a:spAutoFit/>
          </a:bodyPr>
          <a:lstStyle/>
          <a:p>
            <a:pPr algn="ctr"/>
            <a:r>
              <a:rPr sz="1200" b="0" i="0">
                <a:solidFill>
                  <a:srgbClr val="6B6690"/>
                </a:solidFill>
                <a:latin typeface="Calibri"/>
              </a:rPr>
              <a:t>The draft against the page: lines, numbers and method words, all invented</a:t>
            </a:r>
          </a:p>
        </p:txBody>
      </p:sp>
      <p:graphicFrame>
        <p:nvGraphicFramePr>
          <p:cNvPr id="11" name="Table 10"/>
          <p:cNvGraphicFramePr>
            <a:graphicFrameLocks noGrp="1"/>
          </p:cNvGraphicFramePr>
          <p:nvPr/>
        </p:nvGraphicFramePr>
        <p:xfrm>
          <a:off x="5761917" y="1956816"/>
          <a:ext cx="5899425" cy="1849120"/>
        </p:xfrm>
        <a:graphic>
          <a:graphicData uri="http://schemas.openxmlformats.org/drawingml/2006/table">
            <a:tbl>
              <a:tblPr firstRow="0" bandRow="0">
                <a:tableStyleId>{2D5ABB26-0587-4C30-8999-92F81FD0307C}</a:tableStyleId>
              </a:tblPr>
              <a:tblGrid>
                <a:gridCol w="1855126"/>
                <a:gridCol w="4044299"/>
              </a:tblGrid>
              <a:tr h="369824">
                <a:tc>
                  <a:txBody>
                    <a:bodyPr/>
                    <a:lstStyle/>
                    <a:p>
                      <a:r>
                        <a:rPr sz="1450" b="1" i="0">
                          <a:solidFill>
                            <a:srgbClr val="FFFFFF"/>
                          </a:solidFill>
                          <a:latin typeface="Calibri"/>
                        </a:rPr>
                        <a:t>Method word</a:t>
                      </a:r>
                    </a:p>
                  </a:txBody>
                  <a:tcPr marL="101600" marR="101600" marT="38100" marB="38100" anchor="ctr">
                    <a:solidFill>
                      <a:srgbClr val="1A0F5C"/>
                    </a:solidFill>
                  </a:tcPr>
                </a:tc>
                <a:tc>
                  <a:txBody>
                    <a:bodyPr/>
                    <a:lstStyle/>
                    <a:p>
                      <a:r>
                        <a:rPr sz="1450" b="1" i="0">
                          <a:solidFill>
                            <a:srgbClr val="FFFFFF"/>
                          </a:solidFill>
                          <a:latin typeface="Calibri"/>
                        </a:rPr>
                        <a:t>The plain words that replace it</a:t>
                      </a:r>
                    </a:p>
                  </a:txBody>
                  <a:tcPr marL="101600" marR="101600" marT="38100" marB="38100" anchor="ctr">
                    <a:solidFill>
                      <a:srgbClr val="1A0F5C"/>
                    </a:solidFill>
                  </a:tcPr>
                </a:tc>
              </a:tr>
              <a:tr h="369824">
                <a:tc>
                  <a:txBody>
                    <a:bodyPr/>
                    <a:lstStyle/>
                    <a:p>
                      <a:r>
                        <a:rPr sz="1400" b="0" i="0">
                          <a:solidFill>
                            <a:srgbClr val="1A1440"/>
                          </a:solidFill>
                          <a:latin typeface="Calibri"/>
                        </a:rPr>
                        <a:t>Denominator</a:t>
                      </a:r>
                    </a:p>
                  </a:txBody>
                  <a:tcPr marL="101600" marR="101600" marT="38100" marB="38100" anchor="ctr">
                    <a:solidFill>
                      <a:srgbClr val="FFFFFF"/>
                    </a:solidFill>
                  </a:tcPr>
                </a:tc>
                <a:tc>
                  <a:txBody>
                    <a:bodyPr/>
                    <a:lstStyle/>
                    <a:p>
                      <a:r>
                        <a:rPr sz="1400" b="0" i="0">
                          <a:solidFill>
                            <a:srgbClr val="1A1440"/>
                          </a:solidFill>
                          <a:latin typeface="Calibri"/>
                        </a:rPr>
                        <a:t>divided by</a:t>
                      </a:r>
                    </a:p>
                  </a:txBody>
                  <a:tcPr marL="101600" marR="101600" marT="38100" marB="38100" anchor="ctr">
                    <a:solidFill>
                      <a:srgbClr val="FFFFFF"/>
                    </a:solidFill>
                  </a:tcPr>
                </a:tc>
              </a:tr>
              <a:tr h="369824">
                <a:tc>
                  <a:txBody>
                    <a:bodyPr/>
                    <a:lstStyle/>
                    <a:p>
                      <a:r>
                        <a:rPr sz="1400" b="0" i="0">
                          <a:solidFill>
                            <a:srgbClr val="1A1440"/>
                          </a:solidFill>
                          <a:latin typeface="Calibri"/>
                        </a:rPr>
                        <a:t>Index</a:t>
                      </a:r>
                    </a:p>
                  </a:txBody>
                  <a:tcPr marL="101600" marR="101600" marT="38100" marB="38100" anchor="ctr">
                    <a:solidFill>
                      <a:srgbClr val="F4F2FA"/>
                    </a:solidFill>
                  </a:tcPr>
                </a:tc>
                <a:tc>
                  <a:txBody>
                    <a:bodyPr/>
                    <a:lstStyle/>
                    <a:p>
                      <a:r>
                        <a:rPr sz="1400" b="0" i="0">
                          <a:solidFill>
                            <a:srgbClr val="1A1440"/>
                          </a:solidFill>
                          <a:latin typeface="Calibri"/>
                        </a:rPr>
                        <a:t>compared with the month before</a:t>
                      </a:r>
                    </a:p>
                  </a:txBody>
                  <a:tcPr marL="101600" marR="101600" marT="38100" marB="38100" anchor="ctr">
                    <a:solidFill>
                      <a:srgbClr val="F4F2FA"/>
                    </a:solidFill>
                  </a:tcPr>
                </a:tc>
              </a:tr>
              <a:tr h="369824">
                <a:tc>
                  <a:txBody>
                    <a:bodyPr/>
                    <a:lstStyle/>
                    <a:p>
                      <a:r>
                        <a:rPr sz="1400" b="0" i="0">
                          <a:solidFill>
                            <a:srgbClr val="1A1440"/>
                          </a:solidFill>
                          <a:latin typeface="Calibri"/>
                        </a:rPr>
                        <a:t>Guardrail</a:t>
                      </a:r>
                    </a:p>
                  </a:txBody>
                  <a:tcPr marL="101600" marR="101600" marT="38100" marB="38100" anchor="ctr">
                    <a:solidFill>
                      <a:srgbClr val="FFFFFF"/>
                    </a:solidFill>
                  </a:tcPr>
                </a:tc>
                <a:tc>
                  <a:txBody>
                    <a:bodyPr/>
                    <a:lstStyle/>
                    <a:p>
                      <a:r>
                        <a:rPr sz="1400" b="0" i="0">
                          <a:solidFill>
                            <a:srgbClr val="1A1440"/>
                          </a:solidFill>
                          <a:latin typeface="Calibri"/>
                        </a:rPr>
                        <a:t>a number that must not get worse</a:t>
                      </a:r>
                    </a:p>
                  </a:txBody>
                  <a:tcPr marL="101600" marR="101600" marT="38100" marB="38100" anchor="ctr">
                    <a:solidFill>
                      <a:srgbClr val="FFFFFF"/>
                    </a:solidFill>
                  </a:tcPr>
                </a:tc>
              </a:tr>
              <a:tr h="369824">
                <a:tc>
                  <a:txBody>
                    <a:bodyPr/>
                    <a:lstStyle/>
                    <a:p>
                      <a:r>
                        <a:rPr sz="1400" b="0" i="0">
                          <a:solidFill>
                            <a:srgbClr val="1A1440"/>
                          </a:solidFill>
                          <a:latin typeface="Calibri"/>
                        </a:rPr>
                        <a:t>North star</a:t>
                      </a:r>
                    </a:p>
                  </a:txBody>
                  <a:tcPr marL="101600" marR="101600" marT="38100" marB="38100" anchor="ctr">
                    <a:solidFill>
                      <a:srgbClr val="F4F2FA"/>
                    </a:solidFill>
                  </a:tcPr>
                </a:tc>
                <a:tc>
                  <a:txBody>
                    <a:bodyPr/>
                    <a:lstStyle/>
                    <a:p>
                      <a:r>
                        <a:rPr sz="1400" b="0" i="0">
                          <a:solidFill>
                            <a:srgbClr val="1A1440"/>
                          </a:solidFill>
                          <a:latin typeface="Calibri"/>
                        </a:rPr>
                        <a:t>the one number the team is judged on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16 /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rules for a page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7,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The first sentence is the claim, with what to do and why.</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The second carries one number, what it is divided by and its window.</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The caveat comes before the action, so the reader meets the doubt first.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action names what to do, its cost in rupees and weeks, and who signs.</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No method word stays on the page: write "divided by", never "denominator".</a:t>
            </a:r>
          </a:p>
        </p:txBody>
      </p:sp>
      <p:sp>
        <p:nvSpPr>
          <p:cNvPr id="19" name="Rounded Rectangle 18"/>
          <p:cNvSpPr/>
          <p:nvPr/>
        </p:nvSpPr>
        <p:spPr>
          <a:xfrm>
            <a:off x="530352" y="4002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4204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5"/>
          <a:stretch>
            <a:fillRect/>
          </a:stretch>
        </p:blipFill>
        <p:spPr>
          <a:xfrm>
            <a:off x="868680" y="4314444"/>
            <a:ext cx="237744" cy="237744"/>
          </a:xfrm>
          <a:prstGeom prst="rect">
            <a:avLst/>
          </a:prstGeom>
        </p:spPr>
      </p:pic>
      <p:sp>
        <p:nvSpPr>
          <p:cNvPr id="22" name="TextBox 21"/>
          <p:cNvSpPr txBox="1"/>
          <p:nvPr/>
        </p:nvSpPr>
        <p:spPr>
          <a:xfrm>
            <a:off x="1399031" y="4148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4367784"/>
            <a:ext cx="9987991" cy="423672"/>
          </a:xfrm>
          <a:prstGeom prst="rect">
            <a:avLst/>
          </a:prstGeom>
          <a:noFill/>
        </p:spPr>
        <p:txBody>
          <a:bodyPr wrap="square" anchor="t" lIns="0" rIns="0" tIns="0" bIns="0">
            <a:spAutoFit/>
          </a:bodyPr>
          <a:lstStyle/>
          <a:p>
            <a:r>
              <a:rPr sz="1500" b="0" i="0">
                <a:solidFill>
                  <a:srgbClr val="1A1440"/>
                </a:solidFill>
                <a:latin typeface="Calibri"/>
              </a:rPr>
              <a:t>[S] Present a recommendation to a non-technical stakeholder in two minutes: the page, spoken.</a:t>
            </a:r>
          </a:p>
        </p:txBody>
      </p:sp>
      <p:pic>
        <p:nvPicPr>
          <p:cNvPr id="24" name="mermaid diagram" descr="37d776c03f3287af.png"/>
          <p:cNvPicPr>
            <a:picLocks noChangeAspect="1"/>
          </p:cNvPicPr>
          <p:nvPr/>
        </p:nvPicPr>
        <p:blipFill>
          <a:blip r:embed="rId6"/>
          <a:stretch>
            <a:fillRect/>
          </a:stretch>
        </p:blipFill>
        <p:spPr>
          <a:xfrm>
            <a:off x="3408631" y="5029200"/>
            <a:ext cx="5374432" cy="1170432"/>
          </a:xfrm>
          <a:prstGeom prst="rect">
            <a:avLst/>
          </a:prstGeom>
        </p:spPr>
      </p:pic>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must a page carry?</a:t>
            </a:r>
          </a:p>
        </p:txBody>
      </p:sp>
      <p:sp>
        <p:nvSpPr>
          <p:cNvPr id="29" name="Oval 2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3" name="Oval 3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17 /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Drivers at Uber's evening peak, sized by the guesstimate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at the peak?</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guesstimate applied: drivers online at the weekday evening peak, clarified, mapped, calculated, given as a range and checked like for like against the case's own data; then UPI, in pairs, against the clock.</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estimate applies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guesstimate: clarify, map, calculate, validate (chapter 6).</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asks before Thursday's review how many drivers must be online at the weekday evening peak to keep the median rider wait under five minutes, in fifteen minutes and without a dataset.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would check it?</a:t>
            </a:r>
          </a:p>
        </p:txBody>
      </p:sp>
      <p:sp>
        <p:nvSpPr>
          <p:cNvPr id="20" name="TextBox 19"/>
          <p:cNvSpPr txBox="1"/>
          <p:nvPr/>
        </p:nvSpPr>
        <p:spPr>
          <a:xfrm>
            <a:off x="694944"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three tests, on four candidates.</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exactly is counted?</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Drivers online at one moment.</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the chain give?</a:t>
            </a:r>
          </a:p>
        </p:txBody>
      </p:sp>
      <p:sp>
        <p:nvSpPr>
          <p:cNvPr id="30" name="TextBox 29"/>
          <p:cNvSpPr txBox="1"/>
          <p:nvPr/>
        </p:nvSpPr>
        <p:spPr>
          <a:xfrm>
            <a:off x="6351879"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running product, and the factor that sets the range.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Is it sane, like for like?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case's own driver-hours per trip.</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42" name="Oval 4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19 /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93040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completed trip in the case's own data, pooled over both daily peak windows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20 / 44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answer is c, and nobody publishes it. </a:t>
            </a:r>
            <a:r>
              <a:rPr sz="1500" b="0" i="0">
                <a:solidFill>
                  <a:srgbClr val="1A1440"/>
                </a:solidFill>
                <a:latin typeface="Calibri"/>
              </a:rPr>
              <a:t>a counts rider requests over six weeks in twelve zones: another unit, a longer period and a slice of the city. b counts sign-ups, a different definition from drivers online at one moment. d is not wrong: it checks one link in the chain, a ratio the case's own data holds over a wider period than one evening, and when the direct check does not exist, that is the honest fallback the afternoon uses. Chapter 6's three tests decide each: same unit, same period, same definition.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6" name="Oval 1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21 /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682496"/>
          <a:ext cx="11130990" cy="3314192"/>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611632">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on another app's trip, so more online drivers serve no Uber rider: lean the idle share high, which pushes the answer up</a:t>
                      </a:r>
                    </a:p>
                  </a:txBody>
                  <a:tcPr marL="101600" marR="101600" marT="38100" marB="38100" anchor="ctr">
                    <a:solidFill>
                      <a:srgbClr val="F4F2FA"/>
                    </a:solidFill>
                  </a:tcPr>
                </a:tc>
              </a:tr>
            </a:tbl>
          </a:graphicData>
        </a:graphic>
      </p:graphicFrame>
      <p:sp>
        <p:nvSpPr>
          <p:cNvPr id="10" name="Rounded Rectangle 9"/>
          <p:cNvSpPr/>
          <p:nvPr/>
        </p:nvSpPr>
        <p:spPr>
          <a:xfrm>
            <a:off x="530352" y="5252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80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71592"/>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22 /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2039073" y="1664208"/>
            <a:ext cx="8113547" cy="3152648"/>
          </a:xfrm>
          <a:prstGeom prst="rect">
            <a:avLst/>
          </a:prstGeom>
        </p:spPr>
      </p:pic>
      <p:sp>
        <p:nvSpPr>
          <p:cNvPr id="10" name="TextBox 9"/>
          <p:cNvSpPr txBox="1"/>
          <p:nvPr/>
        </p:nvSpPr>
        <p:spPr>
          <a:xfrm>
            <a:off x="530352" y="4862576"/>
            <a:ext cx="11130991" cy="1337056"/>
          </a:xfrm>
          <a:prstGeom prst="rect">
            <a:avLst/>
          </a:prstGeom>
          <a:noFill/>
        </p:spPr>
        <p:txBody>
          <a:bodyPr wrap="square" anchor="t" lIns="0" rIns="0" tIns="0" bIns="0">
            <a:spAutoFit/>
          </a:bodyPr>
          <a:lstStyle/>
          <a:p>
            <a:r>
              <a:rPr sz="1400" b="1" i="0">
                <a:solidFill>
                  <a:srgbClr val="1A1440"/>
                </a:solidFill>
                <a:latin typeface="Calibri"/>
              </a:rPr>
              <a:t>Drivers online = (trips to serve an hour / trips per online driver-hour) x buffer.</a:t>
            </a:r>
            <a:r>
              <a:rPr sz="1400" b="0" i="0">
                <a:solidFill>
                  <a:srgbClr val="1A1440"/>
                </a:solidFill>
                <a:latin typeface="Calibri"/>
              </a:rPr>
              <a:t> Each leaf is a guess said aloud with its range. Counting trips per 100 people, never riders, counts a commuter who rides both ways twice; one in a hundred is a guess (most people take no app ride on a weekday, a rider goes out and back, and Uber is one choice among several), so it gets the widest range. A peak trip takes about 25 minutes from accepting to dropping, a guess to check first against the app's trip times, so a busy driver fits 2.4 an hour; the buffer covers the busiest half hour.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23 /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S74,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24 / 44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25 / 44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87756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where the two routes agree, inside the 2,900 to 8,600 that trips per person sets.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26 / 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 are needed.</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27 /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UPI is India's system for paying from a bank account by phone, by a code or a phone number. Work in pairs for seven minutes, with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462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590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5814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the answer given as a range, and a sanity check in the right unit.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28 / 44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29 / 44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30 / 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8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552bed3165770c1b.png"/>
          <p:cNvPicPr>
            <a:picLocks noChangeAspect="1"/>
          </p:cNvPicPr>
          <p:nvPr/>
        </p:nvPicPr>
        <p:blipFill>
          <a:blip r:embed="rId5"/>
          <a:stretch>
            <a:fillRect/>
          </a:stretch>
        </p:blipFill>
        <p:spPr>
          <a:xfrm>
            <a:off x="2152497" y="1956816"/>
            <a:ext cx="7886700" cy="2357437"/>
          </a:xfrm>
          <a:prstGeom prst="rect">
            <a:avLst/>
          </a:prstGeom>
        </p:spPr>
      </p:pic>
      <p:sp>
        <p:nvSpPr>
          <p:cNvPr id="10" name="TextBox 9"/>
          <p:cNvSpPr txBox="1"/>
          <p:nvPr/>
        </p:nvSpPr>
        <p:spPr>
          <a:xfrm>
            <a:off x="530352" y="4460557"/>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How many at the peak?</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31 / 44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page to the city head, an AI-free written business case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written business case applied: the morning's slide as one page to the city head, by hand, in 35 minutes, handed in.</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44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applies chapters 7 and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the page do?</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AI-free written business case (chapter 7); The one-slide answer: claim, evidence, caveat, action (chapter 1).</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reading alone before Thursday, with the three roles reading over a shoulder.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the city head should believe and do.</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One number, and what it is divided by</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Rupees per peak online hour, before and after.</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caveat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Before the action, in plain sight.</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SENTENCE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action and its cost</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saving over six weeks, and who signs.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40" name="Oval 3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2" name="Oval 41"/>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4" name="Oval 4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33 /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what it is divided by</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 with the window</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Before the action, so the reader meets the doubt before the cost</a:t>
            </a:r>
          </a:p>
        </p:txBody>
      </p:sp>
      <p:sp>
        <p:nvSpPr>
          <p:cNvPr id="27" name="Rounded Rectangle 26"/>
          <p:cNvSpPr/>
          <p:nvPr/>
        </p:nvSpPr>
        <p:spPr>
          <a:xfrm>
            <a:off x="9015755"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525264"/>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Method words a non-technical reader would not know (denominator, index, guardrail, north star) stay off the page; say what each means instead. These are S69's five rules, unchanged.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6" name="Oval 3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40" name="Oval 39"/>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42" name="Oval 4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34 / 44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Thirty-five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Laptops and phones stay closed,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are read aloud at the close if the clock allows.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S85  ·  35 / 44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interview room, with the one-slide answer and the guesstimate spoken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interview room: the morning's slide and the afternoon's estimate as an interviewer hears them, a weak and a hire-grade answer side by side.</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an unknown?</a:t>
            </a:r>
          </a:p>
        </p:txBody>
      </p:sp>
      <p:sp>
        <p:nvSpPr>
          <p:cNvPr id="12" name="Rounded Rectangle 11"/>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a page carry?</a:t>
            </a:r>
          </a:p>
        </p:txBody>
      </p:sp>
      <p:sp>
        <p:nvSpPr>
          <p:cNvPr id="13" name="Rounded Rectangle 12"/>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at the peak?</a:t>
            </a:r>
          </a:p>
        </p:txBody>
      </p:sp>
      <p:sp>
        <p:nvSpPr>
          <p:cNvPr id="14" name="Rounded Rectangle 13"/>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5" name="Rounded Rectangle 14"/>
          <p:cNvSpPr/>
          <p:nvPr/>
        </p:nvSpPr>
        <p:spPr>
          <a:xfrm>
            <a:off x="7844477"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How many drivers does the evening peak need, and can you say it on one page?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36 / 44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room applies chapters 1, 3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Defending under challenge: restate, answer, concede, what would change your mind (chapter 3); The guesstimate: clarify, map, calculate, validate (chapter 6).</a:t>
            </a:r>
          </a:p>
        </p:txBody>
      </p:sp>
      <p:sp>
        <p:nvSpPr>
          <p:cNvPr id="12" name="Rounded Rectangle 11"/>
          <p:cNvSpPr/>
          <p:nvPr/>
        </p:nvSpPr>
        <p:spPr>
          <a:xfrm>
            <a:off x="530352" y="3178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06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9768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that asks for a two-minute recommendation or a number from nothing, with an interviewer listening for the structure before the number.</a:t>
            </a:r>
          </a:p>
        </p:txBody>
      </p:sp>
      <p:sp>
        <p:nvSpPr>
          <p:cNvPr id="15" name="Rectangle 14"/>
          <p:cNvSpPr/>
          <p:nvPr/>
        </p:nvSpPr>
        <p:spPr>
          <a:xfrm>
            <a:off x="2324557" y="4718049"/>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1</a:t>
            </a:r>
          </a:p>
        </p:txBody>
      </p:sp>
      <p:sp>
        <p:nvSpPr>
          <p:cNvPr id="17" name="Oval 16"/>
          <p:cNvSpPr/>
          <p:nvPr/>
        </p:nvSpPr>
        <p:spPr>
          <a:xfrm>
            <a:off x="222397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two-minute recommendation</a:t>
            </a:r>
          </a:p>
        </p:txBody>
      </p:sp>
      <p:sp>
        <p:nvSpPr>
          <p:cNvPr id="20" name="TextBox 19"/>
          <p:cNvSpPr txBox="1"/>
          <p:nvPr/>
        </p:nvSpPr>
        <p:spPr>
          <a:xfrm>
            <a:off x="69494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Read in pairs, scored live.</a:t>
            </a:r>
          </a:p>
        </p:txBody>
      </p:sp>
      <p:sp>
        <p:nvSpPr>
          <p:cNvPr id="21" name="TextBox 20"/>
          <p:cNvSpPr txBox="1"/>
          <p:nvPr/>
        </p:nvSpPr>
        <p:spPr>
          <a:xfrm>
            <a:off x="430164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2</a:t>
            </a:r>
          </a:p>
        </p:txBody>
      </p:sp>
      <p:sp>
        <p:nvSpPr>
          <p:cNvPr id="22" name="Oval 21"/>
          <p:cNvSpPr/>
          <p:nvPr/>
        </p:nvSpPr>
        <p:spPr>
          <a:xfrm>
            <a:off x="5995263"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30164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46623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Drivers at the evening peak</a:t>
            </a:r>
          </a:p>
        </p:txBody>
      </p:sp>
      <p:sp>
        <p:nvSpPr>
          <p:cNvPr id="25" name="TextBox 24"/>
          <p:cNvSpPr txBox="1"/>
          <p:nvPr/>
        </p:nvSpPr>
        <p:spPr>
          <a:xfrm>
            <a:off x="446623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with the scorecard.</a:t>
            </a:r>
          </a:p>
        </p:txBody>
      </p:sp>
      <p:sp>
        <p:nvSpPr>
          <p:cNvPr id="26" name="TextBox 25"/>
          <p:cNvSpPr txBox="1"/>
          <p:nvPr/>
        </p:nvSpPr>
        <p:spPr>
          <a:xfrm>
            <a:off x="8072932" y="4151121"/>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TRANSCRIPT 3</a:t>
            </a:r>
          </a:p>
        </p:txBody>
      </p:sp>
      <p:sp>
        <p:nvSpPr>
          <p:cNvPr id="27" name="Oval 26"/>
          <p:cNvSpPr/>
          <p:nvPr/>
        </p:nvSpPr>
        <p:spPr>
          <a:xfrm>
            <a:off x="9766554"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8072932" y="5038089"/>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237524" y="5184393"/>
            <a:ext cx="3259226" cy="251205"/>
          </a:xfrm>
          <a:prstGeom prst="rect">
            <a:avLst/>
          </a:prstGeom>
          <a:noFill/>
        </p:spPr>
        <p:txBody>
          <a:bodyPr wrap="square" anchor="t" lIns="0" rIns="0" tIns="0" bIns="0">
            <a:spAutoFit/>
          </a:bodyPr>
          <a:lstStyle/>
          <a:p>
            <a:pPr algn="l"/>
            <a:r>
              <a:rPr sz="1300" b="1" i="0">
                <a:solidFill>
                  <a:srgbClr val="1A0F5C"/>
                </a:solidFill>
                <a:latin typeface="Calibri"/>
              </a:rPr>
              <a:t>The AI-company variant</a:t>
            </a:r>
          </a:p>
        </p:txBody>
      </p:sp>
      <p:sp>
        <p:nvSpPr>
          <p:cNvPr id="30" name="TextBox 29"/>
          <p:cNvSpPr txBox="1"/>
          <p:nvPr/>
        </p:nvSpPr>
        <p:spPr>
          <a:xfrm>
            <a:off x="8237524" y="5472176"/>
            <a:ext cx="3259226" cy="201676"/>
          </a:xfrm>
          <a:prstGeom prst="rect">
            <a:avLst/>
          </a:prstGeom>
          <a:noFill/>
        </p:spPr>
        <p:txBody>
          <a:bodyPr wrap="square" anchor="t" lIns="0" rIns="0" tIns="0" bIns="0">
            <a:spAutoFit/>
          </a:bodyPr>
          <a:lstStyle/>
          <a:p>
            <a:pPr algn="l"/>
            <a:r>
              <a:rPr sz="1000" b="0" i="0">
                <a:solidFill>
                  <a:srgbClr val="6B6690"/>
                </a:solidFill>
                <a:latin typeface="Calibri"/>
              </a:rPr>
              <a:t>Self-study: acceptance rate in a sales deck.</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9" name="Oval 3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S86  ·  37 / 44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56816"/>
          <a:ext cx="11130990" cy="2328672"/>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opening</a:t>
                      </a:r>
                    </a:p>
                  </a:txBody>
                  <a:tcPr marL="101600" marR="101600" marT="38100" marB="38100" anchor="ctr">
                    <a:solidFill>
                      <a:srgbClr val="1A0F5C"/>
                    </a:solidFill>
                  </a:tcPr>
                </a:tc>
                <a:tc>
                  <a:txBody>
                    <a:bodyPr/>
                    <a:lstStyle/>
                    <a:p>
                      <a:r>
                        <a:rPr sz="1250" b="1" i="0">
                          <a:solidFill>
                            <a:srgbClr val="FFFFFF"/>
                          </a:solidFill>
                          <a:latin typeface="Calibri"/>
                        </a:rPr>
                        <a:t>A hire-grade opening</a:t>
                      </a:r>
                    </a:p>
                  </a:txBody>
                  <a:tcPr marL="101600" marR="101600" marT="38100" marB="38100" anchor="ctr">
                    <a:solidFill>
                      <a:srgbClr val="1A0F5C"/>
                    </a:solidFill>
                  </a:tcPr>
                </a:tc>
              </a:tr>
              <a:tr h="1993392">
                <a:tc>
                  <a:txBody>
                    <a:bodyPr/>
                    <a:lstStyle/>
                    <a:p>
                      <a:r>
                        <a:rPr sz="12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2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at a per-trip rate fixed first; across the enrolled drivers it saves Rs 58 lakh to Rs 92.7 lakh over six weeks if a half to a fifth of the idle top-up is still paid.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54152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6953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0392"/>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S87  ·  38 / 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10" name="Table 9"/>
          <p:cNvGraphicFramePr>
            <a:graphicFrameLocks noGrp="1"/>
          </p:cNvGraphicFramePr>
          <p:nvPr/>
        </p:nvGraphicFramePr>
        <p:xfrm>
          <a:off x="530352" y="1956816"/>
          <a:ext cx="11130990" cy="2535936"/>
        </p:xfrm>
        <a:graphic>
          <a:graphicData uri="http://schemas.openxmlformats.org/drawingml/2006/table">
            <a:tbl>
              <a:tblPr firstRow="0" bandRow="0">
                <a:tableStyleId>{2D5ABB26-0587-4C30-8999-92F81FD0307C}</a:tableStyleId>
              </a:tblPr>
              <a:tblGrid>
                <a:gridCol w="5565495"/>
                <a:gridCol w="5565495"/>
              </a:tblGrid>
              <a:tr h="335280">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2200656">
                <a:tc>
                  <a:txBody>
                    <a:bodyPr/>
                    <a:lstStyle/>
                    <a:p>
                      <a:r>
                        <a:rPr sz="12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200" b="0" i="0">
                          <a:solidFill>
                            <a:srgbClr val="1A1440"/>
                          </a:solidFill>
                          <a:latin typeface="Calibri"/>
                        </a:rPr>
                        <a:t>"One moment of the three-hour weekday evening peak, one product, the city's median wait under five minutes, the outer zones sized on their own. Drivers online is trips an hour divided by the trips one online driver completes in an hour, times a buffer: 8,330 / 1.68 x 1.15, about 5,700, more if many drivers run two apps; trips per person moves it most, 2,900 to 8,600. Like for like, the case's 0.53 driver-hours per trip, pooled over both daily peaks, against my 0.60 says I run an eighth high: about 5,000 to 5,700 where the routes agree, inside the wider range, and each thousand idle drivers costs up to Rs 9 lakh an evening at the floor."</a:t>
                      </a:r>
                    </a:p>
                  </a:txBody>
                  <a:tcPr marL="101600" marR="101600" marT="38100" marB="38100" anchor="ctr">
                    <a:solidFill>
                      <a:srgbClr val="FFFFFF"/>
                    </a:solidFill>
                  </a:tcPr>
                </a:tc>
              </a:tr>
            </a:tbl>
          </a:graphicData>
        </a:graphic>
      </p:graphicFrame>
      <p:sp>
        <p:nvSpPr>
          <p:cNvPr id="11" name="Rounded Rectangle 10"/>
          <p:cNvSpPr/>
          <p:nvPr/>
        </p:nvSpPr>
        <p:spPr>
          <a:xfrm>
            <a:off x="530352" y="474878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7680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67656"/>
            <a:ext cx="10564063" cy="553720"/>
          </a:xfrm>
          <a:prstGeom prst="rect">
            <a:avLst/>
          </a:prstGeom>
          <a:noFill/>
        </p:spPr>
        <p:txBody>
          <a:bodyPr wrap="square" anchor="ctr" lIns="0" rIns="0" tIns="0" bIns="0">
            <a:spAutoFit/>
          </a:bodyPr>
          <a:lstStyle/>
          <a:p>
            <a:r>
              <a:rPr sz="1300" b="1">
                <a:solidFill>
                  <a:srgbClr val="5B3FD6"/>
                </a:solidFill>
                <a:latin typeface="Calibri"/>
              </a:rPr>
              <a:t>The follow-ups: </a:t>
            </a:r>
            <a:r>
              <a:rPr sz="13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D88  ·  39 /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10" name="Rounded Rectangle 9"/>
          <p:cNvSpPr/>
          <p:nvPr/>
        </p:nvSpPr>
        <p:spPr>
          <a:xfrm>
            <a:off x="530352" y="1956816"/>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9583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if a fifth of accepted suggestions are deleted within a week, about 26 of every 100 shown survive.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paid seat a week (a seat is one developer's paid licence), so a developer who switches the tool off still counts. Two </a:t>
            </a:r>
            <a:r>
              <a:rPr sz="1500" b="1" i="0">
                <a:solidFill>
                  <a:srgbClr val="1A1440"/>
                </a:solidFill>
                <a:latin typeface="Calibri"/>
              </a:rPr>
              <a:t>guardrails</a:t>
            </a:r>
            <a:r>
              <a:rPr sz="1500" b="0" i="0">
                <a:solidFill>
                  <a:srgbClr val="1A1440"/>
                </a:solidFill>
                <a:latin typeface="Calibri"/>
              </a:rPr>
              <a:t>, numbers that must not get worse, catch padding: characters per accepted suggestion, and a monthly sample of surviving suggestions read by engineers.</a:t>
            </a:r>
          </a:p>
        </p:txBody>
      </p:sp>
      <p:sp>
        <p:nvSpPr>
          <p:cNvPr id="13" name="Rounded Rectangle 12"/>
          <p:cNvSpPr/>
          <p:nvPr/>
        </p:nvSpPr>
        <p:spPr>
          <a:xfrm>
            <a:off x="530352" y="4262627"/>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39064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381499"/>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judges the team on surviving code once last year's renewals show it separates the accounts that renewed from those that cut seats better than acceptance does.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2" name="Oval 2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4" name="Oval 2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D89  ·  40 / 44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3511296"/>
        </p:xfrm>
        <a:graphic>
          <a:graphicData uri="http://schemas.openxmlformats.org/drawingml/2006/table">
            <a:tbl>
              <a:tblPr firstRow="0" bandRow="0">
                <a:tableStyleId>{2D5ABB26-0587-4C30-8999-92F81FD0307C}</a:tableStyleId>
              </a:tblPr>
              <a:tblGrid>
                <a:gridCol w="3720477"/>
                <a:gridCol w="1041978"/>
                <a:gridCol w="1394413"/>
                <a:gridCol w="4974121"/>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542544">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what is decided or counted, the window, and the target or the audience pinned</a:t>
                      </a:r>
                    </a:p>
                  </a:txBody>
                  <a:tcPr marL="101600" marR="101600" marT="38100" marB="38100" anchor="ctr">
                    <a:solidFill>
                      <a:srgbClr val="FFFFFF"/>
                    </a:solidFill>
                  </a:tcPr>
                </a:tc>
              </a:tr>
              <a:tr h="542544">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542544">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542544">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S90  ·  41 / 44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S91  ·  42 / 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page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which opening of a one-page case is the claim</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S92  ·  43 / 44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68249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across the enrolled drivers, it saves Rs 58 lakh to Rs 92.7 lakh over six weeks if a half to a fifth of the idle drivers' top-up is still paid, and the per-trip rate can move it within that range or beyond it. At the evening peak the city needs about 5,000 to 5,700 drivers online, and how often people ride could move that from 2,900 to 8,600."</a:t>
            </a:r>
          </a:p>
        </p:txBody>
      </p:sp>
      <p:sp>
        <p:nvSpPr>
          <p:cNvPr id="11" name="Rounded Rectangle 10"/>
          <p:cNvSpPr/>
          <p:nvPr/>
        </p:nvSpPr>
        <p:spPr>
          <a:xfrm>
            <a:off x="530352" y="371856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46575"/>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37431"/>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242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5228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43144"/>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five topics on counting what goes with what, then Swiggy Instamart's cart page in Pune and its strip of suggestions.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big is an unknown?</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must a page carry?</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How many at the peak?</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5" name="Oval 2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S93  ·  44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