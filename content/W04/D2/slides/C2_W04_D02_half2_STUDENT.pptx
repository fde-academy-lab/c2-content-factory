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seconds. Half 2 runs the dojo (chapter 4), the paired guesstimate against the</a:t>
            </a:r>
          </a:p>
          <a:p>
            <a:r>
              <a:t>clock, the AI-free written business case, and two transcripts. No new technique arrives;</a:t>
            </a:r>
          </a:p>
          <a:p>
            <a:r>
              <a:t>every move was taught in Half 1 or is a step of the four-step guesstimate.</a:t>
            </a:r>
          </a:p>
          <a:p>
            <a:r>
              <a:t>Transition: a prediction on an estimate the room has never heard.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55 minutes: the warm-up (10, the canteen's cups of tea), the four steps (10), the</a:t>
            </a:r>
          </a:p>
          <a:p>
            <a:r>
              <a:t>drivers-at-peak estimate worked together (25), the paired UPI estimate against the clock</a:t>
            </a:r>
          </a:p>
          <a:p>
            <a:r>
              <a:t>(10). Chapter 4 is L5 of the ladder on an estimate rather than on a decision; the discipline</a:t>
            </a:r>
          </a:p>
          <a:p>
            <a:r>
              <a:t>is the same as Monday's L5. Styles: Feynman (plain words first), StatQuest (round numbers</a:t>
            </a:r>
          </a:p>
          <a:p>
            <a:r>
              <a:t>spoken aloud), explorable explanations (every assumption said and so moveable).</a:t>
            </a:r>
          </a:p>
          <a:p>
            <a:r>
              <a:t>Transition: a chapter opener, four options.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Hands for each; write counts. Expect (b) and (c) to tie. The reveal shows</a:t>
            </a:r>
          </a:p>
          <a:p>
            <a:r>
              <a:t>why (c) is the honest one if we had it: an evening peak is one hour of one day; everything</a:t>
            </a:r>
          </a:p>
          <a:p>
            <a:r>
              <a:t>else is in a different unit. The point of the predict is that the sanity check sits in the</a:t>
            </a:r>
          </a:p>
          <a:p>
            <a:r>
              <a:t>same unit as the estimate.</a:t>
            </a:r>
          </a:p>
          <a:p>
            <a:r>
              <a:t>Transition: the warm-up, the canteen's cups of tea.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Walk the four steps aloud with the toy's numbers. Say: the four steps are</a:t>
            </a:r>
          </a:p>
          <a:p>
            <a:r>
              <a:t>the shape of every estimate on this day and in every interview. Every assumption said so a</a:t>
            </a:r>
          </a:p>
          <a:p>
            <a:r>
              <a:t>listener can push back. Invented numbers labelled as such on the slide.</a:t>
            </a:r>
          </a:p>
          <a:p>
            <a:r>
              <a:t>Transition: the steps as a strip.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each step. Say: an estimate is wrong when any one step is skipped;</a:t>
            </a:r>
          </a:p>
          <a:p>
            <a:r>
              <a:t>calling it an estimate is not an excuse for not clarifying. Ask: in the canteen example,</a:t>
            </a:r>
          </a:p>
          <a:p>
            <a:r>
              <a:t>which step pinned the scope? Expect: clarify. Which step is the one the room most forgets?</a:t>
            </a:r>
          </a:p>
          <a:p>
            <a:r>
              <a:t>Expect: validate.</a:t>
            </a:r>
          </a:p>
          <a:p>
            <a:r>
              <a:t>Transition: the city head's question, worked together.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Build the map on the board with four nodes. For each factor, ask the room</a:t>
            </a:r>
          </a:p>
          <a:p>
            <a:r>
              <a:t>for a value, write every answer, pick the one the room coalesces around, say it as an</a:t>
            </a:r>
          </a:p>
          <a:p>
            <a:r>
              <a:t>assumption. Compute aloud, with rounding. Say the range. Point at the "to be found" slot and</a:t>
            </a:r>
          </a:p>
          <a:p>
            <a:r>
              <a:t>name it: this is where a strong analyst goes looking before the review.</a:t>
            </a:r>
          </a:p>
          <a:p>
            <a:r>
              <a:t>Transition: UPI, in pairs, against the clock.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Clock on at the slide; each pair hands in a sheet with its four steps. The</a:t>
            </a:r>
          </a:p>
          <a:p>
            <a:r>
              <a:t>scorer card marks structure, not the final number (Aced, T2). The reveal is one minute at</a:t>
            </a:r>
          </a:p>
          <a:p>
            <a:r>
              <a:t>the end: 80 crore sits within 2 percent of 802 million; the room reads this as a success of</a:t>
            </a:r>
          </a:p>
          <a:p>
            <a:r>
              <a:t>the method, since no pair held the published figure.</a:t>
            </a:r>
          </a:p>
          <a:p>
            <a:r>
              <a:t>Transition: two traps that the room would want to catch, before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one row at a time. Ask the room which move each trap skips. Expect</a:t>
            </a:r>
          </a:p>
          <a:p>
            <a:r>
              <a:t>the right answer in each case; the point is that the scorer card maps each row to one move.</a:t>
            </a:r>
          </a:p>
          <a:p>
            <a:r>
              <a:t>The decimal trap is the one the room is most likely to meet in a resume case; name it twice.</a:t>
            </a:r>
          </a:p>
          <a:p>
            <a:r>
              <a:t>Transition: into chapter 5, the written case.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individual, AI-free, handed in. Chapter 5 is L5 of the ladder in writing;</a:t>
            </a:r>
          </a:p>
          <a:p>
            <a:r>
              <a:t>the dojo is L5 on an estimate. Each learner writes one page: the slide, longer, in sentences.</a:t>
            </a:r>
          </a:p>
          <a:p>
            <a:r>
              <a:t>Style: Feynman (plain words first), Minto (the answer first).</a:t>
            </a:r>
          </a:p>
          <a:p>
            <a:r>
              <a:t>Transition: the brief for the one page.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four lines of the shape aloud. Say: a page that opens on method</a:t>
            </a:r>
          </a:p>
          <a:p>
            <a:r>
              <a:t>has lost the city head by sentence two. The three the trainer will pick are the one that</a:t>
            </a:r>
          </a:p>
          <a:p>
            <a:r>
              <a:t>opens on the claim, the one that handles the caveat best, and the one that names the action</a:t>
            </a:r>
          </a:p>
          <a:p>
            <a:r>
              <a:t>with its signer. No learner names.</a:t>
            </a:r>
          </a:p>
          <a:p>
            <a:r>
              <a:t>Transition: forty minutes on the clock.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silent writing. The trainer walks once in the first five minutes to answer</a:t>
            </a:r>
          </a:p>
          <a:p>
            <a:r>
              <a:t>a scope question, once in the last five minutes to signal the clock. No teaching inside the</a:t>
            </a:r>
          </a:p>
          <a:p>
            <a:r>
              <a:t>slot.</a:t>
            </a:r>
          </a:p>
          <a:p>
            <a:r>
              <a:t>Transition: the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Chapter 6 is L6 of the ladder: the transfer. Two transcripts read in</a:t>
            </a:r>
          </a:p>
          <a:p>
            <a:r>
              <a:t>pairs; the AI-company variant adds the move. Style: the case method as a transcript rather</a:t>
            </a:r>
          </a:p>
          <a:p>
            <a:r>
              <a:t>than a card.</a:t>
            </a:r>
          </a:p>
          <a:p>
            <a:r>
              <a:t>Transition: the first transcript, "present this to a non-technical leader".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In pairs: one plays the interviewer, one plays the candidate. Each pair</a:t>
            </a:r>
          </a:p>
          <a:p>
            <a:r>
              <a:t>reads the weak and hire-grade openings once, then the candidate attempts the three follow-ups.</a:t>
            </a:r>
          </a:p>
          <a:p>
            <a:r>
              <a:t>Swap in five minutes. The scorecard the pair fills is in the trainer file; no learner marks</a:t>
            </a:r>
          </a:p>
          <a:p>
            <a:r>
              <a:t>go on the slide.</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Read the setup, the objection, and the reply. Ask: which of Monday's three</a:t>
            </a:r>
          </a:p>
          <a:p>
            <a:r>
              <a:t>objections is this most like? Expect: marketing's "the guarantee is the acquisition story",</a:t>
            </a:r>
          </a:p>
          <a:p>
            <a:r>
              <a:t>because both keep the gamed proxy visible while the real north star does the paying. The</a:t>
            </a:r>
          </a:p>
          <a:p>
            <a:r>
              <a:t>transfer is the same shape; the difference is the metric lives in a sales deck rather than</a:t>
            </a:r>
          </a:p>
          <a:p>
            <a:r>
              <a:t>on a city hoarding.</a:t>
            </a:r>
          </a:p>
          <a:p>
            <a:r>
              <a:t>Transition: the makeover gallery and the solution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Hand the three slides and three pages around. Walk them in order. Say:</a:t>
            </a:r>
          </a:p>
          <a:p>
            <a:r>
              <a:t>every one of these does one of the four things well; no one does all four, and that is the</a:t>
            </a:r>
          </a:p>
          <a:p>
            <a:r>
              <a:t>point of the morning. Call out one trap on each (a stray method word, a caveat late, a</a:t>
            </a:r>
          </a:p>
          <a:p>
            <a:r>
              <a:t>missing signer).</a:t>
            </a:r>
          </a:p>
          <a:p>
            <a:r>
              <a:t>Transition: Kahoot, close, and tomorrow's pre-read.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Run the eight items. After each, read one sentence of what it tested: the</a:t>
            </a:r>
          </a:p>
          <a:p>
            <a:r>
              <a:t>title, the denominator, the four moves, the four steps, the Hyderabad crowd trap, the UPI</a:t>
            </a:r>
          </a:p>
          <a:p>
            <a:r>
              <a:t>unit catch, the Delhi Metro unit trap, the Flipkart decimal trap. The Kahoot is in the</a:t>
            </a:r>
          </a:p>
          <a:p>
            <a:r>
              <a:t>trainer pack; a learner never sees the key.</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"You earned today" lines once. Point at the pre-read on the</a:t>
            </a:r>
          </a:p>
          <a:p>
            <a:r>
              <a:t>sheet; nothing to do before the morning but open it on the bus home. Close with: the</a:t>
            </a:r>
          </a:p>
          <a:p>
            <a:r>
              <a:t>afternoon dojo is the shape of every interview case the room will do in Weeks 15 and 20.</a:t>
            </a:r>
          </a:p>
          <a:p>
            <a:r>
              <a:t>Transition: close.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470741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TUESDAY  ·  AFTERNOON, 180 MINUTES</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The dojo, the written case, and two transcripts</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“Before the review, roughly how many drivers must be online at the evening peak on a weekday to keep rider wait under five minutes. Fifteen minutes, no dataset, assumptions stated.”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Hyderabad city head, Uber, to the senior analyst at 14:30</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2" name="TextBox 11"/>
          <p:cNvSpPr txBox="1"/>
          <p:nvPr/>
        </p:nvSpPr>
        <p:spPr>
          <a:xfrm>
            <a:off x="1005839"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How big is a number nobody has measured?</a:t>
            </a:r>
          </a:p>
        </p:txBody>
      </p:sp>
      <p:sp>
        <p:nvSpPr>
          <p:cNvPr id="13" name="TextBox 12"/>
          <p:cNvSpPr txBox="1"/>
          <p:nvPr/>
        </p:nvSpPr>
        <p:spPr>
          <a:xfrm>
            <a:off x="318211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4" name="TextBox 13"/>
          <p:cNvSpPr txBox="1"/>
          <p:nvPr/>
        </p:nvSpPr>
        <p:spPr>
          <a:xfrm>
            <a:off x="356616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goes on the one page to the city head?</a:t>
            </a:r>
          </a:p>
        </p:txBody>
      </p:sp>
      <p:sp>
        <p:nvSpPr>
          <p:cNvPr id="15" name="TextBox 14"/>
          <p:cNvSpPr txBox="1"/>
          <p:nvPr/>
        </p:nvSpPr>
        <p:spPr>
          <a:xfrm>
            <a:off x="57424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6" name="TextBox 15"/>
          <p:cNvSpPr txBox="1"/>
          <p:nvPr/>
        </p:nvSpPr>
        <p:spPr>
          <a:xfrm>
            <a:off x="6126480" y="5870448"/>
            <a:ext cx="1993392" cy="333756"/>
          </a:xfrm>
          <a:prstGeom prst="rect">
            <a:avLst/>
          </a:prstGeom>
          <a:noFill/>
        </p:spPr>
        <p:txBody>
          <a:bodyPr wrap="square" anchor="t" lIns="0" rIns="0" tIns="0" bIns="0">
            <a:spAutoFit/>
          </a:bodyPr>
          <a:lstStyle/>
          <a:p>
            <a:pPr algn="l"/>
            <a:r>
              <a:rPr sz="900" b="0" i="0">
                <a:solidFill>
                  <a:srgbClr val="FFFFFF"/>
                </a:solidFill>
                <a:latin typeface="Calibri"/>
              </a:rPr>
              <a:t>What does the slide sound like, spoken?</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The dojo, the written case, and two transcripts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big is a number nobody has measured?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are the four steps, and what makes an estimate honest when there is no dataset?</a:t>
            </a:r>
          </a:p>
        </p:txBody>
      </p:sp>
      <p:sp>
        <p:nvSpPr>
          <p:cNvPr id="10" name="Rounded Rectangle 9"/>
          <p:cNvSpPr/>
          <p:nvPr/>
        </p:nvSpPr>
        <p:spPr>
          <a:xfrm>
            <a:off x="731519"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big is a number nobody has measured?</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one page to the city head?</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slide sound like, spoken?</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the dojo, the written case, two transcripts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number is the sanity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chapter opens on the sanity check before the method is taught.</a:t>
            </a:r>
          </a:p>
        </p:txBody>
      </p:sp>
      <p:sp>
        <p:nvSpPr>
          <p:cNvPr id="9" name="TextBox 8"/>
          <p:cNvSpPr txBox="1"/>
          <p:nvPr/>
        </p:nvSpPr>
        <p:spPr>
          <a:xfrm>
            <a:off x="530352" y="1956816"/>
            <a:ext cx="11130991" cy="2040128"/>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For a weekday evening peak in Hyderabad, which of the following is the sanity check you would want?</a:t>
            </a:r>
          </a:p>
          <a:p>
            <a:pPr>
              <a:spcAft>
                <a:spcPts val="800"/>
              </a:spcAft>
            </a:pPr>
            <a:r>
              <a:rPr sz="1600" b="0" i="0">
                <a:solidFill>
                  <a:srgbClr val="1A1440"/>
                </a:solidFill>
                <a:latin typeface="Calibri"/>
              </a:rPr>
              <a:t>- a) Monday's full after total of rider requests, 256,556 across six weeks</a:t>
            </a:r>
          </a:p>
          <a:p>
            <a:pPr>
              <a:spcAft>
                <a:spcPts val="800"/>
              </a:spcAft>
            </a:pPr>
            <a:r>
              <a:rPr sz="1600" b="0" i="0">
                <a:solidFill>
                  <a:srgbClr val="1A1440"/>
                </a:solidFill>
                <a:latin typeface="Calibri"/>
              </a:rPr>
              <a:t>- b) A single after week's rider requests, about 42,000</a:t>
            </a:r>
          </a:p>
          <a:p>
            <a:pPr>
              <a:spcAft>
                <a:spcPts val="800"/>
              </a:spcAft>
            </a:pPr>
            <a:r>
              <a:rPr sz="1600" b="0" i="0">
                <a:solidFill>
                  <a:srgbClr val="1A1440"/>
                </a:solidFill>
                <a:latin typeface="Calibri"/>
              </a:rPr>
              <a:t>- c) A one-hour evening count from the Monday rush, if we could find one</a:t>
            </a:r>
          </a:p>
          <a:p>
            <a:pPr>
              <a:spcAft>
                <a:spcPts val="800"/>
              </a:spcAft>
            </a:pPr>
            <a:r>
              <a:rPr sz="1600" b="0" i="0">
                <a:solidFill>
                  <a:srgbClr val="1A1440"/>
                </a:solidFill>
                <a:latin typeface="Calibri"/>
              </a:rPr>
              <a:t>- d) The published total of registered drivers in Hyderabad (if any)</a:t>
            </a:r>
          </a:p>
        </p:txBody>
      </p:sp>
      <p:sp>
        <p:nvSpPr>
          <p:cNvPr id="10" name="Rounded Rectangle 9"/>
          <p:cNvSpPr/>
          <p:nvPr/>
        </p:nvSpPr>
        <p:spPr>
          <a:xfrm>
            <a:off x="530352" y="41249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297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43832"/>
            <a:ext cx="10564063" cy="358140"/>
          </a:xfrm>
          <a:prstGeom prst="rect">
            <a:avLst/>
          </a:prstGeom>
          <a:noFill/>
        </p:spPr>
        <p:txBody>
          <a:bodyPr wrap="square" anchor="ctr" lIns="0" rIns="0" tIns="0" bIns="0">
            <a:spAutoFit/>
          </a:bodyPr>
          <a:lstStyle/>
          <a:p>
            <a:r>
              <a:rPr sz="1500" b="1">
                <a:solidFill>
                  <a:srgbClr val="5B3FD6"/>
                </a:solidFill>
                <a:latin typeface="Calibri"/>
              </a:rPr>
              <a:t>Write your letter. </a:t>
            </a:r>
            <a:r>
              <a:rPr sz="1500" b="0" i="0">
                <a:solidFill>
                  <a:srgbClr val="1A1440"/>
                </a:solidFill>
                <a:latin typeface="Calibri"/>
              </a:rPr>
              <a:t>The reveal is after the four steps are taught.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14550" cy="152146"/>
          </a:xfrm>
          <a:prstGeom prst="rect">
            <a:avLst/>
          </a:prstGeom>
          <a:noFill/>
        </p:spPr>
        <p:txBody>
          <a:bodyPr wrap="square" anchor="t" lIns="0" rIns="0" tIns="0" bIns="0">
            <a:spAutoFit/>
          </a:bodyPr>
          <a:lstStyle/>
          <a:p>
            <a:pPr algn="l"/>
            <a:r>
              <a:rPr sz="700" b="1" i="0">
                <a:solidFill>
                  <a:srgbClr val="5B3FD6"/>
                </a:solidFill>
                <a:latin typeface="Calibri"/>
              </a:rPr>
              <a:t>How big is a number nobody has measured?</a:t>
            </a:r>
          </a:p>
        </p:txBody>
      </p:sp>
      <p:sp>
        <p:nvSpPr>
          <p:cNvPr id="15" name="Oval 14"/>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17" name="Oval 16"/>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canteen's tea, four steps, one toy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shape of a guesstimate look like when nothing is at stake?</a:t>
            </a:r>
          </a:p>
        </p:txBody>
      </p:sp>
      <p:sp>
        <p:nvSpPr>
          <p:cNvPr id="9" name="TextBox 8"/>
          <p:cNvSpPr txBox="1"/>
          <p:nvPr/>
        </p:nvSpPr>
        <p:spPr>
          <a:xfrm>
            <a:off x="530352" y="1682496"/>
            <a:ext cx="11130991" cy="495807"/>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On a weekday the campus canteen sells how many cups of tea?</a:t>
            </a:r>
            <a:r>
              <a:rPr sz="1600" b="0" i="0">
                <a:solidFill>
                  <a:srgbClr val="1A1440"/>
                </a:solidFill>
                <a:latin typeface="Calibri"/>
              </a:rPr>
              <a:t> The toy, invented for this class.</a:t>
            </a:r>
          </a:p>
        </p:txBody>
      </p:sp>
      <p:sp>
        <p:nvSpPr>
          <p:cNvPr id="10" name="Rounded Rectangle 9"/>
          <p:cNvSpPr/>
          <p:nvPr/>
        </p:nvSpPr>
        <p:spPr>
          <a:xfrm>
            <a:off x="530352" y="23063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4343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425192"/>
            <a:ext cx="10564063" cy="891540"/>
          </a:xfrm>
          <a:prstGeom prst="rect">
            <a:avLst/>
          </a:prstGeom>
          <a:noFill/>
        </p:spPr>
        <p:txBody>
          <a:bodyPr wrap="square" anchor="ctr" lIns="0" rIns="0" tIns="0" bIns="0">
            <a:spAutoFit/>
          </a:bodyPr>
          <a:lstStyle/>
          <a:p>
            <a:r>
              <a:rPr sz="1500" b="1">
                <a:solidFill>
                  <a:srgbClr val="5B3FD6"/>
                </a:solidFill>
                <a:latin typeface="Calibri"/>
              </a:rPr>
              <a:t>Clarify. </a:t>
            </a:r>
            <a:r>
              <a:rPr sz="1500" b="0" i="0">
                <a:solidFill>
                  <a:srgbClr val="1A1440"/>
                </a:solidFill>
                <a:latin typeface="Calibri"/>
              </a:rPr>
              <a:t>Weekday, cups not litres, one canteen, not the whole campus. The room asks the question that pins the scope: a hostel or the canteen in the main building; which hours; whether to count cups re-ordered at the same seat.</a:t>
            </a:r>
          </a:p>
        </p:txBody>
      </p:sp>
      <p:sp>
        <p:nvSpPr>
          <p:cNvPr id="13" name="Rounded Rectangle 12"/>
          <p:cNvSpPr/>
          <p:nvPr/>
        </p:nvSpPr>
        <p:spPr>
          <a:xfrm>
            <a:off x="530352" y="3545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673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664204"/>
            <a:ext cx="10564063" cy="624840"/>
          </a:xfrm>
          <a:prstGeom prst="rect">
            <a:avLst/>
          </a:prstGeom>
          <a:noFill/>
        </p:spPr>
        <p:txBody>
          <a:bodyPr wrap="square" anchor="ctr" lIns="0" rIns="0" tIns="0" bIns="0">
            <a:spAutoFit/>
          </a:bodyPr>
          <a:lstStyle/>
          <a:p>
            <a:r>
              <a:rPr sz="1500" b="1">
                <a:solidFill>
                  <a:srgbClr val="5B3FD6"/>
                </a:solidFill>
                <a:latin typeface="Calibri"/>
              </a:rPr>
              <a:t>Map. </a:t>
            </a:r>
            <a:r>
              <a:rPr sz="1500" b="0" i="0">
                <a:solidFill>
                  <a:srgbClr val="1A1440"/>
                </a:solidFill>
                <a:latin typeface="Calibri"/>
              </a:rPr>
              <a:t>Students on campus on a weekday, about 2,000. Share who buy tea, about 60 percent. Cups per tea-drinker per weekday, about 2.</a:t>
            </a:r>
          </a:p>
        </p:txBody>
      </p:sp>
      <p:sp>
        <p:nvSpPr>
          <p:cNvPr id="16" name="Rounded Rectangle 15"/>
          <p:cNvSpPr/>
          <p:nvPr/>
        </p:nvSpPr>
        <p:spPr>
          <a:xfrm>
            <a:off x="530352" y="451764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76656" y="464566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4636516"/>
            <a:ext cx="10564063" cy="358140"/>
          </a:xfrm>
          <a:prstGeom prst="rect">
            <a:avLst/>
          </a:prstGeom>
          <a:noFill/>
        </p:spPr>
        <p:txBody>
          <a:bodyPr wrap="square" anchor="ctr" lIns="0" rIns="0" tIns="0" bIns="0">
            <a:spAutoFit/>
          </a:bodyPr>
          <a:lstStyle/>
          <a:p>
            <a:r>
              <a:rPr sz="1500" b="1">
                <a:solidFill>
                  <a:srgbClr val="5B3FD6"/>
                </a:solidFill>
                <a:latin typeface="Calibri"/>
              </a:rPr>
              <a:t>Calculate. </a:t>
            </a:r>
            <a:r>
              <a:rPr sz="1500" b="0" i="0">
                <a:solidFill>
                  <a:srgbClr val="1A1440"/>
                </a:solidFill>
                <a:latin typeface="Calibri"/>
              </a:rPr>
              <a:t>2,000 x 0.6 x 2 is 2,400 cups. Said aloud; written on the board as the three numbers get fixed.</a:t>
            </a:r>
          </a:p>
        </p:txBody>
      </p:sp>
      <p:sp>
        <p:nvSpPr>
          <p:cNvPr id="19" name="Rounded Rectangle 18"/>
          <p:cNvSpPr/>
          <p:nvPr/>
        </p:nvSpPr>
        <p:spPr>
          <a:xfrm>
            <a:off x="530352" y="52232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76656" y="53512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77824" y="5342128"/>
            <a:ext cx="10564063" cy="624840"/>
          </a:xfrm>
          <a:prstGeom prst="rect">
            <a:avLst/>
          </a:prstGeom>
          <a:noFill/>
        </p:spPr>
        <p:txBody>
          <a:bodyPr wrap="square" anchor="ctr" lIns="0" rIns="0" tIns="0" bIns="0">
            <a:spAutoFit/>
          </a:bodyPr>
          <a:lstStyle/>
          <a:p>
            <a:r>
              <a:rPr sz="1500" b="1">
                <a:solidFill>
                  <a:srgbClr val="5B3FD6"/>
                </a:solidFill>
                <a:latin typeface="Calibri"/>
              </a:rPr>
              <a:t>Validate. </a:t>
            </a:r>
            <a:r>
              <a:rPr sz="1500" b="0" i="0">
                <a:solidFill>
                  <a:srgbClr val="1A1440"/>
                </a:solidFill>
                <a:latin typeface="Calibri"/>
              </a:rPr>
              <a:t>Against the canteen's own till for the Monday the room is standing in, if it has one. If not, against a rough comparator the room agrees on (the next canteen; a hostel's recent order).</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2114550" cy="152146"/>
          </a:xfrm>
          <a:prstGeom prst="rect">
            <a:avLst/>
          </a:prstGeom>
          <a:noFill/>
        </p:spPr>
        <p:txBody>
          <a:bodyPr wrap="square" anchor="t" lIns="0" rIns="0" tIns="0" bIns="0">
            <a:spAutoFit/>
          </a:bodyPr>
          <a:lstStyle/>
          <a:p>
            <a:pPr algn="l"/>
            <a:r>
              <a:rPr sz="700" b="1" i="0">
                <a:solidFill>
                  <a:srgbClr val="5B3FD6"/>
                </a:solidFill>
                <a:latin typeface="Calibri"/>
              </a:rPr>
              <a:t>How big is a number nobody has measured?</a:t>
            </a:r>
          </a:p>
        </p:txBody>
      </p:sp>
      <p:sp>
        <p:nvSpPr>
          <p:cNvPr id="24" name="Oval 23"/>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26" name="Oval 25"/>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steps, as the dojo runs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hold on its sheet as every pair tries one?</a:t>
            </a:r>
          </a:p>
        </p:txBody>
      </p:sp>
      <p:pic>
        <p:nvPicPr>
          <p:cNvPr id="9" name="mermaid diagram" descr="6bfbe76dc5672078.png"/>
          <p:cNvPicPr>
            <a:picLocks noChangeAspect="1"/>
          </p:cNvPicPr>
          <p:nvPr/>
        </p:nvPicPr>
        <p:blipFill>
          <a:blip r:embed="rId5"/>
          <a:stretch>
            <a:fillRect/>
          </a:stretch>
        </p:blipFill>
        <p:spPr>
          <a:xfrm>
            <a:off x="773753" y="1956816"/>
            <a:ext cx="10644187" cy="1857375"/>
          </a:xfrm>
          <a:prstGeom prst="rect">
            <a:avLst/>
          </a:prstGeom>
        </p:spPr>
      </p:pic>
      <p:sp>
        <p:nvSpPr>
          <p:cNvPr id="10" name="TextBox 9"/>
          <p:cNvSpPr txBox="1"/>
          <p:nvPr/>
        </p:nvSpPr>
        <p:spPr>
          <a:xfrm>
            <a:off x="530352" y="3960495"/>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scorer's card for the dojo</a:t>
            </a:r>
            <a:r>
              <a:rPr sz="1600" b="0" i="0">
                <a:solidFill>
                  <a:srgbClr val="1A1440"/>
                </a:solidFill>
                <a:latin typeface="Calibri"/>
              </a:rPr>
              <a:t>: did the estimator clarify before mapping? did they say every assumption aloud? did they validate in the right unit? and did they give a range before the final number? The scorer marks the four moves and never the final number.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14550" cy="152146"/>
          </a:xfrm>
          <a:prstGeom prst="rect">
            <a:avLst/>
          </a:prstGeom>
          <a:noFill/>
        </p:spPr>
        <p:txBody>
          <a:bodyPr wrap="square" anchor="t" lIns="0" rIns="0" tIns="0" bIns="0">
            <a:spAutoFit/>
          </a:bodyPr>
          <a:lstStyle/>
          <a:p>
            <a:pPr algn="l"/>
            <a:r>
              <a:rPr sz="700" b="1" i="0">
                <a:solidFill>
                  <a:srgbClr val="5B3FD6"/>
                </a:solidFill>
                <a:latin typeface="Calibri"/>
              </a:rPr>
              <a:t>How big is a number nobody has measured?</a:t>
            </a:r>
          </a:p>
        </p:txBody>
      </p:sp>
      <p:sp>
        <p:nvSpPr>
          <p:cNvPr id="13" name="Oval 12"/>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15" name="Oval 14"/>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Drivers online at the evening peak, worked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city head asking for, and what does the map look like?</a:t>
            </a:r>
          </a:p>
        </p:txBody>
      </p:sp>
      <p:pic>
        <p:nvPicPr>
          <p:cNvPr id="9" name="mermaid diagram" descr="C2_W04_D02_guesstimate_tree_STUDENT.png"/>
          <p:cNvPicPr>
            <a:picLocks noChangeAspect="1"/>
          </p:cNvPicPr>
          <p:nvPr/>
        </p:nvPicPr>
        <p:blipFill>
          <a:blip r:embed="rId4"/>
          <a:stretch>
            <a:fillRect/>
          </a:stretch>
        </p:blipFill>
        <p:spPr>
          <a:xfrm>
            <a:off x="2328158" y="1682496"/>
            <a:ext cx="7535378" cy="4200144"/>
          </a:xfrm>
          <a:prstGeom prst="rect">
            <a:avLst/>
          </a:prstGeom>
        </p:spPr>
      </p:pic>
      <p:sp>
        <p:nvSpPr>
          <p:cNvPr id="10" name="picture caption"/>
          <p:cNvSpPr txBox="1"/>
          <p:nvPr/>
        </p:nvSpPr>
        <p:spPr>
          <a:xfrm>
            <a:off x="530352" y="591921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guesstimate tree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14550" cy="152146"/>
          </a:xfrm>
          <a:prstGeom prst="rect">
            <a:avLst/>
          </a:prstGeom>
          <a:noFill/>
        </p:spPr>
        <p:txBody>
          <a:bodyPr wrap="square" anchor="t" lIns="0" rIns="0" tIns="0" bIns="0">
            <a:spAutoFit/>
          </a:bodyPr>
          <a:lstStyle/>
          <a:p>
            <a:pPr algn="l"/>
            <a:r>
              <a:rPr sz="700" b="1" i="0">
                <a:solidFill>
                  <a:srgbClr val="5B3FD6"/>
                </a:solidFill>
                <a:latin typeface="Calibri"/>
              </a:rPr>
              <a:t>How big is a number nobody has measured?</a:t>
            </a:r>
          </a:p>
        </p:txBody>
      </p:sp>
      <p:sp>
        <p:nvSpPr>
          <p:cNvPr id="13" name="Oval 12"/>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15" name="Oval 14"/>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UPI transactions a day, in pairs, seven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paired drill, and what does the scorer watch for?</a:t>
            </a:r>
          </a:p>
        </p:txBody>
      </p:sp>
      <p:pic>
        <p:nvPicPr>
          <p:cNvPr id="9" name="mermaid diagram" descr="234afdc653baaeef.png"/>
          <p:cNvPicPr>
            <a:picLocks noChangeAspect="1"/>
          </p:cNvPicPr>
          <p:nvPr/>
        </p:nvPicPr>
        <p:blipFill>
          <a:blip r:embed="rId5"/>
          <a:stretch>
            <a:fillRect/>
          </a:stretch>
        </p:blipFill>
        <p:spPr>
          <a:xfrm>
            <a:off x="3714419" y="1664208"/>
            <a:ext cx="4762855" cy="2295144"/>
          </a:xfrm>
          <a:prstGeom prst="rect">
            <a:avLst/>
          </a:prstGeom>
        </p:spPr>
      </p:pic>
      <p:sp>
        <p:nvSpPr>
          <p:cNvPr id="10" name="Rounded Rectangle 9"/>
          <p:cNvSpPr/>
          <p:nvPr/>
        </p:nvSpPr>
        <p:spPr>
          <a:xfrm>
            <a:off x="530352" y="400507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624840"/>
          </a:xfrm>
          <a:prstGeom prst="rect">
            <a:avLst/>
          </a:prstGeom>
          <a:noFill/>
        </p:spPr>
        <p:txBody>
          <a:bodyPr wrap="square" anchor="ctr" lIns="0" rIns="0" tIns="0" bIns="0">
            <a:spAutoFit/>
          </a:bodyPr>
          <a:lstStyle/>
          <a:p>
            <a:r>
              <a:rPr sz="1500" b="1">
                <a:solidFill>
                  <a:srgbClr val="5B3FD6"/>
                </a:solidFill>
                <a:latin typeface="Calibri"/>
              </a:rPr>
              <a:t>The paired estimate. </a:t>
            </a:r>
            <a:r>
              <a:rPr sz="1500" b="0" i="0">
                <a:solidFill>
                  <a:srgbClr val="1A1440"/>
                </a:solidFill>
                <a:latin typeface="Calibri"/>
              </a:rPr>
              <a:t>How many UPI transactions happen in India on an average day in September 2026? Seven minutes, in pairs, every assumption written on the sheet.</a:t>
            </a:r>
          </a:p>
        </p:txBody>
      </p:sp>
      <p:sp>
        <p:nvSpPr>
          <p:cNvPr id="13" name="Rounded Rectangle 12"/>
          <p:cNvSpPr/>
          <p:nvPr/>
        </p:nvSpPr>
        <p:spPr>
          <a:xfrm>
            <a:off x="530352" y="49773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1054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096256"/>
            <a:ext cx="10564063" cy="891540"/>
          </a:xfrm>
          <a:prstGeom prst="rect">
            <a:avLst/>
          </a:prstGeom>
          <a:noFill/>
        </p:spPr>
        <p:txBody>
          <a:bodyPr wrap="square" anchor="ctr" lIns="0" rIns="0" tIns="0" bIns="0">
            <a:spAutoFit/>
          </a:bodyPr>
          <a:lstStyle/>
          <a:p>
            <a:r>
              <a:rPr sz="1500" b="1">
                <a:solidFill>
                  <a:srgbClr val="5B3FD6"/>
                </a:solidFill>
                <a:latin typeface="Calibri"/>
              </a:rPr>
              <a:t>The map. </a:t>
            </a:r>
            <a:r>
              <a:rPr sz="1500" b="0" i="0">
                <a:solidFill>
                  <a:srgbClr val="1A1440"/>
                </a:solidFill>
                <a:latin typeface="Calibri"/>
              </a:rPr>
              <a:t>About 35 crore active UPI users (an assumption said aloud). About 2 to 3 payments a day per active user, split between person-to-merchant and person-to-person. 35 crore times 2.3 is about 80.5 crore, which rounds to about 80 crore.</a:t>
            </a:r>
          </a:p>
        </p:txBody>
      </p:sp>
      <p:sp>
        <p:nvSpPr>
          <p:cNvPr id="16" name="Rounded Rectangle 15"/>
          <p:cNvSpPr/>
          <p:nvPr/>
        </p:nvSpPr>
        <p:spPr>
          <a:xfrm>
            <a:off x="530352" y="6216396"/>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76656" y="6344411"/>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77824" y="6335267"/>
            <a:ext cx="10564063" cy="1424940"/>
          </a:xfrm>
          <a:prstGeom prst="rect">
            <a:avLst/>
          </a:prstGeom>
          <a:noFill/>
        </p:spPr>
        <p:txBody>
          <a:bodyPr wrap="square" anchor="ctr" lIns="0" rIns="0" tIns="0" bIns="0">
            <a:spAutoFit/>
          </a:bodyPr>
          <a:lstStyle/>
          <a:p>
            <a:r>
              <a:rPr sz="1500" b="1">
                <a:solidFill>
                  <a:srgbClr val="5B3FD6"/>
                </a:solidFill>
                <a:latin typeface="Calibri"/>
              </a:rPr>
              <a:t>The validate. </a:t>
            </a:r>
            <a:r>
              <a:rPr sz="1500" b="0" i="0">
                <a:solidFill>
                  <a:srgbClr val="1A1440"/>
                </a:solidFill>
                <a:latin typeface="Calibri"/>
              </a:rPr>
              <a:t>NPCI, through Outlook Money (verified 12 October 2026, R2 T3), reported 802 million per day on average in September 2026 and 24.07 billion in the month. </a:t>
            </a:r>
            <a:r>
              <a:rPr sz="1500" b="1" i="0">
                <a:solidFill>
                  <a:srgbClr val="1A1440"/>
                </a:solidFill>
                <a:latin typeface="Calibri"/>
              </a:rPr>
              <a:t>The catch</a:t>
            </a:r>
            <a:r>
              <a:rPr sz="1500" b="0" i="0">
                <a:solidFill>
                  <a:srgbClr val="1A1440"/>
                </a:solidFill>
                <a:latin typeface="Calibri"/>
              </a:rPr>
              <a:t>: a 30-day September against a 31-day October moves the monthly total by 3 percent, so a per-day figure is honest in a way a monthly total is not. Learners who divide the month by 31 get a lower per-day; the right unit is the per-day the source published.</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2114550" cy="152146"/>
          </a:xfrm>
          <a:prstGeom prst="rect">
            <a:avLst/>
          </a:prstGeom>
          <a:noFill/>
        </p:spPr>
        <p:txBody>
          <a:bodyPr wrap="square" anchor="t" lIns="0" rIns="0" tIns="0" bIns="0">
            <a:spAutoFit/>
          </a:bodyPr>
          <a:lstStyle/>
          <a:p>
            <a:pPr algn="l"/>
            <a:r>
              <a:rPr sz="700" b="1" i="0">
                <a:solidFill>
                  <a:srgbClr val="5B3FD6"/>
                </a:solidFill>
                <a:latin typeface="Calibri"/>
              </a:rPr>
              <a:t>How big is a number nobody has measured?</a:t>
            </a:r>
          </a:p>
        </p:txBody>
      </p:sp>
      <p:sp>
        <p:nvSpPr>
          <p:cNvPr id="21" name="Oval 20"/>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23" name="Oval 22"/>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three traps a sanity check saves you from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wrong when the validate step is skipped or run in the wrong unit?</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810722"/>
                <a:gridCol w="3133181"/>
                <a:gridCol w="3053905"/>
                <a:gridCol w="3133181"/>
              </a:tblGrid>
              <a:tr h="335280">
                <a:tc>
                  <a:txBody>
                    <a:bodyPr/>
                    <a:lstStyle/>
                    <a:p>
                      <a:r>
                        <a:rPr sz="1250" b="1" i="0">
                          <a:solidFill>
                            <a:srgbClr val="FFFFFF"/>
                          </a:solidFill>
                          <a:latin typeface="Calibri"/>
                        </a:rPr>
                        <a:t>Trap</a:t>
                      </a:r>
                    </a:p>
                  </a:txBody>
                  <a:tcPr marL="101600" marR="101600" marT="38100" marB="38100" anchor="ctr">
                    <a:solidFill>
                      <a:srgbClr val="1A0F5C"/>
                    </a:solidFill>
                  </a:tcPr>
                </a:tc>
                <a:tc>
                  <a:txBody>
                    <a:bodyPr/>
                    <a:lstStyle/>
                    <a:p>
                      <a:r>
                        <a:rPr sz="1250" b="1" i="0">
                          <a:solidFill>
                            <a:srgbClr val="FFFFFF"/>
                          </a:solidFill>
                          <a:latin typeface="Calibri"/>
                        </a:rPr>
                        <a:t>What a confident candidate says</a:t>
                      </a:r>
                    </a:p>
                  </a:txBody>
                  <a:tcPr marL="101600" marR="101600" marT="38100" marB="38100" anchor="ctr">
                    <a:solidFill>
                      <a:srgbClr val="1A0F5C"/>
                    </a:solidFill>
                  </a:tcPr>
                </a:tc>
                <a:tc>
                  <a:txBody>
                    <a:bodyPr/>
                    <a:lstStyle/>
                    <a:p>
                      <a:r>
                        <a:rPr sz="1250" b="1" i="0">
                          <a:solidFill>
                            <a:srgbClr val="FFFFFF"/>
                          </a:solidFill>
                          <a:latin typeface="Calibri"/>
                        </a:rPr>
                        <a:t>What the sanity check does</a:t>
                      </a:r>
                    </a:p>
                  </a:txBody>
                  <a:tcPr marL="101600" marR="101600" marT="38100" marB="38100" anchor="ctr">
                    <a:solidFill>
                      <a:srgbClr val="1A0F5C"/>
                    </a:solidFill>
                  </a:tcPr>
                </a:tc>
                <a:tc>
                  <a:txBody>
                    <a:bodyPr/>
                    <a:lstStyle/>
                    <a:p>
                      <a:r>
                        <a:rPr sz="1250" b="1" i="0">
                          <a:solidFill>
                            <a:srgbClr val="FFFFFF"/>
                          </a:solidFill>
                          <a:latin typeface="Calibri"/>
                        </a:rPr>
                        <a:t>Where this bites</a:t>
                      </a:r>
                    </a:p>
                  </a:txBody>
                  <a:tcPr marL="101600" marR="101600" marT="38100" marB="38100" anchor="ctr">
                    <a:solidFill>
                      <a:srgbClr val="1A0F5C"/>
                    </a:solidFill>
                  </a:tcPr>
                </a:tc>
              </a:tr>
              <a:tr h="749808">
                <a:tc>
                  <a:txBody>
                    <a:bodyPr/>
                    <a:lstStyle/>
                    <a:p>
                      <a:r>
                        <a:rPr sz="1200" b="0" i="0">
                          <a:solidFill>
                            <a:srgbClr val="1A1440"/>
                          </a:solidFill>
                          <a:latin typeface="Calibri"/>
                        </a:rPr>
                        <a:t>The crowd mistaken for the household</a:t>
                      </a:r>
                    </a:p>
                  </a:txBody>
                  <a:tcPr marL="101600" marR="101600" marT="38100" marB="38100" anchor="ctr">
                    <a:solidFill>
                      <a:srgbClr val="FFFFFF"/>
                    </a:solidFill>
                  </a:tcPr>
                </a:tc>
                <a:tc>
                  <a:txBody>
                    <a:bodyPr/>
                    <a:lstStyle/>
                    <a:p>
                      <a:r>
                        <a:rPr sz="1200" b="0" i="0">
                          <a:solidFill>
                            <a:srgbClr val="1A1440"/>
                          </a:solidFill>
                          <a:latin typeface="Calibri"/>
                        </a:rPr>
                        <a:t>"Hyderabad has about 9 million households"</a:t>
                      </a:r>
                    </a:p>
                  </a:txBody>
                  <a:tcPr marL="101600" marR="101600" marT="38100" marB="38100" anchor="ctr">
                    <a:solidFill>
                      <a:srgbClr val="FFFFFF"/>
                    </a:solidFill>
                  </a:tcPr>
                </a:tc>
                <a:tc>
                  <a:txBody>
                    <a:bodyPr/>
                    <a:lstStyle/>
                    <a:p>
                      <a:r>
                        <a:rPr sz="1200" b="0" i="0">
                          <a:solidFill>
                            <a:srgbClr val="1A1440"/>
                          </a:solidFill>
                          <a:latin typeface="Calibri"/>
                        </a:rPr>
                        <a:t>A city of about 10 million people cannot hold 9 million households</a:t>
                      </a:r>
                    </a:p>
                  </a:txBody>
                  <a:tcPr marL="101600" marR="101600" marT="38100" marB="38100" anchor="ctr">
                    <a:solidFill>
                      <a:srgbClr val="FFFFFF"/>
                    </a:solidFill>
                  </a:tcPr>
                </a:tc>
                <a:tc>
                  <a:txBody>
                    <a:bodyPr/>
                    <a:lstStyle/>
                    <a:p>
                      <a:r>
                        <a:rPr sz="1200" b="0" i="0">
                          <a:solidFill>
                            <a:srgbClr val="1A1440"/>
                          </a:solidFill>
                          <a:latin typeface="Calibri"/>
                        </a:rPr>
                        <a:t>A Kahoot item last week; a brochure number any analyst will fact-check soon</a:t>
                      </a:r>
                    </a:p>
                  </a:txBody>
                  <a:tcPr marL="101600" marR="101600" marT="38100" marB="38100" anchor="ctr">
                    <a:solidFill>
                      <a:srgbClr val="FFFFFF"/>
                    </a:solidFill>
                  </a:tcPr>
                </a:tc>
              </a:tr>
              <a:tr h="542544">
                <a:tc>
                  <a:txBody>
                    <a:bodyPr/>
                    <a:lstStyle/>
                    <a:p>
                      <a:r>
                        <a:rPr sz="1200" b="0" i="0">
                          <a:solidFill>
                            <a:srgbClr val="1A1440"/>
                          </a:solidFill>
                          <a:latin typeface="Calibri"/>
                        </a:rPr>
                        <a:t>The validation in the wrong unit</a:t>
                      </a:r>
                    </a:p>
                  </a:txBody>
                  <a:tcPr marL="101600" marR="101600" marT="38100" marB="38100" anchor="ctr">
                    <a:solidFill>
                      <a:srgbClr val="F4F2FA"/>
                    </a:solidFill>
                  </a:tcPr>
                </a:tc>
                <a:tc>
                  <a:txBody>
                    <a:bodyPr/>
                    <a:lstStyle/>
                    <a:p>
                      <a:r>
                        <a:rPr sz="1200" b="0" i="0">
                          <a:solidFill>
                            <a:srgbClr val="1A1440"/>
                          </a:solidFill>
                          <a:latin typeface="Calibri"/>
                        </a:rPr>
                        <a:t>Comparing journeys to boardings, one trip taken against one gate opened</a:t>
                      </a:r>
                    </a:p>
                  </a:txBody>
                  <a:tcPr marL="101600" marR="101600" marT="38100" marB="38100" anchor="ctr">
                    <a:solidFill>
                      <a:srgbClr val="F4F2FA"/>
                    </a:solidFill>
                  </a:tcPr>
                </a:tc>
                <a:tc>
                  <a:txBody>
                    <a:bodyPr/>
                    <a:lstStyle/>
                    <a:p>
                      <a:r>
                        <a:rPr sz="1200" b="0" i="0">
                          <a:solidFill>
                            <a:srgbClr val="1A1440"/>
                          </a:solidFill>
                          <a:latin typeface="Calibri"/>
                        </a:rPr>
                        <a:t>A journey involves two gate openings on average</a:t>
                      </a:r>
                    </a:p>
                  </a:txBody>
                  <a:tcPr marL="101600" marR="101600" marT="38100" marB="38100" anchor="ctr">
                    <a:solidFill>
                      <a:srgbClr val="F4F2FA"/>
                    </a:solidFill>
                  </a:tcPr>
                </a:tc>
                <a:tc>
                  <a:txBody>
                    <a:bodyPr/>
                    <a:lstStyle/>
                    <a:p>
                      <a:r>
                        <a:rPr sz="1200" b="0" i="0">
                          <a:solidFill>
                            <a:srgbClr val="1A1440"/>
                          </a:solidFill>
                          <a:latin typeface="Calibri"/>
                        </a:rPr>
                        <a:t>Delhi Metro's own figures, M6</a:t>
                      </a:r>
                    </a:p>
                  </a:txBody>
                  <a:tcPr marL="101600" marR="101600" marT="38100" marB="38100" anchor="ctr">
                    <a:solidFill>
                      <a:srgbClr val="F4F2FA"/>
                    </a:solidFill>
                  </a:tcPr>
                </a:tc>
              </a:tr>
              <a:tr h="542544">
                <a:tc>
                  <a:txBody>
                    <a:bodyPr/>
                    <a:lstStyle/>
                    <a:p>
                      <a:r>
                        <a:rPr sz="1200" b="0" i="0">
                          <a:solidFill>
                            <a:srgbClr val="1A1440"/>
                          </a:solidFill>
                          <a:latin typeface="Calibri"/>
                        </a:rPr>
                        <a:t>The published number read by a decimal</a:t>
                      </a:r>
                    </a:p>
                  </a:txBody>
                  <a:tcPr marL="101600" marR="101600" marT="38100" marB="38100" anchor="ctr">
                    <a:solidFill>
                      <a:srgbClr val="FFFFFF"/>
                    </a:solidFill>
                  </a:tcPr>
                </a:tc>
                <a:tc>
                  <a:txBody>
                    <a:bodyPr/>
                    <a:lstStyle/>
                    <a:p>
                      <a:r>
                        <a:rPr sz="1200" b="0" i="0">
                          <a:solidFill>
                            <a:srgbClr val="1A1440"/>
                          </a:solidFill>
                          <a:latin typeface="Calibri"/>
                        </a:rPr>
                        <a:t>"Flipkart saw 63 million concurrent users in a minute"</a:t>
                      </a:r>
                    </a:p>
                  </a:txBody>
                  <a:tcPr marL="101600" marR="101600" marT="38100" marB="38100" anchor="ctr">
                    <a:solidFill>
                      <a:srgbClr val="FFFFFF"/>
                    </a:solidFill>
                  </a:tcPr>
                </a:tc>
                <a:tc>
                  <a:txBody>
                    <a:bodyPr/>
                    <a:lstStyle/>
                    <a:p>
                      <a:r>
                        <a:rPr sz="1200" b="0" i="0">
                          <a:solidFill>
                            <a:srgbClr val="1A1440"/>
                          </a:solidFill>
                          <a:latin typeface="Calibri"/>
                        </a:rPr>
                        <a:t>The press release says 6.3 million; the URL slug reads 63 million</a:t>
                      </a:r>
                    </a:p>
                  </a:txBody>
                  <a:tcPr marL="101600" marR="101600" marT="38100" marB="38100" anchor="ctr">
                    <a:solidFill>
                      <a:srgbClr val="FFFFFF"/>
                    </a:solidFill>
                  </a:tcPr>
                </a:tc>
                <a:tc>
                  <a:txBody>
                    <a:bodyPr/>
                    <a:lstStyle/>
                    <a:p>
                      <a:r>
                        <a:rPr sz="1200" b="0" i="0">
                          <a:solidFill>
                            <a:srgbClr val="1A1440"/>
                          </a:solidFill>
                          <a:latin typeface="Calibri"/>
                        </a:rPr>
                        <a:t>Flipkart stories, R2 T3</a:t>
                      </a:r>
                    </a:p>
                  </a:txBody>
                  <a:tcPr marL="101600" marR="101600" marT="38100" marB="38100" anchor="ctr">
                    <a:solidFill>
                      <a:srgbClr val="FFFFFF"/>
                    </a:solidFill>
                  </a:tcPr>
                </a:tc>
              </a:tr>
            </a:tbl>
          </a:graphicData>
        </a:graphic>
      </p:graphicFrame>
      <p:sp>
        <p:nvSpPr>
          <p:cNvPr id="10" name="TextBox 9"/>
          <p:cNvSpPr txBox="1"/>
          <p:nvPr/>
        </p:nvSpPr>
        <p:spPr>
          <a:xfrm>
            <a:off x="530352" y="4383024"/>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Each trap is one skipped move</a:t>
            </a:r>
            <a:r>
              <a:rPr sz="1600" b="0" i="0">
                <a:solidFill>
                  <a:srgbClr val="1A1440"/>
                </a:solidFill>
                <a:latin typeface="Calibri"/>
              </a:rPr>
              <a:t>: clarify (crowds against households), validate (journeys against boardings), read (a decimal). The dojo's scorer marks the move; the room's estimates do not have to be close, only honest.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2114550" cy="152146"/>
          </a:xfrm>
          <a:prstGeom prst="rect">
            <a:avLst/>
          </a:prstGeom>
          <a:noFill/>
        </p:spPr>
        <p:txBody>
          <a:bodyPr wrap="square" anchor="t" lIns="0" rIns="0" tIns="0" bIns="0">
            <a:spAutoFit/>
          </a:bodyPr>
          <a:lstStyle/>
          <a:p>
            <a:pPr algn="l"/>
            <a:r>
              <a:rPr sz="700" b="1" i="0">
                <a:solidFill>
                  <a:srgbClr val="5B3FD6"/>
                </a:solidFill>
                <a:latin typeface="Calibri"/>
              </a:rPr>
              <a:t>How big is a number nobody has measured?</a:t>
            </a:r>
          </a:p>
        </p:txBody>
      </p:sp>
      <p:sp>
        <p:nvSpPr>
          <p:cNvPr id="13" name="Oval 12"/>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15" name="Oval 14"/>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goes on the one page to the city head?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the slide's claim become a page a non-technical leader can read in two minutes?</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 number nobody has measured?</a:t>
            </a:r>
          </a:p>
        </p:txBody>
      </p:sp>
      <p:sp>
        <p:nvSpPr>
          <p:cNvPr id="11" name="Rounded Rectangle 10"/>
          <p:cNvSpPr/>
          <p:nvPr/>
        </p:nvSpPr>
        <p:spPr>
          <a:xfrm>
            <a:off x="2990088"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goes on the one page to the city head?</a:t>
            </a:r>
          </a:p>
        </p:txBody>
      </p:sp>
      <p:sp>
        <p:nvSpPr>
          <p:cNvPr id="12" name="Rounded Rectangle 11"/>
          <p:cNvSpPr/>
          <p:nvPr/>
        </p:nvSpPr>
        <p:spPr>
          <a:xfrm>
            <a:off x="524865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slide sound like, spoken?</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the dojo, the written case, two transcripts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brief for the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asked of a page a city head reads in two minutes?</a:t>
            </a:r>
          </a:p>
        </p:txBody>
      </p:sp>
      <p:pic>
        <p:nvPicPr>
          <p:cNvPr id="9" name="mermaid diagram" descr="3f4ed19c5736f0cd.png"/>
          <p:cNvPicPr>
            <a:picLocks noChangeAspect="1"/>
          </p:cNvPicPr>
          <p:nvPr/>
        </p:nvPicPr>
        <p:blipFill>
          <a:blip r:embed="rId5"/>
          <a:stretch>
            <a:fillRect/>
          </a:stretch>
        </p:blipFill>
        <p:spPr>
          <a:xfrm>
            <a:off x="2216924" y="1682496"/>
            <a:ext cx="1413182" cy="4517136"/>
          </a:xfrm>
          <a:prstGeom prst="rect">
            <a:avLst/>
          </a:prstGeom>
        </p:spPr>
      </p:pic>
      <p:sp>
        <p:nvSpPr>
          <p:cNvPr id="10" name="Rounded Rectangle 9"/>
          <p:cNvSpPr/>
          <p:nvPr/>
        </p:nvSpPr>
        <p:spPr>
          <a:xfrm>
            <a:off x="5761917" y="1956816"/>
            <a:ext cx="5899425"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678180"/>
          </a:xfrm>
          <a:prstGeom prst="rect">
            <a:avLst/>
          </a:prstGeom>
          <a:noFill/>
        </p:spPr>
        <p:txBody>
          <a:bodyPr wrap="square" anchor="ctr" lIns="0" rIns="0" tIns="0" bIns="0">
            <a:spAutoFit/>
          </a:bodyPr>
          <a:lstStyle/>
          <a:p>
            <a:r>
              <a:rPr sz="1100" b="1">
                <a:solidFill>
                  <a:srgbClr val="5B3FD6"/>
                </a:solidFill>
                <a:latin typeface="Calibri"/>
              </a:rPr>
              <a:t>Audience. </a:t>
            </a:r>
            <a:r>
              <a:rPr sz="1100" b="0" i="0">
                <a:solidFill>
                  <a:srgbClr val="1A1440"/>
                </a:solidFill>
                <a:latin typeface="Calibri"/>
              </a:rPr>
              <a:t>The Hyderabad city head and the three roles in the review. Non-technical in parts: finance speaks rupees, driver operations speaks per-driver, marketing speaks sign-ups.</a:t>
            </a:r>
          </a:p>
        </p:txBody>
      </p:sp>
      <p:sp>
        <p:nvSpPr>
          <p:cNvPr id="13" name="Rounded Rectangle 12"/>
          <p:cNvSpPr/>
          <p:nvPr/>
        </p:nvSpPr>
        <p:spPr>
          <a:xfrm>
            <a:off x="5761917" y="2982468"/>
            <a:ext cx="5899425"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110484"/>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101340"/>
            <a:ext cx="5332497" cy="482600"/>
          </a:xfrm>
          <a:prstGeom prst="rect">
            <a:avLst/>
          </a:prstGeom>
          <a:noFill/>
        </p:spPr>
        <p:txBody>
          <a:bodyPr wrap="square" anchor="ctr" lIns="0" rIns="0" tIns="0" bIns="0">
            <a:spAutoFit/>
          </a:bodyPr>
          <a:lstStyle/>
          <a:p>
            <a:r>
              <a:rPr sz="1100" b="1">
                <a:solidFill>
                  <a:srgbClr val="5B3FD6"/>
                </a:solidFill>
                <a:latin typeface="Calibri"/>
              </a:rPr>
              <a:t>Length. </a:t>
            </a:r>
            <a:r>
              <a:rPr sz="1100" b="0" i="0">
                <a:solidFill>
                  <a:srgbClr val="1A1440"/>
                </a:solidFill>
                <a:latin typeface="Calibri"/>
              </a:rPr>
              <a:t>One page, half the room is weak on English; a page is a sentence a reader can carry.</a:t>
            </a:r>
          </a:p>
        </p:txBody>
      </p:sp>
      <p:sp>
        <p:nvSpPr>
          <p:cNvPr id="16" name="Rounded Rectangle 15"/>
          <p:cNvSpPr/>
          <p:nvPr/>
        </p:nvSpPr>
        <p:spPr>
          <a:xfrm>
            <a:off x="5761917" y="3812540"/>
            <a:ext cx="5899425" cy="1252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908221" y="3940556"/>
            <a:ext cx="45720" cy="9961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109389" y="3931412"/>
            <a:ext cx="5332497" cy="1069340"/>
          </a:xfrm>
          <a:prstGeom prst="rect">
            <a:avLst/>
          </a:prstGeom>
          <a:noFill/>
        </p:spPr>
        <p:txBody>
          <a:bodyPr wrap="square" anchor="ctr" lIns="0" rIns="0" tIns="0" bIns="0">
            <a:spAutoFit/>
          </a:bodyPr>
          <a:lstStyle/>
          <a:p>
            <a:r>
              <a:rPr sz="1100" b="1">
                <a:solidFill>
                  <a:srgbClr val="5B3FD6"/>
                </a:solidFill>
                <a:latin typeface="Calibri"/>
              </a:rPr>
              <a:t>Shape. </a:t>
            </a:r>
            <a:r>
              <a:rPr sz="1100" b="0" i="0">
                <a:solidFill>
                  <a:srgbClr val="1A1440"/>
                </a:solidFill>
                <a:latin typeface="Calibri"/>
              </a:rPr>
              <a:t>The claim first, as the opening sentence. The number with its denominator in the next sentence. The caveat in sight (a labelled hypothetical where it is not yet settled). The action in a sentence, the role who signs it, the saving in rupees over the six weeks the room has data for, as a range.</a:t>
            </a:r>
          </a:p>
        </p:txBody>
      </p:sp>
      <p:sp>
        <p:nvSpPr>
          <p:cNvPr id="19" name="Rounded Rectangle 18"/>
          <p:cNvSpPr/>
          <p:nvPr/>
        </p:nvSpPr>
        <p:spPr>
          <a:xfrm>
            <a:off x="5761917" y="5229352"/>
            <a:ext cx="5899425"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908221" y="5357368"/>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09389" y="5348224"/>
            <a:ext cx="5332497" cy="482600"/>
          </a:xfrm>
          <a:prstGeom prst="rect">
            <a:avLst/>
          </a:prstGeom>
          <a:noFill/>
        </p:spPr>
        <p:txBody>
          <a:bodyPr wrap="square" anchor="ctr" lIns="0" rIns="0" tIns="0" bIns="0">
            <a:spAutoFit/>
          </a:bodyPr>
          <a:lstStyle/>
          <a:p>
            <a:r>
              <a:rPr sz="1100" b="1">
                <a:solidFill>
                  <a:srgbClr val="5B3FD6"/>
                </a:solidFill>
                <a:latin typeface="Calibri"/>
              </a:rPr>
              <a:t>AI-free. </a:t>
            </a:r>
            <a:r>
              <a:rPr sz="1100" b="0" i="0">
                <a:solidFill>
                  <a:srgbClr val="1A1440"/>
                </a:solidFill>
                <a:latin typeface="Calibri"/>
              </a:rPr>
              <a:t>Written on the sheet, 40 minutes. Handed in at the end of the slot; the trainer picks three for the solution discussion.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How big is a number nobody has measured?</a:t>
            </a:r>
          </a:p>
        </p:txBody>
      </p:sp>
      <p:sp>
        <p:nvSpPr>
          <p:cNvPr id="24" name="Oval 23"/>
          <p:cNvSpPr/>
          <p:nvPr/>
        </p:nvSpPr>
        <p:spPr>
          <a:xfrm>
            <a:off x="28460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955798"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goes on the one page to the city head?</a:t>
            </a:r>
          </a:p>
        </p:txBody>
      </p:sp>
      <p:sp>
        <p:nvSpPr>
          <p:cNvPr id="26" name="Oval 25"/>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page, written, forty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writer doing, and what is the scorer looking for?</a:t>
            </a:r>
          </a:p>
        </p:txBody>
      </p:sp>
      <p:sp>
        <p:nvSpPr>
          <p:cNvPr id="9" name="Rounded Rectangle 8"/>
          <p:cNvSpPr/>
          <p:nvPr/>
        </p:nvSpPr>
        <p:spPr>
          <a:xfrm>
            <a:off x="530352" y="1943354"/>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71370"/>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62226"/>
            <a:ext cx="10564063" cy="553720"/>
          </a:xfrm>
          <a:prstGeom prst="rect">
            <a:avLst/>
          </a:prstGeom>
          <a:noFill/>
        </p:spPr>
        <p:txBody>
          <a:bodyPr wrap="square" anchor="ctr" lIns="0" rIns="0" tIns="0" bIns="0">
            <a:spAutoFit/>
          </a:bodyPr>
          <a:lstStyle/>
          <a:p>
            <a:r>
              <a:rPr sz="1300" b="1">
                <a:solidFill>
                  <a:srgbClr val="5B3FD6"/>
                </a:solidFill>
                <a:latin typeface="Calibri"/>
              </a:rPr>
              <a:t>Each learner writes on the sheet. </a:t>
            </a:r>
            <a:r>
              <a:rPr sz="1300" b="0" i="0">
                <a:solidFill>
                  <a:srgbClr val="1A1440"/>
                </a:solidFill>
                <a:latin typeface="Calibri"/>
              </a:rPr>
              <a:t>No laptops; the sheet is the record. Every writer is a solo writer; a seatmate reads the finished page only after the slot closes.</a:t>
            </a:r>
          </a:p>
        </p:txBody>
      </p:sp>
      <p:sp>
        <p:nvSpPr>
          <p:cNvPr id="12" name="TextBox 11"/>
          <p:cNvSpPr txBox="1"/>
          <p:nvPr/>
        </p:nvSpPr>
        <p:spPr>
          <a:xfrm>
            <a:off x="530352" y="2844546"/>
            <a:ext cx="11130991" cy="2460752"/>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The scorer sheet</a:t>
            </a:r>
            <a:r>
              <a:rPr sz="1400" b="0" i="0">
                <a:solidFill>
                  <a:srgbClr val="1A1440"/>
                </a:solidFill>
                <a:latin typeface="Calibri"/>
              </a:rPr>
              <a:t> (handed with the one page, to the writer, after the slot):</a:t>
            </a:r>
          </a:p>
          <a:p>
            <a:pPr>
              <a:spcAft>
                <a:spcPts val="700"/>
              </a:spcAft>
            </a:pPr>
            <a:r>
              <a:rPr sz="1400" b="0" i="0">
                <a:solidFill>
                  <a:srgbClr val="1A1440"/>
                </a:solidFill>
                <a:latin typeface="Calibri"/>
              </a:rPr>
              <a:t>- Claim as the opening sentence? Yes or no.</a:t>
            </a:r>
          </a:p>
          <a:p>
            <a:pPr>
              <a:spcAft>
                <a:spcPts val="700"/>
              </a:spcAft>
            </a:pPr>
            <a:r>
              <a:rPr sz="1400" b="0" i="0">
                <a:solidFill>
                  <a:srgbClr val="1A1440"/>
                </a:solidFill>
                <a:latin typeface="Calibri"/>
              </a:rPr>
              <a:t>- Number named with its denominator? Yes or no.</a:t>
            </a:r>
          </a:p>
          <a:p>
            <a:pPr>
              <a:spcAft>
                <a:spcPts val="700"/>
              </a:spcAft>
            </a:pPr>
            <a:r>
              <a:rPr sz="1400" b="0" i="0">
                <a:solidFill>
                  <a:srgbClr val="1A1440"/>
                </a:solidFill>
                <a:latin typeface="Calibri"/>
              </a:rPr>
              <a:t>- Caveat in sight (not in a parenthesis at the end)? Yes or no.</a:t>
            </a:r>
          </a:p>
          <a:p>
            <a:pPr>
              <a:spcAft>
                <a:spcPts val="700"/>
              </a:spcAft>
            </a:pPr>
            <a:r>
              <a:rPr sz="1400" b="0" i="0">
                <a:solidFill>
                  <a:srgbClr val="1A1440"/>
                </a:solidFill>
                <a:latin typeface="Calibri"/>
              </a:rPr>
              <a:t>- Action named, with its signer and the saving as a range in rupees?</a:t>
            </a:r>
          </a:p>
          <a:p>
            <a:pPr>
              <a:spcAft>
                <a:spcPts val="700"/>
              </a:spcAft>
            </a:pPr>
            <a:r>
              <a:rPr sz="1400" b="0" i="0">
                <a:solidFill>
                  <a:srgbClr val="1A1440"/>
                </a:solidFill>
                <a:latin typeface="Calibri"/>
              </a:rPr>
              <a:t>- Did the page avoid method words (regression, variance, ratio of sums, denominator) that a non-technical reader would not know?</a:t>
            </a:r>
          </a:p>
        </p:txBody>
      </p:sp>
      <p:sp>
        <p:nvSpPr>
          <p:cNvPr id="13" name="Rounded Rectangle 12"/>
          <p:cNvSpPr/>
          <p:nvPr/>
        </p:nvSpPr>
        <p:spPr>
          <a:xfrm>
            <a:off x="530352" y="5433314"/>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561330"/>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52186"/>
            <a:ext cx="10564063" cy="322580"/>
          </a:xfrm>
          <a:prstGeom prst="rect">
            <a:avLst/>
          </a:prstGeom>
          <a:noFill/>
        </p:spPr>
        <p:txBody>
          <a:bodyPr wrap="square" anchor="ctr" lIns="0" rIns="0" tIns="0" bIns="0">
            <a:spAutoFit/>
          </a:bodyPr>
          <a:lstStyle/>
          <a:p>
            <a:r>
              <a:rPr sz="1300" b="1">
                <a:solidFill>
                  <a:srgbClr val="5B3FD6"/>
                </a:solidFill>
                <a:latin typeface="Calibri"/>
              </a:rPr>
              <a:t>One mark per yes; three or more passes. </a:t>
            </a:r>
            <a:r>
              <a:rPr sz="1300" b="0" i="0">
                <a:solidFill>
                  <a:srgbClr val="1A1440"/>
                </a:solidFill>
                <a:latin typeface="Calibri"/>
              </a:rPr>
              <a:t>The three the trainer picks for the solution discussion are three different passes.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How big is a number nobody has measured?</a:t>
            </a:r>
          </a:p>
        </p:txBody>
      </p:sp>
      <p:sp>
        <p:nvSpPr>
          <p:cNvPr id="18" name="Oval 17"/>
          <p:cNvSpPr/>
          <p:nvPr/>
        </p:nvSpPr>
        <p:spPr>
          <a:xfrm>
            <a:off x="284607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955798" y="6437376"/>
            <a:ext cx="2194560" cy="152146"/>
          </a:xfrm>
          <a:prstGeom prst="rect">
            <a:avLst/>
          </a:prstGeom>
          <a:noFill/>
        </p:spPr>
        <p:txBody>
          <a:bodyPr wrap="square" anchor="t" lIns="0" rIns="0" tIns="0" bIns="0">
            <a:spAutoFit/>
          </a:bodyPr>
          <a:lstStyle/>
          <a:p>
            <a:pPr algn="l"/>
            <a:r>
              <a:rPr sz="700" b="1" i="0">
                <a:solidFill>
                  <a:srgbClr val="5B3FD6"/>
                </a:solidFill>
                <a:latin typeface="Calibri"/>
              </a:rPr>
              <a:t>What goes on the one page to the city head?</a:t>
            </a:r>
          </a:p>
        </p:txBody>
      </p:sp>
      <p:sp>
        <p:nvSpPr>
          <p:cNvPr id="20" name="Oval 19"/>
          <p:cNvSpPr/>
          <p:nvPr/>
        </p:nvSpPr>
        <p:spPr>
          <a:xfrm>
            <a:off x="52417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51526" y="6437376"/>
            <a:ext cx="2068544" cy="152146"/>
          </a:xfrm>
          <a:prstGeom prst="rect">
            <a:avLst/>
          </a:prstGeom>
          <a:noFill/>
        </p:spPr>
        <p:txBody>
          <a:bodyPr wrap="square" anchor="t" lIns="0" rIns="0" tIns="0" bIns="0">
            <a:spAutoFit/>
          </a:bodyPr>
          <a:lstStyle/>
          <a:p>
            <a:pPr algn="l"/>
            <a:r>
              <a:rPr sz="700" b="0" i="0">
                <a:solidFill>
                  <a:srgbClr val="6B6690"/>
                </a:solidFill>
                <a:latin typeface="Calibri"/>
              </a:rPr>
              <a:t>What does the slide sound like, spoken?</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slide sound like, spoken?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does a weak answer open on, and what does a hire-grade answer open on?</a:t>
            </a:r>
          </a:p>
        </p:txBody>
      </p:sp>
      <p:sp>
        <p:nvSpPr>
          <p:cNvPr id="10" name="Rounded Rectangle 9"/>
          <p:cNvSpPr/>
          <p:nvPr/>
        </p:nvSpPr>
        <p:spPr>
          <a:xfrm>
            <a:off x="731519"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big is a number nobody has measured?</a:t>
            </a:r>
          </a:p>
        </p:txBody>
      </p:sp>
      <p:sp>
        <p:nvSpPr>
          <p:cNvPr id="11" name="Rounded Rectangle 10"/>
          <p:cNvSpPr/>
          <p:nvPr/>
        </p:nvSpPr>
        <p:spPr>
          <a:xfrm>
            <a:off x="2990088"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goes on the one page to the city head?</a:t>
            </a:r>
          </a:p>
        </p:txBody>
      </p:sp>
      <p:sp>
        <p:nvSpPr>
          <p:cNvPr id="12" name="Rounded Rectangle 11"/>
          <p:cNvSpPr/>
          <p:nvPr/>
        </p:nvSpPr>
        <p:spPr>
          <a:xfrm>
            <a:off x="524865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slide sound like, spoken?</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2: the dojo, the written case, two transcripts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Transcript 1: present it to a non-technical leader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first thirty seconds a hire-grade candidate opens on?</a:t>
            </a:r>
          </a:p>
        </p:txBody>
      </p:sp>
      <p:sp>
        <p:nvSpPr>
          <p:cNvPr id="9" name="Rounded Rectangle 8"/>
          <p:cNvSpPr/>
          <p:nvPr/>
        </p:nvSpPr>
        <p:spPr>
          <a:xfrm>
            <a:off x="530352" y="1826260"/>
            <a:ext cx="11130991" cy="46989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54276"/>
            <a:ext cx="45720" cy="21386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45132"/>
            <a:ext cx="10564063" cy="287019"/>
          </a:xfrm>
          <a:prstGeom prst="rect">
            <a:avLst/>
          </a:prstGeom>
          <a:noFill/>
        </p:spPr>
        <p:txBody>
          <a:bodyPr wrap="square" anchor="ctr" lIns="0" rIns="0" tIns="0" bIns="0">
            <a:spAutoFit/>
          </a:bodyPr>
          <a:lstStyle/>
          <a:p>
            <a:r>
              <a:rPr sz="1100" b="1">
                <a:solidFill>
                  <a:srgbClr val="5B3FD6"/>
                </a:solidFill>
                <a:latin typeface="Calibri"/>
              </a:rPr>
              <a:t>The interviewer. </a:t>
            </a:r>
            <a:r>
              <a:rPr sz="1100" b="0" i="0">
                <a:solidFill>
                  <a:srgbClr val="1A1440"/>
                </a:solidFill>
                <a:latin typeface="Calibri"/>
              </a:rPr>
              <a:t>"Present this recommendation to a non-technical leader in two minutes."</a:t>
            </a:r>
          </a:p>
        </p:txBody>
      </p:sp>
      <p:sp>
        <p:nvSpPr>
          <p:cNvPr id="12" name="TextBox 11"/>
          <p:cNvSpPr txBox="1"/>
          <p:nvPr/>
        </p:nvSpPr>
        <p:spPr>
          <a:xfrm>
            <a:off x="530352" y="2460752"/>
            <a:ext cx="11130991" cy="841248"/>
          </a:xfrm>
          <a:prstGeom prst="rect">
            <a:avLst/>
          </a:prstGeom>
          <a:noFill/>
        </p:spPr>
        <p:txBody>
          <a:bodyPr wrap="square" anchor="t" lIns="0" rIns="0" tIns="0" bIns="0">
            <a:spAutoFit/>
          </a:bodyPr>
          <a:lstStyle/>
          <a:p>
            <a:pPr>
              <a:spcAft>
                <a:spcPts val="600"/>
              </a:spcAft>
            </a:pPr>
            <a:r>
              <a:rPr sz="1200" b="1" i="0">
                <a:solidFill>
                  <a:srgbClr val="1A1440"/>
                </a:solidFill>
                <a:latin typeface="Calibri"/>
              </a:rPr>
              <a:t>A weak opening (what the interviewer hears).</a:t>
            </a:r>
            <a:r>
              <a:rPr sz="1200" b="0" i="0">
                <a:solidFill>
                  <a:srgbClr val="1A1440"/>
                </a:solidFill>
                <a:latin typeface="Calibri"/>
              </a:rPr>
              <a:t> "So we looked at the dashboard, there are nine numbers, and I ran a regression. Peak online hours are up 24 percent, trips are up 3 percent, trips per hour fell from 1.9 to 1.6, acceptance dropped. We think the scheme is paying for hours."</a:t>
            </a:r>
          </a:p>
        </p:txBody>
      </p:sp>
      <p:sp>
        <p:nvSpPr>
          <p:cNvPr id="13" name="Rounded Rectangle 12"/>
          <p:cNvSpPr/>
          <p:nvPr/>
        </p:nvSpPr>
        <p:spPr>
          <a:xfrm>
            <a:off x="530352" y="3430016"/>
            <a:ext cx="11130991" cy="8610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58032"/>
            <a:ext cx="45720" cy="6050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48888"/>
            <a:ext cx="10564063" cy="678180"/>
          </a:xfrm>
          <a:prstGeom prst="rect">
            <a:avLst/>
          </a:prstGeom>
          <a:noFill/>
        </p:spPr>
        <p:txBody>
          <a:bodyPr wrap="square" anchor="ctr" lIns="0" rIns="0" tIns="0" bIns="0">
            <a:spAutoFit/>
          </a:bodyPr>
          <a:lstStyle/>
          <a:p>
            <a:r>
              <a:rPr sz="1100" b="1">
                <a:solidFill>
                  <a:srgbClr val="5B3FD6"/>
                </a:solidFill>
                <a:latin typeface="Calibri"/>
              </a:rPr>
              <a:t>A hire-grade opening. </a:t>
            </a:r>
            <a:r>
              <a:rPr sz="1100" b="0" i="0">
                <a:solidFill>
                  <a:srgbClr val="1A1440"/>
                </a:solidFill>
                <a:latin typeface="Calibri"/>
              </a:rPr>
              <a:t>"The peak scheme is paying for online hours that do not carry trips. For every ten rupees of gross bookings an online hour used to earn, it now earns eight. The redesign is to pay per completed peak trip, with an acceptance guardrail. On the data we have, this saves between Rs 58 lakh and Rs 93 lakh over six weeks."</a:t>
            </a:r>
          </a:p>
        </p:txBody>
      </p:sp>
      <p:sp>
        <p:nvSpPr>
          <p:cNvPr id="16" name="TextBox 15"/>
          <p:cNvSpPr txBox="1"/>
          <p:nvPr/>
        </p:nvSpPr>
        <p:spPr>
          <a:xfrm>
            <a:off x="530352" y="4455668"/>
            <a:ext cx="11130991" cy="426720"/>
          </a:xfrm>
          <a:prstGeom prst="rect">
            <a:avLst/>
          </a:prstGeom>
          <a:noFill/>
        </p:spPr>
        <p:txBody>
          <a:bodyPr wrap="square" anchor="t" lIns="0" rIns="0" tIns="0" bIns="0">
            <a:spAutoFit/>
          </a:bodyPr>
          <a:lstStyle/>
          <a:p>
            <a:pPr>
              <a:spcAft>
                <a:spcPts val="600"/>
              </a:spcAft>
            </a:pPr>
            <a:r>
              <a:rPr sz="1200" b="1" i="0">
                <a:solidFill>
                  <a:srgbClr val="1A1440"/>
                </a:solidFill>
                <a:latin typeface="Calibri"/>
              </a:rPr>
              <a:t>The three follow-ups the interviewer asks.</a:t>
            </a:r>
          </a:p>
        </p:txBody>
      </p:sp>
      <p:sp>
        <p:nvSpPr>
          <p:cNvPr id="17" name="TextBox 16"/>
          <p:cNvSpPr txBox="1"/>
          <p:nvPr/>
        </p:nvSpPr>
        <p:spPr>
          <a:xfrm>
            <a:off x="530352" y="4973828"/>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8" name="TextBox 17"/>
          <p:cNvSpPr txBox="1"/>
          <p:nvPr/>
        </p:nvSpPr>
        <p:spPr>
          <a:xfrm>
            <a:off x="1097280" y="5010404"/>
            <a:ext cx="10564063" cy="299720"/>
          </a:xfrm>
          <a:prstGeom prst="rect">
            <a:avLst/>
          </a:prstGeom>
          <a:noFill/>
        </p:spPr>
        <p:txBody>
          <a:bodyPr wrap="square" anchor="t" lIns="0" rIns="0" tIns="0" bIns="0">
            <a:spAutoFit/>
          </a:bodyPr>
          <a:lstStyle/>
          <a:p>
            <a:r>
              <a:rPr sz="1100" b="0" i="0">
                <a:solidFill>
                  <a:srgbClr val="1A1440"/>
                </a:solidFill>
                <a:latin typeface="Calibri"/>
              </a:rPr>
              <a:t>"What is the one caveat you would say aloud before any decision is taken?"</a:t>
            </a:r>
          </a:p>
        </p:txBody>
      </p:sp>
      <p:sp>
        <p:nvSpPr>
          <p:cNvPr id="19" name="TextBox 18"/>
          <p:cNvSpPr txBox="1"/>
          <p:nvPr/>
        </p:nvSpPr>
        <p:spPr>
          <a:xfrm>
            <a:off x="530352" y="5346700"/>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20" name="TextBox 19"/>
          <p:cNvSpPr txBox="1"/>
          <p:nvPr/>
        </p:nvSpPr>
        <p:spPr>
          <a:xfrm>
            <a:off x="1097280" y="5383276"/>
            <a:ext cx="10564063" cy="299720"/>
          </a:xfrm>
          <a:prstGeom prst="rect">
            <a:avLst/>
          </a:prstGeom>
          <a:noFill/>
        </p:spPr>
        <p:txBody>
          <a:bodyPr wrap="square" anchor="t" lIns="0" rIns="0" tIns="0" bIns="0">
            <a:spAutoFit/>
          </a:bodyPr>
          <a:lstStyle/>
          <a:p>
            <a:r>
              <a:rPr sz="1100" b="0" i="0">
                <a:solidFill>
                  <a:srgbClr val="1A1440"/>
                </a:solidFill>
                <a:latin typeface="Calibri"/>
              </a:rPr>
              <a:t>"Which denominator did you choose, and what would make you choose a different one?"</a:t>
            </a:r>
          </a:p>
        </p:txBody>
      </p:sp>
      <p:sp>
        <p:nvSpPr>
          <p:cNvPr id="21" name="TextBox 20"/>
          <p:cNvSpPr txBox="1"/>
          <p:nvPr/>
        </p:nvSpPr>
        <p:spPr>
          <a:xfrm>
            <a:off x="530352" y="5719571"/>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22" name="TextBox 21"/>
          <p:cNvSpPr txBox="1"/>
          <p:nvPr/>
        </p:nvSpPr>
        <p:spPr>
          <a:xfrm>
            <a:off x="1097280" y="5756147"/>
            <a:ext cx="10564063" cy="299720"/>
          </a:xfrm>
          <a:prstGeom prst="rect">
            <a:avLst/>
          </a:prstGeom>
          <a:noFill/>
        </p:spPr>
        <p:txBody>
          <a:bodyPr wrap="square" anchor="t" lIns="0" rIns="0" tIns="0" bIns="0">
            <a:spAutoFit/>
          </a:bodyPr>
          <a:lstStyle/>
          <a:p>
            <a:r>
              <a:rPr sz="1100" b="0" i="0">
                <a:solidFill>
                  <a:srgbClr val="1A1440"/>
                </a:solidFill>
                <a:latin typeface="Calibri"/>
              </a:rPr>
              <a:t>"Which role in the review will side with you first?"</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How big is a number nobody has measured?</a:t>
            </a:r>
          </a:p>
        </p:txBody>
      </p:sp>
      <p:sp>
        <p:nvSpPr>
          <p:cNvPr id="25" name="Oval 24"/>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27" name="Oval 26"/>
          <p:cNvSpPr/>
          <p:nvPr/>
        </p:nvSpPr>
        <p:spPr>
          <a:xfrm>
            <a:off x="5241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351526" y="6437376"/>
            <a:ext cx="2068544" cy="152146"/>
          </a:xfrm>
          <a:prstGeom prst="rect">
            <a:avLst/>
          </a:prstGeom>
          <a:noFill/>
        </p:spPr>
        <p:txBody>
          <a:bodyPr wrap="square" anchor="t" lIns="0" rIns="0" tIns="0" bIns="0">
            <a:spAutoFit/>
          </a:bodyPr>
          <a:lstStyle/>
          <a:p>
            <a:pPr algn="l"/>
            <a:r>
              <a:rPr sz="700" b="1" i="0">
                <a:solidFill>
                  <a:srgbClr val="5B3FD6"/>
                </a:solidFill>
                <a:latin typeface="Calibri"/>
              </a:rPr>
              <a:t>What does the slide sound like, spoken?</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AI variant: acceptance rate in a sales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same shape sound like when the metric is an AI coding assistant's?</a:t>
            </a:r>
          </a:p>
        </p:txBody>
      </p:sp>
      <p:sp>
        <p:nvSpPr>
          <p:cNvPr id="9" name="Rounded Rectangle 8"/>
          <p:cNvSpPr/>
          <p:nvPr/>
        </p:nvSpPr>
        <p:spPr>
          <a:xfrm>
            <a:off x="530352" y="1956816"/>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784860"/>
          </a:xfrm>
          <a:prstGeom prst="rect">
            <a:avLst/>
          </a:prstGeom>
          <a:noFill/>
        </p:spPr>
        <p:txBody>
          <a:bodyPr wrap="square" anchor="ctr" lIns="0" rIns="0" tIns="0" bIns="0">
            <a:spAutoFit/>
          </a:bodyPr>
          <a:lstStyle/>
          <a:p>
            <a:r>
              <a:rPr sz="1300" b="1">
                <a:solidFill>
                  <a:srgbClr val="5B3FD6"/>
                </a:solidFill>
                <a:latin typeface="Calibri"/>
              </a:rPr>
              <a:t>The setup. </a:t>
            </a:r>
            <a:r>
              <a:rPr sz="1300" b="0" i="0">
                <a:solidFill>
                  <a:srgbClr val="1A1440"/>
                </a:solidFill>
                <a:latin typeface="Calibri"/>
              </a:rPr>
              <a:t>A head of product at an AI coding-assistant company has quoted "acceptance rate of 32 percent" to the sales deck for a year. The product analyst wants to change the measure: retained-text at the next commit, with acceptance rate as a leading input and build failures and revert rate as guardrails.</a:t>
            </a:r>
          </a:p>
        </p:txBody>
      </p:sp>
      <p:sp>
        <p:nvSpPr>
          <p:cNvPr id="12" name="Rounded Rectangle 11"/>
          <p:cNvSpPr/>
          <p:nvPr/>
        </p:nvSpPr>
        <p:spPr>
          <a:xfrm>
            <a:off x="530352" y="3089148"/>
            <a:ext cx="11130991" cy="50546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17164"/>
            <a:ext cx="45720" cy="24942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08020"/>
            <a:ext cx="10564063" cy="322580"/>
          </a:xfrm>
          <a:prstGeom prst="rect">
            <a:avLst/>
          </a:prstGeom>
          <a:noFill/>
        </p:spPr>
        <p:txBody>
          <a:bodyPr wrap="square" anchor="ctr" lIns="0" rIns="0" tIns="0" bIns="0">
            <a:spAutoFit/>
          </a:bodyPr>
          <a:lstStyle/>
          <a:p>
            <a:r>
              <a:rPr sz="1300" b="1">
                <a:solidFill>
                  <a:srgbClr val="5B3FD6"/>
                </a:solidFill>
                <a:latin typeface="Calibri"/>
              </a:rPr>
              <a:t>The objection. </a:t>
            </a:r>
            <a:r>
              <a:rPr sz="1300" b="0" i="0">
                <a:solidFill>
                  <a:srgbClr val="1A1440"/>
                </a:solidFill>
                <a:latin typeface="Calibri"/>
              </a:rPr>
              <a:t>"Acceptance rate is what customers see in the deck; cut it and the whole story changes."</a:t>
            </a:r>
          </a:p>
        </p:txBody>
      </p:sp>
      <p:sp>
        <p:nvSpPr>
          <p:cNvPr id="15" name="Rounded Rectangle 14"/>
          <p:cNvSpPr/>
          <p:nvPr/>
        </p:nvSpPr>
        <p:spPr>
          <a:xfrm>
            <a:off x="530352" y="3759200"/>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3887216"/>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878072"/>
            <a:ext cx="10564063" cy="553720"/>
          </a:xfrm>
          <a:prstGeom prst="rect">
            <a:avLst/>
          </a:prstGeom>
          <a:noFill/>
        </p:spPr>
        <p:txBody>
          <a:bodyPr wrap="square" anchor="ctr" lIns="0" rIns="0" tIns="0" bIns="0">
            <a:spAutoFit/>
          </a:bodyPr>
          <a:lstStyle/>
          <a:p>
            <a:r>
              <a:rPr sz="1300" b="1">
                <a:solidFill>
                  <a:srgbClr val="5B3FD6"/>
                </a:solidFill>
                <a:latin typeface="Calibri"/>
              </a:rPr>
              <a:t>The partly-right part. </a:t>
            </a:r>
            <a:r>
              <a:rPr sz="1300" b="0" i="0">
                <a:solidFill>
                  <a:srgbClr val="1A1440"/>
                </a:solidFill>
                <a:latin typeface="Calibri"/>
              </a:rPr>
              <a:t>The objection is right that acceptance rate is what customers see, so it should stay in the deck. The redesign keeps it as a leading input, under a north star that cannot be gamed by accepting and deleting.</a:t>
            </a:r>
          </a:p>
        </p:txBody>
      </p:sp>
      <p:sp>
        <p:nvSpPr>
          <p:cNvPr id="18" name="Rounded Rectangle 17"/>
          <p:cNvSpPr/>
          <p:nvPr/>
        </p:nvSpPr>
        <p:spPr>
          <a:xfrm>
            <a:off x="530352" y="4660392"/>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788408"/>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779264"/>
            <a:ext cx="10564063" cy="784860"/>
          </a:xfrm>
          <a:prstGeom prst="rect">
            <a:avLst/>
          </a:prstGeom>
          <a:noFill/>
        </p:spPr>
        <p:txBody>
          <a:bodyPr wrap="square" anchor="ctr" lIns="0" rIns="0" tIns="0" bIns="0">
            <a:spAutoFit/>
          </a:bodyPr>
          <a:lstStyle/>
          <a:p>
            <a:r>
              <a:rPr sz="1300" b="1">
                <a:solidFill>
                  <a:srgbClr val="5B3FD6"/>
                </a:solidFill>
                <a:latin typeface="Calibri"/>
              </a:rPr>
              <a:t>A hire-grade reply. </a:t>
            </a:r>
            <a:r>
              <a:rPr sz="1300" b="0" i="0">
                <a:solidFill>
                  <a:srgbClr val="1A1440"/>
                </a:solidFill>
                <a:latin typeface="Calibri"/>
              </a:rPr>
              <a:t>"Acceptance rate stays in the deck as the leading input. The north star we optimise, and report by cohort, is suggested text still present at the next commit. The two guardrails that stop a game are build failures and revert rate. The transition is one quarter: both are reported, the deck still carries acceptance."</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How big is a number nobody has measured?</a:t>
            </a:r>
          </a:p>
        </p:txBody>
      </p:sp>
      <p:sp>
        <p:nvSpPr>
          <p:cNvPr id="23" name="Oval 22"/>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25" name="Oval 24"/>
          <p:cNvSpPr/>
          <p:nvPr/>
        </p:nvSpPr>
        <p:spPr>
          <a:xfrm>
            <a:off x="5241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51526" y="6437376"/>
            <a:ext cx="2068544" cy="152146"/>
          </a:xfrm>
          <a:prstGeom prst="rect">
            <a:avLst/>
          </a:prstGeom>
          <a:noFill/>
        </p:spPr>
        <p:txBody>
          <a:bodyPr wrap="square" anchor="t" lIns="0" rIns="0" tIns="0" bIns="0">
            <a:spAutoFit/>
          </a:bodyPr>
          <a:lstStyle/>
          <a:p>
            <a:pPr algn="l"/>
            <a:r>
              <a:rPr sz="700" b="1" i="0">
                <a:solidFill>
                  <a:srgbClr val="5B3FD6"/>
                </a:solidFill>
                <a:latin typeface="Calibri"/>
              </a:rPr>
              <a:t>What does the slide sound like, spoken?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makeover gallery and the solution discussion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three slides the trainer picked show the room?</a:t>
            </a:r>
          </a:p>
        </p:txBody>
      </p:sp>
      <p:sp>
        <p:nvSpPr>
          <p:cNvPr id="9" name="TextBox 8"/>
          <p:cNvSpPr txBox="1"/>
          <p:nvPr/>
        </p:nvSpPr>
        <p:spPr>
          <a:xfrm>
            <a:off x="530352" y="195681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Three slides on the wall, kept from the morning's gallery.</a:t>
            </a:r>
            <a:r>
              <a:rPr sz="1600" b="0" i="0">
                <a:solidFill>
                  <a:srgbClr val="1A1440"/>
                </a:solidFill>
                <a:latin typeface="Calibri"/>
              </a:rPr>
              <a:t> One with the strongest claim as its title. One with the clearest in-sight caveat. One with the longest appendix, as a cautionary example.</a:t>
            </a:r>
          </a:p>
        </p:txBody>
      </p:sp>
      <p:sp>
        <p:nvSpPr>
          <p:cNvPr id="10" name="Rounded Rectangle 9"/>
          <p:cNvSpPr/>
          <p:nvPr/>
        </p:nvSpPr>
        <p:spPr>
          <a:xfrm>
            <a:off x="530352" y="28569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850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75864"/>
            <a:ext cx="10564063" cy="624840"/>
          </a:xfrm>
          <a:prstGeom prst="rect">
            <a:avLst/>
          </a:prstGeom>
          <a:noFill/>
        </p:spPr>
        <p:txBody>
          <a:bodyPr wrap="square" anchor="ctr" lIns="0" rIns="0" tIns="0" bIns="0">
            <a:spAutoFit/>
          </a:bodyPr>
          <a:lstStyle/>
          <a:p>
            <a:r>
              <a:rPr sz="1500" b="1">
                <a:solidFill>
                  <a:srgbClr val="5B3FD6"/>
                </a:solidFill>
                <a:latin typeface="Calibri"/>
              </a:rPr>
              <a:t>Three pages from the written case. </a:t>
            </a:r>
            <a:r>
              <a:rPr sz="1500" b="0" i="0">
                <a:solidFill>
                  <a:srgbClr val="1A1440"/>
                </a:solidFill>
                <a:latin typeface="Calibri"/>
              </a:rPr>
              <a:t>One opens on the claim, one handles the caveat best, one names the action with its signer.</a:t>
            </a:r>
          </a:p>
        </p:txBody>
      </p:sp>
      <p:sp>
        <p:nvSpPr>
          <p:cNvPr id="13" name="TextBox 12"/>
          <p:cNvSpPr txBox="1"/>
          <p:nvPr/>
        </p:nvSpPr>
        <p:spPr>
          <a:xfrm>
            <a:off x="530352" y="382930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Fifteen minutes of discussion</a:t>
            </a:r>
            <a:r>
              <a:rPr sz="1600" b="0" i="0">
                <a:solidFill>
                  <a:srgbClr val="1A1440"/>
                </a:solidFill>
                <a:latin typeface="Calibri"/>
              </a:rPr>
              <a:t>: the room reads one slide and one page, then the trainer names the move in each (claim, caveat, action). No marks; the gallery is a mirror.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How big is a number nobody has measured?</a:t>
            </a:r>
          </a:p>
        </p:txBody>
      </p:sp>
      <p:sp>
        <p:nvSpPr>
          <p:cNvPr id="16" name="Oval 15"/>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18" name="Oval 17"/>
          <p:cNvSpPr/>
          <p:nvPr/>
        </p:nvSpPr>
        <p:spPr>
          <a:xfrm>
            <a:off x="5241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351526" y="6437376"/>
            <a:ext cx="2068544" cy="152146"/>
          </a:xfrm>
          <a:prstGeom prst="rect">
            <a:avLst/>
          </a:prstGeom>
          <a:noFill/>
        </p:spPr>
        <p:txBody>
          <a:bodyPr wrap="square" anchor="t" lIns="0" rIns="0" tIns="0" bIns="0">
            <a:spAutoFit/>
          </a:bodyPr>
          <a:lstStyle/>
          <a:p>
            <a:pPr algn="l"/>
            <a:r>
              <a:rPr sz="700" b="1" i="0">
                <a:solidFill>
                  <a:srgbClr val="5B3FD6"/>
                </a:solidFill>
                <a:latin typeface="Calibri"/>
              </a:rPr>
              <a:t>What does the slide sound like, spoken?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no marks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run before the day closes?</a:t>
            </a:r>
          </a:p>
        </p:txBody>
      </p:sp>
      <p:sp>
        <p:nvSpPr>
          <p:cNvPr id="9" name="TextBox 8"/>
          <p:cNvSpPr txBox="1"/>
          <p:nvPr/>
        </p:nvSpPr>
        <p:spPr>
          <a:xfrm>
            <a:off x="530352" y="195681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Kahoot pack has eight items, used in the last fifteen minutes.</a:t>
            </a:r>
            <a:r>
              <a:rPr sz="1600" b="0" i="0">
                <a:solidFill>
                  <a:srgbClr val="1A1440"/>
                </a:solidFill>
                <a:latin typeface="Calibri"/>
              </a:rPr>
              <a:t> Five from the row (reworded with the city's numbers), one return question from Monday (the guardrail for a scheme that pays per trip), two more on the four moves of a defence and the sanity check. The trap item uses values other than 314 and 260 so the Kahoot cannot be answered by memorising the slide.</a:t>
            </a:r>
          </a:p>
        </p:txBody>
      </p:sp>
      <p:sp>
        <p:nvSpPr>
          <p:cNvPr id="10" name="Rounded Rectangle 9"/>
          <p:cNvSpPr/>
          <p:nvPr/>
        </p:nvSpPr>
        <p:spPr>
          <a:xfrm>
            <a:off x="530352" y="340969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3771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28568"/>
            <a:ext cx="10564063" cy="358140"/>
          </a:xfrm>
          <a:prstGeom prst="rect">
            <a:avLst/>
          </a:prstGeom>
          <a:noFill/>
        </p:spPr>
        <p:txBody>
          <a:bodyPr wrap="square" anchor="ctr" lIns="0" rIns="0" tIns="0" bIns="0">
            <a:spAutoFit/>
          </a:bodyPr>
          <a:lstStyle/>
          <a:p>
            <a:r>
              <a:rPr sz="1500" b="1">
                <a:solidFill>
                  <a:srgbClr val="5B3FD6"/>
                </a:solidFill>
                <a:latin typeface="Calibri"/>
              </a:rPr>
              <a:t>No marks on a Kahoot in a build week. </a:t>
            </a:r>
            <a:r>
              <a:rPr sz="1500" b="0" i="0">
                <a:solidFill>
                  <a:srgbClr val="1A1440"/>
                </a:solidFill>
                <a:latin typeface="Calibri"/>
              </a:rPr>
              <a:t>The reader's leaderboard is a prompt, not a grade.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How big is a number nobody has measured?</a:t>
            </a:r>
          </a:p>
        </p:txBody>
      </p:sp>
      <p:sp>
        <p:nvSpPr>
          <p:cNvPr id="15" name="Oval 14"/>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17" name="Oval 16"/>
          <p:cNvSpPr/>
          <p:nvPr/>
        </p:nvSpPr>
        <p:spPr>
          <a:xfrm>
            <a:off x="5241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51526" y="6437376"/>
            <a:ext cx="2068544" cy="152146"/>
          </a:xfrm>
          <a:prstGeom prst="rect">
            <a:avLst/>
          </a:prstGeom>
          <a:noFill/>
        </p:spPr>
        <p:txBody>
          <a:bodyPr wrap="square" anchor="t" lIns="0" rIns="0" tIns="0" bIns="0">
            <a:spAutoFit/>
          </a:bodyPr>
          <a:lstStyle/>
          <a:p>
            <a:pPr algn="l"/>
            <a:r>
              <a:rPr sz="700" b="1" i="0">
                <a:solidFill>
                  <a:srgbClr val="5B3FD6"/>
                </a:solidFill>
                <a:latin typeface="Calibri"/>
              </a:rPr>
              <a:t>What does the slide sound like, spoken?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tomorrow is the strip at Instamart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have you earned today, and what does the pre-read open 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You earned today. </a:t>
            </a:r>
            <a:r>
              <a:rPr sz="1500" b="0" i="0">
                <a:solidFill>
                  <a:srgbClr val="1A1440"/>
                </a:solidFill>
                <a:latin typeface="Calibri"/>
              </a:rPr>
              <a:t>One slide the three roles in the review can repeat accurately. The four moves of a defence under three objections, each partly right. A number sized from nothing, with every assumption said aloud and validated against a published figure in the right unit. One page to the city head, AI-free, handed in.</a:t>
            </a:r>
          </a:p>
        </p:txBody>
      </p:sp>
      <p:sp>
        <p:nvSpPr>
          <p:cNvPr id="12" name="TextBox 11"/>
          <p:cNvSpPr txBox="1"/>
          <p:nvPr/>
        </p:nvSpPr>
        <p:spPr>
          <a:xfrm>
            <a:off x="530352" y="3195828"/>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Tomorrow opens</a:t>
            </a:r>
            <a:r>
              <a:rPr sz="1600" b="0" i="0">
                <a:solidFill>
                  <a:srgbClr val="1A1440"/>
                </a:solidFill>
                <a:latin typeface="Calibri"/>
              </a:rPr>
              <a:t> on the Instamart cart page in Pune: three slots on the "frequently bought together" strip, a new ranking, and a click-through that fell. The pre-read on your sheet names the terms (support, confidence, lift) and lands them on no numbers yet.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How big is a number nobody has measured?</a:t>
            </a:r>
          </a:p>
        </p:txBody>
      </p:sp>
      <p:sp>
        <p:nvSpPr>
          <p:cNvPr id="15" name="Oval 14"/>
          <p:cNvSpPr/>
          <p:nvPr/>
        </p:nvSpPr>
        <p:spPr>
          <a:xfrm>
            <a:off x="284607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955798" y="6437376"/>
            <a:ext cx="2194560" cy="152146"/>
          </a:xfrm>
          <a:prstGeom prst="rect">
            <a:avLst/>
          </a:prstGeom>
          <a:noFill/>
        </p:spPr>
        <p:txBody>
          <a:bodyPr wrap="square" anchor="t" lIns="0" rIns="0" tIns="0" bIns="0">
            <a:spAutoFit/>
          </a:bodyPr>
          <a:lstStyle/>
          <a:p>
            <a:pPr algn="l"/>
            <a:r>
              <a:rPr sz="700" b="0" i="0">
                <a:solidFill>
                  <a:srgbClr val="6B6690"/>
                </a:solidFill>
                <a:latin typeface="Calibri"/>
              </a:rPr>
              <a:t>What goes on the one page to the city head?</a:t>
            </a:r>
          </a:p>
        </p:txBody>
      </p:sp>
      <p:sp>
        <p:nvSpPr>
          <p:cNvPr id="17" name="Oval 16"/>
          <p:cNvSpPr/>
          <p:nvPr/>
        </p:nvSpPr>
        <p:spPr>
          <a:xfrm>
            <a:off x="52417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51526" y="6437376"/>
            <a:ext cx="2068544" cy="152146"/>
          </a:xfrm>
          <a:prstGeom prst="rect">
            <a:avLst/>
          </a:prstGeom>
          <a:noFill/>
        </p:spPr>
        <p:txBody>
          <a:bodyPr wrap="square" anchor="t" lIns="0" rIns="0" tIns="0" bIns="0">
            <a:spAutoFit/>
          </a:bodyPr>
          <a:lstStyle/>
          <a:p>
            <a:pPr algn="l"/>
            <a:r>
              <a:rPr sz="700" b="1" i="0">
                <a:solidFill>
                  <a:srgbClr val="5B3FD6"/>
                </a:solidFill>
                <a:latin typeface="Calibri"/>
              </a:rPr>
              <a:t>What does the slide sound like, spoken?</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