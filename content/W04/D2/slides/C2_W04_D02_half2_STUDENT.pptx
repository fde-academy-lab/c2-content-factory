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20 minutes, straight after lunch. Two turns of seven minutes, then six to rebuild, as the</a:t>
            </a:r>
          </a:p>
          <a:p>
            <a:r>
              <a:t>trainer's studio run sheet sets round two. The member who presented first in round one objects first</a:t>
            </a:r>
          </a:p>
          <a:p>
            <a:r>
              <a:t>now. Collect the rebuilt slides; two groups present theirs to the room at the close if the slack</a:t>
            </a:r>
          </a:p>
          <a:p>
            <a:r>
              <a:t>allows.</a:t>
            </a:r>
          </a:p>
          <a:p>
            <a:r>
              <a:t>Transition: chapter 6, the guesstimate, on a campus canteen.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Concept chapter 4 of 5, 30 minutes, after the second studio round. The canteen,</a:t>
            </a:r>
          </a:p>
          <a:p>
            <a:r>
              <a:t>its till, the town, the phone pack and the school's pass rate are invented. Laptops stay shut until</a:t>
            </a:r>
          </a:p>
          <a:p>
            <a:r>
              <a:t>the code glimpse. Transition: who needs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 decision often cannot wait for data, which is why the method exists, and an</a:t>
            </a:r>
          </a:p>
          <a:p>
            <a:r>
              <a:t>interviewer asks for one because it shows how a person thinks. Read the four questions. Transition:</a:t>
            </a:r>
          </a:p>
          <a:p>
            <a:r>
              <a:t>before any method, everyone writes a number.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Rosling move first: everyone writes a number on paper before the candidates</a:t>
            </a:r>
          </a:p>
          <a:p>
            <a:r>
              <a:t>appear, and three learners read theirs out. Then the vote, a minute with a neighbour, the vote</a:t>
            </a:r>
          </a:p>
          <a:p>
            <a:r>
              <a:t>again. The misconception to say aloud: "the answer is what matters." Transition: the reveal.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Point at each step; the one first estimates skip is the fourth. Sources, both</a:t>
            </a:r>
          </a:p>
          <a:p>
            <a:r>
              <a:t>checked 13 October 2026: Think Insights, "Guesstimates" (3 December 2018), the row's own reference;</a:t>
            </a:r>
          </a:p>
          <a:p>
            <a:r>
              <a:t>and Aced's guide to analyst interviews, whose interviewer "isn't looking for a precise number". A</a:t>
            </a:r>
          </a:p>
          <a:p>
            <a:r>
              <a:t>number that is wildly off still costs the answer, which is why step 4 exists. Transition: the four</a:t>
            </a:r>
          </a:p>
          <a:p>
            <a:r>
              <a:t>steps, run on the canteen.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Ask the room for each value and its range, write the one it settles on, and say the</a:t>
            </a:r>
          </a:p>
          <a:p>
            <a:r>
              <a:t>running product aloud: 3,000, then 1,350 who buy, then 2,700 cups. Units multiply too: students x</a:t>
            </a:r>
          </a:p>
          <a:p>
            <a:r>
              <a:t>(buyers per student) x (cups per buyer) = cups. Callback: the map has the shape of Week 1's revenue</a:t>
            </a:r>
          </a:p>
          <a:p>
            <a:r>
              <a:t>tree, a chain of factors multiplied. Transition: which guess moves the answer most.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Move one factor at a time, the others held: that is what each bar is. A range that</a:t>
            </a:r>
          </a:p>
          <a:p>
            <a:r>
              <a:t>spans more than twice its low end tells the canteen head which number to count before ordering.</a:t>
            </a:r>
          </a:p>
          <a:p>
            <a:r>
              <a:t>Transition: the check.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The till is the right check: it counts cups, on a weekday, of tea sold. Then the</a:t>
            </a:r>
          </a:p>
          <a:p>
            <a:r>
              <a:t>three tests, which stay on the board all afternoon: unit, period, definition. The unit test's</a:t>
            </a:r>
          </a:p>
          <a:p>
            <a:r>
              <a:t>example is the trap on the next slide. Transition: the trap.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30 seconds. Read the wrong sentence confidently, as an interviewee would. Ask which</a:t>
            </a:r>
          </a:p>
          <a:p>
            <a:r>
              <a:t>of the four steps was skipped: clarify, since the unit was never written down. Then the code, in</a:t>
            </a:r>
          </a:p>
          <a:p>
            <a:r>
              <a:t>plain words: the ledger's three central guesses multiplied, the till averaged, the gap printed.</a:t>
            </a:r>
          </a:p>
          <a:p>
            <a:r>
              <a:t>Notebook 06 runs every step and all three tests. Transition: the rules.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Check question: "which known number checks the canteen's weekday estimate: the till</a:t>
            </a:r>
          </a:p>
          <a:p>
            <a:r>
              <a:t>for one weekday, the month's total takings, the coffee count, or the campus head count?" The till</a:t>
            </a:r>
          </a:p>
          <a:p>
            <a:r>
              <a:t>for one weekday: same unit, period and definition. Fill the map's fourth box. Transition: chapter</a:t>
            </a:r>
          </a:p>
          <a:p>
            <a:r>
              <a:t>7, the written case.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Concept chapter 5 of 5, 10 minutes. Ramesh's shop returns from chapter 1, with the</a:t>
            </a:r>
          </a:p>
          <a:p>
            <a:r>
              <a:t>same invented numbers. Transition: who needs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page is written because the people who decide read it when the presenter is</a:t>
            </a:r>
          </a:p>
          <a:p>
            <a:r>
              <a:t>not there. It is handed in and read against a short checklist, with nothing graded. Transition: two</a:t>
            </a:r>
          </a:p>
          <a:p>
            <a:r>
              <a:t>openings.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The misconception aloud: "a business case needs a spreadsheet and ten</a:t>
            </a:r>
          </a:p>
          <a:p>
            <a:r>
              <a:t>pages." Letter cards up. Transition: the reveal, and a company that bans slides.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Ask which suits Thursday, a slide or a memo: there is no single answer, and the</a:t>
            </a:r>
          </a:p>
          <a:p>
            <a:r>
              <a:t>afternoon's page is the memo form of the morning's slide. Transition: Ramesh's page, part by part.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30 seconds. Read the page aloud in under a minute, then point at the order: the</a:t>
            </a:r>
          </a:p>
          <a:p>
            <a:r>
              <a:t>caveat comes before the action, so the reader meets the doubt before the cost. Transition: what</a:t>
            </a:r>
          </a:p>
          <a:p>
            <a:r>
              <a:t>the draft carried that the page does not.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counts come from the page itself: nine lines and 13 numbers on the draft, four</a:t>
            </a:r>
          </a:p>
          <a:p>
            <a:r>
              <a:t>sentences and 7 numbers on the page, four method words against none. Notebook 07 counts them in</a:t>
            </a:r>
          </a:p>
          <a:p>
            <a:r>
              <a:t>three lines and runs the five rules of S69 on both versions: the draft passes none of them.</a:t>
            </a:r>
          </a:p>
          <a:p>
            <a:r>
              <a:t>Transition: the rules.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Check question: "a spreadsheet is attached to the page; which one thing</a:t>
            </a:r>
          </a:p>
          <a:p>
            <a:r>
              <a:t>must still be on the page itself?" The claim, as its first sentence, since the reader may never</a:t>
            </a:r>
          </a:p>
          <a:p>
            <a:r>
              <a:t>open the attachment. Fill the map's last box: all five topics are now taught. Transition: chapter</a:t>
            </a:r>
          </a:p>
          <a:p>
            <a:r>
              <a:t>8, the guesstimate applied to Uber.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The third case chapter, L5 of the ladder on an estimate, 37 minutes: 25 on the</a:t>
            </a:r>
          </a:p>
          <a:p>
            <a:r>
              <a:t>drivers worked together and 12 on UPI in pairs. Styles: Brilliant (the chapter opens on which</a:t>
            </a:r>
          </a:p>
          <a:p>
            <a:r>
              <a:t>number would check it), StatQuest (round numbers spoken aloud, the running product on the board),</a:t>
            </a:r>
          </a:p>
          <a:p>
            <a:r>
              <a:t>explorable explanations (the week's explorer at content/W04/D1/demos/C2_W04_D01_week_explorer_STUDENT.html, scene T3,</a:t>
            </a:r>
          </a:p>
          <a:p>
            <a:r>
              <a:t>the guesstimate tree with a slider per factor).</a:t>
            </a:r>
          </a:p>
          <a:p>
            <a:r>
              <a:t>Mid-session drill 2, four estimates and their checks, is in exercises/unguided for the lab if the</a:t>
            </a:r>
          </a:p>
          <a:p>
            <a:r>
              <a:t>room runs short here. Transition: what the chapter applies.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canteen taught the four steps this afternoon; here they meet a number a city head</a:t>
            </a:r>
          </a:p>
          <a:p>
            <a:r>
              <a:t>will spend money on. Transition: which number would check this estimate.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on paper, then a show of letters. Expect a, because it is the only number</a:t>
            </a:r>
          </a:p>
          <a:p>
            <a:r>
              <a:t>on the list the room has seen. Chapter 6's three tests decide it.</a:t>
            </a:r>
          </a:p>
          <a:p>
            <a:r>
              <a:t>Transition: the answer, and the rule behind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Point at the three words on the board since chapter 6: unit, period, definition.</a:t>
            </a:r>
          </a:p>
          <a:p>
            <a:r>
              <a:t>Transition: the city head's question, clarified.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30 seconds. Chapter 6's first step, on the city. Ask the room for the clarifying questions before showing the table. A candidate</a:t>
            </a:r>
          </a:p>
          <a:p>
            <a:r>
              <a:t>who skips this step is the one who lands on the trap at S78.</a:t>
            </a:r>
          </a:p>
          <a:p>
            <a:r>
              <a:t>Transition: the map.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30 seconds. Build the tree on the board with the room, leaf by leaf, asking for each value and</a:t>
            </a:r>
          </a:p>
          <a:p>
            <a:r>
              <a:t>its range. Explorer scene T3 has a slider per leaf. The idle share is a guess here; the validate</a:t>
            </a:r>
          </a:p>
          <a:p>
            <a:r>
              <a:t>step checks it like for like.</a:t>
            </a:r>
          </a:p>
          <a:p>
            <a:r>
              <a:t>Transition: the running product.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Say each step aloud and write the running result before the next. Then the</a:t>
            </a:r>
          </a:p>
          <a:p>
            <a:r>
              <a:t>question: letters on paper, two minutes with a neighbour, revote. A range that spans three times</a:t>
            </a:r>
          </a:p>
          <a:p>
            <a:r>
              <a:t>its low end beats one that spans a fifth.</a:t>
            </a:r>
          </a:p>
          <a:p>
            <a:r>
              <a:t>Transition: the swing chart.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Trips per person is also the first number to replace: Uber's own dashboard holds</a:t>
            </a:r>
          </a:p>
          <a:p>
            <a:r>
              <a:t>peak trips an hour. The idle share is the assumption Monday showed moving. Explorer scene T3 shows the</a:t>
            </a:r>
          </a:p>
          <a:p>
            <a:r>
              <a:t>same swing: drag the trips-per-person slider from end to end.</a:t>
            </a:r>
          </a:p>
          <a:p>
            <a:r>
              <a:t>Transition: the check.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Like for like means per completed trip on both sides: the chain counts trips, so</a:t>
            </a:r>
          </a:p>
          <a:p>
            <a:r>
              <a:t>the case's hours are divided by its trips, never its requests (0.47 per request mixes in the 11</a:t>
            </a:r>
          </a:p>
          <a:p>
            <a:r>
              <a:t>percent of requests nobody served). The idle share checks the same way: 1.90 trips x 25 minutes</a:t>
            </a:r>
          </a:p>
          <a:p>
            <a:r>
              <a:t>leaves an idle share of about 0.21 before the launch, the window that held the wait at 4.8 minutes.</a:t>
            </a:r>
          </a:p>
          <a:p>
            <a:r>
              <a:t>Transition: the trap a hurried estimate falls into.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Write 41,700 and 5,700 side by side. Ask which step of the four was skipped:</a:t>
            </a:r>
          </a:p>
          <a:p>
            <a:r>
              <a:t>clarify. This is the trap the interviewer fishes for in transcript 2.</a:t>
            </a:r>
          </a:p>
          <a:p>
            <a:r>
              <a:t>Transition: UPI, in pairs.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10 minutes. Three minutes to set up, seven on the clock. Collect three pairs' estimates on</a:t>
            </a:r>
          </a:p>
          <a:p>
            <a:r>
              <a:t>the board before the next slide.</a:t>
            </a:r>
          </a:p>
          <a:p>
            <a:r>
              <a:t>Transition: the published number.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board's estimates against 802 million. The worked chain lands 13 percent</a:t>
            </a:r>
          </a:p>
          <a:p>
            <a:r>
              <a:t>below, a little low, and payments a day is the factor to revisit: the Rs 1,220 a payment says the</a:t>
            </a:r>
          </a:p>
          <a:p>
            <a:r>
              <a:t>2 a day must split shops from people. Praise structure and the second check over closeness.</a:t>
            </a:r>
          </a:p>
          <a:p>
            <a:r>
              <a:t>Transition: three traps a sanity check catches.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published versions of chapter 6's three tests, one line each: each trap fails</a:t>
            </a:r>
          </a:p>
          <a:p>
            <a:r>
              <a:t>one of the three tests on the board, unit, period or definition.</a:t>
            </a:r>
          </a:p>
          <a:p>
            <a:r>
              <a:t>In 2018 DMRC's line-utilisation count tallied a trip across three lines three times (PTI, 30 May</a:t>
            </a:r>
          </a:p>
          <a:p>
            <a:r>
              <a:t>2018), another definition trap.</a:t>
            </a:r>
          </a:p>
          <a:p>
            <a:r>
              <a:t>Transition: what chapter 8 adds to Tuesday's node.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Then the break, 10 minutes.</a:t>
            </a:r>
          </a:p>
          <a:p>
            <a:r>
              <a:t>Transition: after the break, the page to the city head.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The fourth case chapter, L5 in writing, 35 minutes, individual and AI-free. Style:</a:t>
            </a:r>
          </a:p>
          <a:p>
            <a:r>
              <a:t>Feynman (plain words a driver would follow), Minto (the answer first). Transition: what the chapter</a:t>
            </a:r>
          </a:p>
          <a:p>
            <a:r>
              <a:t>applies.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Ramesh's page this afternoon was the worked example; the brief comes next.</a:t>
            </a:r>
          </a:p>
          <a:p>
            <a:r>
              <a:t>Transition: the brief.</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checklist handed back after the slot is S69's five rules as five questions: the</a:t>
            </a:r>
          </a:p>
          <a:p>
            <a:r>
              <a:t>claim first with what to do and why, one number with what it is divided by and its window, the</a:t>
            </a:r>
          </a:p>
          <a:p>
            <a:r>
              <a:t>caveat before the action, the action with its cost and who signs, and no method word. Nothing is</a:t>
            </a:r>
          </a:p>
          <a:p>
            <a:r>
              <a:t>graded. Chapter 7's page for Ramesh is the worked example.</a:t>
            </a:r>
          </a:p>
          <a:p>
            <a:r>
              <a:t>Transition: the thirty-five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32 minutes of silent writing; with the 3 minutes of the chapter's opener, S83 and S84 the</a:t>
            </a:r>
          </a:p>
          <a:p>
            <a:r>
              <a:t>chapter is the 35 the brief names. Walk once early to answer scope questions and once near the</a:t>
            </a:r>
          </a:p>
          <a:p>
            <a:r>
              <a:t>end to signal the clock. No teaching inside the slot. Notebook 09 is for after the page is handed</a:t>
            </a:r>
          </a:p>
          <a:p>
            <a:r>
              <a:t>in: it recounts the brief's numbers and runs chapter 7's page rules on a typed copy.</a:t>
            </a:r>
          </a:p>
          <a:p>
            <a:r>
              <a:t>Transition: the transcripts.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The fifth case chapter, L6 of the ladder, 12 minutes: transcript 1 read in pairs</a:t>
            </a:r>
          </a:p>
          <a:p>
            <a:r>
              <a:t>and scored; transcript 2 and transcript 3, the AI-company variant, are the evening's reading, from</a:t>
            </a:r>
          </a:p>
          <a:p>
            <a:r>
              <a:t>extras/C2_W04_D02_interview_room_STUDENT.md with the scorecard. Style: interview rehearsal on</a:t>
            </a:r>
          </a:p>
          <a:p>
            <a:r>
              <a:t>annotated answers. Transition: what the chapter applies.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Transition: transcript 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8 minutes. In pairs, one reads the interviewer, one the candidate; then the candidate answers</a:t>
            </a:r>
          </a:p>
          <a:p>
            <a:r>
              <a:t>the three follow-ups without notes. The weak opening reads numbers and lets the per-driver-week rise</a:t>
            </a:r>
          </a:p>
          <a:p>
            <a:r>
              <a:t>blur the claim. The full hire-grade answer, with the per-driver-week line checked (longer weeks,</a:t>
            </a:r>
          </a:p>
          <a:p>
            <a:r>
              <a:t>mostly the other 880 drivers there before the launch working about 4 percent more hours at an</a:t>
            </a:r>
          </a:p>
          <a:p>
            <a:r>
              <a:t>unchanged Rs 313.5 an hour, while the idle tail doubled its hours and brought in 12 percent less in</a:t>
            </a:r>
          </a:p>
          <a:p>
            <a:r>
              <a:t>fares), is in extras/C2_W04_D02_interview_room_STUDENT.md, and notebook 10 recomputes the numbers it</a:t>
            </a:r>
          </a:p>
          <a:p>
            <a:r>
              <a:t>speaks.</a:t>
            </a:r>
          </a:p>
          <a:p>
            <a:r>
              <a:t>Transition: transcript 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8 minutes, the evening's reading with the scorecard. Hire-grade lines for the follow-ups: the case's hours with no trip (22 and 38</a:t>
            </a:r>
          </a:p>
          <a:p>
            <a:r>
              <a:t>percent) are looser than idle at a moment, and like for like, its trips per hour before the launch,</a:t>
            </a:r>
          </a:p>
          <a:p>
            <a:r>
              <a:t>when the wait held at 4.8 minutes, give an idle share of about 0.21 and about 5,000 drivers; a four-hour window</a:t>
            </a:r>
          </a:p>
          <a:p>
            <a:r>
              <a:t>leaves the busiest half hour where it was, so the buffer rises to about 1.53 and the answer stays</a:t>
            </a:r>
          </a:p>
          <a:p>
            <a:r>
              <a:t>about 5,700; about 2,900 to 8,600 with everything else held, driven by trips per person.</a:t>
            </a:r>
          </a:p>
          <a:p>
            <a:r>
              <a:t>Transition: the AI-company variant.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6 minutes, the evening's reading. Ask yourself which of the morning's three objections this resembles. Expect marketing's:</a:t>
            </a:r>
          </a:p>
          <a:p>
            <a:r>
              <a:t>both keep the visible number while the north star does the judging. Check the units: 32 of 100</a:t>
            </a:r>
          </a:p>
          <a:p>
            <a:r>
              <a:t>suggestions accepted, and a fifth of those deleted, leaves about 26 of 100 suggestions shown; a</a:t>
            </a:r>
          </a:p>
          <a:p>
            <a:r>
              <a:t>share of characters would not multiply into a share of suggestions. The study: Ziegler and</a:t>
            </a:r>
          </a:p>
          <a:p>
            <a:r>
              <a:t>colleagues, arXiv 2205.06537, 13 May 2022 (checked 12 October 2026). A commit is a saved change to</a:t>
            </a:r>
          </a:p>
          <a:p>
            <a:r>
              <a:t>the code; a revert undoes one.</a:t>
            </a:r>
          </a:p>
          <a:p>
            <a:r>
              <a:t>Transition: scoring the transcripts.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Each pair scores both answers of one transcript on paper and compares with a</a:t>
            </a:r>
          </a:p>
          <a:p>
            <a:r>
              <a:t>neighbouring pair. The trainer's scored copies are in the trainer pack.</a:t>
            </a:r>
          </a:p>
          <a:p>
            <a:r>
              <a:t>Transition: the pain points.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close's first part. One line each; ask the room which one bit them today.</a:t>
            </a:r>
          </a:p>
          <a:p>
            <a:r>
              <a:t>Transition: the Kahoot.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12 minutes. Run the eight items from the Kahoot pack, read one line after each on what it</a:t>
            </a:r>
          </a:p>
          <a:p>
            <a:r>
              <a:t>tested, and revisit any item under 50 percent correct. Nothing is graded.</a:t>
            </a:r>
          </a:p>
          <a:p>
            <a:r>
              <a:t>Transition: where the day ends.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Read the sentence once. Wednesday's pre-read ships tonight: its five topics, their</a:t>
            </a:r>
          </a:p>
          <a:p>
            <a:r>
              <a:t>words and the Instamart ticket's first lines, terms only. Then say the handoff line, as the day sheet has it: "You can</a:t>
            </a:r>
          </a:p>
          <a:p>
            <a:r>
              <a:t>now put a number in front of the people who lose under it and size one from nothing. Tomorrow opens</a:t>
            </a:r>
          </a:p>
          <a:p>
            <a:r>
              <a:t>on five topics about counting what goes with what, then a strip that suggests what goes with what,</a:t>
            </a:r>
          </a:p>
          <a:p>
            <a:r>
              <a:t>and a click-through that fell when the strip began trusting counts. Read the topics and their words</a:t>
            </a:r>
          </a:p>
          <a:p>
            <a:r>
              <a:t>tonight; we count them by hand first."</a:t>
            </a:r>
          </a:p>
          <a:p>
            <a:r>
              <a:t>With the 6 minutes of slack, read three handed-in pages aloud, one strong part each.</a:t>
            </a:r>
          </a:p>
          <a:p>
            <a:r>
              <a:t>Transition: close.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xml"/><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xml"/><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xml"/><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0.xml"/><Relationship Id="rId5" Type="http://schemas.openxmlformats.org/officeDocument/2006/relationships/image" Target="../media/image9.png"/><Relationship Id="rId6"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7.xml"/><Relationship Id="rId5" Type="http://schemas.openxmlformats.org/officeDocument/2006/relationships/image" Target="../media/image9.png"/><Relationship Id="rId6"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3.xml"/><Relationship Id="rId5"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9.xml"/><Relationship Id="rId5"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1.xml"/><Relationship Id="rId5"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Studio round two: the seats swap</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changes when the presenter has sat in every objector's seat?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Each group keeps its threes. </a:t>
            </a:r>
            <a:r>
              <a:rPr sz="1500" b="0" i="0">
                <a:solidFill>
                  <a:srgbClr val="1A1440"/>
                </a:solidFill>
                <a:latin typeface="Calibri"/>
              </a:rPr>
              <a:t>Each presenter now shows the slide rebuilt after round one, and answers each objection by naming the appendix page, from the drawer on S51, that holds the detail.</a:t>
            </a:r>
          </a:p>
        </p:txBody>
      </p:sp>
      <p:sp>
        <p:nvSpPr>
          <p:cNvPr id="12" name="TextBox 11"/>
          <p:cNvSpPr txBox="1"/>
          <p:nvPr/>
        </p:nvSpPr>
        <p:spPr>
          <a:xfrm>
            <a:off x="530352" y="2929128"/>
            <a:ext cx="11130991" cy="772160"/>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The seats rotate through two turns of seven minutes, and then everyone has six minutes to rebuild their slide</a:t>
            </a:r>
            <a:r>
              <a:rPr sz="1600" b="0" i="0">
                <a:solidFill>
                  <a:srgbClr val="1A1440"/>
                </a:solidFill>
                <a:latin typeface="Calibri"/>
              </a:rPr>
              <a:t> with what the objections showed.</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7" name="Oval 16"/>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1" name="Oval 20"/>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S55  ·  1 / 44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06</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The guesstimate: clarify, map, calculate, validate</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How big is an unknown?</a:t>
            </a:r>
          </a:p>
        </p:txBody>
      </p:sp>
      <p:sp>
        <p:nvSpPr>
          <p:cNvPr id="10" name="TextBox 9"/>
          <p:cNvSpPr txBox="1"/>
          <p:nvPr/>
        </p:nvSpPr>
        <p:spPr>
          <a:xfrm>
            <a:off x="731519" y="3931920"/>
            <a:ext cx="9509760" cy="779526"/>
          </a:xfrm>
          <a:prstGeom prst="rect">
            <a:avLst/>
          </a:prstGeom>
          <a:noFill/>
        </p:spPr>
        <p:txBody>
          <a:bodyPr wrap="square" anchor="t" lIns="0" rIns="0" tIns="0" bIns="0">
            <a:spAutoFit/>
          </a:bodyPr>
          <a:lstStyle/>
          <a:p>
            <a:pPr algn="l"/>
            <a:r>
              <a:rPr sz="1500" b="0" i="0">
                <a:solidFill>
                  <a:srgbClr val="E4E1F1"/>
                </a:solidFill>
                <a:latin typeface="Calibri"/>
              </a:rPr>
              <a:t>The guesstimate, taught on a campus canteen's tea, invented for this chapter: a number nobody has measured, built from guesses you can defend, given as a range, and checked against something counted the same way.</a:t>
            </a:r>
          </a:p>
        </p:txBody>
      </p:sp>
      <p:sp>
        <p:nvSpPr>
          <p:cNvPr id="11" name="Rounded Rectangle 10"/>
          <p:cNvSpPr/>
          <p:nvPr/>
        </p:nvSpPr>
        <p:spPr>
          <a:xfrm>
            <a:off x="731519" y="5074920"/>
            <a:ext cx="166851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How big is an unknown?</a:t>
            </a:r>
          </a:p>
        </p:txBody>
      </p:sp>
      <p:sp>
        <p:nvSpPr>
          <p:cNvPr id="12" name="Rounded Rectangle 11"/>
          <p:cNvSpPr/>
          <p:nvPr/>
        </p:nvSpPr>
        <p:spPr>
          <a:xfrm>
            <a:off x="2509759"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must a page carry?</a:t>
            </a:r>
          </a:p>
        </p:txBody>
      </p:sp>
      <p:sp>
        <p:nvSpPr>
          <p:cNvPr id="13" name="Rounded Rectangle 12"/>
          <p:cNvSpPr/>
          <p:nvPr/>
        </p:nvSpPr>
        <p:spPr>
          <a:xfrm>
            <a:off x="4347214"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many at the peak?</a:t>
            </a:r>
          </a:p>
        </p:txBody>
      </p:sp>
      <p:sp>
        <p:nvSpPr>
          <p:cNvPr id="14" name="Rounded Rectangle 13"/>
          <p:cNvSpPr/>
          <p:nvPr/>
        </p:nvSpPr>
        <p:spPr>
          <a:xfrm>
            <a:off x="6066238"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goes on one page?</a:t>
            </a:r>
          </a:p>
        </p:txBody>
      </p:sp>
      <p:sp>
        <p:nvSpPr>
          <p:cNvPr id="15" name="Rounded Rectangle 14"/>
          <p:cNvSpPr/>
          <p:nvPr/>
        </p:nvSpPr>
        <p:spPr>
          <a:xfrm>
            <a:off x="7844477"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it sound like?</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2. How many drivers does the evening peak need, and can you say it on one page?</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 / 44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guesstimate sizes what nobody has measured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85343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1981454"/>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972310"/>
            <a:ext cx="10564063" cy="358140"/>
          </a:xfrm>
          <a:prstGeom prst="rect">
            <a:avLst/>
          </a:prstGeom>
          <a:noFill/>
        </p:spPr>
        <p:txBody>
          <a:bodyPr wrap="square" anchor="ctr" lIns="0" rIns="0" tIns="0" bIns="0">
            <a:spAutoFit/>
          </a:bodyPr>
          <a:lstStyle/>
          <a:p>
            <a:r>
              <a:rPr sz="1500" b="1">
                <a:solidFill>
                  <a:srgbClr val="5B3FD6"/>
                </a:solidFill>
                <a:latin typeface="Calibri"/>
              </a:rPr>
              <a:t>The topic. </a:t>
            </a:r>
            <a:r>
              <a:rPr sz="1500" b="0" i="0">
                <a:solidFill>
                  <a:srgbClr val="1A1440"/>
                </a:solidFill>
                <a:latin typeface="Calibri"/>
              </a:rPr>
              <a:t>The guesstimate: clarify, map, calculate, validate.</a:t>
            </a:r>
          </a:p>
        </p:txBody>
      </p:sp>
      <p:sp>
        <p:nvSpPr>
          <p:cNvPr id="12" name="Rounded Rectangle 11"/>
          <p:cNvSpPr/>
          <p:nvPr/>
        </p:nvSpPr>
        <p:spPr>
          <a:xfrm>
            <a:off x="530352" y="2559050"/>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2687066"/>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2677922"/>
            <a:ext cx="10564063" cy="11582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canteen head (invented), who must order milk for a weekday before any till report exists, and any interviewer who asks for a number aloud. A </a:t>
            </a:r>
            <a:r>
              <a:rPr sz="1500" b="1" i="0">
                <a:solidFill>
                  <a:srgbClr val="1A1440"/>
                </a:solidFill>
                <a:latin typeface="Calibri"/>
              </a:rPr>
              <a:t>guesstimate</a:t>
            </a:r>
            <a:r>
              <a:rPr sz="1500" b="0" i="0">
                <a:solidFill>
                  <a:srgbClr val="1A1440"/>
                </a:solidFill>
                <a:latin typeface="Calibri"/>
              </a:rPr>
              <a:t> is a rough count of something nobody has measured; an </a:t>
            </a:r>
            <a:r>
              <a:rPr sz="1500" b="1" i="0">
                <a:solidFill>
                  <a:srgbClr val="1A1440"/>
                </a:solidFill>
                <a:latin typeface="Calibri"/>
              </a:rPr>
              <a:t>assumption</a:t>
            </a:r>
            <a:r>
              <a:rPr sz="1500" b="0" i="0">
                <a:solidFill>
                  <a:srgbClr val="1A1440"/>
                </a:solidFill>
                <a:latin typeface="Calibri"/>
              </a:rPr>
              <a:t> is a guess said aloud with its range; the </a:t>
            </a:r>
            <a:r>
              <a:rPr sz="1500" b="1" i="0">
                <a:solidFill>
                  <a:srgbClr val="1A1440"/>
                </a:solidFill>
                <a:latin typeface="Calibri"/>
              </a:rPr>
              <a:t>range</a:t>
            </a:r>
            <a:r>
              <a:rPr sz="1500" b="0" i="0">
                <a:solidFill>
                  <a:srgbClr val="1A1440"/>
                </a:solidFill>
                <a:latin typeface="Calibri"/>
              </a:rPr>
              <a:t> is the lowest and highest answer you would still defend.</a:t>
            </a:r>
          </a:p>
        </p:txBody>
      </p:sp>
      <p:sp>
        <p:nvSpPr>
          <p:cNvPr id="15" name="Rectangle 14"/>
          <p:cNvSpPr/>
          <p:nvPr/>
        </p:nvSpPr>
        <p:spPr>
          <a:xfrm>
            <a:off x="1853145" y="4631689"/>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7" name="Oval 16"/>
          <p:cNvSpPr/>
          <p:nvPr/>
        </p:nvSpPr>
        <p:spPr>
          <a:xfrm>
            <a:off x="1752561"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5098033"/>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exactly is counted?</a:t>
            </a:r>
          </a:p>
        </p:txBody>
      </p:sp>
      <p:sp>
        <p:nvSpPr>
          <p:cNvPr id="20" name="TextBox 19"/>
          <p:cNvSpPr txBox="1"/>
          <p:nvPr/>
        </p:nvSpPr>
        <p:spPr>
          <a:xfrm>
            <a:off x="694944" y="5385816"/>
            <a:ext cx="2316403" cy="201676"/>
          </a:xfrm>
          <a:prstGeom prst="rect">
            <a:avLst/>
          </a:prstGeom>
          <a:noFill/>
        </p:spPr>
        <p:txBody>
          <a:bodyPr wrap="square" anchor="t" lIns="0" rIns="0" tIns="0" bIns="0">
            <a:spAutoFit/>
          </a:bodyPr>
          <a:lstStyle/>
          <a:p>
            <a:pPr algn="l"/>
            <a:r>
              <a:rPr sz="1000" b="0" i="0">
                <a:solidFill>
                  <a:srgbClr val="6B6690"/>
                </a:solidFill>
                <a:latin typeface="Calibri"/>
              </a:rPr>
              <a:t>The unit, the period, what counts.</a:t>
            </a:r>
          </a:p>
        </p:txBody>
      </p:sp>
      <p:sp>
        <p:nvSpPr>
          <p:cNvPr id="21" name="TextBox 20"/>
          <p:cNvSpPr txBox="1"/>
          <p:nvPr/>
        </p:nvSpPr>
        <p:spPr>
          <a:xfrm>
            <a:off x="3358819"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22" name="Oval 21"/>
          <p:cNvSpPr/>
          <p:nvPr/>
        </p:nvSpPr>
        <p:spPr>
          <a:xfrm>
            <a:off x="4581029"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5098033"/>
            <a:ext cx="2316403" cy="465836"/>
          </a:xfrm>
          <a:prstGeom prst="rect">
            <a:avLst/>
          </a:prstGeom>
          <a:noFill/>
        </p:spPr>
        <p:txBody>
          <a:bodyPr wrap="square" anchor="t" lIns="0" rIns="0" tIns="0" bIns="0">
            <a:spAutoFit/>
          </a:bodyPr>
          <a:lstStyle/>
          <a:p>
            <a:pPr algn="l"/>
            <a:r>
              <a:rPr sz="1300" b="1" i="0">
                <a:solidFill>
                  <a:srgbClr val="1A0F5C"/>
                </a:solidFill>
                <a:latin typeface="Calibri"/>
              </a:rPr>
              <a:t>Which factors multiply into it?</a:t>
            </a:r>
          </a:p>
        </p:txBody>
      </p:sp>
      <p:sp>
        <p:nvSpPr>
          <p:cNvPr id="25" name="TextBox 24"/>
          <p:cNvSpPr txBox="1"/>
          <p:nvPr/>
        </p:nvSpPr>
        <p:spPr>
          <a:xfrm>
            <a:off x="3523411" y="5600445"/>
            <a:ext cx="2316403" cy="366776"/>
          </a:xfrm>
          <a:prstGeom prst="rect">
            <a:avLst/>
          </a:prstGeom>
          <a:noFill/>
        </p:spPr>
        <p:txBody>
          <a:bodyPr wrap="square" anchor="t" lIns="0" rIns="0" tIns="0" bIns="0">
            <a:spAutoFit/>
          </a:bodyPr>
          <a:lstStyle/>
          <a:p>
            <a:pPr algn="l"/>
            <a:r>
              <a:rPr sz="1000" b="0" i="0">
                <a:solidFill>
                  <a:srgbClr val="6B6690"/>
                </a:solidFill>
                <a:latin typeface="Calibri"/>
              </a:rPr>
              <a:t>A chain, each factor a guess said aloud.</a:t>
            </a:r>
          </a:p>
        </p:txBody>
      </p:sp>
      <p:sp>
        <p:nvSpPr>
          <p:cNvPr id="26" name="TextBox 25"/>
          <p:cNvSpPr txBox="1"/>
          <p:nvPr/>
        </p:nvSpPr>
        <p:spPr>
          <a:xfrm>
            <a:off x="6187287"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7" name="Oval 26"/>
          <p:cNvSpPr/>
          <p:nvPr/>
        </p:nvSpPr>
        <p:spPr>
          <a:xfrm>
            <a:off x="7409497"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5098033"/>
            <a:ext cx="2316403" cy="465836"/>
          </a:xfrm>
          <a:prstGeom prst="rect">
            <a:avLst/>
          </a:prstGeom>
          <a:noFill/>
        </p:spPr>
        <p:txBody>
          <a:bodyPr wrap="square" anchor="t" lIns="0" rIns="0" tIns="0" bIns="0">
            <a:spAutoFit/>
          </a:bodyPr>
          <a:lstStyle/>
          <a:p>
            <a:pPr algn="l"/>
            <a:r>
              <a:rPr sz="1300" b="1" i="0">
                <a:solidFill>
                  <a:srgbClr val="1A0F5C"/>
                </a:solidFill>
                <a:latin typeface="Calibri"/>
              </a:rPr>
              <a:t>Which factor sets the range?</a:t>
            </a:r>
          </a:p>
        </p:txBody>
      </p:sp>
      <p:sp>
        <p:nvSpPr>
          <p:cNvPr id="30" name="TextBox 29"/>
          <p:cNvSpPr txBox="1"/>
          <p:nvPr/>
        </p:nvSpPr>
        <p:spPr>
          <a:xfrm>
            <a:off x="6351879" y="5600445"/>
            <a:ext cx="2316403" cy="201676"/>
          </a:xfrm>
          <a:prstGeom prst="rect">
            <a:avLst/>
          </a:prstGeom>
          <a:noFill/>
        </p:spPr>
        <p:txBody>
          <a:bodyPr wrap="square" anchor="t" lIns="0" rIns="0" tIns="0" bIns="0">
            <a:spAutoFit/>
          </a:bodyPr>
          <a:lstStyle/>
          <a:p>
            <a:pPr algn="l"/>
            <a:r>
              <a:rPr sz="1000" b="0" i="0">
                <a:solidFill>
                  <a:srgbClr val="6B6690"/>
                </a:solidFill>
                <a:latin typeface="Calibri"/>
              </a:rPr>
              <a:t>Each guess moved to its ends.</a:t>
            </a:r>
          </a:p>
        </p:txBody>
      </p:sp>
      <p:sp>
        <p:nvSpPr>
          <p:cNvPr id="31" name="TextBox 30"/>
          <p:cNvSpPr txBox="1"/>
          <p:nvPr/>
        </p:nvSpPr>
        <p:spPr>
          <a:xfrm>
            <a:off x="9015755"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32" name="Oval 31"/>
          <p:cNvSpPr/>
          <p:nvPr/>
        </p:nvSpPr>
        <p:spPr>
          <a:xfrm>
            <a:off x="10237965"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5098033"/>
            <a:ext cx="2316403" cy="251205"/>
          </a:xfrm>
          <a:prstGeom prst="rect">
            <a:avLst/>
          </a:prstGeom>
          <a:noFill/>
        </p:spPr>
        <p:txBody>
          <a:bodyPr wrap="square" anchor="t" lIns="0" rIns="0" tIns="0" bIns="0">
            <a:spAutoFit/>
          </a:bodyPr>
          <a:lstStyle/>
          <a:p>
            <a:pPr algn="l"/>
            <a:r>
              <a:rPr sz="1300" b="1" i="0">
                <a:solidFill>
                  <a:srgbClr val="1A0F5C"/>
                </a:solidFill>
                <a:latin typeface="Calibri"/>
              </a:rPr>
              <a:t>Is the answer sane?</a:t>
            </a:r>
          </a:p>
        </p:txBody>
      </p:sp>
      <p:sp>
        <p:nvSpPr>
          <p:cNvPr id="35" name="TextBox 34"/>
          <p:cNvSpPr txBox="1"/>
          <p:nvPr/>
        </p:nvSpPr>
        <p:spPr>
          <a:xfrm>
            <a:off x="9180347" y="5385816"/>
            <a:ext cx="2316403" cy="366776"/>
          </a:xfrm>
          <a:prstGeom prst="rect">
            <a:avLst/>
          </a:prstGeom>
          <a:noFill/>
        </p:spPr>
        <p:txBody>
          <a:bodyPr wrap="square" anchor="t" lIns="0" rIns="0" tIns="0" bIns="0">
            <a:spAutoFit/>
          </a:bodyPr>
          <a:lstStyle/>
          <a:p>
            <a:pPr algn="l"/>
            <a:r>
              <a:rPr sz="1000" b="0" i="0">
                <a:solidFill>
                  <a:srgbClr val="6B6690"/>
                </a:solidFill>
                <a:latin typeface="Calibri"/>
              </a:rPr>
              <a:t>Checked against a number someone counted.</a:t>
            </a:r>
          </a:p>
        </p:txBody>
      </p:sp>
      <p:sp>
        <p:nvSpPr>
          <p:cNvPr id="36" name="Oval 3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How big is an unknown?</a:t>
            </a:r>
          </a:p>
        </p:txBody>
      </p:sp>
      <p:sp>
        <p:nvSpPr>
          <p:cNvPr id="38" name="Oval 37"/>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40" name="Oval 39"/>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42" name="Oval 41"/>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44" name="Oval 43"/>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46" name="TextBox 4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S56  ·  3 / 44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Who scores higher, the chain or the near guess?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Write your own number for the cups of tea the campus canteen (invented) sells on a weekday. Then judge two candidates.</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Candidate A: </a:t>
            </a:r>
            <a:r>
              <a:rPr sz="1500" b="0" i="0">
                <a:solidFill>
                  <a:srgbClr val="1A1440"/>
                </a:solidFill>
                <a:latin typeface="Calibri"/>
              </a:rPr>
              <a:t>"Students on campus times the share who buy tea times cups each: 3,000 x 0.45 x 2 = 2,700 cups. Checked against the till it runs high, so the share is the guess I would replace with a count first."</a:t>
            </a:r>
          </a:p>
        </p:txBody>
      </p:sp>
      <p:sp>
        <p:nvSpPr>
          <p:cNvPr id="12" name="Rounded Rectangle 11"/>
          <p:cNvSpPr/>
          <p:nvPr/>
        </p:nvSpPr>
        <p:spPr>
          <a:xfrm>
            <a:off x="530352" y="292912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3057144"/>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3048000"/>
            <a:ext cx="10564063" cy="358140"/>
          </a:xfrm>
          <a:prstGeom prst="rect">
            <a:avLst/>
          </a:prstGeom>
          <a:noFill/>
        </p:spPr>
        <p:txBody>
          <a:bodyPr wrap="square" anchor="ctr" lIns="0" rIns="0" tIns="0" bIns="0">
            <a:spAutoFit/>
          </a:bodyPr>
          <a:lstStyle/>
          <a:p>
            <a:r>
              <a:rPr sz="1500" b="1">
                <a:solidFill>
                  <a:srgbClr val="5B3FD6"/>
                </a:solidFill>
                <a:latin typeface="Calibri"/>
              </a:rPr>
              <a:t>Candidate B: </a:t>
            </a:r>
            <a:r>
              <a:rPr sz="1500" b="0" i="0">
                <a:solidFill>
                  <a:srgbClr val="1A1440"/>
                </a:solidFill>
                <a:latin typeface="Calibri"/>
              </a:rPr>
              <a:t>"About 2,350 cups."</a:t>
            </a:r>
          </a:p>
        </p:txBody>
      </p:sp>
      <p:sp>
        <p:nvSpPr>
          <p:cNvPr id="15" name="TextBox 14"/>
          <p:cNvSpPr txBox="1"/>
          <p:nvPr/>
        </p:nvSpPr>
        <p:spPr>
          <a:xfrm>
            <a:off x="530352" y="3634740"/>
            <a:ext cx="11130991" cy="204012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till's five weekdays average 2,340 cups.</a:t>
            </a:r>
          </a:p>
          <a:p>
            <a:pPr>
              <a:spcAft>
                <a:spcPts val="800"/>
              </a:spcAft>
            </a:pPr>
            <a:r>
              <a:rPr sz="1600" b="0" i="0">
                <a:solidFill>
                  <a:srgbClr val="1A1440"/>
                </a:solidFill>
                <a:latin typeface="Calibri"/>
              </a:rPr>
              <a:t>a) B scores higher, because 2,350 sits ten cups from the till</a:t>
            </a:r>
          </a:p>
          <a:p>
            <a:pPr>
              <a:spcAft>
                <a:spcPts val="800"/>
              </a:spcAft>
            </a:pPr>
            <a:r>
              <a:rPr sz="1600" b="0" i="0">
                <a:solidFill>
                  <a:srgbClr val="1A1440"/>
                </a:solidFill>
                <a:latin typeface="Calibri"/>
              </a:rPr>
              <a:t>b) A scores higher, because the chain and the check show how the number was built</a:t>
            </a:r>
          </a:p>
          <a:p>
            <a:pPr>
              <a:spcAft>
                <a:spcPts val="800"/>
              </a:spcAft>
            </a:pPr>
            <a:r>
              <a:rPr sz="1600" b="0" i="0">
                <a:solidFill>
                  <a:srgbClr val="1A1440"/>
                </a:solidFill>
                <a:latin typeface="Calibri"/>
              </a:rPr>
              <a:t>c) They score the same, because both landed near the till</a:t>
            </a:r>
          </a:p>
          <a:p>
            <a:pPr>
              <a:spcAft>
                <a:spcPts val="800"/>
              </a:spcAft>
            </a:pPr>
            <a:r>
              <a:rPr sz="1600" b="0" i="0">
                <a:solidFill>
                  <a:srgbClr val="1A1440"/>
                </a:solidFill>
                <a:latin typeface="Calibri"/>
              </a:rPr>
              <a:t>d) Neither scores, because a number with no data cannot be marked</a:t>
            </a:r>
          </a:p>
        </p:txBody>
      </p:sp>
      <p:sp>
        <p:nvSpPr>
          <p:cNvPr id="16" name="Oval 1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How big is an unknown?</a:t>
            </a:r>
          </a:p>
        </p:txBody>
      </p:sp>
      <p:sp>
        <p:nvSpPr>
          <p:cNvPr id="18" name="Oval 17"/>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20" name="Oval 19"/>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22" name="Oval 21"/>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4" name="Oval 23"/>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S57  ·  4 / 44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b, the structure and the check are scored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the candidate further from the till score higher?</a:t>
            </a:r>
          </a:p>
        </p:txBody>
      </p:sp>
      <p:pic>
        <p:nvPicPr>
          <p:cNvPr id="9" name="mermaid diagram" descr="d3866130a82e4b0e.png"/>
          <p:cNvPicPr>
            <a:picLocks noChangeAspect="1"/>
          </p:cNvPicPr>
          <p:nvPr/>
        </p:nvPicPr>
        <p:blipFill>
          <a:blip r:embed="rId5"/>
          <a:stretch>
            <a:fillRect/>
          </a:stretch>
        </p:blipFill>
        <p:spPr>
          <a:xfrm>
            <a:off x="780897" y="1956816"/>
            <a:ext cx="10629900" cy="1857375"/>
          </a:xfrm>
          <a:prstGeom prst="rect">
            <a:avLst/>
          </a:prstGeom>
        </p:spPr>
      </p:pic>
      <p:sp>
        <p:nvSpPr>
          <p:cNvPr id="10" name="Rounded Rectangle 9"/>
          <p:cNvSpPr/>
          <p:nvPr/>
        </p:nvSpPr>
        <p:spPr>
          <a:xfrm>
            <a:off x="530352" y="3960495"/>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88510"/>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79367"/>
            <a:ext cx="10564063" cy="1158240"/>
          </a:xfrm>
          <a:prstGeom prst="rect">
            <a:avLst/>
          </a:prstGeom>
          <a:noFill/>
        </p:spPr>
        <p:txBody>
          <a:bodyPr wrap="square" anchor="ctr" lIns="0" rIns="0" tIns="0" bIns="0">
            <a:spAutoFit/>
          </a:bodyPr>
          <a:lstStyle/>
          <a:p>
            <a:r>
              <a:rPr sz="1500" b="1">
                <a:solidFill>
                  <a:srgbClr val="5B3FD6"/>
                </a:solidFill>
                <a:latin typeface="Calibri"/>
              </a:rPr>
              <a:t>The answer is b. </a:t>
            </a:r>
            <a:r>
              <a:rPr sz="1500" b="0" i="0">
                <a:solidFill>
                  <a:srgbClr val="1A1440"/>
                </a:solidFill>
                <a:latin typeface="Calibri"/>
              </a:rPr>
              <a:t>Think Insights' guide to guesstimates says the interviewer "is interested in your thought process; not the final result", and that "the best candidates validate their results &amp; try to spot their own mistake before telling their interviewer they are done". B's 2,350 cannot be checked, defended or improved; A's 2,700 shows which guess to replace. These are the four steps: clarify, map, calculate, validate.</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How big is an unknown?</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7" name="Oval 16"/>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1" name="Oval 20"/>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S58  ·  5 / 44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Clarify, map, calculate: 3,000 x 0.45 x 2 = 2,700</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 the steps run on the canteen, each said aloud?</a:t>
            </a:r>
          </a:p>
        </p:txBody>
      </p:sp>
      <p:pic>
        <p:nvPicPr>
          <p:cNvPr id="9" name="mermaid diagram" descr="ea5aebc731a7b1e4.png"/>
          <p:cNvPicPr>
            <a:picLocks noChangeAspect="1"/>
          </p:cNvPicPr>
          <p:nvPr/>
        </p:nvPicPr>
        <p:blipFill>
          <a:blip r:embed="rId5"/>
          <a:stretch>
            <a:fillRect/>
          </a:stretch>
        </p:blipFill>
        <p:spPr>
          <a:xfrm>
            <a:off x="701972" y="1682496"/>
            <a:ext cx="4443084" cy="4517136"/>
          </a:xfrm>
          <a:prstGeom prst="rect">
            <a:avLst/>
          </a:prstGeom>
        </p:spPr>
      </p:pic>
      <p:graphicFrame>
        <p:nvGraphicFramePr>
          <p:cNvPr id="10" name="Table 9"/>
          <p:cNvGraphicFramePr>
            <a:graphicFrameLocks noGrp="1"/>
          </p:cNvGraphicFramePr>
          <p:nvPr/>
        </p:nvGraphicFramePr>
        <p:xfrm>
          <a:off x="5761917" y="1956816"/>
          <a:ext cx="5899425" cy="2204720"/>
        </p:xfrm>
        <a:graphic>
          <a:graphicData uri="http://schemas.openxmlformats.org/drawingml/2006/table">
            <a:tbl>
              <a:tblPr firstRow="0" bandRow="0">
                <a:tableStyleId>{2D5ABB26-0587-4C30-8999-92F81FD0307C}</a:tableStyleId>
              </a:tblPr>
              <a:tblGrid>
                <a:gridCol w="1546054"/>
                <a:gridCol w="4353371"/>
              </a:tblGrid>
              <a:tr h="369824">
                <a:tc>
                  <a:txBody>
                    <a:bodyPr/>
                    <a:lstStyle/>
                    <a:p>
                      <a:r>
                        <a:rPr sz="1450" b="1" i="0">
                          <a:solidFill>
                            <a:srgbClr val="FFFFFF"/>
                          </a:solidFill>
                          <a:latin typeface="Calibri"/>
                        </a:rPr>
                        <a:t>Step</a:t>
                      </a:r>
                    </a:p>
                  </a:txBody>
                  <a:tcPr marL="101600" marR="101600" marT="38100" marB="38100" anchor="ctr">
                    <a:solidFill>
                      <a:srgbClr val="1A0F5C"/>
                    </a:solidFill>
                  </a:tcPr>
                </a:tc>
                <a:tc>
                  <a:txBody>
                    <a:bodyPr/>
                    <a:lstStyle/>
                    <a:p>
                      <a:r>
                        <a:rPr sz="1450" b="1" i="0">
                          <a:solidFill>
                            <a:srgbClr val="FFFFFF"/>
                          </a:solidFill>
                          <a:latin typeface="Calibri"/>
                        </a:rPr>
                        <a:t>On the campus canteen (invented)</a:t>
                      </a:r>
                    </a:p>
                  </a:txBody>
                  <a:tcPr marL="101600" marR="101600" marT="38100" marB="38100" anchor="ctr">
                    <a:solidFill>
                      <a:srgbClr val="1A0F5C"/>
                    </a:solidFill>
                  </a:tcPr>
                </a:tc>
              </a:tr>
              <a:tr h="611632">
                <a:tc>
                  <a:txBody>
                    <a:bodyPr/>
                    <a:lstStyle/>
                    <a:p>
                      <a:r>
                        <a:rPr sz="1400" b="0" i="0">
                          <a:solidFill>
                            <a:srgbClr val="1A1440"/>
                          </a:solidFill>
                          <a:latin typeface="Calibri"/>
                        </a:rPr>
                        <a:t>Clarify</a:t>
                      </a:r>
                    </a:p>
                  </a:txBody>
                  <a:tcPr marL="101600" marR="101600" marT="38100" marB="38100" anchor="ctr">
                    <a:solidFill>
                      <a:srgbClr val="FFFFFF"/>
                    </a:solidFill>
                  </a:tcPr>
                </a:tc>
                <a:tc>
                  <a:txBody>
                    <a:bodyPr/>
                    <a:lstStyle/>
                    <a:p>
                      <a:r>
                        <a:rPr sz="1400" b="0" i="0">
                          <a:solidFill>
                            <a:srgbClr val="1A1440"/>
                          </a:solidFill>
                          <a:latin typeface="Calibri"/>
                        </a:rPr>
                        <a:t>One canteen, one weekday, cups and never litres, tea and never coffee</a:t>
                      </a:r>
                    </a:p>
                  </a:txBody>
                  <a:tcPr marL="101600" marR="101600" marT="38100" marB="38100" anchor="ctr">
                    <a:solidFill>
                      <a:srgbClr val="FFFFFF"/>
                    </a:solidFill>
                  </a:tcPr>
                </a:tc>
              </a:tr>
              <a:tr h="611632">
                <a:tc>
                  <a:txBody>
                    <a:bodyPr/>
                    <a:lstStyle/>
                    <a:p>
                      <a:r>
                        <a:rPr sz="1400" b="0" i="0">
                          <a:solidFill>
                            <a:srgbClr val="1A1440"/>
                          </a:solidFill>
                          <a:latin typeface="Calibri"/>
                        </a:rPr>
                        <a:t>Map</a:t>
                      </a:r>
                    </a:p>
                  </a:txBody>
                  <a:tcPr marL="101600" marR="101600" marT="38100" marB="38100" anchor="ctr">
                    <a:solidFill>
                      <a:srgbClr val="F4F2FA"/>
                    </a:solidFill>
                  </a:tcPr>
                </a:tc>
                <a:tc>
                  <a:txBody>
                    <a:bodyPr/>
                    <a:lstStyle/>
                    <a:p>
                      <a:r>
                        <a:rPr sz="1400" b="0" i="0">
                          <a:solidFill>
                            <a:srgbClr val="1A1440"/>
                          </a:solidFill>
                          <a:latin typeface="Calibri"/>
                        </a:rPr>
                        <a:t>Cups a weekday = students on campus x the share who buy tea x cups each buyer drinks</a:t>
                      </a:r>
                    </a:p>
                  </a:txBody>
                  <a:tcPr marL="101600" marR="101600" marT="38100" marB="38100" anchor="ctr">
                    <a:solidFill>
                      <a:srgbClr val="F4F2FA"/>
                    </a:solidFill>
                  </a:tcPr>
                </a:tc>
              </a:tr>
              <a:tr h="611632">
                <a:tc>
                  <a:txBody>
                    <a:bodyPr/>
                    <a:lstStyle/>
                    <a:p>
                      <a:r>
                        <a:rPr sz="1400" b="0" i="0">
                          <a:solidFill>
                            <a:srgbClr val="1A1440"/>
                          </a:solidFill>
                          <a:latin typeface="Calibri"/>
                        </a:rPr>
                        <a:t>Calculate</a:t>
                      </a:r>
                    </a:p>
                  </a:txBody>
                  <a:tcPr marL="101600" marR="101600" marT="38100" marB="38100" anchor="ctr">
                    <a:solidFill>
                      <a:srgbClr val="FFFFFF"/>
                    </a:solidFill>
                  </a:tcPr>
                </a:tc>
                <a:tc>
                  <a:txBody>
                    <a:bodyPr/>
                    <a:lstStyle/>
                    <a:p>
                      <a:r>
                        <a:rPr sz="1400" b="0" i="0">
                          <a:solidFill>
                            <a:srgbClr val="1A1440"/>
                          </a:solidFill>
                          <a:latin typeface="Calibri"/>
                        </a:rPr>
                        <a:t>3,000 students, then 1,350 who buy (x 0.45), then 2,700 cups (x 2)</a:t>
                      </a:r>
                    </a:p>
                  </a:txBody>
                  <a:tcPr marL="101600" marR="101600" marT="38100" marB="38100" anchor="ctr">
                    <a:solidFill>
                      <a:srgbClr val="FFFFFF"/>
                    </a:solidFill>
                  </a:tcPr>
                </a:tc>
              </a:tr>
            </a:tbl>
          </a:graphicData>
        </a:graphic>
      </p:graphicFrame>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How big is an unknown?</a:t>
            </a:r>
          </a:p>
        </p:txBody>
      </p:sp>
      <p:sp>
        <p:nvSpPr>
          <p:cNvPr id="13" name="Oval 12"/>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5" name="Oval 14"/>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17" name="Oval 16"/>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19" name="Oval 18"/>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S59  ·  6 / 44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share who buy sets the range: 1,500 to 3,900</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guess, moved from its low end to its high end, moves the answer most?</a:t>
            </a:r>
          </a:p>
        </p:txBody>
      </p:sp>
      <p:pic>
        <p:nvPicPr>
          <p:cNvPr id="9" name="mermaid diagram" descr="C2_W04_D02_canteen_swing_STUDENT.png"/>
          <p:cNvPicPr>
            <a:picLocks noChangeAspect="1"/>
          </p:cNvPicPr>
          <p:nvPr/>
        </p:nvPicPr>
        <p:blipFill>
          <a:blip r:embed="rId4"/>
          <a:stretch>
            <a:fillRect/>
          </a:stretch>
        </p:blipFill>
        <p:spPr>
          <a:xfrm>
            <a:off x="2003214" y="1664208"/>
            <a:ext cx="8185265" cy="3215640"/>
          </a:xfrm>
          <a:prstGeom prst="rect">
            <a:avLst/>
          </a:prstGeom>
        </p:spPr>
      </p:pic>
      <p:sp>
        <p:nvSpPr>
          <p:cNvPr id="10" name="picture caption"/>
          <p:cNvSpPr txBox="1"/>
          <p:nvPr/>
        </p:nvSpPr>
        <p:spPr>
          <a:xfrm>
            <a:off x="530352" y="49164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How far each of the canteen's three invented guesses moves the cups, the others held</a:t>
            </a:r>
          </a:p>
        </p:txBody>
      </p:sp>
      <p:sp>
        <p:nvSpPr>
          <p:cNvPr id="11" name="TextBox 10"/>
          <p:cNvSpPr txBox="1"/>
          <p:nvPr/>
        </p:nvSpPr>
        <p:spPr>
          <a:xfrm>
            <a:off x="530352" y="5242560"/>
            <a:ext cx="11130991" cy="957072"/>
          </a:xfrm>
          <a:prstGeom prst="rect">
            <a:avLst/>
          </a:prstGeom>
          <a:noFill/>
        </p:spPr>
        <p:txBody>
          <a:bodyPr wrap="square" anchor="t" lIns="0" rIns="0" tIns="0" bIns="0">
            <a:spAutoFit/>
          </a:bodyPr>
          <a:lstStyle/>
          <a:p>
            <a:r>
              <a:rPr sz="1600" b="1" i="0">
                <a:solidFill>
                  <a:srgbClr val="1A1440"/>
                </a:solidFill>
                <a:latin typeface="Calibri"/>
              </a:rPr>
              <a:t>The widest bar is the first guess to replace with a count.</a:t>
            </a:r>
            <a:r>
              <a:rPr sz="1600" b="0" i="0">
                <a:solidFill>
                  <a:srgbClr val="1A1440"/>
                </a:solidFill>
                <a:latin typeface="Calibri"/>
              </a:rPr>
              <a:t> With the other two held at their central values, students move the answer from 2,430 to 2,970, cups each from 2,025 to 3,375, and the share who buy from 1,500 to 3,900. </a:t>
            </a:r>
            <a:r>
              <a:rPr sz="1600" b="1" i="0">
                <a:solidFill>
                  <a:srgbClr val="1A1440"/>
                </a:solidFill>
                <a:latin typeface="Calibri"/>
              </a:rPr>
              <a:t>Say it as:</a:t>
            </a:r>
            <a:r>
              <a:rPr sz="1600" b="0" i="0">
                <a:solidFill>
                  <a:srgbClr val="1A1440"/>
                </a:solidFill>
                <a:latin typeface="Calibri"/>
              </a:rPr>
              <a:t> "about 2,700 cups, 1,500 to 3,900 by the share who buy."</a:t>
            </a:r>
          </a:p>
        </p:txBody>
      </p:sp>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How big is an unknown?</a:t>
            </a:r>
          </a:p>
        </p:txBody>
      </p:sp>
      <p:sp>
        <p:nvSpPr>
          <p:cNvPr id="14" name="Oval 13"/>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6" name="Oval 15"/>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18" name="Oval 17"/>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0" name="Oval 19"/>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S60  ·  7 / 44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Validate: the till says 2,340, so revisit the share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Is 2,700 sane, and which three tests must any check pass?</a:t>
            </a:r>
          </a:p>
        </p:txBody>
      </p:sp>
      <p:pic>
        <p:nvPicPr>
          <p:cNvPr id="9" name="mermaid diagram" descr="7162ac3d0c36ae23.png"/>
          <p:cNvPicPr>
            <a:picLocks noChangeAspect="1"/>
          </p:cNvPicPr>
          <p:nvPr/>
        </p:nvPicPr>
        <p:blipFill>
          <a:blip r:embed="rId5"/>
          <a:stretch>
            <a:fillRect/>
          </a:stretch>
        </p:blipFill>
        <p:spPr>
          <a:xfrm>
            <a:off x="823765" y="1664208"/>
            <a:ext cx="10544164" cy="2350516"/>
          </a:xfrm>
          <a:prstGeom prst="rect">
            <a:avLst/>
          </a:prstGeom>
        </p:spPr>
      </p:pic>
      <p:sp>
        <p:nvSpPr>
          <p:cNvPr id="10" name="TextBox 9"/>
          <p:cNvSpPr txBox="1"/>
          <p:nvPr/>
        </p:nvSpPr>
        <p:spPr>
          <a:xfrm>
            <a:off x="530352" y="4060444"/>
            <a:ext cx="11130991" cy="772160"/>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The chain runs 15.4 percent above the till's 2,340.</a:t>
            </a:r>
            <a:r>
              <a:rPr sz="1600" b="0" i="0">
                <a:solidFill>
                  <a:srgbClr val="1A1440"/>
                </a:solidFill>
                <a:latin typeface="Calibri"/>
              </a:rPr>
              <a:t> The share that lands on the till is 0.39: 3,000 x 0.39 x 2 = 2,340. A check counts only when it is in the same unit, the same period and the same definition.</a:t>
            </a:r>
          </a:p>
        </p:txBody>
      </p:sp>
      <p:sp>
        <p:nvSpPr>
          <p:cNvPr id="11" name="Rounded Rectangle 10"/>
          <p:cNvSpPr/>
          <p:nvPr/>
        </p:nvSpPr>
        <p:spPr>
          <a:xfrm>
            <a:off x="530352" y="496062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508863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5079492"/>
            <a:ext cx="10564063" cy="891540"/>
          </a:xfrm>
          <a:prstGeom prst="rect">
            <a:avLst/>
          </a:prstGeom>
          <a:noFill/>
        </p:spPr>
        <p:txBody>
          <a:bodyPr wrap="square" anchor="ctr" lIns="0" rIns="0" tIns="0" bIns="0">
            <a:spAutoFit/>
          </a:bodyPr>
          <a:lstStyle/>
          <a:p>
            <a:r>
              <a:rPr sz="1500" b="1">
                <a:solidFill>
                  <a:srgbClr val="5B3FD6"/>
                </a:solidFill>
                <a:latin typeface="Calibri"/>
              </a:rPr>
              <a:t>Two of the tests, on invented examples. </a:t>
            </a:r>
            <a:r>
              <a:rPr sz="1500" b="0" i="0">
                <a:solidFill>
                  <a:srgbClr val="1A1440"/>
                </a:solidFill>
                <a:latin typeface="Calibri"/>
              </a:rPr>
              <a:t>A 28-day phone pack of 1.5 GB a day is 42 GB and a 30-day month at the same rate is 45 GB, so compare per day: 1.5 GB in both. Gulmohar's 113 passes are 83.7 percent of the 135 who sat and 75.3 percent of the 150 enrolled, so use the denominator the question names.</a:t>
            </a:r>
          </a:p>
        </p:txBody>
      </p:sp>
      <p:sp>
        <p:nvSpPr>
          <p:cNvPr id="14" name="Oval 1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How big is an unknown?</a:t>
            </a:r>
          </a:p>
        </p:txBody>
      </p:sp>
      <p:sp>
        <p:nvSpPr>
          <p:cNvPr id="16" name="Oval 15"/>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8" name="Oval 17"/>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20" name="Oval 19"/>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2" name="Oval 21"/>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S61  ·  8 / 44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trap: 24,000 people, so 96,000 households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sanity check catch that a careful calculation misses?</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The plausible wrong answer. </a:t>
            </a:r>
            <a:r>
              <a:rPr sz="1500" b="0" i="0">
                <a:solidFill>
                  <a:srgbClr val="1A1440"/>
                </a:solidFill>
                <a:latin typeface="Calibri"/>
              </a:rPr>
              <a:t>"A town of 24,000 people (invented) has 96,000 households." Size a household business on it and the market is sixteen times too large.</a:t>
            </a:r>
          </a:p>
        </p:txBody>
      </p:sp>
      <p:sp>
        <p:nvSpPr>
          <p:cNvPr id="12" name="Rounded Rectangle 11"/>
          <p:cNvSpPr/>
          <p:nvPr/>
        </p:nvSpPr>
        <p:spPr>
          <a:xfrm>
            <a:off x="530352" y="2929128"/>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3057144"/>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3048000"/>
            <a:ext cx="10564063" cy="891540"/>
          </a:xfrm>
          <a:prstGeom prst="rect">
            <a:avLst/>
          </a:prstGeom>
          <a:noFill/>
        </p:spPr>
        <p:txBody>
          <a:bodyPr wrap="square" anchor="ctr" lIns="0" rIns="0" tIns="0" bIns="0">
            <a:spAutoFit/>
          </a:bodyPr>
          <a:lstStyle/>
          <a:p>
            <a:r>
              <a:rPr sz="1500" b="1">
                <a:solidFill>
                  <a:srgbClr val="5B3FD6"/>
                </a:solidFill>
                <a:latin typeface="Calibri"/>
              </a:rPr>
              <a:t>Why it is wrong. </a:t>
            </a:r>
            <a:r>
              <a:rPr sz="1500" b="0" i="0">
                <a:solidFill>
                  <a:srgbClr val="1A1440"/>
                </a:solidFill>
                <a:latin typeface="Calibri"/>
              </a:rPr>
              <a:t>The unit was multiplied where it should have been divided: households are people divided by about four, so about 6,000. </a:t>
            </a:r>
            <a:r>
              <a:rPr sz="1500" b="1" i="0">
                <a:solidFill>
                  <a:srgbClr val="1A1440"/>
                </a:solidFill>
                <a:latin typeface="Calibri"/>
              </a:rPr>
              <a:t>The check:</a:t>
            </a:r>
            <a:r>
              <a:rPr sz="1500" b="0" i="0">
                <a:solidFill>
                  <a:srgbClr val="1A1440"/>
                </a:solidFill>
                <a:latin typeface="Calibri"/>
              </a:rPr>
              <a:t> households never exceed people. </a:t>
            </a:r>
            <a:r>
              <a:rPr sz="1500" b="1" i="0">
                <a:solidFill>
                  <a:srgbClr val="1A1440"/>
                </a:solidFill>
                <a:latin typeface="Calibri"/>
              </a:rPr>
              <a:t>The fix:</a:t>
            </a:r>
            <a:r>
              <a:rPr sz="1500" b="0" i="0">
                <a:solidFill>
                  <a:srgbClr val="1A1440"/>
                </a:solidFill>
                <a:latin typeface="Calibri"/>
              </a:rPr>
              <a:t> write the unit beside every factor before multiplying.</a:t>
            </a:r>
          </a:p>
        </p:txBody>
      </p:sp>
      <p:sp>
        <p:nvSpPr>
          <p:cNvPr id="15" name="Rounded Rectangle 14"/>
          <p:cNvSpPr/>
          <p:nvPr/>
        </p:nvSpPr>
        <p:spPr>
          <a:xfrm>
            <a:off x="530352" y="4168140"/>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13232" y="4296156"/>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868680" y="4296156"/>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1024128" y="4296156"/>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04671" y="4497324"/>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ledger = pd.read_csv("../data/C2_W04_D02_canteen_ledger_STUDENT.csv")</a:t>
            </a:r>
          </a:p>
          <a:p>
            <a:pPr>
              <a:spcAft>
                <a:spcPts val="200"/>
              </a:spcAft>
            </a:pPr>
            <a:r>
              <a:rPr sz="1400" b="0" i="0">
                <a:solidFill>
                  <a:srgbClr val="E4E1F1"/>
                </a:solidFill>
                <a:latin typeface="Consolas"/>
              </a:rPr>
              <a:t>cups = ledger.central.prod()                       # 3,000 x 0.45 x 2 = 2,700</a:t>
            </a:r>
          </a:p>
          <a:p>
            <a:pPr>
              <a:spcAft>
                <a:spcPts val="200"/>
              </a:spcAft>
            </a:pPr>
            <a:r>
              <a:rPr sz="1400" b="0" i="0">
                <a:solidFill>
                  <a:srgbClr val="E4E1F1"/>
                </a:solidFill>
                <a:latin typeface="Consolas"/>
              </a:rPr>
              <a:t>till = pd.read_csv("../data/C2_W04_D02_canteen_till_STUDENT.csv")</a:t>
            </a:r>
          </a:p>
          <a:p>
            <a:pPr>
              <a:spcAft>
                <a:spcPts val="200"/>
              </a:spcAft>
            </a:pPr>
            <a:r>
              <a:rPr sz="1400" b="0" i="0">
                <a:solidFill>
                  <a:srgbClr val="E4E1F1"/>
                </a:solidFill>
                <a:latin typeface="Consolas"/>
              </a:rPr>
              <a:t>print(round(cups / till.cups_sold.mean() - 1, 3))  # 0.154: the chain runs high</a:t>
            </a:r>
          </a:p>
        </p:txBody>
      </p:sp>
      <p:sp>
        <p:nvSpPr>
          <p:cNvPr id="20" name="Oval 1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How big is an unknown?</a:t>
            </a:r>
          </a:p>
        </p:txBody>
      </p:sp>
      <p:sp>
        <p:nvSpPr>
          <p:cNvPr id="22" name="Oval 21"/>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24" name="Oval 2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26" name="Oval 25"/>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8" name="Oval 27"/>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S62  ·  9 / 44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rules for sizing a number from nothing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should a learner keep from chapter 6, and where is it used next?</a:t>
            </a:r>
          </a:p>
        </p:txBody>
      </p:sp>
      <p:sp>
        <p:nvSpPr>
          <p:cNvPr id="9" name="TextBox 8"/>
          <p:cNvSpPr txBox="1"/>
          <p:nvPr/>
        </p:nvSpPr>
        <p:spPr>
          <a:xfrm>
            <a:off x="530352" y="1645920"/>
            <a:ext cx="502920" cy="300735"/>
          </a:xfrm>
          <a:prstGeom prst="rect">
            <a:avLst/>
          </a:prstGeom>
          <a:noFill/>
        </p:spPr>
        <p:txBody>
          <a:bodyPr wrap="square" anchor="t" lIns="0" rIns="0" tIns="0" bIns="0">
            <a:spAutoFit/>
          </a:bodyPr>
          <a:lstStyle/>
          <a:p>
            <a:pPr algn="l"/>
            <a:r>
              <a:rPr sz="1600" b="0" i="0">
                <a:solidFill>
                  <a:srgbClr val="5B3FD6"/>
                </a:solidFill>
                <a:latin typeface="Georgia"/>
              </a:rPr>
              <a:t>01</a:t>
            </a:r>
          </a:p>
        </p:txBody>
      </p:sp>
      <p:sp>
        <p:nvSpPr>
          <p:cNvPr id="10" name="TextBox 9"/>
          <p:cNvSpPr txBox="1"/>
          <p:nvPr/>
        </p:nvSpPr>
        <p:spPr>
          <a:xfrm>
            <a:off x="1097280" y="1682496"/>
            <a:ext cx="10564063" cy="334264"/>
          </a:xfrm>
          <a:prstGeom prst="rect">
            <a:avLst/>
          </a:prstGeom>
          <a:noFill/>
        </p:spPr>
        <p:txBody>
          <a:bodyPr wrap="square" anchor="t" lIns="0" rIns="0" tIns="0" bIns="0">
            <a:spAutoFit/>
          </a:bodyPr>
          <a:lstStyle/>
          <a:p>
            <a:r>
              <a:rPr sz="1300" b="0" i="0">
                <a:solidFill>
                  <a:srgbClr val="1A1440"/>
                </a:solidFill>
                <a:latin typeface="Calibri"/>
              </a:rPr>
              <a:t>Clarify the unit, the period and what counts before writing any number.</a:t>
            </a:r>
          </a:p>
        </p:txBody>
      </p:sp>
      <p:sp>
        <p:nvSpPr>
          <p:cNvPr id="11" name="TextBox 10"/>
          <p:cNvSpPr txBox="1"/>
          <p:nvPr/>
        </p:nvSpPr>
        <p:spPr>
          <a:xfrm>
            <a:off x="530352" y="2053336"/>
            <a:ext cx="502920" cy="300735"/>
          </a:xfrm>
          <a:prstGeom prst="rect">
            <a:avLst/>
          </a:prstGeom>
          <a:noFill/>
        </p:spPr>
        <p:txBody>
          <a:bodyPr wrap="square" anchor="t" lIns="0" rIns="0" tIns="0" bIns="0">
            <a:spAutoFit/>
          </a:bodyPr>
          <a:lstStyle/>
          <a:p>
            <a:pPr algn="l"/>
            <a:r>
              <a:rPr sz="1600" b="0" i="0">
                <a:solidFill>
                  <a:srgbClr val="5B3FD6"/>
                </a:solidFill>
                <a:latin typeface="Georgia"/>
              </a:rPr>
              <a:t>02</a:t>
            </a:r>
          </a:p>
        </p:txBody>
      </p:sp>
      <p:sp>
        <p:nvSpPr>
          <p:cNvPr id="12" name="TextBox 11"/>
          <p:cNvSpPr txBox="1"/>
          <p:nvPr/>
        </p:nvSpPr>
        <p:spPr>
          <a:xfrm>
            <a:off x="1097280" y="2089912"/>
            <a:ext cx="10564063" cy="334264"/>
          </a:xfrm>
          <a:prstGeom prst="rect">
            <a:avLst/>
          </a:prstGeom>
          <a:noFill/>
        </p:spPr>
        <p:txBody>
          <a:bodyPr wrap="square" anchor="t" lIns="0" rIns="0" tIns="0" bIns="0">
            <a:spAutoFit/>
          </a:bodyPr>
          <a:lstStyle/>
          <a:p>
            <a:r>
              <a:rPr sz="1300" b="0" i="0">
                <a:solidFill>
                  <a:srgbClr val="1A1440"/>
                </a:solidFill>
                <a:latin typeface="Calibri"/>
              </a:rPr>
              <a:t>Map the answer as a chain of factors that multiplies out in the unit you clarified.</a:t>
            </a:r>
          </a:p>
        </p:txBody>
      </p:sp>
      <p:sp>
        <p:nvSpPr>
          <p:cNvPr id="13" name="TextBox 12"/>
          <p:cNvSpPr txBox="1"/>
          <p:nvPr/>
        </p:nvSpPr>
        <p:spPr>
          <a:xfrm>
            <a:off x="530352" y="2460752"/>
            <a:ext cx="502920" cy="300735"/>
          </a:xfrm>
          <a:prstGeom prst="rect">
            <a:avLst/>
          </a:prstGeom>
          <a:noFill/>
        </p:spPr>
        <p:txBody>
          <a:bodyPr wrap="square" anchor="t" lIns="0" rIns="0" tIns="0" bIns="0">
            <a:spAutoFit/>
          </a:bodyPr>
          <a:lstStyle/>
          <a:p>
            <a:pPr algn="l"/>
            <a:r>
              <a:rPr sz="1600" b="0" i="0">
                <a:solidFill>
                  <a:srgbClr val="5B3FD6"/>
                </a:solidFill>
                <a:latin typeface="Georgia"/>
              </a:rPr>
              <a:t>03</a:t>
            </a:r>
          </a:p>
        </p:txBody>
      </p:sp>
      <p:sp>
        <p:nvSpPr>
          <p:cNvPr id="14" name="TextBox 13"/>
          <p:cNvSpPr txBox="1"/>
          <p:nvPr/>
        </p:nvSpPr>
        <p:spPr>
          <a:xfrm>
            <a:off x="1097280" y="2497328"/>
            <a:ext cx="10564063" cy="334264"/>
          </a:xfrm>
          <a:prstGeom prst="rect">
            <a:avLst/>
          </a:prstGeom>
          <a:noFill/>
        </p:spPr>
        <p:txBody>
          <a:bodyPr wrap="square" anchor="t" lIns="0" rIns="0" tIns="0" bIns="0">
            <a:spAutoFit/>
          </a:bodyPr>
          <a:lstStyle/>
          <a:p>
            <a:r>
              <a:rPr sz="1300" b="0" i="0">
                <a:solidFill>
                  <a:srgbClr val="1A1440"/>
                </a:solidFill>
                <a:latin typeface="Calibri"/>
              </a:rPr>
              <a:t>Say each factor aloud with its range, and name the factor that sets the range.</a:t>
            </a:r>
          </a:p>
        </p:txBody>
      </p:sp>
      <p:sp>
        <p:nvSpPr>
          <p:cNvPr id="15" name="TextBox 14"/>
          <p:cNvSpPr txBox="1"/>
          <p:nvPr/>
        </p:nvSpPr>
        <p:spPr>
          <a:xfrm>
            <a:off x="530352" y="2868168"/>
            <a:ext cx="502920" cy="300735"/>
          </a:xfrm>
          <a:prstGeom prst="rect">
            <a:avLst/>
          </a:prstGeom>
          <a:noFill/>
        </p:spPr>
        <p:txBody>
          <a:bodyPr wrap="square" anchor="t" lIns="0" rIns="0" tIns="0" bIns="0">
            <a:spAutoFit/>
          </a:bodyPr>
          <a:lstStyle/>
          <a:p>
            <a:pPr algn="l"/>
            <a:r>
              <a:rPr sz="1600" b="0" i="0">
                <a:solidFill>
                  <a:srgbClr val="5B3FD6"/>
                </a:solidFill>
                <a:latin typeface="Georgia"/>
              </a:rPr>
              <a:t>04</a:t>
            </a:r>
          </a:p>
        </p:txBody>
      </p:sp>
      <p:sp>
        <p:nvSpPr>
          <p:cNvPr id="16" name="TextBox 15"/>
          <p:cNvSpPr txBox="1"/>
          <p:nvPr/>
        </p:nvSpPr>
        <p:spPr>
          <a:xfrm>
            <a:off x="1097280" y="2904744"/>
            <a:ext cx="10564063" cy="334264"/>
          </a:xfrm>
          <a:prstGeom prst="rect">
            <a:avLst/>
          </a:prstGeom>
          <a:noFill/>
        </p:spPr>
        <p:txBody>
          <a:bodyPr wrap="square" anchor="t" lIns="0" rIns="0" tIns="0" bIns="0">
            <a:spAutoFit/>
          </a:bodyPr>
          <a:lstStyle/>
          <a:p>
            <a:r>
              <a:rPr sz="1300" b="0" i="0">
                <a:solidFill>
                  <a:srgbClr val="1A1440"/>
                </a:solidFill>
                <a:latin typeface="Calibri"/>
              </a:rPr>
              <a:t>Validate against a number counted in the same unit, period and definition, and move the answer if the check says so.</a:t>
            </a:r>
          </a:p>
        </p:txBody>
      </p:sp>
      <p:sp>
        <p:nvSpPr>
          <p:cNvPr id="17" name="Rounded Rectangle 16"/>
          <p:cNvSpPr/>
          <p:nvPr/>
        </p:nvSpPr>
        <p:spPr>
          <a:xfrm>
            <a:off x="530352" y="3421888"/>
            <a:ext cx="11130991" cy="82804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8952" y="360730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mic_caee7398c80d.png"/>
          <p:cNvPicPr>
            <a:picLocks noChangeAspect="1"/>
          </p:cNvPicPr>
          <p:nvPr/>
        </p:nvPicPr>
        <p:blipFill>
          <a:blip r:embed="rId5"/>
          <a:stretch>
            <a:fillRect/>
          </a:stretch>
        </p:blipFill>
        <p:spPr>
          <a:xfrm>
            <a:off x="868680" y="3717036"/>
            <a:ext cx="237744" cy="237744"/>
          </a:xfrm>
          <a:prstGeom prst="rect">
            <a:avLst/>
          </a:prstGeom>
        </p:spPr>
      </p:pic>
      <p:sp>
        <p:nvSpPr>
          <p:cNvPr id="20" name="TextBox 19"/>
          <p:cNvSpPr txBox="1"/>
          <p:nvPr/>
        </p:nvSpPr>
        <p:spPr>
          <a:xfrm>
            <a:off x="1399031" y="356819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21" name="TextBox 20"/>
          <p:cNvSpPr txBox="1"/>
          <p:nvPr/>
        </p:nvSpPr>
        <p:spPr>
          <a:xfrm>
            <a:off x="1399031" y="3787648"/>
            <a:ext cx="9987991" cy="389128"/>
          </a:xfrm>
          <a:prstGeom prst="rect">
            <a:avLst/>
          </a:prstGeom>
          <a:noFill/>
        </p:spPr>
        <p:txBody>
          <a:bodyPr wrap="square" anchor="t" lIns="0" rIns="0" tIns="0" bIns="0">
            <a:spAutoFit/>
          </a:bodyPr>
          <a:lstStyle/>
          <a:p>
            <a:r>
              <a:rPr sz="1300" b="0" i="0">
                <a:solidFill>
                  <a:srgbClr val="1A1440"/>
                </a:solidFill>
                <a:latin typeface="Calibri"/>
              </a:rPr>
              <a:t>[S] A guesstimate: how many customers could a new store sign up to a loyalty tier in its first year?</a:t>
            </a:r>
          </a:p>
        </p:txBody>
      </p:sp>
      <p:pic>
        <p:nvPicPr>
          <p:cNvPr id="22" name="mermaid diagram" descr="d9a00f17e230e911.png"/>
          <p:cNvPicPr>
            <a:picLocks noChangeAspect="1"/>
          </p:cNvPicPr>
          <p:nvPr/>
        </p:nvPicPr>
        <p:blipFill>
          <a:blip r:embed="rId6"/>
          <a:stretch>
            <a:fillRect/>
          </a:stretch>
        </p:blipFill>
        <p:spPr>
          <a:xfrm>
            <a:off x="2963481" y="4414520"/>
            <a:ext cx="6264732" cy="1785112"/>
          </a:xfrm>
          <a:prstGeom prst="rect">
            <a:avLst/>
          </a:prstGeom>
        </p:spPr>
      </p:pic>
      <p:sp>
        <p:nvSpPr>
          <p:cNvPr id="23" name="Oval 2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How big is an unknown?</a:t>
            </a:r>
          </a:p>
        </p:txBody>
      </p:sp>
      <p:sp>
        <p:nvSpPr>
          <p:cNvPr id="25" name="Oval 2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27" name="Oval 26"/>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29" name="Oval 2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31" name="Oval 30"/>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S63  ·  10 / 44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07</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The AI-free written business case</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must a page carry?</a:t>
            </a:r>
          </a:p>
        </p:txBody>
      </p:sp>
      <p:sp>
        <p:nvSpPr>
          <p:cNvPr id="10" name="TextBox 9"/>
          <p:cNvSpPr txBox="1"/>
          <p:nvPr/>
        </p:nvSpPr>
        <p:spPr>
          <a:xfrm>
            <a:off x="731519" y="3931920"/>
            <a:ext cx="9509760" cy="779526"/>
          </a:xfrm>
          <a:prstGeom prst="rect">
            <a:avLst/>
          </a:prstGeom>
          <a:noFill/>
        </p:spPr>
        <p:txBody>
          <a:bodyPr wrap="square" anchor="t" lIns="0" rIns="0" tIns="0" bIns="0">
            <a:spAutoFit/>
          </a:bodyPr>
          <a:lstStyle/>
          <a:p>
            <a:pPr algn="l"/>
            <a:r>
              <a:rPr sz="1500" b="0" i="0">
                <a:solidFill>
                  <a:srgbClr val="E4E1F1"/>
                </a:solidFill>
                <a:latin typeface="Calibri"/>
              </a:rPr>
              <a:t>The AI-free written business case, taught on Ramesh's page (invented): the slide's four parts as four sentences on one page, read in two minutes by someone who was not in the room, written in your own words.</a:t>
            </a:r>
          </a:p>
        </p:txBody>
      </p:sp>
      <p:sp>
        <p:nvSpPr>
          <p:cNvPr id="11" name="Rounded Rectangle 10"/>
          <p:cNvSpPr/>
          <p:nvPr/>
        </p:nvSpPr>
        <p:spPr>
          <a:xfrm>
            <a:off x="73151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big is an unknown?</a:t>
            </a:r>
          </a:p>
        </p:txBody>
      </p:sp>
      <p:sp>
        <p:nvSpPr>
          <p:cNvPr id="12" name="Rounded Rectangle 11"/>
          <p:cNvSpPr/>
          <p:nvPr/>
        </p:nvSpPr>
        <p:spPr>
          <a:xfrm>
            <a:off x="2509759" y="5074920"/>
            <a:ext cx="172772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must a page carry?</a:t>
            </a:r>
          </a:p>
        </p:txBody>
      </p:sp>
      <p:sp>
        <p:nvSpPr>
          <p:cNvPr id="13" name="Rounded Rectangle 12"/>
          <p:cNvSpPr/>
          <p:nvPr/>
        </p:nvSpPr>
        <p:spPr>
          <a:xfrm>
            <a:off x="4347214"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many at the peak?</a:t>
            </a:r>
          </a:p>
        </p:txBody>
      </p:sp>
      <p:sp>
        <p:nvSpPr>
          <p:cNvPr id="14" name="Rounded Rectangle 13"/>
          <p:cNvSpPr/>
          <p:nvPr/>
        </p:nvSpPr>
        <p:spPr>
          <a:xfrm>
            <a:off x="6066238"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goes on one page?</a:t>
            </a:r>
          </a:p>
        </p:txBody>
      </p:sp>
      <p:sp>
        <p:nvSpPr>
          <p:cNvPr id="15" name="Rounded Rectangle 14"/>
          <p:cNvSpPr/>
          <p:nvPr/>
        </p:nvSpPr>
        <p:spPr>
          <a:xfrm>
            <a:off x="7844477"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it sound like?</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2. How many drivers does the evening peak need, and can you say it on one page?</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11 / 44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business case is a written argument for a decision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85343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1981454"/>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972310"/>
            <a:ext cx="10564063" cy="358140"/>
          </a:xfrm>
          <a:prstGeom prst="rect">
            <a:avLst/>
          </a:prstGeom>
          <a:noFill/>
        </p:spPr>
        <p:txBody>
          <a:bodyPr wrap="square" anchor="ctr" lIns="0" rIns="0" tIns="0" bIns="0">
            <a:spAutoFit/>
          </a:bodyPr>
          <a:lstStyle/>
          <a:p>
            <a:r>
              <a:rPr sz="1500" b="1">
                <a:solidFill>
                  <a:srgbClr val="5B3FD6"/>
                </a:solidFill>
                <a:latin typeface="Calibri"/>
              </a:rPr>
              <a:t>The topic. </a:t>
            </a:r>
            <a:r>
              <a:rPr sz="1500" b="0" i="0">
                <a:solidFill>
                  <a:srgbClr val="1A1440"/>
                </a:solidFill>
                <a:latin typeface="Calibri"/>
              </a:rPr>
              <a:t>The AI-free written business case.</a:t>
            </a:r>
          </a:p>
        </p:txBody>
      </p:sp>
      <p:sp>
        <p:nvSpPr>
          <p:cNvPr id="12" name="Rounded Rectangle 11"/>
          <p:cNvSpPr/>
          <p:nvPr/>
        </p:nvSpPr>
        <p:spPr>
          <a:xfrm>
            <a:off x="530352" y="2559050"/>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2687066"/>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2677922"/>
            <a:ext cx="10564063" cy="11582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Ramesh, reading his son's page alone in the evening, and later today the city head, reading the page each learner writes by hand. A </a:t>
            </a:r>
            <a:r>
              <a:rPr sz="1500" b="1" i="0">
                <a:solidFill>
                  <a:srgbClr val="1A1440"/>
                </a:solidFill>
                <a:latin typeface="Calibri"/>
              </a:rPr>
              <a:t>business case</a:t>
            </a:r>
            <a:r>
              <a:rPr sz="1500" b="0" i="0">
                <a:solidFill>
                  <a:srgbClr val="1A1440"/>
                </a:solidFill>
                <a:latin typeface="Calibri"/>
              </a:rPr>
              <a:t> says what to do, why, what it costs, what it returns and what could go wrong. It is one page because the reader has two minutes, and it is written without AI because it shows your own thinking.</a:t>
            </a:r>
          </a:p>
        </p:txBody>
      </p:sp>
      <p:sp>
        <p:nvSpPr>
          <p:cNvPr id="15" name="Rectangle 14"/>
          <p:cNvSpPr/>
          <p:nvPr/>
        </p:nvSpPr>
        <p:spPr>
          <a:xfrm>
            <a:off x="1853145" y="4631689"/>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7" name="Oval 16"/>
          <p:cNvSpPr/>
          <p:nvPr/>
        </p:nvSpPr>
        <p:spPr>
          <a:xfrm>
            <a:off x="1752561"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5098033"/>
            <a:ext cx="2316403" cy="465836"/>
          </a:xfrm>
          <a:prstGeom prst="rect">
            <a:avLst/>
          </a:prstGeom>
          <a:noFill/>
        </p:spPr>
        <p:txBody>
          <a:bodyPr wrap="square" anchor="t" lIns="0" rIns="0" tIns="0" bIns="0">
            <a:spAutoFit/>
          </a:bodyPr>
          <a:lstStyle/>
          <a:p>
            <a:pPr algn="l"/>
            <a:r>
              <a:rPr sz="1300" b="1" i="0">
                <a:solidFill>
                  <a:srgbClr val="1A0F5C"/>
                </a:solidFill>
                <a:latin typeface="Calibri"/>
              </a:rPr>
              <a:t>Which opening does the reader act on?</a:t>
            </a:r>
          </a:p>
        </p:txBody>
      </p:sp>
      <p:sp>
        <p:nvSpPr>
          <p:cNvPr id="20" name="TextBox 19"/>
          <p:cNvSpPr txBox="1"/>
          <p:nvPr/>
        </p:nvSpPr>
        <p:spPr>
          <a:xfrm>
            <a:off x="694944" y="5600445"/>
            <a:ext cx="2316403" cy="366776"/>
          </a:xfrm>
          <a:prstGeom prst="rect">
            <a:avLst/>
          </a:prstGeom>
          <a:noFill/>
        </p:spPr>
        <p:txBody>
          <a:bodyPr wrap="square" anchor="t" lIns="0" rIns="0" tIns="0" bIns="0">
            <a:spAutoFit/>
          </a:bodyPr>
          <a:lstStyle/>
          <a:p>
            <a:pPr algn="l"/>
            <a:r>
              <a:rPr sz="1000" b="0" i="0">
                <a:solidFill>
                  <a:srgbClr val="6B6690"/>
                </a:solidFill>
                <a:latin typeface="Calibri"/>
              </a:rPr>
              <a:t>A list of numbers against one sentence.</a:t>
            </a:r>
          </a:p>
        </p:txBody>
      </p:sp>
      <p:sp>
        <p:nvSpPr>
          <p:cNvPr id="21" name="TextBox 20"/>
          <p:cNvSpPr txBox="1"/>
          <p:nvPr/>
        </p:nvSpPr>
        <p:spPr>
          <a:xfrm>
            <a:off x="3358819"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22" name="Oval 21"/>
          <p:cNvSpPr/>
          <p:nvPr/>
        </p:nvSpPr>
        <p:spPr>
          <a:xfrm>
            <a:off x="4581029"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5098033"/>
            <a:ext cx="2316403" cy="251205"/>
          </a:xfrm>
          <a:prstGeom prst="rect">
            <a:avLst/>
          </a:prstGeom>
          <a:noFill/>
        </p:spPr>
        <p:txBody>
          <a:bodyPr wrap="square" anchor="t" lIns="0" rIns="0" tIns="0" bIns="0">
            <a:spAutoFit/>
          </a:bodyPr>
          <a:lstStyle/>
          <a:p>
            <a:pPr algn="l"/>
            <a:r>
              <a:rPr sz="1300" b="1" i="0">
                <a:solidFill>
                  <a:srgbClr val="1A0F5C"/>
                </a:solidFill>
                <a:latin typeface="Calibri"/>
              </a:rPr>
              <a:t>Why sentences, not bullets?</a:t>
            </a:r>
          </a:p>
        </p:txBody>
      </p:sp>
      <p:sp>
        <p:nvSpPr>
          <p:cNvPr id="25" name="TextBox 24"/>
          <p:cNvSpPr txBox="1"/>
          <p:nvPr/>
        </p:nvSpPr>
        <p:spPr>
          <a:xfrm>
            <a:off x="3523411" y="5385816"/>
            <a:ext cx="2316403" cy="201676"/>
          </a:xfrm>
          <a:prstGeom prst="rect">
            <a:avLst/>
          </a:prstGeom>
          <a:noFill/>
        </p:spPr>
        <p:txBody>
          <a:bodyPr wrap="square" anchor="t" lIns="0" rIns="0" tIns="0" bIns="0">
            <a:spAutoFit/>
          </a:bodyPr>
          <a:lstStyle/>
          <a:p>
            <a:pPr algn="l"/>
            <a:r>
              <a:rPr sz="1000" b="0" i="0">
                <a:solidFill>
                  <a:srgbClr val="6B6690"/>
                </a:solidFill>
                <a:latin typeface="Calibri"/>
              </a:rPr>
              <a:t>A company that bans slides.</a:t>
            </a:r>
          </a:p>
        </p:txBody>
      </p:sp>
      <p:sp>
        <p:nvSpPr>
          <p:cNvPr id="26" name="TextBox 25"/>
          <p:cNvSpPr txBox="1"/>
          <p:nvPr/>
        </p:nvSpPr>
        <p:spPr>
          <a:xfrm>
            <a:off x="6187287"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7" name="Oval 26"/>
          <p:cNvSpPr/>
          <p:nvPr/>
        </p:nvSpPr>
        <p:spPr>
          <a:xfrm>
            <a:off x="7409497"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5098033"/>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goes on the page, in what order?</a:t>
            </a:r>
          </a:p>
        </p:txBody>
      </p:sp>
      <p:sp>
        <p:nvSpPr>
          <p:cNvPr id="30" name="TextBox 29"/>
          <p:cNvSpPr txBox="1"/>
          <p:nvPr/>
        </p:nvSpPr>
        <p:spPr>
          <a:xfrm>
            <a:off x="6351879" y="5600445"/>
            <a:ext cx="2316403" cy="201676"/>
          </a:xfrm>
          <a:prstGeom prst="rect">
            <a:avLst/>
          </a:prstGeom>
          <a:noFill/>
        </p:spPr>
        <p:txBody>
          <a:bodyPr wrap="square" anchor="t" lIns="0" rIns="0" tIns="0" bIns="0">
            <a:spAutoFit/>
          </a:bodyPr>
          <a:lstStyle/>
          <a:p>
            <a:pPr algn="l"/>
            <a:r>
              <a:rPr sz="1000" b="0" i="0">
                <a:solidFill>
                  <a:srgbClr val="6B6690"/>
                </a:solidFill>
                <a:latin typeface="Calibri"/>
              </a:rPr>
              <a:t>The four parts as four sentences.</a:t>
            </a:r>
          </a:p>
        </p:txBody>
      </p:sp>
      <p:sp>
        <p:nvSpPr>
          <p:cNvPr id="31" name="TextBox 30"/>
          <p:cNvSpPr txBox="1"/>
          <p:nvPr/>
        </p:nvSpPr>
        <p:spPr>
          <a:xfrm>
            <a:off x="9015755"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32" name="Oval 31"/>
          <p:cNvSpPr/>
          <p:nvPr/>
        </p:nvSpPr>
        <p:spPr>
          <a:xfrm>
            <a:off x="10237965"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5098033"/>
            <a:ext cx="2316403" cy="251205"/>
          </a:xfrm>
          <a:prstGeom prst="rect">
            <a:avLst/>
          </a:prstGeom>
          <a:noFill/>
        </p:spPr>
        <p:txBody>
          <a:bodyPr wrap="square" anchor="t" lIns="0" rIns="0" tIns="0" bIns="0">
            <a:spAutoFit/>
          </a:bodyPr>
          <a:lstStyle/>
          <a:p>
            <a:pPr algn="l"/>
            <a:r>
              <a:rPr sz="1300" b="1" i="0">
                <a:solidFill>
                  <a:srgbClr val="1A0F5C"/>
                </a:solidFill>
                <a:latin typeface="Calibri"/>
              </a:rPr>
              <a:t>Which words stay off it?</a:t>
            </a:r>
          </a:p>
        </p:txBody>
      </p:sp>
      <p:sp>
        <p:nvSpPr>
          <p:cNvPr id="35" name="TextBox 34"/>
          <p:cNvSpPr txBox="1"/>
          <p:nvPr/>
        </p:nvSpPr>
        <p:spPr>
          <a:xfrm>
            <a:off x="9180347" y="5385816"/>
            <a:ext cx="2316403" cy="366776"/>
          </a:xfrm>
          <a:prstGeom prst="rect">
            <a:avLst/>
          </a:prstGeom>
          <a:noFill/>
        </p:spPr>
        <p:txBody>
          <a:bodyPr wrap="square" anchor="t" lIns="0" rIns="0" tIns="0" bIns="0">
            <a:spAutoFit/>
          </a:bodyPr>
          <a:lstStyle/>
          <a:p>
            <a:pPr algn="l"/>
            <a:r>
              <a:rPr sz="1000" b="0" i="0">
                <a:solidFill>
                  <a:srgbClr val="6B6690"/>
                </a:solidFill>
                <a:latin typeface="Calibri"/>
              </a:rPr>
              <a:t>The method words a reader has to decode.</a:t>
            </a:r>
          </a:p>
        </p:txBody>
      </p:sp>
      <p:sp>
        <p:nvSpPr>
          <p:cNvPr id="36" name="Oval 3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38" name="Oval 37"/>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127694"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must a page carry?</a:t>
            </a:r>
          </a:p>
        </p:txBody>
      </p:sp>
      <p:sp>
        <p:nvSpPr>
          <p:cNvPr id="40" name="Oval 39"/>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42" name="Oval 41"/>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44" name="Oval 43"/>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46" name="TextBox 4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S64  ·  12 / 44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opening does Ramesh act on in two minutes?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Two openings for the same page (invented). Does a business case need a spreadsheet and ten pages?</a:t>
            </a:r>
          </a:p>
        </p:txBody>
      </p:sp>
      <p:graphicFrame>
        <p:nvGraphicFramePr>
          <p:cNvPr id="9" name="Table 8"/>
          <p:cNvGraphicFramePr>
            <a:graphicFrameLocks noGrp="1"/>
          </p:cNvGraphicFramePr>
          <p:nvPr/>
        </p:nvGraphicFramePr>
        <p:xfrm>
          <a:off x="530352" y="1956816"/>
          <a:ext cx="11130991" cy="1834896"/>
        </p:xfrm>
        <a:graphic>
          <a:graphicData uri="http://schemas.openxmlformats.org/drawingml/2006/table">
            <a:tbl>
              <a:tblPr firstRow="0" bandRow="0">
                <a:tableStyleId>{2D5ABB26-0587-4C30-8999-92F81FD0307C}</a:tableStyleId>
              </a:tblPr>
              <a:tblGrid>
                <a:gridCol w="4586164"/>
                <a:gridCol w="6544827"/>
              </a:tblGrid>
              <a:tr h="369824">
                <a:tc>
                  <a:txBody>
                    <a:bodyPr/>
                    <a:lstStyle/>
                    <a:p>
                      <a:r>
                        <a:rPr sz="1450" b="1" i="0">
                          <a:solidFill>
                            <a:srgbClr val="FFFFFF"/>
                          </a:solidFill>
                          <a:latin typeface="Calibri"/>
                        </a:rPr>
                        <a:t>Opening</a:t>
                      </a:r>
                    </a:p>
                  </a:txBody>
                  <a:tcPr marL="101600" marR="101600" marT="38100" marB="38100" anchor="ctr">
                    <a:solidFill>
                      <a:srgbClr val="1A0F5C"/>
                    </a:solidFill>
                  </a:tcPr>
                </a:tc>
                <a:tc>
                  <a:txBody>
                    <a:bodyPr/>
                    <a:lstStyle/>
                    <a:p>
                      <a:r>
                        <a:rPr sz="1450" b="1" i="0">
                          <a:solidFill>
                            <a:srgbClr val="FFFFFF"/>
                          </a:solidFill>
                          <a:latin typeface="Calibri"/>
                        </a:rPr>
                        <a:t>What it says (invented)</a:t>
                      </a:r>
                    </a:p>
                  </a:txBody>
                  <a:tcPr marL="101600" marR="101600" marT="38100" marB="38100" anchor="ctr">
                    <a:solidFill>
                      <a:srgbClr val="1A0F5C"/>
                    </a:solidFill>
                  </a:tcPr>
                </a:tc>
              </a:tr>
              <a:tr h="611632">
                <a:tc>
                  <a:txBody>
                    <a:bodyPr/>
                    <a:lstStyle/>
                    <a:p>
                      <a:r>
                        <a:rPr sz="1400" b="0" i="0">
                          <a:solidFill>
                            <a:srgbClr val="1A1440"/>
                          </a:solidFill>
                          <a:latin typeface="Calibri"/>
                        </a:rPr>
                        <a:t>A, the draft's first three of nine lines</a:t>
                      </a:r>
                    </a:p>
                  </a:txBody>
                  <a:tcPr marL="101600" marR="101600" marT="38100" marB="38100" anchor="ctr">
                    <a:solidFill>
                      <a:srgbClr val="FFFFFF"/>
                    </a:solidFill>
                  </a:tcPr>
                </a:tc>
                <a:tc>
                  <a:txBody>
                    <a:bodyPr/>
                    <a:lstStyle/>
                    <a:p>
                      <a:r>
                        <a:rPr sz="1400" b="0" i="0">
                          <a:solidFill>
                            <a:srgbClr val="1A1440"/>
                          </a:solidFill>
                          <a:latin typeface="Calibri"/>
                        </a:rPr>
                        <a:t>North star (sales a day): Rs 11,900 to Rs 12,600. Denominator: hours open, 10 to 12. Sales per hour index: 100 to 88.</a:t>
                      </a:r>
                    </a:p>
                  </a:txBody>
                  <a:tcPr marL="101600" marR="101600" marT="38100" marB="38100" anchor="ctr">
                    <a:solidFill>
                      <a:srgbClr val="FFFFFF"/>
                    </a:solidFill>
                  </a:tcPr>
                </a:tc>
              </a:tr>
              <a:tr h="853440">
                <a:tc>
                  <a:txBody>
                    <a:bodyPr/>
                    <a:lstStyle/>
                    <a:p>
                      <a:r>
                        <a:rPr sz="1400" b="0" i="0">
                          <a:solidFill>
                            <a:srgbClr val="1A1440"/>
                          </a:solidFill>
                          <a:latin typeface="Calibri"/>
                        </a:rPr>
                        <a:t>B, the page's first sentence</a:t>
                      </a:r>
                    </a:p>
                  </a:txBody>
                  <a:tcPr marL="101600" marR="101600" marT="38100" marB="38100" anchor="ctr">
                    <a:solidFill>
                      <a:srgbClr val="F4F2FA"/>
                    </a:solidFill>
                  </a:tcPr>
                </a:tc>
                <a:tc>
                  <a:txBody>
                    <a:bodyPr/>
                    <a:lstStyle/>
                    <a:p>
                      <a:r>
                        <a:rPr sz="1400" b="0" i="0">
                          <a:solidFill>
                            <a:srgbClr val="1A1440"/>
                          </a:solidFill>
                          <a:latin typeface="Calibri"/>
                        </a:rPr>
                        <a:t>Keep the longer hours for one more month and count the evening's own sales, because the two extra hours have brought Rs 700 a day while each hour of the day now earns less.</a:t>
                      </a:r>
                    </a:p>
                  </a:txBody>
                  <a:tcPr marL="101600" marR="101600" marT="38100" marB="38100" anchor="ctr">
                    <a:solidFill>
                      <a:srgbClr val="F4F2FA"/>
                    </a:solidFill>
                  </a:tcPr>
                </a:tc>
              </a:tr>
            </a:tbl>
          </a:graphicData>
        </a:graphic>
      </p:graphicFrame>
      <p:sp>
        <p:nvSpPr>
          <p:cNvPr id="10" name="TextBox 9"/>
          <p:cNvSpPr txBox="1"/>
          <p:nvPr/>
        </p:nvSpPr>
        <p:spPr>
          <a:xfrm>
            <a:off x="530352" y="4047744"/>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A, since it carries more numbers   b) B, since it states the claim in a sentence   c) Neither, without a chart   d) Both equally</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3" name="Oval 12"/>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127694"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must a page carry?</a:t>
            </a:r>
          </a:p>
        </p:txBody>
      </p:sp>
      <p:sp>
        <p:nvSpPr>
          <p:cNvPr id="15" name="Oval 14"/>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17" name="Oval 16"/>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19" name="Oval 18"/>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S65  ·  13 / 44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b; Amazon reads six-page memos in silence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 sentences beat bullets, and what does a company that bans slides do?</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The answer is b. </a:t>
            </a:r>
            <a:r>
              <a:rPr sz="1500" b="0" i="0">
                <a:solidFill>
                  <a:srgbClr val="1A1440"/>
                </a:solidFill>
                <a:latin typeface="Calibri"/>
              </a:rPr>
              <a:t>A sentence has to carry its reasoning, where a bullet can hide it, and opening B says what to do and why before any number. Opening A needs a reader who knows what a north star, a denominator and an index are.</a:t>
            </a:r>
          </a:p>
        </p:txBody>
      </p:sp>
      <p:sp>
        <p:nvSpPr>
          <p:cNvPr id="12" name="TextBox 11"/>
          <p:cNvSpPr txBox="1"/>
          <p:nvPr/>
        </p:nvSpPr>
        <p:spPr>
          <a:xfrm>
            <a:off x="530352" y="3195828"/>
            <a:ext cx="11130991" cy="1048512"/>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In its 2017 letter to shareholders, Amazon said:</a:t>
            </a:r>
            <a:r>
              <a:rPr sz="1600" b="0" i="0">
                <a:solidFill>
                  <a:srgbClr val="1A1440"/>
                </a:solidFill>
                <a:latin typeface="Calibri"/>
              </a:rPr>
              <a:t> "We don't do PowerPoint (or any other slide-oriented) presentations at Amazon." The owner writes a narratively structured six-page memo, the room reads it in silence at the start of the meeting, and the letter says a great memo "probably should take a week or more".</a:t>
            </a:r>
          </a:p>
        </p:txBody>
      </p:sp>
      <p:sp>
        <p:nvSpPr>
          <p:cNvPr id="13" name="Rounded Rectangle 12"/>
          <p:cNvSpPr/>
          <p:nvPr/>
        </p:nvSpPr>
        <p:spPr>
          <a:xfrm>
            <a:off x="530352" y="4372356"/>
            <a:ext cx="45720" cy="46735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86384" y="4372356"/>
            <a:ext cx="10820095" cy="467359"/>
          </a:xfrm>
          <a:prstGeom prst="rect">
            <a:avLst/>
          </a:prstGeom>
          <a:noFill/>
        </p:spPr>
        <p:txBody>
          <a:bodyPr wrap="square" anchor="t" lIns="0" rIns="0" tIns="0" bIns="0">
            <a:spAutoFit/>
          </a:bodyPr>
          <a:lstStyle/>
          <a:p>
            <a:r>
              <a:rPr sz="1600" b="0" i="1">
                <a:solidFill>
                  <a:srgbClr val="1A0F5C"/>
                </a:solidFill>
                <a:latin typeface="Georgia"/>
              </a:rPr>
              <a:t>Source: Amazon's 2017 letter to shareholders, filed 18 April 2018 (checked 13 October 2026).</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7" name="Oval 16"/>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127694"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must a page carry?</a:t>
            </a:r>
          </a:p>
        </p:txBody>
      </p:sp>
      <p:sp>
        <p:nvSpPr>
          <p:cNvPr id="19" name="Oval 18"/>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21" name="Oval 20"/>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3" name="Oval 22"/>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S66  ·  14 / 44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Ramesh's page: four parts as four sentences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page say, part by part?</a:t>
            </a:r>
          </a:p>
        </p:txBody>
      </p:sp>
      <p:graphicFrame>
        <p:nvGraphicFramePr>
          <p:cNvPr id="9" name="Table 8"/>
          <p:cNvGraphicFramePr>
            <a:graphicFrameLocks noGrp="1"/>
          </p:cNvGraphicFramePr>
          <p:nvPr/>
        </p:nvGraphicFramePr>
        <p:xfrm>
          <a:off x="530352" y="1956816"/>
          <a:ext cx="11130990" cy="2574544"/>
        </p:xfrm>
        <a:graphic>
          <a:graphicData uri="http://schemas.openxmlformats.org/drawingml/2006/table">
            <a:tbl>
              <a:tblPr firstRow="0" bandRow="0">
                <a:tableStyleId>{2D5ABB26-0587-4C30-8999-92F81FD0307C}</a:tableStyleId>
              </a:tblPr>
              <a:tblGrid>
                <a:gridCol w="1631057"/>
                <a:gridCol w="9499933"/>
              </a:tblGrid>
              <a:tr h="369824">
                <a:tc>
                  <a:txBody>
                    <a:bodyPr/>
                    <a:lstStyle/>
                    <a:p>
                      <a:r>
                        <a:rPr sz="1450" b="1" i="0">
                          <a:solidFill>
                            <a:srgbClr val="FFFFFF"/>
                          </a:solidFill>
                          <a:latin typeface="Calibri"/>
                        </a:rPr>
                        <a:t>Part</a:t>
                      </a:r>
                    </a:p>
                  </a:txBody>
                  <a:tcPr marL="101600" marR="101600" marT="38100" marB="38100" anchor="ctr">
                    <a:solidFill>
                      <a:srgbClr val="1A0F5C"/>
                    </a:solidFill>
                  </a:tcPr>
                </a:tc>
                <a:tc>
                  <a:txBody>
                    <a:bodyPr/>
                    <a:lstStyle/>
                    <a:p>
                      <a:r>
                        <a:rPr sz="1450" b="1" i="0">
                          <a:solidFill>
                            <a:srgbClr val="FFFFFF"/>
                          </a:solidFill>
                          <a:latin typeface="Calibri"/>
                        </a:rPr>
                        <a:t>Ramesh's page (invented)</a:t>
                      </a:r>
                    </a:p>
                  </a:txBody>
                  <a:tcPr marL="101600" marR="101600" marT="38100" marB="38100" anchor="ctr">
                    <a:solidFill>
                      <a:srgbClr val="1A0F5C"/>
                    </a:solidFill>
                  </a:tcPr>
                </a:tc>
              </a:tr>
              <a:tr h="611632">
                <a:tc>
                  <a:txBody>
                    <a:bodyPr/>
                    <a:lstStyle/>
                    <a:p>
                      <a:r>
                        <a:rPr sz="1400" b="0" i="0">
                          <a:solidFill>
                            <a:srgbClr val="1A1440"/>
                          </a:solidFill>
                          <a:latin typeface="Calibri"/>
                        </a:rPr>
                        <a:t>Claim</a:t>
                      </a:r>
                    </a:p>
                  </a:txBody>
                  <a:tcPr marL="101600" marR="101600" marT="38100" marB="38100" anchor="ctr">
                    <a:solidFill>
                      <a:srgbClr val="FFFFFF"/>
                    </a:solidFill>
                  </a:tcPr>
                </a:tc>
                <a:tc>
                  <a:txBody>
                    <a:bodyPr/>
                    <a:lstStyle/>
                    <a:p>
                      <a:r>
                        <a:rPr sz="1400" b="0" i="0">
                          <a:solidFill>
                            <a:srgbClr val="1A1440"/>
                          </a:solidFill>
                          <a:latin typeface="Calibri"/>
                        </a:rPr>
                        <a:t>Keep the longer hours for one more month and count the evening's own sales, because the two extra hours have brought Rs 700 a day while each hour of the day now earns less.</a:t>
                      </a:r>
                    </a:p>
                  </a:txBody>
                  <a:tcPr marL="101600" marR="101600" marT="38100" marB="38100" anchor="ctr">
                    <a:solidFill>
                      <a:srgbClr val="FFFFFF"/>
                    </a:solidFill>
                  </a:tcPr>
                </a:tc>
              </a:tr>
              <a:tr h="611632">
                <a:tc>
                  <a:txBody>
                    <a:bodyPr/>
                    <a:lstStyle/>
                    <a:p>
                      <a:r>
                        <a:rPr sz="1400" b="0" i="0">
                          <a:solidFill>
                            <a:srgbClr val="1A1440"/>
                          </a:solidFill>
                          <a:latin typeface="Calibri"/>
                        </a:rPr>
                        <a:t>Evidence</a:t>
                      </a:r>
                    </a:p>
                  </a:txBody>
                  <a:tcPr marL="101600" marR="101600" marT="38100" marB="38100" anchor="ctr">
                    <a:solidFill>
                      <a:srgbClr val="F4F2FA"/>
                    </a:solidFill>
                  </a:tcPr>
                </a:tc>
                <a:tc>
                  <a:txBody>
                    <a:bodyPr/>
                    <a:lstStyle/>
                    <a:p>
                      <a:r>
                        <a:rPr sz="1400" b="0" i="0">
                          <a:solidFill>
                            <a:srgbClr val="1A1440"/>
                          </a:solidFill>
                          <a:latin typeface="Calibri"/>
                        </a:rPr>
                        <a:t>Sales per hour fell from Rs 1,190 in September to Rs 1,050 in October, the two added hours selling at most Rs 350 each, and sales per customer held at Rs 100.</a:t>
                      </a:r>
                    </a:p>
                  </a:txBody>
                  <a:tcPr marL="101600" marR="101600" marT="38100" marB="38100" anchor="ctr">
                    <a:solidFill>
                      <a:srgbClr val="F4F2FA"/>
                    </a:solidFill>
                  </a:tcPr>
                </a:tc>
              </a:tr>
              <a:tr h="369824">
                <a:tc>
                  <a:txBody>
                    <a:bodyPr/>
                    <a:lstStyle/>
                    <a:p>
                      <a:r>
                        <a:rPr sz="1400" b="0" i="0">
                          <a:solidFill>
                            <a:srgbClr val="1A1440"/>
                          </a:solidFill>
                          <a:latin typeface="Calibri"/>
                        </a:rPr>
                        <a:t>Caveat</a:t>
                      </a:r>
                    </a:p>
                  </a:txBody>
                  <a:tcPr marL="101600" marR="101600" marT="38100" marB="38100" anchor="ctr">
                    <a:solidFill>
                      <a:srgbClr val="FFFFFF"/>
                    </a:solidFill>
                  </a:tcPr>
                </a:tc>
                <a:tc>
                  <a:txBody>
                    <a:bodyPr/>
                    <a:lstStyle/>
                    <a:p>
                      <a:r>
                        <a:rPr sz="1400" b="0" i="0">
                          <a:solidFill>
                            <a:srgbClr val="1A1440"/>
                          </a:solidFill>
                          <a:latin typeface="Calibri"/>
                        </a:rPr>
                        <a:t>A festival fortnight fell inside October, so part of the extra Rs 700 a day may be the season.</a:t>
                      </a:r>
                    </a:p>
                  </a:txBody>
                  <a:tcPr marL="101600" marR="101600" marT="38100" marB="38100" anchor="ctr">
                    <a:solidFill>
                      <a:srgbClr val="FFFFFF"/>
                    </a:solidFill>
                  </a:tcPr>
                </a:tc>
              </a:tr>
              <a:tr h="611632">
                <a:tc>
                  <a:txBody>
                    <a:bodyPr/>
                    <a:lstStyle/>
                    <a:p>
                      <a:r>
                        <a:rPr sz="1400" b="0" i="0">
                          <a:solidFill>
                            <a:srgbClr val="1A1440"/>
                          </a:solidFill>
                          <a:latin typeface="Calibri"/>
                        </a:rPr>
                        <a:t>Action</a:t>
                      </a:r>
                    </a:p>
                  </a:txBody>
                  <a:tcPr marL="101600" marR="101600" marT="38100" marB="38100" anchor="ctr">
                    <a:solidFill>
                      <a:srgbClr val="F4F2FA"/>
                    </a:solidFill>
                  </a:tcPr>
                </a:tc>
                <a:tc>
                  <a:txBody>
                    <a:bodyPr/>
                    <a:lstStyle/>
                    <a:p>
                      <a:r>
                        <a:rPr sz="1400" b="0" i="0">
                          <a:solidFill>
                            <a:srgbClr val="1A1440"/>
                          </a:solidFill>
                          <a:latin typeface="Calibri"/>
                        </a:rPr>
                        <a:t>Keep the hours through November, write the evening's sales in a separate column each day, and decide after thirty days; the helper's two extra hours cost Rs 170 a day, and Ramesh signs.</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2" name="Oval 11"/>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127694"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must a page carry?</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16" name="Oval 15"/>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18" name="Oval 17"/>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S67  ·  15 / 44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draft had nine lines and four method words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the page cut, and which plain words replaced the method words?</a:t>
            </a:r>
          </a:p>
        </p:txBody>
      </p:sp>
      <p:pic>
        <p:nvPicPr>
          <p:cNvPr id="9" name="mermaid diagram" descr="C2_W04_D02_kirana_page_counts_STUDENT.png"/>
          <p:cNvPicPr>
            <a:picLocks noChangeAspect="1"/>
          </p:cNvPicPr>
          <p:nvPr/>
        </p:nvPicPr>
        <p:blipFill>
          <a:blip r:embed="rId4"/>
          <a:stretch>
            <a:fillRect/>
          </a:stretch>
        </p:blipFill>
        <p:spPr>
          <a:xfrm>
            <a:off x="530352" y="2356205"/>
            <a:ext cx="4786326" cy="2645461"/>
          </a:xfrm>
          <a:prstGeom prst="rect">
            <a:avLst/>
          </a:prstGeom>
        </p:spPr>
      </p:pic>
      <p:sp>
        <p:nvSpPr>
          <p:cNvPr id="10" name="picture caption"/>
          <p:cNvSpPr txBox="1"/>
          <p:nvPr/>
        </p:nvSpPr>
        <p:spPr>
          <a:xfrm>
            <a:off x="530352" y="5038242"/>
            <a:ext cx="4786326" cy="524256"/>
          </a:xfrm>
          <a:prstGeom prst="rect">
            <a:avLst/>
          </a:prstGeom>
          <a:noFill/>
        </p:spPr>
        <p:txBody>
          <a:bodyPr wrap="square" anchor="t" lIns="0" rIns="0" tIns="0" bIns="0">
            <a:spAutoFit/>
          </a:bodyPr>
          <a:lstStyle/>
          <a:p>
            <a:pPr algn="ctr"/>
            <a:r>
              <a:rPr sz="1200" b="0" i="0">
                <a:solidFill>
                  <a:srgbClr val="6B6690"/>
                </a:solidFill>
                <a:latin typeface="Calibri"/>
              </a:rPr>
              <a:t>The draft against the page: lines, numbers and method words, all invented</a:t>
            </a:r>
          </a:p>
        </p:txBody>
      </p:sp>
      <p:graphicFrame>
        <p:nvGraphicFramePr>
          <p:cNvPr id="11" name="Table 10"/>
          <p:cNvGraphicFramePr>
            <a:graphicFrameLocks noGrp="1"/>
          </p:cNvGraphicFramePr>
          <p:nvPr/>
        </p:nvGraphicFramePr>
        <p:xfrm>
          <a:off x="5761917" y="1956816"/>
          <a:ext cx="5899425" cy="1849120"/>
        </p:xfrm>
        <a:graphic>
          <a:graphicData uri="http://schemas.openxmlformats.org/drawingml/2006/table">
            <a:tbl>
              <a:tblPr firstRow="0" bandRow="0">
                <a:tableStyleId>{2D5ABB26-0587-4C30-8999-92F81FD0307C}</a:tableStyleId>
              </a:tblPr>
              <a:tblGrid>
                <a:gridCol w="1855126"/>
                <a:gridCol w="4044299"/>
              </a:tblGrid>
              <a:tr h="369824">
                <a:tc>
                  <a:txBody>
                    <a:bodyPr/>
                    <a:lstStyle/>
                    <a:p>
                      <a:r>
                        <a:rPr sz="1450" b="1" i="0">
                          <a:solidFill>
                            <a:srgbClr val="FFFFFF"/>
                          </a:solidFill>
                          <a:latin typeface="Calibri"/>
                        </a:rPr>
                        <a:t>Method word</a:t>
                      </a:r>
                    </a:p>
                  </a:txBody>
                  <a:tcPr marL="101600" marR="101600" marT="38100" marB="38100" anchor="ctr">
                    <a:solidFill>
                      <a:srgbClr val="1A0F5C"/>
                    </a:solidFill>
                  </a:tcPr>
                </a:tc>
                <a:tc>
                  <a:txBody>
                    <a:bodyPr/>
                    <a:lstStyle/>
                    <a:p>
                      <a:r>
                        <a:rPr sz="1450" b="1" i="0">
                          <a:solidFill>
                            <a:srgbClr val="FFFFFF"/>
                          </a:solidFill>
                          <a:latin typeface="Calibri"/>
                        </a:rPr>
                        <a:t>The plain words that replace it</a:t>
                      </a:r>
                    </a:p>
                  </a:txBody>
                  <a:tcPr marL="101600" marR="101600" marT="38100" marB="38100" anchor="ctr">
                    <a:solidFill>
                      <a:srgbClr val="1A0F5C"/>
                    </a:solidFill>
                  </a:tcPr>
                </a:tc>
              </a:tr>
              <a:tr h="369824">
                <a:tc>
                  <a:txBody>
                    <a:bodyPr/>
                    <a:lstStyle/>
                    <a:p>
                      <a:r>
                        <a:rPr sz="1400" b="0" i="0">
                          <a:solidFill>
                            <a:srgbClr val="1A1440"/>
                          </a:solidFill>
                          <a:latin typeface="Calibri"/>
                        </a:rPr>
                        <a:t>Denominator</a:t>
                      </a:r>
                    </a:p>
                  </a:txBody>
                  <a:tcPr marL="101600" marR="101600" marT="38100" marB="38100" anchor="ctr">
                    <a:solidFill>
                      <a:srgbClr val="FFFFFF"/>
                    </a:solidFill>
                  </a:tcPr>
                </a:tc>
                <a:tc>
                  <a:txBody>
                    <a:bodyPr/>
                    <a:lstStyle/>
                    <a:p>
                      <a:r>
                        <a:rPr sz="1400" b="0" i="0">
                          <a:solidFill>
                            <a:srgbClr val="1A1440"/>
                          </a:solidFill>
                          <a:latin typeface="Calibri"/>
                        </a:rPr>
                        <a:t>divided by</a:t>
                      </a:r>
                    </a:p>
                  </a:txBody>
                  <a:tcPr marL="101600" marR="101600" marT="38100" marB="38100" anchor="ctr">
                    <a:solidFill>
                      <a:srgbClr val="FFFFFF"/>
                    </a:solidFill>
                  </a:tcPr>
                </a:tc>
              </a:tr>
              <a:tr h="369824">
                <a:tc>
                  <a:txBody>
                    <a:bodyPr/>
                    <a:lstStyle/>
                    <a:p>
                      <a:r>
                        <a:rPr sz="1400" b="0" i="0">
                          <a:solidFill>
                            <a:srgbClr val="1A1440"/>
                          </a:solidFill>
                          <a:latin typeface="Calibri"/>
                        </a:rPr>
                        <a:t>Index</a:t>
                      </a:r>
                    </a:p>
                  </a:txBody>
                  <a:tcPr marL="101600" marR="101600" marT="38100" marB="38100" anchor="ctr">
                    <a:solidFill>
                      <a:srgbClr val="F4F2FA"/>
                    </a:solidFill>
                  </a:tcPr>
                </a:tc>
                <a:tc>
                  <a:txBody>
                    <a:bodyPr/>
                    <a:lstStyle/>
                    <a:p>
                      <a:r>
                        <a:rPr sz="1400" b="0" i="0">
                          <a:solidFill>
                            <a:srgbClr val="1A1440"/>
                          </a:solidFill>
                          <a:latin typeface="Calibri"/>
                        </a:rPr>
                        <a:t>compared with the month before</a:t>
                      </a:r>
                    </a:p>
                  </a:txBody>
                  <a:tcPr marL="101600" marR="101600" marT="38100" marB="38100" anchor="ctr">
                    <a:solidFill>
                      <a:srgbClr val="F4F2FA"/>
                    </a:solidFill>
                  </a:tcPr>
                </a:tc>
              </a:tr>
              <a:tr h="369824">
                <a:tc>
                  <a:txBody>
                    <a:bodyPr/>
                    <a:lstStyle/>
                    <a:p>
                      <a:r>
                        <a:rPr sz="1400" b="0" i="0">
                          <a:solidFill>
                            <a:srgbClr val="1A1440"/>
                          </a:solidFill>
                          <a:latin typeface="Calibri"/>
                        </a:rPr>
                        <a:t>Guardrail</a:t>
                      </a:r>
                    </a:p>
                  </a:txBody>
                  <a:tcPr marL="101600" marR="101600" marT="38100" marB="38100" anchor="ctr">
                    <a:solidFill>
                      <a:srgbClr val="FFFFFF"/>
                    </a:solidFill>
                  </a:tcPr>
                </a:tc>
                <a:tc>
                  <a:txBody>
                    <a:bodyPr/>
                    <a:lstStyle/>
                    <a:p>
                      <a:r>
                        <a:rPr sz="1400" b="0" i="0">
                          <a:solidFill>
                            <a:srgbClr val="1A1440"/>
                          </a:solidFill>
                          <a:latin typeface="Calibri"/>
                        </a:rPr>
                        <a:t>a number that must not get worse</a:t>
                      </a:r>
                    </a:p>
                  </a:txBody>
                  <a:tcPr marL="101600" marR="101600" marT="38100" marB="38100" anchor="ctr">
                    <a:solidFill>
                      <a:srgbClr val="FFFFFF"/>
                    </a:solidFill>
                  </a:tcPr>
                </a:tc>
              </a:tr>
              <a:tr h="369824">
                <a:tc>
                  <a:txBody>
                    <a:bodyPr/>
                    <a:lstStyle/>
                    <a:p>
                      <a:r>
                        <a:rPr sz="1400" b="0" i="0">
                          <a:solidFill>
                            <a:srgbClr val="1A1440"/>
                          </a:solidFill>
                          <a:latin typeface="Calibri"/>
                        </a:rPr>
                        <a:t>North star</a:t>
                      </a:r>
                    </a:p>
                  </a:txBody>
                  <a:tcPr marL="101600" marR="101600" marT="38100" marB="38100" anchor="ctr">
                    <a:solidFill>
                      <a:srgbClr val="F4F2FA"/>
                    </a:solidFill>
                  </a:tcPr>
                </a:tc>
                <a:tc>
                  <a:txBody>
                    <a:bodyPr/>
                    <a:lstStyle/>
                    <a:p>
                      <a:r>
                        <a:rPr sz="1400" b="0" i="0">
                          <a:solidFill>
                            <a:srgbClr val="1A1440"/>
                          </a:solidFill>
                          <a:latin typeface="Calibri"/>
                        </a:rPr>
                        <a:t>the one number the team is judged on</a:t>
                      </a:r>
                    </a:p>
                  </a:txBody>
                  <a:tcPr marL="101600" marR="101600" marT="38100" marB="38100" anchor="ctr">
                    <a:solidFill>
                      <a:srgbClr val="F4F2FA"/>
                    </a:solidFill>
                  </a:tcPr>
                </a:tc>
              </a:tr>
            </a:tbl>
          </a:graphicData>
        </a:graphic>
      </p:graphicFrame>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4" name="Oval 13"/>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127694"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must a page carry?</a:t>
            </a:r>
          </a:p>
        </p:txBody>
      </p:sp>
      <p:sp>
        <p:nvSpPr>
          <p:cNvPr id="16" name="Oval 15"/>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18" name="Oval 17"/>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0" name="Oval 19"/>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S68  ·  16 / 44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Five rules for a page read in two minutes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should a learner keep from chapter 7, and where is it used next?</a:t>
            </a:r>
          </a:p>
        </p:txBody>
      </p:sp>
      <p:sp>
        <p:nvSpPr>
          <p:cNvPr id="9" name="TextBox 8"/>
          <p:cNvSpPr txBox="1"/>
          <p:nvPr/>
        </p:nvSpPr>
        <p:spPr>
          <a:xfrm>
            <a:off x="530352" y="1645920"/>
            <a:ext cx="502920" cy="333756"/>
          </a:xfrm>
          <a:prstGeom prst="rect">
            <a:avLst/>
          </a:prstGeom>
          <a:noFill/>
        </p:spPr>
        <p:txBody>
          <a:bodyPr wrap="square" anchor="t" lIns="0" rIns="0" tIns="0" bIns="0">
            <a:spAutoFit/>
          </a:bodyPr>
          <a:lstStyle/>
          <a:p>
            <a:pPr algn="l"/>
            <a:r>
              <a:rPr sz="1800" b="0" i="0">
                <a:solidFill>
                  <a:srgbClr val="5B3FD6"/>
                </a:solidFill>
                <a:latin typeface="Georgia"/>
              </a:rPr>
              <a:t>01</a:t>
            </a:r>
          </a:p>
        </p:txBody>
      </p:sp>
      <p:sp>
        <p:nvSpPr>
          <p:cNvPr id="10" name="TextBox 9"/>
          <p:cNvSpPr txBox="1"/>
          <p:nvPr/>
        </p:nvSpPr>
        <p:spPr>
          <a:xfrm>
            <a:off x="1097280" y="1682496"/>
            <a:ext cx="10564063" cy="368808"/>
          </a:xfrm>
          <a:prstGeom prst="rect">
            <a:avLst/>
          </a:prstGeom>
          <a:noFill/>
        </p:spPr>
        <p:txBody>
          <a:bodyPr wrap="square" anchor="t" lIns="0" rIns="0" tIns="0" bIns="0">
            <a:spAutoFit/>
          </a:bodyPr>
          <a:lstStyle/>
          <a:p>
            <a:r>
              <a:rPr sz="1500" b="0" i="0">
                <a:solidFill>
                  <a:srgbClr val="1A1440"/>
                </a:solidFill>
                <a:latin typeface="Calibri"/>
              </a:rPr>
              <a:t>The first sentence is the claim, with what to do and why.</a:t>
            </a:r>
          </a:p>
        </p:txBody>
      </p:sp>
      <p:sp>
        <p:nvSpPr>
          <p:cNvPr id="11" name="TextBox 10"/>
          <p:cNvSpPr txBox="1"/>
          <p:nvPr/>
        </p:nvSpPr>
        <p:spPr>
          <a:xfrm>
            <a:off x="530352" y="2087880"/>
            <a:ext cx="502920" cy="333756"/>
          </a:xfrm>
          <a:prstGeom prst="rect">
            <a:avLst/>
          </a:prstGeom>
          <a:noFill/>
        </p:spPr>
        <p:txBody>
          <a:bodyPr wrap="square" anchor="t" lIns="0" rIns="0" tIns="0" bIns="0">
            <a:spAutoFit/>
          </a:bodyPr>
          <a:lstStyle/>
          <a:p>
            <a:pPr algn="l"/>
            <a:r>
              <a:rPr sz="1800" b="0" i="0">
                <a:solidFill>
                  <a:srgbClr val="5B3FD6"/>
                </a:solidFill>
                <a:latin typeface="Georgia"/>
              </a:rPr>
              <a:t>02</a:t>
            </a:r>
          </a:p>
        </p:txBody>
      </p:sp>
      <p:sp>
        <p:nvSpPr>
          <p:cNvPr id="12" name="TextBox 11"/>
          <p:cNvSpPr txBox="1"/>
          <p:nvPr/>
        </p:nvSpPr>
        <p:spPr>
          <a:xfrm>
            <a:off x="1097280" y="2124456"/>
            <a:ext cx="10564063" cy="368808"/>
          </a:xfrm>
          <a:prstGeom prst="rect">
            <a:avLst/>
          </a:prstGeom>
          <a:noFill/>
        </p:spPr>
        <p:txBody>
          <a:bodyPr wrap="square" anchor="t" lIns="0" rIns="0" tIns="0" bIns="0">
            <a:spAutoFit/>
          </a:bodyPr>
          <a:lstStyle/>
          <a:p>
            <a:r>
              <a:rPr sz="1500" b="0" i="0">
                <a:solidFill>
                  <a:srgbClr val="1A1440"/>
                </a:solidFill>
                <a:latin typeface="Calibri"/>
              </a:rPr>
              <a:t>The second carries one number, what it is divided by and its window.</a:t>
            </a:r>
          </a:p>
        </p:txBody>
      </p:sp>
      <p:sp>
        <p:nvSpPr>
          <p:cNvPr id="13" name="TextBox 12"/>
          <p:cNvSpPr txBox="1"/>
          <p:nvPr/>
        </p:nvSpPr>
        <p:spPr>
          <a:xfrm>
            <a:off x="530352" y="2529840"/>
            <a:ext cx="502920" cy="333756"/>
          </a:xfrm>
          <a:prstGeom prst="rect">
            <a:avLst/>
          </a:prstGeom>
          <a:noFill/>
        </p:spPr>
        <p:txBody>
          <a:bodyPr wrap="square" anchor="t" lIns="0" rIns="0" tIns="0" bIns="0">
            <a:spAutoFit/>
          </a:bodyPr>
          <a:lstStyle/>
          <a:p>
            <a:pPr algn="l"/>
            <a:r>
              <a:rPr sz="1800" b="0" i="0">
                <a:solidFill>
                  <a:srgbClr val="5B3FD6"/>
                </a:solidFill>
                <a:latin typeface="Georgia"/>
              </a:rPr>
              <a:t>03</a:t>
            </a:r>
          </a:p>
        </p:txBody>
      </p:sp>
      <p:sp>
        <p:nvSpPr>
          <p:cNvPr id="14" name="TextBox 13"/>
          <p:cNvSpPr txBox="1"/>
          <p:nvPr/>
        </p:nvSpPr>
        <p:spPr>
          <a:xfrm>
            <a:off x="1097280" y="2566416"/>
            <a:ext cx="10564063" cy="368808"/>
          </a:xfrm>
          <a:prstGeom prst="rect">
            <a:avLst/>
          </a:prstGeom>
          <a:noFill/>
        </p:spPr>
        <p:txBody>
          <a:bodyPr wrap="square" anchor="t" lIns="0" rIns="0" tIns="0" bIns="0">
            <a:spAutoFit/>
          </a:bodyPr>
          <a:lstStyle/>
          <a:p>
            <a:r>
              <a:rPr sz="1500" b="0" i="0">
                <a:solidFill>
                  <a:srgbClr val="1A1440"/>
                </a:solidFill>
                <a:latin typeface="Calibri"/>
              </a:rPr>
              <a:t>The caveat comes before the action, so the reader meets the doubt first.</a:t>
            </a:r>
          </a:p>
        </p:txBody>
      </p:sp>
      <p:sp>
        <p:nvSpPr>
          <p:cNvPr id="15" name="TextBox 14"/>
          <p:cNvSpPr txBox="1"/>
          <p:nvPr/>
        </p:nvSpPr>
        <p:spPr>
          <a:xfrm>
            <a:off x="530352" y="2971800"/>
            <a:ext cx="502920" cy="333756"/>
          </a:xfrm>
          <a:prstGeom prst="rect">
            <a:avLst/>
          </a:prstGeom>
          <a:noFill/>
        </p:spPr>
        <p:txBody>
          <a:bodyPr wrap="square" anchor="t" lIns="0" rIns="0" tIns="0" bIns="0">
            <a:spAutoFit/>
          </a:bodyPr>
          <a:lstStyle/>
          <a:p>
            <a:pPr algn="l"/>
            <a:r>
              <a:rPr sz="1800" b="0" i="0">
                <a:solidFill>
                  <a:srgbClr val="5B3FD6"/>
                </a:solidFill>
                <a:latin typeface="Georgia"/>
              </a:rPr>
              <a:t>04</a:t>
            </a:r>
          </a:p>
        </p:txBody>
      </p:sp>
      <p:sp>
        <p:nvSpPr>
          <p:cNvPr id="16" name="TextBox 15"/>
          <p:cNvSpPr txBox="1"/>
          <p:nvPr/>
        </p:nvSpPr>
        <p:spPr>
          <a:xfrm>
            <a:off x="1097280" y="3008376"/>
            <a:ext cx="10564063" cy="368808"/>
          </a:xfrm>
          <a:prstGeom prst="rect">
            <a:avLst/>
          </a:prstGeom>
          <a:noFill/>
        </p:spPr>
        <p:txBody>
          <a:bodyPr wrap="square" anchor="t" lIns="0" rIns="0" tIns="0" bIns="0">
            <a:spAutoFit/>
          </a:bodyPr>
          <a:lstStyle/>
          <a:p>
            <a:r>
              <a:rPr sz="1500" b="0" i="0">
                <a:solidFill>
                  <a:srgbClr val="1A1440"/>
                </a:solidFill>
                <a:latin typeface="Calibri"/>
              </a:rPr>
              <a:t>The action names what to do, its cost in rupees and weeks, and who signs.</a:t>
            </a:r>
          </a:p>
        </p:txBody>
      </p:sp>
      <p:sp>
        <p:nvSpPr>
          <p:cNvPr id="17" name="TextBox 16"/>
          <p:cNvSpPr txBox="1"/>
          <p:nvPr/>
        </p:nvSpPr>
        <p:spPr>
          <a:xfrm>
            <a:off x="530352" y="3413760"/>
            <a:ext cx="502920" cy="333756"/>
          </a:xfrm>
          <a:prstGeom prst="rect">
            <a:avLst/>
          </a:prstGeom>
          <a:noFill/>
        </p:spPr>
        <p:txBody>
          <a:bodyPr wrap="square" anchor="t" lIns="0" rIns="0" tIns="0" bIns="0">
            <a:spAutoFit/>
          </a:bodyPr>
          <a:lstStyle/>
          <a:p>
            <a:pPr algn="l"/>
            <a:r>
              <a:rPr sz="1800" b="0" i="0">
                <a:solidFill>
                  <a:srgbClr val="5B3FD6"/>
                </a:solidFill>
                <a:latin typeface="Georgia"/>
              </a:rPr>
              <a:t>05</a:t>
            </a:r>
          </a:p>
        </p:txBody>
      </p:sp>
      <p:sp>
        <p:nvSpPr>
          <p:cNvPr id="18" name="TextBox 17"/>
          <p:cNvSpPr txBox="1"/>
          <p:nvPr/>
        </p:nvSpPr>
        <p:spPr>
          <a:xfrm>
            <a:off x="1097280" y="3450336"/>
            <a:ext cx="10564063" cy="368808"/>
          </a:xfrm>
          <a:prstGeom prst="rect">
            <a:avLst/>
          </a:prstGeom>
          <a:noFill/>
        </p:spPr>
        <p:txBody>
          <a:bodyPr wrap="square" anchor="t" lIns="0" rIns="0" tIns="0" bIns="0">
            <a:spAutoFit/>
          </a:bodyPr>
          <a:lstStyle/>
          <a:p>
            <a:r>
              <a:rPr sz="1500" b="0" i="0">
                <a:solidFill>
                  <a:srgbClr val="1A1440"/>
                </a:solidFill>
                <a:latin typeface="Calibri"/>
              </a:rPr>
              <a:t>No method word stays on the page: write "divided by", never "denominator".</a:t>
            </a:r>
          </a:p>
        </p:txBody>
      </p:sp>
      <p:sp>
        <p:nvSpPr>
          <p:cNvPr id="19" name="Rounded Rectangle 18"/>
          <p:cNvSpPr/>
          <p:nvPr/>
        </p:nvSpPr>
        <p:spPr>
          <a:xfrm>
            <a:off x="530352" y="4002024"/>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58952" y="42047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mic_caee7398c80d.png"/>
          <p:cNvPicPr>
            <a:picLocks noChangeAspect="1"/>
          </p:cNvPicPr>
          <p:nvPr/>
        </p:nvPicPr>
        <p:blipFill>
          <a:blip r:embed="rId5"/>
          <a:stretch>
            <a:fillRect/>
          </a:stretch>
        </p:blipFill>
        <p:spPr>
          <a:xfrm>
            <a:off x="868680" y="4314444"/>
            <a:ext cx="237744" cy="237744"/>
          </a:xfrm>
          <a:prstGeom prst="rect">
            <a:avLst/>
          </a:prstGeom>
        </p:spPr>
      </p:pic>
      <p:sp>
        <p:nvSpPr>
          <p:cNvPr id="22" name="TextBox 21"/>
          <p:cNvSpPr txBox="1"/>
          <p:nvPr/>
        </p:nvSpPr>
        <p:spPr>
          <a:xfrm>
            <a:off x="1399031" y="414832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23" name="TextBox 22"/>
          <p:cNvSpPr txBox="1"/>
          <p:nvPr/>
        </p:nvSpPr>
        <p:spPr>
          <a:xfrm>
            <a:off x="1399031" y="4367784"/>
            <a:ext cx="9987991" cy="423672"/>
          </a:xfrm>
          <a:prstGeom prst="rect">
            <a:avLst/>
          </a:prstGeom>
          <a:noFill/>
        </p:spPr>
        <p:txBody>
          <a:bodyPr wrap="square" anchor="t" lIns="0" rIns="0" tIns="0" bIns="0">
            <a:spAutoFit/>
          </a:bodyPr>
          <a:lstStyle/>
          <a:p>
            <a:r>
              <a:rPr sz="1500" b="0" i="0">
                <a:solidFill>
                  <a:srgbClr val="1A1440"/>
                </a:solidFill>
                <a:latin typeface="Calibri"/>
              </a:rPr>
              <a:t>[S] Present a recommendation to a non-technical stakeholder in two minutes: the page, spoken.</a:t>
            </a:r>
          </a:p>
        </p:txBody>
      </p:sp>
      <p:pic>
        <p:nvPicPr>
          <p:cNvPr id="24" name="mermaid diagram" descr="37d776c03f3287af.png"/>
          <p:cNvPicPr>
            <a:picLocks noChangeAspect="1"/>
          </p:cNvPicPr>
          <p:nvPr/>
        </p:nvPicPr>
        <p:blipFill>
          <a:blip r:embed="rId6"/>
          <a:stretch>
            <a:fillRect/>
          </a:stretch>
        </p:blipFill>
        <p:spPr>
          <a:xfrm>
            <a:off x="3408631" y="5029200"/>
            <a:ext cx="5374432" cy="1170432"/>
          </a:xfrm>
          <a:prstGeom prst="rect">
            <a:avLst/>
          </a:prstGeom>
        </p:spPr>
      </p:pic>
      <p:sp>
        <p:nvSpPr>
          <p:cNvPr id="25" name="Oval 2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27" name="Oval 26"/>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2127694"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must a page carry?</a:t>
            </a:r>
          </a:p>
        </p:txBody>
      </p:sp>
      <p:sp>
        <p:nvSpPr>
          <p:cNvPr id="29" name="Oval 28"/>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31" name="Oval 30"/>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33" name="Oval 32"/>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35" name="TextBox 3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S69  ·  17 / 44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08</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Drivers at Uber's evening peak, sized by the guesstimate</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How many at the peak?</a:t>
            </a:r>
          </a:p>
        </p:txBody>
      </p:sp>
      <p:sp>
        <p:nvSpPr>
          <p:cNvPr id="10" name="TextBox 9"/>
          <p:cNvSpPr txBox="1"/>
          <p:nvPr/>
        </p:nvSpPr>
        <p:spPr>
          <a:xfrm>
            <a:off x="731519" y="3931920"/>
            <a:ext cx="9509760" cy="779526"/>
          </a:xfrm>
          <a:prstGeom prst="rect">
            <a:avLst/>
          </a:prstGeom>
          <a:noFill/>
        </p:spPr>
        <p:txBody>
          <a:bodyPr wrap="square" anchor="t" lIns="0" rIns="0" tIns="0" bIns="0">
            <a:spAutoFit/>
          </a:bodyPr>
          <a:lstStyle/>
          <a:p>
            <a:pPr algn="l"/>
            <a:r>
              <a:rPr sz="1500" b="0" i="0">
                <a:solidFill>
                  <a:srgbClr val="E4E1F1"/>
                </a:solidFill>
                <a:latin typeface="Calibri"/>
              </a:rPr>
              <a:t>The guesstimate applied: drivers online at the weekday evening peak, clarified, mapped, calculated, given as a range and checked like for like against the case's own data; then UPI, in pairs, against the clock.</a:t>
            </a:r>
          </a:p>
        </p:txBody>
      </p:sp>
      <p:sp>
        <p:nvSpPr>
          <p:cNvPr id="11" name="Rounded Rectangle 10"/>
          <p:cNvSpPr/>
          <p:nvPr/>
        </p:nvSpPr>
        <p:spPr>
          <a:xfrm>
            <a:off x="73151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big is an unknown?</a:t>
            </a:r>
          </a:p>
        </p:txBody>
      </p:sp>
      <p:sp>
        <p:nvSpPr>
          <p:cNvPr id="12" name="Rounded Rectangle 11"/>
          <p:cNvSpPr/>
          <p:nvPr/>
        </p:nvSpPr>
        <p:spPr>
          <a:xfrm>
            <a:off x="2509759"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must a page carry?</a:t>
            </a:r>
          </a:p>
        </p:txBody>
      </p:sp>
      <p:sp>
        <p:nvSpPr>
          <p:cNvPr id="13" name="Rounded Rectangle 12"/>
          <p:cNvSpPr/>
          <p:nvPr/>
        </p:nvSpPr>
        <p:spPr>
          <a:xfrm>
            <a:off x="4347214" y="5074920"/>
            <a:ext cx="160929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How many at the peak?</a:t>
            </a:r>
          </a:p>
        </p:txBody>
      </p:sp>
      <p:sp>
        <p:nvSpPr>
          <p:cNvPr id="14" name="Rounded Rectangle 13"/>
          <p:cNvSpPr/>
          <p:nvPr/>
        </p:nvSpPr>
        <p:spPr>
          <a:xfrm>
            <a:off x="6066238"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goes on one page?</a:t>
            </a:r>
          </a:p>
        </p:txBody>
      </p:sp>
      <p:sp>
        <p:nvSpPr>
          <p:cNvPr id="15" name="Rounded Rectangle 14"/>
          <p:cNvSpPr/>
          <p:nvPr/>
        </p:nvSpPr>
        <p:spPr>
          <a:xfrm>
            <a:off x="7844477"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it sound like?</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2. How many drivers does the evening peak need, and can you say it on one page?</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18 / 44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Uber's estimate applies chapter 6</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956816"/>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358140"/>
          </a:xfrm>
          <a:prstGeom prst="rect">
            <a:avLst/>
          </a:prstGeom>
          <a:noFill/>
        </p:spPr>
        <p:txBody>
          <a:bodyPr wrap="square" anchor="ctr" lIns="0" rIns="0" tIns="0" bIns="0">
            <a:spAutoFit/>
          </a:bodyPr>
          <a:lstStyle/>
          <a:p>
            <a:r>
              <a:rPr sz="1500" b="1">
                <a:solidFill>
                  <a:srgbClr val="5B3FD6"/>
                </a:solidFill>
                <a:latin typeface="Calibri"/>
              </a:rPr>
              <a:t>Applies: </a:t>
            </a:r>
            <a:r>
              <a:rPr sz="1500" b="0" i="0">
                <a:solidFill>
                  <a:srgbClr val="1A1440"/>
                </a:solidFill>
                <a:latin typeface="Calibri"/>
              </a:rPr>
              <a:t>The guesstimate: clarify, map, calculate, validate (chapter 6).</a:t>
            </a:r>
          </a:p>
        </p:txBody>
      </p:sp>
      <p:sp>
        <p:nvSpPr>
          <p:cNvPr id="12" name="Rounded Rectangle 11"/>
          <p:cNvSpPr/>
          <p:nvPr/>
        </p:nvSpPr>
        <p:spPr>
          <a:xfrm>
            <a:off x="530352" y="2662428"/>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2790444"/>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2781300"/>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city head, who asks before Thursday's review how many drivers must be online at the weekday evening peak to keep the median rider wait under five minutes, in fifteen minutes and without a dataset.</a:t>
            </a:r>
          </a:p>
        </p:txBody>
      </p:sp>
      <p:sp>
        <p:nvSpPr>
          <p:cNvPr id="15" name="Rectangle 14"/>
          <p:cNvSpPr/>
          <p:nvPr/>
        </p:nvSpPr>
        <p:spPr>
          <a:xfrm>
            <a:off x="1853145" y="4468368"/>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7" name="Oval 16"/>
          <p:cNvSpPr/>
          <p:nvPr/>
        </p:nvSpPr>
        <p:spPr>
          <a:xfrm>
            <a:off x="1752561"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4934712"/>
            <a:ext cx="2316403" cy="465836"/>
          </a:xfrm>
          <a:prstGeom prst="rect">
            <a:avLst/>
          </a:prstGeom>
          <a:noFill/>
        </p:spPr>
        <p:txBody>
          <a:bodyPr wrap="square" anchor="t" lIns="0" rIns="0" tIns="0" bIns="0">
            <a:spAutoFit/>
          </a:bodyPr>
          <a:lstStyle/>
          <a:p>
            <a:pPr algn="l"/>
            <a:r>
              <a:rPr sz="1300" b="1" i="0">
                <a:solidFill>
                  <a:srgbClr val="1A0F5C"/>
                </a:solidFill>
                <a:latin typeface="Calibri"/>
              </a:rPr>
              <a:t>Which number would check it?</a:t>
            </a:r>
          </a:p>
        </p:txBody>
      </p:sp>
      <p:sp>
        <p:nvSpPr>
          <p:cNvPr id="20" name="TextBox 19"/>
          <p:cNvSpPr txBox="1"/>
          <p:nvPr/>
        </p:nvSpPr>
        <p:spPr>
          <a:xfrm>
            <a:off x="694944" y="5437124"/>
            <a:ext cx="2316403" cy="366776"/>
          </a:xfrm>
          <a:prstGeom prst="rect">
            <a:avLst/>
          </a:prstGeom>
          <a:noFill/>
        </p:spPr>
        <p:txBody>
          <a:bodyPr wrap="square" anchor="t" lIns="0" rIns="0" tIns="0" bIns="0">
            <a:spAutoFit/>
          </a:bodyPr>
          <a:lstStyle/>
          <a:p>
            <a:pPr algn="l"/>
            <a:r>
              <a:rPr sz="1000" b="0" i="0">
                <a:solidFill>
                  <a:srgbClr val="6B6690"/>
                </a:solidFill>
                <a:latin typeface="Calibri"/>
              </a:rPr>
              <a:t>Chapter 6's three tests, on four candidates.</a:t>
            </a:r>
          </a:p>
        </p:txBody>
      </p:sp>
      <p:sp>
        <p:nvSpPr>
          <p:cNvPr id="21" name="TextBox 20"/>
          <p:cNvSpPr txBox="1"/>
          <p:nvPr/>
        </p:nvSpPr>
        <p:spPr>
          <a:xfrm>
            <a:off x="3358819"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22" name="Oval 21"/>
          <p:cNvSpPr/>
          <p:nvPr/>
        </p:nvSpPr>
        <p:spPr>
          <a:xfrm>
            <a:off x="4581029"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4934712"/>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exactly is counted?</a:t>
            </a:r>
          </a:p>
        </p:txBody>
      </p:sp>
      <p:sp>
        <p:nvSpPr>
          <p:cNvPr id="25" name="TextBox 24"/>
          <p:cNvSpPr txBox="1"/>
          <p:nvPr/>
        </p:nvSpPr>
        <p:spPr>
          <a:xfrm>
            <a:off x="3523411" y="5222494"/>
            <a:ext cx="2316403" cy="201676"/>
          </a:xfrm>
          <a:prstGeom prst="rect">
            <a:avLst/>
          </a:prstGeom>
          <a:noFill/>
        </p:spPr>
        <p:txBody>
          <a:bodyPr wrap="square" anchor="t" lIns="0" rIns="0" tIns="0" bIns="0">
            <a:spAutoFit/>
          </a:bodyPr>
          <a:lstStyle/>
          <a:p>
            <a:pPr algn="l"/>
            <a:r>
              <a:rPr sz="1000" b="0" i="0">
                <a:solidFill>
                  <a:srgbClr val="6B6690"/>
                </a:solidFill>
                <a:latin typeface="Calibri"/>
              </a:rPr>
              <a:t>Drivers online at one moment.</a:t>
            </a:r>
          </a:p>
        </p:txBody>
      </p:sp>
      <p:sp>
        <p:nvSpPr>
          <p:cNvPr id="26" name="TextBox 25"/>
          <p:cNvSpPr txBox="1"/>
          <p:nvPr/>
        </p:nvSpPr>
        <p:spPr>
          <a:xfrm>
            <a:off x="6187287"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7" name="Oval 26"/>
          <p:cNvSpPr/>
          <p:nvPr/>
        </p:nvSpPr>
        <p:spPr>
          <a:xfrm>
            <a:off x="7409497"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4934712"/>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does the chain give?</a:t>
            </a:r>
          </a:p>
        </p:txBody>
      </p:sp>
      <p:sp>
        <p:nvSpPr>
          <p:cNvPr id="30" name="TextBox 29"/>
          <p:cNvSpPr txBox="1"/>
          <p:nvPr/>
        </p:nvSpPr>
        <p:spPr>
          <a:xfrm>
            <a:off x="6351879" y="5222494"/>
            <a:ext cx="2316403" cy="366776"/>
          </a:xfrm>
          <a:prstGeom prst="rect">
            <a:avLst/>
          </a:prstGeom>
          <a:noFill/>
        </p:spPr>
        <p:txBody>
          <a:bodyPr wrap="square" anchor="t" lIns="0" rIns="0" tIns="0" bIns="0">
            <a:spAutoFit/>
          </a:bodyPr>
          <a:lstStyle/>
          <a:p>
            <a:pPr algn="l"/>
            <a:r>
              <a:rPr sz="1000" b="0" i="0">
                <a:solidFill>
                  <a:srgbClr val="6B6690"/>
                </a:solidFill>
                <a:latin typeface="Calibri"/>
              </a:rPr>
              <a:t>The running product, and the factor that sets the range.</a:t>
            </a:r>
          </a:p>
        </p:txBody>
      </p:sp>
      <p:sp>
        <p:nvSpPr>
          <p:cNvPr id="31" name="TextBox 30"/>
          <p:cNvSpPr txBox="1"/>
          <p:nvPr/>
        </p:nvSpPr>
        <p:spPr>
          <a:xfrm>
            <a:off x="9015755"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32" name="Oval 31"/>
          <p:cNvSpPr/>
          <p:nvPr/>
        </p:nvSpPr>
        <p:spPr>
          <a:xfrm>
            <a:off x="10237965"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4934712"/>
            <a:ext cx="2316403" cy="251205"/>
          </a:xfrm>
          <a:prstGeom prst="rect">
            <a:avLst/>
          </a:prstGeom>
          <a:noFill/>
        </p:spPr>
        <p:txBody>
          <a:bodyPr wrap="square" anchor="t" lIns="0" rIns="0" tIns="0" bIns="0">
            <a:spAutoFit/>
          </a:bodyPr>
          <a:lstStyle/>
          <a:p>
            <a:pPr algn="l"/>
            <a:r>
              <a:rPr sz="1300" b="1" i="0">
                <a:solidFill>
                  <a:srgbClr val="1A0F5C"/>
                </a:solidFill>
                <a:latin typeface="Calibri"/>
              </a:rPr>
              <a:t>Is it sane, like for like?</a:t>
            </a:r>
          </a:p>
        </p:txBody>
      </p:sp>
      <p:sp>
        <p:nvSpPr>
          <p:cNvPr id="35" name="TextBox 34"/>
          <p:cNvSpPr txBox="1"/>
          <p:nvPr/>
        </p:nvSpPr>
        <p:spPr>
          <a:xfrm>
            <a:off x="9180347" y="5222494"/>
            <a:ext cx="2316403" cy="366776"/>
          </a:xfrm>
          <a:prstGeom prst="rect">
            <a:avLst/>
          </a:prstGeom>
          <a:noFill/>
        </p:spPr>
        <p:txBody>
          <a:bodyPr wrap="square" anchor="t" lIns="0" rIns="0" tIns="0" bIns="0">
            <a:spAutoFit/>
          </a:bodyPr>
          <a:lstStyle/>
          <a:p>
            <a:pPr algn="l"/>
            <a:r>
              <a:rPr sz="1000" b="0" i="0">
                <a:solidFill>
                  <a:srgbClr val="6B6690"/>
                </a:solidFill>
                <a:latin typeface="Calibri"/>
              </a:rPr>
              <a:t>The case's own driver-hours per trip.</a:t>
            </a:r>
          </a:p>
        </p:txBody>
      </p:sp>
      <p:sp>
        <p:nvSpPr>
          <p:cNvPr id="36" name="Oval 3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38" name="Oval 37"/>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40" name="Oval 39"/>
          <p:cNvSpPr/>
          <p:nvPr/>
        </p:nvSpPr>
        <p:spPr>
          <a:xfrm>
            <a:off x="355158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66131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How many at the peak?</a:t>
            </a:r>
          </a:p>
        </p:txBody>
      </p:sp>
      <p:sp>
        <p:nvSpPr>
          <p:cNvPr id="42" name="Oval 41"/>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44" name="Oval 43"/>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46" name="TextBox 4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S70  ·  19 / 44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Predict: which number would check this estimate?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You have sized drivers online at the weekday evening peak. Which of these numbers checks it in the same unit, period and definition?</a:t>
            </a:r>
          </a:p>
        </p:txBody>
      </p:sp>
      <p:sp>
        <p:nvSpPr>
          <p:cNvPr id="9" name="TextBox 8"/>
          <p:cNvSpPr txBox="1"/>
          <p:nvPr/>
        </p:nvSpPr>
        <p:spPr>
          <a:xfrm>
            <a:off x="530352" y="1956816"/>
            <a:ext cx="11130991" cy="193040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Monday's rider requests after the launch, 256,556 over six weeks</a:t>
            </a:r>
          </a:p>
          <a:p>
            <a:pPr>
              <a:spcAft>
                <a:spcPts val="800"/>
              </a:spcAft>
            </a:pPr>
            <a:r>
              <a:rPr sz="1600" b="0" i="0">
                <a:solidFill>
                  <a:srgbClr val="1A1440"/>
                </a:solidFill>
                <a:latin typeface="Calibri"/>
              </a:rPr>
              <a:t>b) A published count of Uber drivers signed up in Hyderabad</a:t>
            </a:r>
          </a:p>
          <a:p>
            <a:pPr>
              <a:spcAft>
                <a:spcPts val="800"/>
              </a:spcAft>
            </a:pPr>
            <a:r>
              <a:rPr sz="1600" b="0" i="0">
                <a:solidFill>
                  <a:srgbClr val="1A1440"/>
                </a:solidFill>
                <a:latin typeface="Calibri"/>
              </a:rPr>
              <a:t>c) A published count of Uber drivers online at one weekday evening peak in Hyderabad</a:t>
            </a:r>
          </a:p>
          <a:p>
            <a:pPr>
              <a:spcAft>
                <a:spcPts val="800"/>
              </a:spcAft>
            </a:pPr>
            <a:r>
              <a:rPr sz="1600" b="0" i="0">
                <a:solidFill>
                  <a:srgbClr val="1A1440"/>
                </a:solidFill>
                <a:latin typeface="Calibri"/>
              </a:rPr>
              <a:t>d) The online driver-hours behind each completed trip in the case's own data, pooled over both daily peak windows</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2" name="Oval 11"/>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4" name="Oval 13"/>
          <p:cNvSpPr/>
          <p:nvPr/>
        </p:nvSpPr>
        <p:spPr>
          <a:xfrm>
            <a:off x="355158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How many at the peak?</a:t>
            </a:r>
          </a:p>
        </p:txBody>
      </p:sp>
      <p:sp>
        <p:nvSpPr>
          <p:cNvPr id="16" name="Oval 15"/>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18" name="Oval 17"/>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S71  ·  20 / 44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check in the same unit, period and definition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only one of the four check the estimate directly, and what do you do when it does not exist?</a:t>
            </a:r>
          </a:p>
        </p:txBody>
      </p:sp>
      <p:sp>
        <p:nvSpPr>
          <p:cNvPr id="9" name="Rounded Rectangle 8"/>
          <p:cNvSpPr/>
          <p:nvPr/>
        </p:nvSpPr>
        <p:spPr>
          <a:xfrm>
            <a:off x="530352" y="1956816"/>
            <a:ext cx="11130991" cy="16078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13517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1424940"/>
          </a:xfrm>
          <a:prstGeom prst="rect">
            <a:avLst/>
          </a:prstGeom>
          <a:noFill/>
        </p:spPr>
        <p:txBody>
          <a:bodyPr wrap="square" anchor="ctr" lIns="0" rIns="0" tIns="0" bIns="0">
            <a:spAutoFit/>
          </a:bodyPr>
          <a:lstStyle/>
          <a:p>
            <a:r>
              <a:rPr sz="1500" b="1">
                <a:solidFill>
                  <a:srgbClr val="5B3FD6"/>
                </a:solidFill>
                <a:latin typeface="Calibri"/>
              </a:rPr>
              <a:t>The answer is c, and nobody publishes it. </a:t>
            </a:r>
            <a:r>
              <a:rPr sz="1500" b="0" i="0">
                <a:solidFill>
                  <a:srgbClr val="1A1440"/>
                </a:solidFill>
                <a:latin typeface="Calibri"/>
              </a:rPr>
              <a:t>a counts rider requests over six weeks in twelve zones: another unit, a longer period and a slice of the city. b counts sign-ups, a different definition from drivers online at one moment. d is not wrong: it checks one link in the chain, a ratio the case's own data holds over a wider period than one evening, and when the direct check does not exist, that is the honest fallback the afternoon uses.</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4" name="Oval 13"/>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6" name="Oval 15"/>
          <p:cNvSpPr/>
          <p:nvPr/>
        </p:nvSpPr>
        <p:spPr>
          <a:xfrm>
            <a:off x="355158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66131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How many at the peak?</a:t>
            </a:r>
          </a:p>
        </p:txBody>
      </p:sp>
      <p:sp>
        <p:nvSpPr>
          <p:cNvPr id="18" name="Oval 17"/>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0" name="Oval 19"/>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S72  ·  21 / 44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Clarify: six questions pin the estimate down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questions pin the estimate down before any number is written?</a:t>
            </a:r>
          </a:p>
        </p:txBody>
      </p:sp>
      <p:graphicFrame>
        <p:nvGraphicFramePr>
          <p:cNvPr id="9" name="Table 8"/>
          <p:cNvGraphicFramePr>
            <a:graphicFrameLocks noGrp="1"/>
          </p:cNvGraphicFramePr>
          <p:nvPr/>
        </p:nvGraphicFramePr>
        <p:xfrm>
          <a:off x="530352" y="1682496"/>
          <a:ext cx="11130990" cy="3314192"/>
        </p:xfrm>
        <a:graphic>
          <a:graphicData uri="http://schemas.openxmlformats.org/drawingml/2006/table">
            <a:tbl>
              <a:tblPr firstRow="0" bandRow="0">
                <a:tableStyleId>{2D5ABB26-0587-4C30-8999-92F81FD0307C}</a:tableStyleId>
              </a:tblPr>
              <a:tblGrid>
                <a:gridCol w="3555158"/>
                <a:gridCol w="7575832"/>
              </a:tblGrid>
              <a:tr h="369824">
                <a:tc>
                  <a:txBody>
                    <a:bodyPr/>
                    <a:lstStyle/>
                    <a:p>
                      <a:r>
                        <a:rPr sz="1450" b="1" i="0">
                          <a:solidFill>
                            <a:srgbClr val="FFFFFF"/>
                          </a:solidFill>
                          <a:latin typeface="Calibri"/>
                        </a:rPr>
                        <a:t>Ask</a:t>
                      </a:r>
                    </a:p>
                  </a:txBody>
                  <a:tcPr marL="101600" marR="101600" marT="38100" marB="38100" anchor="ctr">
                    <a:solidFill>
                      <a:srgbClr val="1A0F5C"/>
                    </a:solidFill>
                  </a:tcPr>
                </a:tc>
                <a:tc>
                  <a:txBody>
                    <a:bodyPr/>
                    <a:lstStyle/>
                    <a:p>
                      <a:r>
                        <a:rPr sz="1450" b="1" i="0">
                          <a:solidFill>
                            <a:srgbClr val="FFFFFF"/>
                          </a:solidFill>
                          <a:latin typeface="Calibri"/>
                        </a:rPr>
                        <a:t>The answer to work with</a:t>
                      </a:r>
                    </a:p>
                  </a:txBody>
                  <a:tcPr marL="101600" marR="101600" marT="38100" marB="38100" anchor="ctr">
                    <a:solidFill>
                      <a:srgbClr val="1A0F5C"/>
                    </a:solidFill>
                  </a:tcPr>
                </a:tc>
              </a:tr>
              <a:tr h="369824">
                <a:tc>
                  <a:txBody>
                    <a:bodyPr/>
                    <a:lstStyle/>
                    <a:p>
                      <a:r>
                        <a:rPr sz="1400" b="0" i="0">
                          <a:solidFill>
                            <a:srgbClr val="1A1440"/>
                          </a:solidFill>
                          <a:latin typeface="Calibri"/>
                        </a:rPr>
                        <a:t>Which city, which product?</a:t>
                      </a:r>
                    </a:p>
                  </a:txBody>
                  <a:tcPr marL="101600" marR="101600" marT="38100" marB="38100" anchor="ctr">
                    <a:solidFill>
                      <a:srgbClr val="FFFFFF"/>
                    </a:solidFill>
                  </a:tcPr>
                </a:tc>
                <a:tc>
                  <a:txBody>
                    <a:bodyPr/>
                    <a:lstStyle/>
                    <a:p>
                      <a:r>
                        <a:rPr sz="1400" b="0" i="0">
                          <a:solidFill>
                            <a:srgbClr val="1A1440"/>
                          </a:solidFill>
                          <a:latin typeface="Calibri"/>
                        </a:rPr>
                        <a:t>The Hyderabad metro area, Uber, one product (assume cars)</a:t>
                      </a:r>
                    </a:p>
                  </a:txBody>
                  <a:tcPr marL="101600" marR="101600" marT="38100" marB="38100" anchor="ctr">
                    <a:solidFill>
                      <a:srgbClr val="FFFFFF"/>
                    </a:solidFill>
                  </a:tcPr>
                </a:tc>
              </a:tr>
              <a:tr h="611632">
                <a:tc>
                  <a:txBody>
                    <a:bodyPr/>
                    <a:lstStyle/>
                    <a:p>
                      <a:r>
                        <a:rPr sz="1400" b="0" i="0">
                          <a:solidFill>
                            <a:srgbClr val="1A1440"/>
                          </a:solidFill>
                          <a:latin typeface="Calibri"/>
                        </a:rPr>
                        <a:t>Which window?</a:t>
                      </a:r>
                    </a:p>
                  </a:txBody>
                  <a:tcPr marL="101600" marR="101600" marT="38100" marB="38100" anchor="ctr">
                    <a:solidFill>
                      <a:srgbClr val="F4F2FA"/>
                    </a:solidFill>
                  </a:tcPr>
                </a:tc>
                <a:tc>
                  <a:txBody>
                    <a:bodyPr/>
                    <a:lstStyle/>
                    <a:p>
                      <a:r>
                        <a:rPr sz="1400" b="0" i="0">
                          <a:solidFill>
                            <a:srgbClr val="1A1440"/>
                          </a:solidFill>
                          <a:latin typeface="Calibri"/>
                        </a:rPr>
                        <a:t>The weekday evening peak, one of the guarantee's two daily windows, three hours long</a:t>
                      </a:r>
                    </a:p>
                  </a:txBody>
                  <a:tcPr marL="101600" marR="101600" marT="38100" marB="38100" anchor="ctr">
                    <a:solidFill>
                      <a:srgbClr val="F4F2FA"/>
                    </a:solidFill>
                  </a:tcPr>
                </a:tc>
              </a:tr>
              <a:tr h="611632">
                <a:tc>
                  <a:txBody>
                    <a:bodyPr/>
                    <a:lstStyle/>
                    <a:p>
                      <a:r>
                        <a:rPr sz="1400" b="0" i="0">
                          <a:solidFill>
                            <a:srgbClr val="1A1440"/>
                          </a:solidFill>
                          <a:latin typeface="Calibri"/>
                        </a:rPr>
                        <a:t>Drivers online when?</a:t>
                      </a:r>
                    </a:p>
                  </a:txBody>
                  <a:tcPr marL="101600" marR="101600" marT="38100" marB="38100" anchor="ctr">
                    <a:solidFill>
                      <a:srgbClr val="FFFFFF"/>
                    </a:solidFill>
                  </a:tcPr>
                </a:tc>
                <a:tc>
                  <a:txBody>
                    <a:bodyPr/>
                    <a:lstStyle/>
                    <a:p>
                      <a:r>
                        <a:rPr sz="1400" b="0" i="0">
                          <a:solidFill>
                            <a:srgbClr val="1A1440"/>
                          </a:solidFill>
                          <a:latin typeface="Calibri"/>
                        </a:rPr>
                        <a:t>At one moment inside the window, since a count summed over three hours is another unit</a:t>
                      </a:r>
                    </a:p>
                  </a:txBody>
                  <a:tcPr marL="101600" marR="101600" marT="38100" marB="38100" anchor="ctr">
                    <a:solidFill>
                      <a:srgbClr val="FFFFFF"/>
                    </a:solidFill>
                  </a:tcPr>
                </a:tc>
              </a:tr>
              <a:tr h="369824">
                <a:tc>
                  <a:txBody>
                    <a:bodyPr/>
                    <a:lstStyle/>
                    <a:p>
                      <a:r>
                        <a:rPr sz="1400" b="0" i="0">
                          <a:solidFill>
                            <a:srgbClr val="1A1440"/>
                          </a:solidFill>
                          <a:latin typeface="Calibri"/>
                        </a:rPr>
                        <a:t>What target?</a:t>
                      </a:r>
                    </a:p>
                  </a:txBody>
                  <a:tcPr marL="101600" marR="101600" marT="38100" marB="38100" anchor="ctr">
                    <a:solidFill>
                      <a:srgbClr val="F4F2FA"/>
                    </a:solidFill>
                  </a:tcPr>
                </a:tc>
                <a:tc>
                  <a:txBody>
                    <a:bodyPr/>
                    <a:lstStyle/>
                    <a:p>
                      <a:r>
                        <a:rPr sz="1400" b="0" i="0">
                          <a:solidFill>
                            <a:srgbClr val="1A1440"/>
                          </a:solidFill>
                          <a:latin typeface="Calibri"/>
                        </a:rPr>
                        <a:t>A median rider wait under five minutes, for the city and then zone by zone</a:t>
                      </a:r>
                    </a:p>
                  </a:txBody>
                  <a:tcPr marL="101600" marR="101600" marT="38100" marB="38100" anchor="ctr">
                    <a:solidFill>
                      <a:srgbClr val="F4F2FA"/>
                    </a:solidFill>
                  </a:tcPr>
                </a:tc>
              </a:tr>
              <a:tr h="369824">
                <a:tc>
                  <a:txBody>
                    <a:bodyPr/>
                    <a:lstStyle/>
                    <a:p>
                      <a:r>
                        <a:rPr sz="1400" b="0" i="0">
                          <a:solidFill>
                            <a:srgbClr val="1A1440"/>
                          </a:solidFill>
                          <a:latin typeface="Calibri"/>
                        </a:rPr>
                        <a:t>Requests or trips?</a:t>
                      </a:r>
                    </a:p>
                  </a:txBody>
                  <a:tcPr marL="101600" marR="101600" marT="38100" marB="38100" anchor="ctr">
                    <a:solidFill>
                      <a:srgbClr val="FFFFFF"/>
                    </a:solidFill>
                  </a:tcPr>
                </a:tc>
                <a:tc>
                  <a:txBody>
                    <a:bodyPr/>
                    <a:lstStyle/>
                    <a:p>
                      <a:r>
                        <a:rPr sz="1400" b="0" i="0">
                          <a:solidFill>
                            <a:srgbClr val="1A1440"/>
                          </a:solidFill>
                          <a:latin typeface="Calibri"/>
                        </a:rPr>
                        <a:t>Trips: about nine in ten requests became trips in Monday's data</a:t>
                      </a:r>
                    </a:p>
                  </a:txBody>
                  <a:tcPr marL="101600" marR="101600" marT="38100" marB="38100" anchor="ctr">
                    <a:solidFill>
                      <a:srgbClr val="FFFFFF"/>
                    </a:solidFill>
                  </a:tcPr>
                </a:tc>
              </a:tr>
              <a:tr h="611632">
                <a:tc>
                  <a:txBody>
                    <a:bodyPr/>
                    <a:lstStyle/>
                    <a:p>
                      <a:r>
                        <a:rPr sz="1400" b="0" i="0">
                          <a:solidFill>
                            <a:srgbClr val="1A1440"/>
                          </a:solidFill>
                          <a:latin typeface="Calibri"/>
                        </a:rPr>
                        <a:t>Drivers on two apps?</a:t>
                      </a:r>
                    </a:p>
                  </a:txBody>
                  <a:tcPr marL="101600" marR="101600" marT="38100" marB="38100" anchor="ctr">
                    <a:solidFill>
                      <a:srgbClr val="F4F2FA"/>
                    </a:solidFill>
                  </a:tcPr>
                </a:tc>
                <a:tc>
                  <a:txBody>
                    <a:bodyPr/>
                    <a:lstStyle/>
                    <a:p>
                      <a:r>
                        <a:rPr sz="1400" b="0" i="0">
                          <a:solidFill>
                            <a:srgbClr val="1A1440"/>
                          </a:solidFill>
                          <a:latin typeface="Calibri"/>
                        </a:rPr>
                        <a:t>A driver online on Uber may be on another app's trip, so more online drivers serve no Uber rider: lean the idle share high, which pushes the answer up</a:t>
                      </a:r>
                    </a:p>
                  </a:txBody>
                  <a:tcPr marL="101600" marR="101600" marT="38100" marB="38100" anchor="ctr">
                    <a:solidFill>
                      <a:srgbClr val="F4F2FA"/>
                    </a:solidFill>
                  </a:tcPr>
                </a:tc>
              </a:tr>
            </a:tbl>
          </a:graphicData>
        </a:graphic>
      </p:graphicFrame>
      <p:sp>
        <p:nvSpPr>
          <p:cNvPr id="10" name="Rounded Rectangle 9"/>
          <p:cNvSpPr/>
          <p:nvPr/>
        </p:nvSpPr>
        <p:spPr>
          <a:xfrm>
            <a:off x="530352" y="525272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38073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371592"/>
            <a:ext cx="10564063" cy="624840"/>
          </a:xfrm>
          <a:prstGeom prst="rect">
            <a:avLst/>
          </a:prstGeom>
          <a:noFill/>
        </p:spPr>
        <p:txBody>
          <a:bodyPr wrap="square" anchor="ctr" lIns="0" rIns="0" tIns="0" bIns="0">
            <a:spAutoFit/>
          </a:bodyPr>
          <a:lstStyle/>
          <a:p>
            <a:r>
              <a:rPr sz="1500" b="1">
                <a:solidFill>
                  <a:srgbClr val="5B3FD6"/>
                </a:solidFill>
                <a:latin typeface="Calibri"/>
              </a:rPr>
              <a:t>The unit is drivers online at one moment. </a:t>
            </a:r>
            <a:r>
              <a:rPr sz="1500" b="0" i="0">
                <a:solidFill>
                  <a:srgbClr val="1A1440"/>
                </a:solidFill>
                <a:latin typeface="Calibri"/>
              </a:rPr>
              <a:t>Every factor in the chain must arrive in a unit that multiplies into it.</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7" name="Oval 16"/>
          <p:cNvSpPr/>
          <p:nvPr/>
        </p:nvSpPr>
        <p:spPr>
          <a:xfrm>
            <a:off x="355158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6131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How many at the peak?</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1" name="Oval 20"/>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S73  ·  22 / 44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Map: drivers online as a chain of factors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factors multiply into drivers online at the evening peak?</a:t>
            </a:r>
          </a:p>
        </p:txBody>
      </p:sp>
      <p:pic>
        <p:nvPicPr>
          <p:cNvPr id="9" name="mermaid diagram" descr="e8976657129ef733.png"/>
          <p:cNvPicPr>
            <a:picLocks noChangeAspect="1"/>
          </p:cNvPicPr>
          <p:nvPr/>
        </p:nvPicPr>
        <p:blipFill>
          <a:blip r:embed="rId5"/>
          <a:stretch>
            <a:fillRect/>
          </a:stretch>
        </p:blipFill>
        <p:spPr>
          <a:xfrm>
            <a:off x="2039073" y="1664208"/>
            <a:ext cx="8113547" cy="3152648"/>
          </a:xfrm>
          <a:prstGeom prst="rect">
            <a:avLst/>
          </a:prstGeom>
        </p:spPr>
      </p:pic>
      <p:sp>
        <p:nvSpPr>
          <p:cNvPr id="10" name="TextBox 9"/>
          <p:cNvSpPr txBox="1"/>
          <p:nvPr/>
        </p:nvSpPr>
        <p:spPr>
          <a:xfrm>
            <a:off x="530352" y="4862576"/>
            <a:ext cx="11130991" cy="1337056"/>
          </a:xfrm>
          <a:prstGeom prst="rect">
            <a:avLst/>
          </a:prstGeom>
          <a:noFill/>
        </p:spPr>
        <p:txBody>
          <a:bodyPr wrap="square" anchor="t" lIns="0" rIns="0" tIns="0" bIns="0">
            <a:spAutoFit/>
          </a:bodyPr>
          <a:lstStyle/>
          <a:p>
            <a:r>
              <a:rPr sz="1400" b="1" i="0">
                <a:solidFill>
                  <a:srgbClr val="1A1440"/>
                </a:solidFill>
                <a:latin typeface="Calibri"/>
              </a:rPr>
              <a:t>Drivers online = (trips to serve an hour / trips per online driver-hour) x buffer.</a:t>
            </a:r>
            <a:r>
              <a:rPr sz="1400" b="0" i="0">
                <a:solidFill>
                  <a:srgbClr val="1A1440"/>
                </a:solidFill>
                <a:latin typeface="Calibri"/>
              </a:rPr>
              <a:t> Each leaf is a guess said aloud with its range. Counting trips per 100 people, never riders, counts a commuter who rides both ways twice; one in a hundred is a guess (most people take no app ride on a weekday, a rider goes out and back, and Uber is one choice among several), so it gets the widest range. A peak trip takes about 25 minutes from accepting to dropping, a guess to check first against the app's trip times, so a busy driver fits 2.4 an hour; the buffer covers the busiest half hour.</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3" name="Oval 12"/>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5" name="Oval 14"/>
          <p:cNvSpPr/>
          <p:nvPr/>
        </p:nvSpPr>
        <p:spPr>
          <a:xfrm>
            <a:off x="355158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How many at the peak?</a:t>
            </a:r>
          </a:p>
        </p:txBody>
      </p:sp>
      <p:sp>
        <p:nvSpPr>
          <p:cNvPr id="17" name="Oval 16"/>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19" name="Oval 18"/>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S74  ·  23 / 44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Calculate aloud: about 5,700 drivers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chain multiply out to, step by step?</a:t>
            </a:r>
          </a:p>
        </p:txBody>
      </p:sp>
      <p:graphicFrame>
        <p:nvGraphicFramePr>
          <p:cNvPr id="9" name="Table 8"/>
          <p:cNvGraphicFramePr>
            <a:graphicFrameLocks noGrp="1"/>
          </p:cNvGraphicFramePr>
          <p:nvPr/>
        </p:nvGraphicFramePr>
        <p:xfrm>
          <a:off x="530352" y="1956816"/>
          <a:ext cx="11130989" cy="2588768"/>
        </p:xfrm>
        <a:graphic>
          <a:graphicData uri="http://schemas.openxmlformats.org/drawingml/2006/table">
            <a:tbl>
              <a:tblPr firstRow="0" bandRow="0">
                <a:tableStyleId>{2D5ABB26-0587-4C30-8999-92F81FD0307C}</a:tableStyleId>
              </a:tblPr>
              <a:tblGrid>
                <a:gridCol w="4972987"/>
                <a:gridCol w="2700204"/>
                <a:gridCol w="3457798"/>
              </a:tblGrid>
              <a:tr h="369824">
                <a:tc>
                  <a:txBody>
                    <a:bodyPr/>
                    <a:lstStyle/>
                    <a:p>
                      <a:r>
                        <a:rPr sz="1450" b="1" i="0">
                          <a:solidFill>
                            <a:srgbClr val="FFFFFF"/>
                          </a:solidFill>
                          <a:latin typeface="Calibri"/>
                        </a:rPr>
                        <a:t>Step</a:t>
                      </a:r>
                    </a:p>
                  </a:txBody>
                  <a:tcPr marL="101600" marR="101600" marT="38100" marB="38100" anchor="ctr">
                    <a:solidFill>
                      <a:srgbClr val="1A0F5C"/>
                    </a:solidFill>
                  </a:tcPr>
                </a:tc>
                <a:tc>
                  <a:txBody>
                    <a:bodyPr/>
                    <a:lstStyle/>
                    <a:p>
                      <a:r>
                        <a:rPr sz="1450" b="1" i="0">
                          <a:solidFill>
                            <a:srgbClr val="FFFFFF"/>
                          </a:solidFill>
                          <a:latin typeface="Calibri"/>
                        </a:rPr>
                        <a:t>Said aloud</a:t>
                      </a:r>
                    </a:p>
                  </a:txBody>
                  <a:tcPr marL="101600" marR="101600" marT="38100" marB="38100" anchor="ctr">
                    <a:solidFill>
                      <a:srgbClr val="1A0F5C"/>
                    </a:solidFill>
                  </a:tcPr>
                </a:tc>
                <a:tc>
                  <a:txBody>
                    <a:bodyPr/>
                    <a:lstStyle/>
                    <a:p>
                      <a:r>
                        <a:rPr sz="1450" b="1" i="0">
                          <a:solidFill>
                            <a:srgbClr val="FFFFFF"/>
                          </a:solidFill>
                          <a:latin typeface="Calibri"/>
                        </a:rPr>
                        <a:t>Running result</a:t>
                      </a:r>
                    </a:p>
                  </a:txBody>
                  <a:tcPr marL="101600" marR="101600" marT="38100" marB="38100" anchor="ctr">
                    <a:solidFill>
                      <a:srgbClr val="1A0F5C"/>
                    </a:solidFill>
                  </a:tcPr>
                </a:tc>
              </a:tr>
              <a:tr h="369824">
                <a:tc>
                  <a:txBody>
                    <a:bodyPr/>
                    <a:lstStyle/>
                    <a:p>
                      <a:r>
                        <a:rPr sz="1400" b="0" i="0">
                          <a:solidFill>
                            <a:srgbClr val="1A1440"/>
                          </a:solidFill>
                          <a:latin typeface="Calibri"/>
                        </a:rPr>
                        <a:t>People x weekday trips per person</a:t>
                      </a:r>
                    </a:p>
                  </a:txBody>
                  <a:tcPr marL="101600" marR="101600" marT="38100" marB="38100" anchor="ctr">
                    <a:solidFill>
                      <a:srgbClr val="FFFFFF"/>
                    </a:solidFill>
                  </a:tcPr>
                </a:tc>
                <a:tc>
                  <a:txBody>
                    <a:bodyPr/>
                    <a:lstStyle/>
                    <a:p>
                      <a:r>
                        <a:rPr sz="1400" b="0" i="0">
                          <a:solidFill>
                            <a:srgbClr val="1A1440"/>
                          </a:solidFill>
                          <a:latin typeface="Calibri"/>
                        </a:rPr>
                        <a:t>1 crore x 1 per 100</a:t>
                      </a:r>
                    </a:p>
                  </a:txBody>
                  <a:tcPr marL="101600" marR="101600" marT="38100" marB="38100" anchor="ctr">
                    <a:solidFill>
                      <a:srgbClr val="FFFFFF"/>
                    </a:solidFill>
                  </a:tcPr>
                </a:tc>
                <a:tc>
                  <a:txBody>
                    <a:bodyPr/>
                    <a:lstStyle/>
                    <a:p>
                      <a:r>
                        <a:rPr sz="1400" b="0" i="0">
                          <a:solidFill>
                            <a:srgbClr val="1A1440"/>
                          </a:solidFill>
                          <a:latin typeface="Calibri"/>
                        </a:rPr>
                        <a:t>1 lakh trips a day</a:t>
                      </a:r>
                    </a:p>
                  </a:txBody>
                  <a:tcPr marL="101600" marR="101600" marT="38100" marB="38100" anchor="ctr">
                    <a:solidFill>
                      <a:srgbClr val="FFFFFF"/>
                    </a:solidFill>
                  </a:tcPr>
                </a:tc>
              </a:tr>
              <a:tr h="369824">
                <a:tc>
                  <a:txBody>
                    <a:bodyPr/>
                    <a:lstStyle/>
                    <a:p>
                      <a:r>
                        <a:rPr sz="1400" b="0" i="0">
                          <a:solidFill>
                            <a:srgbClr val="1A1440"/>
                          </a:solidFill>
                          <a:latin typeface="Calibri"/>
                        </a:rPr>
                        <a:t>x share in the evening</a:t>
                      </a:r>
                    </a:p>
                  </a:txBody>
                  <a:tcPr marL="101600" marR="101600" marT="38100" marB="38100" anchor="ctr">
                    <a:solidFill>
                      <a:srgbClr val="F4F2FA"/>
                    </a:solidFill>
                  </a:tcPr>
                </a:tc>
                <a:tc>
                  <a:txBody>
                    <a:bodyPr/>
                    <a:lstStyle/>
                    <a:p>
                      <a:r>
                        <a:rPr sz="1400" b="0" i="0">
                          <a:solidFill>
                            <a:srgbClr val="1A1440"/>
                          </a:solidFill>
                          <a:latin typeface="Calibri"/>
                        </a:rPr>
                        <a:t>x a quarter</a:t>
                      </a:r>
                    </a:p>
                  </a:txBody>
                  <a:tcPr marL="101600" marR="101600" marT="38100" marB="38100" anchor="ctr">
                    <a:solidFill>
                      <a:srgbClr val="F4F2FA"/>
                    </a:solidFill>
                  </a:tcPr>
                </a:tc>
                <a:tc>
                  <a:txBody>
                    <a:bodyPr/>
                    <a:lstStyle/>
                    <a:p>
                      <a:r>
                        <a:rPr sz="1400" b="0" i="0">
                          <a:solidFill>
                            <a:srgbClr val="1A1440"/>
                          </a:solidFill>
                          <a:latin typeface="Calibri"/>
                        </a:rPr>
                        <a:t>25,000 in the window</a:t>
                      </a:r>
                    </a:p>
                  </a:txBody>
                  <a:tcPr marL="101600" marR="101600" marT="38100" marB="38100" anchor="ctr">
                    <a:solidFill>
                      <a:srgbClr val="F4F2FA"/>
                    </a:solidFill>
                  </a:tcPr>
                </a:tc>
              </a:tr>
              <a:tr h="369824">
                <a:tc>
                  <a:txBody>
                    <a:bodyPr/>
                    <a:lstStyle/>
                    <a:p>
                      <a:r>
                        <a:rPr sz="1400" b="0" i="0">
                          <a:solidFill>
                            <a:srgbClr val="1A1440"/>
                          </a:solidFill>
                          <a:latin typeface="Calibri"/>
                        </a:rPr>
                        <a:t>/ three hours</a:t>
                      </a:r>
                    </a:p>
                  </a:txBody>
                  <a:tcPr marL="101600" marR="101600" marT="38100" marB="38100" anchor="ctr">
                    <a:solidFill>
                      <a:srgbClr val="FFFFFF"/>
                    </a:solidFill>
                  </a:tcPr>
                </a:tc>
                <a:tc>
                  <a:txBody>
                    <a:bodyPr/>
                    <a:lstStyle/>
                    <a:p>
                      <a:r>
                        <a:rPr sz="1400" b="0" i="0">
                          <a:solidFill>
                            <a:srgbClr val="1A1440"/>
                          </a:solidFill>
                          <a:latin typeface="Calibri"/>
                        </a:rPr>
                        <a:t>/ 3</a:t>
                      </a:r>
                    </a:p>
                  </a:txBody>
                  <a:tcPr marL="101600" marR="101600" marT="38100" marB="38100" anchor="ctr">
                    <a:solidFill>
                      <a:srgbClr val="FFFFFF"/>
                    </a:solidFill>
                  </a:tcPr>
                </a:tc>
                <a:tc>
                  <a:txBody>
                    <a:bodyPr/>
                    <a:lstStyle/>
                    <a:p>
                      <a:r>
                        <a:rPr sz="1400" b="0" i="0">
                          <a:solidFill>
                            <a:srgbClr val="1A1440"/>
                          </a:solidFill>
                          <a:latin typeface="Calibri"/>
                        </a:rPr>
                        <a:t>about 8,330 trips an hour</a:t>
                      </a:r>
                    </a:p>
                  </a:txBody>
                  <a:tcPr marL="101600" marR="101600" marT="38100" marB="38100" anchor="ctr">
                    <a:solidFill>
                      <a:srgbClr val="FFFFFF"/>
                    </a:solidFill>
                  </a:tcPr>
                </a:tc>
              </a:tr>
              <a:tr h="369824">
                <a:tc>
                  <a:txBody>
                    <a:bodyPr/>
                    <a:lstStyle/>
                    <a:p>
                      <a:r>
                        <a:rPr sz="1400" b="0" i="0">
                          <a:solidFill>
                            <a:srgbClr val="1A1440"/>
                          </a:solidFill>
                          <a:latin typeface="Calibri"/>
                        </a:rPr>
                        <a:t>Trips per online driver-hour</a:t>
                      </a:r>
                    </a:p>
                  </a:txBody>
                  <a:tcPr marL="101600" marR="101600" marT="38100" marB="38100" anchor="ctr">
                    <a:solidFill>
                      <a:srgbClr val="F4F2FA"/>
                    </a:solidFill>
                  </a:tcPr>
                </a:tc>
                <a:tc>
                  <a:txBody>
                    <a:bodyPr/>
                    <a:lstStyle/>
                    <a:p>
                      <a:r>
                        <a:rPr sz="1400" b="0" i="0">
                          <a:solidFill>
                            <a:srgbClr val="1A1440"/>
                          </a:solidFill>
                          <a:latin typeface="Calibri"/>
                        </a:rPr>
                        <a:t>2.4 x (1 - 0.30)</a:t>
                      </a:r>
                    </a:p>
                  </a:txBody>
                  <a:tcPr marL="101600" marR="101600" marT="38100" marB="38100" anchor="ctr">
                    <a:solidFill>
                      <a:srgbClr val="F4F2FA"/>
                    </a:solidFill>
                  </a:tcPr>
                </a:tc>
                <a:tc>
                  <a:txBody>
                    <a:bodyPr/>
                    <a:lstStyle/>
                    <a:p>
                      <a:r>
                        <a:rPr sz="1400" b="0" i="0">
                          <a:solidFill>
                            <a:srgbClr val="1A1440"/>
                          </a:solidFill>
                          <a:latin typeface="Calibri"/>
                        </a:rPr>
                        <a:t>1.68</a:t>
                      </a:r>
                    </a:p>
                  </a:txBody>
                  <a:tcPr marL="101600" marR="101600" marT="38100" marB="38100" anchor="ctr">
                    <a:solidFill>
                      <a:srgbClr val="F4F2FA"/>
                    </a:solidFill>
                  </a:tcPr>
                </a:tc>
              </a:tr>
              <a:tr h="369824">
                <a:tc>
                  <a:txBody>
                    <a:bodyPr/>
                    <a:lstStyle/>
                    <a:p>
                      <a:r>
                        <a:rPr sz="1400" b="0" i="0">
                          <a:solidFill>
                            <a:srgbClr val="1A1440"/>
                          </a:solidFill>
                          <a:latin typeface="Calibri"/>
                        </a:rPr>
                        <a:t>Trips an hour / trips per driver-hour</a:t>
                      </a:r>
                    </a:p>
                  </a:txBody>
                  <a:tcPr marL="101600" marR="101600" marT="38100" marB="38100" anchor="ctr">
                    <a:solidFill>
                      <a:srgbClr val="FFFFFF"/>
                    </a:solidFill>
                  </a:tcPr>
                </a:tc>
                <a:tc>
                  <a:txBody>
                    <a:bodyPr/>
                    <a:lstStyle/>
                    <a:p>
                      <a:r>
                        <a:rPr sz="1400" b="0" i="0">
                          <a:solidFill>
                            <a:srgbClr val="1A1440"/>
                          </a:solidFill>
                          <a:latin typeface="Calibri"/>
                        </a:rPr>
                        <a:t>8,330 / 1.68</a:t>
                      </a:r>
                    </a:p>
                  </a:txBody>
                  <a:tcPr marL="101600" marR="101600" marT="38100" marB="38100" anchor="ctr">
                    <a:solidFill>
                      <a:srgbClr val="FFFFFF"/>
                    </a:solidFill>
                  </a:tcPr>
                </a:tc>
                <a:tc>
                  <a:txBody>
                    <a:bodyPr/>
                    <a:lstStyle/>
                    <a:p>
                      <a:r>
                        <a:rPr sz="1400" b="0" i="0">
                          <a:solidFill>
                            <a:srgbClr val="1A1440"/>
                          </a:solidFill>
                          <a:latin typeface="Calibri"/>
                        </a:rPr>
                        <a:t>about 4,960 drivers</a:t>
                      </a:r>
                    </a:p>
                  </a:txBody>
                  <a:tcPr marL="101600" marR="101600" marT="38100" marB="38100" anchor="ctr">
                    <a:solidFill>
                      <a:srgbClr val="FFFFFF"/>
                    </a:solidFill>
                  </a:tcPr>
                </a:tc>
              </a:tr>
              <a:tr h="369824">
                <a:tc>
                  <a:txBody>
                    <a:bodyPr/>
                    <a:lstStyle/>
                    <a:p>
                      <a:r>
                        <a:rPr sz="1400" b="0" i="0">
                          <a:solidFill>
                            <a:srgbClr val="1A1440"/>
                          </a:solidFill>
                          <a:latin typeface="Calibri"/>
                        </a:rPr>
                        <a:t>x buffer</a:t>
                      </a:r>
                    </a:p>
                  </a:txBody>
                  <a:tcPr marL="101600" marR="101600" marT="38100" marB="38100" anchor="ctr">
                    <a:solidFill>
                      <a:srgbClr val="F4F2FA"/>
                    </a:solidFill>
                  </a:tcPr>
                </a:tc>
                <a:tc>
                  <a:txBody>
                    <a:bodyPr/>
                    <a:lstStyle/>
                    <a:p>
                      <a:r>
                        <a:rPr sz="1400" b="0" i="0">
                          <a:solidFill>
                            <a:srgbClr val="1A1440"/>
                          </a:solidFill>
                          <a:latin typeface="Calibri"/>
                        </a:rPr>
                        <a:t>x 1.15</a:t>
                      </a:r>
                    </a:p>
                  </a:txBody>
                  <a:tcPr marL="101600" marR="101600" marT="38100" marB="38100" anchor="ctr">
                    <a:solidFill>
                      <a:srgbClr val="F4F2FA"/>
                    </a:solidFill>
                  </a:tcPr>
                </a:tc>
                <a:tc>
                  <a:txBody>
                    <a:bodyPr/>
                    <a:lstStyle/>
                    <a:p>
                      <a:r>
                        <a:rPr sz="1400" b="0" i="0">
                          <a:solidFill>
                            <a:srgbClr val="1A1440"/>
                          </a:solidFill>
                          <a:latin typeface="Calibri"/>
                        </a:rPr>
                        <a:t>about 5,700 drivers</a:t>
                      </a:r>
                    </a:p>
                  </a:txBody>
                  <a:tcPr marL="101600" marR="101600" marT="38100" marB="38100" anchor="ctr">
                    <a:solidFill>
                      <a:srgbClr val="F4F2FA"/>
                    </a:solidFill>
                  </a:tcPr>
                </a:tc>
              </a:tr>
            </a:tbl>
          </a:graphicData>
        </a:graphic>
      </p:graphicFrame>
      <p:sp>
        <p:nvSpPr>
          <p:cNvPr id="10" name="Rounded Rectangle 9"/>
          <p:cNvSpPr/>
          <p:nvPr/>
        </p:nvSpPr>
        <p:spPr>
          <a:xfrm>
            <a:off x="530352" y="48016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9296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920488"/>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Using the ranges on S74, which assumption moves the answer most: a) the idle share, b) weekday trips per 100 people, c) the buffer, d) the trips a busy driver fits in an hour?</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7" name="Oval 16"/>
          <p:cNvSpPr/>
          <p:nvPr/>
        </p:nvSpPr>
        <p:spPr>
          <a:xfrm>
            <a:off x="355158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6131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How many at the peak?</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1" name="Oval 20"/>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S75  ·  24 / 44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how often people ride moves it most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wide is the honest range, and which factor sets it?</a:t>
            </a:r>
          </a:p>
        </p:txBody>
      </p:sp>
      <p:pic>
        <p:nvPicPr>
          <p:cNvPr id="9" name="mermaid diagram" descr="C2_W04_D02_guesstimate_swing_STUDENT.png"/>
          <p:cNvPicPr>
            <a:picLocks noChangeAspect="1"/>
          </p:cNvPicPr>
          <p:nvPr/>
        </p:nvPicPr>
        <p:blipFill>
          <a:blip r:embed="rId4"/>
          <a:stretch>
            <a:fillRect/>
          </a:stretch>
        </p:blipFill>
        <p:spPr>
          <a:xfrm>
            <a:off x="2584483" y="1664208"/>
            <a:ext cx="7022728" cy="3147060"/>
          </a:xfrm>
          <a:prstGeom prst="rect">
            <a:avLst/>
          </a:prstGeom>
        </p:spPr>
      </p:pic>
      <p:sp>
        <p:nvSpPr>
          <p:cNvPr id="10" name="picture caption"/>
          <p:cNvSpPr txBox="1"/>
          <p:nvPr/>
        </p:nvSpPr>
        <p:spPr>
          <a:xfrm>
            <a:off x="530352" y="4847844"/>
            <a:ext cx="11130991" cy="316992"/>
          </a:xfrm>
          <a:prstGeom prst="rect">
            <a:avLst/>
          </a:prstGeom>
          <a:noFill/>
        </p:spPr>
        <p:txBody>
          <a:bodyPr wrap="square" anchor="t" lIns="0" rIns="0" tIns="0" bIns="0">
            <a:spAutoFit/>
          </a:bodyPr>
          <a:lstStyle/>
          <a:p>
            <a:pPr algn="ctr"/>
            <a:r>
              <a:rPr sz="1200" b="0" i="0">
                <a:solidFill>
                  <a:srgbClr val="6B6690"/>
                </a:solidFill>
                <a:latin typeface="Calibri"/>
              </a:rPr>
              <a:t>How far each assumption moves the answer</a:t>
            </a:r>
          </a:p>
        </p:txBody>
      </p:sp>
      <p:sp>
        <p:nvSpPr>
          <p:cNvPr id="11" name="Rounded Rectangle 10"/>
          <p:cNvSpPr/>
          <p:nvPr/>
        </p:nvSpPr>
        <p:spPr>
          <a:xfrm>
            <a:off x="530352" y="5173980"/>
            <a:ext cx="11130991" cy="86106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5301996"/>
            <a:ext cx="45720" cy="60502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5292852"/>
            <a:ext cx="10564063" cy="678180"/>
          </a:xfrm>
          <a:prstGeom prst="rect">
            <a:avLst/>
          </a:prstGeom>
          <a:noFill/>
        </p:spPr>
        <p:txBody>
          <a:bodyPr wrap="square" anchor="ctr" lIns="0" rIns="0" tIns="0" bIns="0">
            <a:spAutoFit/>
          </a:bodyPr>
          <a:lstStyle/>
          <a:p>
            <a:r>
              <a:rPr sz="1100" b="1">
                <a:solidFill>
                  <a:srgbClr val="5B3FD6"/>
                </a:solidFill>
                <a:latin typeface="Calibri"/>
              </a:rPr>
              <a:t>The answer is b. </a:t>
            </a:r>
            <a:r>
              <a:rPr sz="1100" b="0" i="0">
                <a:solidFill>
                  <a:srgbClr val="1A1440"/>
                </a:solidFill>
                <a:latin typeface="Calibri"/>
              </a:rPr>
              <a:t>With every other factor at its central value, weekday trips of 0.5 to 1.5 per 100 people move the answer from about 2,900 to about 8,600; the idle share moves it from about 5,100 to 6,400. </a:t>
            </a:r>
            <a:r>
              <a:rPr sz="1100" b="1" i="0">
                <a:solidFill>
                  <a:srgbClr val="1A1440"/>
                </a:solidFill>
                <a:latin typeface="Calibri"/>
              </a:rPr>
              <a:t>Say it as:</a:t>
            </a:r>
            <a:r>
              <a:rPr sz="1100" b="0" i="0">
                <a:solidFill>
                  <a:srgbClr val="1A1440"/>
                </a:solidFill>
                <a:latin typeface="Calibri"/>
              </a:rPr>
              <a:t> "about 5,700 before the check, from 2,900 to 8,600 with everything else held, and mostly a question of how often people ride."</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6" name="Oval 15"/>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8" name="Oval 17"/>
          <p:cNvSpPr/>
          <p:nvPr/>
        </p:nvSpPr>
        <p:spPr>
          <a:xfrm>
            <a:off x="355158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6131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How many at the peak?</a:t>
            </a:r>
          </a:p>
        </p:txBody>
      </p:sp>
      <p:sp>
        <p:nvSpPr>
          <p:cNvPr id="20" name="Oval 19"/>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2" name="Oval 21"/>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S76  ·  25 / 44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Validate: like for like, the chain runs high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part of the estimate can the case's own data confirm, and does it move the answer?</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0.53</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DRIVER-HOURS PER COMPLETED TRIP, BEFORE</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case's twelve zones, median wait 4.8 minutes</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0.63</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DRIVER-HOURS PER COMPLETED TRIP, AFTER</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same zones, median wait 4.6 minutes</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0.60</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CHAIN, BEFORE ITS BUFFER</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1 / 1.68, about an eighth above 0.53</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1877568"/>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The chain needs about an eighth more driver time per trip than the before window, the one whose wait met the target, so it errs high.</a:t>
            </a:r>
            <a:r>
              <a:rPr sz="1600" b="0" i="0">
                <a:solidFill>
                  <a:srgbClr val="1A1440"/>
                </a:solidFill>
                <a:latin typeface="Calibri"/>
              </a:rPr>
              <a:t> Re-run at the case's 1.90 trips an hour: 8,330 / 1.90 x 1.15 = about 5,000, so say about 5,000 to 5,700 where the two routes agree, inside the 2,900 to 8,600 that trips per person sets. The case pools both daily windows on all seven days (42 hours a week), so it checks the ratio's size, never the city's count, and a published count of drivers online at Hyderabad's evening peak has not been found.</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24" name="Oval 23"/>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26" name="Oval 25"/>
          <p:cNvSpPr/>
          <p:nvPr/>
        </p:nvSpPr>
        <p:spPr>
          <a:xfrm>
            <a:off x="355158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66131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How many at the peak?</a:t>
            </a:r>
          </a:p>
        </p:txBody>
      </p:sp>
      <p:sp>
        <p:nvSpPr>
          <p:cNvPr id="28" name="Oval 27"/>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30" name="Oval 29"/>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S77  ·  26 / 44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trap: a day's trips divided by an hour's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goes wrong when a day meets an hour?</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The plausible wrong answer. </a:t>
            </a:r>
            <a:r>
              <a:rPr sz="1500" b="0" i="0">
                <a:solidFill>
                  <a:srgbClr val="1A1440"/>
                </a:solidFill>
                <a:latin typeface="Calibri"/>
              </a:rPr>
              <a:t>"1 crore people, 1 trip per 100 people, so 1 lakh trips; a driver does 2.4 trips an hour; so about 41,700 drivers." A city head who takes that to the review asks for incentives for about seven times the drivers the chain says are needed.</a:t>
            </a:r>
          </a:p>
        </p:txBody>
      </p:sp>
      <p:sp>
        <p:nvSpPr>
          <p:cNvPr id="12" name="Rounded Rectangle 11"/>
          <p:cNvSpPr/>
          <p:nvPr/>
        </p:nvSpPr>
        <p:spPr>
          <a:xfrm>
            <a:off x="530352" y="3195828"/>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3323844"/>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3314700"/>
            <a:ext cx="10564063" cy="891540"/>
          </a:xfrm>
          <a:prstGeom prst="rect">
            <a:avLst/>
          </a:prstGeom>
          <a:noFill/>
        </p:spPr>
        <p:txBody>
          <a:bodyPr wrap="square" anchor="ctr" lIns="0" rIns="0" tIns="0" bIns="0">
            <a:spAutoFit/>
          </a:bodyPr>
          <a:lstStyle/>
          <a:p>
            <a:r>
              <a:rPr sz="1500" b="1">
                <a:solidFill>
                  <a:srgbClr val="5B3FD6"/>
                </a:solidFill>
                <a:latin typeface="Calibri"/>
              </a:rPr>
              <a:t>Why it is wrong. </a:t>
            </a:r>
            <a:r>
              <a:rPr sz="1500" b="0" i="0">
                <a:solidFill>
                  <a:srgbClr val="1A1440"/>
                </a:solidFill>
                <a:latin typeface="Calibri"/>
              </a:rPr>
              <a:t>A day's trips were divided by an hour's trips per driver, a period mismatch, and the idle share and the evening window were skipped. </a:t>
            </a:r>
            <a:r>
              <a:rPr sz="1500" b="1" i="0">
                <a:solidFill>
                  <a:srgbClr val="1A1440"/>
                </a:solidFill>
                <a:latin typeface="Calibri"/>
              </a:rPr>
              <a:t>The check:</a:t>
            </a:r>
            <a:r>
              <a:rPr sz="1500" b="0" i="0">
                <a:solidFill>
                  <a:srgbClr val="1A1440"/>
                </a:solidFill>
                <a:latin typeface="Calibri"/>
              </a:rPr>
              <a:t> write the unit beside every factor. </a:t>
            </a:r>
            <a:r>
              <a:rPr sz="1500" b="1" i="0">
                <a:solidFill>
                  <a:srgbClr val="1A1440"/>
                </a:solidFill>
                <a:latin typeface="Calibri"/>
              </a:rPr>
              <a:t>The fix:</a:t>
            </a:r>
            <a:r>
              <a:rPr sz="1500" b="0" i="0">
                <a:solidFill>
                  <a:srgbClr val="1A1440"/>
                </a:solidFill>
                <a:latin typeface="Calibri"/>
              </a:rPr>
              <a:t> bring the day's trips into the evening window's hour before dividing.</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7" name="Oval 16"/>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9" name="Oval 18"/>
          <p:cNvSpPr/>
          <p:nvPr/>
        </p:nvSpPr>
        <p:spPr>
          <a:xfrm>
            <a:off x="355158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6131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How many at the peak?</a:t>
            </a:r>
          </a:p>
        </p:txBody>
      </p:sp>
      <p:sp>
        <p:nvSpPr>
          <p:cNvPr id="21" name="Oval 20"/>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3" name="Oval 22"/>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S78  ·  27 / 44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UPI in pairs: seven minutes on the clock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many UPI payments happen in India on an average day?</a:t>
            </a:r>
          </a:p>
        </p:txBody>
      </p:sp>
      <p:sp>
        <p:nvSpPr>
          <p:cNvPr id="9" name="Rounded Rectangle 8"/>
          <p:cNvSpPr/>
          <p:nvPr/>
        </p:nvSpPr>
        <p:spPr>
          <a:xfrm>
            <a:off x="530352" y="1956816"/>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1158240"/>
          </a:xfrm>
          <a:prstGeom prst="rect">
            <a:avLst/>
          </a:prstGeom>
          <a:noFill/>
        </p:spPr>
        <p:txBody>
          <a:bodyPr wrap="square" anchor="ctr" lIns="0" rIns="0" tIns="0" bIns="0">
            <a:spAutoFit/>
          </a:bodyPr>
          <a:lstStyle/>
          <a:p>
            <a:r>
              <a:rPr sz="1500" b="1">
                <a:solidFill>
                  <a:srgbClr val="5B3FD6"/>
                </a:solidFill>
                <a:latin typeface="Calibri"/>
              </a:rPr>
              <a:t>The drill. </a:t>
            </a:r>
            <a:r>
              <a:rPr sz="1500" b="0" i="0">
                <a:solidFill>
                  <a:srgbClr val="1A1440"/>
                </a:solidFill>
                <a:latin typeface="Calibri"/>
              </a:rPr>
              <a:t>UPI is India's system for paying from a bank account by phone, by a code or a phone number. Work in pairs for seven minutes, with all four steps on one sheet. Clarify volume or value (volume: the count of payments). Map active users x payments per user a day, and say how many of those go to shops and how many to people, so the payments a day are believable.</a:t>
            </a:r>
          </a:p>
        </p:txBody>
      </p:sp>
      <p:sp>
        <p:nvSpPr>
          <p:cNvPr id="12" name="Rounded Rectangle 11"/>
          <p:cNvSpPr/>
          <p:nvPr/>
        </p:nvSpPr>
        <p:spPr>
          <a:xfrm>
            <a:off x="530352" y="346252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359054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3581400"/>
            <a:ext cx="10564063" cy="624840"/>
          </a:xfrm>
          <a:prstGeom prst="rect">
            <a:avLst/>
          </a:prstGeom>
          <a:noFill/>
        </p:spPr>
        <p:txBody>
          <a:bodyPr wrap="square" anchor="ctr" lIns="0" rIns="0" tIns="0" bIns="0">
            <a:spAutoFit/>
          </a:bodyPr>
          <a:lstStyle/>
          <a:p>
            <a:r>
              <a:rPr sz="1500" b="1">
                <a:solidFill>
                  <a:srgbClr val="5B3FD6"/>
                </a:solidFill>
                <a:latin typeface="Calibri"/>
              </a:rPr>
              <a:t>What the scorer checks: </a:t>
            </a:r>
            <a:r>
              <a:rPr sz="1500" b="0" i="0">
                <a:solidFill>
                  <a:srgbClr val="1A1440"/>
                </a:solidFill>
                <a:latin typeface="Calibri"/>
              </a:rPr>
              <a:t>scope clarified first, every assumption written with a range, the answer given as a range, and a sanity check in the right unit.</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7" name="Oval 16"/>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9" name="Oval 18"/>
          <p:cNvSpPr/>
          <p:nvPr/>
        </p:nvSpPr>
        <p:spPr>
          <a:xfrm>
            <a:off x="355158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6131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How many at the peak?</a:t>
            </a:r>
          </a:p>
        </p:txBody>
      </p:sp>
      <p:sp>
        <p:nvSpPr>
          <p:cNvPr id="21" name="Oval 20"/>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3" name="Oval 22"/>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S79  ·  28 / 44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check: per day, and per payment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Is a pair's estimate sane, and which comparison is the honest one?</a:t>
            </a:r>
          </a:p>
        </p:txBody>
      </p:sp>
      <p:pic>
        <p:nvPicPr>
          <p:cNvPr id="9" name="mermaid diagram" descr="63f7d2d06c8445ee.png"/>
          <p:cNvPicPr>
            <a:picLocks noChangeAspect="1"/>
          </p:cNvPicPr>
          <p:nvPr/>
        </p:nvPicPr>
        <p:blipFill>
          <a:blip r:embed="rId5"/>
          <a:stretch>
            <a:fillRect/>
          </a:stretch>
        </p:blipFill>
        <p:spPr>
          <a:xfrm>
            <a:off x="530352" y="2471349"/>
            <a:ext cx="4786326" cy="2939428"/>
          </a:xfrm>
          <a:prstGeom prst="rect">
            <a:avLst/>
          </a:prstGeom>
        </p:spPr>
      </p:pic>
      <p:sp>
        <p:nvSpPr>
          <p:cNvPr id="10" name="Rounded Rectangle 9"/>
          <p:cNvSpPr/>
          <p:nvPr/>
        </p:nvSpPr>
        <p:spPr>
          <a:xfrm>
            <a:off x="5761917" y="1956816"/>
            <a:ext cx="5899425" cy="16078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5908221" y="2084832"/>
            <a:ext cx="45720" cy="13517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109389" y="2075688"/>
            <a:ext cx="5332497" cy="1424940"/>
          </a:xfrm>
          <a:prstGeom prst="rect">
            <a:avLst/>
          </a:prstGeom>
          <a:noFill/>
        </p:spPr>
        <p:txBody>
          <a:bodyPr wrap="square" anchor="ctr" lIns="0" rIns="0" tIns="0" bIns="0">
            <a:spAutoFit/>
          </a:bodyPr>
          <a:lstStyle/>
          <a:p>
            <a:r>
              <a:rPr sz="1500" b="1">
                <a:solidFill>
                  <a:srgbClr val="5B3FD6"/>
                </a:solidFill>
                <a:latin typeface="Calibri"/>
              </a:rPr>
              <a:t>NPCI's figure. </a:t>
            </a:r>
            <a:r>
              <a:rPr sz="1500" b="0" i="0">
                <a:solidFill>
                  <a:srgbClr val="1A1440"/>
                </a:solidFill>
                <a:latin typeface="Calibri"/>
              </a:rPr>
              <a:t>NPCI, the National Payments Corporation of India, which runs UPI, reported an average of 802 million UPI payments a day in September 2026: 24.07 billion in the month, worth Rs 29.37 lakh crore (Outlook Money, 2 October 2026; checked 12 October 2026).</a:t>
            </a:r>
          </a:p>
        </p:txBody>
      </p:sp>
      <p:sp>
        <p:nvSpPr>
          <p:cNvPr id="13" name="Rounded Rectangle 12"/>
          <p:cNvSpPr/>
          <p:nvPr/>
        </p:nvSpPr>
        <p:spPr>
          <a:xfrm>
            <a:off x="5761917" y="3729228"/>
            <a:ext cx="5899425" cy="1874519"/>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908221" y="3857244"/>
            <a:ext cx="45720" cy="1618487"/>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109389" y="3848100"/>
            <a:ext cx="5332497" cy="1691639"/>
          </a:xfrm>
          <a:prstGeom prst="rect">
            <a:avLst/>
          </a:prstGeom>
          <a:noFill/>
        </p:spPr>
        <p:txBody>
          <a:bodyPr wrap="square" anchor="ctr" lIns="0" rIns="0" tIns="0" bIns="0">
            <a:spAutoFit/>
          </a:bodyPr>
          <a:lstStyle/>
          <a:p>
            <a:r>
              <a:rPr sz="1500" b="1">
                <a:solidFill>
                  <a:srgbClr val="5B3FD6"/>
                </a:solidFill>
                <a:latin typeface="Calibri"/>
              </a:rPr>
              <a:t>Two checks. </a:t>
            </a:r>
            <a:r>
              <a:rPr sz="1500" b="0" i="0">
                <a:solidFill>
                  <a:srgbClr val="1A1440"/>
                </a:solidFill>
                <a:latin typeface="Calibri"/>
              </a:rPr>
              <a:t>Per day: September has 30 days, so 24.07 billion / 30 = 802 million; dividing by 31 gives 776 million, a small slip beside the estimate's range. Per payment: Rs 29.37 lakh crore / 24.07 billion = about Rs 1,220 a payment, far above a cup of tea, so the count holds large transfers between people.</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8" name="Oval 17"/>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20" name="Oval 19"/>
          <p:cNvSpPr/>
          <p:nvPr/>
        </p:nvSpPr>
        <p:spPr>
          <a:xfrm>
            <a:off x="355158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66131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How many at the peak?</a:t>
            </a:r>
          </a:p>
        </p:txBody>
      </p:sp>
      <p:sp>
        <p:nvSpPr>
          <p:cNvPr id="22" name="Oval 21"/>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4" name="Oval 23"/>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S80  ·  29 / 44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traps a sanity check catches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skipped move lets each wrong number through?</a:t>
            </a:r>
          </a:p>
        </p:txBody>
      </p:sp>
      <p:graphicFrame>
        <p:nvGraphicFramePr>
          <p:cNvPr id="9" name="Table 8"/>
          <p:cNvGraphicFramePr>
            <a:graphicFrameLocks noGrp="1"/>
          </p:cNvGraphicFramePr>
          <p:nvPr/>
        </p:nvGraphicFramePr>
        <p:xfrm>
          <a:off x="530352" y="1956816"/>
          <a:ext cx="11130989" cy="2377440"/>
        </p:xfrm>
        <a:graphic>
          <a:graphicData uri="http://schemas.openxmlformats.org/drawingml/2006/table">
            <a:tbl>
              <a:tblPr firstRow="0" bandRow="0">
                <a:tableStyleId>{2D5ABB26-0587-4C30-8999-92F81FD0307C}</a:tableStyleId>
              </a:tblPr>
              <a:tblGrid>
                <a:gridCol w="1232820"/>
                <a:gridCol w="3818607"/>
                <a:gridCol w="3818607"/>
                <a:gridCol w="2260955"/>
              </a:tblGrid>
              <a:tr h="335280">
                <a:tc>
                  <a:txBody>
                    <a:bodyPr/>
                    <a:lstStyle/>
                    <a:p>
                      <a:r>
                        <a:rPr sz="1250" b="1" i="0">
                          <a:solidFill>
                            <a:srgbClr val="FFFFFF"/>
                          </a:solidFill>
                          <a:latin typeface="Calibri"/>
                        </a:rPr>
                        <a:t>Trap</a:t>
                      </a:r>
                    </a:p>
                  </a:txBody>
                  <a:tcPr marL="101600" marR="101600" marT="38100" marB="38100" anchor="ctr">
                    <a:solidFill>
                      <a:srgbClr val="1A0F5C"/>
                    </a:solidFill>
                  </a:tcPr>
                </a:tc>
                <a:tc>
                  <a:txBody>
                    <a:bodyPr/>
                    <a:lstStyle/>
                    <a:p>
                      <a:r>
                        <a:rPr sz="1250" b="1" i="0">
                          <a:solidFill>
                            <a:srgbClr val="FFFFFF"/>
                          </a:solidFill>
                          <a:latin typeface="Calibri"/>
                        </a:rPr>
                        <a:t>What a confident candidate says</a:t>
                      </a:r>
                    </a:p>
                  </a:txBody>
                  <a:tcPr marL="101600" marR="101600" marT="38100" marB="38100" anchor="ctr">
                    <a:solidFill>
                      <a:srgbClr val="1A0F5C"/>
                    </a:solidFill>
                  </a:tcPr>
                </a:tc>
                <a:tc>
                  <a:txBody>
                    <a:bodyPr/>
                    <a:lstStyle/>
                    <a:p>
                      <a:r>
                        <a:rPr sz="1250" b="1" i="0">
                          <a:solidFill>
                            <a:srgbClr val="FFFFFF"/>
                          </a:solidFill>
                          <a:latin typeface="Calibri"/>
                        </a:rPr>
                        <a:t>What catches it</a:t>
                      </a:r>
                    </a:p>
                  </a:txBody>
                  <a:tcPr marL="101600" marR="101600" marT="38100" marB="38100" anchor="ctr">
                    <a:solidFill>
                      <a:srgbClr val="1A0F5C"/>
                    </a:solidFill>
                  </a:tcPr>
                </a:tc>
                <a:tc>
                  <a:txBody>
                    <a:bodyPr/>
                    <a:lstStyle/>
                    <a:p>
                      <a:r>
                        <a:rPr sz="1250" b="1" i="0">
                          <a:solidFill>
                            <a:srgbClr val="FFFFFF"/>
                          </a:solidFill>
                          <a:latin typeface="Calibri"/>
                        </a:rPr>
                        <a:t>The test it fails</a:t>
                      </a:r>
                    </a:p>
                  </a:txBody>
                  <a:tcPr marL="101600" marR="101600" marT="38100" marB="38100" anchor="ctr">
                    <a:solidFill>
                      <a:srgbClr val="1A0F5C"/>
                    </a:solidFill>
                  </a:tcPr>
                </a:tc>
              </a:tr>
              <a:tr h="542544">
                <a:tc>
                  <a:txBody>
                    <a:bodyPr/>
                    <a:lstStyle/>
                    <a:p>
                      <a:r>
                        <a:rPr sz="1200" b="0" i="0">
                          <a:solidFill>
                            <a:srgbClr val="1A1440"/>
                          </a:solidFill>
                          <a:latin typeface="Calibri"/>
                        </a:rPr>
                        <a:t>People as households</a:t>
                      </a:r>
                    </a:p>
                  </a:txBody>
                  <a:tcPr marL="101600" marR="101600" marT="38100" marB="38100" anchor="ctr">
                    <a:solidFill>
                      <a:srgbClr val="FFFFFF"/>
                    </a:solidFill>
                  </a:tcPr>
                </a:tc>
                <a:tc>
                  <a:txBody>
                    <a:bodyPr/>
                    <a:lstStyle/>
                    <a:p>
                      <a:r>
                        <a:rPr sz="1200" b="0" i="0">
                          <a:solidFill>
                            <a:srgbClr val="1A1440"/>
                          </a:solidFill>
                          <a:latin typeface="Calibri"/>
                        </a:rPr>
                        <a:t>"A city of two million people has eight million households" (invented)</a:t>
                      </a:r>
                    </a:p>
                  </a:txBody>
                  <a:tcPr marL="101600" marR="101600" marT="38100" marB="38100" anchor="ctr">
                    <a:solidFill>
                      <a:srgbClr val="FFFFFF"/>
                    </a:solidFill>
                  </a:tcPr>
                </a:tc>
                <a:tc>
                  <a:txBody>
                    <a:bodyPr/>
                    <a:lstStyle/>
                    <a:p>
                      <a:r>
                        <a:rPr sz="1200" b="0" i="0">
                          <a:solidFill>
                            <a:srgbClr val="1A1440"/>
                          </a:solidFill>
                          <a:latin typeface="Calibri"/>
                        </a:rPr>
                        <a:t>Households are people divided by about four: 20 lakh / 4 = 5 lakh; this one multiplied</a:t>
                      </a:r>
                    </a:p>
                  </a:txBody>
                  <a:tcPr marL="101600" marR="101600" marT="38100" marB="38100" anchor="ctr">
                    <a:solidFill>
                      <a:srgbClr val="FFFFFF"/>
                    </a:solidFill>
                  </a:tcPr>
                </a:tc>
                <a:tc>
                  <a:txBody>
                    <a:bodyPr/>
                    <a:lstStyle/>
                    <a:p>
                      <a:r>
                        <a:rPr sz="1200" b="0" i="0">
                          <a:solidFill>
                            <a:srgbClr val="1A1440"/>
                          </a:solidFill>
                          <a:latin typeface="Calibri"/>
                        </a:rPr>
                        <a:t>Unit</a:t>
                      </a:r>
                    </a:p>
                  </a:txBody>
                  <a:tcPr marL="101600" marR="101600" marT="38100" marB="38100" anchor="ctr">
                    <a:solidFill>
                      <a:srgbClr val="FFFFFF"/>
                    </a:solidFill>
                  </a:tcPr>
                </a:tc>
              </a:tr>
              <a:tr h="749808">
                <a:tc>
                  <a:txBody>
                    <a:bodyPr/>
                    <a:lstStyle/>
                    <a:p>
                      <a:r>
                        <a:rPr sz="1200" b="0" i="0">
                          <a:solidFill>
                            <a:srgbClr val="1A1440"/>
                          </a:solidFill>
                          <a:latin typeface="Calibri"/>
                        </a:rPr>
                        <a:t>A record day</a:t>
                      </a:r>
                    </a:p>
                  </a:txBody>
                  <a:tcPr marL="101600" marR="101600" marT="38100" marB="38100" anchor="ctr">
                    <a:solidFill>
                      <a:srgbClr val="F4F2FA"/>
                    </a:solidFill>
                  </a:tcPr>
                </a:tc>
                <a:tc>
                  <a:txBody>
                    <a:bodyPr/>
                    <a:lstStyle/>
                    <a:p>
                      <a:r>
                        <a:rPr sz="1200" b="0" i="0">
                          <a:solidFill>
                            <a:srgbClr val="1A1440"/>
                          </a:solidFill>
                          <a:latin typeface="Calibri"/>
                        </a:rPr>
                        <a:t>A weekday estimate of Delhi Metro journeys, checked against 82,44,903</a:t>
                      </a:r>
                    </a:p>
                  </a:txBody>
                  <a:tcPr marL="101600" marR="101600" marT="38100" marB="38100" anchor="ctr">
                    <a:solidFill>
                      <a:srgbClr val="F4F2FA"/>
                    </a:solidFill>
                  </a:tcPr>
                </a:tc>
                <a:tc>
                  <a:txBody>
                    <a:bodyPr/>
                    <a:lstStyle/>
                    <a:p>
                      <a:r>
                        <a:rPr sz="1200" b="0" i="0">
                          <a:solidFill>
                            <a:srgbClr val="1A1440"/>
                          </a:solidFill>
                          <a:latin typeface="Calibri"/>
                        </a:rPr>
                        <a:t>DMRC's average is 64.06 lakh journeys a day; 82,44,903 was one record day, 17 September 2026</a:t>
                      </a:r>
                    </a:p>
                  </a:txBody>
                  <a:tcPr marL="101600" marR="101600" marT="38100" marB="38100" anchor="ctr">
                    <a:solidFill>
                      <a:srgbClr val="F4F2FA"/>
                    </a:solidFill>
                  </a:tcPr>
                </a:tc>
                <a:tc>
                  <a:txBody>
                    <a:bodyPr/>
                    <a:lstStyle/>
                    <a:p>
                      <a:r>
                        <a:rPr sz="1200" b="0" i="0">
                          <a:solidFill>
                            <a:srgbClr val="1A1440"/>
                          </a:solidFill>
                          <a:latin typeface="Calibri"/>
                        </a:rPr>
                        <a:t>Period</a:t>
                      </a:r>
                    </a:p>
                  </a:txBody>
                  <a:tcPr marL="101600" marR="101600" marT="38100" marB="38100" anchor="ctr">
                    <a:solidFill>
                      <a:srgbClr val="F4F2FA"/>
                    </a:solidFill>
                  </a:tcPr>
                </a:tc>
              </a:tr>
              <a:tr h="749808">
                <a:tc>
                  <a:txBody>
                    <a:bodyPr/>
                    <a:lstStyle/>
                    <a:p>
                      <a:r>
                        <a:rPr sz="1200" b="0" i="0">
                          <a:solidFill>
                            <a:srgbClr val="1A1440"/>
                          </a:solidFill>
                          <a:latin typeface="Calibri"/>
                        </a:rPr>
                        <a:t>A muddled source</a:t>
                      </a:r>
                    </a:p>
                  </a:txBody>
                  <a:tcPr marL="101600" marR="101600" marT="38100" marB="38100" anchor="ctr">
                    <a:solidFill>
                      <a:srgbClr val="FFFFFF"/>
                    </a:solidFill>
                  </a:tcPr>
                </a:tc>
                <a:tc>
                  <a:txBody>
                    <a:bodyPr/>
                    <a:lstStyle/>
                    <a:p>
                      <a:r>
                        <a:rPr sz="1200" b="0" i="0">
                          <a:solidFill>
                            <a:srgbClr val="1A1440"/>
                          </a:solidFill>
                          <a:latin typeface="Calibri"/>
                        </a:rPr>
                        <a:t>"Flipkart had 63 million concurrent users in a minute"</a:t>
                      </a:r>
                    </a:p>
                  </a:txBody>
                  <a:tcPr marL="101600" marR="101600" marT="38100" marB="38100" anchor="ctr">
                    <a:solidFill>
                      <a:srgbClr val="FFFFFF"/>
                    </a:solidFill>
                  </a:tcPr>
                </a:tc>
                <a:tc>
                  <a:txBody>
                    <a:bodyPr/>
                    <a:lstStyle/>
                    <a:p>
                      <a:r>
                        <a:rPr sz="1200" b="0" i="0">
                          <a:solidFill>
                            <a:srgbClr val="1A1440"/>
                          </a:solidFill>
                          <a:latin typeface="Calibri"/>
                        </a:rPr>
                        <a:t>Flipkart's text says 6.3 million (the 63 is in its web address), and "concurrent in a minute" mixes a moment with a minute</a:t>
                      </a:r>
                    </a:p>
                  </a:txBody>
                  <a:tcPr marL="101600" marR="101600" marT="38100" marB="38100" anchor="ctr">
                    <a:solidFill>
                      <a:srgbClr val="FFFFFF"/>
                    </a:solidFill>
                  </a:tcPr>
                </a:tc>
                <a:tc>
                  <a:txBody>
                    <a:bodyPr/>
                    <a:lstStyle/>
                    <a:p>
                      <a:r>
                        <a:rPr sz="1200" b="0" i="0">
                          <a:solidFill>
                            <a:srgbClr val="1A1440"/>
                          </a:solidFill>
                          <a:latin typeface="Calibri"/>
                        </a:rPr>
                        <a:t>Definition: read the source's own words</a:t>
                      </a:r>
                    </a:p>
                  </a:txBody>
                  <a:tcPr marL="101600" marR="101600" marT="38100" marB="38100" anchor="ctr">
                    <a:solidFill>
                      <a:srgbClr val="FFFFFF"/>
                    </a:solidFill>
                  </a:tcPr>
                </a:tc>
              </a:tr>
            </a:tbl>
          </a:graphicData>
        </a:graphic>
      </p:graphicFrame>
      <p:sp>
        <p:nvSpPr>
          <p:cNvPr id="10" name="TextBox 9"/>
          <p:cNvSpPr txBox="1"/>
          <p:nvPr/>
        </p:nvSpPr>
        <p:spPr>
          <a:xfrm>
            <a:off x="530352" y="4590288"/>
            <a:ext cx="11130991" cy="772160"/>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Sources,</a:t>
            </a:r>
            <a:r>
              <a:rPr sz="1600" b="0" i="0">
                <a:solidFill>
                  <a:srgbClr val="1A1440"/>
                </a:solidFill>
                <a:latin typeface="Calibri"/>
              </a:rPr>
              <a:t> checked 12 October 2026: The Tribune (9 August 2026) and Republic World (18 September 2026), citing DMRC, the Delhi Metro Rail Corporation; Flipkart Stories (9 October 2026).</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3" name="Oval 12"/>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5" name="Oval 14"/>
          <p:cNvSpPr/>
          <p:nvPr/>
        </p:nvSpPr>
        <p:spPr>
          <a:xfrm>
            <a:off x="355158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How many at the peak?</a:t>
            </a:r>
          </a:p>
        </p:txBody>
      </p:sp>
      <p:sp>
        <p:nvSpPr>
          <p:cNvPr id="17" name="Oval 16"/>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19" name="Oval 18"/>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S81  ·  30 / 44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Chapter 8 adds a number sized from nothing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Tuesday's node carry now, and what does it hand to Wednesday?</a:t>
            </a:r>
          </a:p>
        </p:txBody>
      </p:sp>
      <p:pic>
        <p:nvPicPr>
          <p:cNvPr id="9" name="mermaid diagram" descr="552bed3165770c1b.png"/>
          <p:cNvPicPr>
            <a:picLocks noChangeAspect="1"/>
          </p:cNvPicPr>
          <p:nvPr/>
        </p:nvPicPr>
        <p:blipFill>
          <a:blip r:embed="rId5"/>
          <a:stretch>
            <a:fillRect/>
          </a:stretch>
        </p:blipFill>
        <p:spPr>
          <a:xfrm>
            <a:off x="2152497" y="1956816"/>
            <a:ext cx="7886700" cy="2357437"/>
          </a:xfrm>
          <a:prstGeom prst="rect">
            <a:avLst/>
          </a:prstGeom>
        </p:spPr>
      </p:pic>
      <p:sp>
        <p:nvSpPr>
          <p:cNvPr id="10" name="TextBox 9"/>
          <p:cNvSpPr txBox="1"/>
          <p:nvPr/>
        </p:nvSpPr>
        <p:spPr>
          <a:xfrm>
            <a:off x="530352" y="4460557"/>
            <a:ext cx="11130991" cy="1324864"/>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Tuesday's node now carries</a:t>
            </a:r>
            <a:r>
              <a:rPr sz="1600" b="0" i="0">
                <a:solidFill>
                  <a:srgbClr val="1A1440"/>
                </a:solidFill>
                <a:latin typeface="Calibri"/>
              </a:rPr>
              <a:t> the slide (Rs 314 to Rs 260 per online hour, defended in four moves, one appendix page per role) and the estimate (about 5,000 to 5,700 drivers once checked; 2,900 to 8,600 by how often people ride). </a:t>
            </a:r>
            <a:r>
              <a:rPr sz="1600" b="1" i="0">
                <a:solidFill>
                  <a:srgbClr val="1A1440"/>
                </a:solidFill>
                <a:latin typeface="Calibri"/>
              </a:rPr>
              <a:t>In the interview</a:t>
            </a:r>
            <a:r>
              <a:rPr sz="1600" b="0" i="0">
                <a:solidFill>
                  <a:srgbClr val="1A1440"/>
                </a:solidFill>
                <a:latin typeface="Calibri"/>
              </a:rPr>
              <a:t> [S]: estimate a number from nothing, aloud, and check it. The structure, the stated assumptions and the check carry most of the score.</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3" name="Oval 12"/>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5" name="Oval 14"/>
          <p:cNvSpPr/>
          <p:nvPr/>
        </p:nvSpPr>
        <p:spPr>
          <a:xfrm>
            <a:off x="355158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61314"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How many at the peak?</a:t>
            </a:r>
          </a:p>
        </p:txBody>
      </p:sp>
      <p:sp>
        <p:nvSpPr>
          <p:cNvPr id="17" name="Oval 16"/>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19" name="Oval 18"/>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S82  ·  31 / 44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09</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The page to the city head, an AI-free written business case</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goes on one page?</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The written business case applied: the morning's slide as one page to the city head, by hand, in 35 minutes, handed in.</a:t>
            </a:r>
          </a:p>
        </p:txBody>
      </p:sp>
      <p:sp>
        <p:nvSpPr>
          <p:cNvPr id="11" name="Rounded Rectangle 10"/>
          <p:cNvSpPr/>
          <p:nvPr/>
        </p:nvSpPr>
        <p:spPr>
          <a:xfrm>
            <a:off x="73151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big is an unknown?</a:t>
            </a:r>
          </a:p>
        </p:txBody>
      </p:sp>
      <p:sp>
        <p:nvSpPr>
          <p:cNvPr id="12" name="Rounded Rectangle 11"/>
          <p:cNvSpPr/>
          <p:nvPr/>
        </p:nvSpPr>
        <p:spPr>
          <a:xfrm>
            <a:off x="2509759"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must a page carry?</a:t>
            </a:r>
          </a:p>
        </p:txBody>
      </p:sp>
      <p:sp>
        <p:nvSpPr>
          <p:cNvPr id="13" name="Rounded Rectangle 12"/>
          <p:cNvSpPr/>
          <p:nvPr/>
        </p:nvSpPr>
        <p:spPr>
          <a:xfrm>
            <a:off x="4347214"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many at the peak?</a:t>
            </a:r>
          </a:p>
        </p:txBody>
      </p:sp>
      <p:sp>
        <p:nvSpPr>
          <p:cNvPr id="14" name="Rounded Rectangle 13"/>
          <p:cNvSpPr/>
          <p:nvPr/>
        </p:nvSpPr>
        <p:spPr>
          <a:xfrm>
            <a:off x="6066238" y="5074920"/>
            <a:ext cx="166851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goes on one page?</a:t>
            </a:r>
          </a:p>
        </p:txBody>
      </p:sp>
      <p:sp>
        <p:nvSpPr>
          <p:cNvPr id="15" name="Rounded Rectangle 14"/>
          <p:cNvSpPr/>
          <p:nvPr/>
        </p:nvSpPr>
        <p:spPr>
          <a:xfrm>
            <a:off x="7844477"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it sound like?</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2. How many drivers does the evening peak need, and can you say it on one page?</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32 / 44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page applies chapters 7 and 1</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what must the page do?</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Applies: </a:t>
            </a:r>
            <a:r>
              <a:rPr sz="1500" b="0" i="0">
                <a:solidFill>
                  <a:srgbClr val="1A1440"/>
                </a:solidFill>
                <a:latin typeface="Calibri"/>
              </a:rPr>
              <a:t>The AI-free written business case (chapter 7); The one-slide answer: claim, evidence, caveat, action (chapter 1).</a:t>
            </a:r>
          </a:p>
        </p:txBody>
      </p:sp>
      <p:sp>
        <p:nvSpPr>
          <p:cNvPr id="12" name="Rounded Rectangle 11"/>
          <p:cNvSpPr/>
          <p:nvPr/>
        </p:nvSpPr>
        <p:spPr>
          <a:xfrm>
            <a:off x="530352" y="292912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305714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3048000"/>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city head, reading alone before Thursday, with the three roles reading over a shoulder.</a:t>
            </a:r>
          </a:p>
        </p:txBody>
      </p:sp>
      <p:sp>
        <p:nvSpPr>
          <p:cNvPr id="15" name="Rectangle 14"/>
          <p:cNvSpPr/>
          <p:nvPr/>
        </p:nvSpPr>
        <p:spPr>
          <a:xfrm>
            <a:off x="1853145" y="4468368"/>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SENTENCE 1</a:t>
            </a:r>
          </a:p>
        </p:txBody>
      </p:sp>
      <p:sp>
        <p:nvSpPr>
          <p:cNvPr id="17" name="Oval 16"/>
          <p:cNvSpPr/>
          <p:nvPr/>
        </p:nvSpPr>
        <p:spPr>
          <a:xfrm>
            <a:off x="1752561"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4934712"/>
            <a:ext cx="2316403" cy="251205"/>
          </a:xfrm>
          <a:prstGeom prst="rect">
            <a:avLst/>
          </a:prstGeom>
          <a:noFill/>
        </p:spPr>
        <p:txBody>
          <a:bodyPr wrap="square" anchor="t" lIns="0" rIns="0" tIns="0" bIns="0">
            <a:spAutoFit/>
          </a:bodyPr>
          <a:lstStyle/>
          <a:p>
            <a:pPr algn="l"/>
            <a:r>
              <a:rPr sz="1300" b="1" i="0">
                <a:solidFill>
                  <a:srgbClr val="1A0F5C"/>
                </a:solidFill>
                <a:latin typeface="Calibri"/>
              </a:rPr>
              <a:t>The claim</a:t>
            </a:r>
          </a:p>
        </p:txBody>
      </p:sp>
      <p:sp>
        <p:nvSpPr>
          <p:cNvPr id="20" name="TextBox 19"/>
          <p:cNvSpPr txBox="1"/>
          <p:nvPr/>
        </p:nvSpPr>
        <p:spPr>
          <a:xfrm>
            <a:off x="694944" y="5222494"/>
            <a:ext cx="2316403" cy="366776"/>
          </a:xfrm>
          <a:prstGeom prst="rect">
            <a:avLst/>
          </a:prstGeom>
          <a:noFill/>
        </p:spPr>
        <p:txBody>
          <a:bodyPr wrap="square" anchor="t" lIns="0" rIns="0" tIns="0" bIns="0">
            <a:spAutoFit/>
          </a:bodyPr>
          <a:lstStyle/>
          <a:p>
            <a:pPr algn="l"/>
            <a:r>
              <a:rPr sz="1000" b="0" i="0">
                <a:solidFill>
                  <a:srgbClr val="6B6690"/>
                </a:solidFill>
                <a:latin typeface="Calibri"/>
              </a:rPr>
              <a:t>What the city head should believe and do.</a:t>
            </a:r>
          </a:p>
        </p:txBody>
      </p:sp>
      <p:sp>
        <p:nvSpPr>
          <p:cNvPr id="21" name="TextBox 20"/>
          <p:cNvSpPr txBox="1"/>
          <p:nvPr/>
        </p:nvSpPr>
        <p:spPr>
          <a:xfrm>
            <a:off x="3358819"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SENTENCE 2</a:t>
            </a:r>
          </a:p>
        </p:txBody>
      </p:sp>
      <p:sp>
        <p:nvSpPr>
          <p:cNvPr id="22" name="Oval 21"/>
          <p:cNvSpPr/>
          <p:nvPr/>
        </p:nvSpPr>
        <p:spPr>
          <a:xfrm>
            <a:off x="4581029"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4934712"/>
            <a:ext cx="2316403" cy="465836"/>
          </a:xfrm>
          <a:prstGeom prst="rect">
            <a:avLst/>
          </a:prstGeom>
          <a:noFill/>
        </p:spPr>
        <p:txBody>
          <a:bodyPr wrap="square" anchor="t" lIns="0" rIns="0" tIns="0" bIns="0">
            <a:spAutoFit/>
          </a:bodyPr>
          <a:lstStyle/>
          <a:p>
            <a:pPr algn="l"/>
            <a:r>
              <a:rPr sz="1300" b="1" i="0">
                <a:solidFill>
                  <a:srgbClr val="1A0F5C"/>
                </a:solidFill>
                <a:latin typeface="Calibri"/>
              </a:rPr>
              <a:t>One number, and what it is divided by</a:t>
            </a:r>
          </a:p>
        </p:txBody>
      </p:sp>
      <p:sp>
        <p:nvSpPr>
          <p:cNvPr id="25" name="TextBox 24"/>
          <p:cNvSpPr txBox="1"/>
          <p:nvPr/>
        </p:nvSpPr>
        <p:spPr>
          <a:xfrm>
            <a:off x="3523411" y="5437124"/>
            <a:ext cx="2316403" cy="366776"/>
          </a:xfrm>
          <a:prstGeom prst="rect">
            <a:avLst/>
          </a:prstGeom>
          <a:noFill/>
        </p:spPr>
        <p:txBody>
          <a:bodyPr wrap="square" anchor="t" lIns="0" rIns="0" tIns="0" bIns="0">
            <a:spAutoFit/>
          </a:bodyPr>
          <a:lstStyle/>
          <a:p>
            <a:pPr algn="l"/>
            <a:r>
              <a:rPr sz="1000" b="0" i="0">
                <a:solidFill>
                  <a:srgbClr val="6B6690"/>
                </a:solidFill>
                <a:latin typeface="Calibri"/>
              </a:rPr>
              <a:t>Rupees per peak online hour, before and after.</a:t>
            </a:r>
          </a:p>
        </p:txBody>
      </p:sp>
      <p:sp>
        <p:nvSpPr>
          <p:cNvPr id="26" name="TextBox 25"/>
          <p:cNvSpPr txBox="1"/>
          <p:nvPr/>
        </p:nvSpPr>
        <p:spPr>
          <a:xfrm>
            <a:off x="6187287"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SENTENCE 3</a:t>
            </a:r>
          </a:p>
        </p:txBody>
      </p:sp>
      <p:sp>
        <p:nvSpPr>
          <p:cNvPr id="27" name="Oval 26"/>
          <p:cNvSpPr/>
          <p:nvPr/>
        </p:nvSpPr>
        <p:spPr>
          <a:xfrm>
            <a:off x="7409497"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4934712"/>
            <a:ext cx="2316403" cy="251205"/>
          </a:xfrm>
          <a:prstGeom prst="rect">
            <a:avLst/>
          </a:prstGeom>
          <a:noFill/>
        </p:spPr>
        <p:txBody>
          <a:bodyPr wrap="square" anchor="t" lIns="0" rIns="0" tIns="0" bIns="0">
            <a:spAutoFit/>
          </a:bodyPr>
          <a:lstStyle/>
          <a:p>
            <a:pPr algn="l"/>
            <a:r>
              <a:rPr sz="1300" b="1" i="0">
                <a:solidFill>
                  <a:srgbClr val="1A0F5C"/>
                </a:solidFill>
                <a:latin typeface="Calibri"/>
              </a:rPr>
              <a:t>The caveat</a:t>
            </a:r>
          </a:p>
        </p:txBody>
      </p:sp>
      <p:sp>
        <p:nvSpPr>
          <p:cNvPr id="30" name="TextBox 29"/>
          <p:cNvSpPr txBox="1"/>
          <p:nvPr/>
        </p:nvSpPr>
        <p:spPr>
          <a:xfrm>
            <a:off x="6351879" y="5222494"/>
            <a:ext cx="2316403" cy="201676"/>
          </a:xfrm>
          <a:prstGeom prst="rect">
            <a:avLst/>
          </a:prstGeom>
          <a:noFill/>
        </p:spPr>
        <p:txBody>
          <a:bodyPr wrap="square" anchor="t" lIns="0" rIns="0" tIns="0" bIns="0">
            <a:spAutoFit/>
          </a:bodyPr>
          <a:lstStyle/>
          <a:p>
            <a:pPr algn="l"/>
            <a:r>
              <a:rPr sz="1000" b="0" i="0">
                <a:solidFill>
                  <a:srgbClr val="6B6690"/>
                </a:solidFill>
                <a:latin typeface="Calibri"/>
              </a:rPr>
              <a:t>Before the action, in plain sight.</a:t>
            </a:r>
          </a:p>
        </p:txBody>
      </p:sp>
      <p:sp>
        <p:nvSpPr>
          <p:cNvPr id="31" name="TextBox 30"/>
          <p:cNvSpPr txBox="1"/>
          <p:nvPr/>
        </p:nvSpPr>
        <p:spPr>
          <a:xfrm>
            <a:off x="9015755" y="3901440"/>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SENTENCE 4</a:t>
            </a:r>
          </a:p>
        </p:txBody>
      </p:sp>
      <p:sp>
        <p:nvSpPr>
          <p:cNvPr id="32" name="Oval 31"/>
          <p:cNvSpPr/>
          <p:nvPr/>
        </p:nvSpPr>
        <p:spPr>
          <a:xfrm>
            <a:off x="10237965" y="4376928"/>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788408"/>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4934712"/>
            <a:ext cx="2316403" cy="251205"/>
          </a:xfrm>
          <a:prstGeom prst="rect">
            <a:avLst/>
          </a:prstGeom>
          <a:noFill/>
        </p:spPr>
        <p:txBody>
          <a:bodyPr wrap="square" anchor="t" lIns="0" rIns="0" tIns="0" bIns="0">
            <a:spAutoFit/>
          </a:bodyPr>
          <a:lstStyle/>
          <a:p>
            <a:pPr algn="l"/>
            <a:r>
              <a:rPr sz="1300" b="1" i="0">
                <a:solidFill>
                  <a:srgbClr val="1A0F5C"/>
                </a:solidFill>
                <a:latin typeface="Calibri"/>
              </a:rPr>
              <a:t>The action and its cost</a:t>
            </a:r>
          </a:p>
        </p:txBody>
      </p:sp>
      <p:sp>
        <p:nvSpPr>
          <p:cNvPr id="35" name="TextBox 34"/>
          <p:cNvSpPr txBox="1"/>
          <p:nvPr/>
        </p:nvSpPr>
        <p:spPr>
          <a:xfrm>
            <a:off x="9180347" y="5222494"/>
            <a:ext cx="2316403" cy="366776"/>
          </a:xfrm>
          <a:prstGeom prst="rect">
            <a:avLst/>
          </a:prstGeom>
          <a:noFill/>
        </p:spPr>
        <p:txBody>
          <a:bodyPr wrap="square" anchor="t" lIns="0" rIns="0" tIns="0" bIns="0">
            <a:spAutoFit/>
          </a:bodyPr>
          <a:lstStyle/>
          <a:p>
            <a:pPr algn="l"/>
            <a:r>
              <a:rPr sz="1000" b="0" i="0">
                <a:solidFill>
                  <a:srgbClr val="6B6690"/>
                </a:solidFill>
                <a:latin typeface="Calibri"/>
              </a:rPr>
              <a:t>The saving over six weeks, and who signs.</a:t>
            </a:r>
          </a:p>
        </p:txBody>
      </p:sp>
      <p:sp>
        <p:nvSpPr>
          <p:cNvPr id="36" name="Oval 3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38" name="Oval 37"/>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40" name="Oval 39"/>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42" name="Oval 41"/>
          <p:cNvSpPr/>
          <p:nvPr/>
        </p:nvSpPr>
        <p:spPr>
          <a:xfrm>
            <a:off x="49931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10292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goes on one page?</a:t>
            </a:r>
          </a:p>
        </p:txBody>
      </p:sp>
      <p:sp>
        <p:nvSpPr>
          <p:cNvPr id="44" name="Oval 43"/>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46" name="TextBox 4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S83  ·  33 / 44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brief: one page, four parts, in sentences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must the page do in the first two minutes of reading?</a:t>
            </a:r>
          </a:p>
        </p:txBody>
      </p:sp>
      <p:sp>
        <p:nvSpPr>
          <p:cNvPr id="9" name="Rounded Rectangle 8"/>
          <p:cNvSpPr/>
          <p:nvPr/>
        </p:nvSpPr>
        <p:spPr>
          <a:xfrm>
            <a:off x="530352" y="1956816"/>
            <a:ext cx="2645587" cy="238556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target_975d45d39ce7.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FIRST SENTENCE</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claim</a:t>
            </a:r>
          </a:p>
        </p:txBody>
      </p:sp>
      <p:sp>
        <p:nvSpPr>
          <p:cNvPr id="14" name="TextBox 13"/>
          <p:cNvSpPr txBox="1"/>
          <p:nvPr/>
        </p:nvSpPr>
        <p:spPr>
          <a:xfrm>
            <a:off x="731519"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What the city head should believe, in words a driver would follow</a:t>
            </a:r>
          </a:p>
        </p:txBody>
      </p:sp>
      <p:sp>
        <p:nvSpPr>
          <p:cNvPr id="15" name="Rounded Rectangle 14"/>
          <p:cNvSpPr/>
          <p:nvPr/>
        </p:nvSpPr>
        <p:spPr>
          <a:xfrm>
            <a:off x="3358819" y="1956816"/>
            <a:ext cx="2645587" cy="238556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hash_29aa8cda0b59.png"/>
          <p:cNvPicPr>
            <a:picLocks noChangeAspect="1"/>
          </p:cNvPicPr>
          <p:nvPr/>
        </p:nvPicPr>
        <p:blipFill>
          <a:blip r:embed="rId5"/>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SECOND</a:t>
            </a:r>
          </a:p>
        </p:txBody>
      </p:sp>
      <p:sp>
        <p:nvSpPr>
          <p:cNvPr id="19" name="TextBox 18"/>
          <p:cNvSpPr txBox="1"/>
          <p:nvPr/>
        </p:nvSpPr>
        <p:spPr>
          <a:xfrm>
            <a:off x="3559987"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One number, and what it is divided by</a:t>
            </a:r>
          </a:p>
        </p:txBody>
      </p:sp>
      <p:sp>
        <p:nvSpPr>
          <p:cNvPr id="20" name="TextBox 19"/>
          <p:cNvSpPr txBox="1"/>
          <p:nvPr/>
        </p:nvSpPr>
        <p:spPr>
          <a:xfrm>
            <a:off x="3559987" y="3534664"/>
            <a:ext cx="2243251" cy="581406"/>
          </a:xfrm>
          <a:prstGeom prst="rect">
            <a:avLst/>
          </a:prstGeom>
          <a:noFill/>
        </p:spPr>
        <p:txBody>
          <a:bodyPr wrap="square" anchor="t" lIns="0" rIns="0" tIns="0" bIns="0">
            <a:spAutoFit/>
          </a:bodyPr>
          <a:lstStyle/>
          <a:p>
            <a:pPr algn="l"/>
            <a:r>
              <a:rPr sz="1100" b="0" i="0">
                <a:solidFill>
                  <a:srgbClr val="6B6690"/>
                </a:solidFill>
                <a:latin typeface="Calibri"/>
              </a:rPr>
              <a:t>The rupees per peak online hour, before and after, with the window</a:t>
            </a:r>
          </a:p>
        </p:txBody>
      </p:sp>
      <p:sp>
        <p:nvSpPr>
          <p:cNvPr id="21" name="Rounded Rectangle 20"/>
          <p:cNvSpPr/>
          <p:nvPr/>
        </p:nvSpPr>
        <p:spPr>
          <a:xfrm>
            <a:off x="6187287" y="1956816"/>
            <a:ext cx="2645587" cy="238556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triangle-alert_5ac49fc6abbb.png"/>
          <p:cNvPicPr>
            <a:picLocks noChangeAspect="1"/>
          </p:cNvPicPr>
          <p:nvPr/>
        </p:nvPicPr>
        <p:blipFill>
          <a:blip r:embed="rId6"/>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THIRD</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caveat</a:t>
            </a:r>
          </a:p>
        </p:txBody>
      </p:sp>
      <p:sp>
        <p:nvSpPr>
          <p:cNvPr id="26" name="TextBox 25"/>
          <p:cNvSpPr txBox="1"/>
          <p:nvPr/>
        </p:nvSpPr>
        <p:spPr>
          <a:xfrm>
            <a:off x="6388455"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Before the action, so the reader meets the doubt before the cost</a:t>
            </a:r>
          </a:p>
        </p:txBody>
      </p:sp>
      <p:sp>
        <p:nvSpPr>
          <p:cNvPr id="27" name="Rounded Rectangle 26"/>
          <p:cNvSpPr/>
          <p:nvPr/>
        </p:nvSpPr>
        <p:spPr>
          <a:xfrm>
            <a:off x="9015755" y="1956816"/>
            <a:ext cx="2645587" cy="238556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circle-check_5bfb0e0fcdf2.png"/>
          <p:cNvPicPr>
            <a:picLocks noChangeAspect="1"/>
          </p:cNvPicPr>
          <p:nvPr/>
        </p:nvPicPr>
        <p:blipFill>
          <a:blip r:embed="rId7"/>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LAST</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action and its cost</a:t>
            </a:r>
          </a:p>
        </p:txBody>
      </p:sp>
      <p:sp>
        <p:nvSpPr>
          <p:cNvPr id="32" name="TextBox 31"/>
          <p:cNvSpPr txBox="1"/>
          <p:nvPr/>
        </p:nvSpPr>
        <p:spPr>
          <a:xfrm>
            <a:off x="9216923"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What to do, the saving in rupees over weeks, who signs</a:t>
            </a:r>
          </a:p>
        </p:txBody>
      </p:sp>
      <p:sp>
        <p:nvSpPr>
          <p:cNvPr id="33" name="TextBox 32"/>
          <p:cNvSpPr txBox="1"/>
          <p:nvPr/>
        </p:nvSpPr>
        <p:spPr>
          <a:xfrm>
            <a:off x="530352" y="4525264"/>
            <a:ext cx="11130991" cy="1324864"/>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The reader</a:t>
            </a:r>
            <a:r>
              <a:rPr sz="1600" b="0" i="0">
                <a:solidFill>
                  <a:srgbClr val="1A1440"/>
                </a:solidFill>
                <a:latin typeface="Calibri"/>
              </a:rPr>
              <a:t> is the city head, with the three roles reading over a shoulder: finance reads rupees, driver operations reads drivers, marketing reads sign-ups. Method words a non-technical reader would not know (denominator, index, guardrail, north star) stay off the page; say what each means instead. These are S69's five rules, unchanged.</a:t>
            </a:r>
          </a:p>
        </p:txBody>
      </p:sp>
      <p:sp>
        <p:nvSpPr>
          <p:cNvPr id="34" name="Oval 3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36" name="Oval 35"/>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38" name="Oval 37"/>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40" name="Oval 39"/>
          <p:cNvSpPr/>
          <p:nvPr/>
        </p:nvSpPr>
        <p:spPr>
          <a:xfrm>
            <a:off x="49931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510292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goes on one page?</a:t>
            </a:r>
          </a:p>
        </p:txBody>
      </p:sp>
      <p:sp>
        <p:nvSpPr>
          <p:cNvPr id="42" name="Oval 41"/>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44" name="TextBox 4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S84  ·  34 / 44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Thirty-five minutes, on paper, alone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are the rules for the written case?</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On one sheet, by hand. </a:t>
            </a:r>
            <a:r>
              <a:rPr sz="1500" b="0" i="0">
                <a:solidFill>
                  <a:srgbClr val="1A1440"/>
                </a:solidFill>
                <a:latin typeface="Calibri"/>
              </a:rPr>
              <a:t>Laptops and phones stay closed, so the page is your own thinking. Write the page; then read it once as the finance partner would and fix the sentence they would attack.</a:t>
            </a:r>
          </a:p>
        </p:txBody>
      </p:sp>
      <p:sp>
        <p:nvSpPr>
          <p:cNvPr id="12" name="TextBox 11"/>
          <p:cNvSpPr txBox="1"/>
          <p:nvPr/>
        </p:nvSpPr>
        <p:spPr>
          <a:xfrm>
            <a:off x="530352" y="2929128"/>
            <a:ext cx="11130991" cy="772160"/>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At the end of the slot the page is handed in.</a:t>
            </a:r>
            <a:r>
              <a:rPr sz="1600" b="0" i="0">
                <a:solidFill>
                  <a:srgbClr val="1A1440"/>
                </a:solidFill>
                <a:latin typeface="Calibri"/>
              </a:rPr>
              <a:t> Three pages, chosen for one strong part each, are read aloud at the close if the clock allows.</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7" name="Oval 16"/>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19" name="Oval 18"/>
          <p:cNvSpPr/>
          <p:nvPr/>
        </p:nvSpPr>
        <p:spPr>
          <a:xfrm>
            <a:off x="49931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goes on one page?</a:t>
            </a:r>
          </a:p>
        </p:txBody>
      </p:sp>
      <p:sp>
        <p:nvSpPr>
          <p:cNvPr id="21" name="Oval 20"/>
          <p:cNvSpPr/>
          <p:nvPr/>
        </p:nvSpPr>
        <p:spPr>
          <a:xfrm>
            <a:off x="64808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90538"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it sound like?</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S85  ·  35 / 44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10</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The interview room, with the one-slide answer and the guesstimate spoken</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does it sound like?</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The interview room: the morning's slide and the afternoon's estimate as an interviewer hears them, a weak and a hire-grade answer side by side.</a:t>
            </a:r>
          </a:p>
        </p:txBody>
      </p:sp>
      <p:sp>
        <p:nvSpPr>
          <p:cNvPr id="11" name="Rounded Rectangle 10"/>
          <p:cNvSpPr/>
          <p:nvPr/>
        </p:nvSpPr>
        <p:spPr>
          <a:xfrm>
            <a:off x="73151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big is an unknown?</a:t>
            </a:r>
          </a:p>
        </p:txBody>
      </p:sp>
      <p:sp>
        <p:nvSpPr>
          <p:cNvPr id="12" name="Rounded Rectangle 11"/>
          <p:cNvSpPr/>
          <p:nvPr/>
        </p:nvSpPr>
        <p:spPr>
          <a:xfrm>
            <a:off x="2509759"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must a page carry?</a:t>
            </a:r>
          </a:p>
        </p:txBody>
      </p:sp>
      <p:sp>
        <p:nvSpPr>
          <p:cNvPr id="13" name="Rounded Rectangle 12"/>
          <p:cNvSpPr/>
          <p:nvPr/>
        </p:nvSpPr>
        <p:spPr>
          <a:xfrm>
            <a:off x="4347214"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How many at the peak?</a:t>
            </a:r>
          </a:p>
        </p:txBody>
      </p:sp>
      <p:sp>
        <p:nvSpPr>
          <p:cNvPr id="14" name="Rounded Rectangle 13"/>
          <p:cNvSpPr/>
          <p:nvPr/>
        </p:nvSpPr>
        <p:spPr>
          <a:xfrm>
            <a:off x="6066238"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goes on one page?</a:t>
            </a:r>
          </a:p>
        </p:txBody>
      </p:sp>
      <p:sp>
        <p:nvSpPr>
          <p:cNvPr id="15" name="Rounded Rectangle 14"/>
          <p:cNvSpPr/>
          <p:nvPr/>
        </p:nvSpPr>
        <p:spPr>
          <a:xfrm>
            <a:off x="7844477" y="5074920"/>
            <a:ext cx="178694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does it sound like?</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2. How many drivers does the evening peak need, and can you say it on one page?</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36 / 44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interview room applies chapters 1, 3 and 6</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939798"/>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67814"/>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58670"/>
            <a:ext cx="10564063" cy="891540"/>
          </a:xfrm>
          <a:prstGeom prst="rect">
            <a:avLst/>
          </a:prstGeom>
          <a:noFill/>
        </p:spPr>
        <p:txBody>
          <a:bodyPr wrap="square" anchor="ctr" lIns="0" rIns="0" tIns="0" bIns="0">
            <a:spAutoFit/>
          </a:bodyPr>
          <a:lstStyle/>
          <a:p>
            <a:r>
              <a:rPr sz="1500" b="1">
                <a:solidFill>
                  <a:srgbClr val="5B3FD6"/>
                </a:solidFill>
                <a:latin typeface="Calibri"/>
              </a:rPr>
              <a:t>Applies: </a:t>
            </a:r>
            <a:r>
              <a:rPr sz="1500" b="0" i="0">
                <a:solidFill>
                  <a:srgbClr val="1A1440"/>
                </a:solidFill>
                <a:latin typeface="Calibri"/>
              </a:rPr>
              <a:t>The one-slide answer: claim, evidence, caveat, action (chapter 1); Defending under challenge: restate, answer, concede, what would change your mind (chapter 3); The guesstimate: clarify, map, calculate, validate (chapter 6).</a:t>
            </a:r>
          </a:p>
        </p:txBody>
      </p:sp>
      <p:sp>
        <p:nvSpPr>
          <p:cNvPr id="12" name="Rounded Rectangle 11"/>
          <p:cNvSpPr/>
          <p:nvPr/>
        </p:nvSpPr>
        <p:spPr>
          <a:xfrm>
            <a:off x="530352" y="317881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330682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3297682"/>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You, in a screen that asks for a two-minute recommendation or a number from nothing, with an interviewer listening for the structure before the number.</a:t>
            </a:r>
          </a:p>
        </p:txBody>
      </p:sp>
      <p:sp>
        <p:nvSpPr>
          <p:cNvPr id="15" name="Rectangle 14"/>
          <p:cNvSpPr/>
          <p:nvPr/>
        </p:nvSpPr>
        <p:spPr>
          <a:xfrm>
            <a:off x="2324557" y="4718049"/>
            <a:ext cx="7542580"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4151121"/>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TRANSCRIPT 1</a:t>
            </a:r>
          </a:p>
        </p:txBody>
      </p:sp>
      <p:sp>
        <p:nvSpPr>
          <p:cNvPr id="17" name="Oval 16"/>
          <p:cNvSpPr/>
          <p:nvPr/>
        </p:nvSpPr>
        <p:spPr>
          <a:xfrm>
            <a:off x="2223973" y="462660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5038089"/>
            <a:ext cx="3588410"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5184393"/>
            <a:ext cx="3259226" cy="251205"/>
          </a:xfrm>
          <a:prstGeom prst="rect">
            <a:avLst/>
          </a:prstGeom>
          <a:noFill/>
        </p:spPr>
        <p:txBody>
          <a:bodyPr wrap="square" anchor="t" lIns="0" rIns="0" tIns="0" bIns="0">
            <a:spAutoFit/>
          </a:bodyPr>
          <a:lstStyle/>
          <a:p>
            <a:pPr algn="l"/>
            <a:r>
              <a:rPr sz="1300" b="1" i="0">
                <a:solidFill>
                  <a:srgbClr val="1A0F5C"/>
                </a:solidFill>
                <a:latin typeface="Calibri"/>
              </a:rPr>
              <a:t>The two-minute recommendation</a:t>
            </a:r>
          </a:p>
        </p:txBody>
      </p:sp>
      <p:sp>
        <p:nvSpPr>
          <p:cNvPr id="20" name="TextBox 19"/>
          <p:cNvSpPr txBox="1"/>
          <p:nvPr/>
        </p:nvSpPr>
        <p:spPr>
          <a:xfrm>
            <a:off x="694944" y="5472176"/>
            <a:ext cx="3259226" cy="201676"/>
          </a:xfrm>
          <a:prstGeom prst="rect">
            <a:avLst/>
          </a:prstGeom>
          <a:noFill/>
        </p:spPr>
        <p:txBody>
          <a:bodyPr wrap="square" anchor="t" lIns="0" rIns="0" tIns="0" bIns="0">
            <a:spAutoFit/>
          </a:bodyPr>
          <a:lstStyle/>
          <a:p>
            <a:pPr algn="l"/>
            <a:r>
              <a:rPr sz="1000" b="0" i="0">
                <a:solidFill>
                  <a:srgbClr val="6B6690"/>
                </a:solidFill>
                <a:latin typeface="Calibri"/>
              </a:rPr>
              <a:t>Read in pairs, scored live.</a:t>
            </a:r>
          </a:p>
        </p:txBody>
      </p:sp>
      <p:sp>
        <p:nvSpPr>
          <p:cNvPr id="21" name="TextBox 20"/>
          <p:cNvSpPr txBox="1"/>
          <p:nvPr/>
        </p:nvSpPr>
        <p:spPr>
          <a:xfrm>
            <a:off x="4301642" y="4151121"/>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TRANSCRIPT 2</a:t>
            </a:r>
          </a:p>
        </p:txBody>
      </p:sp>
      <p:sp>
        <p:nvSpPr>
          <p:cNvPr id="22" name="Oval 21"/>
          <p:cNvSpPr/>
          <p:nvPr/>
        </p:nvSpPr>
        <p:spPr>
          <a:xfrm>
            <a:off x="5995263" y="462660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4301642" y="5038089"/>
            <a:ext cx="3588410"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466234" y="5184393"/>
            <a:ext cx="3259226" cy="251205"/>
          </a:xfrm>
          <a:prstGeom prst="rect">
            <a:avLst/>
          </a:prstGeom>
          <a:noFill/>
        </p:spPr>
        <p:txBody>
          <a:bodyPr wrap="square" anchor="t" lIns="0" rIns="0" tIns="0" bIns="0">
            <a:spAutoFit/>
          </a:bodyPr>
          <a:lstStyle/>
          <a:p>
            <a:pPr algn="l"/>
            <a:r>
              <a:rPr sz="1300" b="1" i="0">
                <a:solidFill>
                  <a:srgbClr val="1A0F5C"/>
                </a:solidFill>
                <a:latin typeface="Calibri"/>
              </a:rPr>
              <a:t>Drivers at the evening peak</a:t>
            </a:r>
          </a:p>
        </p:txBody>
      </p:sp>
      <p:sp>
        <p:nvSpPr>
          <p:cNvPr id="25" name="TextBox 24"/>
          <p:cNvSpPr txBox="1"/>
          <p:nvPr/>
        </p:nvSpPr>
        <p:spPr>
          <a:xfrm>
            <a:off x="4466234" y="5472176"/>
            <a:ext cx="3259226" cy="201676"/>
          </a:xfrm>
          <a:prstGeom prst="rect">
            <a:avLst/>
          </a:prstGeom>
          <a:noFill/>
        </p:spPr>
        <p:txBody>
          <a:bodyPr wrap="square" anchor="t" lIns="0" rIns="0" tIns="0" bIns="0">
            <a:spAutoFit/>
          </a:bodyPr>
          <a:lstStyle/>
          <a:p>
            <a:pPr algn="l"/>
            <a:r>
              <a:rPr sz="1000" b="0" i="0">
                <a:solidFill>
                  <a:srgbClr val="6B6690"/>
                </a:solidFill>
                <a:latin typeface="Calibri"/>
              </a:rPr>
              <a:t>Self-study, with the scorecard.</a:t>
            </a:r>
          </a:p>
        </p:txBody>
      </p:sp>
      <p:sp>
        <p:nvSpPr>
          <p:cNvPr id="26" name="TextBox 25"/>
          <p:cNvSpPr txBox="1"/>
          <p:nvPr/>
        </p:nvSpPr>
        <p:spPr>
          <a:xfrm>
            <a:off x="8072932" y="4151121"/>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TRANSCRIPT 3</a:t>
            </a:r>
          </a:p>
        </p:txBody>
      </p:sp>
      <p:sp>
        <p:nvSpPr>
          <p:cNvPr id="27" name="Oval 26"/>
          <p:cNvSpPr/>
          <p:nvPr/>
        </p:nvSpPr>
        <p:spPr>
          <a:xfrm>
            <a:off x="9766554" y="462660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8072932" y="5038089"/>
            <a:ext cx="3588410"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237524" y="5184393"/>
            <a:ext cx="3259226" cy="251205"/>
          </a:xfrm>
          <a:prstGeom prst="rect">
            <a:avLst/>
          </a:prstGeom>
          <a:noFill/>
        </p:spPr>
        <p:txBody>
          <a:bodyPr wrap="square" anchor="t" lIns="0" rIns="0" tIns="0" bIns="0">
            <a:spAutoFit/>
          </a:bodyPr>
          <a:lstStyle/>
          <a:p>
            <a:pPr algn="l"/>
            <a:r>
              <a:rPr sz="1300" b="1" i="0">
                <a:solidFill>
                  <a:srgbClr val="1A0F5C"/>
                </a:solidFill>
                <a:latin typeface="Calibri"/>
              </a:rPr>
              <a:t>The AI-company variant</a:t>
            </a:r>
          </a:p>
        </p:txBody>
      </p:sp>
      <p:sp>
        <p:nvSpPr>
          <p:cNvPr id="30" name="TextBox 29"/>
          <p:cNvSpPr txBox="1"/>
          <p:nvPr/>
        </p:nvSpPr>
        <p:spPr>
          <a:xfrm>
            <a:off x="8237524" y="5472176"/>
            <a:ext cx="3259226" cy="201676"/>
          </a:xfrm>
          <a:prstGeom prst="rect">
            <a:avLst/>
          </a:prstGeom>
          <a:noFill/>
        </p:spPr>
        <p:txBody>
          <a:bodyPr wrap="square" anchor="t" lIns="0" rIns="0" tIns="0" bIns="0">
            <a:spAutoFit/>
          </a:bodyPr>
          <a:lstStyle/>
          <a:p>
            <a:pPr algn="l"/>
            <a:r>
              <a:rPr sz="1000" b="0" i="0">
                <a:solidFill>
                  <a:srgbClr val="6B6690"/>
                </a:solidFill>
                <a:latin typeface="Calibri"/>
              </a:rPr>
              <a:t>Self-study: acceptance rate in a sales deck.</a:t>
            </a:r>
          </a:p>
        </p:txBody>
      </p:sp>
      <p:sp>
        <p:nvSpPr>
          <p:cNvPr id="31" name="Oval 3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33" name="Oval 32"/>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35" name="Oval 34"/>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37" name="Oval 36"/>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39" name="Oval 38"/>
          <p:cNvSpPr/>
          <p:nvPr/>
        </p:nvSpPr>
        <p:spPr>
          <a:xfrm>
            <a:off x="64808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590538"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it sound like?</a:t>
            </a:r>
          </a:p>
        </p:txBody>
      </p:sp>
      <p:sp>
        <p:nvSpPr>
          <p:cNvPr id="41" name="TextBox 4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S86  ·  37 / 44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Transcript 1: two openings, side by side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"Present this recommendation to a non-technical leader in two minutes." How do the first lines differ?</a:t>
            </a:r>
          </a:p>
        </p:txBody>
      </p:sp>
      <p:graphicFrame>
        <p:nvGraphicFramePr>
          <p:cNvPr id="9" name="Table 8"/>
          <p:cNvGraphicFramePr>
            <a:graphicFrameLocks noGrp="1"/>
          </p:cNvGraphicFramePr>
          <p:nvPr/>
        </p:nvGraphicFramePr>
        <p:xfrm>
          <a:off x="530352" y="1956816"/>
          <a:ext cx="11130990" cy="2328672"/>
        </p:xfrm>
        <a:graphic>
          <a:graphicData uri="http://schemas.openxmlformats.org/drawingml/2006/table">
            <a:tbl>
              <a:tblPr firstRow="0" bandRow="0">
                <a:tableStyleId>{2D5ABB26-0587-4C30-8999-92F81FD0307C}</a:tableStyleId>
              </a:tblPr>
              <a:tblGrid>
                <a:gridCol w="5565495"/>
                <a:gridCol w="5565495"/>
              </a:tblGrid>
              <a:tr h="335280">
                <a:tc>
                  <a:txBody>
                    <a:bodyPr/>
                    <a:lstStyle/>
                    <a:p>
                      <a:r>
                        <a:rPr sz="1250" b="1" i="0">
                          <a:solidFill>
                            <a:srgbClr val="FFFFFF"/>
                          </a:solidFill>
                          <a:latin typeface="Calibri"/>
                        </a:rPr>
                        <a:t>A weak opening</a:t>
                      </a:r>
                    </a:p>
                  </a:txBody>
                  <a:tcPr marL="101600" marR="101600" marT="38100" marB="38100" anchor="ctr">
                    <a:solidFill>
                      <a:srgbClr val="1A0F5C"/>
                    </a:solidFill>
                  </a:tcPr>
                </a:tc>
                <a:tc>
                  <a:txBody>
                    <a:bodyPr/>
                    <a:lstStyle/>
                    <a:p>
                      <a:r>
                        <a:rPr sz="1250" b="1" i="0">
                          <a:solidFill>
                            <a:srgbClr val="FFFFFF"/>
                          </a:solidFill>
                          <a:latin typeface="Calibri"/>
                        </a:rPr>
                        <a:t>A hire-grade opening</a:t>
                      </a:r>
                    </a:p>
                  </a:txBody>
                  <a:tcPr marL="101600" marR="101600" marT="38100" marB="38100" anchor="ctr">
                    <a:solidFill>
                      <a:srgbClr val="1A0F5C"/>
                    </a:solidFill>
                  </a:tcPr>
                </a:tc>
              </a:tr>
              <a:tr h="1993392">
                <a:tc>
                  <a:txBody>
                    <a:bodyPr/>
                    <a:lstStyle/>
                    <a:p>
                      <a:r>
                        <a:rPr sz="1200" b="0" i="0">
                          <a:solidFill>
                            <a:srgbClr val="1A1440"/>
                          </a:solidFill>
                          <a:latin typeface="Calibri"/>
                        </a:rPr>
                        <a:t>"So I looked at the dashboard. Online hours are up 24 percent, trips are up 3 percent, trips per hour went from 1.90 to 1.58, acceptance fell, and bookings per driver-week is actually up, so it is mixed."</a:t>
                      </a:r>
                    </a:p>
                  </a:txBody>
                  <a:tcPr marL="101600" marR="101600" marT="38100" marB="38100" anchor="ctr">
                    <a:solidFill>
                      <a:srgbClr val="FFFFFF"/>
                    </a:solidFill>
                  </a:tcPr>
                </a:tc>
                <a:tc>
                  <a:txBody>
                    <a:bodyPr/>
                    <a:lstStyle/>
                    <a:p>
                      <a:r>
                        <a:rPr sz="1200" b="0" i="0">
                          <a:solidFill>
                            <a:srgbClr val="1A1440"/>
                          </a:solidFill>
                          <a:latin typeface="Calibri"/>
                        </a:rPr>
                        <a:t>"You are deciding whether to keep, end or change the guarantee. It is paying for online hours that carry no trips: an hour online brought in Rs 314 of fares and now brings in Rs 260 at the same fare, while the median wait barely moved, 4.8 to 4.6 minutes. Part of the fall may be the monsoon. Test paying per completed trip with an acceptance floor on half the drivers, picked at random, for six weeks, at a per-trip rate fixed first; rolled out to every enrolled driver it saves Rs 58 lakh to Rs 92.7 lakh over six weeks if a half to a fifth of the idle top-up is still paid. You sign the test."</a:t>
                      </a:r>
                    </a:p>
                  </a:txBody>
                  <a:tcPr marL="101600" marR="101600" marT="38100" marB="38100" anchor="ctr">
                    <a:solidFill>
                      <a:srgbClr val="FFFFFF"/>
                    </a:solidFill>
                  </a:tcPr>
                </a:tc>
              </a:tr>
            </a:tbl>
          </a:graphicData>
        </a:graphic>
      </p:graphicFrame>
      <p:sp>
        <p:nvSpPr>
          <p:cNvPr id="10" name="Rounded Rectangle 9"/>
          <p:cNvSpPr/>
          <p:nvPr/>
        </p:nvSpPr>
        <p:spPr>
          <a:xfrm>
            <a:off x="530352" y="4541520"/>
            <a:ext cx="11130991" cy="73660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669536"/>
            <a:ext cx="45720" cy="48056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660392"/>
            <a:ext cx="10564063" cy="553720"/>
          </a:xfrm>
          <a:prstGeom prst="rect">
            <a:avLst/>
          </a:prstGeom>
          <a:noFill/>
        </p:spPr>
        <p:txBody>
          <a:bodyPr wrap="square" anchor="ctr" lIns="0" rIns="0" tIns="0" bIns="0">
            <a:spAutoFit/>
          </a:bodyPr>
          <a:lstStyle/>
          <a:p>
            <a:r>
              <a:rPr sz="1300" b="1">
                <a:solidFill>
                  <a:srgbClr val="5B3FD6"/>
                </a:solidFill>
                <a:latin typeface="Calibri"/>
              </a:rPr>
              <a:t>The follow-ups: </a:t>
            </a:r>
            <a:r>
              <a:rPr sz="1300" b="0" i="0">
                <a:solidFill>
                  <a:srgbClr val="1A1440"/>
                </a:solidFill>
                <a:latin typeface="Calibri"/>
              </a:rPr>
              <a:t>which denominator did you choose, and what would make you choose another; test or rollout, and how do you stop drivers moving into the zones you treat; the finance partner says it is the monsoon, so answer in under a minute.</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7" name="Oval 16"/>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19" name="Oval 18"/>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1" name="Oval 20"/>
          <p:cNvSpPr/>
          <p:nvPr/>
        </p:nvSpPr>
        <p:spPr>
          <a:xfrm>
            <a:off x="64808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90538"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it sound like?</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S87  ·  38 / 44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Transcript 2: the drivers estimate, two answers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many drivers must be online at the evening peak in a city?" What does each answer do first?</a:t>
            </a:r>
          </a:p>
        </p:txBody>
      </p:sp>
      <p:graphicFrame>
        <p:nvGraphicFramePr>
          <p:cNvPr id="10" name="Table 9"/>
          <p:cNvGraphicFramePr>
            <a:graphicFrameLocks noGrp="1"/>
          </p:cNvGraphicFramePr>
          <p:nvPr/>
        </p:nvGraphicFramePr>
        <p:xfrm>
          <a:off x="530352" y="1956816"/>
          <a:ext cx="11130990" cy="2535936"/>
        </p:xfrm>
        <a:graphic>
          <a:graphicData uri="http://schemas.openxmlformats.org/drawingml/2006/table">
            <a:tbl>
              <a:tblPr firstRow="0" bandRow="0">
                <a:tableStyleId>{2D5ABB26-0587-4C30-8999-92F81FD0307C}</a:tableStyleId>
              </a:tblPr>
              <a:tblGrid>
                <a:gridCol w="5565495"/>
                <a:gridCol w="5565495"/>
              </a:tblGrid>
              <a:tr h="335280">
                <a:tc>
                  <a:txBody>
                    <a:bodyPr/>
                    <a:lstStyle/>
                    <a:p>
                      <a:r>
                        <a:rPr sz="1250" b="1" i="0">
                          <a:solidFill>
                            <a:srgbClr val="FFFFFF"/>
                          </a:solidFill>
                          <a:latin typeface="Calibri"/>
                        </a:rPr>
                        <a:t>A weak answer</a:t>
                      </a:r>
                    </a:p>
                  </a:txBody>
                  <a:tcPr marL="101600" marR="101600" marT="38100" marB="38100" anchor="ctr">
                    <a:solidFill>
                      <a:srgbClr val="1A0F5C"/>
                    </a:solidFill>
                  </a:tcPr>
                </a:tc>
                <a:tc>
                  <a:txBody>
                    <a:bodyPr/>
                    <a:lstStyle/>
                    <a:p>
                      <a:r>
                        <a:rPr sz="1250" b="1" i="0">
                          <a:solidFill>
                            <a:srgbClr val="FFFFFF"/>
                          </a:solidFill>
                          <a:latin typeface="Calibri"/>
                        </a:rPr>
                        <a:t>A hire-grade answer</a:t>
                      </a:r>
                    </a:p>
                  </a:txBody>
                  <a:tcPr marL="101600" marR="101600" marT="38100" marB="38100" anchor="ctr">
                    <a:solidFill>
                      <a:srgbClr val="1A0F5C"/>
                    </a:solidFill>
                  </a:tcPr>
                </a:tc>
              </a:tr>
              <a:tr h="2200656">
                <a:tc>
                  <a:txBody>
                    <a:bodyPr/>
                    <a:lstStyle/>
                    <a:p>
                      <a:r>
                        <a:rPr sz="1200" b="0" i="0">
                          <a:solidFill>
                            <a:srgbClr val="1A1440"/>
                          </a:solidFill>
                          <a:latin typeface="Calibri"/>
                        </a:rPr>
                        <a:t>"About 1 crore people, 1 percent ride, so 1 lakh trips. A driver does 2.4 trips an hour, so about 41,700 drivers."</a:t>
                      </a:r>
                    </a:p>
                  </a:txBody>
                  <a:tcPr marL="101600" marR="101600" marT="38100" marB="38100" anchor="ctr">
                    <a:solidFill>
                      <a:srgbClr val="FFFFFF"/>
                    </a:solidFill>
                  </a:tcPr>
                </a:tc>
                <a:tc>
                  <a:txBody>
                    <a:bodyPr/>
                    <a:lstStyle/>
                    <a:p>
                      <a:r>
                        <a:rPr sz="1200" b="0" i="0">
                          <a:solidFill>
                            <a:srgbClr val="1A1440"/>
                          </a:solidFill>
                          <a:latin typeface="Calibri"/>
                        </a:rPr>
                        <a:t>"One moment of the three-hour weekday evening peak, one product, the city's median wait under five minutes, the outer zones sized on their own. Drivers online is trips an hour divided by the trips one online driver completes in an hour, times a buffer: 8,330 / 1.68 x 1.15, about 5,700, more if many drivers run two apps; trips per person moves it most, 2,900 to 8,600. Like for like, the case's 0.53 driver-hours per trip, pooled over both daily peaks, against my 0.60 says I run an eighth high: about 5,000 to 5,700 where the routes agree, inside the wider range, and each thousand idle drivers costs up to Rs 9 lakh an evening at the floor."</a:t>
                      </a:r>
                    </a:p>
                  </a:txBody>
                  <a:tcPr marL="101600" marR="101600" marT="38100" marB="38100" anchor="ctr">
                    <a:solidFill>
                      <a:srgbClr val="FFFFFF"/>
                    </a:solidFill>
                  </a:tcPr>
                </a:tc>
              </a:tr>
            </a:tbl>
          </a:graphicData>
        </a:graphic>
      </p:graphicFrame>
      <p:sp>
        <p:nvSpPr>
          <p:cNvPr id="11" name="Rounded Rectangle 10"/>
          <p:cNvSpPr/>
          <p:nvPr/>
        </p:nvSpPr>
        <p:spPr>
          <a:xfrm>
            <a:off x="530352" y="4748784"/>
            <a:ext cx="11130991" cy="73660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4876800"/>
            <a:ext cx="45720" cy="48056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4867656"/>
            <a:ext cx="10564063" cy="553720"/>
          </a:xfrm>
          <a:prstGeom prst="rect">
            <a:avLst/>
          </a:prstGeom>
          <a:noFill/>
        </p:spPr>
        <p:txBody>
          <a:bodyPr wrap="square" anchor="ctr" lIns="0" rIns="0" tIns="0" bIns="0">
            <a:spAutoFit/>
          </a:bodyPr>
          <a:lstStyle/>
          <a:p>
            <a:r>
              <a:rPr sz="1300" b="1">
                <a:solidFill>
                  <a:srgbClr val="5B3FD6"/>
                </a:solidFill>
                <a:latin typeface="Calibri"/>
              </a:rPr>
              <a:t>The follow-ups: </a:t>
            </a:r>
            <a:r>
              <a:rPr sz="1300" b="0" i="0">
                <a:solidFill>
                  <a:srgbClr val="1A1440"/>
                </a:solidFill>
                <a:latin typeface="Calibri"/>
              </a:rPr>
              <a:t>your idle share is a guess, so which number in the case data would catch it; the window is three hours, so what does a four-hour window do; give a range, and say which factor drives it.</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6" name="Oval 15"/>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8" name="Oval 17"/>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20" name="Oval 19"/>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2" name="Oval 21"/>
          <p:cNvSpPr/>
          <p:nvPr/>
        </p:nvSpPr>
        <p:spPr>
          <a:xfrm>
            <a:off x="64808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90538"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it sound like?</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D88  ·  39 / 44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AI variant: acceptance rate in the sales deck</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 you present a metric change to a head of product who quotes acceptance rate to customers?</a:t>
            </a:r>
          </a:p>
        </p:txBody>
      </p:sp>
      <p:sp>
        <p:nvSpPr>
          <p:cNvPr id="10" name="Rounded Rectangle 9"/>
          <p:cNvSpPr/>
          <p:nvPr/>
        </p:nvSpPr>
        <p:spPr>
          <a:xfrm>
            <a:off x="530352" y="1956816"/>
            <a:ext cx="11130991" cy="21412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2084832"/>
            <a:ext cx="45720" cy="1885187"/>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2075688"/>
            <a:ext cx="10564063" cy="1958340"/>
          </a:xfrm>
          <a:prstGeom prst="rect">
            <a:avLst/>
          </a:prstGeom>
          <a:noFill/>
        </p:spPr>
        <p:txBody>
          <a:bodyPr wrap="square" anchor="ctr" lIns="0" rIns="0" tIns="0" bIns="0">
            <a:spAutoFit/>
          </a:bodyPr>
          <a:lstStyle/>
          <a:p>
            <a:r>
              <a:rPr sz="1500" b="1">
                <a:solidFill>
                  <a:srgbClr val="5B3FD6"/>
                </a:solidFill>
                <a:latin typeface="Calibri"/>
              </a:rPr>
              <a:t>The setup, invented for this class. </a:t>
            </a:r>
            <a:r>
              <a:rPr sz="1500" b="0" i="0">
                <a:solidFill>
                  <a:srgbClr val="1A1440"/>
                </a:solidFill>
                <a:latin typeface="Calibri"/>
              </a:rPr>
              <a:t>A coding assistant's sales deck quotes "acceptance rate 32 percent", the share of suggestions developers accept, even ones deleted soon after; if a fifth of accepted suggestions are deleted within a week, about 26 of every 100 shown survive. The analyst proposes a new </a:t>
            </a:r>
            <a:r>
              <a:rPr sz="1500" b="1" i="0">
                <a:solidFill>
                  <a:srgbClr val="1A1440"/>
                </a:solidFill>
                <a:latin typeface="Calibri"/>
              </a:rPr>
              <a:t>north star</a:t>
            </a:r>
            <a:r>
              <a:rPr sz="1500" b="0" i="0">
                <a:solidFill>
                  <a:srgbClr val="1A1440"/>
                </a:solidFill>
                <a:latin typeface="Calibri"/>
              </a:rPr>
              <a:t>, the one number the team is judged on: characters of suggested code still in the file seven days after acceptance, per paid seat a week (a seat is one developer's paid licence), so a developer who switches the tool off still counts. Two </a:t>
            </a:r>
            <a:r>
              <a:rPr sz="1500" b="1" i="0">
                <a:solidFill>
                  <a:srgbClr val="1A1440"/>
                </a:solidFill>
                <a:latin typeface="Calibri"/>
              </a:rPr>
              <a:t>guardrails</a:t>
            </a:r>
            <a:r>
              <a:rPr sz="1500" b="0" i="0">
                <a:solidFill>
                  <a:srgbClr val="1A1440"/>
                </a:solidFill>
                <a:latin typeface="Calibri"/>
              </a:rPr>
              <a:t>, numbers that must not get worse, catch padding: characters per accepted suggestion, and a monthly sample of surviving suggestions read by engineers.</a:t>
            </a:r>
          </a:p>
        </p:txBody>
      </p:sp>
      <p:sp>
        <p:nvSpPr>
          <p:cNvPr id="13" name="Rounded Rectangle 12"/>
          <p:cNvSpPr/>
          <p:nvPr/>
        </p:nvSpPr>
        <p:spPr>
          <a:xfrm>
            <a:off x="530352" y="4262627"/>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76656" y="4390643"/>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4381499"/>
            <a:ext cx="10564063" cy="1158240"/>
          </a:xfrm>
          <a:prstGeom prst="rect">
            <a:avLst/>
          </a:prstGeom>
          <a:noFill/>
        </p:spPr>
        <p:txBody>
          <a:bodyPr wrap="square" anchor="ctr" lIns="0" rIns="0" tIns="0" bIns="0">
            <a:spAutoFit/>
          </a:bodyPr>
          <a:lstStyle/>
          <a:p>
            <a:r>
              <a:rPr sz="1500" b="1">
                <a:solidFill>
                  <a:srgbClr val="5B3FD6"/>
                </a:solidFill>
                <a:latin typeface="Calibri"/>
              </a:rPr>
              <a:t>The objection, partly right. </a:t>
            </a:r>
            <a:r>
              <a:rPr sz="1500" b="0" i="0">
                <a:solidFill>
                  <a:srgbClr val="1A1440"/>
                </a:solidFill>
                <a:latin typeface="Calibri"/>
              </a:rPr>
              <a:t>"Acceptance rate is what customers see." True, and a 2022 study of GitHub Copilot's users found acceptance tracks how productive developers feel. </a:t>
            </a:r>
            <a:r>
              <a:rPr sz="1500" b="1" i="0">
                <a:solidFill>
                  <a:srgbClr val="1A1440"/>
                </a:solidFill>
                <a:latin typeface="Calibri"/>
              </a:rPr>
              <a:t>The answer</a:t>
            </a:r>
            <a:r>
              <a:rPr sz="1500" b="0" i="0">
                <a:solidFill>
                  <a:srgbClr val="1A1440"/>
                </a:solidFill>
                <a:latin typeface="Calibri"/>
              </a:rPr>
              <a:t> keeps acceptance in the deck as a </a:t>
            </a:r>
            <a:r>
              <a:rPr sz="1500" b="1" i="0">
                <a:solidFill>
                  <a:srgbClr val="1A1440"/>
                </a:solidFill>
                <a:latin typeface="Calibri"/>
              </a:rPr>
              <a:t>leading input</a:t>
            </a:r>
            <a:r>
              <a:rPr sz="1500" b="0" i="0">
                <a:solidFill>
                  <a:srgbClr val="1A1440"/>
                </a:solidFill>
                <a:latin typeface="Calibri"/>
              </a:rPr>
              <a:t>, a number that moves first, and judges the team on surviving code once last year's renewals show it separates the accounts that renewed from those that cut seats better than acceptance does.</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8" name="Oval 17"/>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20" name="Oval 19"/>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22" name="Oval 21"/>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4" name="Oval 23"/>
          <p:cNvSpPr/>
          <p:nvPr/>
        </p:nvSpPr>
        <p:spPr>
          <a:xfrm>
            <a:off x="64808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90538"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it sound like?</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D89  ·  40 / 44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How a pair scores a transcript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an interviewer listen for, and how is each part scored?</a:t>
            </a:r>
          </a:p>
        </p:txBody>
      </p:sp>
      <p:graphicFrame>
        <p:nvGraphicFramePr>
          <p:cNvPr id="9" name="Table 8"/>
          <p:cNvGraphicFramePr>
            <a:graphicFrameLocks noGrp="1"/>
          </p:cNvGraphicFramePr>
          <p:nvPr/>
        </p:nvGraphicFramePr>
        <p:xfrm>
          <a:off x="530352" y="1956816"/>
          <a:ext cx="11130989" cy="3511296"/>
        </p:xfrm>
        <a:graphic>
          <a:graphicData uri="http://schemas.openxmlformats.org/drawingml/2006/table">
            <a:tbl>
              <a:tblPr firstRow="0" bandRow="0">
                <a:tableStyleId>{2D5ABB26-0587-4C30-8999-92F81FD0307C}</a:tableStyleId>
              </a:tblPr>
              <a:tblGrid>
                <a:gridCol w="3720477"/>
                <a:gridCol w="1041978"/>
                <a:gridCol w="1394413"/>
                <a:gridCol w="4974121"/>
              </a:tblGrid>
              <a:tr h="335280">
                <a:tc>
                  <a:txBody>
                    <a:bodyPr/>
                    <a:lstStyle/>
                    <a:p>
                      <a:r>
                        <a:rPr sz="1250" b="1" i="0">
                          <a:solidFill>
                            <a:srgbClr val="FFFFFF"/>
                          </a:solidFill>
                          <a:latin typeface="Calibri"/>
                        </a:rPr>
                        <a:t>Criterion</a:t>
                      </a:r>
                    </a:p>
                  </a:txBody>
                  <a:tcPr marL="101600" marR="101600" marT="38100" marB="38100" anchor="ctr">
                    <a:solidFill>
                      <a:srgbClr val="1A0F5C"/>
                    </a:solidFill>
                  </a:tcPr>
                </a:tc>
                <a:tc>
                  <a:txBody>
                    <a:bodyPr/>
                    <a:lstStyle/>
                    <a:p>
                      <a:r>
                        <a:rPr sz="1250" b="1" i="0">
                          <a:solidFill>
                            <a:srgbClr val="FFFFFF"/>
                          </a:solidFill>
                          <a:latin typeface="Calibri"/>
                        </a:rPr>
                        <a:t>0</a:t>
                      </a:r>
                    </a:p>
                  </a:txBody>
                  <a:tcPr marL="101600" marR="101600" marT="38100" marB="38100" anchor="ctr">
                    <a:solidFill>
                      <a:srgbClr val="1A0F5C"/>
                    </a:solidFill>
                  </a:tcPr>
                </a:tc>
                <a:tc>
                  <a:txBody>
                    <a:bodyPr/>
                    <a:lstStyle/>
                    <a:p>
                      <a:r>
                        <a:rPr sz="1250" b="1" i="0">
                          <a:solidFill>
                            <a:srgbClr val="FFFFFF"/>
                          </a:solidFill>
                          <a:latin typeface="Calibri"/>
                        </a:rPr>
                        <a:t>1</a:t>
                      </a:r>
                    </a:p>
                  </a:txBody>
                  <a:tcPr marL="101600" marR="101600" marT="38100" marB="38100" anchor="ctr">
                    <a:solidFill>
                      <a:srgbClr val="1A0F5C"/>
                    </a:solidFill>
                  </a:tcPr>
                </a:tc>
                <a:tc>
                  <a:txBody>
                    <a:bodyPr/>
                    <a:lstStyle/>
                    <a:p>
                      <a:r>
                        <a:rPr sz="1250" b="1" i="0">
                          <a:solidFill>
                            <a:srgbClr val="FFFFFF"/>
                          </a:solidFill>
                          <a:latin typeface="Calibri"/>
                        </a:rPr>
                        <a:t>2</a:t>
                      </a:r>
                    </a:p>
                  </a:txBody>
                  <a:tcPr marL="101600" marR="101600" marT="38100" marB="38100" anchor="ctr">
                    <a:solidFill>
                      <a:srgbClr val="1A0F5C"/>
                    </a:solidFill>
                  </a:tcPr>
                </a:tc>
              </a:tr>
              <a:tr h="542544">
                <a:tc>
                  <a:txBody>
                    <a:bodyPr/>
                    <a:lstStyle/>
                    <a:p>
                      <a:r>
                        <a:rPr sz="1200" b="0" i="0">
                          <a:solidFill>
                            <a:srgbClr val="1A1440"/>
                          </a:solidFill>
                          <a:latin typeface="Calibri"/>
                        </a:rPr>
                        <a:t>Clarified the scope first</a:t>
                      </a:r>
                    </a:p>
                  </a:txBody>
                  <a:tcPr marL="101600" marR="101600" marT="38100" marB="38100" anchor="ctr">
                    <a:solidFill>
                      <a:srgbClr val="FFFFFF"/>
                    </a:solidFill>
                  </a:tcPr>
                </a:tc>
                <a:tc>
                  <a:txBody>
                    <a:bodyPr/>
                    <a:lstStyle/>
                    <a:p>
                      <a:r>
                        <a:rPr sz="1200" b="0" i="0">
                          <a:solidFill>
                            <a:srgbClr val="1A1440"/>
                          </a:solidFill>
                          <a:latin typeface="Calibri"/>
                        </a:rPr>
                        <a:t>skipped</a:t>
                      </a:r>
                    </a:p>
                  </a:txBody>
                  <a:tcPr marL="101600" marR="101600" marT="38100" marB="38100" anchor="ctr">
                    <a:solidFill>
                      <a:srgbClr val="FFFFFF"/>
                    </a:solidFill>
                  </a:tcPr>
                </a:tc>
                <a:tc>
                  <a:txBody>
                    <a:bodyPr/>
                    <a:lstStyle/>
                    <a:p>
                      <a:r>
                        <a:rPr sz="1200" b="0" i="0">
                          <a:solidFill>
                            <a:srgbClr val="1A1440"/>
                          </a:solidFill>
                          <a:latin typeface="Calibri"/>
                        </a:rPr>
                        <a:t>partly</a:t>
                      </a:r>
                    </a:p>
                  </a:txBody>
                  <a:tcPr marL="101600" marR="101600" marT="38100" marB="38100" anchor="ctr">
                    <a:solidFill>
                      <a:srgbClr val="FFFFFF"/>
                    </a:solidFill>
                  </a:tcPr>
                </a:tc>
                <a:tc>
                  <a:txBody>
                    <a:bodyPr/>
                    <a:lstStyle/>
                    <a:p>
                      <a:r>
                        <a:rPr sz="1200" b="0" i="0">
                          <a:solidFill>
                            <a:srgbClr val="1A1440"/>
                          </a:solidFill>
                          <a:latin typeface="Calibri"/>
                        </a:rPr>
                        <a:t>what is decided or counted, the window, and the target or the audience pinned</a:t>
                      </a:r>
                    </a:p>
                  </a:txBody>
                  <a:tcPr marL="101600" marR="101600" marT="38100" marB="38100" anchor="ctr">
                    <a:solidFill>
                      <a:srgbClr val="FFFFFF"/>
                    </a:solidFill>
                  </a:tcPr>
                </a:tc>
              </a:tr>
              <a:tr h="542544">
                <a:tc>
                  <a:txBody>
                    <a:bodyPr/>
                    <a:lstStyle/>
                    <a:p>
                      <a:r>
                        <a:rPr sz="1200" b="0" i="0">
                          <a:solidFill>
                            <a:srgbClr val="1A1440"/>
                          </a:solidFill>
                          <a:latin typeface="Calibri"/>
                        </a:rPr>
                        <a:t>Named the denominator, or the unit, and the window</a:t>
                      </a:r>
                    </a:p>
                  </a:txBody>
                  <a:tcPr marL="101600" marR="101600" marT="38100" marB="38100" anchor="ctr">
                    <a:solidFill>
                      <a:srgbClr val="F4F2FA"/>
                    </a:solidFill>
                  </a:tcPr>
                </a:tc>
                <a:tc>
                  <a:txBody>
                    <a:bodyPr/>
                    <a:lstStyle/>
                    <a:p>
                      <a:r>
                        <a:rPr sz="1200" b="0" i="0">
                          <a:solidFill>
                            <a:srgbClr val="1A1440"/>
                          </a:solidFill>
                          <a:latin typeface="Calibri"/>
                        </a:rPr>
                        <a:t>neither</a:t>
                      </a:r>
                    </a:p>
                  </a:txBody>
                  <a:tcPr marL="101600" marR="101600" marT="38100" marB="38100" anchor="ctr">
                    <a:solidFill>
                      <a:srgbClr val="F4F2FA"/>
                    </a:solidFill>
                  </a:tcPr>
                </a:tc>
                <a:tc>
                  <a:txBody>
                    <a:bodyPr/>
                    <a:lstStyle/>
                    <a:p>
                      <a:r>
                        <a:rPr sz="1200" b="0" i="0">
                          <a:solidFill>
                            <a:srgbClr val="1A1440"/>
                          </a:solidFill>
                          <a:latin typeface="Calibri"/>
                        </a:rPr>
                        <a:t>one</a:t>
                      </a:r>
                    </a:p>
                  </a:txBody>
                  <a:tcPr marL="101600" marR="101600" marT="38100" marB="38100" anchor="ctr">
                    <a:solidFill>
                      <a:srgbClr val="F4F2FA"/>
                    </a:solidFill>
                  </a:tcPr>
                </a:tc>
                <a:tc>
                  <a:txBody>
                    <a:bodyPr/>
                    <a:lstStyle/>
                    <a:p>
                      <a:r>
                        <a:rPr sz="1200" b="0" i="0">
                          <a:solidFill>
                            <a:srgbClr val="1A1440"/>
                          </a:solidFill>
                          <a:latin typeface="Calibri"/>
                        </a:rPr>
                        <a:t>both</a:t>
                      </a:r>
                    </a:p>
                  </a:txBody>
                  <a:tcPr marL="101600" marR="101600" marT="38100" marB="38100" anchor="ctr">
                    <a:solidFill>
                      <a:srgbClr val="F4F2FA"/>
                    </a:solidFill>
                  </a:tcPr>
                </a:tc>
              </a:tr>
              <a:tr h="335280">
                <a:tc>
                  <a:txBody>
                    <a:bodyPr/>
                    <a:lstStyle/>
                    <a:p>
                      <a:r>
                        <a:rPr sz="1200" b="0" i="0">
                          <a:solidFill>
                            <a:srgbClr val="1A1440"/>
                          </a:solidFill>
                          <a:latin typeface="Calibri"/>
                        </a:rPr>
                        <a:t>Saw the trap</a:t>
                      </a:r>
                    </a:p>
                  </a:txBody>
                  <a:tcPr marL="101600" marR="101600" marT="38100" marB="38100" anchor="ctr">
                    <a:solidFill>
                      <a:srgbClr val="FFFFFF"/>
                    </a:solidFill>
                  </a:tcPr>
                </a:tc>
                <a:tc>
                  <a:txBody>
                    <a:bodyPr/>
                    <a:lstStyle/>
                    <a:p>
                      <a:r>
                        <a:rPr sz="1200" b="0" i="0">
                          <a:solidFill>
                            <a:srgbClr val="1A1440"/>
                          </a:solidFill>
                          <a:latin typeface="Calibri"/>
                        </a:rPr>
                        <a:t>missed</a:t>
                      </a:r>
                    </a:p>
                  </a:txBody>
                  <a:tcPr marL="101600" marR="101600" marT="38100" marB="38100" anchor="ctr">
                    <a:solidFill>
                      <a:srgbClr val="FFFFFF"/>
                    </a:solidFill>
                  </a:tcPr>
                </a:tc>
                <a:tc>
                  <a:txBody>
                    <a:bodyPr/>
                    <a:lstStyle/>
                    <a:p>
                      <a:r>
                        <a:rPr sz="1200" b="0" i="0">
                          <a:solidFill>
                            <a:srgbClr val="1A1440"/>
                          </a:solidFill>
                          <a:latin typeface="Calibri"/>
                        </a:rPr>
                        <a:t>named late</a:t>
                      </a:r>
                    </a:p>
                  </a:txBody>
                  <a:tcPr marL="101600" marR="101600" marT="38100" marB="38100" anchor="ctr">
                    <a:solidFill>
                      <a:srgbClr val="FFFFFF"/>
                    </a:solidFill>
                  </a:tcPr>
                </a:tc>
                <a:tc>
                  <a:txBody>
                    <a:bodyPr/>
                    <a:lstStyle/>
                    <a:p>
                      <a:r>
                        <a:rPr sz="1200" b="0" i="0">
                          <a:solidFill>
                            <a:srgbClr val="1A1440"/>
                          </a:solidFill>
                          <a:latin typeface="Calibri"/>
                        </a:rPr>
                        <a:t>named and checked</a:t>
                      </a:r>
                    </a:p>
                  </a:txBody>
                  <a:tcPr marL="101600" marR="101600" marT="38100" marB="38100" anchor="ctr">
                    <a:solidFill>
                      <a:srgbClr val="FFFFFF"/>
                    </a:solidFill>
                  </a:tcPr>
                </a:tc>
              </a:tr>
              <a:tr h="542544">
                <a:tc>
                  <a:txBody>
                    <a:bodyPr/>
                    <a:lstStyle/>
                    <a:p>
                      <a:r>
                        <a:rPr sz="1200" b="0" i="0">
                          <a:solidFill>
                            <a:srgbClr val="1A1440"/>
                          </a:solidFill>
                          <a:latin typeface="Calibri"/>
                        </a:rPr>
                        <a:t>Sized it with a unit</a:t>
                      </a:r>
                    </a:p>
                  </a:txBody>
                  <a:tcPr marL="101600" marR="101600" marT="38100" marB="38100" anchor="ctr">
                    <a:solidFill>
                      <a:srgbClr val="F4F2FA"/>
                    </a:solidFill>
                  </a:tcPr>
                </a:tc>
                <a:tc>
                  <a:txBody>
                    <a:bodyPr/>
                    <a:lstStyle/>
                    <a:p>
                      <a:r>
                        <a:rPr sz="1200" b="0" i="0">
                          <a:solidFill>
                            <a:srgbClr val="1A1440"/>
                          </a:solidFill>
                          <a:latin typeface="Calibri"/>
                        </a:rPr>
                        <a:t>no unit</a:t>
                      </a:r>
                    </a:p>
                  </a:txBody>
                  <a:tcPr marL="101600" marR="101600" marT="38100" marB="38100" anchor="ctr">
                    <a:solidFill>
                      <a:srgbClr val="F4F2FA"/>
                    </a:solidFill>
                  </a:tcPr>
                </a:tc>
                <a:tc>
                  <a:txBody>
                    <a:bodyPr/>
                    <a:lstStyle/>
                    <a:p>
                      <a:r>
                        <a:rPr sz="1200" b="0" i="0">
                          <a:solidFill>
                            <a:srgbClr val="1A1440"/>
                          </a:solidFill>
                          <a:latin typeface="Calibri"/>
                        </a:rPr>
                        <a:t>a unit, unchecked</a:t>
                      </a:r>
                    </a:p>
                  </a:txBody>
                  <a:tcPr marL="101600" marR="101600" marT="38100" marB="38100" anchor="ctr">
                    <a:solidFill>
                      <a:srgbClr val="F4F2FA"/>
                    </a:solidFill>
                  </a:tcPr>
                </a:tc>
                <a:tc>
                  <a:txBody>
                    <a:bodyPr/>
                    <a:lstStyle/>
                    <a:p>
                      <a:r>
                        <a:rPr sz="1200" b="0" i="0">
                          <a:solidFill>
                            <a:srgbClr val="1A1440"/>
                          </a:solidFill>
                          <a:latin typeface="Calibri"/>
                        </a:rPr>
                        <a:t>a unit carried through</a:t>
                      </a:r>
                    </a:p>
                  </a:txBody>
                  <a:tcPr marL="101600" marR="101600" marT="38100" marB="38100" anchor="ctr">
                    <a:solidFill>
                      <a:srgbClr val="F4F2FA"/>
                    </a:solidFill>
                  </a:tcPr>
                </a:tc>
              </a:tr>
              <a:tr h="335280">
                <a:tc>
                  <a:txBody>
                    <a:bodyPr/>
                    <a:lstStyle/>
                    <a:p>
                      <a:r>
                        <a:rPr sz="1200" b="0" i="0">
                          <a:solidFill>
                            <a:srgbClr val="1A1440"/>
                          </a:solidFill>
                          <a:latin typeface="Calibri"/>
                        </a:rPr>
                        <a:t>Said what would change their mind</a:t>
                      </a:r>
                    </a:p>
                  </a:txBody>
                  <a:tcPr marL="101600" marR="101600" marT="38100" marB="38100" anchor="ctr">
                    <a:solidFill>
                      <a:srgbClr val="FFFFFF"/>
                    </a:solidFill>
                  </a:tcPr>
                </a:tc>
                <a:tc>
                  <a:txBody>
                    <a:bodyPr/>
                    <a:lstStyle/>
                    <a:p>
                      <a:r>
                        <a:rPr sz="1200" b="0" i="0">
                          <a:solidFill>
                            <a:srgbClr val="1A1440"/>
                          </a:solidFill>
                          <a:latin typeface="Calibri"/>
                        </a:rPr>
                        <a:t>no</a:t>
                      </a:r>
                    </a:p>
                  </a:txBody>
                  <a:tcPr marL="101600" marR="101600" marT="38100" marB="38100" anchor="ctr">
                    <a:solidFill>
                      <a:srgbClr val="FFFFFF"/>
                    </a:solidFill>
                  </a:tcPr>
                </a:tc>
                <a:tc>
                  <a:txBody>
                    <a:bodyPr/>
                    <a:lstStyle/>
                    <a:p>
                      <a:r>
                        <a:rPr sz="1200" b="0" i="0">
                          <a:solidFill>
                            <a:srgbClr val="1A1440"/>
                          </a:solidFill>
                          <a:latin typeface="Calibri"/>
                        </a:rPr>
                        <a:t>vaguely</a:t>
                      </a:r>
                    </a:p>
                  </a:txBody>
                  <a:tcPr marL="101600" marR="101600" marT="38100" marB="38100" anchor="ctr">
                    <a:solidFill>
                      <a:srgbClr val="FFFFFF"/>
                    </a:solidFill>
                  </a:tcPr>
                </a:tc>
                <a:tc>
                  <a:txBody>
                    <a:bodyPr/>
                    <a:lstStyle/>
                    <a:p>
                      <a:r>
                        <a:rPr sz="1200" b="0" i="0">
                          <a:solidFill>
                            <a:srgbClr val="1A1440"/>
                          </a:solidFill>
                          <a:latin typeface="Calibri"/>
                        </a:rPr>
                        <a:t>a named fact</a:t>
                      </a:r>
                    </a:p>
                  </a:txBody>
                  <a:tcPr marL="101600" marR="101600" marT="38100" marB="38100" anchor="ctr">
                    <a:solidFill>
                      <a:srgbClr val="FFFFFF"/>
                    </a:solidFill>
                  </a:tcPr>
                </a:tc>
              </a:tr>
              <a:tr h="335280">
                <a:tc>
                  <a:txBody>
                    <a:bodyPr/>
                    <a:lstStyle/>
                    <a:p>
                      <a:r>
                        <a:rPr sz="1200" b="0" i="0">
                          <a:solidFill>
                            <a:srgbClr val="1A1440"/>
                          </a:solidFill>
                          <a:latin typeface="Calibri"/>
                        </a:rPr>
                        <a:t>Tied it to a decision and its cost</a:t>
                      </a:r>
                    </a:p>
                  </a:txBody>
                  <a:tcPr marL="101600" marR="101600" marT="38100" marB="38100" anchor="ctr">
                    <a:solidFill>
                      <a:srgbClr val="F4F2FA"/>
                    </a:solidFill>
                  </a:tcPr>
                </a:tc>
                <a:tc>
                  <a:txBody>
                    <a:bodyPr/>
                    <a:lstStyle/>
                    <a:p>
                      <a:r>
                        <a:rPr sz="1200" b="0" i="0">
                          <a:solidFill>
                            <a:srgbClr val="1A1440"/>
                          </a:solidFill>
                          <a:latin typeface="Calibri"/>
                        </a:rPr>
                        <a:t>no</a:t>
                      </a:r>
                    </a:p>
                  </a:txBody>
                  <a:tcPr marL="101600" marR="101600" marT="38100" marB="38100" anchor="ctr">
                    <a:solidFill>
                      <a:srgbClr val="F4F2FA"/>
                    </a:solidFill>
                  </a:tcPr>
                </a:tc>
                <a:tc>
                  <a:txBody>
                    <a:bodyPr/>
                    <a:lstStyle/>
                    <a:p>
                      <a:r>
                        <a:rPr sz="1200" b="0" i="0">
                          <a:solidFill>
                            <a:srgbClr val="1A1440"/>
                          </a:solidFill>
                          <a:latin typeface="Calibri"/>
                        </a:rPr>
                        <a:t>a decision</a:t>
                      </a:r>
                    </a:p>
                  </a:txBody>
                  <a:tcPr marL="101600" marR="101600" marT="38100" marB="38100" anchor="ctr">
                    <a:solidFill>
                      <a:srgbClr val="F4F2FA"/>
                    </a:solidFill>
                  </a:tcPr>
                </a:tc>
                <a:tc>
                  <a:txBody>
                    <a:bodyPr/>
                    <a:lstStyle/>
                    <a:p>
                      <a:r>
                        <a:rPr sz="1200" b="0" i="0">
                          <a:solidFill>
                            <a:srgbClr val="1A1440"/>
                          </a:solidFill>
                          <a:latin typeface="Calibri"/>
                        </a:rPr>
                        <a:t>a decision and its rupees</a:t>
                      </a:r>
                    </a:p>
                  </a:txBody>
                  <a:tcPr marL="101600" marR="101600" marT="38100" marB="38100" anchor="ctr">
                    <a:solidFill>
                      <a:srgbClr val="F4F2FA"/>
                    </a:solidFill>
                  </a:tcPr>
                </a:tc>
              </a:tr>
              <a:tr h="542544">
                <a:tc>
                  <a:txBody>
                    <a:bodyPr/>
                    <a:lstStyle/>
                    <a:p>
                      <a:r>
                        <a:rPr sz="1200" b="0" i="0">
                          <a:solidFill>
                            <a:srgbClr val="1A1440"/>
                          </a:solidFill>
                          <a:latin typeface="Calibri"/>
                        </a:rPr>
                        <a:t>Gave the structure before the number</a:t>
                      </a:r>
                    </a:p>
                  </a:txBody>
                  <a:tcPr marL="101600" marR="101600" marT="38100" marB="38100" anchor="ctr">
                    <a:solidFill>
                      <a:srgbClr val="FFFFFF"/>
                    </a:solidFill>
                  </a:tcPr>
                </a:tc>
                <a:tc>
                  <a:txBody>
                    <a:bodyPr/>
                    <a:lstStyle/>
                    <a:p>
                      <a:r>
                        <a:rPr sz="1200" b="0" i="0">
                          <a:solidFill>
                            <a:srgbClr val="1A1440"/>
                          </a:solidFill>
                          <a:latin typeface="Calibri"/>
                        </a:rPr>
                        <a:t>number first</a:t>
                      </a:r>
                    </a:p>
                  </a:txBody>
                  <a:tcPr marL="101600" marR="101600" marT="38100" marB="38100" anchor="ctr">
                    <a:solidFill>
                      <a:srgbClr val="FFFFFF"/>
                    </a:solidFill>
                  </a:tcPr>
                </a:tc>
                <a:tc>
                  <a:txBody>
                    <a:bodyPr/>
                    <a:lstStyle/>
                    <a:p>
                      <a:r>
                        <a:rPr sz="1200" b="0" i="0">
                          <a:solidFill>
                            <a:srgbClr val="1A1440"/>
                          </a:solidFill>
                          <a:latin typeface="Calibri"/>
                        </a:rPr>
                        <a:t>mixed</a:t>
                      </a:r>
                    </a:p>
                  </a:txBody>
                  <a:tcPr marL="101600" marR="101600" marT="38100" marB="38100" anchor="ctr">
                    <a:solidFill>
                      <a:srgbClr val="FFFFFF"/>
                    </a:solidFill>
                  </a:tcPr>
                </a:tc>
                <a:tc>
                  <a:txBody>
                    <a:bodyPr/>
                    <a:lstStyle/>
                    <a:p>
                      <a:r>
                        <a:rPr sz="1200" b="0" i="0">
                          <a:solidFill>
                            <a:srgbClr val="1A1440"/>
                          </a:solidFill>
                          <a:latin typeface="Calibri"/>
                        </a:rPr>
                        <a:t>structure first</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2" name="Oval 11"/>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16" name="Oval 15"/>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18" name="Oval 17"/>
          <p:cNvSpPr/>
          <p:nvPr/>
        </p:nvSpPr>
        <p:spPr>
          <a:xfrm>
            <a:off x="64808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90538"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it sound like?</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S90  ·  41 / 44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Pain points, each with the case that shows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 first attempts at a slide and an estimate usually break?</a:t>
            </a:r>
          </a:p>
        </p:txBody>
      </p:sp>
      <p:graphicFrame>
        <p:nvGraphicFramePr>
          <p:cNvPr id="9" name="Table 8"/>
          <p:cNvGraphicFramePr>
            <a:graphicFrameLocks noGrp="1"/>
          </p:cNvGraphicFramePr>
          <p:nvPr/>
        </p:nvGraphicFramePr>
        <p:xfrm>
          <a:off x="530352" y="1956816"/>
          <a:ext cx="11130991" cy="2218944"/>
        </p:xfrm>
        <a:graphic>
          <a:graphicData uri="http://schemas.openxmlformats.org/drawingml/2006/table">
            <a:tbl>
              <a:tblPr firstRow="0" bandRow="0">
                <a:tableStyleId>{2D5ABB26-0587-4C30-8999-92F81FD0307C}</a:tableStyleId>
              </a:tblPr>
              <a:tblGrid>
                <a:gridCol w="4586164"/>
                <a:gridCol w="6544827"/>
              </a:tblGrid>
              <a:tr h="369824">
                <a:tc>
                  <a:txBody>
                    <a:bodyPr/>
                    <a:lstStyle/>
                    <a:p>
                      <a:r>
                        <a:rPr sz="1450" b="1" i="0">
                          <a:solidFill>
                            <a:srgbClr val="FFFFFF"/>
                          </a:solidFill>
                          <a:latin typeface="Calibri"/>
                        </a:rPr>
                        <a:t>Pain point</a:t>
                      </a:r>
                    </a:p>
                  </a:txBody>
                  <a:tcPr marL="101600" marR="101600" marT="38100" marB="38100" anchor="ctr">
                    <a:solidFill>
                      <a:srgbClr val="1A0F5C"/>
                    </a:solidFill>
                  </a:tcPr>
                </a:tc>
                <a:tc>
                  <a:txBody>
                    <a:bodyPr/>
                    <a:lstStyle/>
                    <a:p>
                      <a:r>
                        <a:rPr sz="1450" b="1" i="0">
                          <a:solidFill>
                            <a:srgbClr val="FFFFFF"/>
                          </a:solidFill>
                          <a:latin typeface="Calibri"/>
                        </a:rPr>
                        <a:t>Where you saw it</a:t>
                      </a:r>
                    </a:p>
                  </a:txBody>
                  <a:tcPr marL="101600" marR="101600" marT="38100" marB="38100" anchor="ctr">
                    <a:solidFill>
                      <a:srgbClr val="1A0F5C"/>
                    </a:solidFill>
                  </a:tcPr>
                </a:tc>
              </a:tr>
              <a:tr h="369824">
                <a:tc>
                  <a:txBody>
                    <a:bodyPr/>
                    <a:lstStyle/>
                    <a:p>
                      <a:r>
                        <a:rPr sz="1400" b="0" i="0">
                          <a:solidFill>
                            <a:srgbClr val="1A1440"/>
                          </a:solidFill>
                          <a:latin typeface="Calibri"/>
                        </a:rPr>
                        <a:t>The first slide carries every number</a:t>
                      </a:r>
                    </a:p>
                  </a:txBody>
                  <a:tcPr marL="101600" marR="101600" marT="38100" marB="38100" anchor="ctr">
                    <a:solidFill>
                      <a:srgbClr val="FFFFFF"/>
                    </a:solidFill>
                  </a:tcPr>
                </a:tc>
                <a:tc>
                  <a:txBody>
                    <a:bodyPr/>
                    <a:lstStyle/>
                    <a:p>
                      <a:r>
                        <a:rPr sz="1400" b="0" i="0">
                          <a:solidFill>
                            <a:srgbClr val="1A1440"/>
                          </a:solidFill>
                          <a:latin typeface="Calibri"/>
                        </a:rPr>
                        <a:t>Slide A this morning: nine numbers, no claim</a:t>
                      </a:r>
                    </a:p>
                  </a:txBody>
                  <a:tcPr marL="101600" marR="101600" marT="38100" marB="38100" anchor="ctr">
                    <a:solidFill>
                      <a:srgbClr val="FFFFFF"/>
                    </a:solidFill>
                  </a:tcPr>
                </a:tc>
              </a:tr>
              <a:tr h="369824">
                <a:tc>
                  <a:txBody>
                    <a:bodyPr/>
                    <a:lstStyle/>
                    <a:p>
                      <a:r>
                        <a:rPr sz="1400" b="0" i="0">
                          <a:solidFill>
                            <a:srgbClr val="1A1440"/>
                          </a:solidFill>
                          <a:latin typeface="Calibri"/>
                        </a:rPr>
                        <a:t>The first defence retreats or overclaims</a:t>
                      </a:r>
                    </a:p>
                  </a:txBody>
                  <a:tcPr marL="101600" marR="101600" marT="38100" marB="38100" anchor="ctr">
                    <a:solidFill>
                      <a:srgbClr val="F4F2FA"/>
                    </a:solidFill>
                  </a:tcPr>
                </a:tc>
                <a:tc>
                  <a:txBody>
                    <a:bodyPr/>
                    <a:lstStyle/>
                    <a:p>
                      <a:r>
                        <a:rPr sz="1400" b="0" i="0">
                          <a:solidFill>
                            <a:srgbClr val="1A1440"/>
                          </a:solidFill>
                          <a:latin typeface="Calibri"/>
                        </a:rPr>
                        <a:t>Round one of the studio</a:t>
                      </a:r>
                    </a:p>
                  </a:txBody>
                  <a:tcPr marL="101600" marR="101600" marT="38100" marB="38100" anchor="ctr">
                    <a:solidFill>
                      <a:srgbClr val="F4F2FA"/>
                    </a:solidFill>
                  </a:tcPr>
                </a:tc>
              </a:tr>
              <a:tr h="369824">
                <a:tc>
                  <a:txBody>
                    <a:bodyPr/>
                    <a:lstStyle/>
                    <a:p>
                      <a:r>
                        <a:rPr sz="1400" b="0" i="0">
                          <a:solidFill>
                            <a:srgbClr val="1A1440"/>
                          </a:solidFill>
                          <a:latin typeface="Calibri"/>
                        </a:rPr>
                        <a:t>A check against an unusual day</a:t>
                      </a:r>
                    </a:p>
                  </a:txBody>
                  <a:tcPr marL="101600" marR="101600" marT="38100" marB="38100" anchor="ctr">
                    <a:solidFill>
                      <a:srgbClr val="FFFFFF"/>
                    </a:solidFill>
                  </a:tcPr>
                </a:tc>
                <a:tc>
                  <a:txBody>
                    <a:bodyPr/>
                    <a:lstStyle/>
                    <a:p>
                      <a:r>
                        <a:rPr sz="1400" b="0" i="0">
                          <a:solidFill>
                            <a:srgbClr val="1A1440"/>
                          </a:solidFill>
                          <a:latin typeface="Calibri"/>
                        </a:rPr>
                        <a:t>Delhi Metro's average day against one record day</a:t>
                      </a:r>
                    </a:p>
                  </a:txBody>
                  <a:tcPr marL="101600" marR="101600" marT="38100" marB="38100" anchor="ctr">
                    <a:solidFill>
                      <a:srgbClr val="FFFFFF"/>
                    </a:solidFill>
                  </a:tcPr>
                </a:tc>
              </a:tr>
              <a:tr h="369824">
                <a:tc>
                  <a:txBody>
                    <a:bodyPr/>
                    <a:lstStyle/>
                    <a:p>
                      <a:r>
                        <a:rPr sz="1400" b="0" i="0">
                          <a:solidFill>
                            <a:srgbClr val="1A1440"/>
                          </a:solidFill>
                          <a:latin typeface="Calibri"/>
                        </a:rPr>
                        <a:t>A muddled published figure</a:t>
                      </a:r>
                    </a:p>
                  </a:txBody>
                  <a:tcPr marL="101600" marR="101600" marT="38100" marB="38100" anchor="ctr">
                    <a:solidFill>
                      <a:srgbClr val="F4F2FA"/>
                    </a:solidFill>
                  </a:tcPr>
                </a:tc>
                <a:tc>
                  <a:txBody>
                    <a:bodyPr/>
                    <a:lstStyle/>
                    <a:p>
                      <a:r>
                        <a:rPr sz="1400" b="0" i="0">
                          <a:solidFill>
                            <a:srgbClr val="1A1440"/>
                          </a:solidFill>
                          <a:latin typeface="Calibri"/>
                        </a:rPr>
                        <a:t>Flipkart's 6.3 million against the 63 in its web address</a:t>
                      </a:r>
                    </a:p>
                  </a:txBody>
                  <a:tcPr marL="101600" marR="101600" marT="38100" marB="38100" anchor="ctr">
                    <a:solidFill>
                      <a:srgbClr val="F4F2FA"/>
                    </a:solidFill>
                  </a:tcPr>
                </a:tc>
              </a:tr>
              <a:tr h="369824">
                <a:tc>
                  <a:txBody>
                    <a:bodyPr/>
                    <a:lstStyle/>
                    <a:p>
                      <a:r>
                        <a:rPr sz="1400" b="0" i="0">
                          <a:solidFill>
                            <a:srgbClr val="1A1440"/>
                          </a:solidFill>
                          <a:latin typeface="Calibri"/>
                        </a:rPr>
                        <a:t>A memo nobody can write in an hour</a:t>
                      </a:r>
                    </a:p>
                  </a:txBody>
                  <a:tcPr marL="101600" marR="101600" marT="38100" marB="38100" anchor="ctr">
                    <a:solidFill>
                      <a:srgbClr val="FFFFFF"/>
                    </a:solidFill>
                  </a:tcPr>
                </a:tc>
                <a:tc>
                  <a:txBody>
                    <a:bodyPr/>
                    <a:lstStyle/>
                    <a:p>
                      <a:r>
                        <a:rPr sz="1400" b="0" i="0">
                          <a:solidFill>
                            <a:srgbClr val="1A1440"/>
                          </a:solidFill>
                          <a:latin typeface="Calibri"/>
                        </a:rPr>
                        <a:t>Amazon's letter: a great memo probably takes a week or more</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2" name="Oval 11"/>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14" name="Oval 13"/>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16" name="Oval 15"/>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18" name="Oval 17"/>
          <p:cNvSpPr/>
          <p:nvPr/>
        </p:nvSpPr>
        <p:spPr>
          <a:xfrm>
            <a:off x="64808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90538"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it sound like?</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S91  ·  42 / 44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Kahoot: eight questions, ungraded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today's ideas can you retrieve under a timer?</a:t>
            </a:r>
          </a:p>
        </p:txBody>
      </p:sp>
      <p:sp>
        <p:nvSpPr>
          <p:cNvPr id="9" name="Rounded Rectangle 8"/>
          <p:cNvSpPr/>
          <p:nvPr/>
        </p:nvSpPr>
        <p:spPr>
          <a:xfrm>
            <a:off x="53035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list-ordered_6bff7db210fa.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QUESTIONS 1 TO 3</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slide</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The four parts in order; keep or cut; the defence that never concedes</a:t>
            </a:r>
          </a:p>
        </p:txBody>
      </p:sp>
      <p:sp>
        <p:nvSpPr>
          <p:cNvPr id="15" name="Rounded Rectangle 14"/>
          <p:cNvSpPr/>
          <p:nvPr/>
        </p:nvSpPr>
        <p:spPr>
          <a:xfrm>
            <a:off x="430164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calculator_852ec1ae1794.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QUESTIONS 4 TO 6</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estimate</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The four steps; the city of two million; a day against an hour</a:t>
            </a:r>
          </a:p>
        </p:txBody>
      </p:sp>
      <p:sp>
        <p:nvSpPr>
          <p:cNvPr id="21" name="Rounded Rectangle 20"/>
          <p:cNvSpPr/>
          <p:nvPr/>
        </p:nvSpPr>
        <p:spPr>
          <a:xfrm>
            <a:off x="807293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refresh-cw_79e4dab2a578.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QUESTIONS 7 AND 8</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Back to Monday, and the page</a:t>
            </a:r>
          </a:p>
        </p:txBody>
      </p:sp>
      <p:sp>
        <p:nvSpPr>
          <p:cNvPr id="26" name="TextBox 25"/>
          <p:cNvSpPr txBox="1"/>
          <p:nvPr/>
        </p:nvSpPr>
        <p:spPr>
          <a:xfrm>
            <a:off x="8274100"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The guardrail for a scheme that pays per trip; which opening of a one-page case is the claim</a:t>
            </a:r>
          </a:p>
        </p:txBody>
      </p:sp>
      <p:sp>
        <p:nvSpPr>
          <p:cNvPr id="27" name="Oval 2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29" name="Oval 28"/>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31" name="Oval 30"/>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33" name="Oval 32"/>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35" name="Oval 34"/>
          <p:cNvSpPr/>
          <p:nvPr/>
        </p:nvSpPr>
        <p:spPr>
          <a:xfrm>
            <a:off x="64808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590538"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it sound like?</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S92  ·  43 / 44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TUESDAY  ·  STAKEHOLDER COMMUNICATION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Where the day ends: a slide, a page and a range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will the city head hear on Thursday, and what comes tomorrow?</a:t>
            </a:r>
          </a:p>
        </p:txBody>
      </p:sp>
      <p:sp>
        <p:nvSpPr>
          <p:cNvPr id="9" name="Rounded Rectangle 8"/>
          <p:cNvSpPr/>
          <p:nvPr/>
        </p:nvSpPr>
        <p:spPr>
          <a:xfrm>
            <a:off x="530352" y="1682496"/>
            <a:ext cx="45720" cy="188975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682496"/>
            <a:ext cx="10820095" cy="1889759"/>
          </a:xfrm>
          <a:prstGeom prst="rect">
            <a:avLst/>
          </a:prstGeom>
          <a:noFill/>
        </p:spPr>
        <p:txBody>
          <a:bodyPr wrap="square" anchor="t" lIns="0" rIns="0" tIns="0" bIns="0">
            <a:spAutoFit/>
          </a:bodyPr>
          <a:lstStyle/>
          <a:p>
            <a:r>
              <a:rPr sz="1600" b="0" i="1">
                <a:solidFill>
                  <a:srgbClr val="1A0F5C"/>
                </a:solidFill>
                <a:latin typeface="Georgia"/>
              </a:rPr>
              <a:t>"The scheme is paying for online hours that carry no trips: Rs 314 to Rs 260 per peak online hour at a flat Rs 165 fare. Part of it may be the monsoon. Test paying per completed peak trip with an acceptance floor: across the enrolled drivers, it saves Rs 58 lakh to Rs 92.7 lakh over six weeks if a half to a fifth of the idle drivers' top-up is still paid, and the per-trip rate can move it within that range or beyond it. At the evening peak the city needs about 5,000 to 5,700 drivers online, and how often people ride could move that from 2,900 to 8,600."</a:t>
            </a:r>
          </a:p>
        </p:txBody>
      </p:sp>
      <p:sp>
        <p:nvSpPr>
          <p:cNvPr id="11" name="Rounded Rectangle 10"/>
          <p:cNvSpPr/>
          <p:nvPr/>
        </p:nvSpPr>
        <p:spPr>
          <a:xfrm>
            <a:off x="530352" y="3718560"/>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3846575"/>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3837431"/>
            <a:ext cx="10564063" cy="1158240"/>
          </a:xfrm>
          <a:prstGeom prst="rect">
            <a:avLst/>
          </a:prstGeom>
          <a:noFill/>
        </p:spPr>
        <p:txBody>
          <a:bodyPr wrap="square" anchor="ctr" lIns="0" rIns="0" tIns="0" bIns="0">
            <a:spAutoFit/>
          </a:bodyPr>
          <a:lstStyle/>
          <a:p>
            <a:r>
              <a:rPr sz="1500" b="1">
                <a:solidFill>
                  <a:srgbClr val="5B3FD6"/>
                </a:solidFill>
                <a:latin typeface="Calibri"/>
              </a:rPr>
              <a:t>The lines to keep. </a:t>
            </a:r>
            <a:r>
              <a:rPr sz="1500" b="0" i="0">
                <a:solidFill>
                  <a:srgbClr val="1A1440"/>
                </a:solidFill>
                <a:latin typeface="Calibri"/>
              </a:rPr>
              <a:t>A slide carries one claim, one number with its denominator, the caveat in sight and the action with its cost. Name the denominator before the number. Answer an objection in four moves. Size a number in four steps, give the factor that drives the range, and check it like for like. Check in the same unit, period and definition.</a:t>
            </a:r>
          </a:p>
        </p:txBody>
      </p:sp>
      <p:sp>
        <p:nvSpPr>
          <p:cNvPr id="14" name="Rounded Rectangle 13"/>
          <p:cNvSpPr/>
          <p:nvPr/>
        </p:nvSpPr>
        <p:spPr>
          <a:xfrm>
            <a:off x="530352" y="522427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5352287"/>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5343144"/>
            <a:ext cx="10564063" cy="624840"/>
          </a:xfrm>
          <a:prstGeom prst="rect">
            <a:avLst/>
          </a:prstGeom>
          <a:noFill/>
        </p:spPr>
        <p:txBody>
          <a:bodyPr wrap="square" anchor="ctr" lIns="0" rIns="0" tIns="0" bIns="0">
            <a:spAutoFit/>
          </a:bodyPr>
          <a:lstStyle/>
          <a:p>
            <a:r>
              <a:rPr sz="1500" b="1">
                <a:solidFill>
                  <a:srgbClr val="5B3FD6"/>
                </a:solidFill>
                <a:latin typeface="Calibri"/>
              </a:rPr>
              <a:t>Tomorrow: </a:t>
            </a:r>
            <a:r>
              <a:rPr sz="1500" b="0" i="0">
                <a:solidFill>
                  <a:srgbClr val="1A1440"/>
                </a:solidFill>
                <a:latin typeface="Calibri"/>
              </a:rPr>
              <a:t>five topics on counting what goes with what, then Swiggy Instamart's cart page in Pune and its strip of suggestions.</a:t>
            </a:r>
          </a:p>
        </p:txBody>
      </p:sp>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How big is an unknown?</a:t>
            </a:r>
          </a:p>
        </p:txBody>
      </p:sp>
      <p:sp>
        <p:nvSpPr>
          <p:cNvPr id="19" name="Oval 18"/>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127694"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must a page carry?</a:t>
            </a:r>
          </a:p>
        </p:txBody>
      </p:sp>
      <p:sp>
        <p:nvSpPr>
          <p:cNvPr id="21" name="Oval 20"/>
          <p:cNvSpPr/>
          <p:nvPr/>
        </p:nvSpPr>
        <p:spPr>
          <a:xfrm>
            <a:off x="355158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661314"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How many at the peak?</a:t>
            </a:r>
          </a:p>
        </p:txBody>
      </p:sp>
      <p:sp>
        <p:nvSpPr>
          <p:cNvPr id="23" name="Oval 22"/>
          <p:cNvSpPr/>
          <p:nvPr/>
        </p:nvSpPr>
        <p:spPr>
          <a:xfrm>
            <a:off x="49931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02923"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goes on one page?</a:t>
            </a:r>
          </a:p>
        </p:txBody>
      </p:sp>
      <p:sp>
        <p:nvSpPr>
          <p:cNvPr id="25" name="Oval 24"/>
          <p:cNvSpPr/>
          <p:nvPr/>
        </p:nvSpPr>
        <p:spPr>
          <a:xfrm>
            <a:off x="64808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90538"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it sound like?</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S93  ·  44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