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Say once that the afternoon runs the dojo (a number sized from nothing,</a:t>
            </a:r>
          </a:p>
          <a:p>
            <a:r>
              <a:t>then checked), the written case (the morning's slide as one page), the two transcripts and the</a:t>
            </a:r>
          </a:p>
          <a:p>
            <a:r>
              <a:t>gallery, with no new technique. The dojo opens on the canteen's tea (10), drivers at the evening peak worked</a:t>
            </a:r>
          </a:p>
          <a:p>
            <a:r>
              <a:t>together (30), UPI in pairs against the clock (25). Chapter 4 is L5 of the ladder on an estimate.</a:t>
            </a:r>
          </a:p>
          <a:p>
            <a:r>
              <a:t>Styles: Brilliant (the chapter opens on which number to check against), StatQuest (round numbers</a:t>
            </a:r>
          </a:p>
          <a:p>
            <a:r>
              <a:t>spoken aloud, the running product on the board), explorable explanations (explorer scene T3, the</a:t>
            </a:r>
          </a:p>
          <a:p>
            <a:r>
              <a:t>guesstimate tree with a slider per factor). Mid-session drill 2, four estimates and their checks,</a:t>
            </a:r>
          </a:p>
          <a:p>
            <a:r>
              <a:t>is in exercises/unguided for the lab if the room runs short here.</a:t>
            </a:r>
          </a:p>
          <a:p>
            <a:r>
              <a:t>Transition: the opening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then a show of letters. Expect a, because it is the only number</a:t>
            </a:r>
          </a:p>
          <a:p>
            <a:r>
              <a:t>on the list the room has seen.</a:t>
            </a:r>
          </a:p>
          <a:p>
            <a:r>
              <a:t>Transition: the answer, and the rule behind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Write the three words on the board: unit, period, definition. They stay up all</a:t>
            </a:r>
          </a:p>
          <a:p>
            <a:r>
              <a:t>afternoon.</a:t>
            </a:r>
          </a:p>
          <a:p>
            <a:r>
              <a:t>Transition: the warm-up,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the room for each value and write the one it settles on; say the running</a:t>
            </a:r>
          </a:p>
          <a:p>
            <a:r>
              <a:t>product aloud: 2,000, then 1,200 who buy, then 2,400 cups.</a:t>
            </a:r>
          </a:p>
          <a:p>
            <a:r>
              <a:t>Transition: the four steps as a strip.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step. The step first estimates skip is the fourth.</a:t>
            </a:r>
          </a:p>
          <a:p>
            <a:r>
              <a:t>Transition: the city head's question, clarified.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room for the clarifying questions before showing the table. A candidate</a:t>
            </a:r>
          </a:p>
          <a:p>
            <a:r>
              <a:t>who skips this step is the one who lands on the trap at S42.</a:t>
            </a:r>
          </a:p>
          <a:p>
            <a:r>
              <a:t>Transition: the map.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the tree on the board with the room, leaf by leaf, asking for each value.</a:t>
            </a:r>
          </a:p>
          <a:p>
            <a:r>
              <a:t>Explorer scene T3 has a slider per leaf. The idle share's range, 0.22 to 0.38, is Monday's own</a:t>
            </a:r>
          </a:p>
          <a:p>
            <a:r>
              <a:t>share of online hours with no completed trip, before and after.</a:t>
            </a:r>
          </a:p>
          <a:p>
            <a:r>
              <a:t>Transition: the running product.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Say each step aloud and write the running result before the next. Then the</a:t>
            </a:r>
          </a:p>
          <a:p>
            <a:r>
              <a:t>question: letters on paper, two minutes with a neighbour, revote.</a:t>
            </a:r>
          </a:p>
          <a:p>
            <a:r>
              <a:t>Transition: the swing chart.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ride share is also the first number to replace: Uber's own dashboard holds</a:t>
            </a:r>
          </a:p>
          <a:p>
            <a:r>
              <a:t>peak requests an hour. The idle share is the assumption Monday showed moving, 0.22 to 0.38 of</a:t>
            </a:r>
          </a:p>
          <a:p>
            <a:r>
              <a:t>online hours with no trip in six weeks.</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Synthetic, labelled: these are the case's numbers, not Uber's. The chain errs on</a:t>
            </a:r>
          </a:p>
          <a:p>
            <a:r>
              <a:t>the generous side, so the buffer is the first factor to trim.</a:t>
            </a:r>
          </a:p>
          <a:p>
            <a:r>
              <a:t>Transition: the trap a hurried estimate falls into.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Write 41,700 and 5,700 side by side. Ask which step of the four was skipped:</a:t>
            </a:r>
          </a:p>
          <a:p>
            <a:r>
              <a:t>clarify. This is the trap the interviewer fishes for in transcript 2.</a:t>
            </a:r>
          </a:p>
          <a:p>
            <a:r>
              <a:t>Transition: UPI, in pairs.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Three minutes to set up, seven on the clock, two to swap sheets with the next</a:t>
            </a:r>
          </a:p>
          <a:p>
            <a:r>
              <a:t>pair. Collect three pairs' estimates on the board before the next slide.</a:t>
            </a:r>
          </a:p>
          <a:p>
            <a:r>
              <a:t>Transition: the published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board's estimates against 802 million. The worked chain lands 13 percent</a:t>
            </a:r>
          </a:p>
          <a:p>
            <a:r>
              <a:t>below: same order, a little low, and payments a day is the factor to revisit. Praise structure, not</a:t>
            </a:r>
          </a:p>
          <a:p>
            <a:r>
              <a:t>closeness.</a:t>
            </a:r>
          </a:p>
          <a:p>
            <a:r>
              <a:t>Transition: three traps a sanity check catches.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Sources, all checked 12 October 2026: The Tribune (9 August 2026) and Republic</a:t>
            </a:r>
          </a:p>
          <a:p>
            <a:r>
              <a:t>World (18 September 2026), both citing DMRC; Flipkart Stories (9 October 2026). In 2018 DMRC's</a:t>
            </a:r>
          </a:p>
          <a:p>
            <a:r>
              <a:t>line-utilisation count tallied a trip across three lines three times (PTI, 30 May 2018).</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taken from the traps slide's seven. Then the break.</a:t>
            </a:r>
          </a:p>
          <a:p>
            <a:r>
              <a:t>Transition: break, 10 minutes, then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individual, AI-free, handed in. The written case is the memo form of the</a:t>
            </a:r>
          </a:p>
          <a:p>
            <a:r>
              <a:t>morning's slide: L5 in writing. Style: Feynman (plain words a driver would follow), Minto (the</a:t>
            </a:r>
          </a:p>
          <a:p>
            <a:r>
              <a:t>answer first).</a:t>
            </a:r>
          </a:p>
          <a:p>
            <a:r>
              <a:t>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checklist handed back after the slot asks five things: the claim first, one</a:t>
            </a:r>
          </a:p>
          <a:p>
            <a:r>
              <a:t>number with its denominator, the caveat in sight, the action with its cost and signer, no method</a:t>
            </a:r>
          </a:p>
          <a:p>
            <a:r>
              <a:t>words. Three or more is a pass.</a:t>
            </a:r>
          </a:p>
          <a:p>
            <a:r>
              <a:t>Transition: the forty minutes.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37 minutes of silent writing. Walk once early to answer scope questions and once near the</a:t>
            </a:r>
          </a:p>
          <a:p>
            <a:r>
              <a:t>end to signal the clock. No teaching inside the slot.</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Chapter 6 is L6 of the ladder: two transcripts and the AI-company variant, read</a:t>
            </a:r>
          </a:p>
          <a:p>
            <a:r>
              <a:t>in pairs and scored. The full transcripts are in extras/C2_W04_D02_interview_room_STUDENT.md.</a:t>
            </a:r>
          </a:p>
          <a:p>
            <a:r>
              <a:t>Style: interview rehearsal on annotated answers.</a:t>
            </a:r>
          </a:p>
          <a:p>
            <a:r>
              <a:t>Transition: transcript 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reads the interviewer, one the candidate; then the candidate answers</a:t>
            </a:r>
          </a:p>
          <a:p>
            <a:r>
              <a:t>the three follow-ups without notes. The weak opening reads nine numbers and lets the per-driver-week</a:t>
            </a:r>
          </a:p>
          <a:p>
            <a:r>
              <a:t>rise blur the claim.</a:t>
            </a:r>
          </a:p>
          <a:p>
            <a:r>
              <a:t>Transition: transcript 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Hire-grade lines for the follow-ups: the share of online hours with no completed</a:t>
            </a:r>
          </a:p>
          <a:p>
            <a:r>
              <a:t>trip, 0.22 before and 0.38 after; a four-hour window spreads the evening's 25,000 trips to about</a:t>
            </a:r>
          </a:p>
          <a:p>
            <a:r>
              <a:t>6,250 an hour and about 4,300 drivers, unless the extra hour adds trips; about 2,900 to 8,600, set</a:t>
            </a:r>
          </a:p>
          <a:p>
            <a:r>
              <a:t>by the share who ride.</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Ask which of the morning's three objections this resembles. Expect marketing's:</a:t>
            </a:r>
          </a:p>
          <a:p>
            <a:r>
              <a:t>both keep the visible number while the north star does the paying.</a:t>
            </a:r>
          </a:p>
          <a:p>
            <a:r>
              <a:t>Transition: scoring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pair scores both answers of one transcript on paper and compares with a</a:t>
            </a:r>
          </a:p>
          <a:p>
            <a:r>
              <a:t>neighbouring pair. The trainer's scored copies are in the trainer pack.</a:t>
            </a:r>
          </a:p>
          <a:p>
            <a:r>
              <a:t>Transition: the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line each; ask the room which one bit them today.</a:t>
            </a:r>
          </a:p>
          <a:p>
            <a:r>
              <a:t>Transition: the gallery.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Five minutes to walk and dot, five to read the top three titles aloud and name</a:t>
            </a:r>
          </a:p>
          <a:p>
            <a:r>
              <a:t>the part each does well. A high-scoring title that is still a topic is the example to discuss.</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Run the eight items from the Kahoot pack, read one line after each on what it</a:t>
            </a:r>
          </a:p>
          <a:p>
            <a:r>
              <a:t>tested, and revisit any item under 50 percent correct. Nothing is graded.</a:t>
            </a:r>
          </a:p>
          <a:p>
            <a:r>
              <a:t>Transition: where the day ends.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sentence once. Wednesday's pre-read ships tonight: the Instamart ticket's</a:t>
            </a:r>
          </a:p>
          <a:p>
            <a:r>
              <a:t>first lines and three terms, terms only.</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the unknown?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many drivers must be online at the evening peak, sized from stated assumptions, and how do you know the answer is sane?</a:t>
            </a:r>
          </a:p>
        </p:txBody>
      </p:sp>
      <p:sp>
        <p:nvSpPr>
          <p:cNvPr id="10" name="Rounded Rectangle 9"/>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would check this estimate?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 have sized drivers online at the weekday evening peak. Which of these numbers checks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Monday's rider requests after the launch, 256,556 over six weeks</a:t>
            </a:r>
          </a:p>
          <a:p>
            <a:pPr>
              <a:spcAft>
                <a:spcPts val="800"/>
              </a:spcAft>
            </a:pPr>
            <a:r>
              <a:rPr sz="1600" b="0" i="0">
                <a:solidFill>
                  <a:srgbClr val="1A1440"/>
                </a:solidFill>
                <a:latin typeface="Calibri"/>
              </a:rPr>
              <a:t>b) A published count of Uber drivers signed up in Hyderabad</a:t>
            </a:r>
          </a:p>
          <a:p>
            <a:pPr>
              <a:spcAft>
                <a:spcPts val="800"/>
              </a:spcAft>
            </a:pPr>
            <a:r>
              <a:rPr sz="1600" b="0" i="0">
                <a:solidFill>
                  <a:srgbClr val="1A1440"/>
                </a:solidFill>
                <a:latin typeface="Calibri"/>
              </a:rPr>
              <a:t>c) A published count of Uber drivers online at one weekday evening peak in Hyderabad</a:t>
            </a:r>
          </a:p>
          <a:p>
            <a:pPr>
              <a:spcAft>
                <a:spcPts val="800"/>
              </a:spcAft>
            </a:pPr>
            <a:r>
              <a:rPr sz="1600" b="0" i="0">
                <a:solidFill>
                  <a:srgbClr val="1A1440"/>
                </a:solidFill>
                <a:latin typeface="Calibri"/>
              </a:rPr>
              <a:t>d) The online driver-hours behind each rider request in the case's own data</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check in the same unit, period and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only one of the four check the estimate directly, and what do you do when it does not exist?</a:t>
            </a:r>
          </a:p>
        </p:txBody>
      </p:sp>
      <p:sp>
        <p:nvSpPr>
          <p:cNvPr id="9" name="TextBox 8"/>
          <p:cNvSpPr txBox="1"/>
          <p:nvPr/>
        </p:nvSpPr>
        <p:spPr>
          <a:xfrm>
            <a:off x="530352" y="1956816"/>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answer is c, and nobody publishes it, so its slot reads "to be found".</a:t>
            </a:r>
            <a:r>
              <a:rPr sz="1600" b="0" i="0">
                <a:solidFill>
                  <a:srgbClr val="1A1440"/>
                </a:solidFill>
                <a:latin typeface="Calibri"/>
              </a:rPr>
              <a:t> a is a six-week total for the twelve zones the enrolled drivers work, a different period and a smaller area. b counts sign-ups, a different definition from drivers online at one moment. d checks one link in the chain, the ratio, and that is the check the afternoon uses.</a:t>
            </a:r>
          </a:p>
        </p:txBody>
      </p:sp>
      <p:pic>
        <p:nvPicPr>
          <p:cNvPr id="10" name="mermaid diagram" descr="7fa94f507106ecf8.png"/>
          <p:cNvPicPr>
            <a:picLocks noChangeAspect="1"/>
          </p:cNvPicPr>
          <p:nvPr/>
        </p:nvPicPr>
        <p:blipFill>
          <a:blip r:embed="rId5"/>
          <a:stretch>
            <a:fillRect/>
          </a:stretch>
        </p:blipFill>
        <p:spPr>
          <a:xfrm>
            <a:off x="530352" y="3409696"/>
            <a:ext cx="11130991" cy="2330358"/>
          </a:xfrm>
          <a:prstGeom prst="rect">
            <a:avLst/>
          </a:prstGeom>
        </p:spPr>
      </p:pic>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canteen's tea, in four steps aloud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cups of tea does the campus canteen sell on a weekday?</a:t>
            </a:r>
          </a:p>
        </p:txBody>
      </p:sp>
      <p:pic>
        <p:nvPicPr>
          <p:cNvPr id="9" name="mermaid diagram" descr="5c00696a685b32ec.png"/>
          <p:cNvPicPr>
            <a:picLocks noChangeAspect="1"/>
          </p:cNvPicPr>
          <p:nvPr/>
        </p:nvPicPr>
        <p:blipFill>
          <a:blip r:embed="rId5"/>
          <a:stretch>
            <a:fillRect/>
          </a:stretch>
        </p:blipFill>
        <p:spPr>
          <a:xfrm>
            <a:off x="530352" y="1740683"/>
            <a:ext cx="4786326" cy="4400761"/>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A toy, invented for this class. </a:t>
            </a:r>
            <a:r>
              <a:rPr sz="1500" b="0" i="0">
                <a:solidFill>
                  <a:srgbClr val="1A1440"/>
                </a:solidFill>
                <a:latin typeface="Calibri"/>
              </a:rPr>
              <a:t>Clarify: one canteen, one weekday, cups and not litres. Map: students on campus x the share who buy tea x cups each. Calculate: 2,000 x 0.6 x 2 = 2,400 cups. Validate: the canteen's till for one weekday; failing that, cups counted at the counter for one busy half hour.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guesstimate runs in four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estimate in the dojo, and in an interview, do in order?</a:t>
            </a:r>
          </a:p>
        </p:txBody>
      </p:sp>
      <p:pic>
        <p:nvPicPr>
          <p:cNvPr id="9" name="mermaid diagram" descr="8a06e3b1b5164d64.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Interviewers score the structure and the sanity check, and hardly ever the final number.</a:t>
            </a:r>
            <a:r>
              <a:rPr sz="1600" b="0" i="0">
                <a:solidFill>
                  <a:srgbClr val="1A1440"/>
                </a:solidFill>
                <a:latin typeface="Calibri"/>
              </a:rPr>
              <a:t> Aced's analyst guide says the interviewer is evaluating the estimation framework and wants each assumption stated so it can be challenged (checked 12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five questions pin the estimate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pin the estimate down before any number is written?</a:t>
            </a:r>
          </a:p>
        </p:txBody>
      </p:sp>
      <p:graphicFrame>
        <p:nvGraphicFramePr>
          <p:cNvPr id="9" name="Table 8"/>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3006662"/>
                <a:gridCol w="8124328"/>
              </a:tblGrid>
              <a:tr h="369824">
                <a:tc>
                  <a:txBody>
                    <a:bodyPr/>
                    <a:lstStyle/>
                    <a:p>
                      <a:r>
                        <a:rPr sz="1450" b="1" i="0">
                          <a:solidFill>
                            <a:srgbClr val="FFFFFF"/>
                          </a:solidFill>
                          <a:latin typeface="Calibri"/>
                        </a:rPr>
                        <a:t>Ask</a:t>
                      </a:r>
                    </a:p>
                  </a:txBody>
                  <a:tcPr marL="101600" marR="101600" marT="38100" marB="38100" anchor="ctr">
                    <a:solidFill>
                      <a:srgbClr val="1A0F5C"/>
                    </a:solidFill>
                  </a:tcPr>
                </a:tc>
                <a:tc>
                  <a:txBody>
                    <a:bodyPr/>
                    <a:lstStyle/>
                    <a:p>
                      <a:r>
                        <a:rPr sz="1450" b="1" i="0">
                          <a:solidFill>
                            <a:srgbClr val="FFFFFF"/>
                          </a:solidFill>
                          <a:latin typeface="Calibri"/>
                        </a:rPr>
                        <a:t>The answer to work with</a:t>
                      </a:r>
                    </a:p>
                  </a:txBody>
                  <a:tcPr marL="101600" marR="101600" marT="38100" marB="38100" anchor="ctr">
                    <a:solidFill>
                      <a:srgbClr val="1A0F5C"/>
                    </a:solidFill>
                  </a:tcPr>
                </a:tc>
              </a:tr>
              <a:tr h="369824">
                <a:tc>
                  <a:txBody>
                    <a:bodyPr/>
                    <a:lstStyle/>
                    <a:p>
                      <a:r>
                        <a:rPr sz="1400" b="0" i="0">
                          <a:solidFill>
                            <a:srgbClr val="1A1440"/>
                          </a:solidFill>
                          <a:latin typeface="Calibri"/>
                        </a:rPr>
                        <a:t>Which city?</a:t>
                      </a:r>
                    </a:p>
                  </a:txBody>
                  <a:tcPr marL="101600" marR="101600" marT="38100" marB="38100" anchor="ctr">
                    <a:solidFill>
                      <a:srgbClr val="FFFFFF"/>
                    </a:solidFill>
                  </a:tcPr>
                </a:tc>
                <a:tc>
                  <a:txBody>
                    <a:bodyPr/>
                    <a:lstStyle/>
                    <a:p>
                      <a:r>
                        <a:rPr sz="1400" b="0" i="0">
                          <a:solidFill>
                            <a:srgbClr val="1A1440"/>
                          </a:solidFill>
                          <a:latin typeface="Calibri"/>
                        </a:rPr>
                        <a:t>The Hyderabad metro area, Uber only</a:t>
                      </a:r>
                    </a:p>
                  </a:txBody>
                  <a:tcPr marL="101600" marR="101600" marT="38100" marB="38100" anchor="ctr">
                    <a:solidFill>
                      <a:srgbClr val="FFFFFF"/>
                    </a:solidFill>
                  </a:tcPr>
                </a:tc>
              </a:tr>
              <a:tr h="369824">
                <a:tc>
                  <a:txBody>
                    <a:bodyPr/>
                    <a:lstStyle/>
                    <a:p>
                      <a:r>
                        <a:rPr sz="1400" b="0" i="0">
                          <a:solidFill>
                            <a:srgbClr val="1A1440"/>
                          </a:solidFill>
                          <a:latin typeface="Calibri"/>
                        </a:rPr>
                        <a:t>Which window?</a:t>
                      </a:r>
                    </a:p>
                  </a:txBody>
                  <a:tcPr marL="101600" marR="101600" marT="38100" marB="38100" anchor="ctr">
                    <a:solidFill>
                      <a:srgbClr val="F4F2FA"/>
                    </a:solidFill>
                  </a:tcPr>
                </a:tc>
                <a:tc>
                  <a:txBody>
                    <a:bodyPr/>
                    <a:lstStyle/>
                    <a:p>
                      <a:r>
                        <a:rPr sz="1400" b="0" i="0">
                          <a:solidFill>
                            <a:srgbClr val="1A1440"/>
                          </a:solidFill>
                          <a:latin typeface="Calibri"/>
                        </a:rPr>
                        <a:t>The weekday evening peak, three hours long</a:t>
                      </a:r>
                    </a:p>
                  </a:txBody>
                  <a:tcPr marL="101600" marR="101600" marT="38100" marB="38100" anchor="ctr">
                    <a:solidFill>
                      <a:srgbClr val="F4F2FA"/>
                    </a:solidFill>
                  </a:tcPr>
                </a:tc>
              </a:tr>
              <a:tr h="611632">
                <a:tc>
                  <a:txBody>
                    <a:bodyPr/>
                    <a:lstStyle/>
                    <a:p>
                      <a:r>
                        <a:rPr sz="1400" b="0" i="0">
                          <a:solidFill>
                            <a:srgbClr val="1A1440"/>
                          </a:solidFill>
                          <a:latin typeface="Calibri"/>
                        </a:rPr>
                        <a:t>Drivers online when?</a:t>
                      </a:r>
                    </a:p>
                  </a:txBody>
                  <a:tcPr marL="101600" marR="101600" marT="38100" marB="38100" anchor="ctr">
                    <a:solidFill>
                      <a:srgbClr val="FFFFFF"/>
                    </a:solidFill>
                  </a:tcPr>
                </a:tc>
                <a:tc>
                  <a:txBody>
                    <a:bodyPr/>
                    <a:lstStyle/>
                    <a:p>
                      <a:r>
                        <a:rPr sz="1400" b="0" i="0">
                          <a:solidFill>
                            <a:srgbClr val="1A1440"/>
                          </a:solidFill>
                          <a:latin typeface="Calibri"/>
                        </a:rPr>
                        <a:t>At one moment inside the window, since a count summed over three hours is another unit</a:t>
                      </a:r>
                    </a:p>
                  </a:txBody>
                  <a:tcPr marL="101600" marR="101600" marT="38100" marB="38100" anchor="ctr">
                    <a:solidFill>
                      <a:srgbClr val="FFFFFF"/>
                    </a:solidFill>
                  </a:tcPr>
                </a:tc>
              </a:tr>
              <a:tr h="369824">
                <a:tc>
                  <a:txBody>
                    <a:bodyPr/>
                    <a:lstStyle/>
                    <a:p>
                      <a:r>
                        <a:rPr sz="1400" b="0" i="0">
                          <a:solidFill>
                            <a:srgbClr val="1A1440"/>
                          </a:solidFill>
                          <a:latin typeface="Calibri"/>
                        </a:rPr>
                        <a:t>What target?</a:t>
                      </a:r>
                    </a:p>
                  </a:txBody>
                  <a:tcPr marL="101600" marR="101600" marT="38100" marB="38100" anchor="ctr">
                    <a:solidFill>
                      <a:srgbClr val="F4F2FA"/>
                    </a:solidFill>
                  </a:tcPr>
                </a:tc>
                <a:tc>
                  <a:txBody>
                    <a:bodyPr/>
                    <a:lstStyle/>
                    <a:p>
                      <a:r>
                        <a:rPr sz="1400" b="0" i="0">
                          <a:solidFill>
                            <a:srgbClr val="1A1440"/>
                          </a:solidFill>
                          <a:latin typeface="Calibri"/>
                        </a:rPr>
                        <a:t>A median rider wait under five minutes</a:t>
                      </a:r>
                    </a:p>
                  </a:txBody>
                  <a:tcPr marL="101600" marR="101600" marT="38100" marB="38100" anchor="ctr">
                    <a:solidFill>
                      <a:srgbClr val="F4F2FA"/>
                    </a:solidFill>
                  </a:tcPr>
                </a:tc>
              </a:tr>
              <a:tr h="369824">
                <a:tc>
                  <a:txBody>
                    <a:bodyPr/>
                    <a:lstStyle/>
                    <a:p>
                      <a:r>
                        <a:rPr sz="1400" b="0" i="0">
                          <a:solidFill>
                            <a:srgbClr val="1A1440"/>
                          </a:solidFill>
                          <a:latin typeface="Calibri"/>
                        </a:rPr>
                        <a:t>Requests or trips?</a:t>
                      </a:r>
                    </a:p>
                  </a:txBody>
                  <a:tcPr marL="101600" marR="101600" marT="38100" marB="38100" anchor="ctr">
                    <a:solidFill>
                      <a:srgbClr val="FFFFFF"/>
                    </a:solidFill>
                  </a:tcPr>
                </a:tc>
                <a:tc>
                  <a:txBody>
                    <a:bodyPr/>
                    <a:lstStyle/>
                    <a:p>
                      <a:r>
                        <a:rPr sz="1400" b="0" i="0">
                          <a:solidFill>
                            <a:srgbClr val="1A1440"/>
                          </a:solidFill>
                          <a:latin typeface="Calibri"/>
                        </a:rPr>
                        <a:t>Rider requests, each one a trip to serve</a:t>
                      </a:r>
                    </a:p>
                  </a:txBody>
                  <a:tcPr marL="101600" marR="101600" marT="38100" marB="38100" anchor="ctr">
                    <a:solidFill>
                      <a:srgbClr val="FFFFFF"/>
                    </a:solidFill>
                  </a:tcPr>
                </a:tc>
              </a:tr>
            </a:tbl>
          </a:graphicData>
        </a:graphic>
      </p:graphicFrame>
      <p:sp>
        <p:nvSpPr>
          <p:cNvPr id="10" name="Rounded Rectangle 9"/>
          <p:cNvSpPr/>
          <p:nvPr/>
        </p:nvSpPr>
        <p:spPr>
          <a:xfrm>
            <a:off x="530352" y="4673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01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92472"/>
            <a:ext cx="10564063" cy="624840"/>
          </a:xfrm>
          <a:prstGeom prst="rect">
            <a:avLst/>
          </a:prstGeom>
          <a:noFill/>
        </p:spPr>
        <p:txBody>
          <a:bodyPr wrap="square" anchor="ctr" lIns="0" rIns="0" tIns="0" bIns="0">
            <a:spAutoFit/>
          </a:bodyPr>
          <a:lstStyle/>
          <a:p>
            <a:r>
              <a:rPr sz="1500" b="1">
                <a:solidFill>
                  <a:srgbClr val="5B3FD6"/>
                </a:solidFill>
                <a:latin typeface="Calibri"/>
              </a:rPr>
              <a:t>The unit is drivers online at one moment. </a:t>
            </a:r>
            <a:r>
              <a:rPr sz="1500" b="0" i="0">
                <a:solidFill>
                  <a:srgbClr val="1A1440"/>
                </a:solidFill>
                <a:latin typeface="Calibri"/>
              </a:rPr>
              <a:t>Every factor in the chain must arrive in a unit that multiplies into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 drivers online as a chain of factors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factors multiply into drivers online at the evening peak?</a:t>
            </a:r>
          </a:p>
        </p:txBody>
      </p:sp>
      <p:pic>
        <p:nvPicPr>
          <p:cNvPr id="9" name="mermaid diagram" descr="803fa967d70fa5f8.png"/>
          <p:cNvPicPr>
            <a:picLocks noChangeAspect="1"/>
          </p:cNvPicPr>
          <p:nvPr/>
        </p:nvPicPr>
        <p:blipFill>
          <a:blip r:embed="rId5"/>
          <a:stretch>
            <a:fillRect/>
          </a:stretch>
        </p:blipFill>
        <p:spPr>
          <a:xfrm>
            <a:off x="1115415" y="1664208"/>
            <a:ext cx="99608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Drivers online = requests an hour / trips per online driver-hour x buffer.</a:t>
            </a:r>
            <a:r>
              <a:rPr sz="1600" b="0" i="0">
                <a:solidFill>
                  <a:srgbClr val="1A1440"/>
                </a:solidFill>
                <a:latin typeface="Calibri"/>
              </a:rPr>
              <a:t> Each leaf is an assumption with a range. A trip at the peak takes about 25 minutes from accepting to dropping, so a busy driver fits 2.4 an hour; the idle share is the share of online drivers with no rider at that moment.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Calculate aloud: about 5,700 drivers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chain multiply out to, step by step?</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442445"/>
                <a:gridCol w="2762886"/>
                <a:gridCol w="3925658"/>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Said aloud</a:t>
                      </a:r>
                    </a:p>
                  </a:txBody>
                  <a:tcPr marL="101600" marR="101600" marT="38100" marB="38100" anchor="ctr">
                    <a:solidFill>
                      <a:srgbClr val="1A0F5C"/>
                    </a:solidFill>
                  </a:tcPr>
                </a:tc>
                <a:tc>
                  <a:txBody>
                    <a:bodyPr/>
                    <a:lstStyle/>
                    <a:p>
                      <a:r>
                        <a:rPr sz="1450" b="1" i="0">
                          <a:solidFill>
                            <a:srgbClr val="FFFFFF"/>
                          </a:solidFill>
                          <a:latin typeface="Calibri"/>
                        </a:rPr>
                        <a:t>Running result</a:t>
                      </a:r>
                    </a:p>
                  </a:txBody>
                  <a:tcPr marL="101600" marR="101600" marT="38100" marB="38100" anchor="ctr">
                    <a:solidFill>
                      <a:srgbClr val="1A0F5C"/>
                    </a:solidFill>
                  </a:tcPr>
                </a:tc>
              </a:tr>
              <a:tr h="369824">
                <a:tc>
                  <a:txBody>
                    <a:bodyPr/>
                    <a:lstStyle/>
                    <a:p>
                      <a:r>
                        <a:rPr sz="1400" b="0" i="0">
                          <a:solidFill>
                            <a:srgbClr val="1A1440"/>
                          </a:solidFill>
                          <a:latin typeface="Calibri"/>
                        </a:rPr>
                        <a:t>People x share who ride</a:t>
                      </a:r>
                    </a:p>
                  </a:txBody>
                  <a:tcPr marL="101600" marR="101600" marT="38100" marB="38100" anchor="ctr">
                    <a:solidFill>
                      <a:srgbClr val="FFFFFF"/>
                    </a:solidFill>
                  </a:tcPr>
                </a:tc>
                <a:tc>
                  <a:txBody>
                    <a:bodyPr/>
                    <a:lstStyle/>
                    <a:p>
                      <a:r>
                        <a:rPr sz="1400" b="0" i="0">
                          <a:solidFill>
                            <a:srgbClr val="1A1440"/>
                          </a:solidFill>
                          <a:latin typeface="Calibri"/>
                        </a:rPr>
                        <a:t>1 crore x 1 percent</a:t>
                      </a:r>
                    </a:p>
                  </a:txBody>
                  <a:tcPr marL="101600" marR="101600" marT="38100" marB="38100" anchor="ctr">
                    <a:solidFill>
                      <a:srgbClr val="FFFFFF"/>
                    </a:solidFill>
                  </a:tcPr>
                </a:tc>
                <a:tc>
                  <a:txBody>
                    <a:bodyPr/>
                    <a:lstStyle/>
                    <a:p>
                      <a:r>
                        <a:rPr sz="1400" b="0" i="0">
                          <a:solidFill>
                            <a:srgbClr val="1A1440"/>
                          </a:solidFill>
                          <a:latin typeface="Calibri"/>
                        </a:rPr>
                        <a:t>1 lakh trips a day</a:t>
                      </a:r>
                    </a:p>
                  </a:txBody>
                  <a:tcPr marL="101600" marR="101600" marT="38100" marB="38100" anchor="ctr">
                    <a:solidFill>
                      <a:srgbClr val="FFFFFF"/>
                    </a:solidFill>
                  </a:tcPr>
                </a:tc>
              </a:tr>
              <a:tr h="369824">
                <a:tc>
                  <a:txBody>
                    <a:bodyPr/>
                    <a:lstStyle/>
                    <a:p>
                      <a:r>
                        <a:rPr sz="1400" b="0" i="0">
                          <a:solidFill>
                            <a:srgbClr val="1A1440"/>
                          </a:solidFill>
                          <a:latin typeface="Calibri"/>
                        </a:rPr>
                        <a:t>x share in the evening</a:t>
                      </a:r>
                    </a:p>
                  </a:txBody>
                  <a:tcPr marL="101600" marR="101600" marT="38100" marB="38100" anchor="ctr">
                    <a:solidFill>
                      <a:srgbClr val="F4F2FA"/>
                    </a:solidFill>
                  </a:tcPr>
                </a:tc>
                <a:tc>
                  <a:txBody>
                    <a:bodyPr/>
                    <a:lstStyle/>
                    <a:p>
                      <a:r>
                        <a:rPr sz="1400" b="0" i="0">
                          <a:solidFill>
                            <a:srgbClr val="1A1440"/>
                          </a:solidFill>
                          <a:latin typeface="Calibri"/>
                        </a:rPr>
                        <a:t>x a quarter</a:t>
                      </a:r>
                    </a:p>
                  </a:txBody>
                  <a:tcPr marL="101600" marR="101600" marT="38100" marB="38100" anchor="ctr">
                    <a:solidFill>
                      <a:srgbClr val="F4F2FA"/>
                    </a:solidFill>
                  </a:tcPr>
                </a:tc>
                <a:tc>
                  <a:txBody>
                    <a:bodyPr/>
                    <a:lstStyle/>
                    <a:p>
                      <a:r>
                        <a:rPr sz="1400" b="0" i="0">
                          <a:solidFill>
                            <a:srgbClr val="1A1440"/>
                          </a:solidFill>
                          <a:latin typeface="Calibri"/>
                        </a:rPr>
                        <a:t>25,000 in the window</a:t>
                      </a:r>
                    </a:p>
                  </a:txBody>
                  <a:tcPr marL="101600" marR="101600" marT="38100" marB="38100" anchor="ctr">
                    <a:solidFill>
                      <a:srgbClr val="F4F2FA"/>
                    </a:solidFill>
                  </a:tcPr>
                </a:tc>
              </a:tr>
              <a:tr h="369824">
                <a:tc>
                  <a:txBody>
                    <a:bodyPr/>
                    <a:lstStyle/>
                    <a:p>
                      <a:r>
                        <a:rPr sz="1400" b="0" i="0">
                          <a:solidFill>
                            <a:srgbClr val="1A1440"/>
                          </a:solidFill>
                          <a:latin typeface="Calibri"/>
                        </a:rPr>
                        <a:t>/ three hours</a:t>
                      </a:r>
                    </a:p>
                  </a:txBody>
                  <a:tcPr marL="101600" marR="101600" marT="38100" marB="38100" anchor="ctr">
                    <a:solidFill>
                      <a:srgbClr val="FFFFFF"/>
                    </a:solidFill>
                  </a:tcPr>
                </a:tc>
                <a:tc>
                  <a:txBody>
                    <a:bodyPr/>
                    <a:lstStyle/>
                    <a:p>
                      <a:r>
                        <a:rPr sz="1400" b="0" i="0">
                          <a:solidFill>
                            <a:srgbClr val="1A1440"/>
                          </a:solidFill>
                          <a:latin typeface="Calibri"/>
                        </a:rPr>
                        <a:t>/ 3</a:t>
                      </a:r>
                    </a:p>
                  </a:txBody>
                  <a:tcPr marL="101600" marR="101600" marT="38100" marB="38100" anchor="ctr">
                    <a:solidFill>
                      <a:srgbClr val="FFFFFF"/>
                    </a:solidFill>
                  </a:tcPr>
                </a:tc>
                <a:tc>
                  <a:txBody>
                    <a:bodyPr/>
                    <a:lstStyle/>
                    <a:p>
                      <a:r>
                        <a:rPr sz="1400" b="0" i="0">
                          <a:solidFill>
                            <a:srgbClr val="1A1440"/>
                          </a:solidFill>
                          <a:latin typeface="Calibri"/>
                        </a:rPr>
                        <a:t>about 8,300 requests an hour</a:t>
                      </a:r>
                    </a:p>
                  </a:txBody>
                  <a:tcPr marL="101600" marR="101600" marT="38100" marB="38100" anchor="ctr">
                    <a:solidFill>
                      <a:srgbClr val="FFFFFF"/>
                    </a:solidFill>
                  </a:tcPr>
                </a:tc>
              </a:tr>
              <a:tr h="369824">
                <a:tc>
                  <a:txBody>
                    <a:bodyPr/>
                    <a:lstStyle/>
                    <a:p>
                      <a:r>
                        <a:rPr sz="1400" b="0" i="0">
                          <a:solidFill>
                            <a:srgbClr val="1A1440"/>
                          </a:solidFill>
                          <a:latin typeface="Calibri"/>
                        </a:rPr>
                        <a:t>Trips per online driver-hour</a:t>
                      </a:r>
                    </a:p>
                  </a:txBody>
                  <a:tcPr marL="101600" marR="101600" marT="38100" marB="38100" anchor="ctr">
                    <a:solidFill>
                      <a:srgbClr val="F4F2FA"/>
                    </a:solidFill>
                  </a:tcPr>
                </a:tc>
                <a:tc>
                  <a:txBody>
                    <a:bodyPr/>
                    <a:lstStyle/>
                    <a:p>
                      <a:r>
                        <a:rPr sz="1400" b="0" i="0">
                          <a:solidFill>
                            <a:srgbClr val="1A1440"/>
                          </a:solidFill>
                          <a:latin typeface="Calibri"/>
                        </a:rPr>
                        <a:t>2.4 x (1 - 0.30)</a:t>
                      </a:r>
                    </a:p>
                  </a:txBody>
                  <a:tcPr marL="101600" marR="101600" marT="38100" marB="38100" anchor="ctr">
                    <a:solidFill>
                      <a:srgbClr val="F4F2FA"/>
                    </a:solidFill>
                  </a:tcPr>
                </a:tc>
                <a:tc>
                  <a:txBody>
                    <a:bodyPr/>
                    <a:lstStyle/>
                    <a:p>
                      <a:r>
                        <a:rPr sz="1400" b="0" i="0">
                          <a:solidFill>
                            <a:srgbClr val="1A1440"/>
                          </a:solidFill>
                          <a:latin typeface="Calibri"/>
                        </a:rPr>
                        <a:t>1.68</a:t>
                      </a:r>
                    </a:p>
                  </a:txBody>
                  <a:tcPr marL="101600" marR="101600" marT="38100" marB="38100" anchor="ctr">
                    <a:solidFill>
                      <a:srgbClr val="F4F2FA"/>
                    </a:solidFill>
                  </a:tcPr>
                </a:tc>
              </a:tr>
              <a:tr h="369824">
                <a:tc>
                  <a:txBody>
                    <a:bodyPr/>
                    <a:lstStyle/>
                    <a:p>
                      <a:r>
                        <a:rPr sz="1400" b="0" i="0">
                          <a:solidFill>
                            <a:srgbClr val="1A1440"/>
                          </a:solidFill>
                          <a:latin typeface="Calibri"/>
                        </a:rPr>
                        <a:t>Requests / trips per driver-hour</a:t>
                      </a:r>
                    </a:p>
                  </a:txBody>
                  <a:tcPr marL="101600" marR="101600" marT="38100" marB="38100" anchor="ctr">
                    <a:solidFill>
                      <a:srgbClr val="FFFFFF"/>
                    </a:solidFill>
                  </a:tcPr>
                </a:tc>
                <a:tc>
                  <a:txBody>
                    <a:bodyPr/>
                    <a:lstStyle/>
                    <a:p>
                      <a:r>
                        <a:rPr sz="1400" b="0" i="0">
                          <a:solidFill>
                            <a:srgbClr val="1A1440"/>
                          </a:solidFill>
                          <a:latin typeface="Calibri"/>
                        </a:rPr>
                        <a:t>8,300 / 1.68</a:t>
                      </a:r>
                    </a:p>
                  </a:txBody>
                  <a:tcPr marL="101600" marR="101600" marT="38100" marB="38100" anchor="ctr">
                    <a:solidFill>
                      <a:srgbClr val="FFFFFF"/>
                    </a:solidFill>
                  </a:tcPr>
                </a:tc>
                <a:tc>
                  <a:txBody>
                    <a:bodyPr/>
                    <a:lstStyle/>
                    <a:p>
                      <a:r>
                        <a:rPr sz="1400" b="0" i="0">
                          <a:solidFill>
                            <a:srgbClr val="1A1440"/>
                          </a:solidFill>
                          <a:latin typeface="Calibri"/>
                        </a:rPr>
                        <a:t>about 4,960 drivers</a:t>
                      </a:r>
                    </a:p>
                  </a:txBody>
                  <a:tcPr marL="101600" marR="101600" marT="38100" marB="38100" anchor="ctr">
                    <a:solidFill>
                      <a:srgbClr val="FFFFFF"/>
                    </a:solidFill>
                  </a:tcPr>
                </a:tc>
              </a:tr>
              <a:tr h="369824">
                <a:tc>
                  <a:txBody>
                    <a:bodyPr/>
                    <a:lstStyle/>
                    <a:p>
                      <a:r>
                        <a:rPr sz="1400" b="0" i="0">
                          <a:solidFill>
                            <a:srgbClr val="1A1440"/>
                          </a:solidFill>
                          <a:latin typeface="Calibri"/>
                        </a:rPr>
                        <a:t>x buffer</a:t>
                      </a:r>
                    </a:p>
                  </a:txBody>
                  <a:tcPr marL="101600" marR="101600" marT="38100" marB="38100" anchor="ctr">
                    <a:solidFill>
                      <a:srgbClr val="F4F2FA"/>
                    </a:solidFill>
                  </a:tcPr>
                </a:tc>
                <a:tc>
                  <a:txBody>
                    <a:bodyPr/>
                    <a:lstStyle/>
                    <a:p>
                      <a:r>
                        <a:rPr sz="1400" b="0" i="0">
                          <a:solidFill>
                            <a:srgbClr val="1A1440"/>
                          </a:solidFill>
                          <a:latin typeface="Calibri"/>
                        </a:rPr>
                        <a:t>x 1.15</a:t>
                      </a:r>
                    </a:p>
                  </a:txBody>
                  <a:tcPr marL="101600" marR="101600" marT="38100" marB="38100" anchor="ctr">
                    <a:solidFill>
                      <a:srgbClr val="F4F2FA"/>
                    </a:solidFill>
                  </a:tcPr>
                </a:tc>
                <a:tc>
                  <a:txBody>
                    <a:bodyPr/>
                    <a:lstStyle/>
                    <a:p>
                      <a:r>
                        <a:rPr sz="1400" b="0" i="0">
                          <a:solidFill>
                            <a:srgbClr val="1A1440"/>
                          </a:solidFill>
                          <a:latin typeface="Calibri"/>
                        </a:rPr>
                        <a:t>about 5,700 drivers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96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204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assumption moves the answer most across its range: a) the idle share, b) the share who ride on a weekday, c) the buffer, d) the trips a busy driver fits in an hour?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share who ride moves it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wide is the honest range, and which factor sets it?</a:t>
            </a:r>
          </a:p>
        </p:txBody>
      </p:sp>
      <p:pic>
        <p:nvPicPr>
          <p:cNvPr id="9" name="mermaid diagram" descr="C2_W04_D02_guesstimate_swing_STUDENT.png"/>
          <p:cNvPicPr>
            <a:picLocks noChangeAspect="1"/>
          </p:cNvPicPr>
          <p:nvPr/>
        </p:nvPicPr>
        <p:blipFill>
          <a:blip r:embed="rId4"/>
          <a:stretch>
            <a:fillRect/>
          </a:stretch>
        </p:blipFill>
        <p:spPr>
          <a:xfrm>
            <a:off x="2353807" y="1664208"/>
            <a:ext cx="7484080"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assumption moves the answer</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With every other factor at its central value, a ride share of 0.5 to 1.5 percent moves the answer from about 2,900 to about 8,600. The idle share moves it from about 5,100 to 6,400. </a:t>
            </a:r>
            <a:r>
              <a:rPr sz="1000" b="1" i="0">
                <a:solidFill>
                  <a:srgbClr val="1A1440"/>
                </a:solidFill>
                <a:latin typeface="Calibri"/>
              </a:rPr>
              <a:t>Say it as:</a:t>
            </a:r>
            <a:r>
              <a:rPr sz="1000" b="0" i="0">
                <a:solidFill>
                  <a:srgbClr val="1A1440"/>
                </a:solidFill>
                <a:latin typeface="Calibri"/>
              </a:rPr>
              <a:t> "about 5,700, between about 2,900 and 8,600, and mostly a question of how many people ride."</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6" name="Oval 1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the case can check a ratio, never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estimate can the case's own data confirm?</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0.47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REQUEST,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twelve zones, median wait 4.8 minutes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0.57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REQUEST, AFTER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zones, median wait 4.6 minutes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CHAIN, BEFORE ITS BUFFER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 1.68, about a quarter above 0.47</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Monday's data counts peak hours on all seven days, two three-hour windows a day, 42 hours a week,</a:t>
            </a:r>
            <a:r>
              <a:rPr sz="1600" b="0" i="0">
                <a:solidFill>
                  <a:srgbClr val="1A1440"/>
                </a:solidFill>
                <a:latin typeface="Calibri"/>
              </a:rPr>
              <a:t> so its 256,556 after-window requests are about 1,018 an hour: a slice of the city run by 1,200 drivers, which can check the ratio and never the city's count. The published figure for Uber drivers online at Hyderabad's evening peak is to be found.</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a day's trips divided by an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the units are not clarified?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 crore people, 1 percent ride, so 1 lakh trips; a driver does 2.4 trips an hour; so about 41,700 drivers." A city head who takes that to the review asks for incentives for about seven times the drivers the chain says.</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day's trips were divided by an hour's trips per driver, and the idle share and the evening window were skipped. </a:t>
            </a:r>
            <a:r>
              <a:rPr sz="1500" b="1" i="0">
                <a:solidFill>
                  <a:srgbClr val="1A1440"/>
                </a:solidFill>
                <a:latin typeface="Calibri"/>
              </a:rPr>
              <a:t>The check:</a:t>
            </a:r>
            <a:r>
              <a:rPr sz="1500" b="0" i="0">
                <a:solidFill>
                  <a:srgbClr val="1A1440"/>
                </a:solidFill>
                <a:latin typeface="Calibri"/>
              </a:rPr>
              <a:t> write the unit beside every factor. </a:t>
            </a:r>
            <a:r>
              <a:rPr sz="1500" b="1" i="0">
                <a:solidFill>
                  <a:srgbClr val="1A1440"/>
                </a:solidFill>
                <a:latin typeface="Calibri"/>
              </a:rPr>
              <a:t>The fix:</a:t>
            </a:r>
            <a:r>
              <a:rPr sz="1500" b="0" i="0">
                <a:solidFill>
                  <a:srgbClr val="1A1440"/>
                </a:solidFill>
                <a:latin typeface="Calibri"/>
              </a:rPr>
              <a:t> bring the day's trips into the evening window's hour before dividing.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in pairs: seven minutes on the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UPI payments happen in India on an average day?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drill. </a:t>
            </a:r>
            <a:r>
              <a:rPr sz="1500" b="0" i="0">
                <a:solidFill>
                  <a:srgbClr val="1A1440"/>
                </a:solidFill>
                <a:latin typeface="Calibri"/>
              </a:rPr>
              <a:t>In pairs, seven minutes, all four steps on one sheet. Clarify volume or value (volume: the count of payments). Map active users x payments per user a day, split between paying shops and paying people.</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What the scorer checks: </a:t>
            </a:r>
            <a:r>
              <a:rPr sz="1500" b="0" i="0">
                <a:solidFill>
                  <a:srgbClr val="1A1440"/>
                </a:solidFill>
                <a:latin typeface="Calibri"/>
              </a:rPr>
              <a:t>scope clarified first, every assumption written with a range, a range given, and a sanity check in the right unit. The final number scores nothing on its own.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802 million a day, compared per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pair's estimate sane, and which comparison is the honest one?</a:t>
            </a:r>
          </a:p>
        </p:txBody>
      </p:sp>
      <p:pic>
        <p:nvPicPr>
          <p:cNvPr id="9" name="mermaid diagram" descr="29670b4455039910.png"/>
          <p:cNvPicPr>
            <a:picLocks noChangeAspect="1"/>
          </p:cNvPicPr>
          <p:nvPr/>
        </p:nvPicPr>
        <p:blipFill>
          <a:blip r:embed="rId5"/>
          <a:stretch>
            <a:fillRect/>
          </a:stretch>
        </p:blipFill>
        <p:spPr>
          <a:xfrm>
            <a:off x="530352" y="2471349"/>
            <a:ext cx="4786326" cy="2939428"/>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NPCI's figure: </a:t>
            </a:r>
            <a:r>
              <a:rPr sz="1500" b="0" i="0">
                <a:solidFill>
                  <a:srgbClr val="1A1440"/>
                </a:solidFill>
                <a:latin typeface="Calibri"/>
              </a:rPr>
              <a:t>an average of 802 million UPI transactions a day in September 2026, and 24.07 billion in the month (Outlook Money, 2 October 2026, citing NPCI; checked 12 October 2026).</a:t>
            </a:r>
          </a:p>
        </p:txBody>
      </p:sp>
      <p:sp>
        <p:nvSpPr>
          <p:cNvPr id="13" name="Rounded Rectangle 12"/>
          <p:cNvSpPr/>
          <p:nvPr/>
        </p:nvSpPr>
        <p:spPr>
          <a:xfrm>
            <a:off x="5761917" y="346252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5905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581400"/>
            <a:ext cx="5332497" cy="1158240"/>
          </a:xfrm>
          <a:prstGeom prst="rect">
            <a:avLst/>
          </a:prstGeom>
          <a:noFill/>
        </p:spPr>
        <p:txBody>
          <a:bodyPr wrap="square" anchor="ctr" lIns="0" rIns="0" tIns="0" bIns="0">
            <a:spAutoFit/>
          </a:bodyPr>
          <a:lstStyle/>
          <a:p>
            <a:r>
              <a:rPr sz="1500" b="1">
                <a:solidFill>
                  <a:srgbClr val="5B3FD6"/>
                </a:solidFill>
                <a:latin typeface="Calibri"/>
              </a:rPr>
              <a:t>The catch. </a:t>
            </a:r>
            <a:r>
              <a:rPr sz="1500" b="0" i="0">
                <a:solidFill>
                  <a:srgbClr val="1A1440"/>
                </a:solidFill>
                <a:latin typeface="Calibri"/>
              </a:rPr>
              <a:t>September has 30 days: 24.07 billion / 30 is 802 million, while dividing by 31 gives 776 million, about 3 percent low. Compare per-day figures in the unit the source published.</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traps a sanity check catches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skipped move lets each wrong number through?</a:t>
            </a:r>
          </a:p>
        </p:txBody>
      </p:sp>
      <p:graphicFrame>
        <p:nvGraphicFramePr>
          <p:cNvPr id="9" name="Table 8"/>
          <p:cNvGraphicFramePr>
            <a:graphicFrameLocks noGrp="1"/>
          </p:cNvGraphicFramePr>
          <p:nvPr/>
        </p:nvGraphicFramePr>
        <p:xfrm>
          <a:off x="530352" y="1956816"/>
          <a:ext cx="11130990" cy="2170176"/>
        </p:xfrm>
        <a:graphic>
          <a:graphicData uri="http://schemas.openxmlformats.org/drawingml/2006/table">
            <a:tbl>
              <a:tblPr firstRow="0" bandRow="0">
                <a:tableStyleId>{2D5ABB26-0587-4C30-8999-92F81FD0307C}</a:tableStyleId>
              </a:tblPr>
              <a:tblGrid>
                <a:gridCol w="1271422"/>
                <a:gridCol w="4118967"/>
                <a:gridCol w="4118967"/>
                <a:gridCol w="1621634"/>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catches it</a:t>
                      </a:r>
                    </a:p>
                  </a:txBody>
                  <a:tcPr marL="101600" marR="101600" marT="38100" marB="38100" anchor="ctr">
                    <a:solidFill>
                      <a:srgbClr val="1A0F5C"/>
                    </a:solidFill>
                  </a:tcPr>
                </a:tc>
                <a:tc>
                  <a:txBody>
                    <a:bodyPr/>
                    <a:lstStyle/>
                    <a:p>
                      <a:r>
                        <a:rPr sz="1250" b="1" i="0">
                          <a:solidFill>
                            <a:srgbClr val="FFFFFF"/>
                          </a:solidFill>
                          <a:latin typeface="Calibri"/>
                        </a:rPr>
                        <a:t>The move skipped</a:t>
                      </a:r>
                    </a:p>
                  </a:txBody>
                  <a:tcPr marL="101600" marR="101600" marT="38100" marB="38100" anchor="ctr">
                    <a:solidFill>
                      <a:srgbClr val="1A0F5C"/>
                    </a:solidFill>
                  </a:tcPr>
                </a:tc>
              </a:tr>
              <a:tr h="542544">
                <a:tc>
                  <a:txBody>
                    <a:bodyPr/>
                    <a:lstStyle/>
                    <a:p>
                      <a:r>
                        <a:rPr sz="1200" b="0" i="0">
                          <a:solidFill>
                            <a:srgbClr val="1A1440"/>
                          </a:solidFill>
                          <a:latin typeface="Calibri"/>
                        </a:rPr>
                        <a:t>Crowd as households</a:t>
                      </a:r>
                    </a:p>
                  </a:txBody>
                  <a:tcPr marL="101600" marR="101600" marT="38100" marB="38100" anchor="ctr">
                    <a:solidFill>
                      <a:srgbClr val="FFFFFF"/>
                    </a:solidFill>
                  </a:tcPr>
                </a:tc>
                <a:tc>
                  <a:txBody>
                    <a:bodyPr/>
                    <a:lstStyle/>
                    <a:p>
                      <a:r>
                        <a:rPr sz="1200" b="0" i="0">
                          <a:solidFill>
                            <a:srgbClr val="1A1440"/>
                          </a:solidFill>
                          <a:latin typeface="Calibri"/>
                        </a:rPr>
                        <a:t>"A city of two million people has nine million households" (invented)</a:t>
                      </a:r>
                    </a:p>
                  </a:txBody>
                  <a:tcPr marL="101600" marR="101600" marT="38100" marB="38100" anchor="ctr">
                    <a:solidFill>
                      <a:srgbClr val="FFFFFF"/>
                    </a:solidFill>
                  </a:tcPr>
                </a:tc>
                <a:tc>
                  <a:txBody>
                    <a:bodyPr/>
                    <a:lstStyle/>
                    <a:p>
                      <a:r>
                        <a:rPr sz="1200" b="0" i="0">
                          <a:solidFill>
                            <a:srgbClr val="1A1440"/>
                          </a:solidFill>
                          <a:latin typeface="Calibri"/>
                        </a:rPr>
                        <a:t>About four people to a household gives about 5 lakh households</a:t>
                      </a:r>
                    </a:p>
                  </a:txBody>
                  <a:tcPr marL="101600" marR="101600" marT="38100" marB="38100" anchor="ctr">
                    <a:solidFill>
                      <a:srgbClr val="FFFFFF"/>
                    </a:solidFill>
                  </a:tcPr>
                </a:tc>
                <a:tc>
                  <a:txBody>
                    <a:bodyPr/>
                    <a:lstStyle/>
                    <a:p>
                      <a:r>
                        <a:rPr sz="1200" b="0" i="0">
                          <a:solidFill>
                            <a:srgbClr val="1A1440"/>
                          </a:solidFill>
                          <a:latin typeface="Calibri"/>
                        </a:rPr>
                        <a:t>Clarify the unit</a:t>
                      </a:r>
                    </a:p>
                  </a:txBody>
                  <a:tcPr marL="101600" marR="101600" marT="38100" marB="38100" anchor="ctr">
                    <a:solidFill>
                      <a:srgbClr val="FFFFFF"/>
                    </a:solidFill>
                  </a:tcPr>
                </a:tc>
              </a:tr>
              <a:tr h="749808">
                <a:tc>
                  <a:txBody>
                    <a:bodyPr/>
                    <a:lstStyle/>
                    <a:p>
                      <a:r>
                        <a:rPr sz="1200" b="0" i="0">
                          <a:solidFill>
                            <a:srgbClr val="1A1440"/>
                          </a:solidFill>
                          <a:latin typeface="Calibri"/>
                        </a:rPr>
                        <a:t>A different unit</a:t>
                      </a:r>
                    </a:p>
                  </a:txBody>
                  <a:tcPr marL="101600" marR="101600" marT="38100" marB="38100" anchor="ctr">
                    <a:solidFill>
                      <a:srgbClr val="F4F2FA"/>
                    </a:solidFill>
                  </a:tcPr>
                </a:tc>
                <a:tc>
                  <a:txBody>
                    <a:bodyPr/>
                    <a:lstStyle/>
                    <a:p>
                      <a:r>
                        <a:rPr sz="1200" b="0" i="0">
                          <a:solidFill>
                            <a:srgbClr val="1A1440"/>
                          </a:solidFill>
                          <a:latin typeface="Calibri"/>
                        </a:rPr>
                        <a:t>A weekday estimate of Delhi Metro riders checked against a record day's boardings</a:t>
                      </a:r>
                    </a:p>
                  </a:txBody>
                  <a:tcPr marL="101600" marR="101600" marT="38100" marB="38100" anchor="ctr">
                    <a:solidFill>
                      <a:srgbClr val="F4F2FA"/>
                    </a:solidFill>
                  </a:tcPr>
                </a:tc>
                <a:tc>
                  <a:txBody>
                    <a:bodyPr/>
                    <a:lstStyle/>
                    <a:p>
                      <a:r>
                        <a:rPr sz="1200" b="0" i="0">
                          <a:solidFill>
                            <a:srgbClr val="1A1440"/>
                          </a:solidFill>
                          <a:latin typeface="Calibri"/>
                        </a:rPr>
                        <a:t>DMRC reports 64.06 lakh journeys a day and, separately, a record 82,44,903 boardings on 17 September 2026</a:t>
                      </a:r>
                    </a:p>
                  </a:txBody>
                  <a:tcPr marL="101600" marR="101600" marT="38100" marB="38100" anchor="ctr">
                    <a:solidFill>
                      <a:srgbClr val="F4F2FA"/>
                    </a:solidFill>
                  </a:tcPr>
                </a:tc>
                <a:tc>
                  <a:txBody>
                    <a:bodyPr/>
                    <a:lstStyle/>
                    <a:p>
                      <a:r>
                        <a:rPr sz="1200" b="0" i="0">
                          <a:solidFill>
                            <a:srgbClr val="1A1440"/>
                          </a:solidFill>
                          <a:latin typeface="Calibri"/>
                        </a:rPr>
                        <a:t>Validate in the same unit</a:t>
                      </a:r>
                    </a:p>
                  </a:txBody>
                  <a:tcPr marL="101600" marR="101600" marT="38100" marB="38100" anchor="ctr">
                    <a:solidFill>
                      <a:srgbClr val="F4F2FA"/>
                    </a:solidFill>
                  </a:tcPr>
                </a:tc>
              </a:tr>
              <a:tr h="542544">
                <a:tc>
                  <a:txBody>
                    <a:bodyPr/>
                    <a:lstStyle/>
                    <a:p>
                      <a:r>
                        <a:rPr sz="1200" b="0" i="0">
                          <a:solidFill>
                            <a:srgbClr val="1A1440"/>
                          </a:solidFill>
                          <a:latin typeface="Calibri"/>
                        </a:rPr>
                        <a:t>A decimal</a:t>
                      </a:r>
                    </a:p>
                  </a:txBody>
                  <a:tcPr marL="101600" marR="101600" marT="38100" marB="38100" anchor="ctr">
                    <a:solidFill>
                      <a:srgbClr val="FFFFFF"/>
                    </a:solidFill>
                  </a:tcPr>
                </a:tc>
                <a:tc>
                  <a:txBody>
                    <a:bodyPr/>
                    <a:lstStyle/>
                    <a:p>
                      <a:r>
                        <a:rPr sz="1200" b="0" i="0">
                          <a:solidFill>
                            <a:srgbClr val="1A1440"/>
                          </a:solidFill>
                          <a:latin typeface="Calibri"/>
                        </a:rPr>
                        <a:t>"Flipkart had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Flipkart's own announcement of 9 October 2026 says 6.3 million; the 63 is in its URL</a:t>
                      </a:r>
                    </a:p>
                  </a:txBody>
                  <a:tcPr marL="101600" marR="101600" marT="38100" marB="38100" anchor="ctr">
                    <a:solidFill>
                      <a:srgbClr val="FFFFFF"/>
                    </a:solidFill>
                  </a:tcPr>
                </a:tc>
                <a:tc>
                  <a:txBody>
                    <a:bodyPr/>
                    <a:lstStyle/>
                    <a:p>
                      <a:r>
                        <a:rPr sz="1200" b="0" i="0">
                          <a:solidFill>
                            <a:srgbClr val="1A1440"/>
                          </a:solidFill>
                          <a:latin typeface="Calibri"/>
                        </a:rPr>
                        <a:t>Read the source's text</a:t>
                      </a:r>
                    </a:p>
                  </a:txBody>
                  <a:tcPr marL="101600" marR="101600" marT="38100" marB="38100" anchor="ctr">
                    <a:solidFill>
                      <a:srgbClr val="FFFFFF"/>
                    </a:solidFill>
                  </a:tcPr>
                </a:tc>
              </a:tr>
            </a:tbl>
          </a:graphicData>
        </a:graphic>
      </p:graphicFrame>
      <p:sp>
        <p:nvSpPr>
          <p:cNvPr id="10" name="TextBox 9"/>
          <p:cNvSpPr txBox="1"/>
          <p:nvPr/>
        </p:nvSpPr>
        <p:spPr>
          <a:xfrm>
            <a:off x="530352" y="4383024"/>
            <a:ext cx="11130991" cy="495807"/>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Each trap is one skipped step,</a:t>
            </a:r>
            <a:r>
              <a:rPr sz="1600" b="0" i="0">
                <a:solidFill>
                  <a:srgbClr val="1A1440"/>
                </a:solidFill>
                <a:latin typeface="Calibri"/>
              </a:rPr>
              <a:t> so the scorer names the step and the room fixes the habit.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a number sized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Tuesday's node carry now, and what does it hand to Wednesday?</a:t>
            </a:r>
          </a:p>
        </p:txBody>
      </p:sp>
      <p:pic>
        <p:nvPicPr>
          <p:cNvPr id="9" name="mermaid diagram" descr="d33e80112993a4e1.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Tuesday's node now carries</a:t>
            </a:r>
            <a:r>
              <a:rPr sz="1600" b="0" i="0">
                <a:solidFill>
                  <a:srgbClr val="1A1440"/>
                </a:solidFill>
                <a:latin typeface="Calibri"/>
              </a:rPr>
              <a:t> the slide (Rs 314 to Rs 260 per online hour, defended in four moves, one appendix page per role) and the estimate (about 5,700 drivers, between 2,900 and 8,600). </a:t>
            </a:r>
            <a:r>
              <a:rPr sz="1600" b="1" i="0">
                <a:solidFill>
                  <a:srgbClr val="1A1440"/>
                </a:solidFill>
                <a:latin typeface="Calibri"/>
              </a:rPr>
              <a:t>In the interview</a:t>
            </a:r>
            <a:r>
              <a:rPr sz="1600" b="0" i="0">
                <a:solidFill>
                  <a:srgbClr val="1A1440"/>
                </a:solidFill>
                <a:latin typeface="Calibri"/>
              </a:rPr>
              <a:t> [S]: estimate a number from nothing, aloud, and check it. The structure and the sanity check carry the score.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page?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goes on the one page to the city head, so that the morning's slide reads in two minutes?</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one page, four parts, in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page do in the first two minutes of reading?</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arget_975d45d39ce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FIRST SENTENCE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What the city head should believe, in words a driver would follow</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SECOND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One number and its denominator</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rupees per peak online hour, before and after</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THIRD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body of the page, where the reader meets it before the action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5bfb0e0fcd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LAST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action and its cost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What to do, the saving in rupees over weeks, who signs</a:t>
            </a:r>
          </a:p>
        </p:txBody>
      </p:sp>
      <p:sp>
        <p:nvSpPr>
          <p:cNvPr id="33" name="TextBox 32"/>
          <p:cNvSpPr txBox="1"/>
          <p:nvPr/>
        </p:nvSpPr>
        <p:spPr>
          <a:xfrm>
            <a:off x="530352" y="433527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reader</a:t>
            </a:r>
            <a:r>
              <a:rPr sz="1600" b="0" i="0">
                <a:solidFill>
                  <a:srgbClr val="1A1440"/>
                </a:solidFill>
                <a:latin typeface="Calibri"/>
              </a:rPr>
              <a:t> is the city head, with the three roles reading over a shoulder: finance reads rupees, driver operations reads drivers, marketing reads sign-ups. Words a non-technical reader would not know (denominator, ratio of sums, regression) stay off the page.</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36" name="Oval 3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7370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38" name="Oval 3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Forty minutes, on paper,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rules for the written case?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On one sheet, by hand. </a:t>
            </a:r>
            <a:r>
              <a:rPr sz="1500" b="0" i="0">
                <a:solidFill>
                  <a:srgbClr val="1A1440"/>
                </a:solidFill>
                <a:latin typeface="Calibri"/>
              </a:rPr>
              <a:t>No laptop and no phone, so the page is your own thinking. Write the page; then read it once as the finance partner would and fix the sentence they would attack.</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slot the page is handed in.</a:t>
            </a:r>
            <a:r>
              <a:rPr sz="1600" b="0" i="0">
                <a:solidFill>
                  <a:srgbClr val="1A1440"/>
                </a:solidFill>
                <a:latin typeface="Calibri"/>
              </a:rPr>
              <a:t> Three pages, chosen for one strong part each, come back at the gallery.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it sound like?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the slide sound like spoken in an interview, and what does a hire-grade answer open on?</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two openings,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this recommendation to a non-technical leader in two minutes." How do the first lines differ?</a:t>
            </a:r>
          </a:p>
        </p:txBody>
      </p:sp>
      <p:graphicFrame>
        <p:nvGraphicFramePr>
          <p:cNvPr id="9" name="Table 8"/>
          <p:cNvGraphicFramePr>
            <a:graphicFrameLocks noGrp="1"/>
          </p:cNvGraphicFramePr>
          <p:nvPr/>
        </p:nvGraphicFramePr>
        <p:xfrm>
          <a:off x="530352" y="1956816"/>
          <a:ext cx="11130990" cy="219049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opening</a:t>
                      </a:r>
                    </a:p>
                  </a:txBody>
                  <a:tcPr marL="101600" marR="101600" marT="38100" marB="38100" anchor="ctr">
                    <a:solidFill>
                      <a:srgbClr val="1A0F5C"/>
                    </a:solidFill>
                  </a:tcPr>
                </a:tc>
                <a:tc>
                  <a:txBody>
                    <a:bodyPr/>
                    <a:lstStyle/>
                    <a:p>
                      <a:r>
                        <a:rPr sz="1450" b="1" i="0">
                          <a:solidFill>
                            <a:srgbClr val="FFFFFF"/>
                          </a:solidFill>
                          <a:latin typeface="Calibri"/>
                        </a:rPr>
                        <a:t>A hire-grade opening</a:t>
                      </a:r>
                    </a:p>
                  </a:txBody>
                  <a:tcPr marL="101600" marR="101600" marT="38100" marB="38100" anchor="ctr">
                    <a:solidFill>
                      <a:srgbClr val="1A0F5C"/>
                    </a:solidFill>
                  </a:tcPr>
                </a:tc>
              </a:tr>
              <a:tr h="1820672">
                <a:tc>
                  <a:txBody>
                    <a:bodyPr/>
                    <a:lstStyle/>
                    <a:p>
                      <a:r>
                        <a:rPr sz="1400" b="0" i="0">
                          <a:solidFill>
                            <a:srgbClr val="1A1440"/>
                          </a:solidFill>
                          <a:latin typeface="Calibri"/>
                        </a:rPr>
                        <a:t>"So I looked at the dashboard. Online hours are up 24 percent, trips are up 3 percent, trips per hour went from 1.90 to 1.58, acceptance fell, and bookings per driver-week is actually up, so it is mixed."</a:t>
                      </a:r>
                    </a:p>
                  </a:txBody>
                  <a:tcPr marL="101600" marR="101600" marT="38100" marB="38100" anchor="ctr">
                    <a:solidFill>
                      <a:srgbClr val="FFFFFF"/>
                    </a:solidFill>
                  </a:tcPr>
                </a:tc>
                <a:tc>
                  <a:txBody>
                    <a:bodyPr/>
                    <a:lstStyle/>
                    <a:p>
                      <a:r>
                        <a:rPr sz="1400" b="0" i="0">
                          <a:solidFill>
                            <a:srgbClr val="1A1440"/>
                          </a:solidFill>
                          <a:latin typeface="Calibri"/>
                        </a:rPr>
                        <a:t>"The scheme is paying for online hours that carry no trips. An hour online used to bring in Rs 314 of fares and now brings in Rs 260 at the same fare. Part of that may be the monsoon. Paying per completed trip with an acceptance floor returns Rs 58 lakh to Rs 92.7 lakh over six weeks depending on whether half or a fifth of idle drivers start accepting."</a:t>
                      </a:r>
                    </a:p>
                  </a:txBody>
                  <a:tcPr marL="101600" marR="101600" marT="38100" marB="38100" anchor="ctr">
                    <a:solidFill>
                      <a:srgbClr val="FFFFFF"/>
                    </a:solidFill>
                  </a:tcPr>
                </a:tc>
              </a:tr>
            </a:tbl>
          </a:graphicData>
        </a:graphic>
      </p:graphicFrame>
      <p:sp>
        <p:nvSpPr>
          <p:cNvPr id="10" name="Rounded Rectangle 9"/>
          <p:cNvSpPr/>
          <p:nvPr/>
        </p:nvSpPr>
        <p:spPr>
          <a:xfrm>
            <a:off x="530352" y="440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16"/>
            <a:ext cx="10564063" cy="8915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what is the one caveat you would say before anyone decides; which denominator did you choose, and what would make you choose another; the finance partner says it is the monsoon, so answer in under a minute.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2: the drivers estimate,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drivers must be online at the evening peak in a city?" What does each answer do first?</a:t>
            </a:r>
          </a:p>
        </p:txBody>
      </p:sp>
      <p:graphicFrame>
        <p:nvGraphicFramePr>
          <p:cNvPr id="9" name="Table 8"/>
          <p:cNvGraphicFramePr>
            <a:graphicFrameLocks noGrp="1"/>
          </p:cNvGraphicFramePr>
          <p:nvPr/>
        </p:nvGraphicFramePr>
        <p:xfrm>
          <a:off x="530352" y="1956816"/>
          <a:ext cx="11130990" cy="219049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1820672">
                <a:tc>
                  <a:txBody>
                    <a:bodyPr/>
                    <a:lstStyle/>
                    <a:p>
                      <a:r>
                        <a:rPr sz="1400" b="0" i="0">
                          <a:solidFill>
                            <a:srgbClr val="1A1440"/>
                          </a:solidFill>
                          <a:latin typeface="Calibri"/>
                        </a:rPr>
                        <a:t>"About 1 crore people, 1 percent ride, so 1 lakh trips. A driver does 2.4 trips an hour, so about 41,700 drivers."</a:t>
                      </a:r>
                    </a:p>
                  </a:txBody>
                  <a:tcPr marL="101600" marR="101600" marT="38100" marB="38100" anchor="ctr">
                    <a:solidFill>
                      <a:srgbClr val="FFFFFF"/>
                    </a:solidFill>
                  </a:tcPr>
                </a:tc>
                <a:tc>
                  <a:txBody>
                    <a:bodyPr/>
                    <a:lstStyle/>
                    <a:p>
                      <a:r>
                        <a:rPr sz="1400" b="0" i="0">
                          <a:solidFill>
                            <a:srgbClr val="1A1440"/>
                          </a:solidFill>
                          <a:latin typeface="Calibri"/>
                        </a:rPr>
                        <a:t>"One moment of the three-hour weekday evening peak, Uber only, median wait under five minutes. Requests an hour times the trips one online driver completes, times a buffer: about 8,300 / 1.68 x 1.15, about 5,700, between 2,900 and 8,600, set mostly by the share who ride. The case's own 0.47 driver-hours per request says the chain is a little generous."</a:t>
                      </a:r>
                    </a:p>
                  </a:txBody>
                  <a:tcPr marL="101600" marR="101600" marT="38100" marB="38100" anchor="ctr">
                    <a:solidFill>
                      <a:srgbClr val="FFFFFF"/>
                    </a:solidFill>
                  </a:tcPr>
                </a:tc>
              </a:tr>
            </a:tbl>
          </a:graphicData>
        </a:graphic>
      </p:graphicFrame>
      <p:sp>
        <p:nvSpPr>
          <p:cNvPr id="10" name="Rounded Rectangle 9"/>
          <p:cNvSpPr/>
          <p:nvPr/>
        </p:nvSpPr>
        <p:spPr>
          <a:xfrm>
            <a:off x="530352" y="4403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16"/>
            <a:ext cx="10564063" cy="6248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your idle share is a guess, so which number in the case data would catch it; the window is three hours, so what does a four-hour window do; give a range, and say which factor drives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acceptance rate in the sales deck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present a metric change to a head of product who quotes acceptance rate to customers?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setup, invented for this class. </a:t>
            </a:r>
            <a:r>
              <a:rPr sz="1500" b="0" i="0">
                <a:solidFill>
                  <a:srgbClr val="1A1440"/>
                </a:solidFill>
                <a:latin typeface="Calibri"/>
              </a:rPr>
              <a:t>A coding assistant's sales deck quotes "acceptance rate 32 percent", the share of suggestions developers accept. The analyst proposes a new north star: suggested text still present at the next commit, per active developer-week, with build failures and revert rate as guardrails.</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The objection, partly right. </a:t>
            </a:r>
            <a:r>
              <a:rPr sz="1500" b="0" i="0">
                <a:solidFill>
                  <a:srgbClr val="1A1440"/>
                </a:solidFill>
                <a:latin typeface="Calibri"/>
              </a:rPr>
              <a:t>"Acceptance rate is what customers see in the deck." True: customers do see it. </a:t>
            </a:r>
            <a:r>
              <a:rPr sz="1500" b="1" i="0">
                <a:solidFill>
                  <a:srgbClr val="1A1440"/>
                </a:solidFill>
                <a:latin typeface="Calibri"/>
              </a:rPr>
              <a:t>The answer</a:t>
            </a:r>
            <a:r>
              <a:rPr sz="1500" b="0" i="0">
                <a:solidFill>
                  <a:srgbClr val="1A1440"/>
                </a:solidFill>
                <a:latin typeface="Calibri"/>
              </a:rPr>
              <a:t> keeps acceptance as a leading input on the dashboard and in the deck, and pays the team for text that survives, because a suggestion accepted and then deleted counts as accepted.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pair scores a transcript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interviewer listen for, and how is each part scored?</a:t>
            </a:r>
          </a:p>
        </p:txBody>
      </p:sp>
      <p:graphicFrame>
        <p:nvGraphicFramePr>
          <p:cNvPr id="9" name="Table 8"/>
          <p:cNvGraphicFramePr>
            <a:graphicFrameLocks noGrp="1"/>
          </p:cNvGraphicFramePr>
          <p:nvPr/>
        </p:nvGraphicFramePr>
        <p:xfrm>
          <a:off x="530352" y="1956816"/>
          <a:ext cx="11130989" cy="2682240"/>
        </p:xfrm>
        <a:graphic>
          <a:graphicData uri="http://schemas.openxmlformats.org/drawingml/2006/table">
            <a:tbl>
              <a:tblPr firstRow="0" bandRow="0">
                <a:tableStyleId>{2D5ABB26-0587-4C30-8999-92F81FD0307C}</a:tableStyleId>
              </a:tblPr>
              <a:tblGrid>
                <a:gridCol w="4067531"/>
                <a:gridCol w="1550404"/>
                <a:gridCol w="2074805"/>
                <a:gridCol w="3438249"/>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0</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r>
              <a:tr h="335280">
                <a:tc>
                  <a:txBody>
                    <a:bodyPr/>
                    <a:lstStyle/>
                    <a:p>
                      <a:r>
                        <a:rPr sz="1200" b="0" i="0">
                          <a:solidFill>
                            <a:srgbClr val="1A1440"/>
                          </a:solidFill>
                          <a:latin typeface="Calibri"/>
                        </a:rPr>
                        <a:t>Clarified the scope first</a:t>
                      </a:r>
                    </a:p>
                  </a:txBody>
                  <a:tcPr marL="101600" marR="101600" marT="38100" marB="38100" anchor="ctr">
                    <a:solidFill>
                      <a:srgbClr val="FFFFFF"/>
                    </a:solidFill>
                  </a:tcPr>
                </a:tc>
                <a:tc>
                  <a:txBody>
                    <a:bodyPr/>
                    <a:lstStyle/>
                    <a:p>
                      <a:r>
                        <a:rPr sz="1200" b="0" i="0">
                          <a:solidFill>
                            <a:srgbClr val="1A1440"/>
                          </a:solidFill>
                          <a:latin typeface="Calibri"/>
                        </a:rPr>
                        <a:t>skipped</a:t>
                      </a:r>
                    </a:p>
                  </a:txBody>
                  <a:tcPr marL="101600" marR="101600" marT="38100" marB="38100" anchor="ctr">
                    <a:solidFill>
                      <a:srgbClr val="FFFFFF"/>
                    </a:solidFill>
                  </a:tcPr>
                </a:tc>
                <a:tc>
                  <a:txBody>
                    <a:bodyPr/>
                    <a:lstStyle/>
                    <a:p>
                      <a:r>
                        <a:rPr sz="1200" b="0" i="0">
                          <a:solidFill>
                            <a:srgbClr val="1A1440"/>
                          </a:solidFill>
                          <a:latin typeface="Calibri"/>
                        </a:rPr>
                        <a:t>partly</a:t>
                      </a:r>
                    </a:p>
                  </a:txBody>
                  <a:tcPr marL="101600" marR="101600" marT="38100" marB="38100" anchor="ctr">
                    <a:solidFill>
                      <a:srgbClr val="FFFFFF"/>
                    </a:solidFill>
                  </a:tcPr>
                </a:tc>
                <a:tc>
                  <a:txBody>
                    <a:bodyPr/>
                    <a:lstStyle/>
                    <a:p>
                      <a:r>
                        <a:rPr sz="1200" b="0" i="0">
                          <a:solidFill>
                            <a:srgbClr val="1A1440"/>
                          </a:solidFill>
                          <a:latin typeface="Calibri"/>
                        </a:rPr>
                        <a:t>unit, window and target pinned</a:t>
                      </a:r>
                    </a:p>
                  </a:txBody>
                  <a:tcPr marL="101600" marR="101600" marT="38100" marB="38100" anchor="ctr">
                    <a:solidFill>
                      <a:srgbClr val="FFFFFF"/>
                    </a:solidFill>
                  </a:tcPr>
                </a:tc>
              </a:tr>
              <a:tr h="335280">
                <a:tc>
                  <a:txBody>
                    <a:bodyPr/>
                    <a:lstStyle/>
                    <a:p>
                      <a:r>
                        <a:rPr sz="1200" b="0" i="0">
                          <a:solidFill>
                            <a:srgbClr val="1A1440"/>
                          </a:solidFill>
                          <a:latin typeface="Calibri"/>
                        </a:rPr>
                        <a:t>Named the denominator and the window</a:t>
                      </a:r>
                    </a:p>
                  </a:txBody>
                  <a:tcPr marL="101600" marR="101600" marT="38100" marB="38100" anchor="ctr">
                    <a:solidFill>
                      <a:srgbClr val="F4F2FA"/>
                    </a:solidFill>
                  </a:tcPr>
                </a:tc>
                <a:tc>
                  <a:txBody>
                    <a:bodyPr/>
                    <a:lstStyle/>
                    <a:p>
                      <a:r>
                        <a:rPr sz="1200" b="0" i="0">
                          <a:solidFill>
                            <a:srgbClr val="1A1440"/>
                          </a:solidFill>
                          <a:latin typeface="Calibri"/>
                        </a:rPr>
                        <a:t>neither</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both</a:t>
                      </a:r>
                    </a:p>
                  </a:txBody>
                  <a:tcPr marL="101600" marR="101600" marT="38100" marB="38100" anchor="ctr">
                    <a:solidFill>
                      <a:srgbClr val="F4F2FA"/>
                    </a:solidFill>
                  </a:tcPr>
                </a:tc>
              </a:tr>
              <a:tr h="335280">
                <a:tc>
                  <a:txBody>
                    <a:bodyPr/>
                    <a:lstStyle/>
                    <a:p>
                      <a:r>
                        <a:rPr sz="1200" b="0" i="0">
                          <a:solidFill>
                            <a:srgbClr val="1A1440"/>
                          </a:solidFill>
                          <a:latin typeface="Calibri"/>
                        </a:rPr>
                        <a:t>Saw the trap</a:t>
                      </a:r>
                    </a:p>
                  </a:txBody>
                  <a:tcPr marL="101600" marR="101600" marT="38100" marB="38100" anchor="ctr">
                    <a:solidFill>
                      <a:srgbClr val="FFFFFF"/>
                    </a:solidFill>
                  </a:tcPr>
                </a:tc>
                <a:tc>
                  <a:txBody>
                    <a:bodyPr/>
                    <a:lstStyle/>
                    <a:p>
                      <a:r>
                        <a:rPr sz="1200" b="0" i="0">
                          <a:solidFill>
                            <a:srgbClr val="1A1440"/>
                          </a:solidFill>
                          <a:latin typeface="Calibri"/>
                        </a:rPr>
                        <a:t>missed</a:t>
                      </a:r>
                    </a:p>
                  </a:txBody>
                  <a:tcPr marL="101600" marR="101600" marT="38100" marB="38100" anchor="ctr">
                    <a:solidFill>
                      <a:srgbClr val="FFFFFF"/>
                    </a:solidFill>
                  </a:tcPr>
                </a:tc>
                <a:tc>
                  <a:txBody>
                    <a:bodyPr/>
                    <a:lstStyle/>
                    <a:p>
                      <a:r>
                        <a:rPr sz="1200" b="0" i="0">
                          <a:solidFill>
                            <a:srgbClr val="1A1440"/>
                          </a:solidFill>
                          <a:latin typeface="Calibri"/>
                        </a:rPr>
                        <a:t>named late</a:t>
                      </a:r>
                    </a:p>
                  </a:txBody>
                  <a:tcPr marL="101600" marR="101600" marT="38100" marB="38100" anchor="ctr">
                    <a:solidFill>
                      <a:srgbClr val="FFFFFF"/>
                    </a:solidFill>
                  </a:tcPr>
                </a:tc>
                <a:tc>
                  <a:txBody>
                    <a:bodyPr/>
                    <a:lstStyle/>
                    <a:p>
                      <a:r>
                        <a:rPr sz="1200" b="0" i="0">
                          <a:solidFill>
                            <a:srgbClr val="1A1440"/>
                          </a:solidFill>
                          <a:latin typeface="Calibri"/>
                        </a:rPr>
                        <a:t>named and checked</a:t>
                      </a:r>
                    </a:p>
                  </a:txBody>
                  <a:tcPr marL="101600" marR="101600" marT="38100" marB="38100" anchor="ctr">
                    <a:solidFill>
                      <a:srgbClr val="FFFFFF"/>
                    </a:solidFill>
                  </a:tcPr>
                </a:tc>
              </a:tr>
              <a:tr h="335280">
                <a:tc>
                  <a:txBody>
                    <a:bodyPr/>
                    <a:lstStyle/>
                    <a:p>
                      <a:r>
                        <a:rPr sz="1200" b="0" i="0">
                          <a:solidFill>
                            <a:srgbClr val="1A1440"/>
                          </a:solidFill>
                          <a:latin typeface="Calibri"/>
                        </a:rPr>
                        <a:t>Sized it with a unit</a:t>
                      </a:r>
                    </a:p>
                  </a:txBody>
                  <a:tcPr marL="101600" marR="101600" marT="38100" marB="38100" anchor="ctr">
                    <a:solidFill>
                      <a:srgbClr val="F4F2FA"/>
                    </a:solidFill>
                  </a:tcPr>
                </a:tc>
                <a:tc>
                  <a:txBody>
                    <a:bodyPr/>
                    <a:lstStyle/>
                    <a:p>
                      <a:r>
                        <a:rPr sz="1200" b="0" i="0">
                          <a:solidFill>
                            <a:srgbClr val="1A1440"/>
                          </a:solidFill>
                          <a:latin typeface="Calibri"/>
                        </a:rPr>
                        <a:t>no unit</a:t>
                      </a:r>
                    </a:p>
                  </a:txBody>
                  <a:tcPr marL="101600" marR="101600" marT="38100" marB="38100" anchor="ctr">
                    <a:solidFill>
                      <a:srgbClr val="F4F2FA"/>
                    </a:solidFill>
                  </a:tcPr>
                </a:tc>
                <a:tc>
                  <a:txBody>
                    <a:bodyPr/>
                    <a:lstStyle/>
                    <a:p>
                      <a:r>
                        <a:rPr sz="1200" b="0" i="0">
                          <a:solidFill>
                            <a:srgbClr val="1A1440"/>
                          </a:solidFill>
                          <a:latin typeface="Calibri"/>
                        </a:rPr>
                        <a:t>a unit, unchecked</a:t>
                      </a:r>
                    </a:p>
                  </a:txBody>
                  <a:tcPr marL="101600" marR="101600" marT="38100" marB="38100" anchor="ctr">
                    <a:solidFill>
                      <a:srgbClr val="F4F2FA"/>
                    </a:solidFill>
                  </a:tcPr>
                </a:tc>
                <a:tc>
                  <a:txBody>
                    <a:bodyPr/>
                    <a:lstStyle/>
                    <a:p>
                      <a:r>
                        <a:rPr sz="1200" b="0" i="0">
                          <a:solidFill>
                            <a:srgbClr val="1A1440"/>
                          </a:solidFill>
                          <a:latin typeface="Calibri"/>
                        </a:rPr>
                        <a:t>a unit carried through</a:t>
                      </a:r>
                    </a:p>
                  </a:txBody>
                  <a:tcPr marL="101600" marR="101600" marT="38100" marB="38100" anchor="ctr">
                    <a:solidFill>
                      <a:srgbClr val="F4F2FA"/>
                    </a:solidFill>
                  </a:tcPr>
                </a:tc>
              </a:tr>
              <a:tr h="335280">
                <a:tc>
                  <a:txBody>
                    <a:bodyPr/>
                    <a:lstStyle/>
                    <a:p>
                      <a:r>
                        <a:rPr sz="1200" b="0" i="0">
                          <a:solidFill>
                            <a:srgbClr val="1A1440"/>
                          </a:solidFill>
                          <a:latin typeface="Calibri"/>
                        </a:rPr>
                        <a:t>Said what would change their mind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vaguely</a:t>
                      </a:r>
                    </a:p>
                  </a:txBody>
                  <a:tcPr marL="101600" marR="101600" marT="38100" marB="38100" anchor="ctr">
                    <a:solidFill>
                      <a:srgbClr val="FFFFFF"/>
                    </a:solidFill>
                  </a:tcPr>
                </a:tc>
                <a:tc>
                  <a:txBody>
                    <a:bodyPr/>
                    <a:lstStyle/>
                    <a:p>
                      <a:r>
                        <a:rPr sz="1200" b="0" i="0">
                          <a:solidFill>
                            <a:srgbClr val="1A1440"/>
                          </a:solidFill>
                          <a:latin typeface="Calibri"/>
                        </a:rPr>
                        <a:t>a named fact</a:t>
                      </a:r>
                    </a:p>
                  </a:txBody>
                  <a:tcPr marL="101600" marR="101600" marT="38100" marB="38100" anchor="ctr">
                    <a:solidFill>
                      <a:srgbClr val="FFFFFF"/>
                    </a:solidFill>
                  </a:tcPr>
                </a:tc>
              </a:tr>
              <a:tr h="335280">
                <a:tc>
                  <a:txBody>
                    <a:bodyPr/>
                    <a:lstStyle/>
                    <a:p>
                      <a:r>
                        <a:rPr sz="1200" b="0" i="0">
                          <a:solidFill>
                            <a:srgbClr val="1A1440"/>
                          </a:solidFill>
                          <a:latin typeface="Calibri"/>
                        </a:rPr>
                        <a:t>Tied it to a decision and its cost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a decision</a:t>
                      </a:r>
                    </a:p>
                  </a:txBody>
                  <a:tcPr marL="101600" marR="101600" marT="38100" marB="38100" anchor="ctr">
                    <a:solidFill>
                      <a:srgbClr val="F4F2FA"/>
                    </a:solidFill>
                  </a:tcPr>
                </a:tc>
                <a:tc>
                  <a:txBody>
                    <a:bodyPr/>
                    <a:lstStyle/>
                    <a:p>
                      <a:r>
                        <a:rPr sz="1200" b="0" i="0">
                          <a:solidFill>
                            <a:srgbClr val="1A1440"/>
                          </a:solidFill>
                          <a:latin typeface="Calibri"/>
                        </a:rPr>
                        <a:t>a decision and its rupees</a:t>
                      </a:r>
                    </a:p>
                  </a:txBody>
                  <a:tcPr marL="101600" marR="101600" marT="38100" marB="38100" anchor="ctr">
                    <a:solidFill>
                      <a:srgbClr val="F4F2FA"/>
                    </a:solidFill>
                  </a:tcPr>
                </a:tc>
              </a:tr>
              <a:tr h="335280">
                <a:tc>
                  <a:txBody>
                    <a:bodyPr/>
                    <a:lstStyle/>
                    <a:p>
                      <a:r>
                        <a:rPr sz="1200" b="0" i="0">
                          <a:solidFill>
                            <a:srgbClr val="1A1440"/>
                          </a:solidFill>
                          <a:latin typeface="Calibri"/>
                        </a:rPr>
                        <a:t>Gave the structure before the number</a:t>
                      </a:r>
                    </a:p>
                  </a:txBody>
                  <a:tcPr marL="101600" marR="101600" marT="38100" marB="38100" anchor="ctr">
                    <a:solidFill>
                      <a:srgbClr val="FFFFFF"/>
                    </a:solidFill>
                  </a:tcPr>
                </a:tc>
                <a:tc>
                  <a:txBody>
                    <a:bodyPr/>
                    <a:lstStyle/>
                    <a:p>
                      <a:r>
                        <a:rPr sz="1200" b="0" i="0">
                          <a:solidFill>
                            <a:srgbClr val="1A1440"/>
                          </a:solidFill>
                          <a:latin typeface="Calibri"/>
                        </a:rPr>
                        <a:t>number first</a:t>
                      </a:r>
                    </a:p>
                  </a:txBody>
                  <a:tcPr marL="101600" marR="101600" marT="38100" marB="38100" anchor="ctr">
                    <a:solidFill>
                      <a:srgbClr val="FFFFFF"/>
                    </a:solidFill>
                  </a:tcPr>
                </a:tc>
                <a:tc>
                  <a:txBody>
                    <a:bodyPr/>
                    <a:lstStyle/>
                    <a:p>
                      <a:r>
                        <a:rPr sz="1200" b="0" i="0">
                          <a:solidFill>
                            <a:srgbClr val="1A1440"/>
                          </a:solidFill>
                          <a:latin typeface="Calibri"/>
                        </a:rPr>
                        <a:t>mixed</a:t>
                      </a:r>
                    </a:p>
                  </a:txBody>
                  <a:tcPr marL="101600" marR="101600" marT="38100" marB="38100" anchor="ctr">
                    <a:solidFill>
                      <a:srgbClr val="FFFFFF"/>
                    </a:solidFill>
                  </a:tcPr>
                </a:tc>
                <a:tc>
                  <a:txBody>
                    <a:bodyPr/>
                    <a:lstStyle/>
                    <a:p>
                      <a:r>
                        <a:rPr sz="1200" b="0" i="0">
                          <a:solidFill>
                            <a:srgbClr val="1A1440"/>
                          </a:solidFill>
                          <a:latin typeface="Calibri"/>
                        </a:rPr>
                        <a:t>structure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with the case that shows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first attempts at a slide and an estimate usually break?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Where you saw it</a:t>
                      </a:r>
                    </a:p>
                  </a:txBody>
                  <a:tcPr marL="101600" marR="101600" marT="38100" marB="38100" anchor="ctr">
                    <a:solidFill>
                      <a:srgbClr val="1A0F5C"/>
                    </a:solidFill>
                  </a:tcPr>
                </a:tc>
              </a:tr>
              <a:tr h="369824">
                <a:tc>
                  <a:txBody>
                    <a:bodyPr/>
                    <a:lstStyle/>
                    <a:p>
                      <a:r>
                        <a:rPr sz="1400" b="0" i="0">
                          <a:solidFill>
                            <a:srgbClr val="1A1440"/>
                          </a:solidFill>
                          <a:latin typeface="Calibri"/>
                        </a:rPr>
                        <a:t>The first slide carries every number</a:t>
                      </a:r>
                    </a:p>
                  </a:txBody>
                  <a:tcPr marL="101600" marR="101600" marT="38100" marB="38100" anchor="ctr">
                    <a:solidFill>
                      <a:srgbClr val="FFFFFF"/>
                    </a:solidFill>
                  </a:tcPr>
                </a:tc>
                <a:tc>
                  <a:txBody>
                    <a:bodyPr/>
                    <a:lstStyle/>
                    <a:p>
                      <a:r>
                        <a:rPr sz="1400" b="0" i="0">
                          <a:solidFill>
                            <a:srgbClr val="1A1440"/>
                          </a:solidFill>
                          <a:latin typeface="Calibri"/>
                        </a:rPr>
                        <a:t>Slide A this morning: nine numbers, no claim</a:t>
                      </a:r>
                    </a:p>
                  </a:txBody>
                  <a:tcPr marL="101600" marR="101600" marT="38100" marB="38100" anchor="ctr">
                    <a:solidFill>
                      <a:srgbClr val="FFFFFF"/>
                    </a:solidFill>
                  </a:tcPr>
                </a:tc>
              </a:tr>
              <a:tr h="369824">
                <a:tc>
                  <a:txBody>
                    <a:bodyPr/>
                    <a:lstStyle/>
                    <a:p>
                      <a:r>
                        <a:rPr sz="1400" b="0" i="0">
                          <a:solidFill>
                            <a:srgbClr val="1A1440"/>
                          </a:solidFill>
                          <a:latin typeface="Calibri"/>
                        </a:rPr>
                        <a:t>The first defence retreats or overclaims</a:t>
                      </a:r>
                    </a:p>
                  </a:txBody>
                  <a:tcPr marL="101600" marR="101600" marT="38100" marB="38100" anchor="ctr">
                    <a:solidFill>
                      <a:srgbClr val="F4F2FA"/>
                    </a:solidFill>
                  </a:tcPr>
                </a:tc>
                <a:tc>
                  <a:txBody>
                    <a:bodyPr/>
                    <a:lstStyle/>
                    <a:p>
                      <a:r>
                        <a:rPr sz="1400" b="0" i="0">
                          <a:solidFill>
                            <a:srgbClr val="1A1440"/>
                          </a:solidFill>
                          <a:latin typeface="Calibri"/>
                        </a:rPr>
                        <a:t>Round one of the studio</a:t>
                      </a:r>
                    </a:p>
                  </a:txBody>
                  <a:tcPr marL="101600" marR="101600" marT="38100" marB="38100" anchor="ctr">
                    <a:solidFill>
                      <a:srgbClr val="F4F2FA"/>
                    </a:solidFill>
                  </a:tcPr>
                </a:tc>
              </a:tr>
              <a:tr h="369824">
                <a:tc>
                  <a:txBody>
                    <a:bodyPr/>
                    <a:lstStyle/>
                    <a:p>
                      <a:r>
                        <a:rPr sz="1400" b="0" i="0">
                          <a:solidFill>
                            <a:srgbClr val="1A1440"/>
                          </a:solidFill>
                          <a:latin typeface="Calibri"/>
                        </a:rPr>
                        <a:t>A check in a different unit</a:t>
                      </a:r>
                    </a:p>
                  </a:txBody>
                  <a:tcPr marL="101600" marR="101600" marT="38100" marB="38100" anchor="ctr">
                    <a:solidFill>
                      <a:srgbClr val="FFFFFF"/>
                    </a:solidFill>
                  </a:tcPr>
                </a:tc>
                <a:tc>
                  <a:txBody>
                    <a:bodyPr/>
                    <a:lstStyle/>
                    <a:p>
                      <a:r>
                        <a:rPr sz="1400" b="0" i="0">
                          <a:solidFill>
                            <a:srgbClr val="1A1440"/>
                          </a:solidFill>
                          <a:latin typeface="Calibri"/>
                        </a:rPr>
                        <a:t>Delhi Metro's journeys against its boardings</a:t>
                      </a:r>
                    </a:p>
                  </a:txBody>
                  <a:tcPr marL="101600" marR="101600" marT="38100" marB="38100" anchor="ctr">
                    <a:solidFill>
                      <a:srgbClr val="FFFFFF"/>
                    </a:solidFill>
                  </a:tcPr>
                </a:tc>
              </a:tr>
              <a:tr h="369824">
                <a:tc>
                  <a:txBody>
                    <a:bodyPr/>
                    <a:lstStyle/>
                    <a:p>
                      <a:r>
                        <a:rPr sz="1400" b="0" i="0">
                          <a:solidFill>
                            <a:srgbClr val="1A1440"/>
                          </a:solidFill>
                          <a:latin typeface="Calibri"/>
                        </a:rPr>
                        <a:t>A decimal slip in a published figure</a:t>
                      </a:r>
                    </a:p>
                  </a:txBody>
                  <a:tcPr marL="101600" marR="101600" marT="38100" marB="38100" anchor="ctr">
                    <a:solidFill>
                      <a:srgbClr val="F4F2FA"/>
                    </a:solidFill>
                  </a:tcPr>
                </a:tc>
                <a:tc>
                  <a:txBody>
                    <a:bodyPr/>
                    <a:lstStyle/>
                    <a:p>
                      <a:r>
                        <a:rPr sz="1400" b="0" i="0">
                          <a:solidFill>
                            <a:srgbClr val="1A1440"/>
                          </a:solidFill>
                          <a:latin typeface="Calibri"/>
                        </a:rPr>
                        <a:t>Flipkart's 6.3 million against the 63 in its URL</a:t>
                      </a:r>
                    </a:p>
                  </a:txBody>
                  <a:tcPr marL="101600" marR="101600" marT="38100" marB="38100" anchor="ctr">
                    <a:solidFill>
                      <a:srgbClr val="F4F2FA"/>
                    </a:solidFill>
                  </a:tcPr>
                </a:tc>
              </a:tr>
              <a:tr h="369824">
                <a:tc>
                  <a:txBody>
                    <a:bodyPr/>
                    <a:lstStyle/>
                    <a:p>
                      <a:r>
                        <a:rPr sz="1400" b="0" i="0">
                          <a:solidFill>
                            <a:srgbClr val="1A1440"/>
                          </a:solidFill>
                          <a:latin typeface="Calibri"/>
                        </a:rPr>
                        <a:t>A memo nobody can write in an hour</a:t>
                      </a:r>
                    </a:p>
                  </a:txBody>
                  <a:tcPr marL="101600" marR="101600" marT="38100" marB="38100" anchor="ctr">
                    <a:solidFill>
                      <a:srgbClr val="FFFFFF"/>
                    </a:solidFill>
                  </a:tcPr>
                </a:tc>
                <a:tc>
                  <a:txBody>
                    <a:bodyPr/>
                    <a:lstStyle/>
                    <a:p>
                      <a:r>
                        <a:rPr sz="1400" b="0" i="0">
                          <a:solidFill>
                            <a:srgbClr val="1A1440"/>
                          </a:solidFill>
                          <a:latin typeface="Calibri"/>
                        </a:rPr>
                        <a:t>Amazon's letter: a great memo probably takes a week or more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makeover gallery: three dots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rebuilt titles would a city head act on?</a:t>
            </a:r>
          </a:p>
        </p:txBody>
      </p:sp>
      <p:sp>
        <p:nvSpPr>
          <p:cNvPr id="9" name="TextBox 8"/>
          <p:cNvSpPr txBox="1"/>
          <p:nvPr/>
        </p:nvSpPr>
        <p:spPr>
          <a:xfrm>
            <a:off x="530352" y="1956816"/>
            <a:ext cx="11130991" cy="1710943"/>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Every group's final slide goes on the wall, beside three written pages.</a:t>
            </a:r>
            <a:r>
              <a:rPr sz="1600" b="0" i="0">
                <a:solidFill>
                  <a:srgbClr val="1A1440"/>
                </a:solidFill>
                <a:latin typeface="Calibri"/>
              </a:rPr>
              <a:t> Each learner places three dots: one on the title that most clearly states a claim a city head could act on, one on the appendix page that best answers its role's question, one on the caveat that sits most clearly in sight.</a:t>
            </a:r>
          </a:p>
          <a:p>
            <a:pPr>
              <a:spcAft>
                <a:spcPts val="800"/>
              </a:spcAft>
            </a:pPr>
            <a:r>
              <a:rPr sz="1600" b="1" i="0">
                <a:solidFill>
                  <a:srgbClr val="1A1440"/>
                </a:solidFill>
                <a:latin typeface="Calibri"/>
              </a:rPr>
              <a:t>The test for a title</a:t>
            </a:r>
            <a:r>
              <a:rPr sz="1600" b="0" i="0">
                <a:solidFill>
                  <a:srgbClr val="1A1440"/>
                </a:solidFill>
                <a:latin typeface="Calibri"/>
              </a:rPr>
              <a:t> is the Big Idea from Storytelling with Data: one complete sentence that carries a point of view and says what is at stake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ideas can you retrieve under a timer?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slide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parts in order; keep or cut; the defence that never concedes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culator_852ec1ae179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estimate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steps; the city of two million; a day against an hour</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fresh-cw_79e4dab2a5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Back to Monday and the check</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guardrail for a scheme that pays per trip; a monthly total over the wrong number of days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day ends: a slide, a page and a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city head hear on Thursday, and what comes tomorrow?</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Rs 314 to Rs 260 per peak online hour at a flat Rs 165 fare. Part of it may be the monsoon. Pay per completed peak trip with an acceptance floor, which returns Rs 58 lakh to Rs 92.7 lakh over six weeks depending on whether half or a fifth of idle drivers start accepting. At the evening peak the city needs about 5,700 drivers online, between 2,900 and 8,600."</a:t>
            </a:r>
          </a:p>
        </p:txBody>
      </p:sp>
      <p:sp>
        <p:nvSpPr>
          <p:cNvPr id="11" name="Rounded Rectangle 10"/>
          <p:cNvSpPr/>
          <p:nvPr/>
        </p:nvSpPr>
        <p:spPr>
          <a:xfrm>
            <a:off x="530352" y="370840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3641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27272"/>
            <a:ext cx="10564063" cy="891540"/>
          </a:xfrm>
          <a:prstGeom prst="rect">
            <a:avLst/>
          </a:prstGeom>
          <a:noFill/>
        </p:spPr>
        <p:txBody>
          <a:bodyPr wrap="square" anchor="ctr" lIns="0" rIns="0" tIns="0" bIns="0">
            <a:spAutoFit/>
          </a:bodyPr>
          <a:lstStyle/>
          <a:p>
            <a:r>
              <a:rPr sz="1500" b="1">
                <a:solidFill>
                  <a:srgbClr val="5B3FD6"/>
                </a:solidFill>
                <a:latin typeface="Calibri"/>
              </a:rPr>
              <a:t>The lines to keep. </a:t>
            </a:r>
            <a:r>
              <a:rPr sz="1500" b="0" i="0">
                <a:solidFill>
                  <a:srgbClr val="1A1440"/>
                </a:solidFill>
                <a:latin typeface="Calibri"/>
              </a:rPr>
              <a:t>A slide carries one claim, one number with its denominator, the caveat in sight and the action with its cost. Name the denominator before the number. Answer an objection in four moves. Size a number in four steps and give the factor that drives the range. Check in the same unit, period and definition.</a:t>
            </a:r>
          </a:p>
        </p:txBody>
      </p:sp>
      <p:sp>
        <p:nvSpPr>
          <p:cNvPr id="14" name="Rounded Rectangle 13"/>
          <p:cNvSpPr/>
          <p:nvPr/>
        </p:nvSpPr>
        <p:spPr>
          <a:xfrm>
            <a:off x="530352" y="49474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075427"/>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066283"/>
            <a:ext cx="10564063" cy="3581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Swiggy Instamart's cart page in Pune, and a strip that suggests what goes with what.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