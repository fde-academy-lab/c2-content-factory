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65 minutes. Say once that the afternoon runs the dojo (a number sized from nothing,</a:t>
            </a:r>
          </a:p>
          <a:p>
            <a:r>
              <a:t>then checked), the written case (the morning's slide as one page), the two transcripts and the</a:t>
            </a:r>
          </a:p>
          <a:p>
            <a:r>
              <a:t>gallery, with no new technique. The dojo opens on the canteen's tea (10), drivers at the evening peak worked</a:t>
            </a:r>
          </a:p>
          <a:p>
            <a:r>
              <a:t>together (30), UPI in pairs against the clock (25). Chapter 4 is L5 of the ladder on an estimate.</a:t>
            </a:r>
          </a:p>
          <a:p>
            <a:r>
              <a:t>Styles: Brilliant (the chapter opens on which number to check against), StatQuest (round numbers</a:t>
            </a:r>
          </a:p>
          <a:p>
            <a:r>
              <a:t>spoken aloud, the running product on the board), explorable explanations (explorer scene T3, the</a:t>
            </a:r>
          </a:p>
          <a:p>
            <a:r>
              <a:t>guesstimate tree with a slider per factor). Mid-session drill 2, four estimates and their checks,</a:t>
            </a:r>
          </a:p>
          <a:p>
            <a:r>
              <a:t>is in exercises/unguided for the lab if the room runs short here.</a:t>
            </a:r>
          </a:p>
          <a:p>
            <a:r>
              <a:t>Transition: the opening question.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Letters on paper, then a show of letters. Expect a, because it is the only number</a:t>
            </a:r>
          </a:p>
          <a:p>
            <a:r>
              <a:t>on the list the room has seen.</a:t>
            </a:r>
          </a:p>
          <a:p>
            <a:r>
              <a:t>Transition: the answer, and the rule behind it.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Write the three words on the board: unit, period, definition. They stay up all</a:t>
            </a:r>
          </a:p>
          <a:p>
            <a:r>
              <a:t>afternoon.</a:t>
            </a:r>
          </a:p>
          <a:p>
            <a:r>
              <a:t>Transition: the warm-up, with nothing at stake.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Ask the room for each value and write the one it settles on; say the running</a:t>
            </a:r>
          </a:p>
          <a:p>
            <a:r>
              <a:t>product aloud: 2,000, then 1,200 who buy, then 2,400 cups.</a:t>
            </a:r>
          </a:p>
          <a:p>
            <a:r>
              <a:t>Transition: the four steps as a strip.</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Point at each step. The step first estimates skip is the fourth.</a:t>
            </a:r>
          </a:p>
          <a:p>
            <a:r>
              <a:t>Transition: the city head's question, clarified.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Ask the room for the clarifying questions before showing the table. A candidate</a:t>
            </a:r>
          </a:p>
          <a:p>
            <a:r>
              <a:t>who skips this step is the one who lands on the trap at S42.</a:t>
            </a:r>
          </a:p>
          <a:p>
            <a:r>
              <a:t>Transition: the map.</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6 minutes. Build the tree on the board with the room, leaf by leaf, asking for each value and</a:t>
            </a:r>
          </a:p>
          <a:p>
            <a:r>
              <a:t>its range. Explorer scene T3 has a slider per leaf. The idle share is a guess here; the validate</a:t>
            </a:r>
          </a:p>
          <a:p>
            <a:r>
              <a:t>step checks it like for like.</a:t>
            </a:r>
          </a:p>
          <a:p>
            <a:r>
              <a:t>Transition: the running product.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6 minutes. Say each step aloud and write the running result before the next. Then the</a:t>
            </a:r>
          </a:p>
          <a:p>
            <a:r>
              <a:t>question: letters on paper, two minutes with a neighbour, revote. A range that spans three times</a:t>
            </a:r>
          </a:p>
          <a:p>
            <a:r>
              <a:t>its low end beats one that spans a fifth.</a:t>
            </a:r>
          </a:p>
          <a:p>
            <a:r>
              <a:t>Transition: the swing chart.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Trips per person is also the first number to replace: Uber's own dashboard holds</a:t>
            </a:r>
          </a:p>
          <a:p>
            <a:r>
              <a:t>peak trips an hour. The idle share is the assumption Monday showed moving.</a:t>
            </a:r>
          </a:p>
          <a:p>
            <a:r>
              <a:t>Transition: the check.</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Like for like means per completed trip on both sides: the chain counts trips, so</a:t>
            </a:r>
          </a:p>
          <a:p>
            <a:r>
              <a:t>the case's hours are divided by its trips, never its requests (0.47 per request mixes in the 11</a:t>
            </a:r>
          </a:p>
          <a:p>
            <a:r>
              <a:t>percent of requests nobody served). The idle share checks the same way: 1.90 trips x 25 minutes</a:t>
            </a:r>
          </a:p>
          <a:p>
            <a:r>
              <a:t>leaves an idle share of about 0.21 before the launch, the window that held the wait at 4.8 minutes.</a:t>
            </a:r>
          </a:p>
          <a:p>
            <a:r>
              <a:t>Transition: the trap a hurried estimate falls into.</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Write 41,700 and 5,700 side by side. Ask which step of the four was skipped:</a:t>
            </a:r>
          </a:p>
          <a:p>
            <a:r>
              <a:t>clarify. This is the trap the interviewer fishes for in transcript 2.</a:t>
            </a:r>
          </a:p>
          <a:p>
            <a:r>
              <a:t>Transition: UPI, in pairs.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12 minutes. Three minutes to set up, seven on the clock, two to swap sheets with the next</a:t>
            </a:r>
          </a:p>
          <a:p>
            <a:r>
              <a:t>pair. Collect three pairs' estimates on the board before the next slide.</a:t>
            </a:r>
          </a:p>
          <a:p>
            <a:r>
              <a:t>Transition: the published number.</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6 minutes. Read the board's estimates against 802 million. The worked chain lands 13 percent</a:t>
            </a:r>
          </a:p>
          <a:p>
            <a:r>
              <a:t>below, a little low, and payments a day is the factor to revisit: the Rs 1,220 a payment says the</a:t>
            </a:r>
          </a:p>
          <a:p>
            <a:r>
              <a:t>2 a day must split shops from people. Praise structure and the second check over closeness.</a:t>
            </a:r>
          </a:p>
          <a:p>
            <a:r>
              <a:t>Transition: three traps a sanity check catches.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6 minutes. Each trap fails one of the three tests on the board: unit, period, definition.</a:t>
            </a:r>
          </a:p>
          <a:p>
            <a:r>
              <a:t>In 2018 DMRC's line-utilisation count tallied a trip across three lines three times (PTI, 30 May</a:t>
            </a:r>
          </a:p>
          <a:p>
            <a:r>
              <a:t>2018), another definition trap.</a:t>
            </a:r>
          </a:p>
          <a:p>
            <a:r>
              <a:t>Transition: what chapter 4 adds to Tuesday's node.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taken from the traps slide's seven. Then the break.</a:t>
            </a:r>
          </a:p>
          <a:p>
            <a:r>
              <a:t>Transition: break, 10 minutes, then the written case.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40 minutes, individual, AI-free, handed in. The written case is the memo form of the</a:t>
            </a:r>
          </a:p>
          <a:p>
            <a:r>
              <a:t>morning's slide: L5 in writing. Style: Feynman (plain words a driver would follow), Minto (the</a:t>
            </a:r>
          </a:p>
          <a:p>
            <a:r>
              <a:t>answer first).</a:t>
            </a:r>
          </a:p>
          <a:p>
            <a:r>
              <a:t>Transition: the brief.</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checklist handed back after the slot asks five things: the claim first, one</a:t>
            </a:r>
          </a:p>
          <a:p>
            <a:r>
              <a:t>number with its denominator, the caveat in sight, the action with its cost and signer, no method</a:t>
            </a:r>
          </a:p>
          <a:p>
            <a:r>
              <a:t>words. Three or more is a pass.</a:t>
            </a:r>
          </a:p>
          <a:p>
            <a:r>
              <a:t>Transition: the forty minutes.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37 minutes of silent writing. Walk once early to answer scope questions and once near the</a:t>
            </a:r>
          </a:p>
          <a:p>
            <a:r>
              <a:t>end to signal the clock. No teaching inside the slot.</a:t>
            </a:r>
          </a:p>
          <a:p>
            <a:r>
              <a:t>Transition: the transcripts.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25 minutes. Chapter 6 is L6 of the ladder: two transcripts and the AI-company variant, read</a:t>
            </a:r>
          </a:p>
          <a:p>
            <a:r>
              <a:t>in pairs and scored. The full transcripts are in extras/C2_W04_D02_interview_room_STUDENT.md.</a:t>
            </a:r>
          </a:p>
          <a:p>
            <a:r>
              <a:t>Style: interview rehearsal on annotated answers.</a:t>
            </a:r>
          </a:p>
          <a:p>
            <a:r>
              <a:t>Transition: transcript 1.</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8 minutes. In pairs, one reads the interviewer, one the candidate; then the candidate answers</a:t>
            </a:r>
          </a:p>
          <a:p>
            <a:r>
              <a:t>the three follow-ups without notes. The weak opening reads numbers and lets the per-driver-week rise</a:t>
            </a:r>
          </a:p>
          <a:p>
            <a:r>
              <a:t>blur the claim. The full hire-grade answer, with the per-driver-week line checked (each driver</a:t>
            </a:r>
          </a:p>
          <a:p>
            <a:r>
              <a:t>online four more hours a week at 17 percent less per hour; the 140 joiners pulled the read down), is</a:t>
            </a:r>
          </a:p>
          <a:p>
            <a:r>
              <a:t>in extras/C2_W04_D02_interview_room_STUDENT.md.</a:t>
            </a:r>
          </a:p>
          <a:p>
            <a:r>
              <a:t>Transition: transcript 2.</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8 minutes. Hire-grade lines for the follow-ups: the case's hours with no trip (22 and 38</a:t>
            </a:r>
          </a:p>
          <a:p>
            <a:r>
              <a:t>percent) are looser than idle at a moment, and like for like its trips per hour give about 0.21</a:t>
            </a:r>
          </a:p>
          <a:p>
            <a:r>
              <a:t>before the launch, which held the wait at 4.8 minutes and gives about 5,000; a four-hour window</a:t>
            </a:r>
          </a:p>
          <a:p>
            <a:r>
              <a:t>leaves the busiest half hour where it was, so the buffer rises to about 1.53 and the answer stays</a:t>
            </a:r>
          </a:p>
          <a:p>
            <a:r>
              <a:t>about 5,700; about 2,900 to 8,600 with everything else held, driven by trips per person.</a:t>
            </a:r>
          </a:p>
          <a:p>
            <a:r>
              <a:t>Transition: the AI-company variant.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6 minutes. Ask which of the morning's three objections this resembles. Expect marketing's:</a:t>
            </a:r>
          </a:p>
          <a:p>
            <a:r>
              <a:t>both keep the visible number while the north star does the judging. The study: Ziegler and</a:t>
            </a:r>
          </a:p>
          <a:p>
            <a:r>
              <a:t>colleagues, arXiv 2205.06537, 13 May 2022 (checked 12 October 2026). A commit is a saved change to</a:t>
            </a:r>
          </a:p>
          <a:p>
            <a:r>
              <a:t>the code; a revert undoes one.</a:t>
            </a:r>
          </a:p>
          <a:p>
            <a:r>
              <a:t>Transition: scoring the transcripts.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Each pair scores both answers of one transcript on paper and compares with a</a:t>
            </a:r>
          </a:p>
          <a:p>
            <a:r>
              <a:t>neighbouring pair. The trainer's scored copies are in the trainer pack.</a:t>
            </a:r>
          </a:p>
          <a:p>
            <a:r>
              <a:t>Transition: the pain points.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One line each; ask the room which one bit them today.</a:t>
            </a:r>
          </a:p>
          <a:p>
            <a:r>
              <a:t>Transition: the gallery.</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10 minutes. Five minutes to walk and dot, five to read the top three titles aloud and name</a:t>
            </a:r>
          </a:p>
          <a:p>
            <a:r>
              <a:t>the part each does well. A high-scoring title that is still a topic is the example to discuss.</a:t>
            </a:r>
          </a:p>
          <a:p>
            <a:r>
              <a:t>Transition: the Kahoot.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20 minutes. Run the eight items from the Kahoot pack, read one line after each on what it</a:t>
            </a:r>
          </a:p>
          <a:p>
            <a:r>
              <a:t>tested, and revisit any item under 50 percent correct. Nothing is graded.</a:t>
            </a:r>
          </a:p>
          <a:p>
            <a:r>
              <a:t>Transition: where the day ends.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Read the sentence once. Wednesday's pre-read ships tonight: the Instamart ticket's</a:t>
            </a:r>
          </a:p>
          <a:p>
            <a:r>
              <a:t>first lines and three terms, terms only.</a:t>
            </a:r>
          </a:p>
          <a:p>
            <a:r>
              <a:t>Transition: close.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xml"/><Relationship Id="rId5" Type="http://schemas.openxmlformats.org/officeDocument/2006/relationships/image" Target="../media/image5.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xml"/><Relationship Id="rId5" Type="http://schemas.openxmlformats.org/officeDocument/2006/relationships/image" Target="../media/image6.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xml"/><Relationship Id="rId5" Type="http://schemas.openxmlformats.org/officeDocument/2006/relationships/image" Target="../media/image7.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xml"/><Relationship Id="rId5" Type="http://schemas.openxmlformats.org/officeDocument/2006/relationships/image" Target="../media/image8.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3.xml"/><Relationship Id="rId5" Type="http://schemas.openxmlformats.org/officeDocument/2006/relationships/image" Target="../media/image10.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5.xml"/><Relationship Id="rId5" Type="http://schemas.openxmlformats.org/officeDocument/2006/relationships/image" Target="../media/image1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9.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14.png"/><Relationship Id="rId8"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5.png"/><Relationship Id="rId5" Type="http://schemas.openxmlformats.org/officeDocument/2006/relationships/image" Target="../media/image16.png"/><Relationship Id="rId6" Type="http://schemas.openxmlformats.org/officeDocument/2006/relationships/image" Target="../media/image17.png"/><Relationship Id="rId7"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04</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How big is the unknown?</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How many drivers must be online at the evening peak, sized from stated assumptions, and how do you know the answer is sane?</a:t>
            </a:r>
          </a:p>
        </p:txBody>
      </p:sp>
      <p:sp>
        <p:nvSpPr>
          <p:cNvPr id="10" name="Rounded Rectangle 9"/>
          <p:cNvSpPr/>
          <p:nvPr/>
        </p:nvSpPr>
        <p:spPr>
          <a:xfrm>
            <a:off x="731519" y="5074920"/>
            <a:ext cx="1727727"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How big is the unknown?</a:t>
            </a:r>
          </a:p>
        </p:txBody>
      </p:sp>
      <p:sp>
        <p:nvSpPr>
          <p:cNvPr id="11" name="Rounded Rectangle 10"/>
          <p:cNvSpPr/>
          <p:nvPr/>
        </p:nvSpPr>
        <p:spPr>
          <a:xfrm>
            <a:off x="2568975"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goes on one page?</a:t>
            </a:r>
          </a:p>
        </p:txBody>
      </p:sp>
      <p:sp>
        <p:nvSpPr>
          <p:cNvPr id="12" name="Rounded Rectangle 11"/>
          <p:cNvSpPr/>
          <p:nvPr/>
        </p:nvSpPr>
        <p:spPr>
          <a:xfrm>
            <a:off x="4347214" y="5074920"/>
            <a:ext cx="178694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it sound like?</a:t>
            </a:r>
          </a:p>
        </p:txBody>
      </p:sp>
      <p:sp>
        <p:nvSpPr>
          <p:cNvPr id="13" name="TextBox 12"/>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2: a number from nothing, checked</a:t>
            </a:r>
          </a:p>
        </p:txBody>
      </p:sp>
      <p:sp>
        <p:nvSpPr>
          <p:cNvPr id="14" name="TextBox 1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 / 27</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2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Predict: which number would check this estimate?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You have sized drivers online at the weekday evening peak. Which of these numbers checks it in the same unit, period and definition?</a:t>
            </a:r>
          </a:p>
        </p:txBody>
      </p:sp>
      <p:sp>
        <p:nvSpPr>
          <p:cNvPr id="9" name="TextBox 8"/>
          <p:cNvSpPr txBox="1"/>
          <p:nvPr/>
        </p:nvSpPr>
        <p:spPr>
          <a:xfrm>
            <a:off x="530352" y="1956816"/>
            <a:ext cx="11130991" cy="1654048"/>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Monday's rider requests after the launch, 256,556 over six weeks</a:t>
            </a:r>
          </a:p>
          <a:p>
            <a:pPr>
              <a:spcAft>
                <a:spcPts val="800"/>
              </a:spcAft>
            </a:pPr>
            <a:r>
              <a:rPr sz="1600" b="0" i="0">
                <a:solidFill>
                  <a:srgbClr val="1A1440"/>
                </a:solidFill>
                <a:latin typeface="Calibri"/>
              </a:rPr>
              <a:t>b) A published count of Uber drivers signed up in Hyderabad</a:t>
            </a:r>
          </a:p>
          <a:p>
            <a:pPr>
              <a:spcAft>
                <a:spcPts val="800"/>
              </a:spcAft>
            </a:pPr>
            <a:r>
              <a:rPr sz="1600" b="0" i="0">
                <a:solidFill>
                  <a:srgbClr val="1A1440"/>
                </a:solidFill>
                <a:latin typeface="Calibri"/>
              </a:rPr>
              <a:t>c) A published count of Uber drivers online at one weekday evening peak in Hyderabad</a:t>
            </a:r>
          </a:p>
          <a:p>
            <a:pPr>
              <a:spcAft>
                <a:spcPts val="800"/>
              </a:spcAft>
            </a:pPr>
            <a:r>
              <a:rPr sz="1600" b="0" i="0">
                <a:solidFill>
                  <a:srgbClr val="1A1440"/>
                </a:solidFill>
                <a:latin typeface="Calibri"/>
              </a:rPr>
              <a:t>d) The online driver-hours behind each rider request in the case's own data</a:t>
            </a:r>
          </a:p>
        </p:txBody>
      </p:sp>
      <p:sp>
        <p:nvSpPr>
          <p:cNvPr id="10" name="Oval 9"/>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How big is the unknown?</a:t>
            </a:r>
          </a:p>
        </p:txBody>
      </p:sp>
      <p:sp>
        <p:nvSpPr>
          <p:cNvPr id="12" name="Oval 11"/>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17370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one page?</a:t>
            </a:r>
          </a:p>
        </p:txBody>
      </p:sp>
      <p:sp>
        <p:nvSpPr>
          <p:cNvPr id="14" name="Oval 13"/>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661314"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it sound like?</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S33  ·  2 / 27</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2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check in the same unit, period and definition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Why does only one of the four check the estimate directly, and what do you do when it does not exist?</a:t>
            </a:r>
          </a:p>
        </p:txBody>
      </p:sp>
      <p:sp>
        <p:nvSpPr>
          <p:cNvPr id="9" name="TextBox 8"/>
          <p:cNvSpPr txBox="1"/>
          <p:nvPr/>
        </p:nvSpPr>
        <p:spPr>
          <a:xfrm>
            <a:off x="530352" y="1915667"/>
            <a:ext cx="11130991" cy="1601216"/>
          </a:xfrm>
          <a:prstGeom prst="rect">
            <a:avLst/>
          </a:prstGeom>
          <a:noFill/>
        </p:spPr>
        <p:txBody>
          <a:bodyPr wrap="square" anchor="t" lIns="0" rIns="0" tIns="0" bIns="0">
            <a:spAutoFit/>
          </a:bodyPr>
          <a:lstStyle/>
          <a:p>
            <a:pPr>
              <a:spcAft>
                <a:spcPts val="800"/>
              </a:spcAft>
            </a:pPr>
            <a:r>
              <a:rPr sz="1600" b="1" i="0">
                <a:solidFill>
                  <a:srgbClr val="1A1440"/>
                </a:solidFill>
                <a:latin typeface="Calibri"/>
              </a:rPr>
              <a:t>The answer is c, and nobody publishes it, so its slot reads "to be found".</a:t>
            </a:r>
            <a:r>
              <a:rPr sz="1600" b="0" i="0">
                <a:solidFill>
                  <a:srgbClr val="1A1440"/>
                </a:solidFill>
                <a:latin typeface="Calibri"/>
              </a:rPr>
              <a:t> a counts rider requests over six weeks in twelve zones: another unit, a longer period and a slice of the city. b counts sign-ups, another definition from drivers online at one moment. d is not wrong: it checks one link in the chain, a ratio the case's own data holds, and when the direct check does not exist that is the honest fallback the afternoon uses.</a:t>
            </a:r>
          </a:p>
        </p:txBody>
      </p:sp>
      <p:pic>
        <p:nvPicPr>
          <p:cNvPr id="10" name="mermaid diagram" descr="06bd107ab603f76c.png"/>
          <p:cNvPicPr>
            <a:picLocks noChangeAspect="1"/>
          </p:cNvPicPr>
          <p:nvPr/>
        </p:nvPicPr>
        <p:blipFill>
          <a:blip r:embed="rId5"/>
          <a:stretch>
            <a:fillRect/>
          </a:stretch>
        </p:blipFill>
        <p:spPr>
          <a:xfrm>
            <a:off x="530352" y="3644899"/>
            <a:ext cx="11130991" cy="2321562"/>
          </a:xfrm>
          <a:prstGeom prst="rect">
            <a:avLst/>
          </a:prstGeom>
        </p:spPr>
      </p:pic>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How big is the unknown?</a:t>
            </a:r>
          </a:p>
        </p:txBody>
      </p:sp>
      <p:sp>
        <p:nvSpPr>
          <p:cNvPr id="13" name="Oval 12"/>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17370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one page?</a:t>
            </a:r>
          </a:p>
        </p:txBody>
      </p:sp>
      <p:sp>
        <p:nvSpPr>
          <p:cNvPr id="15" name="Oval 14"/>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661314"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it sound like?</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S34  ·  3 / 27</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2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canteen's tea, in four steps aloud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many cups of tea does the campus canteen sell on a weekday?</a:t>
            </a:r>
          </a:p>
        </p:txBody>
      </p:sp>
      <p:pic>
        <p:nvPicPr>
          <p:cNvPr id="9" name="mermaid diagram" descr="5c00696a685b32ec.png"/>
          <p:cNvPicPr>
            <a:picLocks noChangeAspect="1"/>
          </p:cNvPicPr>
          <p:nvPr/>
        </p:nvPicPr>
        <p:blipFill>
          <a:blip r:embed="rId5"/>
          <a:stretch>
            <a:fillRect/>
          </a:stretch>
        </p:blipFill>
        <p:spPr>
          <a:xfrm>
            <a:off x="530352" y="1740683"/>
            <a:ext cx="4786326" cy="4400761"/>
          </a:xfrm>
          <a:prstGeom prst="rect">
            <a:avLst/>
          </a:prstGeom>
        </p:spPr>
      </p:pic>
      <p:sp>
        <p:nvSpPr>
          <p:cNvPr id="10" name="Rounded Rectangle 9"/>
          <p:cNvSpPr/>
          <p:nvPr/>
        </p:nvSpPr>
        <p:spPr>
          <a:xfrm>
            <a:off x="5761917" y="1956816"/>
            <a:ext cx="5899425" cy="1874519"/>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5908221" y="2084832"/>
            <a:ext cx="45720" cy="1618487"/>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109389" y="2075688"/>
            <a:ext cx="5332497" cy="1691639"/>
          </a:xfrm>
          <a:prstGeom prst="rect">
            <a:avLst/>
          </a:prstGeom>
          <a:noFill/>
        </p:spPr>
        <p:txBody>
          <a:bodyPr wrap="square" anchor="ctr" lIns="0" rIns="0" tIns="0" bIns="0">
            <a:spAutoFit/>
          </a:bodyPr>
          <a:lstStyle/>
          <a:p>
            <a:r>
              <a:rPr sz="1500" b="1">
                <a:solidFill>
                  <a:srgbClr val="5B3FD6"/>
                </a:solidFill>
                <a:latin typeface="Calibri"/>
              </a:rPr>
              <a:t>A toy, invented for this class. </a:t>
            </a:r>
            <a:r>
              <a:rPr sz="1500" b="0" i="0">
                <a:solidFill>
                  <a:srgbClr val="1A1440"/>
                </a:solidFill>
                <a:latin typeface="Calibri"/>
              </a:rPr>
              <a:t>Clarify: one canteen, one weekday, cups and not litres. Map: students on campus x the share who buy tea x cups each. Calculate: 2,000 x 0.6 x 2 = 2,400 cups. Validate: the canteen's till for one weekday; failing that, cups counted at the counter for one busy half hour.</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How big is the unknown?</a:t>
            </a:r>
          </a:p>
        </p:txBody>
      </p:sp>
      <p:sp>
        <p:nvSpPr>
          <p:cNvPr id="15" name="Oval 14"/>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7370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one page?</a:t>
            </a:r>
          </a:p>
        </p:txBody>
      </p:sp>
      <p:sp>
        <p:nvSpPr>
          <p:cNvPr id="17" name="Oval 16"/>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61314"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it sound like?</a:t>
            </a:r>
          </a:p>
        </p:txBody>
      </p:sp>
      <p:sp>
        <p:nvSpPr>
          <p:cNvPr id="19" name="TextBox 1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S35  ·  4 / 27</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2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guesstimate runs in four steps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every estimate in the dojo, and in an interview, do in order?</a:t>
            </a:r>
          </a:p>
        </p:txBody>
      </p:sp>
      <p:pic>
        <p:nvPicPr>
          <p:cNvPr id="9" name="mermaid diagram" descr="8a06e3b1b5164d64.png"/>
          <p:cNvPicPr>
            <a:picLocks noChangeAspect="1"/>
          </p:cNvPicPr>
          <p:nvPr/>
        </p:nvPicPr>
        <p:blipFill>
          <a:blip r:embed="rId5"/>
          <a:stretch>
            <a:fillRect/>
          </a:stretch>
        </p:blipFill>
        <p:spPr>
          <a:xfrm>
            <a:off x="780897" y="1956816"/>
            <a:ext cx="10629900" cy="2100262"/>
          </a:xfrm>
          <a:prstGeom prst="rect">
            <a:avLst/>
          </a:prstGeom>
        </p:spPr>
      </p:pic>
      <p:sp>
        <p:nvSpPr>
          <p:cNvPr id="10" name="TextBox 9"/>
          <p:cNvSpPr txBox="1"/>
          <p:nvPr/>
        </p:nvSpPr>
        <p:spPr>
          <a:xfrm>
            <a:off x="530352" y="4203382"/>
            <a:ext cx="11130991" cy="1324864"/>
          </a:xfrm>
          <a:prstGeom prst="rect">
            <a:avLst/>
          </a:prstGeom>
          <a:noFill/>
        </p:spPr>
        <p:txBody>
          <a:bodyPr wrap="square" anchor="t" lIns="0" rIns="0" tIns="0" bIns="0">
            <a:spAutoFit/>
          </a:bodyPr>
          <a:lstStyle/>
          <a:p>
            <a:pPr>
              <a:spcAft>
                <a:spcPts val="800"/>
              </a:spcAft>
            </a:pPr>
            <a:r>
              <a:rPr sz="1600" b="1" i="0">
                <a:solidFill>
                  <a:srgbClr val="1A1440"/>
                </a:solidFill>
                <a:latin typeface="Calibri"/>
              </a:rPr>
              <a:t>Interviewers listen to the structure and the stated assumptions.</a:t>
            </a:r>
            <a:r>
              <a:rPr sz="1600" b="0" i="0">
                <a:solidFill>
                  <a:srgbClr val="1A1440"/>
                </a:solidFill>
                <a:latin typeface="Calibri"/>
              </a:rPr>
              <a:t> Aced's guide to analyst interviews (an interview-preparation site) says the interviewer "isn't looking for a precise number" and is "evaluating your estimation framework", with each assumption stated so it can be challenged (checked 12 October 2026). A number that is wildly off still costs the answer, which is why step 4 exists.</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How big is the unknown?</a:t>
            </a:r>
          </a:p>
        </p:txBody>
      </p:sp>
      <p:sp>
        <p:nvSpPr>
          <p:cNvPr id="13" name="Oval 12"/>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17370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one page?</a:t>
            </a:r>
          </a:p>
        </p:txBody>
      </p:sp>
      <p:sp>
        <p:nvSpPr>
          <p:cNvPr id="15" name="Oval 14"/>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661314"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it sound like?</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S36  ·  5 / 27</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2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Clarify: six questions pin the estimate down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questions pin the estimate down before any number is written?</a:t>
            </a:r>
          </a:p>
        </p:txBody>
      </p:sp>
      <p:graphicFrame>
        <p:nvGraphicFramePr>
          <p:cNvPr id="9" name="Table 8"/>
          <p:cNvGraphicFramePr>
            <a:graphicFrameLocks noGrp="1"/>
          </p:cNvGraphicFramePr>
          <p:nvPr/>
        </p:nvGraphicFramePr>
        <p:xfrm>
          <a:off x="530352" y="1872996"/>
          <a:ext cx="11130990" cy="3072384"/>
        </p:xfrm>
        <a:graphic>
          <a:graphicData uri="http://schemas.openxmlformats.org/drawingml/2006/table">
            <a:tbl>
              <a:tblPr firstRow="0" bandRow="0">
                <a:tableStyleId>{2D5ABB26-0587-4C30-8999-92F81FD0307C}</a:tableStyleId>
              </a:tblPr>
              <a:tblGrid>
                <a:gridCol w="3555158"/>
                <a:gridCol w="7575832"/>
              </a:tblGrid>
              <a:tr h="369824">
                <a:tc>
                  <a:txBody>
                    <a:bodyPr/>
                    <a:lstStyle/>
                    <a:p>
                      <a:r>
                        <a:rPr sz="1450" b="1" i="0">
                          <a:solidFill>
                            <a:srgbClr val="FFFFFF"/>
                          </a:solidFill>
                          <a:latin typeface="Calibri"/>
                        </a:rPr>
                        <a:t>Ask</a:t>
                      </a:r>
                    </a:p>
                  </a:txBody>
                  <a:tcPr marL="101600" marR="101600" marT="38100" marB="38100" anchor="ctr">
                    <a:solidFill>
                      <a:srgbClr val="1A0F5C"/>
                    </a:solidFill>
                  </a:tcPr>
                </a:tc>
                <a:tc>
                  <a:txBody>
                    <a:bodyPr/>
                    <a:lstStyle/>
                    <a:p>
                      <a:r>
                        <a:rPr sz="1450" b="1" i="0">
                          <a:solidFill>
                            <a:srgbClr val="FFFFFF"/>
                          </a:solidFill>
                          <a:latin typeface="Calibri"/>
                        </a:rPr>
                        <a:t>The answer to work with</a:t>
                      </a:r>
                    </a:p>
                  </a:txBody>
                  <a:tcPr marL="101600" marR="101600" marT="38100" marB="38100" anchor="ctr">
                    <a:solidFill>
                      <a:srgbClr val="1A0F5C"/>
                    </a:solidFill>
                  </a:tcPr>
                </a:tc>
              </a:tr>
              <a:tr h="369824">
                <a:tc>
                  <a:txBody>
                    <a:bodyPr/>
                    <a:lstStyle/>
                    <a:p>
                      <a:r>
                        <a:rPr sz="1400" b="0" i="0">
                          <a:solidFill>
                            <a:srgbClr val="1A1440"/>
                          </a:solidFill>
                          <a:latin typeface="Calibri"/>
                        </a:rPr>
                        <a:t>Which city, which product?</a:t>
                      </a:r>
                    </a:p>
                  </a:txBody>
                  <a:tcPr marL="101600" marR="101600" marT="38100" marB="38100" anchor="ctr">
                    <a:solidFill>
                      <a:srgbClr val="FFFFFF"/>
                    </a:solidFill>
                  </a:tcPr>
                </a:tc>
                <a:tc>
                  <a:txBody>
                    <a:bodyPr/>
                    <a:lstStyle/>
                    <a:p>
                      <a:r>
                        <a:rPr sz="1400" b="0" i="0">
                          <a:solidFill>
                            <a:srgbClr val="1A1440"/>
                          </a:solidFill>
                          <a:latin typeface="Calibri"/>
                        </a:rPr>
                        <a:t>The Hyderabad metro area, Uber, one product (assume cars)</a:t>
                      </a:r>
                    </a:p>
                  </a:txBody>
                  <a:tcPr marL="101600" marR="101600" marT="38100" marB="38100" anchor="ctr">
                    <a:solidFill>
                      <a:srgbClr val="FFFFFF"/>
                    </a:solidFill>
                  </a:tcPr>
                </a:tc>
              </a:tr>
              <a:tr h="611632">
                <a:tc>
                  <a:txBody>
                    <a:bodyPr/>
                    <a:lstStyle/>
                    <a:p>
                      <a:r>
                        <a:rPr sz="1400" b="0" i="0">
                          <a:solidFill>
                            <a:srgbClr val="1A1440"/>
                          </a:solidFill>
                          <a:latin typeface="Calibri"/>
                        </a:rPr>
                        <a:t>Which window?</a:t>
                      </a:r>
                    </a:p>
                  </a:txBody>
                  <a:tcPr marL="101600" marR="101600" marT="38100" marB="38100" anchor="ctr">
                    <a:solidFill>
                      <a:srgbClr val="F4F2FA"/>
                    </a:solidFill>
                  </a:tcPr>
                </a:tc>
                <a:tc>
                  <a:txBody>
                    <a:bodyPr/>
                    <a:lstStyle/>
                    <a:p>
                      <a:r>
                        <a:rPr sz="1400" b="0" i="0">
                          <a:solidFill>
                            <a:srgbClr val="1A1440"/>
                          </a:solidFill>
                          <a:latin typeface="Calibri"/>
                        </a:rPr>
                        <a:t>The weekday evening peak, one of the guarantee's two daily windows, three hours long</a:t>
                      </a:r>
                    </a:p>
                  </a:txBody>
                  <a:tcPr marL="101600" marR="101600" marT="38100" marB="38100" anchor="ctr">
                    <a:solidFill>
                      <a:srgbClr val="F4F2FA"/>
                    </a:solidFill>
                  </a:tcPr>
                </a:tc>
              </a:tr>
              <a:tr h="611632">
                <a:tc>
                  <a:txBody>
                    <a:bodyPr/>
                    <a:lstStyle/>
                    <a:p>
                      <a:r>
                        <a:rPr sz="1400" b="0" i="0">
                          <a:solidFill>
                            <a:srgbClr val="1A1440"/>
                          </a:solidFill>
                          <a:latin typeface="Calibri"/>
                        </a:rPr>
                        <a:t>Drivers online when?</a:t>
                      </a:r>
                    </a:p>
                  </a:txBody>
                  <a:tcPr marL="101600" marR="101600" marT="38100" marB="38100" anchor="ctr">
                    <a:solidFill>
                      <a:srgbClr val="FFFFFF"/>
                    </a:solidFill>
                  </a:tcPr>
                </a:tc>
                <a:tc>
                  <a:txBody>
                    <a:bodyPr/>
                    <a:lstStyle/>
                    <a:p>
                      <a:r>
                        <a:rPr sz="1400" b="0" i="0">
                          <a:solidFill>
                            <a:srgbClr val="1A1440"/>
                          </a:solidFill>
                          <a:latin typeface="Calibri"/>
                        </a:rPr>
                        <a:t>At one moment inside the window, since a count summed over three hours is another unit</a:t>
                      </a:r>
                    </a:p>
                  </a:txBody>
                  <a:tcPr marL="101600" marR="101600" marT="38100" marB="38100" anchor="ctr">
                    <a:solidFill>
                      <a:srgbClr val="FFFFFF"/>
                    </a:solidFill>
                  </a:tcPr>
                </a:tc>
              </a:tr>
              <a:tr h="369824">
                <a:tc>
                  <a:txBody>
                    <a:bodyPr/>
                    <a:lstStyle/>
                    <a:p>
                      <a:r>
                        <a:rPr sz="1400" b="0" i="0">
                          <a:solidFill>
                            <a:srgbClr val="1A1440"/>
                          </a:solidFill>
                          <a:latin typeface="Calibri"/>
                        </a:rPr>
                        <a:t>What target?</a:t>
                      </a:r>
                    </a:p>
                  </a:txBody>
                  <a:tcPr marL="101600" marR="101600" marT="38100" marB="38100" anchor="ctr">
                    <a:solidFill>
                      <a:srgbClr val="F4F2FA"/>
                    </a:solidFill>
                  </a:tcPr>
                </a:tc>
                <a:tc>
                  <a:txBody>
                    <a:bodyPr/>
                    <a:lstStyle/>
                    <a:p>
                      <a:r>
                        <a:rPr sz="1400" b="0" i="0">
                          <a:solidFill>
                            <a:srgbClr val="1A1440"/>
                          </a:solidFill>
                          <a:latin typeface="Calibri"/>
                        </a:rPr>
                        <a:t>A median rider wait under five minutes, for the city and then zone by zone</a:t>
                      </a:r>
                    </a:p>
                  </a:txBody>
                  <a:tcPr marL="101600" marR="101600" marT="38100" marB="38100" anchor="ctr">
                    <a:solidFill>
                      <a:srgbClr val="F4F2FA"/>
                    </a:solidFill>
                  </a:tcPr>
                </a:tc>
              </a:tr>
              <a:tr h="369824">
                <a:tc>
                  <a:txBody>
                    <a:bodyPr/>
                    <a:lstStyle/>
                    <a:p>
                      <a:r>
                        <a:rPr sz="1400" b="0" i="0">
                          <a:solidFill>
                            <a:srgbClr val="1A1440"/>
                          </a:solidFill>
                          <a:latin typeface="Calibri"/>
                        </a:rPr>
                        <a:t>Requests or trips?</a:t>
                      </a:r>
                    </a:p>
                  </a:txBody>
                  <a:tcPr marL="101600" marR="101600" marT="38100" marB="38100" anchor="ctr">
                    <a:solidFill>
                      <a:srgbClr val="FFFFFF"/>
                    </a:solidFill>
                  </a:tcPr>
                </a:tc>
                <a:tc>
                  <a:txBody>
                    <a:bodyPr/>
                    <a:lstStyle/>
                    <a:p>
                      <a:r>
                        <a:rPr sz="1400" b="0" i="0">
                          <a:solidFill>
                            <a:srgbClr val="1A1440"/>
                          </a:solidFill>
                          <a:latin typeface="Calibri"/>
                        </a:rPr>
                        <a:t>Trips: about nine in ten requests became trips in Monday's data</a:t>
                      </a:r>
                    </a:p>
                  </a:txBody>
                  <a:tcPr marL="101600" marR="101600" marT="38100" marB="38100" anchor="ctr">
                    <a:solidFill>
                      <a:srgbClr val="FFFFFF"/>
                    </a:solidFill>
                  </a:tcPr>
                </a:tc>
              </a:tr>
              <a:tr h="369824">
                <a:tc>
                  <a:txBody>
                    <a:bodyPr/>
                    <a:lstStyle/>
                    <a:p>
                      <a:r>
                        <a:rPr sz="1400" b="0" i="0">
                          <a:solidFill>
                            <a:srgbClr val="1A1440"/>
                          </a:solidFill>
                          <a:latin typeface="Calibri"/>
                        </a:rPr>
                        <a:t>Drivers on two apps?</a:t>
                      </a:r>
                    </a:p>
                  </a:txBody>
                  <a:tcPr marL="101600" marR="101600" marT="38100" marB="38100" anchor="ctr">
                    <a:solidFill>
                      <a:srgbClr val="F4F2FA"/>
                    </a:solidFill>
                  </a:tcPr>
                </a:tc>
                <a:tc>
                  <a:txBody>
                    <a:bodyPr/>
                    <a:lstStyle/>
                    <a:p>
                      <a:r>
                        <a:rPr sz="1400" b="0" i="0">
                          <a:solidFill>
                            <a:srgbClr val="1A1440"/>
                          </a:solidFill>
                          <a:latin typeface="Calibri"/>
                        </a:rPr>
                        <a:t>A driver online on Uber may be busy on another app, so lean the idle share low</a:t>
                      </a:r>
                    </a:p>
                  </a:txBody>
                  <a:tcPr marL="101600" marR="101600" marT="38100" marB="38100" anchor="ctr">
                    <a:solidFill>
                      <a:srgbClr val="F4F2FA"/>
                    </a:solidFill>
                  </a:tcPr>
                </a:tc>
              </a:tr>
            </a:tbl>
          </a:graphicData>
        </a:graphic>
      </p:graphicFrame>
      <p:sp>
        <p:nvSpPr>
          <p:cNvPr id="10" name="Rounded Rectangle 9"/>
          <p:cNvSpPr/>
          <p:nvPr/>
        </p:nvSpPr>
        <p:spPr>
          <a:xfrm>
            <a:off x="530352" y="5201412"/>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5329428"/>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5320284"/>
            <a:ext cx="10564063" cy="624840"/>
          </a:xfrm>
          <a:prstGeom prst="rect">
            <a:avLst/>
          </a:prstGeom>
          <a:noFill/>
        </p:spPr>
        <p:txBody>
          <a:bodyPr wrap="square" anchor="ctr" lIns="0" rIns="0" tIns="0" bIns="0">
            <a:spAutoFit/>
          </a:bodyPr>
          <a:lstStyle/>
          <a:p>
            <a:r>
              <a:rPr sz="1500" b="1">
                <a:solidFill>
                  <a:srgbClr val="5B3FD6"/>
                </a:solidFill>
                <a:latin typeface="Calibri"/>
              </a:rPr>
              <a:t>The unit is drivers online at one moment. </a:t>
            </a:r>
            <a:r>
              <a:rPr sz="1500" b="0" i="0">
                <a:solidFill>
                  <a:srgbClr val="1A1440"/>
                </a:solidFill>
                <a:latin typeface="Calibri"/>
              </a:rPr>
              <a:t>Every factor in the chain must arrive in a unit that multiplies into it.</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How big is the unknown?</a:t>
            </a:r>
          </a:p>
        </p:txBody>
      </p:sp>
      <p:sp>
        <p:nvSpPr>
          <p:cNvPr id="15" name="Oval 14"/>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7370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one page?</a:t>
            </a:r>
          </a:p>
        </p:txBody>
      </p:sp>
      <p:sp>
        <p:nvSpPr>
          <p:cNvPr id="17" name="Oval 16"/>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61314"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it sound like?</a:t>
            </a:r>
          </a:p>
        </p:txBody>
      </p:sp>
      <p:sp>
        <p:nvSpPr>
          <p:cNvPr id="19" name="TextBox 1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S37  ·  6 / 27</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2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Map: drivers online as a chain of factors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factors multiply into drivers online at the evening peak?</a:t>
            </a:r>
          </a:p>
        </p:txBody>
      </p:sp>
      <p:pic>
        <p:nvPicPr>
          <p:cNvPr id="9" name="mermaid diagram" descr="e8976657129ef733.png"/>
          <p:cNvPicPr>
            <a:picLocks noChangeAspect="1"/>
          </p:cNvPicPr>
          <p:nvPr/>
        </p:nvPicPr>
        <p:blipFill>
          <a:blip r:embed="rId5"/>
          <a:stretch>
            <a:fillRect/>
          </a:stretch>
        </p:blipFill>
        <p:spPr>
          <a:xfrm>
            <a:off x="1905721" y="1664208"/>
            <a:ext cx="8380251" cy="3256280"/>
          </a:xfrm>
          <a:prstGeom prst="rect">
            <a:avLst/>
          </a:prstGeom>
        </p:spPr>
      </p:pic>
      <p:sp>
        <p:nvSpPr>
          <p:cNvPr id="10" name="TextBox 9"/>
          <p:cNvSpPr txBox="1"/>
          <p:nvPr/>
        </p:nvSpPr>
        <p:spPr>
          <a:xfrm>
            <a:off x="530352" y="4966208"/>
            <a:ext cx="11130991" cy="1233424"/>
          </a:xfrm>
          <a:prstGeom prst="rect">
            <a:avLst/>
          </a:prstGeom>
          <a:noFill/>
        </p:spPr>
        <p:txBody>
          <a:bodyPr wrap="square" anchor="t" lIns="0" rIns="0" tIns="0" bIns="0">
            <a:spAutoFit/>
          </a:bodyPr>
          <a:lstStyle/>
          <a:p>
            <a:r>
              <a:rPr sz="1600" b="1" i="0">
                <a:solidFill>
                  <a:srgbClr val="1A1440"/>
                </a:solidFill>
                <a:latin typeface="Calibri"/>
              </a:rPr>
              <a:t>Drivers online = (trips to serve an hour / trips per online driver-hour) x buffer.</a:t>
            </a:r>
            <a:r>
              <a:rPr sz="1600" b="0" i="0">
                <a:solidFill>
                  <a:srgbClr val="1A1440"/>
                </a:solidFill>
                <a:latin typeface="Calibri"/>
              </a:rPr>
              <a:t> Each leaf is a guess said aloud with its range. Counting trips per 100 people, never riders, keeps a commuter who rides both ways in the count. A peak trip takes about 25 minutes from accepting to dropping, so a busy driver fits 2.4 an hour; the buffer covers the busiest half hour.</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How big is the unknown?</a:t>
            </a:r>
          </a:p>
        </p:txBody>
      </p:sp>
      <p:sp>
        <p:nvSpPr>
          <p:cNvPr id="13" name="Oval 12"/>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17370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one page?</a:t>
            </a:r>
          </a:p>
        </p:txBody>
      </p:sp>
      <p:sp>
        <p:nvSpPr>
          <p:cNvPr id="15" name="Oval 14"/>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661314"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it sound like?</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S38  ·  7 / 27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2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Calculate aloud: about 5,700 drivers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chain multiply out to, step by step?</a:t>
            </a:r>
          </a:p>
        </p:txBody>
      </p:sp>
      <p:graphicFrame>
        <p:nvGraphicFramePr>
          <p:cNvPr id="9" name="Table 8"/>
          <p:cNvGraphicFramePr>
            <a:graphicFrameLocks noGrp="1"/>
          </p:cNvGraphicFramePr>
          <p:nvPr/>
        </p:nvGraphicFramePr>
        <p:xfrm>
          <a:off x="530352" y="1956816"/>
          <a:ext cx="11130989" cy="2588768"/>
        </p:xfrm>
        <a:graphic>
          <a:graphicData uri="http://schemas.openxmlformats.org/drawingml/2006/table">
            <a:tbl>
              <a:tblPr firstRow="0" bandRow="0">
                <a:tableStyleId>{2D5ABB26-0587-4C30-8999-92F81FD0307C}</a:tableStyleId>
              </a:tblPr>
              <a:tblGrid>
                <a:gridCol w="4972987"/>
                <a:gridCol w="2700204"/>
                <a:gridCol w="3457798"/>
              </a:tblGrid>
              <a:tr h="369824">
                <a:tc>
                  <a:txBody>
                    <a:bodyPr/>
                    <a:lstStyle/>
                    <a:p>
                      <a:r>
                        <a:rPr sz="1450" b="1" i="0">
                          <a:solidFill>
                            <a:srgbClr val="FFFFFF"/>
                          </a:solidFill>
                          <a:latin typeface="Calibri"/>
                        </a:rPr>
                        <a:t>Step</a:t>
                      </a:r>
                    </a:p>
                  </a:txBody>
                  <a:tcPr marL="101600" marR="101600" marT="38100" marB="38100" anchor="ctr">
                    <a:solidFill>
                      <a:srgbClr val="1A0F5C"/>
                    </a:solidFill>
                  </a:tcPr>
                </a:tc>
                <a:tc>
                  <a:txBody>
                    <a:bodyPr/>
                    <a:lstStyle/>
                    <a:p>
                      <a:r>
                        <a:rPr sz="1450" b="1" i="0">
                          <a:solidFill>
                            <a:srgbClr val="FFFFFF"/>
                          </a:solidFill>
                          <a:latin typeface="Calibri"/>
                        </a:rPr>
                        <a:t>Said aloud</a:t>
                      </a:r>
                    </a:p>
                  </a:txBody>
                  <a:tcPr marL="101600" marR="101600" marT="38100" marB="38100" anchor="ctr">
                    <a:solidFill>
                      <a:srgbClr val="1A0F5C"/>
                    </a:solidFill>
                  </a:tcPr>
                </a:tc>
                <a:tc>
                  <a:txBody>
                    <a:bodyPr/>
                    <a:lstStyle/>
                    <a:p>
                      <a:r>
                        <a:rPr sz="1450" b="1" i="0">
                          <a:solidFill>
                            <a:srgbClr val="FFFFFF"/>
                          </a:solidFill>
                          <a:latin typeface="Calibri"/>
                        </a:rPr>
                        <a:t>Running result</a:t>
                      </a:r>
                    </a:p>
                  </a:txBody>
                  <a:tcPr marL="101600" marR="101600" marT="38100" marB="38100" anchor="ctr">
                    <a:solidFill>
                      <a:srgbClr val="1A0F5C"/>
                    </a:solidFill>
                  </a:tcPr>
                </a:tc>
              </a:tr>
              <a:tr h="369824">
                <a:tc>
                  <a:txBody>
                    <a:bodyPr/>
                    <a:lstStyle/>
                    <a:p>
                      <a:r>
                        <a:rPr sz="1400" b="0" i="0">
                          <a:solidFill>
                            <a:srgbClr val="1A1440"/>
                          </a:solidFill>
                          <a:latin typeface="Calibri"/>
                        </a:rPr>
                        <a:t>People x weekday trips per person</a:t>
                      </a:r>
                    </a:p>
                  </a:txBody>
                  <a:tcPr marL="101600" marR="101600" marT="38100" marB="38100" anchor="ctr">
                    <a:solidFill>
                      <a:srgbClr val="FFFFFF"/>
                    </a:solidFill>
                  </a:tcPr>
                </a:tc>
                <a:tc>
                  <a:txBody>
                    <a:bodyPr/>
                    <a:lstStyle/>
                    <a:p>
                      <a:r>
                        <a:rPr sz="1400" b="0" i="0">
                          <a:solidFill>
                            <a:srgbClr val="1A1440"/>
                          </a:solidFill>
                          <a:latin typeface="Calibri"/>
                        </a:rPr>
                        <a:t>1 crore x 1 per 100</a:t>
                      </a:r>
                    </a:p>
                  </a:txBody>
                  <a:tcPr marL="101600" marR="101600" marT="38100" marB="38100" anchor="ctr">
                    <a:solidFill>
                      <a:srgbClr val="FFFFFF"/>
                    </a:solidFill>
                  </a:tcPr>
                </a:tc>
                <a:tc>
                  <a:txBody>
                    <a:bodyPr/>
                    <a:lstStyle/>
                    <a:p>
                      <a:r>
                        <a:rPr sz="1400" b="0" i="0">
                          <a:solidFill>
                            <a:srgbClr val="1A1440"/>
                          </a:solidFill>
                          <a:latin typeface="Calibri"/>
                        </a:rPr>
                        <a:t>1 lakh trips a day</a:t>
                      </a:r>
                    </a:p>
                  </a:txBody>
                  <a:tcPr marL="101600" marR="101600" marT="38100" marB="38100" anchor="ctr">
                    <a:solidFill>
                      <a:srgbClr val="FFFFFF"/>
                    </a:solidFill>
                  </a:tcPr>
                </a:tc>
              </a:tr>
              <a:tr h="369824">
                <a:tc>
                  <a:txBody>
                    <a:bodyPr/>
                    <a:lstStyle/>
                    <a:p>
                      <a:r>
                        <a:rPr sz="1400" b="0" i="0">
                          <a:solidFill>
                            <a:srgbClr val="1A1440"/>
                          </a:solidFill>
                          <a:latin typeface="Calibri"/>
                        </a:rPr>
                        <a:t>x share in the evening</a:t>
                      </a:r>
                    </a:p>
                  </a:txBody>
                  <a:tcPr marL="101600" marR="101600" marT="38100" marB="38100" anchor="ctr">
                    <a:solidFill>
                      <a:srgbClr val="F4F2FA"/>
                    </a:solidFill>
                  </a:tcPr>
                </a:tc>
                <a:tc>
                  <a:txBody>
                    <a:bodyPr/>
                    <a:lstStyle/>
                    <a:p>
                      <a:r>
                        <a:rPr sz="1400" b="0" i="0">
                          <a:solidFill>
                            <a:srgbClr val="1A1440"/>
                          </a:solidFill>
                          <a:latin typeface="Calibri"/>
                        </a:rPr>
                        <a:t>x a quarter</a:t>
                      </a:r>
                    </a:p>
                  </a:txBody>
                  <a:tcPr marL="101600" marR="101600" marT="38100" marB="38100" anchor="ctr">
                    <a:solidFill>
                      <a:srgbClr val="F4F2FA"/>
                    </a:solidFill>
                  </a:tcPr>
                </a:tc>
                <a:tc>
                  <a:txBody>
                    <a:bodyPr/>
                    <a:lstStyle/>
                    <a:p>
                      <a:r>
                        <a:rPr sz="1400" b="0" i="0">
                          <a:solidFill>
                            <a:srgbClr val="1A1440"/>
                          </a:solidFill>
                          <a:latin typeface="Calibri"/>
                        </a:rPr>
                        <a:t>25,000 in the window</a:t>
                      </a:r>
                    </a:p>
                  </a:txBody>
                  <a:tcPr marL="101600" marR="101600" marT="38100" marB="38100" anchor="ctr">
                    <a:solidFill>
                      <a:srgbClr val="F4F2FA"/>
                    </a:solidFill>
                  </a:tcPr>
                </a:tc>
              </a:tr>
              <a:tr h="369824">
                <a:tc>
                  <a:txBody>
                    <a:bodyPr/>
                    <a:lstStyle/>
                    <a:p>
                      <a:r>
                        <a:rPr sz="1400" b="0" i="0">
                          <a:solidFill>
                            <a:srgbClr val="1A1440"/>
                          </a:solidFill>
                          <a:latin typeface="Calibri"/>
                        </a:rPr>
                        <a:t>/ three hours</a:t>
                      </a:r>
                    </a:p>
                  </a:txBody>
                  <a:tcPr marL="101600" marR="101600" marT="38100" marB="38100" anchor="ctr">
                    <a:solidFill>
                      <a:srgbClr val="FFFFFF"/>
                    </a:solidFill>
                  </a:tcPr>
                </a:tc>
                <a:tc>
                  <a:txBody>
                    <a:bodyPr/>
                    <a:lstStyle/>
                    <a:p>
                      <a:r>
                        <a:rPr sz="1400" b="0" i="0">
                          <a:solidFill>
                            <a:srgbClr val="1A1440"/>
                          </a:solidFill>
                          <a:latin typeface="Calibri"/>
                        </a:rPr>
                        <a:t>/ 3</a:t>
                      </a:r>
                    </a:p>
                  </a:txBody>
                  <a:tcPr marL="101600" marR="101600" marT="38100" marB="38100" anchor="ctr">
                    <a:solidFill>
                      <a:srgbClr val="FFFFFF"/>
                    </a:solidFill>
                  </a:tcPr>
                </a:tc>
                <a:tc>
                  <a:txBody>
                    <a:bodyPr/>
                    <a:lstStyle/>
                    <a:p>
                      <a:r>
                        <a:rPr sz="1400" b="0" i="0">
                          <a:solidFill>
                            <a:srgbClr val="1A1440"/>
                          </a:solidFill>
                          <a:latin typeface="Calibri"/>
                        </a:rPr>
                        <a:t>about 8,330 trips an hour</a:t>
                      </a:r>
                    </a:p>
                  </a:txBody>
                  <a:tcPr marL="101600" marR="101600" marT="38100" marB="38100" anchor="ctr">
                    <a:solidFill>
                      <a:srgbClr val="FFFFFF"/>
                    </a:solidFill>
                  </a:tcPr>
                </a:tc>
              </a:tr>
              <a:tr h="369824">
                <a:tc>
                  <a:txBody>
                    <a:bodyPr/>
                    <a:lstStyle/>
                    <a:p>
                      <a:r>
                        <a:rPr sz="1400" b="0" i="0">
                          <a:solidFill>
                            <a:srgbClr val="1A1440"/>
                          </a:solidFill>
                          <a:latin typeface="Calibri"/>
                        </a:rPr>
                        <a:t>Trips per online driver-hour</a:t>
                      </a:r>
                    </a:p>
                  </a:txBody>
                  <a:tcPr marL="101600" marR="101600" marT="38100" marB="38100" anchor="ctr">
                    <a:solidFill>
                      <a:srgbClr val="F4F2FA"/>
                    </a:solidFill>
                  </a:tcPr>
                </a:tc>
                <a:tc>
                  <a:txBody>
                    <a:bodyPr/>
                    <a:lstStyle/>
                    <a:p>
                      <a:r>
                        <a:rPr sz="1400" b="0" i="0">
                          <a:solidFill>
                            <a:srgbClr val="1A1440"/>
                          </a:solidFill>
                          <a:latin typeface="Calibri"/>
                        </a:rPr>
                        <a:t>2.4 x (1 - 0.30)</a:t>
                      </a:r>
                    </a:p>
                  </a:txBody>
                  <a:tcPr marL="101600" marR="101600" marT="38100" marB="38100" anchor="ctr">
                    <a:solidFill>
                      <a:srgbClr val="F4F2FA"/>
                    </a:solidFill>
                  </a:tcPr>
                </a:tc>
                <a:tc>
                  <a:txBody>
                    <a:bodyPr/>
                    <a:lstStyle/>
                    <a:p>
                      <a:r>
                        <a:rPr sz="1400" b="0" i="0">
                          <a:solidFill>
                            <a:srgbClr val="1A1440"/>
                          </a:solidFill>
                          <a:latin typeface="Calibri"/>
                        </a:rPr>
                        <a:t>1.68</a:t>
                      </a:r>
                    </a:p>
                  </a:txBody>
                  <a:tcPr marL="101600" marR="101600" marT="38100" marB="38100" anchor="ctr">
                    <a:solidFill>
                      <a:srgbClr val="F4F2FA"/>
                    </a:solidFill>
                  </a:tcPr>
                </a:tc>
              </a:tr>
              <a:tr h="369824">
                <a:tc>
                  <a:txBody>
                    <a:bodyPr/>
                    <a:lstStyle/>
                    <a:p>
                      <a:r>
                        <a:rPr sz="1400" b="0" i="0">
                          <a:solidFill>
                            <a:srgbClr val="1A1440"/>
                          </a:solidFill>
                          <a:latin typeface="Calibri"/>
                        </a:rPr>
                        <a:t>Trips an hour / trips per driver-hour</a:t>
                      </a:r>
                    </a:p>
                  </a:txBody>
                  <a:tcPr marL="101600" marR="101600" marT="38100" marB="38100" anchor="ctr">
                    <a:solidFill>
                      <a:srgbClr val="FFFFFF"/>
                    </a:solidFill>
                  </a:tcPr>
                </a:tc>
                <a:tc>
                  <a:txBody>
                    <a:bodyPr/>
                    <a:lstStyle/>
                    <a:p>
                      <a:r>
                        <a:rPr sz="1400" b="0" i="0">
                          <a:solidFill>
                            <a:srgbClr val="1A1440"/>
                          </a:solidFill>
                          <a:latin typeface="Calibri"/>
                        </a:rPr>
                        <a:t>8,330 / 1.68</a:t>
                      </a:r>
                    </a:p>
                  </a:txBody>
                  <a:tcPr marL="101600" marR="101600" marT="38100" marB="38100" anchor="ctr">
                    <a:solidFill>
                      <a:srgbClr val="FFFFFF"/>
                    </a:solidFill>
                  </a:tcPr>
                </a:tc>
                <a:tc>
                  <a:txBody>
                    <a:bodyPr/>
                    <a:lstStyle/>
                    <a:p>
                      <a:r>
                        <a:rPr sz="1400" b="0" i="0">
                          <a:solidFill>
                            <a:srgbClr val="1A1440"/>
                          </a:solidFill>
                          <a:latin typeface="Calibri"/>
                        </a:rPr>
                        <a:t>about 4,960 drivers</a:t>
                      </a:r>
                    </a:p>
                  </a:txBody>
                  <a:tcPr marL="101600" marR="101600" marT="38100" marB="38100" anchor="ctr">
                    <a:solidFill>
                      <a:srgbClr val="FFFFFF"/>
                    </a:solidFill>
                  </a:tcPr>
                </a:tc>
              </a:tr>
              <a:tr h="369824">
                <a:tc>
                  <a:txBody>
                    <a:bodyPr/>
                    <a:lstStyle/>
                    <a:p>
                      <a:r>
                        <a:rPr sz="1400" b="0" i="0">
                          <a:solidFill>
                            <a:srgbClr val="1A1440"/>
                          </a:solidFill>
                          <a:latin typeface="Calibri"/>
                        </a:rPr>
                        <a:t>x buffer</a:t>
                      </a:r>
                    </a:p>
                  </a:txBody>
                  <a:tcPr marL="101600" marR="101600" marT="38100" marB="38100" anchor="ctr">
                    <a:solidFill>
                      <a:srgbClr val="F4F2FA"/>
                    </a:solidFill>
                  </a:tcPr>
                </a:tc>
                <a:tc>
                  <a:txBody>
                    <a:bodyPr/>
                    <a:lstStyle/>
                    <a:p>
                      <a:r>
                        <a:rPr sz="1400" b="0" i="0">
                          <a:solidFill>
                            <a:srgbClr val="1A1440"/>
                          </a:solidFill>
                          <a:latin typeface="Calibri"/>
                        </a:rPr>
                        <a:t>x 1.15</a:t>
                      </a:r>
                    </a:p>
                  </a:txBody>
                  <a:tcPr marL="101600" marR="101600" marT="38100" marB="38100" anchor="ctr">
                    <a:solidFill>
                      <a:srgbClr val="F4F2FA"/>
                    </a:solidFill>
                  </a:tcPr>
                </a:tc>
                <a:tc>
                  <a:txBody>
                    <a:bodyPr/>
                    <a:lstStyle/>
                    <a:p>
                      <a:r>
                        <a:rPr sz="1400" b="0" i="0">
                          <a:solidFill>
                            <a:srgbClr val="1A1440"/>
                          </a:solidFill>
                          <a:latin typeface="Calibri"/>
                        </a:rPr>
                        <a:t>about 5,700 drivers</a:t>
                      </a:r>
                    </a:p>
                  </a:txBody>
                  <a:tcPr marL="101600" marR="101600" marT="38100" marB="38100" anchor="ctr">
                    <a:solidFill>
                      <a:srgbClr val="F4F2FA"/>
                    </a:solidFill>
                  </a:tcPr>
                </a:tc>
              </a:tr>
            </a:tbl>
          </a:graphicData>
        </a:graphic>
      </p:graphicFrame>
      <p:sp>
        <p:nvSpPr>
          <p:cNvPr id="10" name="Rounded Rectangle 9"/>
          <p:cNvSpPr/>
          <p:nvPr/>
        </p:nvSpPr>
        <p:spPr>
          <a:xfrm>
            <a:off x="530352" y="48016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9296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920488"/>
            <a:ext cx="10564063" cy="6248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Using the ranges on S38, which assumption moves the answer most: a) the idle share, b) weekday trips per 100 people, c) the buffer, d) the trips a busy driver fits in an hour?</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How big is the unknown?</a:t>
            </a:r>
          </a:p>
        </p:txBody>
      </p:sp>
      <p:sp>
        <p:nvSpPr>
          <p:cNvPr id="15" name="Oval 14"/>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7370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one page?</a:t>
            </a:r>
          </a:p>
        </p:txBody>
      </p:sp>
      <p:sp>
        <p:nvSpPr>
          <p:cNvPr id="17" name="Oval 16"/>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61314"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it sound like?</a:t>
            </a:r>
          </a:p>
        </p:txBody>
      </p:sp>
      <p:sp>
        <p:nvSpPr>
          <p:cNvPr id="19" name="TextBox 1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S39  ·  8 / 27</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2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how often people ride moves it most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wide is the honest range, and which factor sets it?</a:t>
            </a:r>
          </a:p>
        </p:txBody>
      </p:sp>
      <p:pic>
        <p:nvPicPr>
          <p:cNvPr id="9" name="mermaid diagram" descr="C2_W04_D02_guesstimate_swing_STUDENT.png"/>
          <p:cNvPicPr>
            <a:picLocks noChangeAspect="1"/>
          </p:cNvPicPr>
          <p:nvPr/>
        </p:nvPicPr>
        <p:blipFill>
          <a:blip r:embed="rId4"/>
          <a:stretch>
            <a:fillRect/>
          </a:stretch>
        </p:blipFill>
        <p:spPr>
          <a:xfrm>
            <a:off x="2584483" y="1664208"/>
            <a:ext cx="7022728" cy="3147060"/>
          </a:xfrm>
          <a:prstGeom prst="rect">
            <a:avLst/>
          </a:prstGeom>
        </p:spPr>
      </p:pic>
      <p:sp>
        <p:nvSpPr>
          <p:cNvPr id="10" name="picture caption"/>
          <p:cNvSpPr txBox="1"/>
          <p:nvPr/>
        </p:nvSpPr>
        <p:spPr>
          <a:xfrm>
            <a:off x="530352" y="4847844"/>
            <a:ext cx="11130991" cy="316992"/>
          </a:xfrm>
          <a:prstGeom prst="rect">
            <a:avLst/>
          </a:prstGeom>
          <a:noFill/>
        </p:spPr>
        <p:txBody>
          <a:bodyPr wrap="square" anchor="t" lIns="0" rIns="0" tIns="0" bIns="0">
            <a:spAutoFit/>
          </a:bodyPr>
          <a:lstStyle/>
          <a:p>
            <a:pPr algn="ctr"/>
            <a:r>
              <a:rPr sz="1200" b="0" i="0">
                <a:solidFill>
                  <a:srgbClr val="6B6690"/>
                </a:solidFill>
                <a:latin typeface="Calibri"/>
              </a:rPr>
              <a:t>How far each assumption moves the answer</a:t>
            </a:r>
          </a:p>
        </p:txBody>
      </p:sp>
      <p:sp>
        <p:nvSpPr>
          <p:cNvPr id="11" name="Rounded Rectangle 10"/>
          <p:cNvSpPr/>
          <p:nvPr/>
        </p:nvSpPr>
        <p:spPr>
          <a:xfrm>
            <a:off x="530352" y="5173980"/>
            <a:ext cx="11130991" cy="86106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676656" y="5301996"/>
            <a:ext cx="45720" cy="60502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77824" y="5292852"/>
            <a:ext cx="10564063" cy="678180"/>
          </a:xfrm>
          <a:prstGeom prst="rect">
            <a:avLst/>
          </a:prstGeom>
          <a:noFill/>
        </p:spPr>
        <p:txBody>
          <a:bodyPr wrap="square" anchor="ctr" lIns="0" rIns="0" tIns="0" bIns="0">
            <a:spAutoFit/>
          </a:bodyPr>
          <a:lstStyle/>
          <a:p>
            <a:r>
              <a:rPr sz="1100" b="1">
                <a:solidFill>
                  <a:srgbClr val="5B3FD6"/>
                </a:solidFill>
                <a:latin typeface="Calibri"/>
              </a:rPr>
              <a:t>The answer is b. </a:t>
            </a:r>
            <a:r>
              <a:rPr sz="1100" b="0" i="0">
                <a:solidFill>
                  <a:srgbClr val="1A1440"/>
                </a:solidFill>
                <a:latin typeface="Calibri"/>
              </a:rPr>
              <a:t>With every other factor at its central value, weekday trips of 0.5 to 1.5 per 100 people move the answer from about 2,900 to about 8,600; the idle share moves it from about 5,100 to 6,400. </a:t>
            </a:r>
            <a:r>
              <a:rPr sz="1100" b="1" i="0">
                <a:solidFill>
                  <a:srgbClr val="1A1440"/>
                </a:solidFill>
                <a:latin typeface="Calibri"/>
              </a:rPr>
              <a:t>Say it as:</a:t>
            </a:r>
            <a:r>
              <a:rPr sz="1100" b="0" i="0">
                <a:solidFill>
                  <a:srgbClr val="1A1440"/>
                </a:solidFill>
                <a:latin typeface="Calibri"/>
              </a:rPr>
              <a:t> "about 5,700 before the check, from 2,900 to 8,600 with everything else held, and mostly a question of how often people ride."</a:t>
            </a:r>
          </a:p>
        </p:txBody>
      </p:sp>
      <p:sp>
        <p:nvSpPr>
          <p:cNvPr id="14" name="Oval 13"/>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40080"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How big is the unknown?</a:t>
            </a:r>
          </a:p>
        </p:txBody>
      </p:sp>
      <p:sp>
        <p:nvSpPr>
          <p:cNvPr id="16" name="Oval 15"/>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217370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one page?</a:t>
            </a:r>
          </a:p>
        </p:txBody>
      </p:sp>
      <p:sp>
        <p:nvSpPr>
          <p:cNvPr id="18" name="Oval 17"/>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3661314"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it sound like?</a:t>
            </a:r>
          </a:p>
        </p:txBody>
      </p:sp>
      <p:sp>
        <p:nvSpPr>
          <p:cNvPr id="20" name="TextBox 1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S40  ·  9 / 27</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2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Validate: like for like, the chain runs high</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part of the estimate can the case's own data confirm, and does it move the answer?</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0.53</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DRIVER-HOURS PER COMPLETED TRIP, BEFORE</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case's twelve zones, median wait 4.8 minutes</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0.63</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DRIVER-HOURS PER COMPLETED TRIP, AFTER</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same zones, median wait 4.6 minutes</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0.60</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CHAIN, BEFORE ITS BUFFER</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1 / 1.68, about an eighth above 0.53</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30352" y="3419856"/>
            <a:ext cx="11130991" cy="1601216"/>
          </a:xfrm>
          <a:prstGeom prst="rect">
            <a:avLst/>
          </a:prstGeom>
          <a:noFill/>
        </p:spPr>
        <p:txBody>
          <a:bodyPr wrap="square" anchor="t" lIns="0" rIns="0" tIns="0" bIns="0">
            <a:spAutoFit/>
          </a:bodyPr>
          <a:lstStyle/>
          <a:p>
            <a:pPr>
              <a:spcAft>
                <a:spcPts val="800"/>
              </a:spcAft>
            </a:pPr>
            <a:r>
              <a:rPr sz="1600" b="1" i="0">
                <a:solidFill>
                  <a:srgbClr val="1A1440"/>
                </a:solidFill>
                <a:latin typeface="Calibri"/>
              </a:rPr>
              <a:t>The chain needs about an eighth more driver time per trip than the before window, the one whose wait met the target, so it errs high.</a:t>
            </a:r>
            <a:r>
              <a:rPr sz="1600" b="0" i="0">
                <a:solidFill>
                  <a:srgbClr val="1A1440"/>
                </a:solidFill>
                <a:latin typeface="Calibri"/>
              </a:rPr>
              <a:t> Re-run at the case's 1.90 trips an hour: 8,330 / 1.90 x 1.15 = about 5,000, so say about 5,000 to 5,700. The case pools both daily windows on all seven days (42 hours a week), so it checks the ratio's size, never the city's count, and a published count of drivers online at Hyderabad's evening peak has not been found.</a:t>
            </a:r>
          </a:p>
        </p:txBody>
      </p:sp>
      <p:sp>
        <p:nvSpPr>
          <p:cNvPr id="22" name="Oval 21"/>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How big is the unknown?</a:t>
            </a:r>
          </a:p>
        </p:txBody>
      </p:sp>
      <p:sp>
        <p:nvSpPr>
          <p:cNvPr id="24" name="Oval 23"/>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17370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one page?</a:t>
            </a:r>
          </a:p>
        </p:txBody>
      </p:sp>
      <p:sp>
        <p:nvSpPr>
          <p:cNvPr id="26" name="Oval 25"/>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661314"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it sound like?</a:t>
            </a:r>
          </a:p>
        </p:txBody>
      </p:sp>
      <p:sp>
        <p:nvSpPr>
          <p:cNvPr id="28" name="TextBox 2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S41  ·  10 / 27</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2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trap: a day's trips divided by an hour's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goes wrong when a day meets an hour?</a:t>
            </a:r>
          </a:p>
        </p:txBody>
      </p:sp>
      <p:sp>
        <p:nvSpPr>
          <p:cNvPr id="9" name="Rounded Rectangle 8"/>
          <p:cNvSpPr/>
          <p:nvPr/>
        </p:nvSpPr>
        <p:spPr>
          <a:xfrm>
            <a:off x="530352" y="195681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891540"/>
          </a:xfrm>
          <a:prstGeom prst="rect">
            <a:avLst/>
          </a:prstGeom>
          <a:noFill/>
        </p:spPr>
        <p:txBody>
          <a:bodyPr wrap="square" anchor="ctr" lIns="0" rIns="0" tIns="0" bIns="0">
            <a:spAutoFit/>
          </a:bodyPr>
          <a:lstStyle/>
          <a:p>
            <a:r>
              <a:rPr sz="1500" b="1">
                <a:solidFill>
                  <a:srgbClr val="5B3FD6"/>
                </a:solidFill>
                <a:latin typeface="Calibri"/>
              </a:rPr>
              <a:t>The plausible wrong answer. </a:t>
            </a:r>
            <a:r>
              <a:rPr sz="1500" b="0" i="0">
                <a:solidFill>
                  <a:srgbClr val="1A1440"/>
                </a:solidFill>
                <a:latin typeface="Calibri"/>
              </a:rPr>
              <a:t>"1 crore people, 1 trip per 100 people, so 1 lakh trips; a driver does 2.4 trips an hour; so about 41,700 drivers." A city head who takes that to the review asks for incentives for about seven times the drivers the chain says.</a:t>
            </a:r>
          </a:p>
        </p:txBody>
      </p:sp>
      <p:sp>
        <p:nvSpPr>
          <p:cNvPr id="12" name="Rounded Rectangle 11"/>
          <p:cNvSpPr/>
          <p:nvPr/>
        </p:nvSpPr>
        <p:spPr>
          <a:xfrm>
            <a:off x="530352" y="3195828"/>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ounded Rectangle 12"/>
          <p:cNvSpPr/>
          <p:nvPr/>
        </p:nvSpPr>
        <p:spPr>
          <a:xfrm>
            <a:off x="676656" y="3323844"/>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77824" y="3314700"/>
            <a:ext cx="10564063" cy="891540"/>
          </a:xfrm>
          <a:prstGeom prst="rect">
            <a:avLst/>
          </a:prstGeom>
          <a:noFill/>
        </p:spPr>
        <p:txBody>
          <a:bodyPr wrap="square" anchor="ctr" lIns="0" rIns="0" tIns="0" bIns="0">
            <a:spAutoFit/>
          </a:bodyPr>
          <a:lstStyle/>
          <a:p>
            <a:r>
              <a:rPr sz="1500" b="1">
                <a:solidFill>
                  <a:srgbClr val="5B3FD6"/>
                </a:solidFill>
                <a:latin typeface="Calibri"/>
              </a:rPr>
              <a:t>Why it is wrong. </a:t>
            </a:r>
            <a:r>
              <a:rPr sz="1500" b="0" i="0">
                <a:solidFill>
                  <a:srgbClr val="1A1440"/>
                </a:solidFill>
                <a:latin typeface="Calibri"/>
              </a:rPr>
              <a:t>A day's trips were divided by an hour's trips per driver, a period mismatch, and the idle share and the evening window were skipped. </a:t>
            </a:r>
            <a:r>
              <a:rPr sz="1500" b="1" i="0">
                <a:solidFill>
                  <a:srgbClr val="1A1440"/>
                </a:solidFill>
                <a:latin typeface="Calibri"/>
              </a:rPr>
              <a:t>The check:</a:t>
            </a:r>
            <a:r>
              <a:rPr sz="1500" b="0" i="0">
                <a:solidFill>
                  <a:srgbClr val="1A1440"/>
                </a:solidFill>
                <a:latin typeface="Calibri"/>
              </a:rPr>
              <a:t> write the unit beside every factor. </a:t>
            </a:r>
            <a:r>
              <a:rPr sz="1500" b="1" i="0">
                <a:solidFill>
                  <a:srgbClr val="1A1440"/>
                </a:solidFill>
                <a:latin typeface="Calibri"/>
              </a:rPr>
              <a:t>The fix:</a:t>
            </a:r>
            <a:r>
              <a:rPr sz="1500" b="0" i="0">
                <a:solidFill>
                  <a:srgbClr val="1A1440"/>
                </a:solidFill>
                <a:latin typeface="Calibri"/>
              </a:rPr>
              <a:t> bring the day's trips into the evening window's hour before dividing.</a:t>
            </a:r>
          </a:p>
        </p:txBody>
      </p:sp>
      <p:sp>
        <p:nvSpPr>
          <p:cNvPr id="15" name="Oval 14"/>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How big is the unknown?</a:t>
            </a:r>
          </a:p>
        </p:txBody>
      </p:sp>
      <p:sp>
        <p:nvSpPr>
          <p:cNvPr id="17" name="Oval 16"/>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17370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one page?</a:t>
            </a:r>
          </a:p>
        </p:txBody>
      </p:sp>
      <p:sp>
        <p:nvSpPr>
          <p:cNvPr id="19" name="Oval 18"/>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661314"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it sound like?</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S42  ·  11 / 27</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2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UPI in pairs: seven minutes on the clock</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many UPI payments happen in India on an average day?</a:t>
            </a:r>
          </a:p>
        </p:txBody>
      </p:sp>
      <p:sp>
        <p:nvSpPr>
          <p:cNvPr id="9" name="Rounded Rectangle 8"/>
          <p:cNvSpPr/>
          <p:nvPr/>
        </p:nvSpPr>
        <p:spPr>
          <a:xfrm>
            <a:off x="530352" y="195681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891540"/>
          </a:xfrm>
          <a:prstGeom prst="rect">
            <a:avLst/>
          </a:prstGeom>
          <a:noFill/>
        </p:spPr>
        <p:txBody>
          <a:bodyPr wrap="square" anchor="ctr" lIns="0" rIns="0" tIns="0" bIns="0">
            <a:spAutoFit/>
          </a:bodyPr>
          <a:lstStyle/>
          <a:p>
            <a:r>
              <a:rPr sz="1500" b="1">
                <a:solidFill>
                  <a:srgbClr val="5B3FD6"/>
                </a:solidFill>
                <a:latin typeface="Calibri"/>
              </a:rPr>
              <a:t>The drill. </a:t>
            </a:r>
            <a:r>
              <a:rPr sz="1500" b="0" i="0">
                <a:solidFill>
                  <a:srgbClr val="1A1440"/>
                </a:solidFill>
                <a:latin typeface="Calibri"/>
              </a:rPr>
              <a:t>In pairs, seven minutes, all four steps on one sheet. Clarify volume or value (volume: the count of payments). Map active users x payments per user a day, and say how many of those go to shops and how many to people, so the payments a day are believable.</a:t>
            </a:r>
          </a:p>
        </p:txBody>
      </p:sp>
      <p:sp>
        <p:nvSpPr>
          <p:cNvPr id="12" name="Rounded Rectangle 11"/>
          <p:cNvSpPr/>
          <p:nvPr/>
        </p:nvSpPr>
        <p:spPr>
          <a:xfrm>
            <a:off x="530352" y="319582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ounded Rectangle 12"/>
          <p:cNvSpPr/>
          <p:nvPr/>
        </p:nvSpPr>
        <p:spPr>
          <a:xfrm>
            <a:off x="676656" y="3323844"/>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77824" y="3314700"/>
            <a:ext cx="10564063" cy="624840"/>
          </a:xfrm>
          <a:prstGeom prst="rect">
            <a:avLst/>
          </a:prstGeom>
          <a:noFill/>
        </p:spPr>
        <p:txBody>
          <a:bodyPr wrap="square" anchor="ctr" lIns="0" rIns="0" tIns="0" bIns="0">
            <a:spAutoFit/>
          </a:bodyPr>
          <a:lstStyle/>
          <a:p>
            <a:r>
              <a:rPr sz="1500" b="1">
                <a:solidFill>
                  <a:srgbClr val="5B3FD6"/>
                </a:solidFill>
                <a:latin typeface="Calibri"/>
              </a:rPr>
              <a:t>What the scorer checks: </a:t>
            </a:r>
            <a:r>
              <a:rPr sz="1500" b="0" i="0">
                <a:solidFill>
                  <a:srgbClr val="1A1440"/>
                </a:solidFill>
                <a:latin typeface="Calibri"/>
              </a:rPr>
              <a:t>scope clarified first, every assumption written with a range, a range given, and a sanity check in the right unit.</a:t>
            </a:r>
          </a:p>
        </p:txBody>
      </p:sp>
      <p:sp>
        <p:nvSpPr>
          <p:cNvPr id="15" name="Oval 14"/>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How big is the unknown?</a:t>
            </a:r>
          </a:p>
        </p:txBody>
      </p:sp>
      <p:sp>
        <p:nvSpPr>
          <p:cNvPr id="17" name="Oval 16"/>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17370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one page?</a:t>
            </a:r>
          </a:p>
        </p:txBody>
      </p:sp>
      <p:sp>
        <p:nvSpPr>
          <p:cNvPr id="19" name="Oval 18"/>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661314"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it sound like?</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S43  ·  12 / 27</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2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check: per day, and per payment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Is a pair's estimate sane, and which comparison is the honest one?</a:t>
            </a:r>
          </a:p>
        </p:txBody>
      </p:sp>
      <p:pic>
        <p:nvPicPr>
          <p:cNvPr id="9" name="mermaid diagram" descr="63f7d2d06c8445ee.png"/>
          <p:cNvPicPr>
            <a:picLocks noChangeAspect="1"/>
          </p:cNvPicPr>
          <p:nvPr/>
        </p:nvPicPr>
        <p:blipFill>
          <a:blip r:embed="rId5"/>
          <a:stretch>
            <a:fillRect/>
          </a:stretch>
        </p:blipFill>
        <p:spPr>
          <a:xfrm>
            <a:off x="530352" y="2471349"/>
            <a:ext cx="4786326" cy="2939428"/>
          </a:xfrm>
          <a:prstGeom prst="rect">
            <a:avLst/>
          </a:prstGeom>
        </p:spPr>
      </p:pic>
      <p:sp>
        <p:nvSpPr>
          <p:cNvPr id="10" name="Rounded Rectangle 9"/>
          <p:cNvSpPr/>
          <p:nvPr/>
        </p:nvSpPr>
        <p:spPr>
          <a:xfrm>
            <a:off x="5761917" y="1956816"/>
            <a:ext cx="5899425" cy="16078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5908221" y="2084832"/>
            <a:ext cx="45720" cy="13517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109389" y="2075688"/>
            <a:ext cx="5332497" cy="1424940"/>
          </a:xfrm>
          <a:prstGeom prst="rect">
            <a:avLst/>
          </a:prstGeom>
          <a:noFill/>
        </p:spPr>
        <p:txBody>
          <a:bodyPr wrap="square" anchor="ctr" lIns="0" rIns="0" tIns="0" bIns="0">
            <a:spAutoFit/>
          </a:bodyPr>
          <a:lstStyle/>
          <a:p>
            <a:r>
              <a:rPr sz="1500" b="1">
                <a:solidFill>
                  <a:srgbClr val="5B3FD6"/>
                </a:solidFill>
                <a:latin typeface="Calibri"/>
              </a:rPr>
              <a:t>NPCI's figure. </a:t>
            </a:r>
            <a:r>
              <a:rPr sz="1500" b="0" i="0">
                <a:solidFill>
                  <a:srgbClr val="1A1440"/>
                </a:solidFill>
                <a:latin typeface="Calibri"/>
              </a:rPr>
              <a:t>NPCI, the National Payments Corporation of India, which runs UPI, reported an average of 802 million UPI payments a day in September 2026: 24.07 billion in the month, worth Rs 29.37 lakh crore (Outlook Money, 2 October 2026; checked 12 October 2026).</a:t>
            </a:r>
          </a:p>
        </p:txBody>
      </p:sp>
      <p:sp>
        <p:nvSpPr>
          <p:cNvPr id="13" name="Rounded Rectangle 12"/>
          <p:cNvSpPr/>
          <p:nvPr/>
        </p:nvSpPr>
        <p:spPr>
          <a:xfrm>
            <a:off x="5761917" y="3729228"/>
            <a:ext cx="5899425" cy="1874519"/>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ounded Rectangle 13"/>
          <p:cNvSpPr/>
          <p:nvPr/>
        </p:nvSpPr>
        <p:spPr>
          <a:xfrm>
            <a:off x="5908221" y="3857244"/>
            <a:ext cx="45720" cy="1618487"/>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109389" y="3848100"/>
            <a:ext cx="5332497" cy="1691639"/>
          </a:xfrm>
          <a:prstGeom prst="rect">
            <a:avLst/>
          </a:prstGeom>
          <a:noFill/>
        </p:spPr>
        <p:txBody>
          <a:bodyPr wrap="square" anchor="ctr" lIns="0" rIns="0" tIns="0" bIns="0">
            <a:spAutoFit/>
          </a:bodyPr>
          <a:lstStyle/>
          <a:p>
            <a:r>
              <a:rPr sz="1500" b="1">
                <a:solidFill>
                  <a:srgbClr val="5B3FD6"/>
                </a:solidFill>
                <a:latin typeface="Calibri"/>
              </a:rPr>
              <a:t>Two checks. </a:t>
            </a:r>
            <a:r>
              <a:rPr sz="1500" b="0" i="0">
                <a:solidFill>
                  <a:srgbClr val="1A1440"/>
                </a:solidFill>
                <a:latin typeface="Calibri"/>
              </a:rPr>
              <a:t>Per day: September has 30 days, so 24.07 billion / 30 = 802 million; dividing by 31 gives 776 million, a small slip beside the estimate's range. Per payment: Rs 29.37 lakh crore / 24.07 billion = about Rs 1,220 a payment, far above a cup of tea, so the count holds large transfers between people.</a:t>
            </a:r>
          </a:p>
        </p:txBody>
      </p:sp>
      <p:sp>
        <p:nvSpPr>
          <p:cNvPr id="16" name="Oval 15"/>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40080"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How big is the unknown?</a:t>
            </a:r>
          </a:p>
        </p:txBody>
      </p:sp>
      <p:sp>
        <p:nvSpPr>
          <p:cNvPr id="18" name="Oval 17"/>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217370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one page?</a:t>
            </a:r>
          </a:p>
        </p:txBody>
      </p:sp>
      <p:sp>
        <p:nvSpPr>
          <p:cNvPr id="20" name="Oval 19"/>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3661314"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it sound like?</a:t>
            </a:r>
          </a:p>
        </p:txBody>
      </p:sp>
      <p:sp>
        <p:nvSpPr>
          <p:cNvPr id="22" name="TextBox 2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S44  ·  13 / 27</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2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Three traps a sanity check catches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skipped move lets each wrong number through?</a:t>
            </a:r>
          </a:p>
        </p:txBody>
      </p:sp>
      <p:graphicFrame>
        <p:nvGraphicFramePr>
          <p:cNvPr id="9" name="Table 8"/>
          <p:cNvGraphicFramePr>
            <a:graphicFrameLocks noGrp="1"/>
          </p:cNvGraphicFramePr>
          <p:nvPr/>
        </p:nvGraphicFramePr>
        <p:xfrm>
          <a:off x="530352" y="1956816"/>
          <a:ext cx="11130989" cy="2377440"/>
        </p:xfrm>
        <a:graphic>
          <a:graphicData uri="http://schemas.openxmlformats.org/drawingml/2006/table">
            <a:tbl>
              <a:tblPr firstRow="0" bandRow="0">
                <a:tableStyleId>{2D5ABB26-0587-4C30-8999-92F81FD0307C}</a:tableStyleId>
              </a:tblPr>
              <a:tblGrid>
                <a:gridCol w="1232820"/>
                <a:gridCol w="3818607"/>
                <a:gridCol w="3818607"/>
                <a:gridCol w="2260955"/>
              </a:tblGrid>
              <a:tr h="335280">
                <a:tc>
                  <a:txBody>
                    <a:bodyPr/>
                    <a:lstStyle/>
                    <a:p>
                      <a:r>
                        <a:rPr sz="1250" b="1" i="0">
                          <a:solidFill>
                            <a:srgbClr val="FFFFFF"/>
                          </a:solidFill>
                          <a:latin typeface="Calibri"/>
                        </a:rPr>
                        <a:t>Trap</a:t>
                      </a:r>
                    </a:p>
                  </a:txBody>
                  <a:tcPr marL="101600" marR="101600" marT="38100" marB="38100" anchor="ctr">
                    <a:solidFill>
                      <a:srgbClr val="1A0F5C"/>
                    </a:solidFill>
                  </a:tcPr>
                </a:tc>
                <a:tc>
                  <a:txBody>
                    <a:bodyPr/>
                    <a:lstStyle/>
                    <a:p>
                      <a:r>
                        <a:rPr sz="1250" b="1" i="0">
                          <a:solidFill>
                            <a:srgbClr val="FFFFFF"/>
                          </a:solidFill>
                          <a:latin typeface="Calibri"/>
                        </a:rPr>
                        <a:t>What a confident candidate says</a:t>
                      </a:r>
                    </a:p>
                  </a:txBody>
                  <a:tcPr marL="101600" marR="101600" marT="38100" marB="38100" anchor="ctr">
                    <a:solidFill>
                      <a:srgbClr val="1A0F5C"/>
                    </a:solidFill>
                  </a:tcPr>
                </a:tc>
                <a:tc>
                  <a:txBody>
                    <a:bodyPr/>
                    <a:lstStyle/>
                    <a:p>
                      <a:r>
                        <a:rPr sz="1250" b="1" i="0">
                          <a:solidFill>
                            <a:srgbClr val="FFFFFF"/>
                          </a:solidFill>
                          <a:latin typeface="Calibri"/>
                        </a:rPr>
                        <a:t>What catches it</a:t>
                      </a:r>
                    </a:p>
                  </a:txBody>
                  <a:tcPr marL="101600" marR="101600" marT="38100" marB="38100" anchor="ctr">
                    <a:solidFill>
                      <a:srgbClr val="1A0F5C"/>
                    </a:solidFill>
                  </a:tcPr>
                </a:tc>
                <a:tc>
                  <a:txBody>
                    <a:bodyPr/>
                    <a:lstStyle/>
                    <a:p>
                      <a:r>
                        <a:rPr sz="1250" b="1" i="0">
                          <a:solidFill>
                            <a:srgbClr val="FFFFFF"/>
                          </a:solidFill>
                          <a:latin typeface="Calibri"/>
                        </a:rPr>
                        <a:t>The test it fails</a:t>
                      </a:r>
                    </a:p>
                  </a:txBody>
                  <a:tcPr marL="101600" marR="101600" marT="38100" marB="38100" anchor="ctr">
                    <a:solidFill>
                      <a:srgbClr val="1A0F5C"/>
                    </a:solidFill>
                  </a:tcPr>
                </a:tc>
              </a:tr>
              <a:tr h="542544">
                <a:tc>
                  <a:txBody>
                    <a:bodyPr/>
                    <a:lstStyle/>
                    <a:p>
                      <a:r>
                        <a:rPr sz="1200" b="0" i="0">
                          <a:solidFill>
                            <a:srgbClr val="1A1440"/>
                          </a:solidFill>
                          <a:latin typeface="Calibri"/>
                        </a:rPr>
                        <a:t>People as households</a:t>
                      </a:r>
                    </a:p>
                  </a:txBody>
                  <a:tcPr marL="101600" marR="101600" marT="38100" marB="38100" anchor="ctr">
                    <a:solidFill>
                      <a:srgbClr val="FFFFFF"/>
                    </a:solidFill>
                  </a:tcPr>
                </a:tc>
                <a:tc>
                  <a:txBody>
                    <a:bodyPr/>
                    <a:lstStyle/>
                    <a:p>
                      <a:r>
                        <a:rPr sz="1200" b="0" i="0">
                          <a:solidFill>
                            <a:srgbClr val="1A1440"/>
                          </a:solidFill>
                          <a:latin typeface="Calibri"/>
                        </a:rPr>
                        <a:t>"A city of two million people has eight million households" (invented)</a:t>
                      </a:r>
                    </a:p>
                  </a:txBody>
                  <a:tcPr marL="101600" marR="101600" marT="38100" marB="38100" anchor="ctr">
                    <a:solidFill>
                      <a:srgbClr val="FFFFFF"/>
                    </a:solidFill>
                  </a:tcPr>
                </a:tc>
                <a:tc>
                  <a:txBody>
                    <a:bodyPr/>
                    <a:lstStyle/>
                    <a:p>
                      <a:r>
                        <a:rPr sz="1200" b="0" i="0">
                          <a:solidFill>
                            <a:srgbClr val="1A1440"/>
                          </a:solidFill>
                          <a:latin typeface="Calibri"/>
                        </a:rPr>
                        <a:t>Households are people divided by about four: 20 lakh / 4 = 5 lakh; this one multiplied</a:t>
                      </a:r>
                    </a:p>
                  </a:txBody>
                  <a:tcPr marL="101600" marR="101600" marT="38100" marB="38100" anchor="ctr">
                    <a:solidFill>
                      <a:srgbClr val="FFFFFF"/>
                    </a:solidFill>
                  </a:tcPr>
                </a:tc>
                <a:tc>
                  <a:txBody>
                    <a:bodyPr/>
                    <a:lstStyle/>
                    <a:p>
                      <a:r>
                        <a:rPr sz="1200" b="0" i="0">
                          <a:solidFill>
                            <a:srgbClr val="1A1440"/>
                          </a:solidFill>
                          <a:latin typeface="Calibri"/>
                        </a:rPr>
                        <a:t>Unit</a:t>
                      </a:r>
                    </a:p>
                  </a:txBody>
                  <a:tcPr marL="101600" marR="101600" marT="38100" marB="38100" anchor="ctr">
                    <a:solidFill>
                      <a:srgbClr val="FFFFFF"/>
                    </a:solidFill>
                  </a:tcPr>
                </a:tc>
              </a:tr>
              <a:tr h="749808">
                <a:tc>
                  <a:txBody>
                    <a:bodyPr/>
                    <a:lstStyle/>
                    <a:p>
                      <a:r>
                        <a:rPr sz="1200" b="0" i="0">
                          <a:solidFill>
                            <a:srgbClr val="1A1440"/>
                          </a:solidFill>
                          <a:latin typeface="Calibri"/>
                        </a:rPr>
                        <a:t>A record day</a:t>
                      </a:r>
                    </a:p>
                  </a:txBody>
                  <a:tcPr marL="101600" marR="101600" marT="38100" marB="38100" anchor="ctr">
                    <a:solidFill>
                      <a:srgbClr val="F4F2FA"/>
                    </a:solidFill>
                  </a:tcPr>
                </a:tc>
                <a:tc>
                  <a:txBody>
                    <a:bodyPr/>
                    <a:lstStyle/>
                    <a:p>
                      <a:r>
                        <a:rPr sz="1200" b="0" i="0">
                          <a:solidFill>
                            <a:srgbClr val="1A1440"/>
                          </a:solidFill>
                          <a:latin typeface="Calibri"/>
                        </a:rPr>
                        <a:t>A weekday estimate of Delhi Metro journeys, checked against 82,44,903</a:t>
                      </a:r>
                    </a:p>
                  </a:txBody>
                  <a:tcPr marL="101600" marR="101600" marT="38100" marB="38100" anchor="ctr">
                    <a:solidFill>
                      <a:srgbClr val="F4F2FA"/>
                    </a:solidFill>
                  </a:tcPr>
                </a:tc>
                <a:tc>
                  <a:txBody>
                    <a:bodyPr/>
                    <a:lstStyle/>
                    <a:p>
                      <a:r>
                        <a:rPr sz="1200" b="0" i="0">
                          <a:solidFill>
                            <a:srgbClr val="1A1440"/>
                          </a:solidFill>
                          <a:latin typeface="Calibri"/>
                        </a:rPr>
                        <a:t>DMRC's average is 64.06 lakh journeys a day; 82,44,903 was one record day, 17 September 2026</a:t>
                      </a:r>
                    </a:p>
                  </a:txBody>
                  <a:tcPr marL="101600" marR="101600" marT="38100" marB="38100" anchor="ctr">
                    <a:solidFill>
                      <a:srgbClr val="F4F2FA"/>
                    </a:solidFill>
                  </a:tcPr>
                </a:tc>
                <a:tc>
                  <a:txBody>
                    <a:bodyPr/>
                    <a:lstStyle/>
                    <a:p>
                      <a:r>
                        <a:rPr sz="1200" b="0" i="0">
                          <a:solidFill>
                            <a:srgbClr val="1A1440"/>
                          </a:solidFill>
                          <a:latin typeface="Calibri"/>
                        </a:rPr>
                        <a:t>Period</a:t>
                      </a:r>
                    </a:p>
                  </a:txBody>
                  <a:tcPr marL="101600" marR="101600" marT="38100" marB="38100" anchor="ctr">
                    <a:solidFill>
                      <a:srgbClr val="F4F2FA"/>
                    </a:solidFill>
                  </a:tcPr>
                </a:tc>
              </a:tr>
              <a:tr h="749808">
                <a:tc>
                  <a:txBody>
                    <a:bodyPr/>
                    <a:lstStyle/>
                    <a:p>
                      <a:r>
                        <a:rPr sz="1200" b="0" i="0">
                          <a:solidFill>
                            <a:srgbClr val="1A1440"/>
                          </a:solidFill>
                          <a:latin typeface="Calibri"/>
                        </a:rPr>
                        <a:t>A muddled source</a:t>
                      </a:r>
                    </a:p>
                  </a:txBody>
                  <a:tcPr marL="101600" marR="101600" marT="38100" marB="38100" anchor="ctr">
                    <a:solidFill>
                      <a:srgbClr val="FFFFFF"/>
                    </a:solidFill>
                  </a:tcPr>
                </a:tc>
                <a:tc>
                  <a:txBody>
                    <a:bodyPr/>
                    <a:lstStyle/>
                    <a:p>
                      <a:r>
                        <a:rPr sz="1200" b="0" i="0">
                          <a:solidFill>
                            <a:srgbClr val="1A1440"/>
                          </a:solidFill>
                          <a:latin typeface="Calibri"/>
                        </a:rPr>
                        <a:t>"Flipkart had 63 million concurrent users in a minute"</a:t>
                      </a:r>
                    </a:p>
                  </a:txBody>
                  <a:tcPr marL="101600" marR="101600" marT="38100" marB="38100" anchor="ctr">
                    <a:solidFill>
                      <a:srgbClr val="FFFFFF"/>
                    </a:solidFill>
                  </a:tcPr>
                </a:tc>
                <a:tc>
                  <a:txBody>
                    <a:bodyPr/>
                    <a:lstStyle/>
                    <a:p>
                      <a:r>
                        <a:rPr sz="1200" b="0" i="0">
                          <a:solidFill>
                            <a:srgbClr val="1A1440"/>
                          </a:solidFill>
                          <a:latin typeface="Calibri"/>
                        </a:rPr>
                        <a:t>Flipkart's text says 6.3 million (the 63 is in its web address), and "concurrent in a minute" mixes a moment with a minute</a:t>
                      </a:r>
                    </a:p>
                  </a:txBody>
                  <a:tcPr marL="101600" marR="101600" marT="38100" marB="38100" anchor="ctr">
                    <a:solidFill>
                      <a:srgbClr val="FFFFFF"/>
                    </a:solidFill>
                  </a:tcPr>
                </a:tc>
                <a:tc>
                  <a:txBody>
                    <a:bodyPr/>
                    <a:lstStyle/>
                    <a:p>
                      <a:r>
                        <a:rPr sz="1200" b="0" i="0">
                          <a:solidFill>
                            <a:srgbClr val="1A1440"/>
                          </a:solidFill>
                          <a:latin typeface="Calibri"/>
                        </a:rPr>
                        <a:t>Definition: read the source's own words</a:t>
                      </a:r>
                    </a:p>
                  </a:txBody>
                  <a:tcPr marL="101600" marR="101600" marT="38100" marB="38100" anchor="ctr">
                    <a:solidFill>
                      <a:srgbClr val="FFFFFF"/>
                    </a:solidFill>
                  </a:tcPr>
                </a:tc>
              </a:tr>
            </a:tbl>
          </a:graphicData>
        </a:graphic>
      </p:graphicFrame>
      <p:sp>
        <p:nvSpPr>
          <p:cNvPr id="10" name="TextBox 9"/>
          <p:cNvSpPr txBox="1"/>
          <p:nvPr/>
        </p:nvSpPr>
        <p:spPr>
          <a:xfrm>
            <a:off x="530352" y="4590288"/>
            <a:ext cx="11130991" cy="772160"/>
          </a:xfrm>
          <a:prstGeom prst="rect">
            <a:avLst/>
          </a:prstGeom>
          <a:noFill/>
        </p:spPr>
        <p:txBody>
          <a:bodyPr wrap="square" anchor="t" lIns="0" rIns="0" tIns="0" bIns="0">
            <a:spAutoFit/>
          </a:bodyPr>
          <a:lstStyle/>
          <a:p>
            <a:pPr>
              <a:spcAft>
                <a:spcPts val="800"/>
              </a:spcAft>
            </a:pPr>
            <a:r>
              <a:rPr sz="1600" b="1" i="0">
                <a:solidFill>
                  <a:srgbClr val="1A1440"/>
                </a:solidFill>
                <a:latin typeface="Calibri"/>
              </a:rPr>
              <a:t>Sources,</a:t>
            </a:r>
            <a:r>
              <a:rPr sz="1600" b="0" i="0">
                <a:solidFill>
                  <a:srgbClr val="1A1440"/>
                </a:solidFill>
                <a:latin typeface="Calibri"/>
              </a:rPr>
              <a:t> checked 12 October 2026: The Tribune (9 August 2026) and Republic World (18 September 2026), citing DMRC, the Delhi Metro Rail Corporation; Flipkart Stories (9 October 2026).</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How big is the unknown?</a:t>
            </a:r>
          </a:p>
        </p:txBody>
      </p:sp>
      <p:sp>
        <p:nvSpPr>
          <p:cNvPr id="13" name="Oval 12"/>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17370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one page?</a:t>
            </a:r>
          </a:p>
        </p:txBody>
      </p:sp>
      <p:sp>
        <p:nvSpPr>
          <p:cNvPr id="15" name="Oval 14"/>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661314"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it sound like?</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S45  ·  14 / 27</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2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Chapter 4 adds a number sized from nothing</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Tuesday's node carry now, and what does it hand to Wednesday?</a:t>
            </a:r>
          </a:p>
        </p:txBody>
      </p:sp>
      <p:pic>
        <p:nvPicPr>
          <p:cNvPr id="9" name="mermaid diagram" descr="0adedbda7aa3dede.png"/>
          <p:cNvPicPr>
            <a:picLocks noChangeAspect="1"/>
          </p:cNvPicPr>
          <p:nvPr/>
        </p:nvPicPr>
        <p:blipFill>
          <a:blip r:embed="rId5"/>
          <a:stretch>
            <a:fillRect/>
          </a:stretch>
        </p:blipFill>
        <p:spPr>
          <a:xfrm>
            <a:off x="2152497" y="1956816"/>
            <a:ext cx="7886700" cy="1857375"/>
          </a:xfrm>
          <a:prstGeom prst="rect">
            <a:avLst/>
          </a:prstGeom>
        </p:spPr>
      </p:pic>
      <p:sp>
        <p:nvSpPr>
          <p:cNvPr id="10" name="TextBox 9"/>
          <p:cNvSpPr txBox="1"/>
          <p:nvPr/>
        </p:nvSpPr>
        <p:spPr>
          <a:xfrm>
            <a:off x="530352" y="3960495"/>
            <a:ext cx="11130991" cy="1324864"/>
          </a:xfrm>
          <a:prstGeom prst="rect">
            <a:avLst/>
          </a:prstGeom>
          <a:noFill/>
        </p:spPr>
        <p:txBody>
          <a:bodyPr wrap="square" anchor="t" lIns="0" rIns="0" tIns="0" bIns="0">
            <a:spAutoFit/>
          </a:bodyPr>
          <a:lstStyle/>
          <a:p>
            <a:pPr>
              <a:spcAft>
                <a:spcPts val="800"/>
              </a:spcAft>
            </a:pPr>
            <a:r>
              <a:rPr sz="1600" b="1" i="0">
                <a:solidFill>
                  <a:srgbClr val="1A1440"/>
                </a:solidFill>
                <a:latin typeface="Calibri"/>
              </a:rPr>
              <a:t>Tuesday's node now carries</a:t>
            </a:r>
            <a:r>
              <a:rPr sz="1600" b="0" i="0">
                <a:solidFill>
                  <a:srgbClr val="1A1440"/>
                </a:solidFill>
                <a:latin typeface="Calibri"/>
              </a:rPr>
              <a:t> the slide (Rs 314 to Rs 260 per online hour, defended in four moves, one appendix page per role) and the estimate (about 5,000 to 5,700 drivers once checked; 2,900 to 8,600 by how often people ride). </a:t>
            </a:r>
            <a:r>
              <a:rPr sz="1600" b="1" i="0">
                <a:solidFill>
                  <a:srgbClr val="1A1440"/>
                </a:solidFill>
                <a:latin typeface="Calibri"/>
              </a:rPr>
              <a:t>In the interview</a:t>
            </a:r>
            <a:r>
              <a:rPr sz="1600" b="0" i="0">
                <a:solidFill>
                  <a:srgbClr val="1A1440"/>
                </a:solidFill>
                <a:latin typeface="Calibri"/>
              </a:rPr>
              <a:t> [S]: estimate a number from nothing, aloud, and check it. The structure, the stated assumptions and the check carry most of the score.</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How big is the unknown?</a:t>
            </a:r>
          </a:p>
        </p:txBody>
      </p:sp>
      <p:sp>
        <p:nvSpPr>
          <p:cNvPr id="13" name="Oval 12"/>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17370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one page?</a:t>
            </a:r>
          </a:p>
        </p:txBody>
      </p:sp>
      <p:sp>
        <p:nvSpPr>
          <p:cNvPr id="15" name="Oval 14"/>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661314"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it sound like?</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S46  ·  15 / 27</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05</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What goes on one page?</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What goes on the one page to the city head, so that the morning's slide reads in two minutes?</a:t>
            </a:r>
          </a:p>
        </p:txBody>
      </p:sp>
      <p:sp>
        <p:nvSpPr>
          <p:cNvPr id="10" name="Rounded Rectangle 9"/>
          <p:cNvSpPr/>
          <p:nvPr/>
        </p:nvSpPr>
        <p:spPr>
          <a:xfrm>
            <a:off x="731519" y="5074920"/>
            <a:ext cx="172772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big is the unknown?</a:t>
            </a:r>
          </a:p>
        </p:txBody>
      </p:sp>
      <p:sp>
        <p:nvSpPr>
          <p:cNvPr id="11" name="Rounded Rectangle 10"/>
          <p:cNvSpPr/>
          <p:nvPr/>
        </p:nvSpPr>
        <p:spPr>
          <a:xfrm>
            <a:off x="2568975" y="5074920"/>
            <a:ext cx="1668511"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What goes on one page?</a:t>
            </a:r>
          </a:p>
        </p:txBody>
      </p:sp>
      <p:sp>
        <p:nvSpPr>
          <p:cNvPr id="12" name="Rounded Rectangle 11"/>
          <p:cNvSpPr/>
          <p:nvPr/>
        </p:nvSpPr>
        <p:spPr>
          <a:xfrm>
            <a:off x="4347214" y="5074920"/>
            <a:ext cx="178694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it sound like?</a:t>
            </a:r>
          </a:p>
        </p:txBody>
      </p:sp>
      <p:sp>
        <p:nvSpPr>
          <p:cNvPr id="13" name="TextBox 12"/>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2: a number from nothing, checked</a:t>
            </a:r>
          </a:p>
        </p:txBody>
      </p:sp>
      <p:sp>
        <p:nvSpPr>
          <p:cNvPr id="14" name="TextBox 1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16 / 27</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2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brief: one page, four parts, in sentences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must the page do in the first two minutes of reading?</a:t>
            </a:r>
          </a:p>
        </p:txBody>
      </p:sp>
      <p:sp>
        <p:nvSpPr>
          <p:cNvPr id="9" name="Rounded Rectangle 8"/>
          <p:cNvSpPr/>
          <p:nvPr/>
        </p:nvSpPr>
        <p:spPr>
          <a:xfrm>
            <a:off x="530352" y="1956816"/>
            <a:ext cx="2645587" cy="219557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target_975d45d39ce7.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FIRST SENTENCE</a:t>
            </a:r>
          </a:p>
        </p:txBody>
      </p:sp>
      <p:sp>
        <p:nvSpPr>
          <p:cNvPr id="13" name="TextBox 12"/>
          <p:cNvSpPr txBox="1"/>
          <p:nvPr/>
        </p:nvSpPr>
        <p:spPr>
          <a:xfrm>
            <a:off x="731519"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The claim</a:t>
            </a:r>
          </a:p>
        </p:txBody>
      </p:sp>
      <p:sp>
        <p:nvSpPr>
          <p:cNvPr id="14" name="TextBox 13"/>
          <p:cNvSpPr txBox="1"/>
          <p:nvPr/>
        </p:nvSpPr>
        <p:spPr>
          <a:xfrm>
            <a:off x="731519" y="3303524"/>
            <a:ext cx="2243251" cy="581406"/>
          </a:xfrm>
          <a:prstGeom prst="rect">
            <a:avLst/>
          </a:prstGeom>
          <a:noFill/>
        </p:spPr>
        <p:txBody>
          <a:bodyPr wrap="square" anchor="t" lIns="0" rIns="0" tIns="0" bIns="0">
            <a:spAutoFit/>
          </a:bodyPr>
          <a:lstStyle/>
          <a:p>
            <a:pPr algn="l"/>
            <a:r>
              <a:rPr sz="1100" b="0" i="0">
                <a:solidFill>
                  <a:srgbClr val="6B6690"/>
                </a:solidFill>
                <a:latin typeface="Calibri"/>
              </a:rPr>
              <a:t>What the city head should believe, in words a driver would follow</a:t>
            </a:r>
          </a:p>
        </p:txBody>
      </p:sp>
      <p:sp>
        <p:nvSpPr>
          <p:cNvPr id="15" name="Rounded Rectangle 14"/>
          <p:cNvSpPr/>
          <p:nvPr/>
        </p:nvSpPr>
        <p:spPr>
          <a:xfrm>
            <a:off x="3358819" y="1956816"/>
            <a:ext cx="2645587" cy="219557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3559987"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hash_29aa8cda0b59.png"/>
          <p:cNvPicPr>
            <a:picLocks noChangeAspect="1"/>
          </p:cNvPicPr>
          <p:nvPr/>
        </p:nvPicPr>
        <p:blipFill>
          <a:blip r:embed="rId5"/>
          <a:stretch>
            <a:fillRect/>
          </a:stretch>
        </p:blipFill>
        <p:spPr>
          <a:xfrm>
            <a:off x="3669715" y="2267712"/>
            <a:ext cx="237744" cy="237744"/>
          </a:xfrm>
          <a:prstGeom prst="rect">
            <a:avLst/>
          </a:prstGeom>
        </p:spPr>
      </p:pic>
      <p:sp>
        <p:nvSpPr>
          <p:cNvPr id="18" name="TextBox 17"/>
          <p:cNvSpPr txBox="1"/>
          <p:nvPr/>
        </p:nvSpPr>
        <p:spPr>
          <a:xfrm>
            <a:off x="3559987"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SECOND</a:t>
            </a:r>
          </a:p>
        </p:txBody>
      </p:sp>
      <p:sp>
        <p:nvSpPr>
          <p:cNvPr id="19" name="TextBox 18"/>
          <p:cNvSpPr txBox="1"/>
          <p:nvPr/>
        </p:nvSpPr>
        <p:spPr>
          <a:xfrm>
            <a:off x="3559987" y="2962656"/>
            <a:ext cx="2243251" cy="498856"/>
          </a:xfrm>
          <a:prstGeom prst="rect">
            <a:avLst/>
          </a:prstGeom>
          <a:noFill/>
        </p:spPr>
        <p:txBody>
          <a:bodyPr wrap="square" anchor="t" lIns="0" rIns="0" tIns="0" bIns="0">
            <a:spAutoFit/>
          </a:bodyPr>
          <a:lstStyle/>
          <a:p>
            <a:pPr algn="l"/>
            <a:r>
              <a:rPr sz="1400" b="1" i="0">
                <a:solidFill>
                  <a:srgbClr val="1A0F5C"/>
                </a:solidFill>
                <a:latin typeface="Calibri"/>
              </a:rPr>
              <a:t>One number and its denominator</a:t>
            </a:r>
          </a:p>
        </p:txBody>
      </p:sp>
      <p:sp>
        <p:nvSpPr>
          <p:cNvPr id="20" name="TextBox 19"/>
          <p:cNvSpPr txBox="1"/>
          <p:nvPr/>
        </p:nvSpPr>
        <p:spPr>
          <a:xfrm>
            <a:off x="3559987" y="3534664"/>
            <a:ext cx="2243251" cy="399796"/>
          </a:xfrm>
          <a:prstGeom prst="rect">
            <a:avLst/>
          </a:prstGeom>
          <a:noFill/>
        </p:spPr>
        <p:txBody>
          <a:bodyPr wrap="square" anchor="t" lIns="0" rIns="0" tIns="0" bIns="0">
            <a:spAutoFit/>
          </a:bodyPr>
          <a:lstStyle/>
          <a:p>
            <a:pPr algn="l"/>
            <a:r>
              <a:rPr sz="1100" b="0" i="0">
                <a:solidFill>
                  <a:srgbClr val="6B6690"/>
                </a:solidFill>
                <a:latin typeface="Calibri"/>
              </a:rPr>
              <a:t>The rupees per peak online hour, before and after</a:t>
            </a:r>
          </a:p>
        </p:txBody>
      </p:sp>
      <p:sp>
        <p:nvSpPr>
          <p:cNvPr id="21" name="Rounded Rectangle 20"/>
          <p:cNvSpPr/>
          <p:nvPr/>
        </p:nvSpPr>
        <p:spPr>
          <a:xfrm>
            <a:off x="6187287" y="1956816"/>
            <a:ext cx="2645587" cy="219557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triangle-alert_5ac49fc6abbb.png"/>
          <p:cNvPicPr>
            <a:picLocks noChangeAspect="1"/>
          </p:cNvPicPr>
          <p:nvPr/>
        </p:nvPicPr>
        <p:blipFill>
          <a:blip r:embed="rId6"/>
          <a:stretch>
            <a:fillRect/>
          </a:stretch>
        </p:blipFill>
        <p:spPr>
          <a:xfrm>
            <a:off x="6498183" y="2267712"/>
            <a:ext cx="237744" cy="237744"/>
          </a:xfrm>
          <a:prstGeom prst="rect">
            <a:avLst/>
          </a:prstGeom>
        </p:spPr>
      </p:pic>
      <p:sp>
        <p:nvSpPr>
          <p:cNvPr id="24" name="TextBox 23"/>
          <p:cNvSpPr txBox="1"/>
          <p:nvPr/>
        </p:nvSpPr>
        <p:spPr>
          <a:xfrm>
            <a:off x="6388455"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THIRD</a:t>
            </a:r>
          </a:p>
        </p:txBody>
      </p:sp>
      <p:sp>
        <p:nvSpPr>
          <p:cNvPr id="25" name="TextBox 24"/>
          <p:cNvSpPr txBox="1"/>
          <p:nvPr/>
        </p:nvSpPr>
        <p:spPr>
          <a:xfrm>
            <a:off x="6388455"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The caveat</a:t>
            </a:r>
          </a:p>
        </p:txBody>
      </p:sp>
      <p:sp>
        <p:nvSpPr>
          <p:cNvPr id="26" name="TextBox 25"/>
          <p:cNvSpPr txBox="1"/>
          <p:nvPr/>
        </p:nvSpPr>
        <p:spPr>
          <a:xfrm>
            <a:off x="6388455" y="3303524"/>
            <a:ext cx="2243251" cy="581406"/>
          </a:xfrm>
          <a:prstGeom prst="rect">
            <a:avLst/>
          </a:prstGeom>
          <a:noFill/>
        </p:spPr>
        <p:txBody>
          <a:bodyPr wrap="square" anchor="t" lIns="0" rIns="0" tIns="0" bIns="0">
            <a:spAutoFit/>
          </a:bodyPr>
          <a:lstStyle/>
          <a:p>
            <a:pPr algn="l"/>
            <a:r>
              <a:rPr sz="1100" b="0" i="0">
                <a:solidFill>
                  <a:srgbClr val="6B6690"/>
                </a:solidFill>
                <a:latin typeface="Calibri"/>
              </a:rPr>
              <a:t>In the body of the page, where the reader meets it before the action</a:t>
            </a:r>
          </a:p>
        </p:txBody>
      </p:sp>
      <p:sp>
        <p:nvSpPr>
          <p:cNvPr id="27" name="Rounded Rectangle 26"/>
          <p:cNvSpPr/>
          <p:nvPr/>
        </p:nvSpPr>
        <p:spPr>
          <a:xfrm>
            <a:off x="9015755" y="1956816"/>
            <a:ext cx="2645587" cy="219557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9216923"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circle-check_5bfb0e0fcdf2.png"/>
          <p:cNvPicPr>
            <a:picLocks noChangeAspect="1"/>
          </p:cNvPicPr>
          <p:nvPr/>
        </p:nvPicPr>
        <p:blipFill>
          <a:blip r:embed="rId7"/>
          <a:stretch>
            <a:fillRect/>
          </a:stretch>
        </p:blipFill>
        <p:spPr>
          <a:xfrm>
            <a:off x="9326651" y="2267712"/>
            <a:ext cx="237744" cy="237744"/>
          </a:xfrm>
          <a:prstGeom prst="rect">
            <a:avLst/>
          </a:prstGeom>
        </p:spPr>
      </p:pic>
      <p:sp>
        <p:nvSpPr>
          <p:cNvPr id="30" name="TextBox 29"/>
          <p:cNvSpPr txBox="1"/>
          <p:nvPr/>
        </p:nvSpPr>
        <p:spPr>
          <a:xfrm>
            <a:off x="9216923"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LAST</a:t>
            </a:r>
          </a:p>
        </p:txBody>
      </p:sp>
      <p:sp>
        <p:nvSpPr>
          <p:cNvPr id="31" name="TextBox 30"/>
          <p:cNvSpPr txBox="1"/>
          <p:nvPr/>
        </p:nvSpPr>
        <p:spPr>
          <a:xfrm>
            <a:off x="9216923"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The action and its cost</a:t>
            </a:r>
          </a:p>
        </p:txBody>
      </p:sp>
      <p:sp>
        <p:nvSpPr>
          <p:cNvPr id="32" name="TextBox 31"/>
          <p:cNvSpPr txBox="1"/>
          <p:nvPr/>
        </p:nvSpPr>
        <p:spPr>
          <a:xfrm>
            <a:off x="9216923"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What to do, the saving in rupees over weeks, who signs</a:t>
            </a:r>
          </a:p>
        </p:txBody>
      </p:sp>
      <p:sp>
        <p:nvSpPr>
          <p:cNvPr id="33" name="TextBox 32"/>
          <p:cNvSpPr txBox="1"/>
          <p:nvPr/>
        </p:nvSpPr>
        <p:spPr>
          <a:xfrm>
            <a:off x="530352" y="4335272"/>
            <a:ext cx="11130991" cy="1048512"/>
          </a:xfrm>
          <a:prstGeom prst="rect">
            <a:avLst/>
          </a:prstGeom>
          <a:noFill/>
        </p:spPr>
        <p:txBody>
          <a:bodyPr wrap="square" anchor="t" lIns="0" rIns="0" tIns="0" bIns="0">
            <a:spAutoFit/>
          </a:bodyPr>
          <a:lstStyle/>
          <a:p>
            <a:pPr>
              <a:spcAft>
                <a:spcPts val="800"/>
              </a:spcAft>
            </a:pPr>
            <a:r>
              <a:rPr sz="1600" b="1" i="0">
                <a:solidFill>
                  <a:srgbClr val="1A1440"/>
                </a:solidFill>
                <a:latin typeface="Calibri"/>
              </a:rPr>
              <a:t>The reader</a:t>
            </a:r>
            <a:r>
              <a:rPr sz="1600" b="0" i="0">
                <a:solidFill>
                  <a:srgbClr val="1A1440"/>
                </a:solidFill>
                <a:latin typeface="Calibri"/>
              </a:rPr>
              <a:t> is the city head, with the three roles reading over a shoulder: finance reads rupees, driver operations reads drivers, marketing reads sign-ups. Words a non-technical reader would not know (denominator, index, guardrail) stay off the page, or are said in plain words.</a:t>
            </a:r>
          </a:p>
        </p:txBody>
      </p:sp>
      <p:sp>
        <p:nvSpPr>
          <p:cNvPr id="34" name="Oval 3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How big is the unknown?</a:t>
            </a:r>
          </a:p>
        </p:txBody>
      </p:sp>
      <p:sp>
        <p:nvSpPr>
          <p:cNvPr id="36" name="Oval 35"/>
          <p:cNvSpPr/>
          <p:nvPr/>
        </p:nvSpPr>
        <p:spPr>
          <a:xfrm>
            <a:off x="206397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217370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goes on one page?</a:t>
            </a:r>
          </a:p>
        </p:txBody>
      </p:sp>
      <p:sp>
        <p:nvSpPr>
          <p:cNvPr id="38" name="Oval 37"/>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3661314"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it sound like?</a:t>
            </a:r>
          </a:p>
        </p:txBody>
      </p:sp>
      <p:sp>
        <p:nvSpPr>
          <p:cNvPr id="40" name="TextBox 3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S47  ·  17 / 27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2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Forty minutes, on paper, alone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are the rules for the written case?</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On one sheet, by hand. </a:t>
            </a:r>
            <a:r>
              <a:rPr sz="1500" b="0" i="0">
                <a:solidFill>
                  <a:srgbClr val="1A1440"/>
                </a:solidFill>
                <a:latin typeface="Calibri"/>
              </a:rPr>
              <a:t>No laptop and no phone, so the page is your own thinking. Write the page; then read it once as the finance partner would and fix the sentence they would attack.</a:t>
            </a:r>
          </a:p>
        </p:txBody>
      </p:sp>
      <p:sp>
        <p:nvSpPr>
          <p:cNvPr id="12" name="TextBox 11"/>
          <p:cNvSpPr txBox="1"/>
          <p:nvPr/>
        </p:nvSpPr>
        <p:spPr>
          <a:xfrm>
            <a:off x="530352" y="2929128"/>
            <a:ext cx="11130991" cy="772160"/>
          </a:xfrm>
          <a:prstGeom prst="rect">
            <a:avLst/>
          </a:prstGeom>
          <a:noFill/>
        </p:spPr>
        <p:txBody>
          <a:bodyPr wrap="square" anchor="t" lIns="0" rIns="0" tIns="0" bIns="0">
            <a:spAutoFit/>
          </a:bodyPr>
          <a:lstStyle/>
          <a:p>
            <a:pPr>
              <a:spcAft>
                <a:spcPts val="800"/>
              </a:spcAft>
            </a:pPr>
            <a:r>
              <a:rPr sz="1600" b="1" i="0">
                <a:solidFill>
                  <a:srgbClr val="1A1440"/>
                </a:solidFill>
                <a:latin typeface="Calibri"/>
              </a:rPr>
              <a:t>At the end of the slot the page is handed in.</a:t>
            </a:r>
            <a:r>
              <a:rPr sz="1600" b="0" i="0">
                <a:solidFill>
                  <a:srgbClr val="1A1440"/>
                </a:solidFill>
                <a:latin typeface="Calibri"/>
              </a:rPr>
              <a:t> Three pages, chosen for one strong part each, come back at the gallery.</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How big is the unknown?</a:t>
            </a:r>
          </a:p>
        </p:txBody>
      </p:sp>
      <p:sp>
        <p:nvSpPr>
          <p:cNvPr id="15" name="Oval 14"/>
          <p:cNvSpPr/>
          <p:nvPr/>
        </p:nvSpPr>
        <p:spPr>
          <a:xfrm>
            <a:off x="206397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7370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goes on one page?</a:t>
            </a:r>
          </a:p>
        </p:txBody>
      </p:sp>
      <p:sp>
        <p:nvSpPr>
          <p:cNvPr id="17" name="Oval 16"/>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61314"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it sound like?</a:t>
            </a:r>
          </a:p>
        </p:txBody>
      </p:sp>
      <p:sp>
        <p:nvSpPr>
          <p:cNvPr id="19" name="TextBox 1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S48  ·  18 / 27</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06</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What does it sound like?</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What does the slide sound like spoken in an interview, and what does a hire-grade answer open on?</a:t>
            </a:r>
          </a:p>
        </p:txBody>
      </p:sp>
      <p:sp>
        <p:nvSpPr>
          <p:cNvPr id="10" name="Rounded Rectangle 9"/>
          <p:cNvSpPr/>
          <p:nvPr/>
        </p:nvSpPr>
        <p:spPr>
          <a:xfrm>
            <a:off x="731519" y="5074920"/>
            <a:ext cx="172772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big is the unknown?</a:t>
            </a:r>
          </a:p>
        </p:txBody>
      </p:sp>
      <p:sp>
        <p:nvSpPr>
          <p:cNvPr id="11" name="Rounded Rectangle 10"/>
          <p:cNvSpPr/>
          <p:nvPr/>
        </p:nvSpPr>
        <p:spPr>
          <a:xfrm>
            <a:off x="2568975"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goes on one page?</a:t>
            </a:r>
          </a:p>
        </p:txBody>
      </p:sp>
      <p:sp>
        <p:nvSpPr>
          <p:cNvPr id="12" name="Rounded Rectangle 11"/>
          <p:cNvSpPr/>
          <p:nvPr/>
        </p:nvSpPr>
        <p:spPr>
          <a:xfrm>
            <a:off x="4347214" y="5074920"/>
            <a:ext cx="1786943"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What does it sound like?</a:t>
            </a:r>
          </a:p>
        </p:txBody>
      </p:sp>
      <p:sp>
        <p:nvSpPr>
          <p:cNvPr id="13" name="TextBox 12"/>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2: a number from nothing, checked</a:t>
            </a:r>
          </a:p>
        </p:txBody>
      </p:sp>
      <p:sp>
        <p:nvSpPr>
          <p:cNvPr id="14" name="TextBox 1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19 / 27</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2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Transcript 1: two openings, side by side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"Present this recommendation to a non-technical leader in two minutes." How do the first lines differ?</a:t>
            </a:r>
          </a:p>
        </p:txBody>
      </p:sp>
      <p:graphicFrame>
        <p:nvGraphicFramePr>
          <p:cNvPr id="9" name="Table 8"/>
          <p:cNvGraphicFramePr>
            <a:graphicFrameLocks noGrp="1"/>
          </p:cNvGraphicFramePr>
          <p:nvPr/>
        </p:nvGraphicFramePr>
        <p:xfrm>
          <a:off x="530352" y="1938782"/>
          <a:ext cx="11130990" cy="2674112"/>
        </p:xfrm>
        <a:graphic>
          <a:graphicData uri="http://schemas.openxmlformats.org/drawingml/2006/table">
            <a:tbl>
              <a:tblPr firstRow="0" bandRow="0">
                <a:tableStyleId>{2D5ABB26-0587-4C30-8999-92F81FD0307C}</a:tableStyleId>
              </a:tblPr>
              <a:tblGrid>
                <a:gridCol w="5565495"/>
                <a:gridCol w="5565495"/>
              </a:tblGrid>
              <a:tr h="369824">
                <a:tc>
                  <a:txBody>
                    <a:bodyPr/>
                    <a:lstStyle/>
                    <a:p>
                      <a:r>
                        <a:rPr sz="1450" b="1" i="0">
                          <a:solidFill>
                            <a:srgbClr val="FFFFFF"/>
                          </a:solidFill>
                          <a:latin typeface="Calibri"/>
                        </a:rPr>
                        <a:t>A weak opening</a:t>
                      </a:r>
                    </a:p>
                  </a:txBody>
                  <a:tcPr marL="101600" marR="101600" marT="38100" marB="38100" anchor="ctr">
                    <a:solidFill>
                      <a:srgbClr val="1A0F5C"/>
                    </a:solidFill>
                  </a:tcPr>
                </a:tc>
                <a:tc>
                  <a:txBody>
                    <a:bodyPr/>
                    <a:lstStyle/>
                    <a:p>
                      <a:r>
                        <a:rPr sz="1450" b="1" i="0">
                          <a:solidFill>
                            <a:srgbClr val="FFFFFF"/>
                          </a:solidFill>
                          <a:latin typeface="Calibri"/>
                        </a:rPr>
                        <a:t>A hire-grade opening</a:t>
                      </a:r>
                    </a:p>
                  </a:txBody>
                  <a:tcPr marL="101600" marR="101600" marT="38100" marB="38100" anchor="ctr">
                    <a:solidFill>
                      <a:srgbClr val="1A0F5C"/>
                    </a:solidFill>
                  </a:tcPr>
                </a:tc>
              </a:tr>
              <a:tr h="2304288">
                <a:tc>
                  <a:txBody>
                    <a:bodyPr/>
                    <a:lstStyle/>
                    <a:p>
                      <a:r>
                        <a:rPr sz="1400" b="0" i="0">
                          <a:solidFill>
                            <a:srgbClr val="1A1440"/>
                          </a:solidFill>
                          <a:latin typeface="Calibri"/>
                        </a:rPr>
                        <a:t>"So I looked at the dashboard. Online hours are up 24 percent, trips are up 3 percent, trips per hour went from 1.90 to 1.58, acceptance fell, and bookings per driver-week is actually up, so it is mixed."</a:t>
                      </a:r>
                    </a:p>
                  </a:txBody>
                  <a:tcPr marL="101600" marR="101600" marT="38100" marB="38100" anchor="ctr">
                    <a:solidFill>
                      <a:srgbClr val="FFFFFF"/>
                    </a:solidFill>
                  </a:tcPr>
                </a:tc>
                <a:tc>
                  <a:txBody>
                    <a:bodyPr/>
                    <a:lstStyle/>
                    <a:p>
                      <a:r>
                        <a:rPr sz="1400" b="0" i="0">
                          <a:solidFill>
                            <a:srgbClr val="1A1440"/>
                          </a:solidFill>
                          <a:latin typeface="Calibri"/>
                        </a:rPr>
                        <a:t>"You are deciding whether to keep, end or change the guarantee. It is paying for online hours that carry no trips: an hour online brought in Rs 314 of fares and now brings in Rs 260 at the same fare, while the median wait barely moved, 4.8 to 4.6 minutes. Part of the fall may be the monsoon. Test paying per completed trip with an acceptance floor on half the drivers, picked at random, for six weeks; city-wide it saves Rs 58 lakh to Rs 92.7 lakh. You sign the test."</a:t>
                      </a:r>
                    </a:p>
                  </a:txBody>
                  <a:tcPr marL="101600" marR="101600" marT="38100" marB="38100" anchor="ctr">
                    <a:solidFill>
                      <a:srgbClr val="FFFFFF"/>
                    </a:solidFill>
                  </a:tcPr>
                </a:tc>
              </a:tr>
            </a:tbl>
          </a:graphicData>
        </a:graphic>
      </p:graphicFrame>
      <p:sp>
        <p:nvSpPr>
          <p:cNvPr id="10" name="Rounded Rectangle 9"/>
          <p:cNvSpPr/>
          <p:nvPr/>
        </p:nvSpPr>
        <p:spPr>
          <a:xfrm>
            <a:off x="530352" y="486892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99694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987798"/>
            <a:ext cx="10564063" cy="891540"/>
          </a:xfrm>
          <a:prstGeom prst="rect">
            <a:avLst/>
          </a:prstGeom>
          <a:noFill/>
        </p:spPr>
        <p:txBody>
          <a:bodyPr wrap="square" anchor="ctr" lIns="0" rIns="0" tIns="0" bIns="0">
            <a:spAutoFit/>
          </a:bodyPr>
          <a:lstStyle/>
          <a:p>
            <a:r>
              <a:rPr sz="1500" b="1">
                <a:solidFill>
                  <a:srgbClr val="5B3FD6"/>
                </a:solidFill>
                <a:latin typeface="Calibri"/>
              </a:rPr>
              <a:t>The follow-ups: </a:t>
            </a:r>
            <a:r>
              <a:rPr sz="1500" b="0" i="0">
                <a:solidFill>
                  <a:srgbClr val="1A1440"/>
                </a:solidFill>
                <a:latin typeface="Calibri"/>
              </a:rPr>
              <a:t>which denominator did you choose, and what would make you choose another; test or rollout, and how do you stop drivers moving into the zones you treat; the finance partner says it is the monsoon, so answer in under a minute.</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How big is the unknown?</a:t>
            </a:r>
          </a:p>
        </p:txBody>
      </p:sp>
      <p:sp>
        <p:nvSpPr>
          <p:cNvPr id="15" name="Oval 14"/>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7370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one page?</a:t>
            </a:r>
          </a:p>
        </p:txBody>
      </p:sp>
      <p:sp>
        <p:nvSpPr>
          <p:cNvPr id="17" name="Oval 16"/>
          <p:cNvSpPr/>
          <p:nvPr/>
        </p:nvSpPr>
        <p:spPr>
          <a:xfrm>
            <a:off x="355158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61314"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it sound like?</a:t>
            </a:r>
          </a:p>
        </p:txBody>
      </p:sp>
      <p:sp>
        <p:nvSpPr>
          <p:cNvPr id="19" name="TextBox 1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S49  ·  20 / 27</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2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Transcript 2: the drivers estimate, two answers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many drivers must be online at the evening peak in a city?" What does each answer do first?</a:t>
            </a:r>
          </a:p>
        </p:txBody>
      </p:sp>
      <p:graphicFrame>
        <p:nvGraphicFramePr>
          <p:cNvPr id="9" name="Table 8"/>
          <p:cNvGraphicFramePr>
            <a:graphicFrameLocks noGrp="1"/>
          </p:cNvGraphicFramePr>
          <p:nvPr/>
        </p:nvGraphicFramePr>
        <p:xfrm>
          <a:off x="530352" y="1956816"/>
          <a:ext cx="11130990" cy="2674112"/>
        </p:xfrm>
        <a:graphic>
          <a:graphicData uri="http://schemas.openxmlformats.org/drawingml/2006/table">
            <a:tbl>
              <a:tblPr firstRow="0" bandRow="0">
                <a:tableStyleId>{2D5ABB26-0587-4C30-8999-92F81FD0307C}</a:tableStyleId>
              </a:tblPr>
              <a:tblGrid>
                <a:gridCol w="5565495"/>
                <a:gridCol w="5565495"/>
              </a:tblGrid>
              <a:tr h="369824">
                <a:tc>
                  <a:txBody>
                    <a:bodyPr/>
                    <a:lstStyle/>
                    <a:p>
                      <a:r>
                        <a:rPr sz="1450" b="1" i="0">
                          <a:solidFill>
                            <a:srgbClr val="FFFFFF"/>
                          </a:solidFill>
                          <a:latin typeface="Calibri"/>
                        </a:rPr>
                        <a:t>A weak answer</a:t>
                      </a:r>
                    </a:p>
                  </a:txBody>
                  <a:tcPr marL="101600" marR="101600" marT="38100" marB="38100" anchor="ctr">
                    <a:solidFill>
                      <a:srgbClr val="1A0F5C"/>
                    </a:solidFill>
                  </a:tcPr>
                </a:tc>
                <a:tc>
                  <a:txBody>
                    <a:bodyPr/>
                    <a:lstStyle/>
                    <a:p>
                      <a:r>
                        <a:rPr sz="1450" b="1" i="0">
                          <a:solidFill>
                            <a:srgbClr val="FFFFFF"/>
                          </a:solidFill>
                          <a:latin typeface="Calibri"/>
                        </a:rPr>
                        <a:t>A hire-grade answer</a:t>
                      </a:r>
                    </a:p>
                  </a:txBody>
                  <a:tcPr marL="101600" marR="101600" marT="38100" marB="38100" anchor="ctr">
                    <a:solidFill>
                      <a:srgbClr val="1A0F5C"/>
                    </a:solidFill>
                  </a:tcPr>
                </a:tc>
              </a:tr>
              <a:tr h="2304288">
                <a:tc>
                  <a:txBody>
                    <a:bodyPr/>
                    <a:lstStyle/>
                    <a:p>
                      <a:r>
                        <a:rPr sz="1400" b="0" i="0">
                          <a:solidFill>
                            <a:srgbClr val="1A1440"/>
                          </a:solidFill>
                          <a:latin typeface="Calibri"/>
                        </a:rPr>
                        <a:t>"About 1 crore people, 1 percent ride, so 1 lakh trips. A driver does 2.4 trips an hour, so about 41,700 drivers."</a:t>
                      </a:r>
                    </a:p>
                  </a:txBody>
                  <a:tcPr marL="101600" marR="101600" marT="38100" marB="38100" anchor="ctr">
                    <a:solidFill>
                      <a:srgbClr val="FFFFFF"/>
                    </a:solidFill>
                  </a:tcPr>
                </a:tc>
                <a:tc>
                  <a:txBody>
                    <a:bodyPr/>
                    <a:lstStyle/>
                    <a:p>
                      <a:r>
                        <a:rPr sz="1400" b="0" i="0">
                          <a:solidFill>
                            <a:srgbClr val="1A1440"/>
                          </a:solidFill>
                          <a:latin typeface="Calibri"/>
                        </a:rPr>
                        <a:t>"One moment of the three-hour weekday evening peak, one product, the city's median wait under five minutes. Drivers online is trips an hour divided by the trips one online driver completes in an hour, times a buffer: 8,330 / 1.68 x 1.15, about 5,700; trips per person moves it most, 2,900 to 8,600. Like for like, the case's 0.53 driver-hours per trip against my 0.60 says I run an eighth high, so 5,000 to 5,700, and each thousand idle drivers costs up to Rs 9 lakh an evening at the floor."</a:t>
                      </a:r>
                    </a:p>
                  </a:txBody>
                  <a:tcPr marL="101600" marR="101600" marT="38100" marB="38100" anchor="ctr">
                    <a:solidFill>
                      <a:srgbClr val="FFFFFF"/>
                    </a:solidFill>
                  </a:tcPr>
                </a:tc>
              </a:tr>
            </a:tbl>
          </a:graphicData>
        </a:graphic>
      </p:graphicFrame>
      <p:sp>
        <p:nvSpPr>
          <p:cNvPr id="10" name="Rounded Rectangle 9"/>
          <p:cNvSpPr/>
          <p:nvPr/>
        </p:nvSpPr>
        <p:spPr>
          <a:xfrm>
            <a:off x="530352" y="4886960"/>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5014976"/>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5005832"/>
            <a:ext cx="10564063" cy="624840"/>
          </a:xfrm>
          <a:prstGeom prst="rect">
            <a:avLst/>
          </a:prstGeom>
          <a:noFill/>
        </p:spPr>
        <p:txBody>
          <a:bodyPr wrap="square" anchor="ctr" lIns="0" rIns="0" tIns="0" bIns="0">
            <a:spAutoFit/>
          </a:bodyPr>
          <a:lstStyle/>
          <a:p>
            <a:r>
              <a:rPr sz="1500" b="1">
                <a:solidFill>
                  <a:srgbClr val="5B3FD6"/>
                </a:solidFill>
                <a:latin typeface="Calibri"/>
              </a:rPr>
              <a:t>The follow-ups: </a:t>
            </a:r>
            <a:r>
              <a:rPr sz="1500" b="0" i="0">
                <a:solidFill>
                  <a:srgbClr val="1A1440"/>
                </a:solidFill>
                <a:latin typeface="Calibri"/>
              </a:rPr>
              <a:t>your idle share is a guess, so which number in the case data would catch it; the window is three hours, so what does a four-hour window do; give a range, and say which factor drives it.</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How big is the unknown?</a:t>
            </a:r>
          </a:p>
        </p:txBody>
      </p:sp>
      <p:sp>
        <p:nvSpPr>
          <p:cNvPr id="15" name="Oval 14"/>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7370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one page?</a:t>
            </a:r>
          </a:p>
        </p:txBody>
      </p:sp>
      <p:sp>
        <p:nvSpPr>
          <p:cNvPr id="17" name="Oval 16"/>
          <p:cNvSpPr/>
          <p:nvPr/>
        </p:nvSpPr>
        <p:spPr>
          <a:xfrm>
            <a:off x="355158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61314"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it sound like?</a:t>
            </a:r>
          </a:p>
        </p:txBody>
      </p:sp>
      <p:sp>
        <p:nvSpPr>
          <p:cNvPr id="19" name="TextBox 1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S50  ·  21 / 27</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2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AI variant: acceptance rate in the sales deck</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do you present a metric change to a head of product who quotes acceptance rate to customers?</a:t>
            </a:r>
          </a:p>
        </p:txBody>
      </p:sp>
      <p:sp>
        <p:nvSpPr>
          <p:cNvPr id="9" name="Rounded Rectangle 8"/>
          <p:cNvSpPr/>
          <p:nvPr/>
        </p:nvSpPr>
        <p:spPr>
          <a:xfrm>
            <a:off x="530352" y="1956816"/>
            <a:ext cx="11130991" cy="16078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13517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1424940"/>
          </a:xfrm>
          <a:prstGeom prst="rect">
            <a:avLst/>
          </a:prstGeom>
          <a:noFill/>
        </p:spPr>
        <p:txBody>
          <a:bodyPr wrap="square" anchor="ctr" lIns="0" rIns="0" tIns="0" bIns="0">
            <a:spAutoFit/>
          </a:bodyPr>
          <a:lstStyle/>
          <a:p>
            <a:r>
              <a:rPr sz="1500" b="1">
                <a:solidFill>
                  <a:srgbClr val="5B3FD6"/>
                </a:solidFill>
                <a:latin typeface="Calibri"/>
              </a:rPr>
              <a:t>The setup, invented for this class. </a:t>
            </a:r>
            <a:r>
              <a:rPr sz="1500" b="0" i="0">
                <a:solidFill>
                  <a:srgbClr val="1A1440"/>
                </a:solidFill>
                <a:latin typeface="Calibri"/>
              </a:rPr>
              <a:t>A coding assistant's sales deck quotes "acceptance rate 32 percent", the share of suggestions developers accept, even ones deleted soon after. The analyst proposes a new </a:t>
            </a:r>
            <a:r>
              <a:rPr sz="1500" b="1" i="0">
                <a:solidFill>
                  <a:srgbClr val="1A1440"/>
                </a:solidFill>
                <a:latin typeface="Calibri"/>
              </a:rPr>
              <a:t>north star</a:t>
            </a:r>
            <a:r>
              <a:rPr sz="1500" b="0" i="0">
                <a:solidFill>
                  <a:srgbClr val="1A1440"/>
                </a:solidFill>
                <a:latin typeface="Calibri"/>
              </a:rPr>
              <a:t>, the one number the team is judged on: characters of suggested code still in the file seven days after acceptance, per developer who saw a suggestion that week, with two </a:t>
            </a:r>
            <a:r>
              <a:rPr sz="1500" b="1" i="0">
                <a:solidFill>
                  <a:srgbClr val="1A1440"/>
                </a:solidFill>
                <a:latin typeface="Calibri"/>
              </a:rPr>
              <a:t>guardrails</a:t>
            </a:r>
            <a:r>
              <a:rPr sz="1500" b="0" i="0">
                <a:solidFill>
                  <a:srgbClr val="1A1440"/>
                </a:solidFill>
                <a:latin typeface="Calibri"/>
              </a:rPr>
              <a:t> that catch padding (retained characters per accepted character; edits per accepted suggestion).</a:t>
            </a:r>
          </a:p>
        </p:txBody>
      </p:sp>
      <p:sp>
        <p:nvSpPr>
          <p:cNvPr id="12" name="Rounded Rectangle 11"/>
          <p:cNvSpPr/>
          <p:nvPr/>
        </p:nvSpPr>
        <p:spPr>
          <a:xfrm>
            <a:off x="530352" y="3729228"/>
            <a:ext cx="11130991" cy="13411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ounded Rectangle 12"/>
          <p:cNvSpPr/>
          <p:nvPr/>
        </p:nvSpPr>
        <p:spPr>
          <a:xfrm>
            <a:off x="676656" y="3857244"/>
            <a:ext cx="45720" cy="10850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77824" y="3848100"/>
            <a:ext cx="10564063" cy="1158240"/>
          </a:xfrm>
          <a:prstGeom prst="rect">
            <a:avLst/>
          </a:prstGeom>
          <a:noFill/>
        </p:spPr>
        <p:txBody>
          <a:bodyPr wrap="square" anchor="ctr" lIns="0" rIns="0" tIns="0" bIns="0">
            <a:spAutoFit/>
          </a:bodyPr>
          <a:lstStyle/>
          <a:p>
            <a:r>
              <a:rPr sz="1500" b="1">
                <a:solidFill>
                  <a:srgbClr val="5B3FD6"/>
                </a:solidFill>
                <a:latin typeface="Calibri"/>
              </a:rPr>
              <a:t>The objection, partly right. </a:t>
            </a:r>
            <a:r>
              <a:rPr sz="1500" b="0" i="0">
                <a:solidFill>
                  <a:srgbClr val="1A1440"/>
                </a:solidFill>
                <a:latin typeface="Calibri"/>
              </a:rPr>
              <a:t>"Acceptance rate is what customers see." True, and a 2022 study of GitHub Copilot's users found acceptance tracks how productive developers feel. </a:t>
            </a:r>
            <a:r>
              <a:rPr sz="1500" b="1" i="0">
                <a:solidFill>
                  <a:srgbClr val="1A1440"/>
                </a:solidFill>
                <a:latin typeface="Calibri"/>
              </a:rPr>
              <a:t>The answer</a:t>
            </a:r>
            <a:r>
              <a:rPr sz="1500" b="0" i="0">
                <a:solidFill>
                  <a:srgbClr val="1A1440"/>
                </a:solidFill>
                <a:latin typeface="Calibri"/>
              </a:rPr>
              <a:t> keeps acceptance in the deck as a </a:t>
            </a:r>
            <a:r>
              <a:rPr sz="1500" b="1" i="0">
                <a:solidFill>
                  <a:srgbClr val="1A1440"/>
                </a:solidFill>
                <a:latin typeface="Calibri"/>
              </a:rPr>
              <a:t>leading input</a:t>
            </a:r>
            <a:r>
              <a:rPr sz="1500" b="0" i="0">
                <a:solidFill>
                  <a:srgbClr val="1A1440"/>
                </a:solidFill>
                <a:latin typeface="Calibri"/>
              </a:rPr>
              <a:t>, a number that moves first, and judges the team on code that survives only once a holdout of users shows it tracks seat renewals.</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How big is the unknown?</a:t>
            </a:r>
          </a:p>
        </p:txBody>
      </p:sp>
      <p:sp>
        <p:nvSpPr>
          <p:cNvPr id="17" name="Oval 16"/>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17370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one page?</a:t>
            </a:r>
          </a:p>
        </p:txBody>
      </p:sp>
      <p:sp>
        <p:nvSpPr>
          <p:cNvPr id="19" name="Oval 18"/>
          <p:cNvSpPr/>
          <p:nvPr/>
        </p:nvSpPr>
        <p:spPr>
          <a:xfrm>
            <a:off x="355158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661314"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it sound like?</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S51  ·  22 / 27</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2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How a pair scores a transcript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an interviewer listen for, and how is each part scored?</a:t>
            </a:r>
          </a:p>
        </p:txBody>
      </p:sp>
      <p:graphicFrame>
        <p:nvGraphicFramePr>
          <p:cNvPr id="9" name="Table 8"/>
          <p:cNvGraphicFramePr>
            <a:graphicFrameLocks noGrp="1"/>
          </p:cNvGraphicFramePr>
          <p:nvPr/>
        </p:nvGraphicFramePr>
        <p:xfrm>
          <a:off x="530352" y="1956816"/>
          <a:ext cx="11130989" cy="2682240"/>
        </p:xfrm>
        <a:graphic>
          <a:graphicData uri="http://schemas.openxmlformats.org/drawingml/2006/table">
            <a:tbl>
              <a:tblPr firstRow="0" bandRow="0">
                <a:tableStyleId>{2D5ABB26-0587-4C30-8999-92F81FD0307C}</a:tableStyleId>
              </a:tblPr>
              <a:tblGrid>
                <a:gridCol w="4890706"/>
                <a:gridCol w="1369720"/>
                <a:gridCol w="1833007"/>
                <a:gridCol w="3037556"/>
              </a:tblGrid>
              <a:tr h="335280">
                <a:tc>
                  <a:txBody>
                    <a:bodyPr/>
                    <a:lstStyle/>
                    <a:p>
                      <a:r>
                        <a:rPr sz="1250" b="1" i="0">
                          <a:solidFill>
                            <a:srgbClr val="FFFFFF"/>
                          </a:solidFill>
                          <a:latin typeface="Calibri"/>
                        </a:rPr>
                        <a:t>Criterion</a:t>
                      </a:r>
                    </a:p>
                  </a:txBody>
                  <a:tcPr marL="101600" marR="101600" marT="38100" marB="38100" anchor="ctr">
                    <a:solidFill>
                      <a:srgbClr val="1A0F5C"/>
                    </a:solidFill>
                  </a:tcPr>
                </a:tc>
                <a:tc>
                  <a:txBody>
                    <a:bodyPr/>
                    <a:lstStyle/>
                    <a:p>
                      <a:r>
                        <a:rPr sz="1250" b="1" i="0">
                          <a:solidFill>
                            <a:srgbClr val="FFFFFF"/>
                          </a:solidFill>
                          <a:latin typeface="Calibri"/>
                        </a:rPr>
                        <a:t>0</a:t>
                      </a:r>
                    </a:p>
                  </a:txBody>
                  <a:tcPr marL="101600" marR="101600" marT="38100" marB="38100" anchor="ctr">
                    <a:solidFill>
                      <a:srgbClr val="1A0F5C"/>
                    </a:solidFill>
                  </a:tcPr>
                </a:tc>
                <a:tc>
                  <a:txBody>
                    <a:bodyPr/>
                    <a:lstStyle/>
                    <a:p>
                      <a:r>
                        <a:rPr sz="1250" b="1" i="0">
                          <a:solidFill>
                            <a:srgbClr val="FFFFFF"/>
                          </a:solidFill>
                          <a:latin typeface="Calibri"/>
                        </a:rPr>
                        <a:t>1</a:t>
                      </a:r>
                    </a:p>
                  </a:txBody>
                  <a:tcPr marL="101600" marR="101600" marT="38100" marB="38100" anchor="ctr">
                    <a:solidFill>
                      <a:srgbClr val="1A0F5C"/>
                    </a:solidFill>
                  </a:tcPr>
                </a:tc>
                <a:tc>
                  <a:txBody>
                    <a:bodyPr/>
                    <a:lstStyle/>
                    <a:p>
                      <a:r>
                        <a:rPr sz="1250" b="1" i="0">
                          <a:solidFill>
                            <a:srgbClr val="FFFFFF"/>
                          </a:solidFill>
                          <a:latin typeface="Calibri"/>
                        </a:rPr>
                        <a:t>2</a:t>
                      </a:r>
                    </a:p>
                  </a:txBody>
                  <a:tcPr marL="101600" marR="101600" marT="38100" marB="38100" anchor="ctr">
                    <a:solidFill>
                      <a:srgbClr val="1A0F5C"/>
                    </a:solidFill>
                  </a:tcPr>
                </a:tc>
              </a:tr>
              <a:tr h="335280">
                <a:tc>
                  <a:txBody>
                    <a:bodyPr/>
                    <a:lstStyle/>
                    <a:p>
                      <a:r>
                        <a:rPr sz="1200" b="0" i="0">
                          <a:solidFill>
                            <a:srgbClr val="1A1440"/>
                          </a:solidFill>
                          <a:latin typeface="Calibri"/>
                        </a:rPr>
                        <a:t>Clarified the scope first</a:t>
                      </a:r>
                    </a:p>
                  </a:txBody>
                  <a:tcPr marL="101600" marR="101600" marT="38100" marB="38100" anchor="ctr">
                    <a:solidFill>
                      <a:srgbClr val="FFFFFF"/>
                    </a:solidFill>
                  </a:tcPr>
                </a:tc>
                <a:tc>
                  <a:txBody>
                    <a:bodyPr/>
                    <a:lstStyle/>
                    <a:p>
                      <a:r>
                        <a:rPr sz="1200" b="0" i="0">
                          <a:solidFill>
                            <a:srgbClr val="1A1440"/>
                          </a:solidFill>
                          <a:latin typeface="Calibri"/>
                        </a:rPr>
                        <a:t>skipped</a:t>
                      </a:r>
                    </a:p>
                  </a:txBody>
                  <a:tcPr marL="101600" marR="101600" marT="38100" marB="38100" anchor="ctr">
                    <a:solidFill>
                      <a:srgbClr val="FFFFFF"/>
                    </a:solidFill>
                  </a:tcPr>
                </a:tc>
                <a:tc>
                  <a:txBody>
                    <a:bodyPr/>
                    <a:lstStyle/>
                    <a:p>
                      <a:r>
                        <a:rPr sz="1200" b="0" i="0">
                          <a:solidFill>
                            <a:srgbClr val="1A1440"/>
                          </a:solidFill>
                          <a:latin typeface="Calibri"/>
                        </a:rPr>
                        <a:t>partly</a:t>
                      </a:r>
                    </a:p>
                  </a:txBody>
                  <a:tcPr marL="101600" marR="101600" marT="38100" marB="38100" anchor="ctr">
                    <a:solidFill>
                      <a:srgbClr val="FFFFFF"/>
                    </a:solidFill>
                  </a:tcPr>
                </a:tc>
                <a:tc>
                  <a:txBody>
                    <a:bodyPr/>
                    <a:lstStyle/>
                    <a:p>
                      <a:r>
                        <a:rPr sz="1200" b="0" i="0">
                          <a:solidFill>
                            <a:srgbClr val="1A1440"/>
                          </a:solidFill>
                          <a:latin typeface="Calibri"/>
                        </a:rPr>
                        <a:t>unit, window and target pinned</a:t>
                      </a:r>
                    </a:p>
                  </a:txBody>
                  <a:tcPr marL="101600" marR="101600" marT="38100" marB="38100" anchor="ctr">
                    <a:solidFill>
                      <a:srgbClr val="FFFFFF"/>
                    </a:solidFill>
                  </a:tcPr>
                </a:tc>
              </a:tr>
              <a:tr h="335280">
                <a:tc>
                  <a:txBody>
                    <a:bodyPr/>
                    <a:lstStyle/>
                    <a:p>
                      <a:r>
                        <a:rPr sz="1200" b="0" i="0">
                          <a:solidFill>
                            <a:srgbClr val="1A1440"/>
                          </a:solidFill>
                          <a:latin typeface="Calibri"/>
                        </a:rPr>
                        <a:t>Named the denominator, or the unit, and the window</a:t>
                      </a:r>
                    </a:p>
                  </a:txBody>
                  <a:tcPr marL="101600" marR="101600" marT="38100" marB="38100" anchor="ctr">
                    <a:solidFill>
                      <a:srgbClr val="F4F2FA"/>
                    </a:solidFill>
                  </a:tcPr>
                </a:tc>
                <a:tc>
                  <a:txBody>
                    <a:bodyPr/>
                    <a:lstStyle/>
                    <a:p>
                      <a:r>
                        <a:rPr sz="1200" b="0" i="0">
                          <a:solidFill>
                            <a:srgbClr val="1A1440"/>
                          </a:solidFill>
                          <a:latin typeface="Calibri"/>
                        </a:rPr>
                        <a:t>neither</a:t>
                      </a:r>
                    </a:p>
                  </a:txBody>
                  <a:tcPr marL="101600" marR="101600" marT="38100" marB="38100" anchor="ctr">
                    <a:solidFill>
                      <a:srgbClr val="F4F2FA"/>
                    </a:solidFill>
                  </a:tcPr>
                </a:tc>
                <a:tc>
                  <a:txBody>
                    <a:bodyPr/>
                    <a:lstStyle/>
                    <a:p>
                      <a:r>
                        <a:rPr sz="1200" b="0" i="0">
                          <a:solidFill>
                            <a:srgbClr val="1A1440"/>
                          </a:solidFill>
                          <a:latin typeface="Calibri"/>
                        </a:rPr>
                        <a:t>one</a:t>
                      </a:r>
                    </a:p>
                  </a:txBody>
                  <a:tcPr marL="101600" marR="101600" marT="38100" marB="38100" anchor="ctr">
                    <a:solidFill>
                      <a:srgbClr val="F4F2FA"/>
                    </a:solidFill>
                  </a:tcPr>
                </a:tc>
                <a:tc>
                  <a:txBody>
                    <a:bodyPr/>
                    <a:lstStyle/>
                    <a:p>
                      <a:r>
                        <a:rPr sz="1200" b="0" i="0">
                          <a:solidFill>
                            <a:srgbClr val="1A1440"/>
                          </a:solidFill>
                          <a:latin typeface="Calibri"/>
                        </a:rPr>
                        <a:t>both</a:t>
                      </a:r>
                    </a:p>
                  </a:txBody>
                  <a:tcPr marL="101600" marR="101600" marT="38100" marB="38100" anchor="ctr">
                    <a:solidFill>
                      <a:srgbClr val="F4F2FA"/>
                    </a:solidFill>
                  </a:tcPr>
                </a:tc>
              </a:tr>
              <a:tr h="335280">
                <a:tc>
                  <a:txBody>
                    <a:bodyPr/>
                    <a:lstStyle/>
                    <a:p>
                      <a:r>
                        <a:rPr sz="1200" b="0" i="0">
                          <a:solidFill>
                            <a:srgbClr val="1A1440"/>
                          </a:solidFill>
                          <a:latin typeface="Calibri"/>
                        </a:rPr>
                        <a:t>Saw the trap</a:t>
                      </a:r>
                    </a:p>
                  </a:txBody>
                  <a:tcPr marL="101600" marR="101600" marT="38100" marB="38100" anchor="ctr">
                    <a:solidFill>
                      <a:srgbClr val="FFFFFF"/>
                    </a:solidFill>
                  </a:tcPr>
                </a:tc>
                <a:tc>
                  <a:txBody>
                    <a:bodyPr/>
                    <a:lstStyle/>
                    <a:p>
                      <a:r>
                        <a:rPr sz="1200" b="0" i="0">
                          <a:solidFill>
                            <a:srgbClr val="1A1440"/>
                          </a:solidFill>
                          <a:latin typeface="Calibri"/>
                        </a:rPr>
                        <a:t>missed</a:t>
                      </a:r>
                    </a:p>
                  </a:txBody>
                  <a:tcPr marL="101600" marR="101600" marT="38100" marB="38100" anchor="ctr">
                    <a:solidFill>
                      <a:srgbClr val="FFFFFF"/>
                    </a:solidFill>
                  </a:tcPr>
                </a:tc>
                <a:tc>
                  <a:txBody>
                    <a:bodyPr/>
                    <a:lstStyle/>
                    <a:p>
                      <a:r>
                        <a:rPr sz="1200" b="0" i="0">
                          <a:solidFill>
                            <a:srgbClr val="1A1440"/>
                          </a:solidFill>
                          <a:latin typeface="Calibri"/>
                        </a:rPr>
                        <a:t>named late</a:t>
                      </a:r>
                    </a:p>
                  </a:txBody>
                  <a:tcPr marL="101600" marR="101600" marT="38100" marB="38100" anchor="ctr">
                    <a:solidFill>
                      <a:srgbClr val="FFFFFF"/>
                    </a:solidFill>
                  </a:tcPr>
                </a:tc>
                <a:tc>
                  <a:txBody>
                    <a:bodyPr/>
                    <a:lstStyle/>
                    <a:p>
                      <a:r>
                        <a:rPr sz="1200" b="0" i="0">
                          <a:solidFill>
                            <a:srgbClr val="1A1440"/>
                          </a:solidFill>
                          <a:latin typeface="Calibri"/>
                        </a:rPr>
                        <a:t>named and checked</a:t>
                      </a:r>
                    </a:p>
                  </a:txBody>
                  <a:tcPr marL="101600" marR="101600" marT="38100" marB="38100" anchor="ctr">
                    <a:solidFill>
                      <a:srgbClr val="FFFFFF"/>
                    </a:solidFill>
                  </a:tcPr>
                </a:tc>
              </a:tr>
              <a:tr h="335280">
                <a:tc>
                  <a:txBody>
                    <a:bodyPr/>
                    <a:lstStyle/>
                    <a:p>
                      <a:r>
                        <a:rPr sz="1200" b="0" i="0">
                          <a:solidFill>
                            <a:srgbClr val="1A1440"/>
                          </a:solidFill>
                          <a:latin typeface="Calibri"/>
                        </a:rPr>
                        <a:t>Sized it with a unit</a:t>
                      </a:r>
                    </a:p>
                  </a:txBody>
                  <a:tcPr marL="101600" marR="101600" marT="38100" marB="38100" anchor="ctr">
                    <a:solidFill>
                      <a:srgbClr val="F4F2FA"/>
                    </a:solidFill>
                  </a:tcPr>
                </a:tc>
                <a:tc>
                  <a:txBody>
                    <a:bodyPr/>
                    <a:lstStyle/>
                    <a:p>
                      <a:r>
                        <a:rPr sz="1200" b="0" i="0">
                          <a:solidFill>
                            <a:srgbClr val="1A1440"/>
                          </a:solidFill>
                          <a:latin typeface="Calibri"/>
                        </a:rPr>
                        <a:t>no unit</a:t>
                      </a:r>
                    </a:p>
                  </a:txBody>
                  <a:tcPr marL="101600" marR="101600" marT="38100" marB="38100" anchor="ctr">
                    <a:solidFill>
                      <a:srgbClr val="F4F2FA"/>
                    </a:solidFill>
                  </a:tcPr>
                </a:tc>
                <a:tc>
                  <a:txBody>
                    <a:bodyPr/>
                    <a:lstStyle/>
                    <a:p>
                      <a:r>
                        <a:rPr sz="1200" b="0" i="0">
                          <a:solidFill>
                            <a:srgbClr val="1A1440"/>
                          </a:solidFill>
                          <a:latin typeface="Calibri"/>
                        </a:rPr>
                        <a:t>a unit, unchecked</a:t>
                      </a:r>
                    </a:p>
                  </a:txBody>
                  <a:tcPr marL="101600" marR="101600" marT="38100" marB="38100" anchor="ctr">
                    <a:solidFill>
                      <a:srgbClr val="F4F2FA"/>
                    </a:solidFill>
                  </a:tcPr>
                </a:tc>
                <a:tc>
                  <a:txBody>
                    <a:bodyPr/>
                    <a:lstStyle/>
                    <a:p>
                      <a:r>
                        <a:rPr sz="1200" b="0" i="0">
                          <a:solidFill>
                            <a:srgbClr val="1A1440"/>
                          </a:solidFill>
                          <a:latin typeface="Calibri"/>
                        </a:rPr>
                        <a:t>a unit carried through</a:t>
                      </a:r>
                    </a:p>
                  </a:txBody>
                  <a:tcPr marL="101600" marR="101600" marT="38100" marB="38100" anchor="ctr">
                    <a:solidFill>
                      <a:srgbClr val="F4F2FA"/>
                    </a:solidFill>
                  </a:tcPr>
                </a:tc>
              </a:tr>
              <a:tr h="335280">
                <a:tc>
                  <a:txBody>
                    <a:bodyPr/>
                    <a:lstStyle/>
                    <a:p>
                      <a:r>
                        <a:rPr sz="1200" b="0" i="0">
                          <a:solidFill>
                            <a:srgbClr val="1A1440"/>
                          </a:solidFill>
                          <a:latin typeface="Calibri"/>
                        </a:rPr>
                        <a:t>Said what would change their mind</a:t>
                      </a:r>
                    </a:p>
                  </a:txBody>
                  <a:tcPr marL="101600" marR="101600" marT="38100" marB="38100" anchor="ctr">
                    <a:solidFill>
                      <a:srgbClr val="FFFFFF"/>
                    </a:solidFill>
                  </a:tcPr>
                </a:tc>
                <a:tc>
                  <a:txBody>
                    <a:bodyPr/>
                    <a:lstStyle/>
                    <a:p>
                      <a:r>
                        <a:rPr sz="1200" b="0" i="0">
                          <a:solidFill>
                            <a:srgbClr val="1A1440"/>
                          </a:solidFill>
                          <a:latin typeface="Calibri"/>
                        </a:rPr>
                        <a:t>no</a:t>
                      </a:r>
                    </a:p>
                  </a:txBody>
                  <a:tcPr marL="101600" marR="101600" marT="38100" marB="38100" anchor="ctr">
                    <a:solidFill>
                      <a:srgbClr val="FFFFFF"/>
                    </a:solidFill>
                  </a:tcPr>
                </a:tc>
                <a:tc>
                  <a:txBody>
                    <a:bodyPr/>
                    <a:lstStyle/>
                    <a:p>
                      <a:r>
                        <a:rPr sz="1200" b="0" i="0">
                          <a:solidFill>
                            <a:srgbClr val="1A1440"/>
                          </a:solidFill>
                          <a:latin typeface="Calibri"/>
                        </a:rPr>
                        <a:t>vaguely</a:t>
                      </a:r>
                    </a:p>
                  </a:txBody>
                  <a:tcPr marL="101600" marR="101600" marT="38100" marB="38100" anchor="ctr">
                    <a:solidFill>
                      <a:srgbClr val="FFFFFF"/>
                    </a:solidFill>
                  </a:tcPr>
                </a:tc>
                <a:tc>
                  <a:txBody>
                    <a:bodyPr/>
                    <a:lstStyle/>
                    <a:p>
                      <a:r>
                        <a:rPr sz="1200" b="0" i="0">
                          <a:solidFill>
                            <a:srgbClr val="1A1440"/>
                          </a:solidFill>
                          <a:latin typeface="Calibri"/>
                        </a:rPr>
                        <a:t>a named fact</a:t>
                      </a:r>
                    </a:p>
                  </a:txBody>
                  <a:tcPr marL="101600" marR="101600" marT="38100" marB="38100" anchor="ctr">
                    <a:solidFill>
                      <a:srgbClr val="FFFFFF"/>
                    </a:solidFill>
                  </a:tcPr>
                </a:tc>
              </a:tr>
              <a:tr h="335280">
                <a:tc>
                  <a:txBody>
                    <a:bodyPr/>
                    <a:lstStyle/>
                    <a:p>
                      <a:r>
                        <a:rPr sz="1200" b="0" i="0">
                          <a:solidFill>
                            <a:srgbClr val="1A1440"/>
                          </a:solidFill>
                          <a:latin typeface="Calibri"/>
                        </a:rPr>
                        <a:t>Tied it to a decision and its cost</a:t>
                      </a:r>
                    </a:p>
                  </a:txBody>
                  <a:tcPr marL="101600" marR="101600" marT="38100" marB="38100" anchor="ctr">
                    <a:solidFill>
                      <a:srgbClr val="F4F2FA"/>
                    </a:solidFill>
                  </a:tcPr>
                </a:tc>
                <a:tc>
                  <a:txBody>
                    <a:bodyPr/>
                    <a:lstStyle/>
                    <a:p>
                      <a:r>
                        <a:rPr sz="1200" b="0" i="0">
                          <a:solidFill>
                            <a:srgbClr val="1A1440"/>
                          </a:solidFill>
                          <a:latin typeface="Calibri"/>
                        </a:rPr>
                        <a:t>no</a:t>
                      </a:r>
                    </a:p>
                  </a:txBody>
                  <a:tcPr marL="101600" marR="101600" marT="38100" marB="38100" anchor="ctr">
                    <a:solidFill>
                      <a:srgbClr val="F4F2FA"/>
                    </a:solidFill>
                  </a:tcPr>
                </a:tc>
                <a:tc>
                  <a:txBody>
                    <a:bodyPr/>
                    <a:lstStyle/>
                    <a:p>
                      <a:r>
                        <a:rPr sz="1200" b="0" i="0">
                          <a:solidFill>
                            <a:srgbClr val="1A1440"/>
                          </a:solidFill>
                          <a:latin typeface="Calibri"/>
                        </a:rPr>
                        <a:t>a decision</a:t>
                      </a:r>
                    </a:p>
                  </a:txBody>
                  <a:tcPr marL="101600" marR="101600" marT="38100" marB="38100" anchor="ctr">
                    <a:solidFill>
                      <a:srgbClr val="F4F2FA"/>
                    </a:solidFill>
                  </a:tcPr>
                </a:tc>
                <a:tc>
                  <a:txBody>
                    <a:bodyPr/>
                    <a:lstStyle/>
                    <a:p>
                      <a:r>
                        <a:rPr sz="1200" b="0" i="0">
                          <a:solidFill>
                            <a:srgbClr val="1A1440"/>
                          </a:solidFill>
                          <a:latin typeface="Calibri"/>
                        </a:rPr>
                        <a:t>a decision and its rupees</a:t>
                      </a:r>
                    </a:p>
                  </a:txBody>
                  <a:tcPr marL="101600" marR="101600" marT="38100" marB="38100" anchor="ctr">
                    <a:solidFill>
                      <a:srgbClr val="F4F2FA"/>
                    </a:solidFill>
                  </a:tcPr>
                </a:tc>
              </a:tr>
              <a:tr h="335280">
                <a:tc>
                  <a:txBody>
                    <a:bodyPr/>
                    <a:lstStyle/>
                    <a:p>
                      <a:r>
                        <a:rPr sz="1200" b="0" i="0">
                          <a:solidFill>
                            <a:srgbClr val="1A1440"/>
                          </a:solidFill>
                          <a:latin typeface="Calibri"/>
                        </a:rPr>
                        <a:t>Gave the structure before the number</a:t>
                      </a:r>
                    </a:p>
                  </a:txBody>
                  <a:tcPr marL="101600" marR="101600" marT="38100" marB="38100" anchor="ctr">
                    <a:solidFill>
                      <a:srgbClr val="FFFFFF"/>
                    </a:solidFill>
                  </a:tcPr>
                </a:tc>
                <a:tc>
                  <a:txBody>
                    <a:bodyPr/>
                    <a:lstStyle/>
                    <a:p>
                      <a:r>
                        <a:rPr sz="1200" b="0" i="0">
                          <a:solidFill>
                            <a:srgbClr val="1A1440"/>
                          </a:solidFill>
                          <a:latin typeface="Calibri"/>
                        </a:rPr>
                        <a:t>number first</a:t>
                      </a:r>
                    </a:p>
                  </a:txBody>
                  <a:tcPr marL="101600" marR="101600" marT="38100" marB="38100" anchor="ctr">
                    <a:solidFill>
                      <a:srgbClr val="FFFFFF"/>
                    </a:solidFill>
                  </a:tcPr>
                </a:tc>
                <a:tc>
                  <a:txBody>
                    <a:bodyPr/>
                    <a:lstStyle/>
                    <a:p>
                      <a:r>
                        <a:rPr sz="1200" b="0" i="0">
                          <a:solidFill>
                            <a:srgbClr val="1A1440"/>
                          </a:solidFill>
                          <a:latin typeface="Calibri"/>
                        </a:rPr>
                        <a:t>mixed</a:t>
                      </a:r>
                    </a:p>
                  </a:txBody>
                  <a:tcPr marL="101600" marR="101600" marT="38100" marB="38100" anchor="ctr">
                    <a:solidFill>
                      <a:srgbClr val="FFFFFF"/>
                    </a:solidFill>
                  </a:tcPr>
                </a:tc>
                <a:tc>
                  <a:txBody>
                    <a:bodyPr/>
                    <a:lstStyle/>
                    <a:p>
                      <a:r>
                        <a:rPr sz="1200" b="0" i="0">
                          <a:solidFill>
                            <a:srgbClr val="1A1440"/>
                          </a:solidFill>
                          <a:latin typeface="Calibri"/>
                        </a:rPr>
                        <a:t>structure first</a:t>
                      </a:r>
                    </a:p>
                  </a:txBody>
                  <a:tcPr marL="101600" marR="101600" marT="38100" marB="38100" anchor="ctr">
                    <a:solidFill>
                      <a:srgbClr val="FFFFFF"/>
                    </a:solidFill>
                  </a:tcPr>
                </a:tc>
              </a:tr>
            </a:tbl>
          </a:graphicData>
        </a:graphic>
      </p:graphicFrame>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How big is the unknown?</a:t>
            </a:r>
          </a:p>
        </p:txBody>
      </p:sp>
      <p:sp>
        <p:nvSpPr>
          <p:cNvPr id="12" name="Oval 11"/>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17370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one page?</a:t>
            </a:r>
          </a:p>
        </p:txBody>
      </p:sp>
      <p:sp>
        <p:nvSpPr>
          <p:cNvPr id="14" name="Oval 13"/>
          <p:cNvSpPr/>
          <p:nvPr/>
        </p:nvSpPr>
        <p:spPr>
          <a:xfrm>
            <a:off x="355158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661314"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it sound like?</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S52  ·  23 / 27</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2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Pain points, each with the case that shows it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Where do first attempts at a slide and an estimate usually break?</a:t>
            </a:r>
          </a:p>
        </p:txBody>
      </p:sp>
      <p:graphicFrame>
        <p:nvGraphicFramePr>
          <p:cNvPr id="9" name="Table 8"/>
          <p:cNvGraphicFramePr>
            <a:graphicFrameLocks noGrp="1"/>
          </p:cNvGraphicFramePr>
          <p:nvPr/>
        </p:nvGraphicFramePr>
        <p:xfrm>
          <a:off x="530352" y="1956816"/>
          <a:ext cx="11130991" cy="2218944"/>
        </p:xfrm>
        <a:graphic>
          <a:graphicData uri="http://schemas.openxmlformats.org/drawingml/2006/table">
            <a:tbl>
              <a:tblPr firstRow="0" bandRow="0">
                <a:tableStyleId>{2D5ABB26-0587-4C30-8999-92F81FD0307C}</a:tableStyleId>
              </a:tblPr>
              <a:tblGrid>
                <a:gridCol w="4586164"/>
                <a:gridCol w="6544827"/>
              </a:tblGrid>
              <a:tr h="369824">
                <a:tc>
                  <a:txBody>
                    <a:bodyPr/>
                    <a:lstStyle/>
                    <a:p>
                      <a:r>
                        <a:rPr sz="1450" b="1" i="0">
                          <a:solidFill>
                            <a:srgbClr val="FFFFFF"/>
                          </a:solidFill>
                          <a:latin typeface="Calibri"/>
                        </a:rPr>
                        <a:t>Pain point</a:t>
                      </a:r>
                    </a:p>
                  </a:txBody>
                  <a:tcPr marL="101600" marR="101600" marT="38100" marB="38100" anchor="ctr">
                    <a:solidFill>
                      <a:srgbClr val="1A0F5C"/>
                    </a:solidFill>
                  </a:tcPr>
                </a:tc>
                <a:tc>
                  <a:txBody>
                    <a:bodyPr/>
                    <a:lstStyle/>
                    <a:p>
                      <a:r>
                        <a:rPr sz="1450" b="1" i="0">
                          <a:solidFill>
                            <a:srgbClr val="FFFFFF"/>
                          </a:solidFill>
                          <a:latin typeface="Calibri"/>
                        </a:rPr>
                        <a:t>Where you saw it</a:t>
                      </a:r>
                    </a:p>
                  </a:txBody>
                  <a:tcPr marL="101600" marR="101600" marT="38100" marB="38100" anchor="ctr">
                    <a:solidFill>
                      <a:srgbClr val="1A0F5C"/>
                    </a:solidFill>
                  </a:tcPr>
                </a:tc>
              </a:tr>
              <a:tr h="369824">
                <a:tc>
                  <a:txBody>
                    <a:bodyPr/>
                    <a:lstStyle/>
                    <a:p>
                      <a:r>
                        <a:rPr sz="1400" b="0" i="0">
                          <a:solidFill>
                            <a:srgbClr val="1A1440"/>
                          </a:solidFill>
                          <a:latin typeface="Calibri"/>
                        </a:rPr>
                        <a:t>The first slide carries every number</a:t>
                      </a:r>
                    </a:p>
                  </a:txBody>
                  <a:tcPr marL="101600" marR="101600" marT="38100" marB="38100" anchor="ctr">
                    <a:solidFill>
                      <a:srgbClr val="FFFFFF"/>
                    </a:solidFill>
                  </a:tcPr>
                </a:tc>
                <a:tc>
                  <a:txBody>
                    <a:bodyPr/>
                    <a:lstStyle/>
                    <a:p>
                      <a:r>
                        <a:rPr sz="1400" b="0" i="0">
                          <a:solidFill>
                            <a:srgbClr val="1A1440"/>
                          </a:solidFill>
                          <a:latin typeface="Calibri"/>
                        </a:rPr>
                        <a:t>Slide A this morning: nine numbers, no claim</a:t>
                      </a:r>
                    </a:p>
                  </a:txBody>
                  <a:tcPr marL="101600" marR="101600" marT="38100" marB="38100" anchor="ctr">
                    <a:solidFill>
                      <a:srgbClr val="FFFFFF"/>
                    </a:solidFill>
                  </a:tcPr>
                </a:tc>
              </a:tr>
              <a:tr h="369824">
                <a:tc>
                  <a:txBody>
                    <a:bodyPr/>
                    <a:lstStyle/>
                    <a:p>
                      <a:r>
                        <a:rPr sz="1400" b="0" i="0">
                          <a:solidFill>
                            <a:srgbClr val="1A1440"/>
                          </a:solidFill>
                          <a:latin typeface="Calibri"/>
                        </a:rPr>
                        <a:t>The first defence retreats or overclaims</a:t>
                      </a:r>
                    </a:p>
                  </a:txBody>
                  <a:tcPr marL="101600" marR="101600" marT="38100" marB="38100" anchor="ctr">
                    <a:solidFill>
                      <a:srgbClr val="F4F2FA"/>
                    </a:solidFill>
                  </a:tcPr>
                </a:tc>
                <a:tc>
                  <a:txBody>
                    <a:bodyPr/>
                    <a:lstStyle/>
                    <a:p>
                      <a:r>
                        <a:rPr sz="1400" b="0" i="0">
                          <a:solidFill>
                            <a:srgbClr val="1A1440"/>
                          </a:solidFill>
                          <a:latin typeface="Calibri"/>
                        </a:rPr>
                        <a:t>Round one of the studio</a:t>
                      </a:r>
                    </a:p>
                  </a:txBody>
                  <a:tcPr marL="101600" marR="101600" marT="38100" marB="38100" anchor="ctr">
                    <a:solidFill>
                      <a:srgbClr val="F4F2FA"/>
                    </a:solidFill>
                  </a:tcPr>
                </a:tc>
              </a:tr>
              <a:tr h="369824">
                <a:tc>
                  <a:txBody>
                    <a:bodyPr/>
                    <a:lstStyle/>
                    <a:p>
                      <a:r>
                        <a:rPr sz="1400" b="0" i="0">
                          <a:solidFill>
                            <a:srgbClr val="1A1440"/>
                          </a:solidFill>
                          <a:latin typeface="Calibri"/>
                        </a:rPr>
                        <a:t>A check against an unusual day</a:t>
                      </a:r>
                    </a:p>
                  </a:txBody>
                  <a:tcPr marL="101600" marR="101600" marT="38100" marB="38100" anchor="ctr">
                    <a:solidFill>
                      <a:srgbClr val="FFFFFF"/>
                    </a:solidFill>
                  </a:tcPr>
                </a:tc>
                <a:tc>
                  <a:txBody>
                    <a:bodyPr/>
                    <a:lstStyle/>
                    <a:p>
                      <a:r>
                        <a:rPr sz="1400" b="0" i="0">
                          <a:solidFill>
                            <a:srgbClr val="1A1440"/>
                          </a:solidFill>
                          <a:latin typeface="Calibri"/>
                        </a:rPr>
                        <a:t>Delhi Metro's average day against one record day</a:t>
                      </a:r>
                    </a:p>
                  </a:txBody>
                  <a:tcPr marL="101600" marR="101600" marT="38100" marB="38100" anchor="ctr">
                    <a:solidFill>
                      <a:srgbClr val="FFFFFF"/>
                    </a:solidFill>
                  </a:tcPr>
                </a:tc>
              </a:tr>
              <a:tr h="369824">
                <a:tc>
                  <a:txBody>
                    <a:bodyPr/>
                    <a:lstStyle/>
                    <a:p>
                      <a:r>
                        <a:rPr sz="1400" b="0" i="0">
                          <a:solidFill>
                            <a:srgbClr val="1A1440"/>
                          </a:solidFill>
                          <a:latin typeface="Calibri"/>
                        </a:rPr>
                        <a:t>A muddled published figure</a:t>
                      </a:r>
                    </a:p>
                  </a:txBody>
                  <a:tcPr marL="101600" marR="101600" marT="38100" marB="38100" anchor="ctr">
                    <a:solidFill>
                      <a:srgbClr val="F4F2FA"/>
                    </a:solidFill>
                  </a:tcPr>
                </a:tc>
                <a:tc>
                  <a:txBody>
                    <a:bodyPr/>
                    <a:lstStyle/>
                    <a:p>
                      <a:r>
                        <a:rPr sz="1400" b="0" i="0">
                          <a:solidFill>
                            <a:srgbClr val="1A1440"/>
                          </a:solidFill>
                          <a:latin typeface="Calibri"/>
                        </a:rPr>
                        <a:t>Flipkart's 6.3 million against the 63 in its web address</a:t>
                      </a:r>
                    </a:p>
                  </a:txBody>
                  <a:tcPr marL="101600" marR="101600" marT="38100" marB="38100" anchor="ctr">
                    <a:solidFill>
                      <a:srgbClr val="F4F2FA"/>
                    </a:solidFill>
                  </a:tcPr>
                </a:tc>
              </a:tr>
              <a:tr h="369824">
                <a:tc>
                  <a:txBody>
                    <a:bodyPr/>
                    <a:lstStyle/>
                    <a:p>
                      <a:r>
                        <a:rPr sz="1400" b="0" i="0">
                          <a:solidFill>
                            <a:srgbClr val="1A1440"/>
                          </a:solidFill>
                          <a:latin typeface="Calibri"/>
                        </a:rPr>
                        <a:t>A memo nobody can write in an hour</a:t>
                      </a:r>
                    </a:p>
                  </a:txBody>
                  <a:tcPr marL="101600" marR="101600" marT="38100" marB="38100" anchor="ctr">
                    <a:solidFill>
                      <a:srgbClr val="FFFFFF"/>
                    </a:solidFill>
                  </a:tcPr>
                </a:tc>
                <a:tc>
                  <a:txBody>
                    <a:bodyPr/>
                    <a:lstStyle/>
                    <a:p>
                      <a:r>
                        <a:rPr sz="1400" b="0" i="0">
                          <a:solidFill>
                            <a:srgbClr val="1A1440"/>
                          </a:solidFill>
                          <a:latin typeface="Calibri"/>
                        </a:rPr>
                        <a:t>Amazon's letter: a great memo probably takes a week or more</a:t>
                      </a:r>
                    </a:p>
                  </a:txBody>
                  <a:tcPr marL="101600" marR="101600" marT="38100" marB="38100" anchor="ctr">
                    <a:solidFill>
                      <a:srgbClr val="FFFFFF"/>
                    </a:solidFill>
                  </a:tcPr>
                </a:tc>
              </a:tr>
            </a:tbl>
          </a:graphicData>
        </a:graphic>
      </p:graphicFrame>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How big is the unknown?</a:t>
            </a:r>
          </a:p>
        </p:txBody>
      </p:sp>
      <p:sp>
        <p:nvSpPr>
          <p:cNvPr id="12" name="Oval 11"/>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17370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one page?</a:t>
            </a:r>
          </a:p>
        </p:txBody>
      </p:sp>
      <p:sp>
        <p:nvSpPr>
          <p:cNvPr id="14" name="Oval 13"/>
          <p:cNvSpPr/>
          <p:nvPr/>
        </p:nvSpPr>
        <p:spPr>
          <a:xfrm>
            <a:off x="355158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661314"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it sound like?</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S53  ·  24 / 27</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2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makeover gallery: three dots each</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rebuilt titles would a city head act on?</a:t>
            </a:r>
          </a:p>
        </p:txBody>
      </p:sp>
      <p:sp>
        <p:nvSpPr>
          <p:cNvPr id="9" name="TextBox 8"/>
          <p:cNvSpPr txBox="1"/>
          <p:nvPr/>
        </p:nvSpPr>
        <p:spPr>
          <a:xfrm>
            <a:off x="530352" y="1956816"/>
            <a:ext cx="11130991" cy="1710943"/>
          </a:xfrm>
          <a:prstGeom prst="rect">
            <a:avLst/>
          </a:prstGeom>
          <a:noFill/>
        </p:spPr>
        <p:txBody>
          <a:bodyPr wrap="square" anchor="t" lIns="0" rIns="0" tIns="0" bIns="0">
            <a:spAutoFit/>
          </a:bodyPr>
          <a:lstStyle/>
          <a:p>
            <a:pPr>
              <a:spcAft>
                <a:spcPts val="800"/>
              </a:spcAft>
            </a:pPr>
            <a:r>
              <a:rPr sz="1600" b="1" i="0">
                <a:solidFill>
                  <a:srgbClr val="1A1440"/>
                </a:solidFill>
                <a:latin typeface="Calibri"/>
              </a:rPr>
              <a:t>Every group's final slide goes on the wall, beside three written pages.</a:t>
            </a:r>
            <a:r>
              <a:rPr sz="1600" b="0" i="0">
                <a:solidFill>
                  <a:srgbClr val="1A1440"/>
                </a:solidFill>
                <a:latin typeface="Calibri"/>
              </a:rPr>
              <a:t> Each learner places three dots: one on the title that most clearly states a claim a city head could act on, one on the appendix page that best answers its role's question, one on the caveat that sits most clearly in sight.</a:t>
            </a:r>
          </a:p>
          <a:p>
            <a:pPr>
              <a:spcAft>
                <a:spcPts val="800"/>
              </a:spcAft>
            </a:pPr>
            <a:r>
              <a:rPr sz="1600" b="1" i="0">
                <a:solidFill>
                  <a:srgbClr val="1A1440"/>
                </a:solidFill>
                <a:latin typeface="Calibri"/>
              </a:rPr>
              <a:t>The test for a title</a:t>
            </a:r>
            <a:r>
              <a:rPr sz="1600" b="0" i="0">
                <a:solidFill>
                  <a:srgbClr val="1A1440"/>
                </a:solidFill>
                <a:latin typeface="Calibri"/>
              </a:rPr>
              <a:t> is the Big Idea from Storytelling with Data, a site on presenting data: one complete sentence that carries a point of view and says what is at stake (checked 12 October 2026).</a:t>
            </a:r>
          </a:p>
        </p:txBody>
      </p:sp>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How big is the unknown?</a:t>
            </a:r>
          </a:p>
        </p:txBody>
      </p:sp>
      <p:sp>
        <p:nvSpPr>
          <p:cNvPr id="12" name="Oval 11"/>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17370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one page?</a:t>
            </a:r>
          </a:p>
        </p:txBody>
      </p:sp>
      <p:sp>
        <p:nvSpPr>
          <p:cNvPr id="14" name="Oval 13"/>
          <p:cNvSpPr/>
          <p:nvPr/>
        </p:nvSpPr>
        <p:spPr>
          <a:xfrm>
            <a:off x="355158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661314"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it sound like?</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S54  ·  25 / 27</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2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Kahoot: eight questions, ungraded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of today's ideas can you retrieve under a timer?</a:t>
            </a:r>
          </a:p>
        </p:txBody>
      </p:sp>
      <p:sp>
        <p:nvSpPr>
          <p:cNvPr id="9" name="Rounded Rectangle 8"/>
          <p:cNvSpPr/>
          <p:nvPr/>
        </p:nvSpPr>
        <p:spPr>
          <a:xfrm>
            <a:off x="530352" y="1956816"/>
            <a:ext cx="3588410"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list-ordered_6bff7db210fa.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QUESTIONS 1 TO 3</a:t>
            </a:r>
          </a:p>
        </p:txBody>
      </p:sp>
      <p:sp>
        <p:nvSpPr>
          <p:cNvPr id="13" name="TextBox 12"/>
          <p:cNvSpPr txBox="1"/>
          <p:nvPr/>
        </p:nvSpPr>
        <p:spPr>
          <a:xfrm>
            <a:off x="731519"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The slide</a:t>
            </a:r>
          </a:p>
        </p:txBody>
      </p:sp>
      <p:sp>
        <p:nvSpPr>
          <p:cNvPr id="14" name="TextBox 13"/>
          <p:cNvSpPr txBox="1"/>
          <p:nvPr/>
        </p:nvSpPr>
        <p:spPr>
          <a:xfrm>
            <a:off x="731519"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The four parts in order; keep or cut; the defence that never concedes</a:t>
            </a:r>
          </a:p>
        </p:txBody>
      </p:sp>
      <p:sp>
        <p:nvSpPr>
          <p:cNvPr id="15" name="Rounded Rectangle 14"/>
          <p:cNvSpPr/>
          <p:nvPr/>
        </p:nvSpPr>
        <p:spPr>
          <a:xfrm>
            <a:off x="4301642" y="1956816"/>
            <a:ext cx="3588410"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450281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calculator_852ec1ae1794.png"/>
          <p:cNvPicPr>
            <a:picLocks noChangeAspect="1"/>
          </p:cNvPicPr>
          <p:nvPr/>
        </p:nvPicPr>
        <p:blipFill>
          <a:blip r:embed="rId5"/>
          <a:stretch>
            <a:fillRect/>
          </a:stretch>
        </p:blipFill>
        <p:spPr>
          <a:xfrm>
            <a:off x="4612538" y="2267712"/>
            <a:ext cx="237744" cy="237744"/>
          </a:xfrm>
          <a:prstGeom prst="rect">
            <a:avLst/>
          </a:prstGeom>
        </p:spPr>
      </p:pic>
      <p:sp>
        <p:nvSpPr>
          <p:cNvPr id="18" name="TextBox 17"/>
          <p:cNvSpPr txBox="1"/>
          <p:nvPr/>
        </p:nvSpPr>
        <p:spPr>
          <a:xfrm>
            <a:off x="450281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QUESTIONS 4 TO 6</a:t>
            </a:r>
          </a:p>
        </p:txBody>
      </p:sp>
      <p:sp>
        <p:nvSpPr>
          <p:cNvPr id="19" name="TextBox 18"/>
          <p:cNvSpPr txBox="1"/>
          <p:nvPr/>
        </p:nvSpPr>
        <p:spPr>
          <a:xfrm>
            <a:off x="450281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The estimate</a:t>
            </a:r>
          </a:p>
        </p:txBody>
      </p:sp>
      <p:sp>
        <p:nvSpPr>
          <p:cNvPr id="20" name="TextBox 19"/>
          <p:cNvSpPr txBox="1"/>
          <p:nvPr/>
        </p:nvSpPr>
        <p:spPr>
          <a:xfrm>
            <a:off x="4502810"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The four steps; the city of two million; a day against an hour</a:t>
            </a:r>
          </a:p>
        </p:txBody>
      </p:sp>
      <p:sp>
        <p:nvSpPr>
          <p:cNvPr id="21" name="Rounded Rectangle 20"/>
          <p:cNvSpPr/>
          <p:nvPr/>
        </p:nvSpPr>
        <p:spPr>
          <a:xfrm>
            <a:off x="8072932" y="1956816"/>
            <a:ext cx="3588410"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27410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refresh-cw_79e4dab2a578.png"/>
          <p:cNvPicPr>
            <a:picLocks noChangeAspect="1"/>
          </p:cNvPicPr>
          <p:nvPr/>
        </p:nvPicPr>
        <p:blipFill>
          <a:blip r:embed="rId6"/>
          <a:stretch>
            <a:fillRect/>
          </a:stretch>
        </p:blipFill>
        <p:spPr>
          <a:xfrm>
            <a:off x="8383828" y="2267712"/>
            <a:ext cx="237744" cy="237744"/>
          </a:xfrm>
          <a:prstGeom prst="rect">
            <a:avLst/>
          </a:prstGeom>
        </p:spPr>
      </p:pic>
      <p:sp>
        <p:nvSpPr>
          <p:cNvPr id="24" name="TextBox 23"/>
          <p:cNvSpPr txBox="1"/>
          <p:nvPr/>
        </p:nvSpPr>
        <p:spPr>
          <a:xfrm>
            <a:off x="827410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QUESTIONS 7 AND 8</a:t>
            </a:r>
          </a:p>
        </p:txBody>
      </p:sp>
      <p:sp>
        <p:nvSpPr>
          <p:cNvPr id="25" name="TextBox 24"/>
          <p:cNvSpPr txBox="1"/>
          <p:nvPr/>
        </p:nvSpPr>
        <p:spPr>
          <a:xfrm>
            <a:off x="827410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Back to Monday and the check</a:t>
            </a:r>
          </a:p>
        </p:txBody>
      </p:sp>
      <p:sp>
        <p:nvSpPr>
          <p:cNvPr id="26" name="TextBox 25"/>
          <p:cNvSpPr txBox="1"/>
          <p:nvPr/>
        </p:nvSpPr>
        <p:spPr>
          <a:xfrm>
            <a:off x="8274100" y="3303524"/>
            <a:ext cx="3186074" cy="581406"/>
          </a:xfrm>
          <a:prstGeom prst="rect">
            <a:avLst/>
          </a:prstGeom>
          <a:noFill/>
        </p:spPr>
        <p:txBody>
          <a:bodyPr wrap="square" anchor="t" lIns="0" rIns="0" tIns="0" bIns="0">
            <a:spAutoFit/>
          </a:bodyPr>
          <a:lstStyle/>
          <a:p>
            <a:pPr algn="l"/>
            <a:r>
              <a:rPr sz="1100" b="0" i="0">
                <a:solidFill>
                  <a:srgbClr val="6B6690"/>
                </a:solidFill>
                <a:latin typeface="Calibri"/>
              </a:rPr>
              <a:t>The guardrail for a scheme that pays per trip; a monthly total over the wrong number of days</a:t>
            </a:r>
          </a:p>
        </p:txBody>
      </p:sp>
      <p:sp>
        <p:nvSpPr>
          <p:cNvPr id="27" name="Oval 2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How big is the unknown?</a:t>
            </a:r>
          </a:p>
        </p:txBody>
      </p:sp>
      <p:sp>
        <p:nvSpPr>
          <p:cNvPr id="29" name="Oval 28"/>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217370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one page?</a:t>
            </a:r>
          </a:p>
        </p:txBody>
      </p:sp>
      <p:sp>
        <p:nvSpPr>
          <p:cNvPr id="31" name="Oval 30"/>
          <p:cNvSpPr/>
          <p:nvPr/>
        </p:nvSpPr>
        <p:spPr>
          <a:xfrm>
            <a:off x="355158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3661314"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it sound like?</a:t>
            </a:r>
          </a:p>
        </p:txBody>
      </p:sp>
      <p:sp>
        <p:nvSpPr>
          <p:cNvPr id="33" name="TextBox 3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S55  ·  26 / 27</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2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Where the day ends: a slide, a page and a range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will the city head hear on Thursday, and what comes tomorrow?</a:t>
            </a:r>
          </a:p>
        </p:txBody>
      </p:sp>
      <p:sp>
        <p:nvSpPr>
          <p:cNvPr id="9" name="Rounded Rectangle 8"/>
          <p:cNvSpPr/>
          <p:nvPr/>
        </p:nvSpPr>
        <p:spPr>
          <a:xfrm>
            <a:off x="530352" y="1956816"/>
            <a:ext cx="45720" cy="1605279"/>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786384" y="1956816"/>
            <a:ext cx="10820095" cy="1605279"/>
          </a:xfrm>
          <a:prstGeom prst="rect">
            <a:avLst/>
          </a:prstGeom>
          <a:noFill/>
        </p:spPr>
        <p:txBody>
          <a:bodyPr wrap="square" anchor="t" lIns="0" rIns="0" tIns="0" bIns="0">
            <a:spAutoFit/>
          </a:bodyPr>
          <a:lstStyle/>
          <a:p>
            <a:r>
              <a:rPr sz="1600" b="0" i="1">
                <a:solidFill>
                  <a:srgbClr val="1A0F5C"/>
                </a:solidFill>
                <a:latin typeface="Georgia"/>
              </a:rPr>
              <a:t>"The scheme is paying for online hours that carry no trips: Rs 314 to Rs 260 per peak online hour at a flat Rs 165 fare. Part of it may be the monsoon. Test paying per completed peak trip with an acceptance floor: city-wide, it saves Rs 58 lakh to Rs 92.7 lakh over six weeks if a half to a fifth of the idle drivers' top-up is still paid. At the evening peak the city needs about 5,000 to 5,700 drivers online, and how often people ride could move that from 2,900 to 8,600."</a:t>
            </a:r>
          </a:p>
        </p:txBody>
      </p:sp>
      <p:sp>
        <p:nvSpPr>
          <p:cNvPr id="11" name="Rounded Rectangle 10"/>
          <p:cNvSpPr/>
          <p:nvPr/>
        </p:nvSpPr>
        <p:spPr>
          <a:xfrm>
            <a:off x="530352" y="3708400"/>
            <a:ext cx="11130991" cy="13411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676656" y="3836416"/>
            <a:ext cx="45720" cy="10850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77824" y="3827272"/>
            <a:ext cx="10564063" cy="1158240"/>
          </a:xfrm>
          <a:prstGeom prst="rect">
            <a:avLst/>
          </a:prstGeom>
          <a:noFill/>
        </p:spPr>
        <p:txBody>
          <a:bodyPr wrap="square" anchor="ctr" lIns="0" rIns="0" tIns="0" bIns="0">
            <a:spAutoFit/>
          </a:bodyPr>
          <a:lstStyle/>
          <a:p>
            <a:r>
              <a:rPr sz="1500" b="1">
                <a:solidFill>
                  <a:srgbClr val="5B3FD6"/>
                </a:solidFill>
                <a:latin typeface="Calibri"/>
              </a:rPr>
              <a:t>The lines to keep. </a:t>
            </a:r>
            <a:r>
              <a:rPr sz="1500" b="0" i="0">
                <a:solidFill>
                  <a:srgbClr val="1A1440"/>
                </a:solidFill>
                <a:latin typeface="Calibri"/>
              </a:rPr>
              <a:t>A slide carries one claim, one number with its denominator, the caveat in sight and the action with its cost. Name the denominator before the number. Answer an objection in four moves. Size a number in four steps, give the factor that drives the range, and check it like for like. Check in the same unit, period and definition.</a:t>
            </a:r>
          </a:p>
        </p:txBody>
      </p:sp>
      <p:sp>
        <p:nvSpPr>
          <p:cNvPr id="14" name="Rounded Rectangle 13"/>
          <p:cNvSpPr/>
          <p:nvPr/>
        </p:nvSpPr>
        <p:spPr>
          <a:xfrm>
            <a:off x="530352" y="5214112"/>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676656" y="5342128"/>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877824" y="5332984"/>
            <a:ext cx="10564063" cy="358140"/>
          </a:xfrm>
          <a:prstGeom prst="rect">
            <a:avLst/>
          </a:prstGeom>
          <a:noFill/>
        </p:spPr>
        <p:txBody>
          <a:bodyPr wrap="square" anchor="ctr" lIns="0" rIns="0" tIns="0" bIns="0">
            <a:spAutoFit/>
          </a:bodyPr>
          <a:lstStyle/>
          <a:p>
            <a:r>
              <a:rPr sz="1500" b="1">
                <a:solidFill>
                  <a:srgbClr val="5B3FD6"/>
                </a:solidFill>
                <a:latin typeface="Calibri"/>
              </a:rPr>
              <a:t>Tomorrow: </a:t>
            </a:r>
            <a:r>
              <a:rPr sz="1500" b="0" i="0">
                <a:solidFill>
                  <a:srgbClr val="1A1440"/>
                </a:solidFill>
                <a:latin typeface="Calibri"/>
              </a:rPr>
              <a:t>Swiggy Instamart's cart page in Pune, and a strip that suggests what goes with what.</a:t>
            </a:r>
          </a:p>
        </p:txBody>
      </p:sp>
      <p:sp>
        <p:nvSpPr>
          <p:cNvPr id="17" name="Oval 1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How big is the unknown?</a:t>
            </a:r>
          </a:p>
        </p:txBody>
      </p:sp>
      <p:sp>
        <p:nvSpPr>
          <p:cNvPr id="19" name="Oval 18"/>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217370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goes on one page?</a:t>
            </a:r>
          </a:p>
        </p:txBody>
      </p:sp>
      <p:sp>
        <p:nvSpPr>
          <p:cNvPr id="21" name="Oval 20"/>
          <p:cNvSpPr/>
          <p:nvPr/>
        </p:nvSpPr>
        <p:spPr>
          <a:xfrm>
            <a:off x="355158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3661314"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it sound like?</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S56  ·  27 / 27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