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15 seconds. Say once that this is Monday's illustrative Uber case, one day on, and that the</a:t>
            </a:r>
          </a:p>
          <a:p>
            <a:r>
              <a:t>deliverable today is the slide the city head takes to the review. The morning is a studio: build,</a:t>
            </a:r>
          </a:p>
          <a:p>
            <a:r>
              <a:t>present, take the objection, get scored, rebuild. The afternoon is a dojo: a number sized from</a:t>
            </a:r>
          </a:p>
          <a:p>
            <a:r>
              <a:t>nothing, under a clock, then checked. No new technique arrives today.</a:t>
            </a:r>
          </a:p>
          <a:p>
            <a:r>
              <a:t>Transition: the ticket, in full.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ticket top to bottom. Gross bookings are what riders paid for the trips,</a:t>
            </a:r>
          </a:p>
          <a:p>
            <a:r>
              <a:t>before Uber's share and before any top-up. An active driver-week is one driver with a row that</a:t>
            </a:r>
          </a:p>
          <a:p>
            <a:r>
              <a:t>week. Pause on the three reads of the same rupees: down, up, flat. Ask which of the three roles will</a:t>
            </a:r>
          </a:p>
          <a:p>
            <a:r>
              <a:t>quote which row; leave it open, chapter 2 answers it.</a:t>
            </a:r>
          </a:p>
          <a:p>
            <a:r>
              <a:t>Transition: where Tuesday sits on the week's map.</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Monday's node now carries the number the room produced and the decision it led to.</a:t>
            </a:r>
          </a:p>
          <a:p>
            <a:r>
              <a:t>Tuesday is lit; the days to the right stay dashed. Each chapter close today adds a line to Tuesday's</a:t>
            </a:r>
          </a:p>
          <a:p>
            <a:r>
              <a:t>node. The amber node is the TA lab, where the same studio runs on Kalpa Retail.</a:t>
            </a:r>
          </a:p>
          <a:p>
            <a:r>
              <a:t>Transition: where the day ends, so the room can see the climb.</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sentence once. The morning earns its four parts in order: the claim, one</a:t>
            </a:r>
          </a:p>
          <a:p>
            <a:r>
              <a:t>number with its denominator, the caveat, the action with its cost. The saving range is Monday's:</a:t>
            </a:r>
          </a:p>
          <a:p>
            <a:r>
              <a:t>Rs 1.16 crore went to driver-weeks that accepted under half their offers, and the range assumes a</a:t>
            </a:r>
          </a:p>
          <a:p>
            <a:r>
              <a:t>fifth to a half of that is still paid because those drivers start accepting.</a:t>
            </a:r>
          </a:p>
          <a:p>
            <a:r>
              <a:t>Transition: what each role loses, before anyone builds anything.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Cards hidden first. Groups of three spend 6 minutes listing what each role loses;</a:t>
            </a:r>
          </a:p>
          <a:p>
            <a:r>
              <a:t>take one loss per role from three groups and write them on the board (2 minutes), then show the</a:t>
            </a:r>
          </a:p>
          <a:p>
            <a:r>
              <a:t>cards (2 minutes). A loss the room names that the cards miss goes on the board as well: it will</a:t>
            </a:r>
          </a:p>
          <a:p>
            <a:r>
              <a:t>come back as an objection in chapter 2.</a:t>
            </a:r>
          </a:p>
          <a:p>
            <a:r>
              <a:t>Transition: chapter 1, the title is the claim.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45 minutes. Chapter 1 is L1 and L2 of the ladder: the title as the claim, and the</a:t>
            </a:r>
          </a:p>
          <a:p>
            <a:r>
              <a:t>denominator the slide names. Laptops closed until S13. Styles: Brilliant (the chapter opens on a</a:t>
            </a:r>
          </a:p>
          <a:p>
            <a:r>
              <a:t>question), Veritasium (predict, then reveal), StatQuest (the twelve rows summed aloud), Storytelling</a:t>
            </a:r>
          </a:p>
          <a:p>
            <a:r>
              <a:t>with Data and Minto (the makeover, the answer first). Explorer scene T1 runs beside S8 to S10 and</a:t>
            </a:r>
          </a:p>
          <a:p>
            <a:r>
              <a:t>scene T2 beside S14 and S15.</a:t>
            </a:r>
          </a:p>
          <a:p>
            <a:r>
              <a:t>Transition: a vote on four titles.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Hands for each letter, counts on the board. Expect votes on b, since it carries</a:t>
            </a:r>
          </a:p>
          <a:p>
            <a:r>
              <a:t>numbers. Say nothing about which is right.</a:t>
            </a:r>
          </a:p>
          <a:p>
            <a:r>
              <a:t>Transition: the hostel notice board.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two notices aloud. Then ask which of the four titles is like the first</a:t>
            </a:r>
          </a:p>
          <a:p>
            <a:r>
              <a:t>notice. Minto's site describes ideas organised as a pyramid under a single point</a:t>
            </a:r>
          </a:p>
          <a:p>
            <a:r>
              <a:t>(barbaraminto.com, checked 12 October 2026).</a:t>
            </a:r>
          </a:p>
          <a:p>
            <a:r>
              <a:t>Transition: the four parts a slide needs.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Build the board region by region: point at the anchor, then each part in order,</a:t>
            </a:r>
          </a:p>
          <a:p>
            <a:r>
              <a:t>then the pitfalls. This is the Week 1 four-part note (claim, evidence, caveat, action) made into one</a:t>
            </a:r>
          </a:p>
          <a:p>
            <a:r>
              <a:t>page.</a:t>
            </a:r>
          </a:p>
          <a:p>
            <a:r>
              <a:t>Transition: slide A, exactly as it arrived.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Give the room 30 seconds of silence with the slide, then ask what it is asking the</a:t>
            </a:r>
          </a:p>
          <a:p>
            <a:r>
              <a:t>city head to do. Every number here is Monday's. Explorer scene T1 starts from this slide.</a:t>
            </a:r>
          </a:p>
          <a:p>
            <a:r>
              <a:t>Transition: which two of the nine carry a claim.</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Each group writes one letter. Expect a split between a and b. The point of the</a:t>
            </a:r>
          </a:p>
          <a:p>
            <a:r>
              <a:t>vote is that a carries two true numbers and no claim, which is why the room reaches for it.</a:t>
            </a:r>
          </a:p>
          <a:p>
            <a:r>
              <a:t>Transition: the rebuild.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This is the worked example of the guided exercise: rebuild it with the room</a:t>
            </a:r>
          </a:p>
          <a:p>
            <a:r>
              <a:t>mirroring, part by part. Point at 1, 2, 3, 4 in order: the chart names its denominator in its title,</a:t>
            </a:r>
          </a:p>
          <a:p>
            <a:r>
              <a:t>the caveat sits beside the evidence, and the action states the saving with the assumption behind it. The drop lands in the launch week: the</a:t>
            </a:r>
          </a:p>
          <a:p>
            <a:r>
              <a:t>highest after week, Rs 271, sits below the lowest before week, Rs 310, which is why the chart, not</a:t>
            </a:r>
          </a:p>
          <a:p>
            <a:r>
              <a:t>the bar pair, is the evidence.</a:t>
            </a:r>
          </a:p>
          <a:p>
            <a:r>
              <a:t>Transition: two more slides, rebuilt by the groups.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Odd-numbered groups take slide B, even-numbered groups take slide C (next slide).</a:t>
            </a:r>
          </a:p>
          <a:p>
            <a:r>
              <a:t>Six minutes in total across S11 and S12 once both are on screen, then two groups read their</a:t>
            </a:r>
          </a:p>
          <a:p>
            <a:r>
              <a:t>rebuilt titles. The guided exercise file carries both slides.</a:t>
            </a:r>
          </a:p>
          <a:p>
            <a:r>
              <a:t>Transition: slide C.</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faded step: no drafted claim. Collect two titles. A strong one reads close</a:t>
            </a:r>
          </a:p>
          <a:p>
            <a:r>
              <a:t>to "180 drivers doubled their online hours while their trips fell": idle hours up 2.1 times</a:t>
            </a:r>
          </a:p>
          <a:p>
            <a:r>
              <a:t>(20,000 to 42,000), trips down 12 percent.</a:t>
            </a:r>
          </a:p>
          <a:p>
            <a:r>
              <a:t>Transition: the twelve rows, read in rupees.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week of 10 August against the week of 21 September. Count aloud, column by</a:t>
            </a:r>
          </a:p>
          <a:p>
            <a:r>
              <a:t>column: 60 and 74 hours, 114 and 88 trips, 18,810 and 14,520 rupees. Divide three times for each</a:t>
            </a:r>
          </a:p>
          <a:p>
            <a:r>
              <a:t>week and say the three verdicts. E and F are Monday's two idle-tail drivers, which is why six</a:t>
            </a:r>
          </a:p>
          <a:p>
            <a:r>
              <a:t>drivers fall further than the city.</a:t>
            </a:r>
          </a:p>
          <a:p>
            <a:r>
              <a:t>Transition: the same arithmetic as a picture.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Per driver-week here means per active driver-week. On six drivers the per-driver-week read fell, because the six are the same six in</a:t>
            </a:r>
          </a:p>
          <a:p>
            <a:r>
              <a:t>both weeks. The city's driver-weeks move. Each learner writes a letter.</a:t>
            </a:r>
          </a:p>
          <a:p>
            <a:r>
              <a:t>Transition: the reveal.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Trace the violet line first: a step at the launch, then flat. The amber line rises</a:t>
            </a:r>
          </a:p>
          <a:p>
            <a:r>
              <a:t>and then slides below 100 by the last week, so even the window's 0.8 percent rise hides a weekly</a:t>
            </a:r>
          </a:p>
          <a:p>
            <a:r>
              <a:t>slide. Ask which role will quote the amber line. Expect the marketing lead. Explorer scene T2 lets</a:t>
            </a:r>
          </a:p>
          <a:p>
            <a:r>
              <a:t>learners pick the denominator.</a:t>
            </a:r>
          </a:p>
          <a:p>
            <a:r>
              <a:t>Transition: the trap in that amber line.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Write the three growth rates on the board: bookings 3.0, driver-weeks 2.2, ratio</a:t>
            </a:r>
          </a:p>
          <a:p>
            <a:r>
              <a:t>0.8. An active driver-week is a driver with a row that week, never a sign-up to the guarantee.</a:t>
            </a:r>
          </a:p>
          <a:p>
            <a:r>
              <a:t>Transition: the second route to the same number.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notebook asserts the two routes agree to the paisa. Say it as one line the</a:t>
            </a:r>
          </a:p>
          <a:p>
            <a:r>
              <a:t>slide's owner can repeat: the fare held, the trips per hour fell.</a:t>
            </a:r>
          </a:p>
          <a:p>
            <a:r>
              <a:t>Transition: what chapter 1 adds to Tuesday's node.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Ask two learners to say the plain sentence aloud without the slide.</a:t>
            </a:r>
          </a:p>
          <a:p>
            <a:r>
              <a:t>Transition: chapter 2, the objections.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50 minutes. Chapter 2 is L3 of the ladder, with round one of the studio as L5 practice.</a:t>
            </a:r>
          </a:p>
          <a:p>
            <a:r>
              <a:t>Styles: Veritasium (predict which role the city head sides with), the case method (Monday's three</a:t>
            </a:r>
          </a:p>
          <a:p>
            <a:r>
              <a:t>roles return, each partly right), peer instruction (the vote and the revote).</a:t>
            </a:r>
          </a:p>
          <a:p>
            <a:r>
              <a:t>Transition: the prediction.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Vote, two minutes with a neighbour, revote. Count both votes on the board.</a:t>
            </a:r>
          </a:p>
          <a:p>
            <a:r>
              <a:t>Transition: the true part of each.</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One row at a time. Every number here is Monday's or is computed from Monday's</a:t>
            </a:r>
          </a:p>
          <a:p>
            <a:r>
              <a:t>tables in the facts file: the 1,020 are the 1,200 drivers less the idle tail.</a:t>
            </a:r>
          </a:p>
          <a:p>
            <a:r>
              <a:t>Transition: the shape a defence takes.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scorer in each three holds a card with these four moves and ticks each one</a:t>
            </a:r>
          </a:p>
          <a:p>
            <a:r>
              <a:t>it hears; it never scores the final number.</a:t>
            </a:r>
          </a:p>
          <a:p>
            <a:r>
              <a:t>Transition: two ways to get it wrong.</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both defences in character. The Kahoot's trap item asks whether the best</a:t>
            </a:r>
          </a:p>
          <a:p>
            <a:r>
              <a:t>defence never concedes anything; it is false.</a:t>
            </a:r>
          </a:p>
          <a:p>
            <a:r>
              <a:t>Transition: one full defence, modelled.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8 minutes. The trainer models this defence first, conceding on purpose, then points at each</a:t>
            </a:r>
          </a:p>
          <a:p>
            <a:r>
              <a:t>move on the S21 card. Every number is Monday's L4 cut, from the facts file.</a:t>
            </a:r>
          </a:p>
          <a:p>
            <a:r>
              <a:t>Transition: round one of the studio.</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23 minutes. Two minutes to form threes and hand out cards, then 3 x 7. Thirty-five learners</a:t>
            </a:r>
          </a:p>
          <a:p>
            <a:r>
              <a:t>make eleven threes and one pair; in the pair a TA takes the objector seat. Walk the room; note one</a:t>
            </a:r>
          </a:p>
          <a:p>
            <a:r>
              <a:t>strong concession and one retreat to use on S25.</a:t>
            </a:r>
          </a:p>
          <a:p>
            <a:r>
              <a:t>Transition: the pause after round one.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Name one example of each from the round, without names. Then the break.</a:t>
            </a:r>
          </a:p>
          <a:p>
            <a:r>
              <a:t>Transition: break, 10 minutes, then chapter 3.</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20 minutes. Chapter 3 is L4 of the ladder. Styles: Veritasium (predict where a caveat goes),</a:t>
            </a:r>
          </a:p>
          <a:p>
            <a:r>
              <a:t>the case method (Amazon's memo as the opposite rule), Minto (one appendix page answers one</a:t>
            </a:r>
          </a:p>
          <a:p>
            <a:r>
              <a:t>question). The mid-session drill, cut five elements to two, runs on S30.</a:t>
            </a:r>
          </a:p>
          <a:p>
            <a:r>
              <a:t>Transition: a prediction.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Letters on paper. Expect some votes for a, since caveats feel like detail.</a:t>
            </a:r>
          </a:p>
          <a:p>
            <a:r>
              <a:t>Transition: the answer, and the drawer it goes in.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trap here is a caveat in the drawer. Walk the three pages and ask what each</a:t>
            </a:r>
          </a:p>
          <a:p>
            <a:r>
              <a:t>role's page must hold. The common wrong answer in an interview is "I put everything in the</a:t>
            </a:r>
          </a:p>
          <a:p>
            <a:r>
              <a:t>appendix".</a:t>
            </a:r>
          </a:p>
          <a:p>
            <a:r>
              <a:t>Transition: a company that bans slides.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Ask: which is better for Thursday, a slide or a memo? There is no single answer:</a:t>
            </a:r>
          </a:p>
          <a:p>
            <a:r>
              <a:t>the afternoon's written case is the memo form of this morning's slide.</a:t>
            </a:r>
          </a:p>
          <a:p>
            <a:r>
              <a:t>Transition: the drill.</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This is mid-session drill 1, in exercises/unguided. Four minutes alone, two</a:t>
            </a:r>
          </a:p>
          <a:p>
            <a:r>
              <a:t>minutes comparing with a neighbour. Expect the 24 percent line kept by some: ask what claim it</a:t>
            </a:r>
          </a:p>
          <a:p>
            <a:r>
              <a:t>supports.</a:t>
            </a:r>
          </a:p>
          <a:p>
            <a:r>
              <a:t>Transition: what chapter 3 adds.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learner says the slide's four parts and the three appendix headings from</a:t>
            </a:r>
          </a:p>
          <a:p>
            <a:r>
              <a:t>memory.</a:t>
            </a:r>
          </a:p>
          <a:p>
            <a:r>
              <a:t>Transition: round two of the studio.</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38 minutes. Three minutes to set up, 3 x 7 = 21 minutes of rounds, 8 minutes to rebuild,</a:t>
            </a:r>
          </a:p>
          <a:p>
            <a:r>
              <a:t>6 minutes for two groups to present their final slide to the room. Hold the slides for the</a:t>
            </a:r>
          </a:p>
          <a:p>
            <a:r>
              <a:t>afternoon gallery.</a:t>
            </a:r>
          </a:p>
          <a:p>
            <a:r>
              <a:t>Transition: where the morning ends.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three cards. Lunch.</a:t>
            </a:r>
          </a:p>
          <a:p>
            <a:r>
              <a:t>Transition: half two, the dojo.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xml"/><Relationship Id="rId5" Type="http://schemas.openxmlformats.org/officeDocument/2006/relationships/image" Target="../media/image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 Id="rId5"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0.xml"/><Relationship Id="rId5" Type="http://schemas.openxmlformats.org/officeDocument/2006/relationships/image" Target="../media/image1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1.xml"/><Relationship Id="rId5" Type="http://schemas.openxmlformats.org/officeDocument/2006/relationships/image" Target="../media/image1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4.xml"/><Relationship Id="rId5" Type="http://schemas.openxmlformats.org/officeDocument/2006/relationships/image" Target="../media/image13.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notesSlide" Target="../notesSlides/notesSlide3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4518518"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4  ·  TUESDAY  ·  MORNING, 180 MINUTES</a:t>
            </a:r>
          </a:p>
        </p:txBody>
      </p:sp>
      <p:sp>
        <p:nvSpPr>
          <p:cNvPr id="8" name="TextBox 7"/>
          <p:cNvSpPr txBox="1"/>
          <p:nvPr/>
        </p:nvSpPr>
        <p:spPr>
          <a:xfrm>
            <a:off x="621792" y="2807208"/>
            <a:ext cx="10582351" cy="1291336"/>
          </a:xfrm>
          <a:prstGeom prst="rect">
            <a:avLst/>
          </a:prstGeom>
          <a:noFill/>
        </p:spPr>
        <p:txBody>
          <a:bodyPr wrap="square" anchor="t" lIns="0" rIns="0" tIns="0" bIns="0">
            <a:spAutoFit/>
          </a:bodyPr>
          <a:lstStyle/>
          <a:p>
            <a:pPr algn="l"/>
            <a:r>
              <a:rPr sz="3800" b="0" i="0">
                <a:solidFill>
                  <a:srgbClr val="FFFFFF"/>
                </a:solidFill>
                <a:latin typeface="Georgia"/>
              </a:rPr>
              <a:t>Can the redesign survive one slide in front of three people who lose under it?</a:t>
            </a:r>
          </a:p>
        </p:txBody>
      </p:sp>
      <p:sp>
        <p:nvSpPr>
          <p:cNvPr id="9" name="TextBox 8"/>
          <p:cNvSpPr txBox="1"/>
          <p:nvPr/>
        </p:nvSpPr>
        <p:spPr>
          <a:xfrm>
            <a:off x="621792" y="4263136"/>
            <a:ext cx="10033711" cy="977645"/>
          </a:xfrm>
          <a:prstGeom prst="rect">
            <a:avLst/>
          </a:prstGeom>
          <a:noFill/>
        </p:spPr>
        <p:txBody>
          <a:bodyPr wrap="square" anchor="t" lIns="0" rIns="0" tIns="0" bIns="0">
            <a:spAutoFit/>
          </a:bodyPr>
          <a:lstStyle/>
          <a:p>
            <a:pPr algn="l"/>
            <a:r>
              <a:rPr sz="1900" b="0" i="1">
                <a:solidFill>
                  <a:srgbClr val="D9A7FF"/>
                </a:solidFill>
                <a:latin typeface="Georgia"/>
              </a:rPr>
              <a:t>“One slide, five minutes, at Thursday's city review. The driver-operations lead, the marketing lead and the finance partner will be in the room, and each loses something under the redesign.”</a:t>
            </a:r>
          </a:p>
        </p:txBody>
      </p:sp>
      <p:sp>
        <p:nvSpPr>
          <p:cNvPr id="10" name="TextBox 9"/>
          <p:cNvSpPr txBox="1"/>
          <p:nvPr/>
        </p:nvSpPr>
        <p:spPr>
          <a:xfrm>
            <a:off x="621792" y="5295646"/>
            <a:ext cx="10033711" cy="218186"/>
          </a:xfrm>
          <a:prstGeom prst="rect">
            <a:avLst/>
          </a:prstGeom>
          <a:noFill/>
        </p:spPr>
        <p:txBody>
          <a:bodyPr wrap="square" anchor="t" lIns="0" rIns="0" tIns="0" bIns="0">
            <a:spAutoFit/>
          </a:bodyPr>
          <a:lstStyle/>
          <a:p>
            <a:pPr algn="l"/>
            <a:r>
              <a:rPr sz="1100" b="0" i="0">
                <a:solidFill>
                  <a:srgbClr val="CFC9EE"/>
                </a:solidFill>
                <a:latin typeface="Calibri"/>
              </a:rPr>
              <a:t>The Hyderabad city head, Uber, to the analyst who built Monday's definition</a:t>
            </a:r>
          </a:p>
        </p:txBody>
      </p:sp>
      <p:sp>
        <p:nvSpPr>
          <p:cNvPr id="11" name="TextBox 10"/>
          <p:cNvSpPr txBox="1"/>
          <p:nvPr/>
        </p:nvSpPr>
        <p:spPr>
          <a:xfrm>
            <a:off x="621792"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870448"/>
            <a:ext cx="1484185" cy="185166"/>
          </a:xfrm>
          <a:prstGeom prst="rect">
            <a:avLst/>
          </a:prstGeom>
          <a:noFill/>
        </p:spPr>
        <p:txBody>
          <a:bodyPr wrap="square" anchor="t" lIns="0" rIns="0" tIns="0" bIns="0">
            <a:spAutoFit/>
          </a:bodyPr>
          <a:lstStyle/>
          <a:p>
            <a:pPr algn="l"/>
            <a:r>
              <a:rPr sz="900" b="0" i="0">
                <a:solidFill>
                  <a:srgbClr val="FFFFFF"/>
                </a:solidFill>
                <a:latin typeface="Calibri"/>
              </a:rPr>
              <a:t>What is the one claim?</a:t>
            </a:r>
          </a:p>
        </p:txBody>
      </p:sp>
      <p:sp>
        <p:nvSpPr>
          <p:cNvPr id="13" name="TextBox 12"/>
          <p:cNvSpPr txBox="1"/>
          <p:nvPr/>
        </p:nvSpPr>
        <p:spPr>
          <a:xfrm>
            <a:off x="2672905"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3056953" y="5870448"/>
            <a:ext cx="1484185" cy="185166"/>
          </a:xfrm>
          <a:prstGeom prst="rect">
            <a:avLst/>
          </a:prstGeom>
          <a:noFill/>
        </p:spPr>
        <p:txBody>
          <a:bodyPr wrap="square" anchor="t" lIns="0" rIns="0" tIns="0" bIns="0">
            <a:spAutoFit/>
          </a:bodyPr>
          <a:lstStyle/>
          <a:p>
            <a:pPr algn="l"/>
            <a:r>
              <a:rPr sz="900" b="0" i="0">
                <a:solidFill>
                  <a:srgbClr val="FFFFFF"/>
                </a:solidFill>
                <a:latin typeface="Calibri"/>
              </a:rPr>
              <a:t>Which objection holds?</a:t>
            </a:r>
          </a:p>
        </p:txBody>
      </p:sp>
      <p:sp>
        <p:nvSpPr>
          <p:cNvPr id="15" name="TextBox 14"/>
          <p:cNvSpPr txBox="1"/>
          <p:nvPr/>
        </p:nvSpPr>
        <p:spPr>
          <a:xfrm>
            <a:off x="4724019"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5108067" y="5870448"/>
            <a:ext cx="1484185" cy="185166"/>
          </a:xfrm>
          <a:prstGeom prst="rect">
            <a:avLst/>
          </a:prstGeom>
          <a:noFill/>
        </p:spPr>
        <p:txBody>
          <a:bodyPr wrap="square" anchor="t" lIns="0" rIns="0" tIns="0" bIns="0">
            <a:spAutoFit/>
          </a:bodyPr>
          <a:lstStyle/>
          <a:p>
            <a:pPr algn="l"/>
            <a:r>
              <a:rPr sz="900" b="0" i="0">
                <a:solidFill>
                  <a:srgbClr val="FFFFFF"/>
                </a:solidFill>
                <a:latin typeface="Calibri"/>
              </a:rPr>
              <a:t>What leaves the slide?</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2. Can the redesign survive one slide in front of three people who lose under it?</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36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ticket: one slide, five minutes, three objectors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has the city head asked for, and which number will land first?</a:t>
            </a:r>
          </a:p>
        </p:txBody>
      </p:sp>
      <p:sp>
        <p:nvSpPr>
          <p:cNvPr id="9" name="TextBox 8"/>
          <p:cNvSpPr txBox="1"/>
          <p:nvPr/>
        </p:nvSpPr>
        <p:spPr>
          <a:xfrm>
            <a:off x="530352" y="1682496"/>
            <a:ext cx="5291175" cy="1670304"/>
          </a:xfrm>
          <a:prstGeom prst="rect">
            <a:avLst/>
          </a:prstGeom>
          <a:noFill/>
        </p:spPr>
        <p:txBody>
          <a:bodyPr wrap="square" anchor="t" lIns="0" rIns="0" tIns="0" bIns="0">
            <a:spAutoFit/>
          </a:bodyPr>
          <a:lstStyle/>
          <a:p>
            <a:pPr>
              <a:spcAft>
                <a:spcPts val="700"/>
              </a:spcAft>
            </a:pPr>
            <a:r>
              <a:rPr sz="1400" b="1" i="0">
                <a:solidFill>
                  <a:srgbClr val="1A1440"/>
                </a:solidFill>
                <a:latin typeface="Calibri"/>
              </a:rPr>
              <a:t>Uber, Hyderabad, the driver app's peak-hour earnings guarantee, one day on.</a:t>
            </a:r>
            <a:r>
              <a:rPr sz="1400" b="0" i="0">
                <a:solidFill>
                  <a:srgbClr val="1A1440"/>
                </a:solidFill>
                <a:latin typeface="Calibri"/>
              </a:rPr>
              <a:t> The city head takes the redesign to Thursday's city review on one slide, in five minutes, with the driver-operations lead, the marketing lead and the finance partner in the room. Each loses something under the redesign and each will say so.</a:t>
            </a:r>
          </a:p>
        </p:txBody>
      </p:sp>
      <p:graphicFrame>
        <p:nvGraphicFramePr>
          <p:cNvPr id="10" name="Table 9"/>
          <p:cNvGraphicFramePr>
            <a:graphicFrameLocks noGrp="1"/>
          </p:cNvGraphicFramePr>
          <p:nvPr/>
        </p:nvGraphicFramePr>
        <p:xfrm>
          <a:off x="530352" y="3480816"/>
          <a:ext cx="5291175" cy="2194560"/>
        </p:xfrm>
        <a:graphic>
          <a:graphicData uri="http://schemas.openxmlformats.org/drawingml/2006/table">
            <a:tbl>
              <a:tblPr firstRow="0" bandRow="0">
                <a:tableStyleId>{2D5ABB26-0587-4C30-8999-92F81FD0307C}</a:tableStyleId>
              </a:tblPr>
              <a:tblGrid>
                <a:gridCol w="1789522"/>
                <a:gridCol w="1243836"/>
                <a:gridCol w="1343417"/>
                <a:gridCol w="914400"/>
              </a:tblGrid>
              <a:tr h="438912">
                <a:tc>
                  <a:txBody>
                    <a:bodyPr/>
                    <a:lstStyle/>
                    <a:p>
                      <a:r>
                        <a:rPr sz="950" b="1" i="0">
                          <a:solidFill>
                            <a:srgbClr val="FFFFFF"/>
                          </a:solidFill>
                          <a:latin typeface="Calibri"/>
                        </a:rPr>
                        <a:t>The number the slide must explain</a:t>
                      </a:r>
                    </a:p>
                  </a:txBody>
                  <a:tcPr marL="101600" marR="101600" marT="38100" marB="38100" anchor="ctr">
                    <a:solidFill>
                      <a:srgbClr val="1A0F5C"/>
                    </a:solidFill>
                  </a:tcPr>
                </a:tc>
                <a:tc>
                  <a:txBody>
                    <a:bodyPr/>
                    <a:lstStyle/>
                    <a:p>
                      <a:r>
                        <a:rPr sz="950" b="1" i="0">
                          <a:solidFill>
                            <a:srgbClr val="FFFFFF"/>
                          </a:solidFill>
                          <a:latin typeface="Calibri"/>
                        </a:rPr>
                        <a:t>Six weeks from 20 July</a:t>
                      </a:r>
                    </a:p>
                  </a:txBody>
                  <a:tcPr marL="101600" marR="101600" marT="38100" marB="38100" anchor="ctr">
                    <a:solidFill>
                      <a:srgbClr val="1A0F5C"/>
                    </a:solidFill>
                  </a:tcPr>
                </a:tc>
                <a:tc>
                  <a:txBody>
                    <a:bodyPr/>
                    <a:lstStyle/>
                    <a:p>
                      <a:r>
                        <a:rPr sz="950" b="1" i="0">
                          <a:solidFill>
                            <a:srgbClr val="FFFFFF"/>
                          </a:solidFill>
                          <a:latin typeface="Calibri"/>
                        </a:rPr>
                        <a:t>Six weeks from 31 August</a:t>
                      </a:r>
                    </a:p>
                  </a:txBody>
                  <a:tcPr marL="101600" marR="101600" marT="38100" marB="38100" anchor="ctr">
                    <a:solidFill>
                      <a:srgbClr val="1A0F5C"/>
                    </a:solidFill>
                  </a:tcPr>
                </a:tc>
                <a:tc>
                  <a:txBody>
                    <a:bodyPr/>
                    <a:lstStyle/>
                    <a:p>
                      <a:r>
                        <a:rPr sz="950" b="1" i="0">
                          <a:solidFill>
                            <a:srgbClr val="FFFFFF"/>
                          </a:solidFill>
                          <a:latin typeface="Calibri"/>
                        </a:rPr>
                        <a:t>Change</a:t>
                      </a:r>
                    </a:p>
                  </a:txBody>
                  <a:tcPr marL="101600" marR="101600" marT="38100" marB="38100" anchor="ctr">
                    <a:solidFill>
                      <a:srgbClr val="1A0F5C"/>
                    </a:solidFill>
                  </a:tcPr>
                </a:tc>
              </a:tr>
              <a:tr h="438912">
                <a:tc>
                  <a:txBody>
                    <a:bodyPr/>
                    <a:lstStyle/>
                    <a:p>
                      <a:r>
                        <a:rPr sz="900" b="0" i="0">
                          <a:solidFill>
                            <a:srgbClr val="1A1440"/>
                          </a:solidFill>
                          <a:latin typeface="Calibri"/>
                        </a:rPr>
                        <a:t>Gross bookings per peak online hour</a:t>
                      </a:r>
                    </a:p>
                  </a:txBody>
                  <a:tcPr marL="101600" marR="101600" marT="38100" marB="38100" anchor="ctr">
                    <a:solidFill>
                      <a:srgbClr val="FFFFFF"/>
                    </a:solidFill>
                  </a:tcPr>
                </a:tc>
                <a:tc>
                  <a:txBody>
                    <a:bodyPr/>
                    <a:lstStyle/>
                    <a:p>
                      <a:r>
                        <a:rPr sz="900" b="0" i="0">
                          <a:solidFill>
                            <a:srgbClr val="1A1440"/>
                          </a:solidFill>
                          <a:latin typeface="Calibri"/>
                        </a:rPr>
                        <a:t>Rs 314</a:t>
                      </a:r>
                    </a:p>
                  </a:txBody>
                  <a:tcPr marL="101600" marR="101600" marT="38100" marB="38100" anchor="ctr">
                    <a:solidFill>
                      <a:srgbClr val="FFFFFF"/>
                    </a:solidFill>
                  </a:tcPr>
                </a:tc>
                <a:tc>
                  <a:txBody>
                    <a:bodyPr/>
                    <a:lstStyle/>
                    <a:p>
                      <a:r>
                        <a:rPr sz="900" b="0" i="0">
                          <a:solidFill>
                            <a:srgbClr val="1A1440"/>
                          </a:solidFill>
                          <a:latin typeface="Calibri"/>
                        </a:rPr>
                        <a:t>Rs 260</a:t>
                      </a:r>
                    </a:p>
                  </a:txBody>
                  <a:tcPr marL="101600" marR="101600" marT="38100" marB="38100" anchor="ctr">
                    <a:solidFill>
                      <a:srgbClr val="FFFFFF"/>
                    </a:solidFill>
                  </a:tcPr>
                </a:tc>
                <a:tc>
                  <a:txBody>
                    <a:bodyPr/>
                    <a:lstStyle/>
                    <a:p>
                      <a:r>
                        <a:rPr sz="900" b="0" i="0">
                          <a:solidFill>
                            <a:srgbClr val="1A1440"/>
                          </a:solidFill>
                          <a:latin typeface="Calibri"/>
                        </a:rPr>
                        <a:t>down 17 percent</a:t>
                      </a:r>
                    </a:p>
                  </a:txBody>
                  <a:tcPr marL="101600" marR="101600" marT="38100" marB="38100" anchor="ctr">
                    <a:solidFill>
                      <a:srgbClr val="FFFFFF"/>
                    </a:solidFill>
                  </a:tcPr>
                </a:tc>
              </a:tr>
              <a:tr h="438912">
                <a:tc>
                  <a:txBody>
                    <a:bodyPr/>
                    <a:lstStyle/>
                    <a:p>
                      <a:r>
                        <a:rPr sz="900" b="0" i="0">
                          <a:solidFill>
                            <a:srgbClr val="1A1440"/>
                          </a:solidFill>
                          <a:latin typeface="Calibri"/>
                        </a:rPr>
                        <a:t>Average peak fare (bookings per trip)</a:t>
                      </a:r>
                    </a:p>
                  </a:txBody>
                  <a:tcPr marL="101600" marR="101600" marT="38100" marB="38100" anchor="ctr">
                    <a:solidFill>
                      <a:srgbClr val="F4F2FA"/>
                    </a:solidFill>
                  </a:tcPr>
                </a:tc>
                <a:tc>
                  <a:txBody>
                    <a:bodyPr/>
                    <a:lstStyle/>
                    <a:p>
                      <a:r>
                        <a:rPr sz="900" b="0" i="0">
                          <a:solidFill>
                            <a:srgbClr val="1A1440"/>
                          </a:solidFill>
                          <a:latin typeface="Calibri"/>
                        </a:rPr>
                        <a:t>Rs 165</a:t>
                      </a:r>
                    </a:p>
                  </a:txBody>
                  <a:tcPr marL="101600" marR="101600" marT="38100" marB="38100" anchor="ctr">
                    <a:solidFill>
                      <a:srgbClr val="F4F2FA"/>
                    </a:solidFill>
                  </a:tcPr>
                </a:tc>
                <a:tc>
                  <a:txBody>
                    <a:bodyPr/>
                    <a:lstStyle/>
                    <a:p>
                      <a:r>
                        <a:rPr sz="900" b="0" i="0">
                          <a:solidFill>
                            <a:srgbClr val="1A1440"/>
                          </a:solidFill>
                          <a:latin typeface="Calibri"/>
                        </a:rPr>
                        <a:t>Rs 165</a:t>
                      </a:r>
                    </a:p>
                  </a:txBody>
                  <a:tcPr marL="101600" marR="101600" marT="38100" marB="38100" anchor="ctr">
                    <a:solidFill>
                      <a:srgbClr val="F4F2FA"/>
                    </a:solidFill>
                  </a:tcPr>
                </a:tc>
                <a:tc>
                  <a:txBody>
                    <a:bodyPr/>
                    <a:lstStyle/>
                    <a:p>
                      <a:r>
                        <a:rPr sz="900" b="0" i="0">
                          <a:solidFill>
                            <a:srgbClr val="1A1440"/>
                          </a:solidFill>
                          <a:latin typeface="Calibri"/>
                        </a:rPr>
                        <a:t>flat</a:t>
                      </a:r>
                    </a:p>
                  </a:txBody>
                  <a:tcPr marL="101600" marR="101600" marT="38100" marB="38100" anchor="ctr">
                    <a:solidFill>
                      <a:srgbClr val="F4F2FA"/>
                    </a:solidFill>
                  </a:tcPr>
                </a:tc>
              </a:tr>
              <a:tr h="438912">
                <a:tc>
                  <a:txBody>
                    <a:bodyPr/>
                    <a:lstStyle/>
                    <a:p>
                      <a:r>
                        <a:rPr sz="900" b="0" i="0">
                          <a:solidFill>
                            <a:srgbClr val="1A1440"/>
                          </a:solidFill>
                          <a:latin typeface="Calibri"/>
                        </a:rPr>
                        <a:t>Gross bookings per active driver-week</a:t>
                      </a:r>
                    </a:p>
                  </a:txBody>
                  <a:tcPr marL="101600" marR="101600" marT="38100" marB="38100" anchor="ctr">
                    <a:solidFill>
                      <a:srgbClr val="FFFFFF"/>
                    </a:solidFill>
                  </a:tcPr>
                </a:tc>
                <a:tc>
                  <a:txBody>
                    <a:bodyPr/>
                    <a:lstStyle/>
                    <a:p>
                      <a:r>
                        <a:rPr sz="900" b="0" i="0">
                          <a:solidFill>
                            <a:srgbClr val="1A1440"/>
                          </a:solidFill>
                          <a:latin typeface="Calibri"/>
                        </a:rPr>
                        <a:t>Rs 5,817</a:t>
                      </a:r>
                    </a:p>
                  </a:txBody>
                  <a:tcPr marL="101600" marR="101600" marT="38100" marB="38100" anchor="ctr">
                    <a:solidFill>
                      <a:srgbClr val="FFFFFF"/>
                    </a:solidFill>
                  </a:tcPr>
                </a:tc>
                <a:tc>
                  <a:txBody>
                    <a:bodyPr/>
                    <a:lstStyle/>
                    <a:p>
                      <a:r>
                        <a:rPr sz="900" b="0" i="0">
                          <a:solidFill>
                            <a:srgbClr val="1A1440"/>
                          </a:solidFill>
                          <a:latin typeface="Calibri"/>
                        </a:rPr>
                        <a:t>Rs 5,861</a:t>
                      </a:r>
                    </a:p>
                  </a:txBody>
                  <a:tcPr marL="101600" marR="101600" marT="38100" marB="38100" anchor="ctr">
                    <a:solidFill>
                      <a:srgbClr val="FFFFFF"/>
                    </a:solidFill>
                  </a:tcPr>
                </a:tc>
                <a:tc>
                  <a:txBody>
                    <a:bodyPr/>
                    <a:lstStyle/>
                    <a:p>
                      <a:r>
                        <a:rPr sz="900" b="0" i="0">
                          <a:solidFill>
                            <a:srgbClr val="1A1440"/>
                          </a:solidFill>
                          <a:latin typeface="Calibri"/>
                        </a:rPr>
                        <a:t>up 0.8 percent</a:t>
                      </a:r>
                    </a:p>
                  </a:txBody>
                  <a:tcPr marL="101600" marR="101600" marT="38100" marB="38100" anchor="ctr">
                    <a:solidFill>
                      <a:srgbClr val="FFFFFF"/>
                    </a:solidFill>
                  </a:tcPr>
                </a:tc>
              </a:tr>
              <a:tr h="438912">
                <a:tc>
                  <a:txBody>
                    <a:bodyPr/>
                    <a:lstStyle/>
                    <a:p>
                      <a:r>
                        <a:rPr sz="900" b="0" i="0">
                          <a:solidFill>
                            <a:srgbClr val="1A1440"/>
                          </a:solidFill>
                          <a:latin typeface="Calibri"/>
                        </a:rPr>
                        <a:t>Peak online hours</a:t>
                      </a:r>
                    </a:p>
                  </a:txBody>
                  <a:tcPr marL="101600" marR="101600" marT="38100" marB="38100" anchor="ctr">
                    <a:solidFill>
                      <a:srgbClr val="F4F2FA"/>
                    </a:solidFill>
                  </a:tcPr>
                </a:tc>
                <a:tc>
                  <a:txBody>
                    <a:bodyPr/>
                    <a:lstStyle/>
                    <a:p>
                      <a:r>
                        <a:rPr sz="900" b="0" i="0">
                          <a:solidFill>
                            <a:srgbClr val="1A1440"/>
                          </a:solidFill>
                          <a:latin typeface="Calibri"/>
                        </a:rPr>
                        <a:t>1,18,000</a:t>
                      </a:r>
                    </a:p>
                  </a:txBody>
                  <a:tcPr marL="101600" marR="101600" marT="38100" marB="38100" anchor="ctr">
                    <a:solidFill>
                      <a:srgbClr val="F4F2FA"/>
                    </a:solidFill>
                  </a:tcPr>
                </a:tc>
                <a:tc>
                  <a:txBody>
                    <a:bodyPr/>
                    <a:lstStyle/>
                    <a:p>
                      <a:r>
                        <a:rPr sz="900" b="0" i="0">
                          <a:solidFill>
                            <a:srgbClr val="1A1440"/>
                          </a:solidFill>
                          <a:latin typeface="Calibri"/>
                        </a:rPr>
                        <a:t>1,46,300</a:t>
                      </a:r>
                    </a:p>
                  </a:txBody>
                  <a:tcPr marL="101600" marR="101600" marT="38100" marB="38100" anchor="ctr">
                    <a:solidFill>
                      <a:srgbClr val="F4F2FA"/>
                    </a:solidFill>
                  </a:tcPr>
                </a:tc>
                <a:tc>
                  <a:txBody>
                    <a:bodyPr/>
                    <a:lstStyle/>
                    <a:p>
                      <a:r>
                        <a:rPr sz="900" b="0" i="0">
                          <a:solidFill>
                            <a:srgbClr val="1A1440"/>
                          </a:solidFill>
                          <a:latin typeface="Calibri"/>
                        </a:rPr>
                        <a:t>up 24 percent</a:t>
                      </a:r>
                    </a:p>
                  </a:txBody>
                  <a:tcPr marL="101600" marR="101600" marT="38100" marB="38100" anchor="ctr">
                    <a:solidFill>
                      <a:srgbClr val="F4F2FA"/>
                    </a:solidFill>
                  </a:tcPr>
                </a:tc>
              </a:tr>
            </a:tbl>
          </a:graphicData>
        </a:graphic>
      </p:graphicFrame>
      <p:sp>
        <p:nvSpPr>
          <p:cNvPr id="11" name="Rounded Rectangle 10"/>
          <p:cNvSpPr/>
          <p:nvPr/>
        </p:nvSpPr>
        <p:spPr>
          <a:xfrm>
            <a:off x="6370167" y="1682496"/>
            <a:ext cx="5291175" cy="2585719"/>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516471" y="1810512"/>
            <a:ext cx="45720" cy="2329687"/>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717639" y="1801368"/>
            <a:ext cx="4724247" cy="2402839"/>
          </a:xfrm>
          <a:prstGeom prst="rect">
            <a:avLst/>
          </a:prstGeom>
          <a:noFill/>
        </p:spPr>
        <p:txBody>
          <a:bodyPr wrap="square" anchor="ctr" lIns="0" rIns="0" tIns="0" bIns="0">
            <a:spAutoFit/>
          </a:bodyPr>
          <a:lstStyle/>
          <a:p>
            <a:r>
              <a:rPr sz="1300" b="1">
                <a:solidFill>
                  <a:srgbClr val="5B3FD6"/>
                </a:solidFill>
                <a:latin typeface="Calibri"/>
              </a:rPr>
              <a:t>Data. </a:t>
            </a:r>
            <a:r>
              <a:rPr sz="1300" b="0" i="0">
                <a:solidFill>
                  <a:srgbClr val="1A1440"/>
                </a:solidFill>
                <a:latin typeface="Calibri"/>
              </a:rPr>
              <a:t>Monday's tables: driver_weeks (one row per driver per week, with peak_online_hours, peak_trips, peak_bookings_rs, topup_rs) and zone_weeks (rider requests and median wait by zone and week). </a:t>
            </a:r>
            <a:r>
              <a:rPr sz="1300" b="1" i="0">
                <a:solidFill>
                  <a:srgbClr val="1A1440"/>
                </a:solidFill>
                <a:latin typeface="Calibri"/>
              </a:rPr>
              <a:t>The afternoon ask.</a:t>
            </a:r>
            <a:r>
              <a:rPr sz="1300" b="0" i="0">
                <a:solidFill>
                  <a:srgbClr val="1A1440"/>
                </a:solidFill>
                <a:latin typeface="Calibri"/>
              </a:rPr>
              <a:t> Roughly how many drivers must be online at the weekday evening peak to keep the median rider wait under five minutes, in fifteen minutes, without a dataset. </a:t>
            </a:r>
            <a:r>
              <a:rPr sz="1300" b="1" i="0">
                <a:solidFill>
                  <a:srgbClr val="1A1440"/>
                </a:solidFill>
                <a:latin typeface="Calibri"/>
              </a:rPr>
              <a:t>Caveats.</a:t>
            </a:r>
            <a:r>
              <a:rPr sz="1300" b="0" i="0">
                <a:solidFill>
                  <a:srgbClr val="1A1440"/>
                </a:solidFill>
                <a:latin typeface="Calibri"/>
              </a:rPr>
              <a:t> Each objection is partly right; the peak window is three hours long; no published figure exists for the number a sanity check on the afternoon ask would want.</a:t>
            </a:r>
          </a:p>
        </p:txBody>
      </p:sp>
      <p:sp>
        <p:nvSpPr>
          <p:cNvPr id="14" name="Rounded Rectangle 13"/>
          <p:cNvSpPr/>
          <p:nvPr/>
        </p:nvSpPr>
        <p:spPr>
          <a:xfrm>
            <a:off x="6370167" y="4432807"/>
            <a:ext cx="45720" cy="92964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626199" y="4432807"/>
            <a:ext cx="4980279" cy="929640"/>
          </a:xfrm>
          <a:prstGeom prst="rect">
            <a:avLst/>
          </a:prstGeom>
          <a:noFill/>
        </p:spPr>
        <p:txBody>
          <a:bodyPr wrap="square" anchor="t" lIns="0" rIns="0" tIns="0" bIns="0">
            <a:spAutoFit/>
          </a:bodyPr>
          <a:lstStyle/>
          <a:p>
            <a:r>
              <a:rPr sz="1400" b="0" i="1">
                <a:solidFill>
                  <a:srgbClr val="1A0F5C"/>
                </a:solidFill>
                <a:latin typeface="Georgia"/>
              </a:rPr>
              <a:t>Illustrative case: the company is real, the situation and the data are synthetic, built for this class.</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the one claim?</a:t>
            </a:r>
          </a:p>
        </p:txBody>
      </p:sp>
      <p:sp>
        <p:nvSpPr>
          <p:cNvPr id="18" name="Oval 1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0" name="Oval 19"/>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36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week map: Monday's number in, Tuesday lit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today sit, and what did Monday's node earn?</a:t>
            </a:r>
          </a:p>
        </p:txBody>
      </p:sp>
      <p:pic>
        <p:nvPicPr>
          <p:cNvPr id="9" name="mermaid diagram" descr="9accff29b0dbf78f.png"/>
          <p:cNvPicPr>
            <a:picLocks noChangeAspect="1"/>
          </p:cNvPicPr>
          <p:nvPr/>
        </p:nvPicPr>
        <p:blipFill>
          <a:blip r:embed="rId5"/>
          <a:stretch>
            <a:fillRect/>
          </a:stretch>
        </p:blipFill>
        <p:spPr>
          <a:xfrm>
            <a:off x="530352" y="1956816"/>
            <a:ext cx="11130991" cy="2447239"/>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the one claim?</a:t>
            </a:r>
          </a:p>
        </p:txBody>
      </p:sp>
      <p:sp>
        <p:nvSpPr>
          <p:cNvPr id="12" name="Oval 1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4" name="Oval 1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3 / 36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Where today ends: a slide its losers can repeat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sentence will the city head be able to say on Thursday?</a:t>
            </a:r>
          </a:p>
        </p:txBody>
      </p:sp>
      <p:sp>
        <p:nvSpPr>
          <p:cNvPr id="9" name="Rounded Rectangle 8"/>
          <p:cNvSpPr/>
          <p:nvPr/>
        </p:nvSpPr>
        <p:spPr>
          <a:xfrm>
            <a:off x="530352" y="1956816"/>
            <a:ext cx="45720" cy="160527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605279"/>
          </a:xfrm>
          <a:prstGeom prst="rect">
            <a:avLst/>
          </a:prstGeom>
          <a:noFill/>
        </p:spPr>
        <p:txBody>
          <a:bodyPr wrap="square" anchor="t" lIns="0" rIns="0" tIns="0" bIns="0">
            <a:spAutoFit/>
          </a:bodyPr>
          <a:lstStyle/>
          <a:p>
            <a:r>
              <a:rPr sz="1600" b="0" i="1">
                <a:solidFill>
                  <a:srgbClr val="1A0F5C"/>
                </a:solidFill>
                <a:latin typeface="Georgia"/>
              </a:rPr>
              <a:t>"The scheme is paying for online hours that carry no trips: gross bookings per peak online hour fell from Rs 314 to Rs 260 while the fare held at Rs 165. The monsoon ended inside the window, so part of the fall may be the season. Pay per completed peak trip with an acceptance floor; that returns Rs 58 lakh to Rs 93 lakh over six weeks if a fifth to a half of the idle drivers start accepting."</a:t>
            </a:r>
          </a:p>
        </p:txBody>
      </p:sp>
      <p:sp>
        <p:nvSpPr>
          <p:cNvPr id="11" name="TextBox 10"/>
          <p:cNvSpPr txBox="1"/>
          <p:nvPr/>
        </p:nvSpPr>
        <p:spPr>
          <a:xfrm>
            <a:off x="530352" y="3708400"/>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By the end of the afternoon</a:t>
            </a:r>
            <a:r>
              <a:rPr sz="1600" b="0" i="0">
                <a:solidFill>
                  <a:srgbClr val="1A1440"/>
                </a:solidFill>
                <a:latin typeface="Calibri"/>
              </a:rPr>
              <a:t> you will also have sized the drivers the evening peak needs, said every assumption aloud, given a range, and checked it against a ratio the case's own data can confirm.</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the one claim?</a:t>
            </a:r>
          </a:p>
        </p:txBody>
      </p:sp>
      <p:sp>
        <p:nvSpPr>
          <p:cNvPr id="14" name="Oval 1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6" name="Oval 15"/>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4 / 36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Each role loses one thing it can point to</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of the three roles lose under Monday's definition?</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user_c13406686cbb.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DRIVER-OPERATIONS LEAD</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supply headline</a:t>
            </a:r>
          </a:p>
        </p:txBody>
      </p:sp>
      <p:sp>
        <p:nvSpPr>
          <p:cNvPr id="14" name="TextBox 13"/>
          <p:cNvSpPr txBox="1"/>
          <p:nvPr/>
        </p:nvSpPr>
        <p:spPr>
          <a:xfrm>
            <a:off x="731519"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Peak online hours up 24 percent stops being the target, and the idle drivers' hours will fall when idle hours stop paying</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user_c13406686cbb.png"/>
          <p:cNvPicPr>
            <a:picLocks noChangeAspect="1"/>
          </p:cNvPicPr>
          <p:nvPr/>
        </p:nvPicPr>
        <p:blipFill>
          <a:blip r:embed="rId4"/>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MARKETING LEAD</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A clean hoarding line</a:t>
            </a:r>
          </a:p>
        </p:txBody>
      </p:sp>
      <p:sp>
        <p:nvSpPr>
          <p:cNvPr id="20" name="TextBox 19"/>
          <p:cNvSpPr txBox="1"/>
          <p:nvPr/>
        </p:nvSpPr>
        <p:spPr>
          <a:xfrm>
            <a:off x="450281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"Rs 300 an hour, guaranteed" now carries a condition: the floor holds for drivers who accept</a:t>
            </a:r>
          </a:p>
        </p:txBody>
      </p:sp>
      <p:sp>
        <p:nvSpPr>
          <p:cNvPr id="21" name="Rounded Rectangle 20"/>
          <p:cNvSpPr/>
          <p:nvPr/>
        </p:nvSpPr>
        <p:spPr>
          <a:xfrm>
            <a:off x="807293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user_c13406686cbb.png"/>
          <p:cNvPicPr>
            <a:picLocks noChangeAspect="1"/>
          </p:cNvPicPr>
          <p:nvPr/>
        </p:nvPicPr>
        <p:blipFill>
          <a:blip r:embed="rId4"/>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FINANCE PARTNER</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Its own number as the headline</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Top-up per trip becomes a guardrail, and the slide opens on bookings per online hour, Rs 314 to Rs 260</a:t>
            </a:r>
          </a:p>
        </p:txBody>
      </p:sp>
      <p:sp>
        <p:nvSpPr>
          <p:cNvPr id="27" name="Rounded Rectangle 26"/>
          <p:cNvSpPr/>
          <p:nvPr/>
        </p:nvSpPr>
        <p:spPr>
          <a:xfrm>
            <a:off x="530352" y="429412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76656" y="442214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877824" y="4412996"/>
            <a:ext cx="10564063" cy="624840"/>
          </a:xfrm>
          <a:prstGeom prst="rect">
            <a:avLst/>
          </a:prstGeom>
          <a:noFill/>
        </p:spPr>
        <p:txBody>
          <a:bodyPr wrap="square" anchor="ctr" lIns="0" rIns="0" tIns="0" bIns="0">
            <a:spAutoFit/>
          </a:bodyPr>
          <a:lstStyle/>
          <a:p>
            <a:r>
              <a:rPr sz="1500" b="1">
                <a:solidFill>
                  <a:srgbClr val="5B3FD6"/>
                </a:solidFill>
                <a:latin typeface="Calibri"/>
              </a:rPr>
              <a:t>Monday's definition, in one line. </a:t>
            </a:r>
            <a:r>
              <a:rPr sz="1500" b="0" i="0">
                <a:solidFill>
                  <a:srgbClr val="1A1440"/>
                </a:solidFill>
                <a:latin typeface="Calibri"/>
              </a:rPr>
              <a:t>The scheme pays for completed peak trips per enrolled driver per week, with three guardrails: the acceptance share, the median rider wait at peak, and top-up per completed trip.</a:t>
            </a: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the one claim?</a:t>
            </a:r>
          </a:p>
        </p:txBody>
      </p:sp>
      <p:sp>
        <p:nvSpPr>
          <p:cNvPr id="32" name="Oval 3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34" name="Oval 3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5 / 36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is the one claim?</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What is the one claim, and which number carries it, so that nine numbers become one sentence a city head can act on?</a:t>
            </a:r>
          </a:p>
        </p:txBody>
      </p:sp>
      <p:sp>
        <p:nvSpPr>
          <p:cNvPr id="10" name="Rounded Rectangle 9"/>
          <p:cNvSpPr/>
          <p:nvPr/>
        </p:nvSpPr>
        <p:spPr>
          <a:xfrm>
            <a:off x="731519"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is the one claim?</a:t>
            </a:r>
          </a:p>
        </p:txBody>
      </p:sp>
      <p:sp>
        <p:nvSpPr>
          <p:cNvPr id="11" name="Rounded Rectangle 10"/>
          <p:cNvSpPr/>
          <p:nvPr/>
        </p:nvSpPr>
        <p:spPr>
          <a:xfrm>
            <a:off x="250975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objection holds?</a:t>
            </a:r>
          </a:p>
        </p:txBody>
      </p:sp>
      <p:sp>
        <p:nvSpPr>
          <p:cNvPr id="12" name="Rounded Rectangle 11"/>
          <p:cNvSpPr/>
          <p:nvPr/>
        </p:nvSpPr>
        <p:spPr>
          <a:xfrm>
            <a:off x="428799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leaves the slide?</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2: one slide, three objectors</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6 / 36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which of these four titles acts?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title tells the city head what to do on the first read?</a:t>
            </a:r>
          </a:p>
        </p:txBody>
      </p:sp>
      <p:sp>
        <p:nvSpPr>
          <p:cNvPr id="9" name="TextBox 8"/>
          <p:cNvSpPr txBox="1"/>
          <p:nvPr/>
        </p:nvSpPr>
        <p:spPr>
          <a:xfrm>
            <a:off x="530352" y="1956816"/>
            <a:ext cx="11130991" cy="204012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 a) Peak guarantee: six-week review</a:t>
            </a:r>
          </a:p>
          <a:p>
            <a:pPr>
              <a:spcAft>
                <a:spcPts val="800"/>
              </a:spcAft>
            </a:pPr>
            <a:r>
              <a:rPr sz="1600" b="0" i="0">
                <a:solidFill>
                  <a:srgbClr val="1A1440"/>
                </a:solidFill>
                <a:latin typeface="Calibri"/>
              </a:rPr>
              <a:t>- b) Online hours up 24 percent, trips up 3 percent</a:t>
            </a:r>
          </a:p>
          <a:p>
            <a:pPr>
              <a:spcAft>
                <a:spcPts val="800"/>
              </a:spcAft>
            </a:pPr>
            <a:r>
              <a:rPr sz="1600" b="0" i="0">
                <a:solidFill>
                  <a:srgbClr val="1A1440"/>
                </a:solidFill>
                <a:latin typeface="Calibri"/>
              </a:rPr>
              <a:t>- c) The scheme pays for idle hours: pay per completed trip</a:t>
            </a:r>
          </a:p>
          <a:p>
            <a:pPr>
              <a:spcAft>
                <a:spcPts val="800"/>
              </a:spcAft>
            </a:pPr>
            <a:r>
              <a:rPr sz="1600" b="0" i="0">
                <a:solidFill>
                  <a:srgbClr val="1A1440"/>
                </a:solidFill>
                <a:latin typeface="Calibri"/>
              </a:rPr>
              <a:t>- d) Hyderabad operations update, October</a:t>
            </a:r>
          </a:p>
          <a:p>
            <a:pPr>
              <a:spcAft>
                <a:spcPts val="800"/>
              </a:spcAft>
            </a:pPr>
            <a:r>
              <a:rPr sz="1600" b="1" i="0">
                <a:solidFill>
                  <a:srgbClr val="1A1440"/>
                </a:solidFill>
                <a:latin typeface="Calibri"/>
              </a:rPr>
              <a:t>Write your letter down before the next slide.</a:t>
            </a:r>
          </a:p>
        </p:txBody>
      </p:sp>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is the one claim?</a:t>
            </a:r>
          </a:p>
        </p:txBody>
      </p:sp>
      <p:sp>
        <p:nvSpPr>
          <p:cNvPr id="12" name="Oval 1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4" name="Oval 1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36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 title that acts is a sentence with a verb</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a reader act on c and walk past a, b and d?</a:t>
            </a:r>
          </a:p>
        </p:txBody>
      </p:sp>
      <p:sp>
        <p:nvSpPr>
          <p:cNvPr id="9" name="TextBox 8"/>
          <p:cNvSpPr txBox="1"/>
          <p:nvPr/>
        </p:nvSpPr>
        <p:spPr>
          <a:xfrm>
            <a:off x="530352" y="1956816"/>
            <a:ext cx="11130991" cy="1048512"/>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A hostel notice board (invented for this class).</a:t>
            </a:r>
            <a:r>
              <a:rPr sz="1600" b="0" i="0">
                <a:solidFill>
                  <a:srgbClr val="1A1440"/>
                </a:solidFill>
                <a:latin typeface="Calibri"/>
              </a:rPr>
              <a:t> One notice reads "Breakfast survey results"; the warden walks past it for a week. The next reads "Rotis replace rice at Monday breakfast, so the kitchen moves two staff from the rice counter to the roti line"; the warden reads it once and moves two staff.</a:t>
            </a:r>
          </a:p>
        </p:txBody>
      </p:sp>
      <p:sp>
        <p:nvSpPr>
          <p:cNvPr id="10" name="Rounded Rectangle 9"/>
          <p:cNvSpPr/>
          <p:nvPr/>
        </p:nvSpPr>
        <p:spPr>
          <a:xfrm>
            <a:off x="530352" y="3133344"/>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26136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252216"/>
            <a:ext cx="10564063" cy="891540"/>
          </a:xfrm>
          <a:prstGeom prst="rect">
            <a:avLst/>
          </a:prstGeom>
          <a:noFill/>
        </p:spPr>
        <p:txBody>
          <a:bodyPr wrap="square" anchor="ctr" lIns="0" rIns="0" tIns="0" bIns="0">
            <a:spAutoFit/>
          </a:bodyPr>
          <a:lstStyle/>
          <a:p>
            <a:r>
              <a:rPr sz="1500" b="1">
                <a:solidFill>
                  <a:srgbClr val="5B3FD6"/>
                </a:solidFill>
                <a:latin typeface="Calibri"/>
              </a:rPr>
              <a:t>The answer is c. </a:t>
            </a:r>
            <a:r>
              <a:rPr sz="1500" b="0" i="0">
                <a:solidFill>
                  <a:srgbClr val="1A1440"/>
                </a:solidFill>
                <a:latin typeface="Calibri"/>
              </a:rPr>
              <a:t>a and d name a topic. b reports two numbers and leaves the reader to find the point, and it is Monday's trap resold: online hours up 24 percent is the number that rose while riders were served no better. Barbara Minto's Pyramid Principle puts the answer first and the support beneath it.</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is the one claim?</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36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slide carries four parts, in this order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lets one slide carry a decision?</a:t>
            </a:r>
          </a:p>
        </p:txBody>
      </p:sp>
      <p:pic>
        <p:nvPicPr>
          <p:cNvPr id="9" name="mermaid diagram" descr="cbf314da76da5af4.png"/>
          <p:cNvPicPr>
            <a:picLocks noChangeAspect="1"/>
          </p:cNvPicPr>
          <p:nvPr/>
        </p:nvPicPr>
        <p:blipFill>
          <a:blip r:embed="rId5"/>
          <a:stretch>
            <a:fillRect/>
          </a:stretch>
        </p:blipFill>
        <p:spPr>
          <a:xfrm>
            <a:off x="530352" y="1956816"/>
            <a:ext cx="11130991" cy="1628203"/>
          </a:xfrm>
          <a:prstGeom prst="rect">
            <a:avLst/>
          </a:prstGeom>
        </p:spPr>
      </p:pic>
      <p:sp>
        <p:nvSpPr>
          <p:cNvPr id="10" name="Rounded Rectangle 9"/>
          <p:cNvSpPr/>
          <p:nvPr/>
        </p:nvSpPr>
        <p:spPr>
          <a:xfrm>
            <a:off x="530352" y="3731323"/>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59339"/>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50195"/>
            <a:ext cx="10564063" cy="624840"/>
          </a:xfrm>
          <a:prstGeom prst="rect">
            <a:avLst/>
          </a:prstGeom>
          <a:noFill/>
        </p:spPr>
        <p:txBody>
          <a:bodyPr wrap="square" anchor="ctr" lIns="0" rIns="0" tIns="0" bIns="0">
            <a:spAutoFit/>
          </a:bodyPr>
          <a:lstStyle/>
          <a:p>
            <a:r>
              <a:rPr sz="1500" b="1">
                <a:solidFill>
                  <a:srgbClr val="5B3FD6"/>
                </a:solidFill>
                <a:latin typeface="Calibri"/>
              </a:rPr>
              <a:t>The order is the point. </a:t>
            </a:r>
            <a:r>
              <a:rPr sz="1500" b="0" i="0">
                <a:solidFill>
                  <a:srgbClr val="1A1440"/>
                </a:solidFill>
                <a:latin typeface="Calibri"/>
              </a:rPr>
              <a:t>A slide that opens on its evidence has already given away its title, and a slide whose caveat sits off the page invites its owner to call it dishonest.</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is the one claim?</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36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Slide A arrived with nine numbers and no claim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a city head meant to do with this slide?</a:t>
            </a:r>
          </a:p>
        </p:txBody>
      </p:sp>
      <p:pic>
        <p:nvPicPr>
          <p:cNvPr id="9" name="mermaid diagram" descr="C2_W04_D02_cluttered_slide_STUDENT.png"/>
          <p:cNvPicPr>
            <a:picLocks noChangeAspect="1"/>
          </p:cNvPicPr>
          <p:nvPr/>
        </p:nvPicPr>
        <p:blipFill>
          <a:blip r:embed="rId4"/>
          <a:stretch>
            <a:fillRect/>
          </a:stretch>
        </p:blipFill>
        <p:spPr>
          <a:xfrm>
            <a:off x="3259305" y="1664208"/>
            <a:ext cx="5673084"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Slide A as the operations analyst sent it</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1" i="0">
                <a:solidFill>
                  <a:srgbClr val="1A1440"/>
                </a:solidFill>
                <a:latin typeface="Calibri"/>
              </a:rPr>
              <a:t>Nine numbers from Monday's dashboard, each given the same weight, under a title that names a topic.</a:t>
            </a:r>
            <a:r>
              <a:rPr sz="1600" b="0" i="0">
                <a:solidFill>
                  <a:srgbClr val="1A1440"/>
                </a:solidFill>
                <a:latin typeface="Calibri"/>
              </a:rPr>
              <a:t> The reader cannot tell which number matters, and the first number the eye meets is the one Monday showed to be the wrong one to celebrate.</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is the one claim?</a:t>
            </a:r>
          </a:p>
        </p:txBody>
      </p:sp>
      <p:sp>
        <p:nvSpPr>
          <p:cNvPr id="14" name="Oval 1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6" name="Oval 15"/>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36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two of the nine numbers carry the claim?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If the slide may keep only two numbers, which two make the case?</a:t>
            </a:r>
          </a:p>
        </p:txBody>
      </p:sp>
      <p:sp>
        <p:nvSpPr>
          <p:cNvPr id="9" name="TextBox 8"/>
          <p:cNvSpPr txBox="1"/>
          <p:nvPr/>
        </p:nvSpPr>
        <p:spPr>
          <a:xfrm>
            <a:off x="530352" y="1956816"/>
            <a:ext cx="11130991" cy="204012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 a) Peak online hours +24 percent and completed peak trips +3 percent</a:t>
            </a:r>
          </a:p>
          <a:p>
            <a:pPr>
              <a:spcAft>
                <a:spcPts val="800"/>
              </a:spcAft>
            </a:pPr>
            <a:r>
              <a:rPr sz="1600" b="0" i="0">
                <a:solidFill>
                  <a:srgbClr val="1A1440"/>
                </a:solidFill>
                <a:latin typeface="Calibri"/>
              </a:rPr>
              <a:t>- b) Trips per peak online hour 1.90 to 1.58 and top-up to low acceptance 61 percent</a:t>
            </a:r>
          </a:p>
          <a:p>
            <a:pPr>
              <a:spcAft>
                <a:spcPts val="800"/>
              </a:spcAft>
            </a:pPr>
            <a:r>
              <a:rPr sz="1600" b="0" i="0">
                <a:solidFill>
                  <a:srgbClr val="1A1440"/>
                </a:solidFill>
                <a:latin typeface="Calibri"/>
              </a:rPr>
              <a:t>- c) Median rider wait 4.8 to 4.6 minutes and new drivers since launch 140</a:t>
            </a:r>
          </a:p>
          <a:p>
            <a:pPr>
              <a:spcAft>
                <a:spcPts val="800"/>
              </a:spcAft>
            </a:pPr>
            <a:r>
              <a:rPr sz="1600" b="0" i="0">
                <a:solidFill>
                  <a:srgbClr val="1A1440"/>
                </a:solidFill>
                <a:latin typeface="Calibri"/>
              </a:rPr>
              <a:t>- d) Acceptance share 0.86 to 0.73 and top-up paid Rs 1.9 crore</a:t>
            </a:r>
          </a:p>
          <a:p>
            <a:pPr>
              <a:spcAft>
                <a:spcPts val="800"/>
              </a:spcAft>
            </a:pPr>
            <a:r>
              <a:rPr sz="1600" b="1" i="0">
                <a:solidFill>
                  <a:srgbClr val="1A1440"/>
                </a:solidFill>
                <a:latin typeface="Calibri"/>
              </a:rPr>
              <a:t>Low acceptance</a:t>
            </a:r>
            <a:r>
              <a:rPr sz="1600" b="0" i="0">
                <a:solidFill>
                  <a:srgbClr val="1A1440"/>
                </a:solidFill>
                <a:latin typeface="Calibri"/>
              </a:rPr>
              <a:t> means a driver-week that accepted fewer than half the requests offered.</a:t>
            </a:r>
          </a:p>
        </p:txBody>
      </p:sp>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is the one claim?</a:t>
            </a:r>
          </a:p>
        </p:txBody>
      </p:sp>
      <p:sp>
        <p:nvSpPr>
          <p:cNvPr id="12" name="Oval 1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4" name="Oval 1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36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slide A rebuilt to one claim and its evidence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slide become when it keeps one claim, one number and its denominator?</a:t>
            </a:r>
          </a:p>
        </p:txBody>
      </p:sp>
      <p:pic>
        <p:nvPicPr>
          <p:cNvPr id="9" name="mermaid diagram" descr="C2_W04_D02_cleared_slide_STUDENT.png"/>
          <p:cNvPicPr>
            <a:picLocks noChangeAspect="1"/>
          </p:cNvPicPr>
          <p:nvPr/>
        </p:nvPicPr>
        <p:blipFill>
          <a:blip r:embed="rId4"/>
          <a:stretch>
            <a:fillRect/>
          </a:stretch>
        </p:blipFill>
        <p:spPr>
          <a:xfrm>
            <a:off x="3131304" y="1664208"/>
            <a:ext cx="5929085" cy="3378200"/>
          </a:xfrm>
          <a:prstGeom prst="rect">
            <a:avLst/>
          </a:prstGeom>
        </p:spPr>
      </p:pic>
      <p:sp>
        <p:nvSpPr>
          <p:cNvPr id="10" name="picture caption"/>
          <p:cNvSpPr txBox="1"/>
          <p:nvPr/>
        </p:nvSpPr>
        <p:spPr>
          <a:xfrm>
            <a:off x="530352" y="5078984"/>
            <a:ext cx="11130991" cy="316992"/>
          </a:xfrm>
          <a:prstGeom prst="rect">
            <a:avLst/>
          </a:prstGeom>
          <a:noFill/>
        </p:spPr>
        <p:txBody>
          <a:bodyPr wrap="square" anchor="t" lIns="0" rIns="0" tIns="0" bIns="0">
            <a:spAutoFit/>
          </a:bodyPr>
          <a:lstStyle/>
          <a:p>
            <a:pPr algn="ctr"/>
            <a:r>
              <a:rPr sz="1200" b="0" i="0">
                <a:solidFill>
                  <a:srgbClr val="6B6690"/>
                </a:solidFill>
                <a:latin typeface="Calibri"/>
              </a:rPr>
              <a:t>Slide A rebuilt, the four parts numbered</a:t>
            </a:r>
          </a:p>
        </p:txBody>
      </p:sp>
      <p:sp>
        <p:nvSpPr>
          <p:cNvPr id="11" name="Rounded Rectangle 10"/>
          <p:cNvSpPr/>
          <p:nvPr/>
        </p:nvSpPr>
        <p:spPr>
          <a:xfrm>
            <a:off x="530352" y="5405120"/>
            <a:ext cx="11130991" cy="6299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533136"/>
            <a:ext cx="45720" cy="3738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523992"/>
            <a:ext cx="10564063" cy="447040"/>
          </a:xfrm>
          <a:prstGeom prst="rect">
            <a:avLst/>
          </a:prstGeom>
          <a:noFill/>
        </p:spPr>
        <p:txBody>
          <a:bodyPr wrap="square" anchor="ctr" lIns="0" rIns="0" tIns="0" bIns="0">
            <a:spAutoFit/>
          </a:bodyPr>
          <a:lstStyle/>
          <a:p>
            <a:r>
              <a:rPr sz="1000" b="1">
                <a:solidFill>
                  <a:srgbClr val="5B3FD6"/>
                </a:solidFill>
                <a:latin typeface="Calibri"/>
              </a:rPr>
              <a:t>The answer is b. </a:t>
            </a:r>
            <a:r>
              <a:rPr sz="1000" b="0" i="0">
                <a:solidFill>
                  <a:srgbClr val="1A1440"/>
                </a:solidFill>
                <a:latin typeface="Calibri"/>
              </a:rPr>
              <a:t>Trips per online hour falling at a flat fare is bookings per online hour falling, Rs 314 to Rs 260, and the 61 percent says where the top-up went.</a:t>
            </a:r>
          </a:p>
        </p:txBody>
      </p:sp>
      <p:sp>
        <p:nvSpPr>
          <p:cNvPr id="14" name="Oval 1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is the one claim?</a:t>
            </a:r>
          </a:p>
        </p:txBody>
      </p:sp>
      <p:sp>
        <p:nvSpPr>
          <p:cNvPr id="16" name="Oval 15"/>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8" name="Oval 17"/>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36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Slide B: nine numbers from finance's tab</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one claim does finance's slide carry, and which number proves it?</a:t>
            </a:r>
          </a:p>
        </p:txBody>
      </p:sp>
      <p:graphicFrame>
        <p:nvGraphicFramePr>
          <p:cNvPr id="9" name="Table 8"/>
          <p:cNvGraphicFramePr>
            <a:graphicFrameLocks noGrp="1"/>
          </p:cNvGraphicFramePr>
          <p:nvPr/>
        </p:nvGraphicFramePr>
        <p:xfrm>
          <a:off x="530352" y="1682496"/>
          <a:ext cx="11130990" cy="3352800"/>
        </p:xfrm>
        <a:graphic>
          <a:graphicData uri="http://schemas.openxmlformats.org/drawingml/2006/table">
            <a:tbl>
              <a:tblPr firstRow="0" bandRow="0">
                <a:tableStyleId>{2D5ABB26-0587-4C30-8999-92F81FD0307C}</a:tableStyleId>
              </a:tblPr>
              <a:tblGrid>
                <a:gridCol w="5754344"/>
                <a:gridCol w="2688323"/>
                <a:gridCol w="2688323"/>
              </a:tblGrid>
              <a:tr h="335280">
                <a:tc>
                  <a:txBody>
                    <a:bodyPr/>
                    <a:lstStyle/>
                    <a:p>
                      <a:r>
                        <a:rPr sz="1250" b="1" i="0">
                          <a:solidFill>
                            <a:srgbClr val="FFFFFF"/>
                          </a:solidFill>
                          <a:latin typeface="Calibri"/>
                        </a:rPr>
                        <a:t>Finance's tab, as sent</a:t>
                      </a:r>
                    </a:p>
                  </a:txBody>
                  <a:tcPr marL="101600" marR="101600" marT="38100" marB="38100" anchor="ctr">
                    <a:solidFill>
                      <a:srgbClr val="1A0F5C"/>
                    </a:solidFill>
                  </a:tcPr>
                </a:tc>
                <a:tc>
                  <a:txBody>
                    <a:bodyPr/>
                    <a:lstStyle/>
                    <a:p>
                      <a:r>
                        <a:rPr sz="1250" b="1" i="0">
                          <a:solidFill>
                            <a:srgbClr val="FFFFFF"/>
                          </a:solidFill>
                          <a:latin typeface="Calibri"/>
                        </a:rPr>
                        <a:t>Before</a:t>
                      </a:r>
                    </a:p>
                  </a:txBody>
                  <a:tcPr marL="101600" marR="101600" marT="38100" marB="38100" anchor="ctr">
                    <a:solidFill>
                      <a:srgbClr val="1A0F5C"/>
                    </a:solidFill>
                  </a:tcPr>
                </a:tc>
                <a:tc>
                  <a:txBody>
                    <a:bodyPr/>
                    <a:lstStyle/>
                    <a:p>
                      <a:r>
                        <a:rPr sz="1250" b="1" i="0">
                          <a:solidFill>
                            <a:srgbClr val="FFFFFF"/>
                          </a:solidFill>
                          <a:latin typeface="Calibri"/>
                        </a:rPr>
                        <a:t>After</a:t>
                      </a:r>
                    </a:p>
                  </a:txBody>
                  <a:tcPr marL="101600" marR="101600" marT="38100" marB="38100" anchor="ctr">
                    <a:solidFill>
                      <a:srgbClr val="1A0F5C"/>
                    </a:solidFill>
                  </a:tcPr>
                </a:tc>
              </a:tr>
              <a:tr h="335280">
                <a:tc>
                  <a:txBody>
                    <a:bodyPr/>
                    <a:lstStyle/>
                    <a:p>
                      <a:r>
                        <a:rPr sz="1200" b="0" i="0">
                          <a:solidFill>
                            <a:srgbClr val="1A1440"/>
                          </a:solidFill>
                          <a:latin typeface="Calibri"/>
                        </a:rPr>
                        <a:t>Gross peak bookings</a:t>
                      </a:r>
                    </a:p>
                  </a:txBody>
                  <a:tcPr marL="101600" marR="101600" marT="38100" marB="38100" anchor="ctr">
                    <a:solidFill>
                      <a:srgbClr val="FFFFFF"/>
                    </a:solidFill>
                  </a:tcPr>
                </a:tc>
                <a:tc>
                  <a:txBody>
                    <a:bodyPr/>
                    <a:lstStyle/>
                    <a:p>
                      <a:r>
                        <a:rPr sz="1200" b="0" i="0">
                          <a:solidFill>
                            <a:srgbClr val="1A1440"/>
                          </a:solidFill>
                          <a:latin typeface="Calibri"/>
                        </a:rPr>
                        <a:t>Rs 3.70 crore</a:t>
                      </a:r>
                    </a:p>
                  </a:txBody>
                  <a:tcPr marL="101600" marR="101600" marT="38100" marB="38100" anchor="ctr">
                    <a:solidFill>
                      <a:srgbClr val="FFFFFF"/>
                    </a:solidFill>
                  </a:tcPr>
                </a:tc>
                <a:tc>
                  <a:txBody>
                    <a:bodyPr/>
                    <a:lstStyle/>
                    <a:p>
                      <a:r>
                        <a:rPr sz="1200" b="0" i="0">
                          <a:solidFill>
                            <a:srgbClr val="1A1440"/>
                          </a:solidFill>
                          <a:latin typeface="Calibri"/>
                        </a:rPr>
                        <a:t>Rs 3.81 crore</a:t>
                      </a:r>
                    </a:p>
                  </a:txBody>
                  <a:tcPr marL="101600" marR="101600" marT="38100" marB="38100" anchor="ctr">
                    <a:solidFill>
                      <a:srgbClr val="FFFFFF"/>
                    </a:solidFill>
                  </a:tcPr>
                </a:tc>
              </a:tr>
              <a:tr h="335280">
                <a:tc>
                  <a:txBody>
                    <a:bodyPr/>
                    <a:lstStyle/>
                    <a:p>
                      <a:r>
                        <a:rPr sz="1200" b="0" i="0">
                          <a:solidFill>
                            <a:srgbClr val="1A1440"/>
                          </a:solidFill>
                          <a:latin typeface="Calibri"/>
                        </a:rPr>
                        <a:t>Bookings per online hour</a:t>
                      </a:r>
                    </a:p>
                  </a:txBody>
                  <a:tcPr marL="101600" marR="101600" marT="38100" marB="38100" anchor="ctr">
                    <a:solidFill>
                      <a:srgbClr val="F4F2FA"/>
                    </a:solidFill>
                  </a:tcPr>
                </a:tc>
                <a:tc>
                  <a:txBody>
                    <a:bodyPr/>
                    <a:lstStyle/>
                    <a:p>
                      <a:r>
                        <a:rPr sz="1200" b="0" i="0">
                          <a:solidFill>
                            <a:srgbClr val="1A1440"/>
                          </a:solidFill>
                          <a:latin typeface="Calibri"/>
                        </a:rPr>
                        <a:t>Rs 314</a:t>
                      </a:r>
                    </a:p>
                  </a:txBody>
                  <a:tcPr marL="101600" marR="101600" marT="38100" marB="38100" anchor="ctr">
                    <a:solidFill>
                      <a:srgbClr val="F4F2FA"/>
                    </a:solidFill>
                  </a:tcPr>
                </a:tc>
                <a:tc>
                  <a:txBody>
                    <a:bodyPr/>
                    <a:lstStyle/>
                    <a:p>
                      <a:r>
                        <a:rPr sz="1200" b="0" i="0">
                          <a:solidFill>
                            <a:srgbClr val="1A1440"/>
                          </a:solidFill>
                          <a:latin typeface="Calibri"/>
                        </a:rPr>
                        <a:t>Rs 260</a:t>
                      </a:r>
                    </a:p>
                  </a:txBody>
                  <a:tcPr marL="101600" marR="101600" marT="38100" marB="38100" anchor="ctr">
                    <a:solidFill>
                      <a:srgbClr val="F4F2FA"/>
                    </a:solidFill>
                  </a:tcPr>
                </a:tc>
              </a:tr>
              <a:tr h="335280">
                <a:tc>
                  <a:txBody>
                    <a:bodyPr/>
                    <a:lstStyle/>
                    <a:p>
                      <a:r>
                        <a:rPr sz="1200" b="0" i="0">
                          <a:solidFill>
                            <a:srgbClr val="1A1440"/>
                          </a:solidFill>
                          <a:latin typeface="Calibri"/>
                        </a:rPr>
                        <a:t>Bookings per active driver-week</a:t>
                      </a:r>
                    </a:p>
                  </a:txBody>
                  <a:tcPr marL="101600" marR="101600" marT="38100" marB="38100" anchor="ctr">
                    <a:solidFill>
                      <a:srgbClr val="FFFFFF"/>
                    </a:solidFill>
                  </a:tcPr>
                </a:tc>
                <a:tc>
                  <a:txBody>
                    <a:bodyPr/>
                    <a:lstStyle/>
                    <a:p>
                      <a:r>
                        <a:rPr sz="1200" b="0" i="0">
                          <a:solidFill>
                            <a:srgbClr val="1A1440"/>
                          </a:solidFill>
                          <a:latin typeface="Calibri"/>
                        </a:rPr>
                        <a:t>Rs 5,817</a:t>
                      </a:r>
                    </a:p>
                  </a:txBody>
                  <a:tcPr marL="101600" marR="101600" marT="38100" marB="38100" anchor="ctr">
                    <a:solidFill>
                      <a:srgbClr val="FFFFFF"/>
                    </a:solidFill>
                  </a:tcPr>
                </a:tc>
                <a:tc>
                  <a:txBody>
                    <a:bodyPr/>
                    <a:lstStyle/>
                    <a:p>
                      <a:r>
                        <a:rPr sz="1200" b="0" i="0">
                          <a:solidFill>
                            <a:srgbClr val="1A1440"/>
                          </a:solidFill>
                          <a:latin typeface="Calibri"/>
                        </a:rPr>
                        <a:t>Rs 5,861</a:t>
                      </a:r>
                    </a:p>
                  </a:txBody>
                  <a:tcPr marL="101600" marR="101600" marT="38100" marB="38100" anchor="ctr">
                    <a:solidFill>
                      <a:srgbClr val="FFFFFF"/>
                    </a:solidFill>
                  </a:tcPr>
                </a:tc>
              </a:tr>
              <a:tr h="335280">
                <a:tc>
                  <a:txBody>
                    <a:bodyPr/>
                    <a:lstStyle/>
                    <a:p>
                      <a:r>
                        <a:rPr sz="1200" b="0" i="0">
                          <a:solidFill>
                            <a:srgbClr val="1A1440"/>
                          </a:solidFill>
                          <a:latin typeface="Calibri"/>
                        </a:rPr>
                        <a:t>Bookings per trip</a:t>
                      </a:r>
                    </a:p>
                  </a:txBody>
                  <a:tcPr marL="101600" marR="101600" marT="38100" marB="38100" anchor="ctr">
                    <a:solidFill>
                      <a:srgbClr val="F4F2FA"/>
                    </a:solidFill>
                  </a:tcPr>
                </a:tc>
                <a:tc>
                  <a:txBody>
                    <a:bodyPr/>
                    <a:lstStyle/>
                    <a:p>
                      <a:r>
                        <a:rPr sz="1200" b="0" i="0">
                          <a:solidFill>
                            <a:srgbClr val="1A1440"/>
                          </a:solidFill>
                          <a:latin typeface="Calibri"/>
                        </a:rPr>
                        <a:t>Rs 165</a:t>
                      </a:r>
                    </a:p>
                  </a:txBody>
                  <a:tcPr marL="101600" marR="101600" marT="38100" marB="38100" anchor="ctr">
                    <a:solidFill>
                      <a:srgbClr val="F4F2FA"/>
                    </a:solidFill>
                  </a:tcPr>
                </a:tc>
                <a:tc>
                  <a:txBody>
                    <a:bodyPr/>
                    <a:lstStyle/>
                    <a:p>
                      <a:r>
                        <a:rPr sz="1200" b="0" i="0">
                          <a:solidFill>
                            <a:srgbClr val="1A1440"/>
                          </a:solidFill>
                          <a:latin typeface="Calibri"/>
                        </a:rPr>
                        <a:t>Rs 165</a:t>
                      </a:r>
                    </a:p>
                  </a:txBody>
                  <a:tcPr marL="101600" marR="101600" marT="38100" marB="38100" anchor="ctr">
                    <a:solidFill>
                      <a:srgbClr val="F4F2FA"/>
                    </a:solidFill>
                  </a:tcPr>
                </a:tc>
              </a:tr>
              <a:tr h="335280">
                <a:tc>
                  <a:txBody>
                    <a:bodyPr/>
                    <a:lstStyle/>
                    <a:p>
                      <a:r>
                        <a:rPr sz="1200" b="0" i="0">
                          <a:solidFill>
                            <a:srgbClr val="1A1440"/>
                          </a:solidFill>
                          <a:latin typeface="Calibri"/>
                        </a:rPr>
                        <a:t>Top-up paid</a:t>
                      </a:r>
                    </a:p>
                  </a:txBody>
                  <a:tcPr marL="101600" marR="101600" marT="38100" marB="38100" anchor="ctr">
                    <a:solidFill>
                      <a:srgbClr val="FFFFFF"/>
                    </a:solidFill>
                  </a:tcPr>
                </a:tc>
                <a:tc>
                  <a:txBody>
                    <a:bodyPr/>
                    <a:lstStyle/>
                    <a:p>
                      <a:r>
                        <a:rPr sz="1200" b="0" i="0">
                          <a:solidFill>
                            <a:srgbClr val="1A1440"/>
                          </a:solidFill>
                          <a:latin typeface="Calibri"/>
                        </a:rPr>
                        <a:t>Rs 0</a:t>
                      </a:r>
                    </a:p>
                  </a:txBody>
                  <a:tcPr marL="101600" marR="101600" marT="38100" marB="38100" anchor="ctr">
                    <a:solidFill>
                      <a:srgbClr val="FFFFFF"/>
                    </a:solidFill>
                  </a:tcPr>
                </a:tc>
                <a:tc>
                  <a:txBody>
                    <a:bodyPr/>
                    <a:lstStyle/>
                    <a:p>
                      <a:r>
                        <a:rPr sz="1200" b="0" i="0">
                          <a:solidFill>
                            <a:srgbClr val="1A1440"/>
                          </a:solidFill>
                          <a:latin typeface="Calibri"/>
                        </a:rPr>
                        <a:t>Rs 1.9 crore</a:t>
                      </a:r>
                    </a:p>
                  </a:txBody>
                  <a:tcPr marL="101600" marR="101600" marT="38100" marB="38100" anchor="ctr">
                    <a:solidFill>
                      <a:srgbClr val="FFFFFF"/>
                    </a:solidFill>
                  </a:tcPr>
                </a:tc>
              </a:tr>
              <a:tr h="335280">
                <a:tc>
                  <a:txBody>
                    <a:bodyPr/>
                    <a:lstStyle/>
                    <a:p>
                      <a:r>
                        <a:rPr sz="1200" b="0" i="0">
                          <a:solidFill>
                            <a:srgbClr val="1A1440"/>
                          </a:solidFill>
                          <a:latin typeface="Calibri"/>
                        </a:rPr>
                        <a:t>Top-up per completed trip</a:t>
                      </a:r>
                    </a:p>
                  </a:txBody>
                  <a:tcPr marL="101600" marR="101600" marT="38100" marB="38100" anchor="ctr">
                    <a:solidFill>
                      <a:srgbClr val="F4F2FA"/>
                    </a:solidFill>
                  </a:tcPr>
                </a:tc>
                <a:tc>
                  <a:txBody>
                    <a:bodyPr/>
                    <a:lstStyle/>
                    <a:p/>
                  </a:txBody>
                  <a:tcPr marL="101600" marR="101600" marT="38100" marB="38100" anchor="ctr">
                    <a:solidFill>
                      <a:srgbClr val="F4F2FA"/>
                    </a:solidFill>
                  </a:tcPr>
                </a:tc>
                <a:tc>
                  <a:txBody>
                    <a:bodyPr/>
                    <a:lstStyle/>
                    <a:p>
                      <a:r>
                        <a:rPr sz="1200" b="0" i="0">
                          <a:solidFill>
                            <a:srgbClr val="1A1440"/>
                          </a:solidFill>
                          <a:latin typeface="Calibri"/>
                        </a:rPr>
                        <a:t>Rs 82.3</a:t>
                      </a:r>
                    </a:p>
                  </a:txBody>
                  <a:tcPr marL="101600" marR="101600" marT="38100" marB="38100" anchor="ctr">
                    <a:solidFill>
                      <a:srgbClr val="F4F2FA"/>
                    </a:solidFill>
                  </a:tcPr>
                </a:tc>
              </a:tr>
              <a:tr h="335280">
                <a:tc>
                  <a:txBody>
                    <a:bodyPr/>
                    <a:lstStyle/>
                    <a:p>
                      <a:r>
                        <a:rPr sz="1200" b="0" i="0">
                          <a:solidFill>
                            <a:srgbClr val="1A1440"/>
                          </a:solidFill>
                          <a:latin typeface="Calibri"/>
                        </a:rPr>
                        <a:t>Top-up to low acceptance</a:t>
                      </a:r>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r>
                        <a:rPr sz="1200" b="0" i="0">
                          <a:solidFill>
                            <a:srgbClr val="1A1440"/>
                          </a:solidFill>
                          <a:latin typeface="Calibri"/>
                        </a:rPr>
                        <a:t>Rs 1.16 crore</a:t>
                      </a:r>
                    </a:p>
                  </a:txBody>
                  <a:tcPr marL="101600" marR="101600" marT="38100" marB="38100" anchor="ctr">
                    <a:solidFill>
                      <a:srgbClr val="FFFFFF"/>
                    </a:solidFill>
                  </a:tcPr>
                </a:tc>
              </a:tr>
              <a:tr h="335280">
                <a:tc>
                  <a:txBody>
                    <a:bodyPr/>
                    <a:lstStyle/>
                    <a:p>
                      <a:r>
                        <a:rPr sz="1200" b="0" i="0">
                          <a:solidFill>
                            <a:srgbClr val="1A1440"/>
                          </a:solidFill>
                          <a:latin typeface="Calibri"/>
                        </a:rPr>
                        <a:t>Top-up to everyone else</a:t>
                      </a:r>
                    </a:p>
                  </a:txBody>
                  <a:tcPr marL="101600" marR="101600" marT="38100" marB="38100" anchor="ctr">
                    <a:solidFill>
                      <a:srgbClr val="F4F2FA"/>
                    </a:solidFill>
                  </a:tcPr>
                </a:tc>
                <a:tc>
                  <a:txBody>
                    <a:bodyPr/>
                    <a:lstStyle/>
                    <a:p/>
                  </a:txBody>
                  <a:tcPr marL="101600" marR="101600" marT="38100" marB="38100" anchor="ctr">
                    <a:solidFill>
                      <a:srgbClr val="F4F2FA"/>
                    </a:solidFill>
                  </a:tcPr>
                </a:tc>
                <a:tc>
                  <a:txBody>
                    <a:bodyPr/>
                    <a:lstStyle/>
                    <a:p>
                      <a:r>
                        <a:rPr sz="1200" b="0" i="0">
                          <a:solidFill>
                            <a:srgbClr val="1A1440"/>
                          </a:solidFill>
                          <a:latin typeface="Calibri"/>
                        </a:rPr>
                        <a:t>Rs 74 lakh</a:t>
                      </a:r>
                    </a:p>
                  </a:txBody>
                  <a:tcPr marL="101600" marR="101600" marT="38100" marB="38100" anchor="ctr">
                    <a:solidFill>
                      <a:srgbClr val="F4F2FA"/>
                    </a:solidFill>
                  </a:tcPr>
                </a:tc>
              </a:tr>
              <a:tr h="335280">
                <a:tc>
                  <a:txBody>
                    <a:bodyPr/>
                    <a:lstStyle/>
                    <a:p>
                      <a:r>
                        <a:rPr sz="1200" b="0" i="0">
                          <a:solidFill>
                            <a:srgbClr val="1A1440"/>
                          </a:solidFill>
                          <a:latin typeface="Calibri"/>
                        </a:rPr>
                        <a:t>Rider requests</a:t>
                      </a:r>
                    </a:p>
                  </a:txBody>
                  <a:tcPr marL="101600" marR="101600" marT="38100" marB="38100" anchor="ctr">
                    <a:solidFill>
                      <a:srgbClr val="FFFFFF"/>
                    </a:solidFill>
                  </a:tcPr>
                </a:tc>
                <a:tc>
                  <a:txBody>
                    <a:bodyPr/>
                    <a:lstStyle/>
                    <a:p>
                      <a:r>
                        <a:rPr sz="1200" b="0" i="0">
                          <a:solidFill>
                            <a:srgbClr val="1A1440"/>
                          </a:solidFill>
                          <a:latin typeface="Calibri"/>
                        </a:rPr>
                        <a:t>2,51,910</a:t>
                      </a:r>
                    </a:p>
                  </a:txBody>
                  <a:tcPr marL="101600" marR="101600" marT="38100" marB="38100" anchor="ctr">
                    <a:solidFill>
                      <a:srgbClr val="FFFFFF"/>
                    </a:solidFill>
                  </a:tcPr>
                </a:tc>
                <a:tc>
                  <a:txBody>
                    <a:bodyPr/>
                    <a:lstStyle/>
                    <a:p>
                      <a:r>
                        <a:rPr sz="1200" b="0" i="0">
                          <a:solidFill>
                            <a:srgbClr val="1A1440"/>
                          </a:solidFill>
                          <a:latin typeface="Calibri"/>
                        </a:rPr>
                        <a:t>2,56,556</a:t>
                      </a:r>
                    </a:p>
                  </a:txBody>
                  <a:tcPr marL="101600" marR="101600" marT="38100" marB="38100" anchor="ctr">
                    <a:solidFill>
                      <a:srgbClr val="FFFFFF"/>
                    </a:solidFill>
                  </a:tcPr>
                </a:tc>
              </a:tr>
            </a:tbl>
          </a:graphicData>
        </a:graphic>
      </p:graphicFrame>
      <p:sp>
        <p:nvSpPr>
          <p:cNvPr id="10" name="Rounded Rectangle 9"/>
          <p:cNvSpPr/>
          <p:nvPr/>
        </p:nvSpPr>
        <p:spPr>
          <a:xfrm>
            <a:off x="530352" y="5291328"/>
            <a:ext cx="11130991" cy="73660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419344"/>
            <a:ext cx="45720" cy="48056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410200"/>
            <a:ext cx="10564063" cy="553720"/>
          </a:xfrm>
          <a:prstGeom prst="rect">
            <a:avLst/>
          </a:prstGeom>
          <a:noFill/>
        </p:spPr>
        <p:txBody>
          <a:bodyPr wrap="square" anchor="ctr" lIns="0" rIns="0" tIns="0" bIns="0">
            <a:spAutoFit/>
          </a:bodyPr>
          <a:lstStyle/>
          <a:p>
            <a:r>
              <a:rPr sz="1300" b="1">
                <a:solidFill>
                  <a:srgbClr val="5B3FD6"/>
                </a:solidFill>
                <a:latin typeface="Calibri"/>
              </a:rPr>
              <a:t>Half worked. </a:t>
            </a:r>
            <a:r>
              <a:rPr sz="1300" b="0" i="0">
                <a:solidFill>
                  <a:srgbClr val="1A1440"/>
                </a:solidFill>
                <a:latin typeface="Calibri"/>
              </a:rPr>
              <a:t>The claim is drafted for you: "Rs 1.16 crore of the top-up went to driver-weeks that accepted fewer than half their offers." Choose the one number that proves it, and the caveat that sits beside it.</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is the one claim?</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36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Slide C: nine numbers from driver operations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one claim does driver operations' slide carry, in a sentence of your own?</a:t>
            </a:r>
          </a:p>
        </p:txBody>
      </p:sp>
      <p:graphicFrame>
        <p:nvGraphicFramePr>
          <p:cNvPr id="9" name="Table 8"/>
          <p:cNvGraphicFramePr>
            <a:graphicFrameLocks noGrp="1"/>
          </p:cNvGraphicFramePr>
          <p:nvPr/>
        </p:nvGraphicFramePr>
        <p:xfrm>
          <a:off x="530352" y="1682496"/>
          <a:ext cx="11130990" cy="3352800"/>
        </p:xfrm>
        <a:graphic>
          <a:graphicData uri="http://schemas.openxmlformats.org/drawingml/2006/table">
            <a:tbl>
              <a:tblPr firstRow="0" bandRow="0">
                <a:tableStyleId>{2D5ABB26-0587-4C30-8999-92F81FD0307C}</a:tableStyleId>
              </a:tblPr>
              <a:tblGrid>
                <a:gridCol w="6930402"/>
                <a:gridCol w="3286188"/>
                <a:gridCol w="914400"/>
              </a:tblGrid>
              <a:tr h="335280">
                <a:tc>
                  <a:txBody>
                    <a:bodyPr/>
                    <a:lstStyle/>
                    <a:p>
                      <a:r>
                        <a:rPr sz="1250" b="1" i="0">
                          <a:solidFill>
                            <a:srgbClr val="FFFFFF"/>
                          </a:solidFill>
                          <a:latin typeface="Calibri"/>
                        </a:rPr>
                        <a:t>Driver operations' tab, as sent</a:t>
                      </a:r>
                    </a:p>
                  </a:txBody>
                  <a:tcPr marL="101600" marR="101600" marT="38100" marB="38100" anchor="ctr">
                    <a:solidFill>
                      <a:srgbClr val="1A0F5C"/>
                    </a:solidFill>
                  </a:tcPr>
                </a:tc>
                <a:tc>
                  <a:txBody>
                    <a:bodyPr/>
                    <a:lstStyle/>
                    <a:p>
                      <a:r>
                        <a:rPr sz="1250" b="1" i="0">
                          <a:solidFill>
                            <a:srgbClr val="FFFFFF"/>
                          </a:solidFill>
                          <a:latin typeface="Calibri"/>
                        </a:rPr>
                        <a:t>Before</a:t>
                      </a:r>
                    </a:p>
                  </a:txBody>
                  <a:tcPr marL="101600" marR="101600" marT="38100" marB="38100" anchor="ctr">
                    <a:solidFill>
                      <a:srgbClr val="1A0F5C"/>
                    </a:solidFill>
                  </a:tcPr>
                </a:tc>
                <a:tc>
                  <a:txBody>
                    <a:bodyPr/>
                    <a:lstStyle/>
                    <a:p>
                      <a:r>
                        <a:rPr sz="1250" b="1" i="0">
                          <a:solidFill>
                            <a:srgbClr val="FFFFFF"/>
                          </a:solidFill>
                          <a:latin typeface="Calibri"/>
                        </a:rPr>
                        <a:t>After</a:t>
                      </a:r>
                    </a:p>
                  </a:txBody>
                  <a:tcPr marL="101600" marR="101600" marT="38100" marB="38100" anchor="ctr">
                    <a:solidFill>
                      <a:srgbClr val="1A0F5C"/>
                    </a:solidFill>
                  </a:tcPr>
                </a:tc>
              </a:tr>
              <a:tr h="335280">
                <a:tc>
                  <a:txBody>
                    <a:bodyPr/>
                    <a:lstStyle/>
                    <a:p>
                      <a:r>
                        <a:rPr sz="1200" b="0" i="0">
                          <a:solidFill>
                            <a:srgbClr val="1A1440"/>
                          </a:solidFill>
                          <a:latin typeface="Calibri"/>
                        </a:rPr>
                        <a:t>Drivers</a:t>
                      </a:r>
                    </a:p>
                  </a:txBody>
                  <a:tcPr marL="101600" marR="101600" marT="38100" marB="38100" anchor="ctr">
                    <a:solidFill>
                      <a:srgbClr val="FFFFFF"/>
                    </a:solidFill>
                  </a:tcPr>
                </a:tc>
                <a:tc>
                  <a:txBody>
                    <a:bodyPr/>
                    <a:lstStyle/>
                    <a:p>
                      <a:r>
                        <a:rPr sz="1200" b="0" i="0">
                          <a:solidFill>
                            <a:srgbClr val="1A1440"/>
                          </a:solidFill>
                          <a:latin typeface="Calibri"/>
                        </a:rPr>
                        <a:t>1,200 (140 new)</a:t>
                      </a:r>
                    </a:p>
                  </a:txBody>
                  <a:tcPr marL="101600" marR="101600" marT="38100" marB="38100" anchor="ctr">
                    <a:solidFill>
                      <a:srgbClr val="FFFFFF"/>
                    </a:solidFill>
                  </a:tcPr>
                </a:tc>
                <a:tc>
                  <a:txBody>
                    <a:bodyPr/>
                    <a:lstStyle/>
                    <a:p/>
                  </a:txBody>
                  <a:tcPr marL="101600" marR="101600" marT="38100" marB="38100" anchor="ctr">
                    <a:solidFill>
                      <a:srgbClr val="FFFFFF"/>
                    </a:solidFill>
                  </a:tcPr>
                </a:tc>
              </a:tr>
              <a:tr h="335280">
                <a:tc>
                  <a:txBody>
                    <a:bodyPr/>
                    <a:lstStyle/>
                    <a:p>
                      <a:r>
                        <a:rPr sz="1200" b="0" i="0">
                          <a:solidFill>
                            <a:srgbClr val="1A1440"/>
                          </a:solidFill>
                          <a:latin typeface="Calibri"/>
                        </a:rPr>
                        <a:t>Active driver-weeks</a:t>
                      </a:r>
                    </a:p>
                  </a:txBody>
                  <a:tcPr marL="101600" marR="101600" marT="38100" marB="38100" anchor="ctr">
                    <a:solidFill>
                      <a:srgbClr val="F4F2FA"/>
                    </a:solidFill>
                  </a:tcPr>
                </a:tc>
                <a:tc>
                  <a:txBody>
                    <a:bodyPr/>
                    <a:lstStyle/>
                    <a:p>
                      <a:r>
                        <a:rPr sz="1200" b="0" i="0">
                          <a:solidFill>
                            <a:srgbClr val="1A1440"/>
                          </a:solidFill>
                          <a:latin typeface="Calibri"/>
                        </a:rPr>
                        <a:t>6,360</a:t>
                      </a:r>
                    </a:p>
                  </a:txBody>
                  <a:tcPr marL="101600" marR="101600" marT="38100" marB="38100" anchor="ctr">
                    <a:solidFill>
                      <a:srgbClr val="F4F2FA"/>
                    </a:solidFill>
                  </a:tcPr>
                </a:tc>
                <a:tc>
                  <a:txBody>
                    <a:bodyPr/>
                    <a:lstStyle/>
                    <a:p>
                      <a:r>
                        <a:rPr sz="1200" b="0" i="0">
                          <a:solidFill>
                            <a:srgbClr val="1A1440"/>
                          </a:solidFill>
                          <a:latin typeface="Calibri"/>
                        </a:rPr>
                        <a:t>6,500</a:t>
                      </a:r>
                    </a:p>
                  </a:txBody>
                  <a:tcPr marL="101600" marR="101600" marT="38100" marB="38100" anchor="ctr">
                    <a:solidFill>
                      <a:srgbClr val="F4F2FA"/>
                    </a:solidFill>
                  </a:tcPr>
                </a:tc>
              </a:tr>
              <a:tr h="335280">
                <a:tc>
                  <a:txBody>
                    <a:bodyPr/>
                    <a:lstStyle/>
                    <a:p>
                      <a:r>
                        <a:rPr sz="1200" b="0" i="0">
                          <a:solidFill>
                            <a:srgbClr val="1A1440"/>
                          </a:solidFill>
                          <a:latin typeface="Calibri"/>
                        </a:rPr>
                        <a:t>Offers shown to drivers</a:t>
                      </a:r>
                    </a:p>
                  </a:txBody>
                  <a:tcPr marL="101600" marR="101600" marT="38100" marB="38100" anchor="ctr">
                    <a:solidFill>
                      <a:srgbClr val="FFFFFF"/>
                    </a:solidFill>
                  </a:tcPr>
                </a:tc>
                <a:tc>
                  <a:txBody>
                    <a:bodyPr/>
                    <a:lstStyle/>
                    <a:p>
                      <a:r>
                        <a:rPr sz="1200" b="0" i="0">
                          <a:solidFill>
                            <a:srgbClr val="1A1440"/>
                          </a:solidFill>
                          <a:latin typeface="Calibri"/>
                        </a:rPr>
                        <a:t>2,69,773</a:t>
                      </a:r>
                    </a:p>
                  </a:txBody>
                  <a:tcPr marL="101600" marR="101600" marT="38100" marB="38100" anchor="ctr">
                    <a:solidFill>
                      <a:srgbClr val="FFFFFF"/>
                    </a:solidFill>
                  </a:tcPr>
                </a:tc>
                <a:tc>
                  <a:txBody>
                    <a:bodyPr/>
                    <a:lstStyle/>
                    <a:p>
                      <a:r>
                        <a:rPr sz="1200" b="0" i="0">
                          <a:solidFill>
                            <a:srgbClr val="1A1440"/>
                          </a:solidFill>
                          <a:latin typeface="Calibri"/>
                        </a:rPr>
                        <a:t>3,47,583</a:t>
                      </a:r>
                    </a:p>
                  </a:txBody>
                  <a:tcPr marL="101600" marR="101600" marT="38100" marB="38100" anchor="ctr">
                    <a:solidFill>
                      <a:srgbClr val="FFFFFF"/>
                    </a:solidFill>
                  </a:tcPr>
                </a:tc>
              </a:tr>
              <a:tr h="335280">
                <a:tc>
                  <a:txBody>
                    <a:bodyPr/>
                    <a:lstStyle/>
                    <a:p>
                      <a:r>
                        <a:rPr sz="1200" b="0" i="0">
                          <a:solidFill>
                            <a:srgbClr val="1A1440"/>
                          </a:solidFill>
                          <a:latin typeface="Calibri"/>
                        </a:rPr>
                        <a:t>Acceptance share</a:t>
                      </a:r>
                    </a:p>
                  </a:txBody>
                  <a:tcPr marL="101600" marR="101600" marT="38100" marB="38100" anchor="ctr">
                    <a:solidFill>
                      <a:srgbClr val="F4F2FA"/>
                    </a:solidFill>
                  </a:tcPr>
                </a:tc>
                <a:tc>
                  <a:txBody>
                    <a:bodyPr/>
                    <a:lstStyle/>
                    <a:p>
                      <a:r>
                        <a:rPr sz="1200" b="0" i="0">
                          <a:solidFill>
                            <a:srgbClr val="1A1440"/>
                          </a:solidFill>
                          <a:latin typeface="Calibri"/>
                        </a:rPr>
                        <a:t>0.86</a:t>
                      </a:r>
                    </a:p>
                  </a:txBody>
                  <a:tcPr marL="101600" marR="101600" marT="38100" marB="38100" anchor="ctr">
                    <a:solidFill>
                      <a:srgbClr val="F4F2FA"/>
                    </a:solidFill>
                  </a:tcPr>
                </a:tc>
                <a:tc>
                  <a:txBody>
                    <a:bodyPr/>
                    <a:lstStyle/>
                    <a:p>
                      <a:r>
                        <a:rPr sz="1200" b="0" i="0">
                          <a:solidFill>
                            <a:srgbClr val="1A1440"/>
                          </a:solidFill>
                          <a:latin typeface="Calibri"/>
                        </a:rPr>
                        <a:t>0.73</a:t>
                      </a:r>
                    </a:p>
                  </a:txBody>
                  <a:tcPr marL="101600" marR="101600" marT="38100" marB="38100" anchor="ctr">
                    <a:solidFill>
                      <a:srgbClr val="F4F2FA"/>
                    </a:solidFill>
                  </a:tcPr>
                </a:tc>
              </a:tr>
              <a:tr h="335280">
                <a:tc>
                  <a:txBody>
                    <a:bodyPr/>
                    <a:lstStyle/>
                    <a:p>
                      <a:r>
                        <a:rPr sz="1200" b="0" i="0">
                          <a:solidFill>
                            <a:srgbClr val="1A1440"/>
                          </a:solidFill>
                          <a:latin typeface="Calibri"/>
                        </a:rPr>
                        <a:t>Driver cancels after accepting</a:t>
                      </a:r>
                    </a:p>
                  </a:txBody>
                  <a:tcPr marL="101600" marR="101600" marT="38100" marB="38100" anchor="ctr">
                    <a:solidFill>
                      <a:srgbClr val="FFFFFF"/>
                    </a:solidFill>
                  </a:tcPr>
                </a:tc>
                <a:tc>
                  <a:txBody>
                    <a:bodyPr/>
                    <a:lstStyle/>
                    <a:p>
                      <a:r>
                        <a:rPr sz="1200" b="0" i="0">
                          <a:solidFill>
                            <a:srgbClr val="1A1440"/>
                          </a:solidFill>
                          <a:latin typeface="Calibri"/>
                        </a:rPr>
                        <a:t>0.04</a:t>
                      </a:r>
                    </a:p>
                  </a:txBody>
                  <a:tcPr marL="101600" marR="101600" marT="38100" marB="38100" anchor="ctr">
                    <a:solidFill>
                      <a:srgbClr val="FFFFFF"/>
                    </a:solidFill>
                  </a:tcPr>
                </a:tc>
                <a:tc>
                  <a:txBody>
                    <a:bodyPr/>
                    <a:lstStyle/>
                    <a:p>
                      <a:r>
                        <a:rPr sz="1200" b="0" i="0">
                          <a:solidFill>
                            <a:srgbClr val="1A1440"/>
                          </a:solidFill>
                          <a:latin typeface="Calibri"/>
                        </a:rPr>
                        <a:t>0.09</a:t>
                      </a:r>
                    </a:p>
                  </a:txBody>
                  <a:tcPr marL="101600" marR="101600" marT="38100" marB="38100" anchor="ctr">
                    <a:solidFill>
                      <a:srgbClr val="FFFFFF"/>
                    </a:solidFill>
                  </a:tcPr>
                </a:tc>
              </a:tr>
              <a:tr h="335280">
                <a:tc>
                  <a:txBody>
                    <a:bodyPr/>
                    <a:lstStyle/>
                    <a:p>
                      <a:r>
                        <a:rPr sz="1200" b="0" i="0">
                          <a:solidFill>
                            <a:srgbClr val="1A1440"/>
                          </a:solidFill>
                          <a:latin typeface="Calibri"/>
                        </a:rPr>
                        <a:t>Drivers in the idle tail</a:t>
                      </a:r>
                    </a:p>
                  </a:txBody>
                  <a:tcPr marL="101600" marR="101600" marT="38100" marB="38100" anchor="ctr">
                    <a:solidFill>
                      <a:srgbClr val="F4F2FA"/>
                    </a:solidFill>
                  </a:tcPr>
                </a:tc>
                <a:tc>
                  <a:txBody>
                    <a:bodyPr/>
                    <a:lstStyle/>
                    <a:p/>
                  </a:txBody>
                  <a:tcPr marL="101600" marR="101600" marT="38100" marB="38100" anchor="ctr">
                    <a:solidFill>
                      <a:srgbClr val="F4F2FA"/>
                    </a:solidFill>
                  </a:tcPr>
                </a:tc>
                <a:tc>
                  <a:txBody>
                    <a:bodyPr/>
                    <a:lstStyle/>
                    <a:p>
                      <a:r>
                        <a:rPr sz="1200" b="0" i="0">
                          <a:solidFill>
                            <a:srgbClr val="1A1440"/>
                          </a:solidFill>
                          <a:latin typeface="Calibri"/>
                        </a:rPr>
                        <a:t>180</a:t>
                      </a:r>
                    </a:p>
                  </a:txBody>
                  <a:tcPr marL="101600" marR="101600" marT="38100" marB="38100" anchor="ctr">
                    <a:solidFill>
                      <a:srgbClr val="F4F2FA"/>
                    </a:solidFill>
                  </a:tcPr>
                </a:tc>
              </a:tr>
              <a:tr h="335280">
                <a:tc>
                  <a:txBody>
                    <a:bodyPr/>
                    <a:lstStyle/>
                    <a:p>
                      <a:r>
                        <a:rPr sz="1200" b="0" i="0">
                          <a:solidFill>
                            <a:srgbClr val="1A1440"/>
                          </a:solidFill>
                          <a:latin typeface="Calibri"/>
                        </a:rPr>
                        <a:t>Idle-tail online hours</a:t>
                      </a:r>
                    </a:p>
                  </a:txBody>
                  <a:tcPr marL="101600" marR="101600" marT="38100" marB="38100" anchor="ctr">
                    <a:solidFill>
                      <a:srgbClr val="FFFFFF"/>
                    </a:solidFill>
                  </a:tcPr>
                </a:tc>
                <a:tc>
                  <a:txBody>
                    <a:bodyPr/>
                    <a:lstStyle/>
                    <a:p>
                      <a:r>
                        <a:rPr sz="1200" b="0" i="0">
                          <a:solidFill>
                            <a:srgbClr val="1A1440"/>
                          </a:solidFill>
                          <a:latin typeface="Calibri"/>
                        </a:rPr>
                        <a:t>20,000</a:t>
                      </a:r>
                    </a:p>
                  </a:txBody>
                  <a:tcPr marL="101600" marR="101600" marT="38100" marB="38100" anchor="ctr">
                    <a:solidFill>
                      <a:srgbClr val="FFFFFF"/>
                    </a:solidFill>
                  </a:tcPr>
                </a:tc>
                <a:tc>
                  <a:txBody>
                    <a:bodyPr/>
                    <a:lstStyle/>
                    <a:p>
                      <a:r>
                        <a:rPr sz="1200" b="0" i="0">
                          <a:solidFill>
                            <a:srgbClr val="1A1440"/>
                          </a:solidFill>
                          <a:latin typeface="Calibri"/>
                        </a:rPr>
                        <a:t>42,000</a:t>
                      </a:r>
                    </a:p>
                  </a:txBody>
                  <a:tcPr marL="101600" marR="101600" marT="38100" marB="38100" anchor="ctr">
                    <a:solidFill>
                      <a:srgbClr val="FFFFFF"/>
                    </a:solidFill>
                  </a:tcPr>
                </a:tc>
              </a:tr>
              <a:tr h="335280">
                <a:tc>
                  <a:txBody>
                    <a:bodyPr/>
                    <a:lstStyle/>
                    <a:p>
                      <a:r>
                        <a:rPr sz="1200" b="0" i="0">
                          <a:solidFill>
                            <a:srgbClr val="1A1440"/>
                          </a:solidFill>
                          <a:latin typeface="Calibri"/>
                        </a:rPr>
                        <a:t>Idle-tail trips</a:t>
                      </a:r>
                    </a:p>
                  </a:txBody>
                  <a:tcPr marL="101600" marR="101600" marT="38100" marB="38100" anchor="ctr">
                    <a:solidFill>
                      <a:srgbClr val="F4F2FA"/>
                    </a:solidFill>
                  </a:tcPr>
                </a:tc>
                <a:tc>
                  <a:txBody>
                    <a:bodyPr/>
                    <a:lstStyle/>
                    <a:p>
                      <a:r>
                        <a:rPr sz="1200" b="0" i="0">
                          <a:solidFill>
                            <a:srgbClr val="1A1440"/>
                          </a:solidFill>
                          <a:latin typeface="Calibri"/>
                        </a:rPr>
                        <a:t>38,000</a:t>
                      </a:r>
                    </a:p>
                  </a:txBody>
                  <a:tcPr marL="101600" marR="101600" marT="38100" marB="38100" anchor="ctr">
                    <a:solidFill>
                      <a:srgbClr val="F4F2FA"/>
                    </a:solidFill>
                  </a:tcPr>
                </a:tc>
                <a:tc>
                  <a:txBody>
                    <a:bodyPr/>
                    <a:lstStyle/>
                    <a:p>
                      <a:r>
                        <a:rPr sz="1200" b="0" i="0">
                          <a:solidFill>
                            <a:srgbClr val="1A1440"/>
                          </a:solidFill>
                          <a:latin typeface="Calibri"/>
                        </a:rPr>
                        <a:t>33,440</a:t>
                      </a:r>
                    </a:p>
                  </a:txBody>
                  <a:tcPr marL="101600" marR="101600" marT="38100" marB="38100" anchor="ctr">
                    <a:solidFill>
                      <a:srgbClr val="F4F2FA"/>
                    </a:solidFill>
                  </a:tcPr>
                </a:tc>
              </a:tr>
              <a:tr h="335280">
                <a:tc>
                  <a:txBody>
                    <a:bodyPr/>
                    <a:lstStyle/>
                    <a:p>
                      <a:r>
                        <a:rPr sz="1200" b="0" i="0">
                          <a:solidFill>
                            <a:srgbClr val="1A1440"/>
                          </a:solidFill>
                          <a:latin typeface="Calibri"/>
                        </a:rPr>
                        <a:t>Unfulfilled requests</a:t>
                      </a:r>
                    </a:p>
                  </a:txBody>
                  <a:tcPr marL="101600" marR="101600" marT="38100" marB="38100" anchor="ctr">
                    <a:solidFill>
                      <a:srgbClr val="FFFFFF"/>
                    </a:solidFill>
                  </a:tcPr>
                </a:tc>
                <a:tc>
                  <a:txBody>
                    <a:bodyPr/>
                    <a:lstStyle/>
                    <a:p>
                      <a:r>
                        <a:rPr sz="1200" b="0" i="0">
                          <a:solidFill>
                            <a:srgbClr val="1A1440"/>
                          </a:solidFill>
                          <a:latin typeface="Calibri"/>
                        </a:rPr>
                        <a:t>0.11</a:t>
                      </a:r>
                    </a:p>
                  </a:txBody>
                  <a:tcPr marL="101600" marR="101600" marT="38100" marB="38100" anchor="ctr">
                    <a:solidFill>
                      <a:srgbClr val="FFFFFF"/>
                    </a:solidFill>
                  </a:tcPr>
                </a:tc>
                <a:tc>
                  <a:txBody>
                    <a:bodyPr/>
                    <a:lstStyle/>
                    <a:p>
                      <a:r>
                        <a:rPr sz="1200" b="0" i="0">
                          <a:solidFill>
                            <a:srgbClr val="1A1440"/>
                          </a:solidFill>
                          <a:latin typeface="Calibri"/>
                        </a:rPr>
                        <a:t>0.10</a:t>
                      </a:r>
                    </a:p>
                  </a:txBody>
                  <a:tcPr marL="101600" marR="101600" marT="38100" marB="38100" anchor="ctr">
                    <a:solidFill>
                      <a:srgbClr val="FFFFFF"/>
                    </a:solidFill>
                  </a:tcPr>
                </a:tc>
              </a:tr>
            </a:tbl>
          </a:graphicData>
        </a:graphic>
      </p:graphicFrame>
      <p:sp>
        <p:nvSpPr>
          <p:cNvPr id="10" name="Rounded Rectangle 9"/>
          <p:cNvSpPr/>
          <p:nvPr/>
        </p:nvSpPr>
        <p:spPr>
          <a:xfrm>
            <a:off x="530352" y="5291328"/>
            <a:ext cx="11130991" cy="73660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419344"/>
            <a:ext cx="45720" cy="48056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410200"/>
            <a:ext cx="10564063" cy="553720"/>
          </a:xfrm>
          <a:prstGeom prst="rect">
            <a:avLst/>
          </a:prstGeom>
          <a:noFill/>
        </p:spPr>
        <p:txBody>
          <a:bodyPr wrap="square" anchor="ctr" lIns="0" rIns="0" tIns="0" bIns="0">
            <a:spAutoFit/>
          </a:bodyPr>
          <a:lstStyle/>
          <a:p>
            <a:r>
              <a:rPr sz="1300" b="1">
                <a:solidFill>
                  <a:srgbClr val="5B3FD6"/>
                </a:solidFill>
                <a:latin typeface="Calibri"/>
              </a:rPr>
              <a:t>Blank. </a:t>
            </a:r>
            <a:r>
              <a:rPr sz="1300" b="0" i="0">
                <a:solidFill>
                  <a:srgbClr val="1A1440"/>
                </a:solidFill>
                <a:latin typeface="Calibri"/>
              </a:rPr>
              <a:t>Write the claim yourself, keep two numbers, and name the caveat. The </a:t>
            </a:r>
            <a:r>
              <a:rPr sz="1300" b="1" i="0">
                <a:solidFill>
                  <a:srgbClr val="1A1440"/>
                </a:solidFill>
                <a:latin typeface="Calibri"/>
              </a:rPr>
              <a:t>idle tail</a:t>
            </a:r>
            <a:r>
              <a:rPr sz="1300" b="0" i="0">
                <a:solidFill>
                  <a:srgbClr val="1A1440"/>
                </a:solidFill>
                <a:latin typeface="Calibri"/>
              </a:rPr>
              <a:t> is Monday's name for the 180 drivers whose trips per online hour fell under 1.0 after the launch.</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is the one claim?</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14 / 36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twelve rows, read in rupees three ways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six drivers in two weeks say when the denominator changes?</a:t>
            </a:r>
          </a:p>
        </p:txBody>
      </p:sp>
      <p:graphicFrame>
        <p:nvGraphicFramePr>
          <p:cNvPr id="9" name="Table 8"/>
          <p:cNvGraphicFramePr>
            <a:graphicFrameLocks noGrp="1"/>
          </p:cNvGraphicFramePr>
          <p:nvPr/>
        </p:nvGraphicFramePr>
        <p:xfrm>
          <a:off x="530352" y="1956816"/>
          <a:ext cx="11130988" cy="2682240"/>
        </p:xfrm>
        <a:graphic>
          <a:graphicData uri="http://schemas.openxmlformats.org/drawingml/2006/table">
            <a:tbl>
              <a:tblPr firstRow="0" bandRow="0">
                <a:tableStyleId>{2D5ABB26-0587-4C30-8999-92F81FD0307C}</a:tableStyleId>
              </a:tblPr>
              <a:tblGrid>
                <a:gridCol w="914400"/>
                <a:gridCol w="1564898"/>
                <a:gridCol w="1608526"/>
                <a:gridCol w="1608526"/>
                <a:gridCol w="1275371"/>
                <a:gridCol w="1497474"/>
                <a:gridCol w="1497474"/>
                <a:gridCol w="1164319"/>
              </a:tblGrid>
              <a:tr h="335280">
                <a:tc>
                  <a:txBody>
                    <a:bodyPr/>
                    <a:lstStyle/>
                    <a:p>
                      <a:r>
                        <a:rPr sz="1250" b="1" i="0">
                          <a:solidFill>
                            <a:srgbClr val="FFFFFF"/>
                          </a:solidFill>
                          <a:latin typeface="Calibri"/>
                        </a:rPr>
                        <a:t>Driver</a:t>
                      </a:r>
                    </a:p>
                  </a:txBody>
                  <a:tcPr marL="101600" marR="101600" marT="38100" marB="38100" anchor="ctr">
                    <a:solidFill>
                      <a:srgbClr val="1A0F5C"/>
                    </a:solidFill>
                  </a:tcPr>
                </a:tc>
                <a:tc>
                  <a:txBody>
                    <a:bodyPr/>
                    <a:lstStyle/>
                    <a:p>
                      <a:r>
                        <a:rPr sz="1250" b="1" i="0">
                          <a:solidFill>
                            <a:srgbClr val="FFFFFF"/>
                          </a:solidFill>
                          <a:latin typeface="Calibri"/>
                        </a:rPr>
                        <a:t>Zone</a:t>
                      </a:r>
                    </a:p>
                  </a:txBody>
                  <a:tcPr marL="101600" marR="101600" marT="38100" marB="38100" anchor="ctr">
                    <a:solidFill>
                      <a:srgbClr val="1A0F5C"/>
                    </a:solidFill>
                  </a:tcPr>
                </a:tc>
                <a:tc>
                  <a:txBody>
                    <a:bodyPr/>
                    <a:lstStyle/>
                    <a:p>
                      <a:r>
                        <a:rPr sz="1250" b="1" i="0">
                          <a:solidFill>
                            <a:srgbClr val="FFFFFF"/>
                          </a:solidFill>
                          <a:latin typeface="Calibri"/>
                        </a:rPr>
                        <a:t>Hours before</a:t>
                      </a:r>
                    </a:p>
                  </a:txBody>
                  <a:tcPr marL="101600" marR="101600" marT="38100" marB="38100" anchor="ctr">
                    <a:solidFill>
                      <a:srgbClr val="1A0F5C"/>
                    </a:solidFill>
                  </a:tcPr>
                </a:tc>
                <a:tc>
                  <a:txBody>
                    <a:bodyPr/>
                    <a:lstStyle/>
                    <a:p>
                      <a:r>
                        <a:rPr sz="1250" b="1" i="0">
                          <a:solidFill>
                            <a:srgbClr val="FFFFFF"/>
                          </a:solidFill>
                          <a:latin typeface="Calibri"/>
                        </a:rPr>
                        <a:t>Trips before</a:t>
                      </a:r>
                    </a:p>
                  </a:txBody>
                  <a:tcPr marL="101600" marR="101600" marT="38100" marB="38100" anchor="ctr">
                    <a:solidFill>
                      <a:srgbClr val="1A0F5C"/>
                    </a:solidFill>
                  </a:tcPr>
                </a:tc>
                <a:tc>
                  <a:txBody>
                    <a:bodyPr/>
                    <a:lstStyle/>
                    <a:p>
                      <a:r>
                        <a:rPr sz="1250" b="1" i="0">
                          <a:solidFill>
                            <a:srgbClr val="FFFFFF"/>
                          </a:solidFill>
                          <a:latin typeface="Calibri"/>
                        </a:rPr>
                        <a:t>Rs before</a:t>
                      </a:r>
                    </a:p>
                  </a:txBody>
                  <a:tcPr marL="101600" marR="101600" marT="38100" marB="38100" anchor="ctr">
                    <a:solidFill>
                      <a:srgbClr val="1A0F5C"/>
                    </a:solidFill>
                  </a:tcPr>
                </a:tc>
                <a:tc>
                  <a:txBody>
                    <a:bodyPr/>
                    <a:lstStyle/>
                    <a:p>
                      <a:r>
                        <a:rPr sz="1250" b="1" i="0">
                          <a:solidFill>
                            <a:srgbClr val="FFFFFF"/>
                          </a:solidFill>
                          <a:latin typeface="Calibri"/>
                        </a:rPr>
                        <a:t>Hours after</a:t>
                      </a:r>
                    </a:p>
                  </a:txBody>
                  <a:tcPr marL="101600" marR="101600" marT="38100" marB="38100" anchor="ctr">
                    <a:solidFill>
                      <a:srgbClr val="1A0F5C"/>
                    </a:solidFill>
                  </a:tcPr>
                </a:tc>
                <a:tc>
                  <a:txBody>
                    <a:bodyPr/>
                    <a:lstStyle/>
                    <a:p>
                      <a:r>
                        <a:rPr sz="1250" b="1" i="0">
                          <a:solidFill>
                            <a:srgbClr val="FFFFFF"/>
                          </a:solidFill>
                          <a:latin typeface="Calibri"/>
                        </a:rPr>
                        <a:t>Trips after</a:t>
                      </a:r>
                    </a:p>
                  </a:txBody>
                  <a:tcPr marL="101600" marR="101600" marT="38100" marB="38100" anchor="ctr">
                    <a:solidFill>
                      <a:srgbClr val="1A0F5C"/>
                    </a:solidFill>
                  </a:tcPr>
                </a:tc>
                <a:tc>
                  <a:txBody>
                    <a:bodyPr/>
                    <a:lstStyle/>
                    <a:p>
                      <a:r>
                        <a:rPr sz="1250" b="1" i="0">
                          <a:solidFill>
                            <a:srgbClr val="FFFFFF"/>
                          </a:solidFill>
                          <a:latin typeface="Calibri"/>
                        </a:rPr>
                        <a:t>Rs after</a:t>
                      </a:r>
                    </a:p>
                  </a:txBody>
                  <a:tcPr marL="101600" marR="101600" marT="38100" marB="38100" anchor="ctr">
                    <a:solidFill>
                      <a:srgbClr val="1A0F5C"/>
                    </a:solidFill>
                  </a:tcPr>
                </a:tc>
              </a:tr>
              <a:tr h="335280">
                <a:tc>
                  <a:txBody>
                    <a:bodyPr/>
                    <a:lstStyle/>
                    <a:p>
                      <a:r>
                        <a:rPr sz="1200" b="0" i="0">
                          <a:solidFill>
                            <a:srgbClr val="1A1440"/>
                          </a:solidFill>
                          <a:latin typeface="Calibri"/>
                        </a:rPr>
                        <a:t>A</a:t>
                      </a:r>
                    </a:p>
                  </a:txBody>
                  <a:tcPr marL="101600" marR="101600" marT="38100" marB="38100" anchor="ctr">
                    <a:solidFill>
                      <a:srgbClr val="FFFFFF"/>
                    </a:solidFill>
                  </a:tcPr>
                </a:tc>
                <a:tc>
                  <a:txBody>
                    <a:bodyPr/>
                    <a:lstStyle/>
                    <a:p>
                      <a:r>
                        <a:rPr sz="1200" b="0" i="0">
                          <a:solidFill>
                            <a:srgbClr val="1A1440"/>
                          </a:solidFill>
                          <a:latin typeface="Calibri"/>
                        </a:rPr>
                        <a:t>Jubilee Hills</a:t>
                      </a:r>
                    </a:p>
                  </a:txBody>
                  <a:tcPr marL="101600" marR="101600" marT="38100" marB="38100" anchor="ctr">
                    <a:solidFill>
                      <a:srgbClr val="FFFFFF"/>
                    </a:solidFill>
                  </a:tcPr>
                </a:tc>
                <a:tc>
                  <a:txBody>
                    <a:bodyPr/>
                    <a:lstStyle/>
                    <a:p>
                      <a:r>
                        <a:rPr sz="1200" b="0" i="0">
                          <a:solidFill>
                            <a:srgbClr val="1A1440"/>
                          </a:solidFill>
                          <a:latin typeface="Calibri"/>
                        </a:rPr>
                        <a:t>10</a:t>
                      </a:r>
                    </a:p>
                  </a:txBody>
                  <a:tcPr marL="101600" marR="101600" marT="38100" marB="38100" anchor="ctr">
                    <a:solidFill>
                      <a:srgbClr val="FFFFFF"/>
                    </a:solidFill>
                  </a:tcPr>
                </a:tc>
                <a:tc>
                  <a:txBody>
                    <a:bodyPr/>
                    <a:lstStyle/>
                    <a:p>
                      <a:r>
                        <a:rPr sz="1200" b="0" i="0">
                          <a:solidFill>
                            <a:srgbClr val="1A1440"/>
                          </a:solidFill>
                          <a:latin typeface="Calibri"/>
                        </a:rPr>
                        <a:t>21</a:t>
                      </a:r>
                    </a:p>
                  </a:txBody>
                  <a:tcPr marL="101600" marR="101600" marT="38100" marB="38100" anchor="ctr">
                    <a:solidFill>
                      <a:srgbClr val="FFFFFF"/>
                    </a:solidFill>
                  </a:tcPr>
                </a:tc>
                <a:tc>
                  <a:txBody>
                    <a:bodyPr/>
                    <a:lstStyle/>
                    <a:p>
                      <a:r>
                        <a:rPr sz="1200" b="0" i="0">
                          <a:solidFill>
                            <a:srgbClr val="1A1440"/>
                          </a:solidFill>
                          <a:latin typeface="Calibri"/>
                        </a:rPr>
                        <a:t>3,465</a:t>
                      </a:r>
                    </a:p>
                  </a:txBody>
                  <a:tcPr marL="101600" marR="101600" marT="38100" marB="38100" anchor="ctr">
                    <a:solidFill>
                      <a:srgbClr val="FFFFFF"/>
                    </a:solidFill>
                  </a:tcPr>
                </a:tc>
                <a:tc>
                  <a:txBody>
                    <a:bodyPr/>
                    <a:lstStyle/>
                    <a:p>
                      <a:r>
                        <a:rPr sz="1200" b="0" i="0">
                          <a:solidFill>
                            <a:srgbClr val="1A1440"/>
                          </a:solidFill>
                          <a:latin typeface="Calibri"/>
                        </a:rPr>
                        <a:t>11</a:t>
                      </a:r>
                    </a:p>
                  </a:txBody>
                  <a:tcPr marL="101600" marR="101600" marT="38100" marB="38100" anchor="ctr">
                    <a:solidFill>
                      <a:srgbClr val="FFFFFF"/>
                    </a:solidFill>
                  </a:tcPr>
                </a:tc>
                <a:tc>
                  <a:txBody>
                    <a:bodyPr/>
                    <a:lstStyle/>
                    <a:p>
                      <a:r>
                        <a:rPr sz="1200" b="0" i="0">
                          <a:solidFill>
                            <a:srgbClr val="1A1440"/>
                          </a:solidFill>
                          <a:latin typeface="Calibri"/>
                        </a:rPr>
                        <a:t>22</a:t>
                      </a:r>
                    </a:p>
                  </a:txBody>
                  <a:tcPr marL="101600" marR="101600" marT="38100" marB="38100" anchor="ctr">
                    <a:solidFill>
                      <a:srgbClr val="FFFFFF"/>
                    </a:solidFill>
                  </a:tcPr>
                </a:tc>
                <a:tc>
                  <a:txBody>
                    <a:bodyPr/>
                    <a:lstStyle/>
                    <a:p>
                      <a:r>
                        <a:rPr sz="1200" b="0" i="0">
                          <a:solidFill>
                            <a:srgbClr val="1A1440"/>
                          </a:solidFill>
                          <a:latin typeface="Calibri"/>
                        </a:rPr>
                        <a:t>3,630</a:t>
                      </a:r>
                    </a:p>
                  </a:txBody>
                  <a:tcPr marL="101600" marR="101600" marT="38100" marB="38100" anchor="ctr">
                    <a:solidFill>
                      <a:srgbClr val="FFFFFF"/>
                    </a:solidFill>
                  </a:tcPr>
                </a:tc>
              </a:tr>
              <a:tr h="335280">
                <a:tc>
                  <a:txBody>
                    <a:bodyPr/>
                    <a:lstStyle/>
                    <a:p>
                      <a:r>
                        <a:rPr sz="1200" b="0" i="0">
                          <a:solidFill>
                            <a:srgbClr val="1A1440"/>
                          </a:solidFill>
                          <a:latin typeface="Calibri"/>
                        </a:rPr>
                        <a:t>B</a:t>
                      </a:r>
                    </a:p>
                  </a:txBody>
                  <a:tcPr marL="101600" marR="101600" marT="38100" marB="38100" anchor="ctr">
                    <a:solidFill>
                      <a:srgbClr val="F4F2FA"/>
                    </a:solidFill>
                  </a:tcPr>
                </a:tc>
                <a:tc>
                  <a:txBody>
                    <a:bodyPr/>
                    <a:lstStyle/>
                    <a:p>
                      <a:r>
                        <a:rPr sz="1200" b="0" i="0">
                          <a:solidFill>
                            <a:srgbClr val="1A1440"/>
                          </a:solidFill>
                          <a:latin typeface="Calibri"/>
                        </a:rPr>
                        <a:t>Banjara Hills</a:t>
                      </a:r>
                    </a:p>
                  </a:txBody>
                  <a:tcPr marL="101600" marR="101600" marT="38100" marB="38100" anchor="ctr">
                    <a:solidFill>
                      <a:srgbClr val="F4F2FA"/>
                    </a:solidFill>
                  </a:tcPr>
                </a:tc>
                <a:tc>
                  <a:txBody>
                    <a:bodyPr/>
                    <a:lstStyle/>
                    <a:p>
                      <a:r>
                        <a:rPr sz="1200" b="0" i="0">
                          <a:solidFill>
                            <a:srgbClr val="1A1440"/>
                          </a:solidFill>
                          <a:latin typeface="Calibri"/>
                        </a:rPr>
                        <a:t>9</a:t>
                      </a:r>
                    </a:p>
                  </a:txBody>
                  <a:tcPr marL="101600" marR="101600" marT="38100" marB="38100" anchor="ctr">
                    <a:solidFill>
                      <a:srgbClr val="F4F2FA"/>
                    </a:solidFill>
                  </a:tcPr>
                </a:tc>
                <a:tc>
                  <a:txBody>
                    <a:bodyPr/>
                    <a:lstStyle/>
                    <a:p>
                      <a:r>
                        <a:rPr sz="1200" b="0" i="0">
                          <a:solidFill>
                            <a:srgbClr val="1A1440"/>
                          </a:solidFill>
                          <a:latin typeface="Calibri"/>
                        </a:rPr>
                        <a:t>17</a:t>
                      </a:r>
                    </a:p>
                  </a:txBody>
                  <a:tcPr marL="101600" marR="101600" marT="38100" marB="38100" anchor="ctr">
                    <a:solidFill>
                      <a:srgbClr val="F4F2FA"/>
                    </a:solidFill>
                  </a:tcPr>
                </a:tc>
                <a:tc>
                  <a:txBody>
                    <a:bodyPr/>
                    <a:lstStyle/>
                    <a:p>
                      <a:r>
                        <a:rPr sz="1200" b="0" i="0">
                          <a:solidFill>
                            <a:srgbClr val="1A1440"/>
                          </a:solidFill>
                          <a:latin typeface="Calibri"/>
                        </a:rPr>
                        <a:t>2,805</a:t>
                      </a:r>
                    </a:p>
                  </a:txBody>
                  <a:tcPr marL="101600" marR="101600" marT="38100" marB="38100" anchor="ctr">
                    <a:solidFill>
                      <a:srgbClr val="F4F2FA"/>
                    </a:solidFill>
                  </a:tcPr>
                </a:tc>
                <a:tc>
                  <a:txBody>
                    <a:bodyPr/>
                    <a:lstStyle/>
                    <a:p>
                      <a:r>
                        <a:rPr sz="1200" b="0" i="0">
                          <a:solidFill>
                            <a:srgbClr val="1A1440"/>
                          </a:solidFill>
                          <a:latin typeface="Calibri"/>
                        </a:rPr>
                        <a:t>10</a:t>
                      </a:r>
                    </a:p>
                  </a:txBody>
                  <a:tcPr marL="101600" marR="101600" marT="38100" marB="38100" anchor="ctr">
                    <a:solidFill>
                      <a:srgbClr val="F4F2FA"/>
                    </a:solidFill>
                  </a:tcPr>
                </a:tc>
                <a:tc>
                  <a:txBody>
                    <a:bodyPr/>
                    <a:lstStyle/>
                    <a:p>
                      <a:r>
                        <a:rPr sz="1200" b="0" i="0">
                          <a:solidFill>
                            <a:srgbClr val="1A1440"/>
                          </a:solidFill>
                          <a:latin typeface="Calibri"/>
                        </a:rPr>
                        <a:t>18</a:t>
                      </a:r>
                    </a:p>
                  </a:txBody>
                  <a:tcPr marL="101600" marR="101600" marT="38100" marB="38100" anchor="ctr">
                    <a:solidFill>
                      <a:srgbClr val="F4F2FA"/>
                    </a:solidFill>
                  </a:tcPr>
                </a:tc>
                <a:tc>
                  <a:txBody>
                    <a:bodyPr/>
                    <a:lstStyle/>
                    <a:p>
                      <a:r>
                        <a:rPr sz="1200" b="0" i="0">
                          <a:solidFill>
                            <a:srgbClr val="1A1440"/>
                          </a:solidFill>
                          <a:latin typeface="Calibri"/>
                        </a:rPr>
                        <a:t>2,970</a:t>
                      </a:r>
                    </a:p>
                  </a:txBody>
                  <a:tcPr marL="101600" marR="101600" marT="38100" marB="38100" anchor="ctr">
                    <a:solidFill>
                      <a:srgbClr val="F4F2FA"/>
                    </a:solidFill>
                  </a:tcPr>
                </a:tc>
              </a:tr>
              <a:tr h="335280">
                <a:tc>
                  <a:txBody>
                    <a:bodyPr/>
                    <a:lstStyle/>
                    <a:p>
                      <a:r>
                        <a:rPr sz="1200" b="0" i="0">
                          <a:solidFill>
                            <a:srgbClr val="1A1440"/>
                          </a:solidFill>
                          <a:latin typeface="Calibri"/>
                        </a:rPr>
                        <a:t>C</a:t>
                      </a:r>
                    </a:p>
                  </a:txBody>
                  <a:tcPr marL="101600" marR="101600" marT="38100" marB="38100" anchor="ctr">
                    <a:solidFill>
                      <a:srgbClr val="FFFFFF"/>
                    </a:solidFill>
                  </a:tcPr>
                </a:tc>
                <a:tc>
                  <a:txBody>
                    <a:bodyPr/>
                    <a:lstStyle/>
                    <a:p>
                      <a:r>
                        <a:rPr sz="1200" b="0" i="0">
                          <a:solidFill>
                            <a:srgbClr val="1A1440"/>
                          </a:solidFill>
                          <a:latin typeface="Calibri"/>
                        </a:rPr>
                        <a:t>Gachibowli</a:t>
                      </a:r>
                    </a:p>
                  </a:txBody>
                  <a:tcPr marL="101600" marR="101600" marT="38100" marB="38100" anchor="ctr">
                    <a:solidFill>
                      <a:srgbClr val="FFFFFF"/>
                    </a:solidFill>
                  </a:tcPr>
                </a:tc>
                <a:tc>
                  <a:txBody>
                    <a:bodyPr/>
                    <a:lstStyle/>
                    <a:p>
                      <a:r>
                        <a:rPr sz="1200" b="0" i="0">
                          <a:solidFill>
                            <a:srgbClr val="1A1440"/>
                          </a:solidFill>
                          <a:latin typeface="Calibri"/>
                        </a:rPr>
                        <a:t>11</a:t>
                      </a:r>
                    </a:p>
                  </a:txBody>
                  <a:tcPr marL="101600" marR="101600" marT="38100" marB="38100" anchor="ctr">
                    <a:solidFill>
                      <a:srgbClr val="FFFFFF"/>
                    </a:solidFill>
                  </a:tcPr>
                </a:tc>
                <a:tc>
                  <a:txBody>
                    <a:bodyPr/>
                    <a:lstStyle/>
                    <a:p>
                      <a:r>
                        <a:rPr sz="1200" b="0" i="0">
                          <a:solidFill>
                            <a:srgbClr val="1A1440"/>
                          </a:solidFill>
                          <a:latin typeface="Calibri"/>
                        </a:rPr>
                        <a:t>22</a:t>
                      </a:r>
                    </a:p>
                  </a:txBody>
                  <a:tcPr marL="101600" marR="101600" marT="38100" marB="38100" anchor="ctr">
                    <a:solidFill>
                      <a:srgbClr val="FFFFFF"/>
                    </a:solidFill>
                  </a:tcPr>
                </a:tc>
                <a:tc>
                  <a:txBody>
                    <a:bodyPr/>
                    <a:lstStyle/>
                    <a:p>
                      <a:r>
                        <a:rPr sz="1200" b="0" i="0">
                          <a:solidFill>
                            <a:srgbClr val="1A1440"/>
                          </a:solidFill>
                          <a:latin typeface="Calibri"/>
                        </a:rPr>
                        <a:t>3,630</a:t>
                      </a:r>
                    </a:p>
                  </a:txBody>
                  <a:tcPr marL="101600" marR="101600" marT="38100" marB="38100" anchor="ctr">
                    <a:solidFill>
                      <a:srgbClr val="FFFFFF"/>
                    </a:solidFill>
                  </a:tcPr>
                </a:tc>
                <a:tc>
                  <a:txBody>
                    <a:bodyPr/>
                    <a:lstStyle/>
                    <a:p>
                      <a:r>
                        <a:rPr sz="1200" b="0" i="0">
                          <a:solidFill>
                            <a:srgbClr val="1A1440"/>
                          </a:solidFill>
                          <a:latin typeface="Calibri"/>
                        </a:rPr>
                        <a:t>12</a:t>
                      </a:r>
                    </a:p>
                  </a:txBody>
                  <a:tcPr marL="101600" marR="101600" marT="38100" marB="38100" anchor="ctr">
                    <a:solidFill>
                      <a:srgbClr val="FFFFFF"/>
                    </a:solidFill>
                  </a:tcPr>
                </a:tc>
                <a:tc>
                  <a:txBody>
                    <a:bodyPr/>
                    <a:lstStyle/>
                    <a:p>
                      <a:r>
                        <a:rPr sz="1200" b="0" i="0">
                          <a:solidFill>
                            <a:srgbClr val="1A1440"/>
                          </a:solidFill>
                          <a:latin typeface="Calibri"/>
                        </a:rPr>
                        <a:t>23</a:t>
                      </a:r>
                    </a:p>
                  </a:txBody>
                  <a:tcPr marL="101600" marR="101600" marT="38100" marB="38100" anchor="ctr">
                    <a:solidFill>
                      <a:srgbClr val="FFFFFF"/>
                    </a:solidFill>
                  </a:tcPr>
                </a:tc>
                <a:tc>
                  <a:txBody>
                    <a:bodyPr/>
                    <a:lstStyle/>
                    <a:p>
                      <a:r>
                        <a:rPr sz="1200" b="0" i="0">
                          <a:solidFill>
                            <a:srgbClr val="1A1440"/>
                          </a:solidFill>
                          <a:latin typeface="Calibri"/>
                        </a:rPr>
                        <a:t>3,795</a:t>
                      </a:r>
                    </a:p>
                  </a:txBody>
                  <a:tcPr marL="101600" marR="101600" marT="38100" marB="38100" anchor="ctr">
                    <a:solidFill>
                      <a:srgbClr val="FFFFFF"/>
                    </a:solidFill>
                  </a:tcPr>
                </a:tc>
              </a:tr>
              <a:tr h="335280">
                <a:tc>
                  <a:txBody>
                    <a:bodyPr/>
                    <a:lstStyle/>
                    <a:p>
                      <a:r>
                        <a:rPr sz="1200" b="0" i="0">
                          <a:solidFill>
                            <a:srgbClr val="1A1440"/>
                          </a:solidFill>
                          <a:latin typeface="Calibri"/>
                        </a:rPr>
                        <a:t>D</a:t>
                      </a:r>
                    </a:p>
                  </a:txBody>
                  <a:tcPr marL="101600" marR="101600" marT="38100" marB="38100" anchor="ctr">
                    <a:solidFill>
                      <a:srgbClr val="F4F2FA"/>
                    </a:solidFill>
                  </a:tcPr>
                </a:tc>
                <a:tc>
                  <a:txBody>
                    <a:bodyPr/>
                    <a:lstStyle/>
                    <a:p>
                      <a:r>
                        <a:rPr sz="1200" b="0" i="0">
                          <a:solidFill>
                            <a:srgbClr val="1A1440"/>
                          </a:solidFill>
                          <a:latin typeface="Calibri"/>
                        </a:rPr>
                        <a:t>Madhapur</a:t>
                      </a:r>
                    </a:p>
                  </a:txBody>
                  <a:tcPr marL="101600" marR="101600" marT="38100" marB="38100" anchor="ctr">
                    <a:solidFill>
                      <a:srgbClr val="F4F2FA"/>
                    </a:solidFill>
                  </a:tcPr>
                </a:tc>
                <a:tc>
                  <a:txBody>
                    <a:bodyPr/>
                    <a:lstStyle/>
                    <a:p>
                      <a:r>
                        <a:rPr sz="1200" b="0" i="0">
                          <a:solidFill>
                            <a:srgbClr val="1A1440"/>
                          </a:solidFill>
                          <a:latin typeface="Calibri"/>
                        </a:rPr>
                        <a:t>10</a:t>
                      </a:r>
                    </a:p>
                  </a:txBody>
                  <a:tcPr marL="101600" marR="101600" marT="38100" marB="38100" anchor="ctr">
                    <a:solidFill>
                      <a:srgbClr val="F4F2FA"/>
                    </a:solidFill>
                  </a:tcPr>
                </a:tc>
                <a:tc>
                  <a:txBody>
                    <a:bodyPr/>
                    <a:lstStyle/>
                    <a:p>
                      <a:r>
                        <a:rPr sz="1200" b="0" i="0">
                          <a:solidFill>
                            <a:srgbClr val="1A1440"/>
                          </a:solidFill>
                          <a:latin typeface="Calibri"/>
                        </a:rPr>
                        <a:t>19</a:t>
                      </a:r>
                    </a:p>
                  </a:txBody>
                  <a:tcPr marL="101600" marR="101600" marT="38100" marB="38100" anchor="ctr">
                    <a:solidFill>
                      <a:srgbClr val="F4F2FA"/>
                    </a:solidFill>
                  </a:tcPr>
                </a:tc>
                <a:tc>
                  <a:txBody>
                    <a:bodyPr/>
                    <a:lstStyle/>
                    <a:p>
                      <a:r>
                        <a:rPr sz="1200" b="0" i="0">
                          <a:solidFill>
                            <a:srgbClr val="1A1440"/>
                          </a:solidFill>
                          <a:latin typeface="Calibri"/>
                        </a:rPr>
                        <a:t>3,135</a:t>
                      </a:r>
                    </a:p>
                  </a:txBody>
                  <a:tcPr marL="101600" marR="101600" marT="38100" marB="38100" anchor="ctr">
                    <a:solidFill>
                      <a:srgbClr val="F4F2FA"/>
                    </a:solidFill>
                  </a:tcPr>
                </a:tc>
                <a:tc>
                  <a:txBody>
                    <a:bodyPr/>
                    <a:lstStyle/>
                    <a:p>
                      <a:r>
                        <a:rPr sz="1200" b="0" i="0">
                          <a:solidFill>
                            <a:srgbClr val="1A1440"/>
                          </a:solidFill>
                          <a:latin typeface="Calibri"/>
                        </a:rPr>
                        <a:t>11</a:t>
                      </a:r>
                    </a:p>
                  </a:txBody>
                  <a:tcPr marL="101600" marR="101600" marT="38100" marB="38100" anchor="ctr">
                    <a:solidFill>
                      <a:srgbClr val="F4F2FA"/>
                    </a:solidFill>
                  </a:tcPr>
                </a:tc>
                <a:tc>
                  <a:txBody>
                    <a:bodyPr/>
                    <a:lstStyle/>
                    <a:p>
                      <a:r>
                        <a:rPr sz="1200" b="0" i="0">
                          <a:solidFill>
                            <a:srgbClr val="1A1440"/>
                          </a:solidFill>
                          <a:latin typeface="Calibri"/>
                        </a:rPr>
                        <a:t>20</a:t>
                      </a:r>
                    </a:p>
                  </a:txBody>
                  <a:tcPr marL="101600" marR="101600" marT="38100" marB="38100" anchor="ctr">
                    <a:solidFill>
                      <a:srgbClr val="F4F2FA"/>
                    </a:solidFill>
                  </a:tcPr>
                </a:tc>
                <a:tc>
                  <a:txBody>
                    <a:bodyPr/>
                    <a:lstStyle/>
                    <a:p>
                      <a:r>
                        <a:rPr sz="1200" b="0" i="0">
                          <a:solidFill>
                            <a:srgbClr val="1A1440"/>
                          </a:solidFill>
                          <a:latin typeface="Calibri"/>
                        </a:rPr>
                        <a:t>3,300</a:t>
                      </a:r>
                    </a:p>
                  </a:txBody>
                  <a:tcPr marL="101600" marR="101600" marT="38100" marB="38100" anchor="ctr">
                    <a:solidFill>
                      <a:srgbClr val="F4F2FA"/>
                    </a:solidFill>
                  </a:tcPr>
                </a:tc>
              </a:tr>
              <a:tr h="335280">
                <a:tc>
                  <a:txBody>
                    <a:bodyPr/>
                    <a:lstStyle/>
                    <a:p>
                      <a:r>
                        <a:rPr sz="1200" b="0" i="0">
                          <a:solidFill>
                            <a:srgbClr val="1A1440"/>
                          </a:solidFill>
                          <a:latin typeface="Calibri"/>
                        </a:rPr>
                        <a:t>E</a:t>
                      </a:r>
                    </a:p>
                  </a:txBody>
                  <a:tcPr marL="101600" marR="101600" marT="38100" marB="38100" anchor="ctr">
                    <a:solidFill>
                      <a:srgbClr val="FFFFFF"/>
                    </a:solidFill>
                  </a:tcPr>
                </a:tc>
                <a:tc>
                  <a:txBody>
                    <a:bodyPr/>
                    <a:lstStyle/>
                    <a:p>
                      <a:r>
                        <a:rPr sz="1200" b="0" i="0">
                          <a:solidFill>
                            <a:srgbClr val="1A1440"/>
                          </a:solidFill>
                          <a:latin typeface="Calibri"/>
                        </a:rPr>
                        <a:t>Shamshabad</a:t>
                      </a:r>
                    </a:p>
                  </a:txBody>
                  <a:tcPr marL="101600" marR="101600" marT="38100" marB="38100" anchor="ctr">
                    <a:solidFill>
                      <a:srgbClr val="FFFFFF"/>
                    </a:solidFill>
                  </a:tcPr>
                </a:tc>
                <a:tc>
                  <a:txBody>
                    <a:bodyPr/>
                    <a:lstStyle/>
                    <a:p>
                      <a:r>
                        <a:rPr sz="1200" b="0" i="0">
                          <a:solidFill>
                            <a:srgbClr val="1A1440"/>
                          </a:solidFill>
                          <a:latin typeface="Calibri"/>
                        </a:rPr>
                        <a:t>10</a:t>
                      </a:r>
                    </a:p>
                  </a:txBody>
                  <a:tcPr marL="101600" marR="101600" marT="38100" marB="38100" anchor="ctr">
                    <a:solidFill>
                      <a:srgbClr val="FFFFFF"/>
                    </a:solidFill>
                  </a:tcPr>
                </a:tc>
                <a:tc>
                  <a:txBody>
                    <a:bodyPr/>
                    <a:lstStyle/>
                    <a:p>
                      <a:r>
                        <a:rPr sz="1200" b="0" i="0">
                          <a:solidFill>
                            <a:srgbClr val="1A1440"/>
                          </a:solidFill>
                          <a:latin typeface="Calibri"/>
                        </a:rPr>
                        <a:t>18</a:t>
                      </a:r>
                    </a:p>
                  </a:txBody>
                  <a:tcPr marL="101600" marR="101600" marT="38100" marB="38100" anchor="ctr">
                    <a:solidFill>
                      <a:srgbClr val="FFFFFF"/>
                    </a:solidFill>
                  </a:tcPr>
                </a:tc>
                <a:tc>
                  <a:txBody>
                    <a:bodyPr/>
                    <a:lstStyle/>
                    <a:p>
                      <a:r>
                        <a:rPr sz="1200" b="0" i="0">
                          <a:solidFill>
                            <a:srgbClr val="1A1440"/>
                          </a:solidFill>
                          <a:latin typeface="Calibri"/>
                        </a:rPr>
                        <a:t>2,970</a:t>
                      </a:r>
                    </a:p>
                  </a:txBody>
                  <a:tcPr marL="101600" marR="101600" marT="38100" marB="38100" anchor="ctr">
                    <a:solidFill>
                      <a:srgbClr val="FFFFFF"/>
                    </a:solidFill>
                  </a:tcPr>
                </a:tc>
                <a:tc>
                  <a:txBody>
                    <a:bodyPr/>
                    <a:lstStyle/>
                    <a:p>
                      <a:r>
                        <a:rPr sz="1200" b="0" i="0">
                          <a:solidFill>
                            <a:srgbClr val="1A1440"/>
                          </a:solidFill>
                          <a:latin typeface="Calibri"/>
                        </a:rPr>
                        <a:t>16</a:t>
                      </a:r>
                    </a:p>
                  </a:txBody>
                  <a:tcPr marL="101600" marR="101600" marT="38100" marB="38100" anchor="ctr">
                    <a:solidFill>
                      <a:srgbClr val="FFFFFF"/>
                    </a:solidFill>
                  </a:tcPr>
                </a:tc>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495</a:t>
                      </a:r>
                    </a:p>
                  </a:txBody>
                  <a:tcPr marL="101600" marR="101600" marT="38100" marB="38100" anchor="ctr">
                    <a:solidFill>
                      <a:srgbClr val="FFFFFF"/>
                    </a:solidFill>
                  </a:tcPr>
                </a:tc>
              </a:tr>
              <a:tr h="335280">
                <a:tc>
                  <a:txBody>
                    <a:bodyPr/>
                    <a:lstStyle/>
                    <a:p>
                      <a:r>
                        <a:rPr sz="1200" b="0" i="0">
                          <a:solidFill>
                            <a:srgbClr val="1A1440"/>
                          </a:solidFill>
                          <a:latin typeface="Calibri"/>
                        </a:rPr>
                        <a:t>F</a:t>
                      </a:r>
                    </a:p>
                  </a:txBody>
                  <a:tcPr marL="101600" marR="101600" marT="38100" marB="38100" anchor="ctr">
                    <a:solidFill>
                      <a:srgbClr val="F4F2FA"/>
                    </a:solidFill>
                  </a:tcPr>
                </a:tc>
                <a:tc>
                  <a:txBody>
                    <a:bodyPr/>
                    <a:lstStyle/>
                    <a:p>
                      <a:r>
                        <a:rPr sz="1200" b="0" i="0">
                          <a:solidFill>
                            <a:srgbClr val="1A1440"/>
                          </a:solidFill>
                          <a:latin typeface="Calibri"/>
                        </a:rPr>
                        <a:t>Rajendranagar</a:t>
                      </a:r>
                    </a:p>
                  </a:txBody>
                  <a:tcPr marL="101600" marR="101600" marT="38100" marB="38100" anchor="ctr">
                    <a:solidFill>
                      <a:srgbClr val="F4F2FA"/>
                    </a:solidFill>
                  </a:tcPr>
                </a:tc>
                <a:tc>
                  <a:txBody>
                    <a:bodyPr/>
                    <a:lstStyle/>
                    <a:p>
                      <a:r>
                        <a:rPr sz="1200" b="0" i="0">
                          <a:solidFill>
                            <a:srgbClr val="1A1440"/>
                          </a:solidFill>
                          <a:latin typeface="Calibri"/>
                        </a:rPr>
                        <a:t>10</a:t>
                      </a:r>
                    </a:p>
                  </a:txBody>
                  <a:tcPr marL="101600" marR="101600" marT="38100" marB="38100" anchor="ctr">
                    <a:solidFill>
                      <a:srgbClr val="F4F2FA"/>
                    </a:solidFill>
                  </a:tcPr>
                </a:tc>
                <a:tc>
                  <a:txBody>
                    <a:bodyPr/>
                    <a:lstStyle/>
                    <a:p>
                      <a:r>
                        <a:rPr sz="1200" b="0" i="0">
                          <a:solidFill>
                            <a:srgbClr val="1A1440"/>
                          </a:solidFill>
                          <a:latin typeface="Calibri"/>
                        </a:rPr>
                        <a:t>17</a:t>
                      </a:r>
                    </a:p>
                  </a:txBody>
                  <a:tcPr marL="101600" marR="101600" marT="38100" marB="38100" anchor="ctr">
                    <a:solidFill>
                      <a:srgbClr val="F4F2FA"/>
                    </a:solidFill>
                  </a:tcPr>
                </a:tc>
                <a:tc>
                  <a:txBody>
                    <a:bodyPr/>
                    <a:lstStyle/>
                    <a:p>
                      <a:r>
                        <a:rPr sz="1200" b="0" i="0">
                          <a:solidFill>
                            <a:srgbClr val="1A1440"/>
                          </a:solidFill>
                          <a:latin typeface="Calibri"/>
                        </a:rPr>
                        <a:t>2,805</a:t>
                      </a:r>
                    </a:p>
                  </a:txBody>
                  <a:tcPr marL="101600" marR="101600" marT="38100" marB="38100" anchor="ctr">
                    <a:solidFill>
                      <a:srgbClr val="F4F2FA"/>
                    </a:solidFill>
                  </a:tcPr>
                </a:tc>
                <a:tc>
                  <a:txBody>
                    <a:bodyPr/>
                    <a:lstStyle/>
                    <a:p>
                      <a:r>
                        <a:rPr sz="1200" b="0" i="0">
                          <a:solidFill>
                            <a:srgbClr val="1A1440"/>
                          </a:solidFill>
                          <a:latin typeface="Calibri"/>
                        </a:rPr>
                        <a:t>14</a:t>
                      </a:r>
                    </a:p>
                  </a:txBody>
                  <a:tcPr marL="101600" marR="101600" marT="38100" marB="38100" anchor="ctr">
                    <a:solidFill>
                      <a:srgbClr val="F4F2FA"/>
                    </a:solidFill>
                  </a:tcPr>
                </a:tc>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330</a:t>
                      </a:r>
                    </a:p>
                  </a:txBody>
                  <a:tcPr marL="101600" marR="101600" marT="38100" marB="38100" anchor="ctr">
                    <a:solidFill>
                      <a:srgbClr val="F4F2FA"/>
                    </a:solidFill>
                  </a:tcPr>
                </a:tc>
              </a:tr>
              <a:tr h="335280">
                <a:tc>
                  <a:txBody>
                    <a:bodyPr/>
                    <a:lstStyle/>
                    <a:p>
                      <a:r>
                        <a:rPr sz="1200" b="1" i="0">
                          <a:solidFill>
                            <a:srgbClr val="1A1440"/>
                          </a:solidFill>
                          <a:latin typeface="Calibri"/>
                        </a:rPr>
                        <a:t>Total</a:t>
                      </a:r>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r>
                        <a:rPr sz="1200" b="1" i="0">
                          <a:solidFill>
                            <a:srgbClr val="1A1440"/>
                          </a:solidFill>
                          <a:latin typeface="Calibri"/>
                        </a:rPr>
                        <a:t>60</a:t>
                      </a:r>
                    </a:p>
                  </a:txBody>
                  <a:tcPr marL="101600" marR="101600" marT="38100" marB="38100" anchor="ctr">
                    <a:solidFill>
                      <a:srgbClr val="FFFFFF"/>
                    </a:solidFill>
                  </a:tcPr>
                </a:tc>
                <a:tc>
                  <a:txBody>
                    <a:bodyPr/>
                    <a:lstStyle/>
                    <a:p>
                      <a:r>
                        <a:rPr sz="1200" b="1" i="0">
                          <a:solidFill>
                            <a:srgbClr val="1A1440"/>
                          </a:solidFill>
                          <a:latin typeface="Calibri"/>
                        </a:rPr>
                        <a:t>114</a:t>
                      </a:r>
                    </a:p>
                  </a:txBody>
                  <a:tcPr marL="101600" marR="101600" marT="38100" marB="38100" anchor="ctr">
                    <a:solidFill>
                      <a:srgbClr val="FFFFFF"/>
                    </a:solidFill>
                  </a:tcPr>
                </a:tc>
                <a:tc>
                  <a:txBody>
                    <a:bodyPr/>
                    <a:lstStyle/>
                    <a:p>
                      <a:r>
                        <a:rPr sz="1200" b="1" i="0">
                          <a:solidFill>
                            <a:srgbClr val="1A1440"/>
                          </a:solidFill>
                          <a:latin typeface="Calibri"/>
                        </a:rPr>
                        <a:t>18,810</a:t>
                      </a:r>
                    </a:p>
                  </a:txBody>
                  <a:tcPr marL="101600" marR="101600" marT="38100" marB="38100" anchor="ctr">
                    <a:solidFill>
                      <a:srgbClr val="FFFFFF"/>
                    </a:solidFill>
                  </a:tcPr>
                </a:tc>
                <a:tc>
                  <a:txBody>
                    <a:bodyPr/>
                    <a:lstStyle/>
                    <a:p>
                      <a:r>
                        <a:rPr sz="1200" b="1" i="0">
                          <a:solidFill>
                            <a:srgbClr val="1A1440"/>
                          </a:solidFill>
                          <a:latin typeface="Calibri"/>
                        </a:rPr>
                        <a:t>74</a:t>
                      </a:r>
                    </a:p>
                  </a:txBody>
                  <a:tcPr marL="101600" marR="101600" marT="38100" marB="38100" anchor="ctr">
                    <a:solidFill>
                      <a:srgbClr val="FFFFFF"/>
                    </a:solidFill>
                  </a:tcPr>
                </a:tc>
                <a:tc>
                  <a:txBody>
                    <a:bodyPr/>
                    <a:lstStyle/>
                    <a:p>
                      <a:r>
                        <a:rPr sz="1200" b="1" i="0">
                          <a:solidFill>
                            <a:srgbClr val="1A1440"/>
                          </a:solidFill>
                          <a:latin typeface="Calibri"/>
                        </a:rPr>
                        <a:t>88</a:t>
                      </a:r>
                    </a:p>
                  </a:txBody>
                  <a:tcPr marL="101600" marR="101600" marT="38100" marB="38100" anchor="ctr">
                    <a:solidFill>
                      <a:srgbClr val="FFFFFF"/>
                    </a:solidFill>
                  </a:tcPr>
                </a:tc>
                <a:tc>
                  <a:txBody>
                    <a:bodyPr/>
                    <a:lstStyle/>
                    <a:p>
                      <a:r>
                        <a:rPr sz="1200" b="1" i="0">
                          <a:solidFill>
                            <a:srgbClr val="1A1440"/>
                          </a:solidFill>
                          <a:latin typeface="Calibri"/>
                        </a:rPr>
                        <a:t>14,520</a:t>
                      </a:r>
                    </a:p>
                  </a:txBody>
                  <a:tcPr marL="101600" marR="101600" marT="38100" marB="38100" anchor="ctr">
                    <a:solidFill>
                      <a:srgbClr val="FFFFFF"/>
                    </a:solidFill>
                  </a:tcPr>
                </a:tc>
              </a:tr>
            </a:tbl>
          </a:graphicData>
        </a:graphic>
      </p:graphicFrame>
      <p:sp>
        <p:nvSpPr>
          <p:cNvPr id="10" name="Rounded Rectangle 9"/>
          <p:cNvSpPr/>
          <p:nvPr/>
        </p:nvSpPr>
        <p:spPr>
          <a:xfrm>
            <a:off x="530352" y="489508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2310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13960"/>
            <a:ext cx="10564063" cy="624840"/>
          </a:xfrm>
          <a:prstGeom prst="rect">
            <a:avLst/>
          </a:prstGeom>
          <a:noFill/>
        </p:spPr>
        <p:txBody>
          <a:bodyPr wrap="square" anchor="ctr" lIns="0" rIns="0" tIns="0" bIns="0">
            <a:spAutoFit/>
          </a:bodyPr>
          <a:lstStyle/>
          <a:p>
            <a:r>
              <a:rPr sz="1500" b="1">
                <a:solidFill>
                  <a:srgbClr val="5B3FD6"/>
                </a:solidFill>
                <a:latin typeface="Calibri"/>
              </a:rPr>
              <a:t>Per peak online hour: </a:t>
            </a:r>
            <a:r>
              <a:rPr sz="1500" b="0" i="0">
                <a:solidFill>
                  <a:srgbClr val="1A1440"/>
                </a:solidFill>
                <a:latin typeface="Calibri"/>
              </a:rPr>
              <a:t>18,810 / 60 = Rs 313.5, then 14,520 / 74 = Rs 196.2, down 37 percent. </a:t>
            </a:r>
            <a:r>
              <a:rPr sz="1500" b="1" i="0">
                <a:solidFill>
                  <a:srgbClr val="1A1440"/>
                </a:solidFill>
                <a:latin typeface="Calibri"/>
              </a:rPr>
              <a:t>Per driver-week:</a:t>
            </a:r>
            <a:r>
              <a:rPr sz="1500" b="0" i="0">
                <a:solidFill>
                  <a:srgbClr val="1A1440"/>
                </a:solidFill>
                <a:latin typeface="Calibri"/>
              </a:rPr>
              <a:t> 18,810 / 6 = Rs 3,135, then 14,520 / 6 = Rs 2,420, down 23 percent. </a:t>
            </a:r>
            <a:r>
              <a:rPr sz="1500" b="1" i="0">
                <a:solidFill>
                  <a:srgbClr val="1A1440"/>
                </a:solidFill>
                <a:latin typeface="Calibri"/>
              </a:rPr>
              <a:t>Per trip:</a:t>
            </a:r>
            <a:r>
              <a:rPr sz="1500" b="0" i="0">
                <a:solidFill>
                  <a:srgbClr val="1A1440"/>
                </a:solidFill>
                <a:latin typeface="Calibri"/>
              </a:rPr>
              <a:t> Rs 165 both times.</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is the one claim?</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15 / 36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which way does each read go for the city?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Over all the driver-weeks, which pair of moves holds?</a:t>
            </a:r>
          </a:p>
        </p:txBody>
      </p:sp>
      <p:sp>
        <p:nvSpPr>
          <p:cNvPr id="9" name="TextBox 8"/>
          <p:cNvSpPr txBox="1"/>
          <p:nvPr/>
        </p:nvSpPr>
        <p:spPr>
          <a:xfrm>
            <a:off x="530352" y="1956816"/>
            <a:ext cx="11130991" cy="231648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 a) Per hour falls; per driver-week falls</a:t>
            </a:r>
          </a:p>
          <a:p>
            <a:pPr>
              <a:spcAft>
                <a:spcPts val="800"/>
              </a:spcAft>
            </a:pPr>
            <a:r>
              <a:rPr sz="1600" b="0" i="0">
                <a:solidFill>
                  <a:srgbClr val="1A1440"/>
                </a:solidFill>
                <a:latin typeface="Calibri"/>
              </a:rPr>
              <a:t>- b) Per hour falls; per driver-week rises a little</a:t>
            </a:r>
          </a:p>
          <a:p>
            <a:pPr>
              <a:spcAft>
                <a:spcPts val="800"/>
              </a:spcAft>
            </a:pPr>
            <a:r>
              <a:rPr sz="1600" b="0" i="0">
                <a:solidFill>
                  <a:srgbClr val="1A1440"/>
                </a:solidFill>
                <a:latin typeface="Calibri"/>
              </a:rPr>
              <a:t>- c) Per hour holds; per driver-week falls</a:t>
            </a:r>
          </a:p>
          <a:p>
            <a:pPr>
              <a:spcAft>
                <a:spcPts val="800"/>
              </a:spcAft>
            </a:pPr>
            <a:r>
              <a:rPr sz="1600" b="0" i="0">
                <a:solidFill>
                  <a:srgbClr val="1A1440"/>
                </a:solidFill>
                <a:latin typeface="Calibri"/>
              </a:rPr>
              <a:t>- d) Both hold nearly flat</a:t>
            </a:r>
          </a:p>
          <a:p>
            <a:pPr>
              <a:spcAft>
                <a:spcPts val="800"/>
              </a:spcAft>
            </a:pPr>
            <a:r>
              <a:rPr sz="1600" b="1" i="0">
                <a:solidFill>
                  <a:srgbClr val="1A1440"/>
                </a:solidFill>
                <a:latin typeface="Calibri"/>
              </a:rPr>
              <a:t>On the six drivers,</a:t>
            </a:r>
            <a:r>
              <a:rPr sz="1600" b="0" i="0">
                <a:solidFill>
                  <a:srgbClr val="1A1440"/>
                </a:solidFill>
                <a:latin typeface="Calibri"/>
              </a:rPr>
              <a:t> per driver-week fell 23 percent because the same six drivers sit in both weeks; the city's count of active driver-weeks moves.</a:t>
            </a:r>
          </a:p>
        </p:txBody>
      </p:sp>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is the one claim?</a:t>
            </a:r>
          </a:p>
        </p:txBody>
      </p:sp>
      <p:sp>
        <p:nvSpPr>
          <p:cNvPr id="12" name="Oval 1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4" name="Oval 1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36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per hour falls, per driver-week rises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the twelve weeks show for each denominator?</a:t>
            </a:r>
          </a:p>
        </p:txBody>
      </p:sp>
      <p:pic>
        <p:nvPicPr>
          <p:cNvPr id="9" name="mermaid diagram" descr="C2_W04_D02_three_reads_STUDENT.png"/>
          <p:cNvPicPr>
            <a:picLocks noChangeAspect="1"/>
          </p:cNvPicPr>
          <p:nvPr/>
        </p:nvPicPr>
        <p:blipFill>
          <a:blip r:embed="rId4"/>
          <a:stretch>
            <a:fillRect/>
          </a:stretch>
        </p:blipFill>
        <p:spPr>
          <a:xfrm>
            <a:off x="2928551" y="1664208"/>
            <a:ext cx="6334591" cy="3342640"/>
          </a:xfrm>
          <a:prstGeom prst="rect">
            <a:avLst/>
          </a:prstGeom>
        </p:spPr>
      </p:pic>
      <p:sp>
        <p:nvSpPr>
          <p:cNvPr id="10" name="picture caption"/>
          <p:cNvSpPr txBox="1"/>
          <p:nvPr/>
        </p:nvSpPr>
        <p:spPr>
          <a:xfrm>
            <a:off x="530352" y="5043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Each read divided by its own before window</a:t>
            </a:r>
          </a:p>
        </p:txBody>
      </p:sp>
      <p:sp>
        <p:nvSpPr>
          <p:cNvPr id="11" name="Rounded Rectangle 10"/>
          <p:cNvSpPr/>
          <p:nvPr/>
        </p:nvSpPr>
        <p:spPr>
          <a:xfrm>
            <a:off x="530352" y="5369560"/>
            <a:ext cx="11130991" cy="66548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497576"/>
            <a:ext cx="45720" cy="40944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488432"/>
            <a:ext cx="10564063" cy="482600"/>
          </a:xfrm>
          <a:prstGeom prst="rect">
            <a:avLst/>
          </a:prstGeom>
          <a:noFill/>
        </p:spPr>
        <p:txBody>
          <a:bodyPr wrap="square" anchor="ctr" lIns="0" rIns="0" tIns="0" bIns="0">
            <a:spAutoFit/>
          </a:bodyPr>
          <a:lstStyle/>
          <a:p>
            <a:r>
              <a:rPr sz="1100" b="1">
                <a:solidFill>
                  <a:srgbClr val="5B3FD6"/>
                </a:solidFill>
                <a:latin typeface="Calibri"/>
              </a:rPr>
              <a:t>The answer is b. </a:t>
            </a:r>
            <a:r>
              <a:rPr sz="1100" b="0" i="0">
                <a:solidFill>
                  <a:srgbClr val="1A1440"/>
                </a:solidFill>
                <a:latin typeface="Calibri"/>
              </a:rPr>
              <a:t>Per peak online hour the rupees fell 17 percent, Rs 314 to Rs 260. Per active driver-week they rose 0.8 percent, Rs 5,817 to Rs 5,861. Per trip they held at Rs 165. Each line is divided by its own before-window value, so all three start near 100.</a:t>
            </a:r>
          </a:p>
        </p:txBody>
      </p:sp>
      <p:sp>
        <p:nvSpPr>
          <p:cNvPr id="14" name="Oval 1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is the one claim?</a:t>
            </a:r>
          </a:p>
        </p:txBody>
      </p:sp>
      <p:sp>
        <p:nvSpPr>
          <p:cNvPr id="16" name="Oval 15"/>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8" name="Oval 17"/>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36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trap: "per driver-week is up, so it works"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the rise in bookings per active driver-week say nothing about the scheme?</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"Bookings per driver-week rose from Rs 5,817 to Rs 5,861, so the guarantee is working; keep it as it is." Every rupee in that sentence is right, and it would keep the city paying for idle hours.</a:t>
            </a:r>
          </a:p>
        </p:txBody>
      </p:sp>
      <p:sp>
        <p:nvSpPr>
          <p:cNvPr id="12" name="Rounded Rectangle 11"/>
          <p:cNvSpPr/>
          <p:nvPr/>
        </p:nvSpPr>
        <p:spPr>
          <a:xfrm>
            <a:off x="530352" y="3195828"/>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323844"/>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314700"/>
            <a:ext cx="10564063" cy="1158240"/>
          </a:xfrm>
          <a:prstGeom prst="rect">
            <a:avLst/>
          </a:prstGeom>
          <a:noFill/>
        </p:spPr>
        <p:txBody>
          <a:bodyPr wrap="square" anchor="ctr" lIns="0" rIns="0" tIns="0" bIns="0">
            <a:spAutoFit/>
          </a:bodyPr>
          <a:lstStyle/>
          <a:p>
            <a:r>
              <a:rPr sz="1500" b="1">
                <a:solidFill>
                  <a:srgbClr val="5B3FD6"/>
                </a:solidFill>
                <a:latin typeface="Calibri"/>
              </a:rPr>
              <a:t>Why it is wrong. </a:t>
            </a:r>
            <a:r>
              <a:rPr sz="1500" b="0" i="0">
                <a:solidFill>
                  <a:srgbClr val="1A1440"/>
                </a:solidFill>
                <a:latin typeface="Calibri"/>
              </a:rPr>
              <a:t>The read is bookings over active driver-weeks, and online hours do not enter it. Bookings rose 3.0 percent because trips rose 3 percent at the same fare; active driver-weeks rose 2.2 percent, 6,360 to 6,500, because the 140 drivers who joined after the launch added 140 driver-weeks between them. The ratio rose 0.8 percent with no driver earning more for an hour online.</a:t>
            </a:r>
          </a:p>
        </p:txBody>
      </p:sp>
      <p:sp>
        <p:nvSpPr>
          <p:cNvPr id="15" name="Rounded Rectangle 14"/>
          <p:cNvSpPr/>
          <p:nvPr/>
        </p:nvSpPr>
        <p:spPr>
          <a:xfrm>
            <a:off x="530352" y="470154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676656" y="482955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77824" y="4820412"/>
            <a:ext cx="10564063" cy="624840"/>
          </a:xfrm>
          <a:prstGeom prst="rect">
            <a:avLst/>
          </a:prstGeom>
          <a:noFill/>
        </p:spPr>
        <p:txBody>
          <a:bodyPr wrap="square" anchor="ctr" lIns="0" rIns="0" tIns="0" bIns="0">
            <a:spAutoFit/>
          </a:bodyPr>
          <a:lstStyle/>
          <a:p>
            <a:r>
              <a:rPr sz="1500" b="1">
                <a:solidFill>
                  <a:srgbClr val="5B3FD6"/>
                </a:solidFill>
                <a:latin typeface="Calibri"/>
              </a:rPr>
              <a:t>The fix. </a:t>
            </a:r>
            <a:r>
              <a:rPr sz="1500" b="0" i="0">
                <a:solidFill>
                  <a:srgbClr val="1A1440"/>
                </a:solidFill>
                <a:latin typeface="Calibri"/>
              </a:rPr>
              <a:t>The slide names the denominator the scheme pays per, the peak online hour, and keeps the other two reads in the appendix with one line each on what moved them.</a:t>
            </a:r>
          </a:p>
        </p:txBody>
      </p:sp>
      <p:sp>
        <p:nvSpPr>
          <p:cNvPr id="18" name="Oval 1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is the one claim?</a:t>
            </a:r>
          </a:p>
        </p:txBody>
      </p:sp>
      <p:sp>
        <p:nvSpPr>
          <p:cNvPr id="20" name="Oval 19"/>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2" name="Oval 21"/>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18 / 36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fare times trips per hour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Is the fall in rupees per hour all trips, or some of it fare?</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313.5</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RS 165 X 1.90 TRIPS PER HOUR</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six weeks from 20 July</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260.4</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RS 165 X 1.58 TRIPS PER HOUR</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six weeks from 31 August</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165</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FARE, BOTH WINDOWS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so the whole fall is trips per hour</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Bookings divided by hours and fare times trips per hour land on the same rupees in both windows.</a:t>
            </a:r>
            <a:r>
              <a:rPr sz="1600" b="0" i="0">
                <a:solidFill>
                  <a:srgbClr val="1A1440"/>
                </a:solidFill>
                <a:latin typeface="Calibri"/>
              </a:rPr>
              <a:t> The finance partner will ask whether riders paid less; they did not.</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is the one claim?</a:t>
            </a:r>
          </a:p>
        </p:txBody>
      </p:sp>
      <p:sp>
        <p:nvSpPr>
          <p:cNvPr id="24" name="Oval 2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6" name="Oval 25"/>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19 / 36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1 adds the claim and its denominator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can you now say in one sentence a driver would understand?</a:t>
            </a:r>
          </a:p>
        </p:txBody>
      </p:sp>
      <p:pic>
        <p:nvPicPr>
          <p:cNvPr id="9" name="mermaid diagram" descr="2a1d5801311aac30.png"/>
          <p:cNvPicPr>
            <a:picLocks noChangeAspect="1"/>
          </p:cNvPicPr>
          <p:nvPr/>
        </p:nvPicPr>
        <p:blipFill>
          <a:blip r:embed="rId5"/>
          <a:stretch>
            <a:fillRect/>
          </a:stretch>
        </p:blipFill>
        <p:spPr>
          <a:xfrm>
            <a:off x="2152497" y="1901952"/>
            <a:ext cx="7886700" cy="2857500"/>
          </a:xfrm>
          <a:prstGeom prst="rect">
            <a:avLst/>
          </a:prstGeom>
        </p:spPr>
      </p:pic>
      <p:sp>
        <p:nvSpPr>
          <p:cNvPr id="10" name="Rounded Rectangle 9"/>
          <p:cNvSpPr/>
          <p:nvPr/>
        </p:nvSpPr>
        <p:spPr>
          <a:xfrm>
            <a:off x="530352" y="490575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3377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24628"/>
            <a:ext cx="10564063" cy="891540"/>
          </a:xfrm>
          <a:prstGeom prst="rect">
            <a:avLst/>
          </a:prstGeom>
          <a:noFill/>
        </p:spPr>
        <p:txBody>
          <a:bodyPr wrap="square" anchor="ctr" lIns="0" rIns="0" tIns="0" bIns="0">
            <a:spAutoFit/>
          </a:bodyPr>
          <a:lstStyle/>
          <a:p>
            <a:r>
              <a:rPr sz="1500" b="1">
                <a:solidFill>
                  <a:srgbClr val="5B3FD6"/>
                </a:solidFill>
                <a:latin typeface="Calibri"/>
              </a:rPr>
              <a:t>Said plainly: </a:t>
            </a:r>
            <a:r>
              <a:rPr sz="1500" b="0" i="0">
                <a:solidFill>
                  <a:srgbClr val="1A1440"/>
                </a:solidFill>
                <a:latin typeface="Calibri"/>
              </a:rPr>
              <a:t>"An hour online used to bring in Rs 314 of fares and now brings in Rs 260, because more of those hours have no rider." </a:t>
            </a:r>
            <a:r>
              <a:rPr sz="1500" b="1" i="0">
                <a:solidFill>
                  <a:srgbClr val="1A1440"/>
                </a:solidFill>
                <a:latin typeface="Calibri"/>
              </a:rPr>
              <a:t>In the interview</a:t>
            </a:r>
            <a:r>
              <a:rPr sz="1500" b="0" i="0">
                <a:solidFill>
                  <a:srgbClr val="1A1440"/>
                </a:solidFill>
                <a:latin typeface="Calibri"/>
              </a:rPr>
              <a:t> [S]: present a recommendation to a non-technical stakeholder in two minutes, opening on that sentence.</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is the one claim?</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20 / 36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objection holds?</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Which objection is partly right, and which part, so that the defence stays honest in front of all three roles?</a:t>
            </a:r>
          </a:p>
        </p:txBody>
      </p:sp>
      <p:sp>
        <p:nvSpPr>
          <p:cNvPr id="10" name="Rounded Rectangle 9"/>
          <p:cNvSpPr/>
          <p:nvPr/>
        </p:nvSpPr>
        <p:spPr>
          <a:xfrm>
            <a:off x="73151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the one claim?</a:t>
            </a:r>
          </a:p>
        </p:txBody>
      </p:sp>
      <p:sp>
        <p:nvSpPr>
          <p:cNvPr id="11" name="Rounded Rectangle 10"/>
          <p:cNvSpPr/>
          <p:nvPr/>
        </p:nvSpPr>
        <p:spPr>
          <a:xfrm>
            <a:off x="2509759"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objection holds?</a:t>
            </a:r>
          </a:p>
        </p:txBody>
      </p:sp>
      <p:sp>
        <p:nvSpPr>
          <p:cNvPr id="12" name="Rounded Rectangle 11"/>
          <p:cNvSpPr/>
          <p:nvPr/>
        </p:nvSpPr>
        <p:spPr>
          <a:xfrm>
            <a:off x="428799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leaves the slide?</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2: one slide, three objectors</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21 / 36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which role will the city head side with?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When the three objections land, whose side is the city head on?</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 a) The driver-operations lead: "Drivers will log off and supply at peak will fall"</a:t>
            </a:r>
          </a:p>
          <a:p>
            <a:pPr>
              <a:spcAft>
                <a:spcPts val="800"/>
              </a:spcAft>
            </a:pPr>
            <a:r>
              <a:rPr sz="1600" b="0" i="0">
                <a:solidFill>
                  <a:srgbClr val="1A1440"/>
                </a:solidFill>
                <a:latin typeface="Calibri"/>
              </a:rPr>
              <a:t>- b) The marketing lead: "The guarantee is on every hoarding; changing it six weeks in looks like bait"</a:t>
            </a:r>
          </a:p>
          <a:p>
            <a:pPr>
              <a:spcAft>
                <a:spcPts val="800"/>
              </a:spcAft>
            </a:pPr>
            <a:r>
              <a:rPr sz="1600" b="0" i="0">
                <a:solidFill>
                  <a:srgbClr val="1A1440"/>
                </a:solidFill>
                <a:latin typeface="Calibri"/>
              </a:rPr>
              <a:t>- c) The finance partner: "The fall in bookings per hour is the monsoon ending, not the scheme"</a:t>
            </a:r>
          </a:p>
          <a:p>
            <a:pPr>
              <a:spcAft>
                <a:spcPts val="800"/>
              </a:spcAft>
            </a:pPr>
            <a:r>
              <a:rPr sz="1600" b="0" i="0">
                <a:solidFill>
                  <a:srgbClr val="1A1440"/>
                </a:solidFill>
                <a:latin typeface="Calibri"/>
              </a:rPr>
              <a:t>- d) None of them outright, because each objection is partly right</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the one claim?</a:t>
            </a:r>
          </a:p>
        </p:txBody>
      </p:sp>
      <p:sp>
        <p:nvSpPr>
          <p:cNvPr id="12" name="Oval 11"/>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14" name="Oval 1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22 / 36</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each objection is partly right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part of each objection is true, and what evidence answers the rest?</a:t>
            </a:r>
          </a:p>
        </p:txBody>
      </p:sp>
      <p:graphicFrame>
        <p:nvGraphicFramePr>
          <p:cNvPr id="9" name="Table 8"/>
          <p:cNvGraphicFramePr>
            <a:graphicFrameLocks noGrp="1"/>
          </p:cNvGraphicFramePr>
          <p:nvPr/>
        </p:nvGraphicFramePr>
        <p:xfrm>
          <a:off x="530352" y="1956816"/>
          <a:ext cx="11130989" cy="2446528"/>
        </p:xfrm>
        <a:graphic>
          <a:graphicData uri="http://schemas.openxmlformats.org/drawingml/2006/table">
            <a:tbl>
              <a:tblPr firstRow="0" bandRow="0">
                <a:tableStyleId>{2D5ABB26-0587-4C30-8999-92F81FD0307C}</a:tableStyleId>
              </a:tblPr>
              <a:tblGrid>
                <a:gridCol w="1537309"/>
                <a:gridCol w="4796840"/>
                <a:gridCol w="4796840"/>
              </a:tblGrid>
              <a:tr h="369824">
                <a:tc>
                  <a:txBody>
                    <a:bodyPr/>
                    <a:lstStyle/>
                    <a:p>
                      <a:r>
                        <a:rPr sz="1450" b="1" i="0">
                          <a:solidFill>
                            <a:srgbClr val="FFFFFF"/>
                          </a:solidFill>
                          <a:latin typeface="Calibri"/>
                        </a:rPr>
                        <a:t>Role</a:t>
                      </a:r>
                    </a:p>
                  </a:txBody>
                  <a:tcPr marL="101600" marR="101600" marT="38100" marB="38100" anchor="ctr">
                    <a:solidFill>
                      <a:srgbClr val="1A0F5C"/>
                    </a:solidFill>
                  </a:tcPr>
                </a:tc>
                <a:tc>
                  <a:txBody>
                    <a:bodyPr/>
                    <a:lstStyle/>
                    <a:p>
                      <a:r>
                        <a:rPr sz="1450" b="1" i="0">
                          <a:solidFill>
                            <a:srgbClr val="FFFFFF"/>
                          </a:solidFill>
                          <a:latin typeface="Calibri"/>
                        </a:rPr>
                        <a:t>The true part</a:t>
                      </a:r>
                    </a:p>
                  </a:txBody>
                  <a:tcPr marL="101600" marR="101600" marT="38100" marB="38100" anchor="ctr">
                    <a:solidFill>
                      <a:srgbClr val="1A0F5C"/>
                    </a:solidFill>
                  </a:tcPr>
                </a:tc>
                <a:tc>
                  <a:txBody>
                    <a:bodyPr/>
                    <a:lstStyle/>
                    <a:p>
                      <a:r>
                        <a:rPr sz="1450" b="1" i="0">
                          <a:solidFill>
                            <a:srgbClr val="FFFFFF"/>
                          </a:solidFill>
                          <a:latin typeface="Calibri"/>
                        </a:rPr>
                        <a:t>The part the evidence answers</a:t>
                      </a:r>
                    </a:p>
                  </a:txBody>
                  <a:tcPr marL="101600" marR="101600" marT="38100" marB="38100" anchor="ctr">
                    <a:solidFill>
                      <a:srgbClr val="1A0F5C"/>
                    </a:solidFill>
                  </a:tcPr>
                </a:tc>
              </a:tr>
              <a:tr h="853440">
                <a:tc>
                  <a:txBody>
                    <a:bodyPr/>
                    <a:lstStyle/>
                    <a:p>
                      <a:r>
                        <a:rPr sz="1400" b="0" i="0">
                          <a:solidFill>
                            <a:srgbClr val="1A1440"/>
                          </a:solidFill>
                          <a:latin typeface="Calibri"/>
                        </a:rPr>
                        <a:t>Driver operations</a:t>
                      </a:r>
                    </a:p>
                  </a:txBody>
                  <a:tcPr marL="101600" marR="101600" marT="38100" marB="38100" anchor="ctr">
                    <a:solidFill>
                      <a:srgbClr val="FFFFFF"/>
                    </a:solidFill>
                  </a:tcPr>
                </a:tc>
                <a:tc>
                  <a:txBody>
                    <a:bodyPr/>
                    <a:lstStyle/>
                    <a:p>
                      <a:r>
                        <a:rPr sz="1400" b="0" i="0">
                          <a:solidFill>
                            <a:srgbClr val="1A1440"/>
                          </a:solidFill>
                          <a:latin typeface="Calibri"/>
                        </a:rPr>
                        <a:t>The 180 idle-tail drivers will log off: their idle hours are what stops being paid</a:t>
                      </a:r>
                    </a:p>
                  </a:txBody>
                  <a:tcPr marL="101600" marR="101600" marT="38100" marB="38100" anchor="ctr">
                    <a:solidFill>
                      <a:srgbClr val="FFFFFF"/>
                    </a:solidFill>
                  </a:tcPr>
                </a:tc>
                <a:tc>
                  <a:txBody>
                    <a:bodyPr/>
                    <a:lstStyle/>
                    <a:p>
                      <a:r>
                        <a:rPr sz="1400" b="0" i="0">
                          <a:solidFill>
                            <a:srgbClr val="1A1440"/>
                          </a:solidFill>
                          <a:latin typeface="Calibri"/>
                        </a:rPr>
                        <a:t>The other 1,020 drivers held at 1.90 to 1.89 trips per online hour and keep the floor if they accept</a:t>
                      </a:r>
                    </a:p>
                  </a:txBody>
                  <a:tcPr marL="101600" marR="101600" marT="38100" marB="38100" anchor="ctr">
                    <a:solidFill>
                      <a:srgbClr val="FFFFFF"/>
                    </a:solidFill>
                  </a:tcPr>
                </a:tc>
              </a:tr>
              <a:tr h="611632">
                <a:tc>
                  <a:txBody>
                    <a:bodyPr/>
                    <a:lstStyle/>
                    <a:p>
                      <a:r>
                        <a:rPr sz="1400" b="0" i="0">
                          <a:solidFill>
                            <a:srgbClr val="1A1440"/>
                          </a:solidFill>
                          <a:latin typeface="Calibri"/>
                        </a:rPr>
                        <a:t>Marketing</a:t>
                      </a:r>
                    </a:p>
                  </a:txBody>
                  <a:tcPr marL="101600" marR="101600" marT="38100" marB="38100" anchor="ctr">
                    <a:solidFill>
                      <a:srgbClr val="F4F2FA"/>
                    </a:solidFill>
                  </a:tcPr>
                </a:tc>
                <a:tc>
                  <a:txBody>
                    <a:bodyPr/>
                    <a:lstStyle/>
                    <a:p>
                      <a:r>
                        <a:rPr sz="1400" b="0" i="0">
                          <a:solidFill>
                            <a:srgbClr val="1A1440"/>
                          </a:solidFill>
                          <a:latin typeface="Calibri"/>
                        </a:rPr>
                        <a:t>The hoarding promised a floor, and 140 drivers joined after it went up</a:t>
                      </a:r>
                    </a:p>
                  </a:txBody>
                  <a:tcPr marL="101600" marR="101600" marT="38100" marB="38100" anchor="ctr">
                    <a:solidFill>
                      <a:srgbClr val="F4F2FA"/>
                    </a:solidFill>
                  </a:tcPr>
                </a:tc>
                <a:tc>
                  <a:txBody>
                    <a:bodyPr/>
                    <a:lstStyle/>
                    <a:p>
                      <a:r>
                        <a:rPr sz="1400" b="0" i="0">
                          <a:solidFill>
                            <a:srgbClr val="1A1440"/>
                          </a:solidFill>
                          <a:latin typeface="Calibri"/>
                        </a:rPr>
                        <a:t>The floor stays for drivers who accept; none of the 140 joiners is in the idle tail</a:t>
                      </a:r>
                    </a:p>
                  </a:txBody>
                  <a:tcPr marL="101600" marR="101600" marT="38100" marB="38100" anchor="ctr">
                    <a:solidFill>
                      <a:srgbClr val="F4F2FA"/>
                    </a:solidFill>
                  </a:tcPr>
                </a:tc>
              </a:tr>
              <a:tr h="611632">
                <a:tc>
                  <a:txBody>
                    <a:bodyPr/>
                    <a:lstStyle/>
                    <a:p>
                      <a:r>
                        <a:rPr sz="1400" b="0" i="0">
                          <a:solidFill>
                            <a:srgbClr val="1A1440"/>
                          </a:solidFill>
                          <a:latin typeface="Calibri"/>
                        </a:rPr>
                        <a:t>Finance</a:t>
                      </a:r>
                    </a:p>
                  </a:txBody>
                  <a:tcPr marL="101600" marR="101600" marT="38100" marB="38100" anchor="ctr">
                    <a:solidFill>
                      <a:srgbClr val="FFFFFF"/>
                    </a:solidFill>
                  </a:tcPr>
                </a:tc>
                <a:tc>
                  <a:txBody>
                    <a:bodyPr/>
                    <a:lstStyle/>
                    <a:p>
                      <a:r>
                        <a:rPr sz="1400" b="0" i="0">
                          <a:solidFill>
                            <a:srgbClr val="1A1440"/>
                          </a:solidFill>
                          <a:latin typeface="Calibri"/>
                        </a:rPr>
                        <a:t>The monsoon ended inside the window, and last year's weeks are not in the data</a:t>
                      </a:r>
                    </a:p>
                  </a:txBody>
                  <a:tcPr marL="101600" marR="101600" marT="38100" marB="38100" anchor="ctr">
                    <a:solidFill>
                      <a:srgbClr val="FFFFFF"/>
                    </a:solidFill>
                  </a:tcPr>
                </a:tc>
                <a:tc>
                  <a:txBody>
                    <a:bodyPr/>
                    <a:lstStyle/>
                    <a:p>
                      <a:r>
                        <a:rPr sz="1400" b="0" i="0">
                          <a:solidFill>
                            <a:srgbClr val="1A1440"/>
                          </a:solidFill>
                          <a:latin typeface="Calibri"/>
                        </a:rPr>
                        <a:t>Rider requests rose 1.8 percent; drivers who joined before the launch fell from 1.90 to 1.58</a:t>
                      </a:r>
                    </a:p>
                  </a:txBody>
                  <a:tcPr marL="101600" marR="101600" marT="38100" marB="38100" anchor="ctr">
                    <a:solidFill>
                      <a:srgbClr val="FFFFFF"/>
                    </a:solidFill>
                  </a:tcPr>
                </a:tc>
              </a:tr>
            </a:tbl>
          </a:graphicData>
        </a:graphic>
      </p:graphicFrame>
      <p:sp>
        <p:nvSpPr>
          <p:cNvPr id="10" name="Rounded Rectangle 9"/>
          <p:cNvSpPr/>
          <p:nvPr/>
        </p:nvSpPr>
        <p:spPr>
          <a:xfrm>
            <a:off x="530352" y="465937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78739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778248"/>
            <a:ext cx="10564063" cy="624840"/>
          </a:xfrm>
          <a:prstGeom prst="rect">
            <a:avLst/>
          </a:prstGeom>
          <a:noFill/>
        </p:spPr>
        <p:txBody>
          <a:bodyPr wrap="square" anchor="ctr" lIns="0" rIns="0" tIns="0" bIns="0">
            <a:spAutoFit/>
          </a:bodyPr>
          <a:lstStyle/>
          <a:p>
            <a:r>
              <a:rPr sz="1500" b="1">
                <a:solidFill>
                  <a:srgbClr val="5B3FD6"/>
                </a:solidFill>
                <a:latin typeface="Calibri"/>
              </a:rPr>
              <a:t>The answer is d. </a:t>
            </a:r>
            <a:r>
              <a:rPr sz="1500" b="0" i="0">
                <a:solidFill>
                  <a:srgbClr val="1A1440"/>
                </a:solidFill>
                <a:latin typeface="Calibri"/>
              </a:rPr>
              <a:t>A defence that sides with no one concedes each true part out loud and answers the rest from a line of evidence.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the one claim?</a:t>
            </a:r>
          </a:p>
        </p:txBody>
      </p:sp>
      <p:sp>
        <p:nvSpPr>
          <p:cNvPr id="15" name="Oval 14"/>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23 / 36</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defence runs in four moves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owner of a slide do when an objection lands?</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MOVE 1</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Restate</a:t>
            </a:r>
          </a:p>
        </p:txBody>
      </p:sp>
      <p:sp>
        <p:nvSpPr>
          <p:cNvPr id="14" name="TextBox 13"/>
          <p:cNvSpPr txBox="1"/>
          <p:nvPr/>
        </p:nvSpPr>
        <p:spPr>
          <a:xfrm>
            <a:off x="694944"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Say the objection back until its owner agrees with your version</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MOVE 2</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Answer</a:t>
            </a:r>
          </a:p>
        </p:txBody>
      </p:sp>
      <p:sp>
        <p:nvSpPr>
          <p:cNvPr id="19" name="TextBox 18"/>
          <p:cNvSpPr txBox="1"/>
          <p:nvPr/>
        </p:nvSpPr>
        <p:spPr>
          <a:xfrm>
            <a:off x="3523411"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Answer from the evidence, naming the line of the slide it rests on</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MOVE 3</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Concede</a:t>
            </a:r>
          </a:p>
        </p:txBody>
      </p:sp>
      <p:sp>
        <p:nvSpPr>
          <p:cNvPr id="24" name="TextBox 23"/>
          <p:cNvSpPr txBox="1"/>
          <p:nvPr/>
        </p:nvSpPr>
        <p:spPr>
          <a:xfrm>
            <a:off x="6351879"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Say the true part out loud, in plain words, without dropping the claim</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MOVE 4</a:t>
            </a:r>
          </a:p>
        </p:txBody>
      </p:sp>
      <p:sp>
        <p:nvSpPr>
          <p:cNvPr id="26" name="Oval 25"/>
          <p:cNvSpPr/>
          <p:nvPr/>
        </p:nvSpPr>
        <p:spPr>
          <a:xfrm>
            <a:off x="10237965"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FFFFFF"/>
                </a:solidFill>
                <a:latin typeface="Calibri"/>
              </a:rPr>
              <a:t>Change my mind</a:t>
            </a:r>
          </a:p>
        </p:txBody>
      </p:sp>
      <p:sp>
        <p:nvSpPr>
          <p:cNvPr id="29" name="TextBox 28"/>
          <p:cNvSpPr txBox="1"/>
          <p:nvPr/>
        </p:nvSpPr>
        <p:spPr>
          <a:xfrm>
            <a:off x="9180347" y="3277870"/>
            <a:ext cx="2316403" cy="366776"/>
          </a:xfrm>
          <a:prstGeom prst="rect">
            <a:avLst/>
          </a:prstGeom>
          <a:noFill/>
        </p:spPr>
        <p:txBody>
          <a:bodyPr wrap="square" anchor="t" lIns="0" rIns="0" tIns="0" bIns="0">
            <a:spAutoFit/>
          </a:bodyPr>
          <a:lstStyle/>
          <a:p>
            <a:pPr algn="l"/>
            <a:r>
              <a:rPr sz="1000" b="0" i="0">
                <a:solidFill>
                  <a:srgbClr val="CFC9EE"/>
                </a:solidFill>
                <a:latin typeface="Calibri"/>
              </a:rPr>
              <a:t>Name the fact that would move you, and how you would get it</a:t>
            </a:r>
          </a:p>
        </p:txBody>
      </p:sp>
      <p:sp>
        <p:nvSpPr>
          <p:cNvPr id="30" name="Rounded Rectangle 29"/>
          <p:cNvSpPr/>
          <p:nvPr/>
        </p:nvSpPr>
        <p:spPr>
          <a:xfrm>
            <a:off x="530352" y="4103624"/>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ounded Rectangle 30"/>
          <p:cNvSpPr/>
          <p:nvPr/>
        </p:nvSpPr>
        <p:spPr>
          <a:xfrm>
            <a:off x="676656" y="4231640"/>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877824" y="4222496"/>
            <a:ext cx="10564063" cy="358140"/>
          </a:xfrm>
          <a:prstGeom prst="rect">
            <a:avLst/>
          </a:prstGeom>
          <a:noFill/>
        </p:spPr>
        <p:txBody>
          <a:bodyPr wrap="square" anchor="ctr" lIns="0" rIns="0" tIns="0" bIns="0">
            <a:spAutoFit/>
          </a:bodyPr>
          <a:lstStyle/>
          <a:p>
            <a:r>
              <a:rPr sz="1500" b="1">
                <a:solidFill>
                  <a:srgbClr val="5B3FD6"/>
                </a:solidFill>
                <a:latin typeface="Calibri"/>
              </a:rPr>
              <a:t>Move 4 is the one first defences skip. </a:t>
            </a:r>
            <a:r>
              <a:rPr sz="1500" b="0" i="0">
                <a:solidFill>
                  <a:srgbClr val="1A1440"/>
                </a:solidFill>
                <a:latin typeface="Calibri"/>
              </a:rPr>
              <a:t>It is also the move that tells the objector the claim can be tested.</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the one claim?</a:t>
            </a:r>
          </a:p>
        </p:txBody>
      </p:sp>
      <p:sp>
        <p:nvSpPr>
          <p:cNvPr id="35" name="Oval 34"/>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37" name="Oval 3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24 / 36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trap: conceding nothing, or everything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two defences lose the room, and what does each cost?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Concedes nothing. </a:t>
            </a:r>
            <a:r>
              <a:rPr sz="1500" b="0" i="0">
                <a:solidFill>
                  <a:srgbClr val="1A1440"/>
                </a:solidFill>
                <a:latin typeface="Calibri"/>
              </a:rPr>
              <a:t>"The data is clear. The scheme pays for idle hours. The monsoon is irrelevant." The finance partner hears a claim repeated louder and stops listening; the slide is rejected as one-sided and the city keeps paying.</a:t>
            </a:r>
          </a:p>
        </p:txBody>
      </p:sp>
      <p:sp>
        <p:nvSpPr>
          <p:cNvPr id="12" name="Rounded Rectangle 11"/>
          <p:cNvSpPr/>
          <p:nvPr/>
        </p:nvSpPr>
        <p:spPr>
          <a:xfrm>
            <a:off x="530352" y="31958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3238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314700"/>
            <a:ext cx="10564063" cy="624840"/>
          </a:xfrm>
          <a:prstGeom prst="rect">
            <a:avLst/>
          </a:prstGeom>
          <a:noFill/>
        </p:spPr>
        <p:txBody>
          <a:bodyPr wrap="square" anchor="ctr" lIns="0" rIns="0" tIns="0" bIns="0">
            <a:spAutoFit/>
          </a:bodyPr>
          <a:lstStyle/>
          <a:p>
            <a:r>
              <a:rPr sz="1500" b="1">
                <a:solidFill>
                  <a:srgbClr val="5B3FD6"/>
                </a:solidFill>
                <a:latin typeface="Calibri"/>
              </a:rPr>
              <a:t>Concedes everything. </a:t>
            </a:r>
            <a:r>
              <a:rPr sz="1500" b="0" i="0">
                <a:solidFill>
                  <a:srgbClr val="1A1440"/>
                </a:solidFill>
                <a:latin typeface="Calibri"/>
              </a:rPr>
              <a:t>"You may be right that it is the monsoon; let us wait another six weeks." The claim is gone, and six more weeks of the same top-up follow.</a:t>
            </a:r>
          </a:p>
        </p:txBody>
      </p:sp>
      <p:sp>
        <p:nvSpPr>
          <p:cNvPr id="15" name="Rounded Rectangle 14"/>
          <p:cNvSpPr/>
          <p:nvPr/>
        </p:nvSpPr>
        <p:spPr>
          <a:xfrm>
            <a:off x="530352" y="4168139"/>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676656" y="4296155"/>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77824" y="4287011"/>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Did the reply name the true part and the line of evidence, in that order? The fix is the four moves.</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the one claim?</a:t>
            </a:r>
          </a:p>
        </p:txBody>
      </p:sp>
      <p:sp>
        <p:nvSpPr>
          <p:cNvPr id="20" name="Oval 19"/>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22" name="Oval 21"/>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25 / 36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monsoon objection, answered in four moves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complete defence of finance's objection sound like?</a:t>
            </a:r>
          </a:p>
        </p:txBody>
      </p:sp>
      <p:sp>
        <p:nvSpPr>
          <p:cNvPr id="9" name="Rounded Rectangle 8"/>
          <p:cNvSpPr/>
          <p:nvPr/>
        </p:nvSpPr>
        <p:spPr>
          <a:xfrm>
            <a:off x="530352" y="194538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7340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64258"/>
            <a:ext cx="10564063" cy="624840"/>
          </a:xfrm>
          <a:prstGeom prst="rect">
            <a:avLst/>
          </a:prstGeom>
          <a:noFill/>
        </p:spPr>
        <p:txBody>
          <a:bodyPr wrap="square" anchor="ctr" lIns="0" rIns="0" tIns="0" bIns="0">
            <a:spAutoFit/>
          </a:bodyPr>
          <a:lstStyle/>
          <a:p>
            <a:r>
              <a:rPr sz="1500" b="1">
                <a:solidFill>
                  <a:srgbClr val="5B3FD6"/>
                </a:solidFill>
                <a:latin typeface="Calibri"/>
              </a:rPr>
              <a:t>Restate. </a:t>
            </a:r>
            <a:r>
              <a:rPr sz="1500" b="0" i="0">
                <a:solidFill>
                  <a:srgbClr val="1A1440"/>
                </a:solidFill>
                <a:latin typeface="Calibri"/>
              </a:rPr>
              <a:t>"You are saying the fall in bookings per hour could be the season ending, and the scheme has not had a fair test."</a:t>
            </a:r>
          </a:p>
        </p:txBody>
      </p:sp>
      <p:sp>
        <p:nvSpPr>
          <p:cNvPr id="12" name="Rounded Rectangle 11"/>
          <p:cNvSpPr/>
          <p:nvPr/>
        </p:nvSpPr>
        <p:spPr>
          <a:xfrm>
            <a:off x="530352" y="291769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04571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036570"/>
            <a:ext cx="10564063" cy="891540"/>
          </a:xfrm>
          <a:prstGeom prst="rect">
            <a:avLst/>
          </a:prstGeom>
          <a:noFill/>
        </p:spPr>
        <p:txBody>
          <a:bodyPr wrap="square" anchor="ctr" lIns="0" rIns="0" tIns="0" bIns="0">
            <a:spAutoFit/>
          </a:bodyPr>
          <a:lstStyle/>
          <a:p>
            <a:r>
              <a:rPr sz="1500" b="1">
                <a:solidFill>
                  <a:srgbClr val="5B3FD6"/>
                </a:solidFill>
                <a:latin typeface="Calibri"/>
              </a:rPr>
              <a:t>Answer. </a:t>
            </a:r>
            <a:r>
              <a:rPr sz="1500" b="0" i="0">
                <a:solidFill>
                  <a:srgbClr val="1A1440"/>
                </a:solidFill>
                <a:latin typeface="Calibri"/>
              </a:rPr>
              <a:t>"Three lines of evidence point at the scheme: rider requests rose 1.8 percent, so demand did not fall; the three busiest weeks after the launch still ran at 1.60 trips per online hour; and drivers who joined before the launch fell from 1.90 to 1.58, so the new drivers do not explain it."</a:t>
            </a:r>
          </a:p>
        </p:txBody>
      </p:sp>
      <p:sp>
        <p:nvSpPr>
          <p:cNvPr id="15" name="Rounded Rectangle 14"/>
          <p:cNvSpPr/>
          <p:nvPr/>
        </p:nvSpPr>
        <p:spPr>
          <a:xfrm>
            <a:off x="530352" y="415671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676656" y="428472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77824" y="4275582"/>
            <a:ext cx="10564063" cy="624840"/>
          </a:xfrm>
          <a:prstGeom prst="rect">
            <a:avLst/>
          </a:prstGeom>
          <a:noFill/>
        </p:spPr>
        <p:txBody>
          <a:bodyPr wrap="square" anchor="ctr" lIns="0" rIns="0" tIns="0" bIns="0">
            <a:spAutoFit/>
          </a:bodyPr>
          <a:lstStyle/>
          <a:p>
            <a:r>
              <a:rPr sz="1500" b="1">
                <a:solidFill>
                  <a:srgbClr val="5B3FD6"/>
                </a:solidFill>
                <a:latin typeface="Calibri"/>
              </a:rPr>
              <a:t>Concede. </a:t>
            </a:r>
            <a:r>
              <a:rPr sz="1500" b="0" i="0">
                <a:solidFill>
                  <a:srgbClr val="1A1440"/>
                </a:solidFill>
                <a:latin typeface="Calibri"/>
              </a:rPr>
              <a:t>"You are right that the monsoon ended inside the window, and that last year's weeks are not in the data."</a:t>
            </a:r>
          </a:p>
        </p:txBody>
      </p:sp>
      <p:sp>
        <p:nvSpPr>
          <p:cNvPr id="18" name="Rounded Rectangle 17"/>
          <p:cNvSpPr/>
          <p:nvPr/>
        </p:nvSpPr>
        <p:spPr>
          <a:xfrm>
            <a:off x="530352" y="512902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ounded Rectangle 18"/>
          <p:cNvSpPr/>
          <p:nvPr/>
        </p:nvSpPr>
        <p:spPr>
          <a:xfrm>
            <a:off x="676656" y="525703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77824" y="5247894"/>
            <a:ext cx="10564063" cy="624840"/>
          </a:xfrm>
          <a:prstGeom prst="rect">
            <a:avLst/>
          </a:prstGeom>
          <a:noFill/>
        </p:spPr>
        <p:txBody>
          <a:bodyPr wrap="square" anchor="ctr" lIns="0" rIns="0" tIns="0" bIns="0">
            <a:spAutoFit/>
          </a:bodyPr>
          <a:lstStyle/>
          <a:p>
            <a:r>
              <a:rPr sz="1500" b="1">
                <a:solidFill>
                  <a:srgbClr val="5B3FD6"/>
                </a:solidFill>
                <a:latin typeface="Calibri"/>
              </a:rPr>
              <a:t>What would change my mind. </a:t>
            </a:r>
            <a:r>
              <a:rPr sz="1500" b="0" i="0">
                <a:solidFill>
                  <a:srgbClr val="1A1440"/>
                </a:solidFill>
                <a:latin typeface="Calibri"/>
              </a:rPr>
              <a:t>"The same six weeks of last year showing a fall of this size, or the test of the redesign showing no change in trips per online hour."</a:t>
            </a:r>
          </a:p>
        </p:txBody>
      </p:sp>
      <p:sp>
        <p:nvSpPr>
          <p:cNvPr id="21" name="Oval 2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the one claim?</a:t>
            </a:r>
          </a:p>
        </p:txBody>
      </p:sp>
      <p:sp>
        <p:nvSpPr>
          <p:cNvPr id="23" name="Oval 22"/>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25" name="Oval 2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26 / 36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Studio round one: three seats, seven minutes each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each group run the round, and what does the scorer hold?</a:t>
            </a:r>
          </a:p>
        </p:txBody>
      </p:sp>
      <p:graphicFrame>
        <p:nvGraphicFramePr>
          <p:cNvPr id="9" name="Table 8"/>
          <p:cNvGraphicFramePr>
            <a:graphicFrameLocks noGrp="1"/>
          </p:cNvGraphicFramePr>
          <p:nvPr/>
        </p:nvGraphicFramePr>
        <p:xfrm>
          <a:off x="530352" y="1956816"/>
          <a:ext cx="11130990" cy="1479296"/>
        </p:xfrm>
        <a:graphic>
          <a:graphicData uri="http://schemas.openxmlformats.org/drawingml/2006/table">
            <a:tbl>
              <a:tblPr firstRow="0" bandRow="0">
                <a:tableStyleId>{2D5ABB26-0587-4C30-8999-92F81FD0307C}</a:tableStyleId>
              </a:tblPr>
              <a:tblGrid>
                <a:gridCol w="1358902"/>
                <a:gridCol w="7219605"/>
                <a:gridCol w="2552483"/>
              </a:tblGrid>
              <a:tr h="369824">
                <a:tc>
                  <a:txBody>
                    <a:bodyPr/>
                    <a:lstStyle/>
                    <a:p>
                      <a:r>
                        <a:rPr sz="1450" b="1" i="0">
                          <a:solidFill>
                            <a:srgbClr val="FFFFFF"/>
                          </a:solidFill>
                          <a:latin typeface="Calibri"/>
                        </a:rPr>
                        <a:t>Seat</a:t>
                      </a:r>
                    </a:p>
                  </a:txBody>
                  <a:tcPr marL="101600" marR="101600" marT="38100" marB="38100" anchor="ctr">
                    <a:solidFill>
                      <a:srgbClr val="1A0F5C"/>
                    </a:solidFill>
                  </a:tcPr>
                </a:tc>
                <a:tc>
                  <a:txBody>
                    <a:bodyPr/>
                    <a:lstStyle/>
                    <a:p>
                      <a:r>
                        <a:rPr sz="1450" b="1" i="0">
                          <a:solidFill>
                            <a:srgbClr val="FFFFFF"/>
                          </a:solidFill>
                          <a:latin typeface="Calibri"/>
                        </a:rPr>
                        <a:t>What it does</a:t>
                      </a:r>
                    </a:p>
                  </a:txBody>
                  <a:tcPr marL="101600" marR="101600" marT="38100" marB="38100" anchor="ctr">
                    <a:solidFill>
                      <a:srgbClr val="1A0F5C"/>
                    </a:solidFill>
                  </a:tcPr>
                </a:tc>
                <a:tc>
                  <a:txBody>
                    <a:bodyPr/>
                    <a:lstStyle/>
                    <a:p>
                      <a:r>
                        <a:rPr sz="1450" b="1" i="0">
                          <a:solidFill>
                            <a:srgbClr val="FFFFFF"/>
                          </a:solidFill>
                          <a:latin typeface="Calibri"/>
                        </a:rPr>
                        <a:t>What it holds</a:t>
                      </a:r>
                    </a:p>
                  </a:txBody>
                  <a:tcPr marL="101600" marR="101600" marT="38100" marB="38100" anchor="ctr">
                    <a:solidFill>
                      <a:srgbClr val="1A0F5C"/>
                    </a:solidFill>
                  </a:tcPr>
                </a:tc>
              </a:tr>
              <a:tr h="369824">
                <a:tc>
                  <a:txBody>
                    <a:bodyPr/>
                    <a:lstStyle/>
                    <a:p>
                      <a:r>
                        <a:rPr sz="1400" b="0" i="0">
                          <a:solidFill>
                            <a:srgbClr val="1A1440"/>
                          </a:solidFill>
                          <a:latin typeface="Calibri"/>
                        </a:rPr>
                        <a:t>Presenter</a:t>
                      </a:r>
                    </a:p>
                  </a:txBody>
                  <a:tcPr marL="101600" marR="101600" marT="38100" marB="38100" anchor="ctr">
                    <a:solidFill>
                      <a:srgbClr val="FFFFFF"/>
                    </a:solidFill>
                  </a:tcPr>
                </a:tc>
                <a:tc>
                  <a:txBody>
                    <a:bodyPr/>
                    <a:lstStyle/>
                    <a:p>
                      <a:r>
                        <a:rPr sz="1400" b="0" i="0">
                          <a:solidFill>
                            <a:srgbClr val="1A1440"/>
                          </a:solidFill>
                          <a:latin typeface="Calibri"/>
                        </a:rPr>
                        <a:t>Presents the rebuilt slide in five minutes, then answers one objection</a:t>
                      </a:r>
                    </a:p>
                  </a:txBody>
                  <a:tcPr marL="101600" marR="101600" marT="38100" marB="38100" anchor="ctr">
                    <a:solidFill>
                      <a:srgbClr val="FFFFFF"/>
                    </a:solidFill>
                  </a:tcPr>
                </a:tc>
                <a:tc>
                  <a:txBody>
                    <a:bodyPr/>
                    <a:lstStyle/>
                    <a:p>
                      <a:r>
                        <a:rPr sz="1400" b="0" i="0">
                          <a:solidFill>
                            <a:srgbClr val="1A1440"/>
                          </a:solidFill>
                          <a:latin typeface="Calibri"/>
                        </a:rPr>
                        <a:t>The slide</a:t>
                      </a:r>
                    </a:p>
                  </a:txBody>
                  <a:tcPr marL="101600" marR="101600" marT="38100" marB="38100" anchor="ctr">
                    <a:solidFill>
                      <a:srgbClr val="FFFFFF"/>
                    </a:solidFill>
                  </a:tcPr>
                </a:tc>
              </a:tr>
              <a:tr h="369824">
                <a:tc>
                  <a:txBody>
                    <a:bodyPr/>
                    <a:lstStyle/>
                    <a:p>
                      <a:r>
                        <a:rPr sz="1400" b="0" i="0">
                          <a:solidFill>
                            <a:srgbClr val="1A1440"/>
                          </a:solidFill>
                          <a:latin typeface="Calibri"/>
                        </a:rPr>
                        <a:t>Objector</a:t>
                      </a:r>
                    </a:p>
                  </a:txBody>
                  <a:tcPr marL="101600" marR="101600" marT="38100" marB="38100" anchor="ctr">
                    <a:solidFill>
                      <a:srgbClr val="F4F2FA"/>
                    </a:solidFill>
                  </a:tcPr>
                </a:tc>
                <a:tc>
                  <a:txBody>
                    <a:bodyPr/>
                    <a:lstStyle/>
                    <a:p>
                      <a:r>
                        <a:rPr sz="1400" b="0" i="0">
                          <a:solidFill>
                            <a:srgbClr val="1A1440"/>
                          </a:solidFill>
                          <a:latin typeface="Calibri"/>
                        </a:rPr>
                        <a:t>Reads one role's objection from its card and pushes back once</a:t>
                      </a:r>
                    </a:p>
                  </a:txBody>
                  <a:tcPr marL="101600" marR="101600" marT="38100" marB="38100" anchor="ctr">
                    <a:solidFill>
                      <a:srgbClr val="F4F2FA"/>
                    </a:solidFill>
                  </a:tcPr>
                </a:tc>
                <a:tc>
                  <a:txBody>
                    <a:bodyPr/>
                    <a:lstStyle/>
                    <a:p>
                      <a:r>
                        <a:rPr sz="1400" b="0" i="0">
                          <a:solidFill>
                            <a:srgbClr val="1A1440"/>
                          </a:solidFill>
                          <a:latin typeface="Calibri"/>
                        </a:rPr>
                        <a:t>One role card</a:t>
                      </a:r>
                    </a:p>
                  </a:txBody>
                  <a:tcPr marL="101600" marR="101600" marT="38100" marB="38100" anchor="ctr">
                    <a:solidFill>
                      <a:srgbClr val="F4F2FA"/>
                    </a:solidFill>
                  </a:tcPr>
                </a:tc>
              </a:tr>
              <a:tr h="369824">
                <a:tc>
                  <a:txBody>
                    <a:bodyPr/>
                    <a:lstStyle/>
                    <a:p>
                      <a:r>
                        <a:rPr sz="1400" b="0" i="0">
                          <a:solidFill>
                            <a:srgbClr val="1A1440"/>
                          </a:solidFill>
                          <a:latin typeface="Calibri"/>
                        </a:rPr>
                        <a:t>Scorer</a:t>
                      </a:r>
                    </a:p>
                  </a:txBody>
                  <a:tcPr marL="101600" marR="101600" marT="38100" marB="38100" anchor="ctr">
                    <a:solidFill>
                      <a:srgbClr val="FFFFFF"/>
                    </a:solidFill>
                  </a:tcPr>
                </a:tc>
                <a:tc>
                  <a:txBody>
                    <a:bodyPr/>
                    <a:lstStyle/>
                    <a:p>
                      <a:r>
                        <a:rPr sz="1400" b="0" i="0">
                          <a:solidFill>
                            <a:srgbClr val="1A1440"/>
                          </a:solidFill>
                          <a:latin typeface="Calibri"/>
                        </a:rPr>
                        <a:t>Ticks each move heard: restate, answer, concede, change my mind</a:t>
                      </a:r>
                    </a:p>
                  </a:txBody>
                  <a:tcPr marL="101600" marR="101600" marT="38100" marB="38100" anchor="ctr">
                    <a:solidFill>
                      <a:srgbClr val="FFFFFF"/>
                    </a:solidFill>
                  </a:tcPr>
                </a:tc>
                <a:tc>
                  <a:txBody>
                    <a:bodyPr/>
                    <a:lstStyle/>
                    <a:p>
                      <a:r>
                        <a:rPr sz="1400" b="0" i="0">
                          <a:solidFill>
                            <a:srgbClr val="1A1440"/>
                          </a:solidFill>
                          <a:latin typeface="Calibri"/>
                        </a:rPr>
                        <a:t>The four-moves card</a:t>
                      </a:r>
                    </a:p>
                  </a:txBody>
                  <a:tcPr marL="101600" marR="101600" marT="38100" marB="38100" anchor="ctr">
                    <a:solidFill>
                      <a:srgbClr val="FFFFFF"/>
                    </a:solidFill>
                  </a:tcPr>
                </a:tc>
              </a:tr>
            </a:tbl>
          </a:graphicData>
        </a:graphic>
      </p:graphicFrame>
      <p:sp>
        <p:nvSpPr>
          <p:cNvPr id="10" name="Rounded Rectangle 9"/>
          <p:cNvSpPr/>
          <p:nvPr/>
        </p:nvSpPr>
        <p:spPr>
          <a:xfrm>
            <a:off x="530352" y="369214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2016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11016"/>
            <a:ext cx="10564063" cy="624840"/>
          </a:xfrm>
          <a:prstGeom prst="rect">
            <a:avLst/>
          </a:prstGeom>
          <a:noFill/>
        </p:spPr>
        <p:txBody>
          <a:bodyPr wrap="square" anchor="ctr" lIns="0" rIns="0" tIns="0" bIns="0">
            <a:spAutoFit/>
          </a:bodyPr>
          <a:lstStyle/>
          <a:p>
            <a:r>
              <a:rPr sz="1500" b="1">
                <a:solidFill>
                  <a:srgbClr val="5B3FD6"/>
                </a:solidFill>
                <a:latin typeface="Calibri"/>
              </a:rPr>
              <a:t>Three rounds of seven minutes. </a:t>
            </a:r>
            <a:r>
              <a:rPr sz="1500" b="0" i="0">
                <a:solidFill>
                  <a:srgbClr val="1A1440"/>
                </a:solidFill>
                <a:latin typeface="Calibri"/>
              </a:rPr>
              <a:t>Rotate seats after each round, so every member of a group presents once, objects once and scores once.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the one claim?</a:t>
            </a:r>
          </a:p>
        </p:txBody>
      </p:sp>
      <p:sp>
        <p:nvSpPr>
          <p:cNvPr id="15" name="Oval 14"/>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27 / 36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defence fails by retreating or by overclaiming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failing defences do, and which question fixes each?</a:t>
            </a:r>
          </a:p>
        </p:txBody>
      </p:sp>
      <p:graphicFrame>
        <p:nvGraphicFramePr>
          <p:cNvPr id="9" name="Table 8"/>
          <p:cNvGraphicFramePr>
            <a:graphicFrameLocks noGrp="1"/>
          </p:cNvGraphicFramePr>
          <p:nvPr/>
        </p:nvGraphicFramePr>
        <p:xfrm>
          <a:off x="530352" y="1956816"/>
          <a:ext cx="11130990" cy="1593088"/>
        </p:xfrm>
        <a:graphic>
          <a:graphicData uri="http://schemas.openxmlformats.org/drawingml/2006/table">
            <a:tbl>
              <a:tblPr firstRow="0" bandRow="0">
                <a:tableStyleId>{2D5ABB26-0587-4C30-8999-92F81FD0307C}</a:tableStyleId>
              </a:tblPr>
              <a:tblGrid>
                <a:gridCol w="1244002"/>
                <a:gridCol w="5116996"/>
                <a:gridCol w="4769992"/>
              </a:tblGrid>
              <a:tr h="369824">
                <a:tc>
                  <a:txBody>
                    <a:bodyPr/>
                    <a:lstStyle/>
                    <a:p>
                      <a:r>
                        <a:rPr sz="1450" b="1" i="0">
                          <a:solidFill>
                            <a:srgbClr val="FFFFFF"/>
                          </a:solidFill>
                          <a:latin typeface="Calibri"/>
                        </a:rPr>
                        <a:t>The failure</a:t>
                      </a:r>
                    </a:p>
                  </a:txBody>
                  <a:tcPr marL="101600" marR="101600" marT="38100" marB="38100" anchor="ctr">
                    <a:solidFill>
                      <a:srgbClr val="1A0F5C"/>
                    </a:solidFill>
                  </a:tcPr>
                </a:tc>
                <a:tc>
                  <a:txBody>
                    <a:bodyPr/>
                    <a:lstStyle/>
                    <a:p>
                      <a:r>
                        <a:rPr sz="1450" b="1" i="0">
                          <a:solidFill>
                            <a:srgbClr val="FFFFFF"/>
                          </a:solidFill>
                          <a:latin typeface="Calibri"/>
                        </a:rPr>
                        <a:t>What it sounds like</a:t>
                      </a:r>
                    </a:p>
                  </a:txBody>
                  <a:tcPr marL="101600" marR="101600" marT="38100" marB="38100" anchor="ctr">
                    <a:solidFill>
                      <a:srgbClr val="1A0F5C"/>
                    </a:solidFill>
                  </a:tcPr>
                </a:tc>
                <a:tc>
                  <a:txBody>
                    <a:bodyPr/>
                    <a:lstStyle/>
                    <a:p>
                      <a:r>
                        <a:rPr sz="1450" b="1" i="0">
                          <a:solidFill>
                            <a:srgbClr val="FFFFFF"/>
                          </a:solidFill>
                          <a:latin typeface="Calibri"/>
                        </a:rPr>
                        <a:t>The question that fixes it</a:t>
                      </a:r>
                    </a:p>
                  </a:txBody>
                  <a:tcPr marL="101600" marR="101600" marT="38100" marB="38100" anchor="ctr">
                    <a:solidFill>
                      <a:srgbClr val="1A0F5C"/>
                    </a:solidFill>
                  </a:tcPr>
                </a:tc>
              </a:tr>
              <a:tr h="611632">
                <a:tc>
                  <a:txBody>
                    <a:bodyPr/>
                    <a:lstStyle/>
                    <a:p>
                      <a:r>
                        <a:rPr sz="1400" b="0" i="0">
                          <a:solidFill>
                            <a:srgbClr val="1A1440"/>
                          </a:solidFill>
                          <a:latin typeface="Calibri"/>
                        </a:rPr>
                        <a:t>Retreat</a:t>
                      </a:r>
                    </a:p>
                  </a:txBody>
                  <a:tcPr marL="101600" marR="101600" marT="38100" marB="38100" anchor="ctr">
                    <a:solidFill>
                      <a:srgbClr val="FFFFFF"/>
                    </a:solidFill>
                  </a:tcPr>
                </a:tc>
                <a:tc>
                  <a:txBody>
                    <a:bodyPr/>
                    <a:lstStyle/>
                    <a:p>
                      <a:r>
                        <a:rPr sz="1400" b="0" i="0">
                          <a:solidFill>
                            <a:srgbClr val="1A1440"/>
                          </a:solidFill>
                          <a:latin typeface="Calibri"/>
                        </a:rPr>
                        <a:t>The presenter concedes the whole claim at the first push</a:t>
                      </a:r>
                    </a:p>
                  </a:txBody>
                  <a:tcPr marL="101600" marR="101600" marT="38100" marB="38100" anchor="ctr">
                    <a:solidFill>
                      <a:srgbClr val="FFFFFF"/>
                    </a:solidFill>
                  </a:tcPr>
                </a:tc>
                <a:tc>
                  <a:txBody>
                    <a:bodyPr/>
                    <a:lstStyle/>
                    <a:p>
                      <a:r>
                        <a:rPr sz="1400" b="0" i="0">
                          <a:solidFill>
                            <a:srgbClr val="1A1440"/>
                          </a:solidFill>
                          <a:latin typeface="Calibri"/>
                        </a:rPr>
                        <a:t>"Which line of your evidence did the objection touch?"</a:t>
                      </a:r>
                    </a:p>
                  </a:txBody>
                  <a:tcPr marL="101600" marR="101600" marT="38100" marB="38100" anchor="ctr">
                    <a:solidFill>
                      <a:srgbClr val="FFFFFF"/>
                    </a:solidFill>
                  </a:tcPr>
                </a:tc>
              </a:tr>
              <a:tr h="611632">
                <a:tc>
                  <a:txBody>
                    <a:bodyPr/>
                    <a:lstStyle/>
                    <a:p>
                      <a:r>
                        <a:rPr sz="1400" b="0" i="0">
                          <a:solidFill>
                            <a:srgbClr val="1A1440"/>
                          </a:solidFill>
                          <a:latin typeface="Calibri"/>
                        </a:rPr>
                        <a:t>Overclaim</a:t>
                      </a:r>
                    </a:p>
                  </a:txBody>
                  <a:tcPr marL="101600" marR="101600" marT="38100" marB="38100" anchor="ctr">
                    <a:solidFill>
                      <a:srgbClr val="F4F2FA"/>
                    </a:solidFill>
                  </a:tcPr>
                </a:tc>
                <a:tc>
                  <a:txBody>
                    <a:bodyPr/>
                    <a:lstStyle/>
                    <a:p>
                      <a:r>
                        <a:rPr sz="1400" b="0" i="0">
                          <a:solidFill>
                            <a:srgbClr val="1A1440"/>
                          </a:solidFill>
                          <a:latin typeface="Calibri"/>
                        </a:rPr>
                        <a:t>The presenter repeats the claim louder and concedes nothing</a:t>
                      </a:r>
                    </a:p>
                  </a:txBody>
                  <a:tcPr marL="101600" marR="101600" marT="38100" marB="38100" anchor="ctr">
                    <a:solidFill>
                      <a:srgbClr val="F4F2FA"/>
                    </a:solidFill>
                  </a:tcPr>
                </a:tc>
                <a:tc>
                  <a:txBody>
                    <a:bodyPr/>
                    <a:lstStyle/>
                    <a:p>
                      <a:r>
                        <a:rPr sz="1400" b="0" i="0">
                          <a:solidFill>
                            <a:srgbClr val="1A1440"/>
                          </a:solidFill>
                          <a:latin typeface="Calibri"/>
                        </a:rPr>
                        <a:t>"What would change your mind?"</a:t>
                      </a:r>
                    </a:p>
                  </a:txBody>
                  <a:tcPr marL="101600" marR="101600" marT="38100" marB="38100" anchor="ctr">
                    <a:solidFill>
                      <a:srgbClr val="F4F2FA"/>
                    </a:solidFill>
                  </a:tcPr>
                </a:tc>
              </a:tr>
            </a:tbl>
          </a:graphicData>
        </a:graphic>
      </p:graphicFrame>
      <p:sp>
        <p:nvSpPr>
          <p:cNvPr id="10" name="TextBox 9"/>
          <p:cNvSpPr txBox="1"/>
          <p:nvPr/>
        </p:nvSpPr>
        <p:spPr>
          <a:xfrm>
            <a:off x="530352" y="3805936"/>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Chapter 2 adds the four moves to Tuesday's node:</a:t>
            </a:r>
            <a:r>
              <a:rPr sz="1600" b="0" i="0">
                <a:solidFill>
                  <a:srgbClr val="1A1440"/>
                </a:solidFill>
                <a:latin typeface="Calibri"/>
              </a:rPr>
              <a:t> restate, answer, concede, say what would change your mind. </a:t>
            </a:r>
            <a:r>
              <a:rPr sz="1600" b="1" i="0">
                <a:solidFill>
                  <a:srgbClr val="1A1440"/>
                </a:solidFill>
                <a:latin typeface="Calibri"/>
              </a:rPr>
              <a:t>In the interview</a:t>
            </a:r>
            <a:r>
              <a:rPr sz="1600" b="0" i="0">
                <a:solidFill>
                  <a:srgbClr val="1A1440"/>
                </a:solidFill>
                <a:latin typeface="Calibri"/>
              </a:rPr>
              <a:t> [F]: a stakeholder's objection is partly right; how do you answer it?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the one claim?</a:t>
            </a:r>
          </a:p>
        </p:txBody>
      </p:sp>
      <p:sp>
        <p:nvSpPr>
          <p:cNvPr id="13" name="Oval 12"/>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15" name="Oval 1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28 / 36</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leaves the slide?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What leaves the slide and where does it go, so that nothing a role will ask about is hidden?</a:t>
            </a:r>
          </a:p>
        </p:txBody>
      </p:sp>
      <p:sp>
        <p:nvSpPr>
          <p:cNvPr id="10" name="Rounded Rectangle 9"/>
          <p:cNvSpPr/>
          <p:nvPr/>
        </p:nvSpPr>
        <p:spPr>
          <a:xfrm>
            <a:off x="73151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the one claim?</a:t>
            </a:r>
          </a:p>
        </p:txBody>
      </p:sp>
      <p:sp>
        <p:nvSpPr>
          <p:cNvPr id="11" name="Rounded Rectangle 10"/>
          <p:cNvSpPr/>
          <p:nvPr/>
        </p:nvSpPr>
        <p:spPr>
          <a:xfrm>
            <a:off x="250975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objection holds?</a:t>
            </a:r>
          </a:p>
        </p:txBody>
      </p:sp>
      <p:sp>
        <p:nvSpPr>
          <p:cNvPr id="12" name="Rounded Rectangle 11"/>
          <p:cNvSpPr/>
          <p:nvPr/>
        </p:nvSpPr>
        <p:spPr>
          <a:xfrm>
            <a:off x="4287998"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leaves the slide?</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2: one slide, three objectors</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29 / 36</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which of these belongs in the appendix?</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Of four things the slide could carry, which one moves behind it?</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 a) The caveat that the monsoon ended inside the window</a:t>
            </a:r>
          </a:p>
          <a:p>
            <a:pPr>
              <a:spcAft>
                <a:spcPts val="800"/>
              </a:spcAft>
            </a:pPr>
            <a:r>
              <a:rPr sz="1600" b="0" i="0">
                <a:solidFill>
                  <a:srgbClr val="1A1440"/>
                </a:solidFill>
                <a:latin typeface="Calibri"/>
              </a:rPr>
              <a:t>- b) The per-driver-week and per-trip reads, with one line each on what moved them</a:t>
            </a:r>
          </a:p>
          <a:p>
            <a:pPr>
              <a:spcAft>
                <a:spcPts val="800"/>
              </a:spcAft>
            </a:pPr>
            <a:r>
              <a:rPr sz="1600" b="0" i="0">
                <a:solidFill>
                  <a:srgbClr val="1A1440"/>
                </a:solidFill>
                <a:latin typeface="Calibri"/>
              </a:rPr>
              <a:t>- c) The action and its saving range</a:t>
            </a:r>
          </a:p>
          <a:p>
            <a:pPr>
              <a:spcAft>
                <a:spcPts val="800"/>
              </a:spcAft>
            </a:pPr>
            <a:r>
              <a:rPr sz="1600" b="0" i="0">
                <a:solidFill>
                  <a:srgbClr val="1A1440"/>
                </a:solidFill>
                <a:latin typeface="Calibri"/>
              </a:rPr>
              <a:t>- d) The chart of bookings per peak online hour</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the one claim?</a:t>
            </a:r>
          </a:p>
        </p:txBody>
      </p:sp>
      <p:sp>
        <p:nvSpPr>
          <p:cNvPr id="12" name="Oval 1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4" name="Oval 13"/>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leaves the slide?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30 / 36</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caveat stays; detail goes in a drawer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sits behind the slide, page by page?</a:t>
            </a:r>
          </a:p>
        </p:txBody>
      </p:sp>
      <p:pic>
        <p:nvPicPr>
          <p:cNvPr id="9" name="mermaid diagram" descr="afc59ca9f98645d4.png"/>
          <p:cNvPicPr>
            <a:picLocks noChangeAspect="1"/>
          </p:cNvPicPr>
          <p:nvPr/>
        </p:nvPicPr>
        <p:blipFill>
          <a:blip r:embed="rId5"/>
          <a:stretch>
            <a:fillRect/>
          </a:stretch>
        </p:blipFill>
        <p:spPr>
          <a:xfrm>
            <a:off x="3115146" y="1664208"/>
            <a:ext cx="5961401" cy="3250692"/>
          </a:xfrm>
          <a:prstGeom prst="rect">
            <a:avLst/>
          </a:prstGeom>
        </p:spPr>
      </p:pic>
      <p:sp>
        <p:nvSpPr>
          <p:cNvPr id="10" name="Rounded Rectangle 9"/>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The answer is b. </a:t>
            </a:r>
            <a:r>
              <a:rPr sz="1500" b="0" i="0">
                <a:solidFill>
                  <a:srgbClr val="1A1440"/>
                </a:solidFill>
                <a:latin typeface="Calibri"/>
              </a:rPr>
              <a:t>A caveat moved to the appendix is found there by its owner, who then calls the slide dishonest. Each appendix page is headed by the question one role will ask, so the analyst turns to it when the question comes.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the one claim?</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7" name="Oval 16"/>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leaves the slide?</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31 / 36</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Amazon reads a six-page memo in silence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would a company reject slides, and what does that teach a one-slide answer?</a:t>
            </a:r>
          </a:p>
        </p:txBody>
      </p:sp>
      <p:sp>
        <p:nvSpPr>
          <p:cNvPr id="9" name="TextBox 8"/>
          <p:cNvSpPr txBox="1"/>
          <p:nvPr/>
        </p:nvSpPr>
        <p:spPr>
          <a:xfrm>
            <a:off x="530352" y="1956816"/>
            <a:ext cx="11130991" cy="1048512"/>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In its 2017 letter to shareholders, Amazon said it does no PowerPoint or slide presentations in meetings.</a:t>
            </a:r>
            <a:r>
              <a:rPr sz="1600" b="0" i="0">
                <a:solidFill>
                  <a:srgbClr val="1A1440"/>
                </a:solidFill>
                <a:latin typeface="Calibri"/>
              </a:rPr>
              <a:t> The owner writes a narratively structured six-page memo, the room reads it in silence at the start of the meeting, and the letter says a great memo probably takes a week or more to write.</a:t>
            </a:r>
          </a:p>
        </p:txBody>
      </p:sp>
      <p:sp>
        <p:nvSpPr>
          <p:cNvPr id="10" name="Rounded Rectangle 9"/>
          <p:cNvSpPr/>
          <p:nvPr/>
        </p:nvSpPr>
        <p:spPr>
          <a:xfrm>
            <a:off x="530352" y="3133344"/>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26136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252216"/>
            <a:ext cx="10564063" cy="891540"/>
          </a:xfrm>
          <a:prstGeom prst="rect">
            <a:avLst/>
          </a:prstGeom>
          <a:noFill/>
        </p:spPr>
        <p:txBody>
          <a:bodyPr wrap="square" anchor="ctr" lIns="0" rIns="0" tIns="0" bIns="0">
            <a:spAutoFit/>
          </a:bodyPr>
          <a:lstStyle/>
          <a:p>
            <a:r>
              <a:rPr sz="1500" b="1">
                <a:solidFill>
                  <a:srgbClr val="5B3FD6"/>
                </a:solidFill>
                <a:latin typeface="Calibri"/>
              </a:rPr>
              <a:t>What it teaches the slide. </a:t>
            </a:r>
            <a:r>
              <a:rPr sz="1500" b="0" i="0">
                <a:solidFill>
                  <a:srgbClr val="1A1440"/>
                </a:solidFill>
                <a:latin typeface="Calibri"/>
              </a:rPr>
              <a:t>The memo forces full sentences where bullets hide the reasoning. The city head will read one slide in five minutes, so every element on it must earn its place the way a sentence earns its place in a memo.</a:t>
            </a:r>
          </a:p>
        </p:txBody>
      </p:sp>
      <p:sp>
        <p:nvSpPr>
          <p:cNvPr id="13" name="Rounded Rectangle 12"/>
          <p:cNvSpPr/>
          <p:nvPr/>
        </p:nvSpPr>
        <p:spPr>
          <a:xfrm>
            <a:off x="530352" y="4372356"/>
            <a:ext cx="45720" cy="4673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786384" y="4372356"/>
            <a:ext cx="10820095" cy="467359"/>
          </a:xfrm>
          <a:prstGeom prst="rect">
            <a:avLst/>
          </a:prstGeom>
          <a:noFill/>
        </p:spPr>
        <p:txBody>
          <a:bodyPr wrap="square" anchor="t" lIns="0" rIns="0" tIns="0" bIns="0">
            <a:spAutoFit/>
          </a:bodyPr>
          <a:lstStyle/>
          <a:p>
            <a:r>
              <a:rPr sz="1600" b="0" i="1">
                <a:solidFill>
                  <a:srgbClr val="1A0F5C"/>
                </a:solidFill>
                <a:latin typeface="Georgia"/>
              </a:rPr>
              <a:t>Source: Amazon's 2017 letter to shareholders, filed 18 April 2018 (checked 12 October 2026).</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the one claim?</a:t>
            </a:r>
          </a:p>
        </p:txBody>
      </p:sp>
      <p:sp>
        <p:nvSpPr>
          <p:cNvPr id="17" name="Oval 16"/>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9" name="Oval 18"/>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leaves the slide?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32 / 36</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Cut five elements to the two that carry the claim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two elements of a crowded draft does the claim need?</a:t>
            </a:r>
          </a:p>
        </p:txBody>
      </p:sp>
      <p:graphicFrame>
        <p:nvGraphicFramePr>
          <p:cNvPr id="9" name="Table 8"/>
          <p:cNvGraphicFramePr>
            <a:graphicFrameLocks noGrp="1"/>
          </p:cNvGraphicFramePr>
          <p:nvPr/>
        </p:nvGraphicFramePr>
        <p:xfrm>
          <a:off x="530352" y="1956816"/>
          <a:ext cx="11130990" cy="2218944"/>
        </p:xfrm>
        <a:graphic>
          <a:graphicData uri="http://schemas.openxmlformats.org/drawingml/2006/table">
            <a:tbl>
              <a:tblPr firstRow="0" bandRow="0">
                <a:tableStyleId>{2D5ABB26-0587-4C30-8999-92F81FD0307C}</a:tableStyleId>
              </a:tblPr>
              <a:tblGrid>
                <a:gridCol w="8695104"/>
                <a:gridCol w="2435886"/>
              </a:tblGrid>
              <a:tr h="369824">
                <a:tc>
                  <a:txBody>
                    <a:bodyPr/>
                    <a:lstStyle/>
                    <a:p>
                      <a:r>
                        <a:rPr sz="1450" b="1" i="0">
                          <a:solidFill>
                            <a:srgbClr val="FFFFFF"/>
                          </a:solidFill>
                          <a:latin typeface="Calibri"/>
                        </a:rPr>
                        <a:t>Element on the draft</a:t>
                      </a:r>
                    </a:p>
                  </a:txBody>
                  <a:tcPr marL="101600" marR="101600" marT="38100" marB="38100" anchor="ctr">
                    <a:solidFill>
                      <a:srgbClr val="1A0F5C"/>
                    </a:solidFill>
                  </a:tcPr>
                </a:tc>
                <a:tc>
                  <a:txBody>
                    <a:bodyPr/>
                    <a:lstStyle/>
                    <a:p>
                      <a:r>
                        <a:rPr sz="1450" b="1" i="0">
                          <a:solidFill>
                            <a:srgbClr val="FFFFFF"/>
                          </a:solidFill>
                          <a:latin typeface="Calibri"/>
                        </a:rPr>
                        <a:t>Keep or move?</a:t>
                      </a:r>
                    </a:p>
                  </a:txBody>
                  <a:tcPr marL="101600" marR="101600" marT="38100" marB="38100" anchor="ctr">
                    <a:solidFill>
                      <a:srgbClr val="1A0F5C"/>
                    </a:solidFill>
                  </a:tcPr>
                </a:tc>
              </a:tr>
              <a:tr h="369824">
                <a:tc>
                  <a:txBody>
                    <a:bodyPr/>
                    <a:lstStyle/>
                    <a:p>
                      <a:r>
                        <a:rPr sz="1400" b="0" i="0">
                          <a:solidFill>
                            <a:srgbClr val="1A1440"/>
                          </a:solidFill>
                          <a:latin typeface="Calibri"/>
                        </a:rPr>
                        <a:t>The line "peak online hours up 24 percent"</a:t>
                      </a:r>
                    </a:p>
                  </a:txBody>
                  <a:tcPr marL="101600" marR="101600" marT="38100" marB="38100" anchor="ctr">
                    <a:solidFill>
                      <a:srgbClr val="FFFFFF"/>
                    </a:solidFill>
                  </a:tcPr>
                </a:tc>
                <a:tc>
                  <a:txBody>
                    <a:bodyPr/>
                    <a:lstStyle/>
                    <a:p/>
                  </a:txBody>
                  <a:tcPr marL="101600" marR="101600" marT="38100" marB="38100" anchor="ctr">
                    <a:solidFill>
                      <a:srgbClr val="FFFFFF"/>
                    </a:solidFill>
                  </a:tcPr>
                </a:tc>
              </a:tr>
              <a:tr h="369824">
                <a:tc>
                  <a:txBody>
                    <a:bodyPr/>
                    <a:lstStyle/>
                    <a:p>
                      <a:r>
                        <a:rPr sz="1400" b="0" i="0">
                          <a:solidFill>
                            <a:srgbClr val="1A1440"/>
                          </a:solidFill>
                          <a:latin typeface="Calibri"/>
                        </a:rPr>
                        <a:t>The chart of bookings per peak online hour, Rs 314 to Rs 260</a:t>
                      </a:r>
                    </a:p>
                  </a:txBody>
                  <a:tcPr marL="101600" marR="101600" marT="38100" marB="38100" anchor="ctr">
                    <a:solidFill>
                      <a:srgbClr val="F4F2FA"/>
                    </a:solidFill>
                  </a:tcPr>
                </a:tc>
                <a:tc>
                  <a:txBody>
                    <a:bodyPr/>
                    <a:lstStyle/>
                    <a:p/>
                  </a:txBody>
                  <a:tcPr marL="101600" marR="101600" marT="38100" marB="38100" anchor="ctr">
                    <a:solidFill>
                      <a:srgbClr val="F4F2FA"/>
                    </a:solidFill>
                  </a:tcPr>
                </a:tc>
              </a:tr>
              <a:tr h="369824">
                <a:tc>
                  <a:txBody>
                    <a:bodyPr/>
                    <a:lstStyle/>
                    <a:p>
                      <a:r>
                        <a:rPr sz="1400" b="0" i="0">
                          <a:solidFill>
                            <a:srgbClr val="1A1440"/>
                          </a:solidFill>
                          <a:latin typeface="Calibri"/>
                        </a:rPr>
                        <a:t>A table of acceptance by zone</a:t>
                      </a:r>
                    </a:p>
                  </a:txBody>
                  <a:tcPr marL="101600" marR="101600" marT="38100" marB="38100" anchor="ctr">
                    <a:solidFill>
                      <a:srgbClr val="FFFFFF"/>
                    </a:solidFill>
                  </a:tcPr>
                </a:tc>
                <a:tc>
                  <a:txBody>
                    <a:bodyPr/>
                    <a:lstStyle/>
                    <a:p/>
                  </a:txBody>
                  <a:tcPr marL="101600" marR="101600" marT="38100" marB="38100" anchor="ctr">
                    <a:solidFill>
                      <a:srgbClr val="FFFFFF"/>
                    </a:solidFill>
                  </a:tcPr>
                </a:tc>
              </a:tr>
              <a:tr h="369824">
                <a:tc>
                  <a:txBody>
                    <a:bodyPr/>
                    <a:lstStyle/>
                    <a:p>
                      <a:r>
                        <a:rPr sz="1400" b="0" i="0">
                          <a:solidFill>
                            <a:srgbClr val="1A1440"/>
                          </a:solidFill>
                          <a:latin typeface="Calibri"/>
                        </a:rPr>
                        <a:t>The top-up split: 61 percent to low acceptance</a:t>
                      </a:r>
                    </a:p>
                  </a:txBody>
                  <a:tcPr marL="101600" marR="101600" marT="38100" marB="38100" anchor="ctr">
                    <a:solidFill>
                      <a:srgbClr val="F4F2FA"/>
                    </a:solidFill>
                  </a:tcPr>
                </a:tc>
                <a:tc>
                  <a:txBody>
                    <a:bodyPr/>
                    <a:lstStyle/>
                    <a:p/>
                  </a:txBody>
                  <a:tcPr marL="101600" marR="101600" marT="38100" marB="38100" anchor="ctr">
                    <a:solidFill>
                      <a:srgbClr val="F4F2FA"/>
                    </a:solidFill>
                  </a:tcPr>
                </a:tc>
              </a:tr>
              <a:tr h="369824">
                <a:tc>
                  <a:txBody>
                    <a:bodyPr/>
                    <a:lstStyle/>
                    <a:p>
                      <a:r>
                        <a:rPr sz="1400" b="0" i="0">
                          <a:solidFill>
                            <a:srgbClr val="1A1440"/>
                          </a:solidFill>
                          <a:latin typeface="Calibri"/>
                        </a:rPr>
                        <a:t>A pie of top-up by week</a:t>
                      </a:r>
                    </a:p>
                  </a:txBody>
                  <a:tcPr marL="101600" marR="101600" marT="38100" marB="38100" anchor="ctr">
                    <a:solidFill>
                      <a:srgbClr val="FFFFFF"/>
                    </a:solidFill>
                  </a:tcPr>
                </a:tc>
                <a:tc>
                  <a:txBody>
                    <a:bodyPr/>
                    <a:lstStyle/>
                    <a:p/>
                  </a:txBody>
                  <a:tcPr marL="101600" marR="101600" marT="38100" marB="38100" anchor="ctr">
                    <a:solidFill>
                      <a:srgbClr val="FFFFFF"/>
                    </a:solidFill>
                  </a:tcPr>
                </a:tc>
              </a:tr>
            </a:tbl>
          </a:graphicData>
        </a:graphic>
      </p:graphicFrame>
      <p:sp>
        <p:nvSpPr>
          <p:cNvPr id="10" name="Rounded Rectangle 9"/>
          <p:cNvSpPr/>
          <p:nvPr/>
        </p:nvSpPr>
        <p:spPr>
          <a:xfrm>
            <a:off x="530352" y="4431792"/>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559808"/>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550664"/>
            <a:ext cx="10564063" cy="358140"/>
          </a:xfrm>
          <a:prstGeom prst="rect">
            <a:avLst/>
          </a:prstGeom>
          <a:noFill/>
        </p:spPr>
        <p:txBody>
          <a:bodyPr wrap="square" anchor="ctr" lIns="0" rIns="0" tIns="0" bIns="0">
            <a:spAutoFit/>
          </a:bodyPr>
          <a:lstStyle/>
          <a:p>
            <a:r>
              <a:rPr sz="1500" b="1">
                <a:solidFill>
                  <a:srgbClr val="5B3FD6"/>
                </a:solidFill>
                <a:latin typeface="Calibri"/>
              </a:rPr>
              <a:t>Your task. </a:t>
            </a:r>
            <a:r>
              <a:rPr sz="1500" b="0" i="0">
                <a:solidFill>
                  <a:srgbClr val="1A1440"/>
                </a:solidFill>
                <a:latin typeface="Calibri"/>
              </a:rPr>
              <a:t>Keep two, and for every element you move, write the role whose appendix page receives it.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the one claim?</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7" name="Oval 16"/>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leaves the slide?</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33 / 36</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3 adds the appendix drawer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left on the slide, and what is waiting behind it?</a:t>
            </a:r>
          </a:p>
        </p:txBody>
      </p:sp>
      <p:pic>
        <p:nvPicPr>
          <p:cNvPr id="9" name="mermaid diagram" descr="9801234a7adfc437.png"/>
          <p:cNvPicPr>
            <a:picLocks noChangeAspect="1"/>
          </p:cNvPicPr>
          <p:nvPr/>
        </p:nvPicPr>
        <p:blipFill>
          <a:blip r:embed="rId5"/>
          <a:stretch>
            <a:fillRect/>
          </a:stretch>
        </p:blipFill>
        <p:spPr>
          <a:xfrm>
            <a:off x="780897" y="1956816"/>
            <a:ext cx="10629900" cy="1857375"/>
          </a:xfrm>
          <a:prstGeom prst="rect">
            <a:avLst/>
          </a:prstGeom>
        </p:spPr>
      </p:pic>
      <p:sp>
        <p:nvSpPr>
          <p:cNvPr id="10" name="TextBox 9"/>
          <p:cNvSpPr txBox="1"/>
          <p:nvPr/>
        </p:nvSpPr>
        <p:spPr>
          <a:xfrm>
            <a:off x="530352" y="3960495"/>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In the interview</a:t>
            </a:r>
            <a:r>
              <a:rPr sz="1600" b="0" i="0">
                <a:solidFill>
                  <a:srgbClr val="1A1440"/>
                </a:solidFill>
                <a:latin typeface="Calibri"/>
              </a:rPr>
              <a:t> [F]: what do you leave off the slide, and where does it go? Answer with the drawer: one page per question a named role will ask.</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the one claim?</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5" name="Oval 14"/>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leaves the slide?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34 / 36</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Studio round two: the seats swap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changes when the presenter has sat in every objector's seat?</a:t>
            </a:r>
          </a:p>
        </p:txBody>
      </p:sp>
      <p:sp>
        <p:nvSpPr>
          <p:cNvPr id="9" name="TextBox 8"/>
          <p:cNvSpPr txBox="1"/>
          <p:nvPr/>
        </p:nvSpPr>
        <p:spPr>
          <a:xfrm>
            <a:off x="530352" y="1956816"/>
            <a:ext cx="11130991" cy="1710943"/>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Each group keeps its slide and swaps seats.</a:t>
            </a:r>
            <a:r>
              <a:rPr sz="1600" b="0" i="0">
                <a:solidFill>
                  <a:srgbClr val="1A1440"/>
                </a:solidFill>
                <a:latin typeface="Calibri"/>
              </a:rPr>
              <a:t> The round-one presenter now objects, reading the role card that pushed hardest on their own slide; the round-one scorer presents, with the appendix pages built in chapter 3.</a:t>
            </a:r>
          </a:p>
          <a:p>
            <a:pPr>
              <a:spcAft>
                <a:spcPts val="800"/>
              </a:spcAft>
            </a:pPr>
            <a:r>
              <a:rPr sz="1600" b="1" i="0">
                <a:solidFill>
                  <a:srgbClr val="1A1440"/>
                </a:solidFill>
                <a:latin typeface="Calibri"/>
              </a:rPr>
              <a:t>Three rounds of seven minutes, rotating, then eight minutes to rebuild the slide</a:t>
            </a:r>
            <a:r>
              <a:rPr sz="1600" b="0" i="0">
                <a:solidFill>
                  <a:srgbClr val="1A1440"/>
                </a:solidFill>
                <a:latin typeface="Calibri"/>
              </a:rPr>
              <a:t> with what the objections showed.</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the one claim?</a:t>
            </a:r>
          </a:p>
        </p:txBody>
      </p:sp>
      <p:sp>
        <p:nvSpPr>
          <p:cNvPr id="12" name="Oval 1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4" name="Oval 13"/>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leaves the slide?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35 / 36</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Where the morning ends: three parts earned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can you do now that you could not do at the start of the morning?</a:t>
            </a:r>
          </a:p>
        </p:txBody>
      </p:sp>
      <p:sp>
        <p:nvSpPr>
          <p:cNvPr id="9" name="Rounded Rectangle 8"/>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file-text_5c86fecc2881.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CHAPTER 1</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claim and its denominator</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The scheme pays for idle hours: Rs 314 to Rs 260 per peak online hour, the fare flat</a:t>
            </a:r>
          </a:p>
        </p:txBody>
      </p:sp>
      <p:sp>
        <p:nvSpPr>
          <p:cNvPr id="15" name="Rounded Rectangle 14"/>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shield_1aa1fb982097.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CHAPTER 2</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four moves</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Restate, answer, concede, say what would change your mind</a:t>
            </a:r>
          </a:p>
        </p:txBody>
      </p:sp>
      <p:sp>
        <p:nvSpPr>
          <p:cNvPr id="21" name="Rounded Rectangle 20"/>
          <p:cNvSpPr/>
          <p:nvPr/>
        </p:nvSpPr>
        <p:spPr>
          <a:xfrm>
            <a:off x="807293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archive_cfa7931e2038.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CHAPTER 3</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appendix drawer</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One page per question a role will ask; the caveat stays on the slide</a:t>
            </a:r>
          </a:p>
        </p:txBody>
      </p:sp>
      <p:sp>
        <p:nvSpPr>
          <p:cNvPr id="27" name="TextBox 26"/>
          <p:cNvSpPr txBox="1"/>
          <p:nvPr/>
        </p:nvSpPr>
        <p:spPr>
          <a:xfrm>
            <a:off x="530352" y="4104132"/>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The afternoon asks the second question on the ticket:</a:t>
            </a:r>
            <a:r>
              <a:rPr sz="1600" b="0" i="0">
                <a:solidFill>
                  <a:srgbClr val="1A1440"/>
                </a:solidFill>
                <a:latin typeface="Calibri"/>
              </a:rPr>
              <a:t> how many drivers the evening peak needs, sized without a dataset.</a:t>
            </a:r>
          </a:p>
        </p:txBody>
      </p:sp>
      <p:sp>
        <p:nvSpPr>
          <p:cNvPr id="28" name="Oval 2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the one claim?</a:t>
            </a:r>
          </a:p>
        </p:txBody>
      </p:sp>
      <p:sp>
        <p:nvSpPr>
          <p:cNvPr id="30" name="Oval 29"/>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32" name="Oval 31"/>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leaves the slide?</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36 / 36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