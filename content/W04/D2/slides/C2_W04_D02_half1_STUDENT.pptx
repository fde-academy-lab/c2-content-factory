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 Then read the ticket top to</a:t>
            </a:r>
          </a:p>
          <a:p>
            <a:r>
              <a:t>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fifth to a half of that is still paid because those drivers start accepting.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Cards hidden first. 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week of 10 August against the week of 21 September. Count aloud, column by</a:t>
            </a:r>
          </a:p>
          <a:p>
            <a:r>
              <a:t>column: 60 and 74 hours, 114 and 88 trips, 18,810 and 14,520 rupees. Divide three times for each</a:t>
            </a:r>
          </a:p>
          <a:p>
            <a:r>
              <a:t>week and say the three verdicts. E and F are Monday's two idle-tail drivers, which is why six</a:t>
            </a:r>
          </a:p>
          <a:p>
            <a:r>
              <a:t>drivers fall further than the city.</a:t>
            </a:r>
          </a:p>
          <a:p>
            <a:r>
              <a:t>Transition: the same arithmetic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here means per active driver-week. On six drivers the per-driver-week read fell, because the six are the same six in</a:t>
            </a:r>
          </a:p>
          <a:p>
            <a:r>
              <a:t>both weeks. The city's driver-weeks move. Each learner writes a letter.</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 amber line rises</a:t>
            </a:r>
          </a:p>
          <a:p>
            <a:r>
              <a:t>and then slides below 100 by the last week, so even the window's 0.8 percent rise hides a weekly</a:t>
            </a:r>
          </a:p>
          <a:p>
            <a:r>
              <a:t>slide. Ask which role will quote the amber line. Expect the marketing lead. Explorer scene T2 lets</a:t>
            </a:r>
          </a:p>
          <a:p>
            <a:r>
              <a:t>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three growth rates on the board: bookings 3.0, driver-weeks 2.2, ratio</a:t>
            </a:r>
          </a:p>
          <a:p>
            <a:r>
              <a:t>0.8. An active 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a:t>
            </a:r>
          </a:p>
          <a:p>
            <a:r>
              <a:t>Transition: the true part of each.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822450"/>
            <a:ext cx="11130991" cy="841248"/>
          </a:xfrm>
          <a:prstGeom prst="rect">
            <a:avLst/>
          </a:prstGeom>
          <a:noFill/>
        </p:spPr>
        <p:txBody>
          <a:bodyPr wrap="square" anchor="t" lIns="0" rIns="0" tIns="0" bIns="0">
            <a:spAutoFit/>
          </a:bodyPr>
          <a:lstStyle/>
          <a:p>
            <a:pPr>
              <a:spcAft>
                <a:spcPts val="600"/>
              </a:spcAft>
            </a:pPr>
            <a:r>
              <a:rPr sz="1200" b="1" i="0">
                <a:solidFill>
                  <a:srgbClr val="1A1440"/>
                </a:solidFill>
                <a:latin typeface="Calibri"/>
              </a:rPr>
              <a:t>Uber, Hyderabad, the driver app's peak-hour earnings guarantee, one day on.</a:t>
            </a:r>
            <a:r>
              <a:rPr sz="1200" b="0" i="0">
                <a:solidFill>
                  <a:srgbClr val="1A1440"/>
                </a:solidFill>
                <a:latin typeface="Calibri"/>
              </a:rPr>
              <a:t> The city head takes the redesign to Thursday's city review on one slide, in five minutes. The driver-operations lead, the marketing lead and the finance partner each lose something under it, and each will say so.</a:t>
            </a:r>
          </a:p>
        </p:txBody>
      </p:sp>
      <p:graphicFrame>
        <p:nvGraphicFramePr>
          <p:cNvPr id="10" name="Table 9"/>
          <p:cNvGraphicFramePr>
            <a:graphicFrameLocks noGrp="1"/>
          </p:cNvGraphicFramePr>
          <p:nvPr/>
        </p:nvGraphicFramePr>
        <p:xfrm>
          <a:off x="530352" y="2791714"/>
          <a:ext cx="11130990" cy="1590040"/>
        </p:xfrm>
        <a:graphic>
          <a:graphicData uri="http://schemas.openxmlformats.org/drawingml/2006/table">
            <a:tbl>
              <a:tblPr firstRow="0" bandRow="0">
                <a:tableStyleId>{2D5ABB26-0587-4C30-8999-92F81FD0307C}</a:tableStyleId>
              </a:tblPr>
              <a:tblGrid>
                <a:gridCol w="5062503"/>
                <a:gridCol w="2649835"/>
                <a:gridCol w="3418652"/>
              </a:tblGrid>
              <a:tr h="318008">
                <a:tc>
                  <a:txBody>
                    <a:bodyPr/>
                    <a:lstStyle/>
                    <a:p>
                      <a:r>
                        <a:rPr sz="1150" b="1" i="0">
                          <a:solidFill>
                            <a:srgbClr val="FFFFFF"/>
                          </a:solidFill>
                          <a:latin typeface="Calibri"/>
                        </a:rPr>
                        <a:t>Six weeks each side</a:t>
                      </a:r>
                    </a:p>
                  </a:txBody>
                  <a:tcPr marL="101600" marR="101600" marT="38100" marB="38100" anchor="ctr">
                    <a:solidFill>
                      <a:srgbClr val="1A0F5C"/>
                    </a:solidFill>
                  </a:tcPr>
                </a:tc>
                <a:tc>
                  <a:txBody>
                    <a:bodyPr/>
                    <a:lstStyle/>
                    <a:p>
                      <a:r>
                        <a:rPr sz="1150" b="1" i="0">
                          <a:solidFill>
                            <a:srgbClr val="FFFFFF"/>
                          </a:solidFill>
                          <a:latin typeface="Calibri"/>
                        </a:rPr>
                        <a:t>20 Jul to 30 Aug</a:t>
                      </a:r>
                    </a:p>
                  </a:txBody>
                  <a:tcPr marL="101600" marR="101600" marT="38100" marB="38100" anchor="ctr">
                    <a:solidFill>
                      <a:srgbClr val="1A0F5C"/>
                    </a:solidFill>
                  </a:tcPr>
                </a:tc>
                <a:tc>
                  <a:txBody>
                    <a:bodyPr/>
                    <a:lstStyle/>
                    <a:p>
                      <a:r>
                        <a:rPr sz="1150" b="1" i="0">
                          <a:solidFill>
                            <a:srgbClr val="FFFFFF"/>
                          </a:solidFill>
                          <a:latin typeface="Calibri"/>
                        </a:rPr>
                        <a:t>31 Aug to 11 Oct</a:t>
                      </a:r>
                    </a:p>
                  </a:txBody>
                  <a:tcPr marL="101600" marR="101600" marT="38100" marB="38100" anchor="ctr">
                    <a:solidFill>
                      <a:srgbClr val="1A0F5C"/>
                    </a:solidFill>
                  </a:tcPr>
                </a:tc>
              </a:tr>
              <a:tr h="318008">
                <a:tc>
                  <a:txBody>
                    <a:bodyPr/>
                    <a:lstStyle/>
                    <a:p>
                      <a:r>
                        <a:rPr sz="11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1100" b="0" i="0">
                          <a:solidFill>
                            <a:srgbClr val="1A1440"/>
                          </a:solidFill>
                          <a:latin typeface="Calibri"/>
                        </a:rPr>
                        <a:t>Rs 314</a:t>
                      </a:r>
                    </a:p>
                  </a:txBody>
                  <a:tcPr marL="101600" marR="101600" marT="38100" marB="38100" anchor="ctr">
                    <a:solidFill>
                      <a:srgbClr val="FFFFFF"/>
                    </a:solidFill>
                  </a:tcPr>
                </a:tc>
                <a:tc>
                  <a:txBody>
                    <a:bodyPr/>
                    <a:lstStyle/>
                    <a:p>
                      <a:r>
                        <a:rPr sz="1100" b="0" i="0">
                          <a:solidFill>
                            <a:srgbClr val="1A1440"/>
                          </a:solidFill>
                          <a:latin typeface="Calibri"/>
                        </a:rPr>
                        <a:t>Rs 260, down 17 percent</a:t>
                      </a:r>
                    </a:p>
                  </a:txBody>
                  <a:tcPr marL="101600" marR="101600" marT="38100" marB="38100" anchor="ctr">
                    <a:solidFill>
                      <a:srgbClr val="FFFFFF"/>
                    </a:solidFill>
                  </a:tcPr>
                </a:tc>
              </a:tr>
              <a:tr h="318008">
                <a:tc>
                  <a:txBody>
                    <a:bodyPr/>
                    <a:lstStyle/>
                    <a:p>
                      <a:r>
                        <a:rPr sz="11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1100" b="0" i="0">
                          <a:solidFill>
                            <a:srgbClr val="1A1440"/>
                          </a:solidFill>
                          <a:latin typeface="Calibri"/>
                        </a:rPr>
                        <a:t>Rs 165</a:t>
                      </a:r>
                    </a:p>
                  </a:txBody>
                  <a:tcPr marL="101600" marR="101600" marT="38100" marB="38100" anchor="ctr">
                    <a:solidFill>
                      <a:srgbClr val="F4F2FA"/>
                    </a:solidFill>
                  </a:tcPr>
                </a:tc>
                <a:tc>
                  <a:txBody>
                    <a:bodyPr/>
                    <a:lstStyle/>
                    <a:p>
                      <a:r>
                        <a:rPr sz="1100" b="0" i="0">
                          <a:solidFill>
                            <a:srgbClr val="1A1440"/>
                          </a:solidFill>
                          <a:latin typeface="Calibri"/>
                        </a:rPr>
                        <a:t>Rs 165, flat</a:t>
                      </a:r>
                    </a:p>
                  </a:txBody>
                  <a:tcPr marL="101600" marR="101600" marT="38100" marB="38100" anchor="ctr">
                    <a:solidFill>
                      <a:srgbClr val="F4F2FA"/>
                    </a:solidFill>
                  </a:tcPr>
                </a:tc>
              </a:tr>
              <a:tr h="318008">
                <a:tc>
                  <a:txBody>
                    <a:bodyPr/>
                    <a:lstStyle/>
                    <a:p>
                      <a:r>
                        <a:rPr sz="11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1100" b="0" i="0">
                          <a:solidFill>
                            <a:srgbClr val="1A1440"/>
                          </a:solidFill>
                          <a:latin typeface="Calibri"/>
                        </a:rPr>
                        <a:t>Rs 5,817</a:t>
                      </a:r>
                    </a:p>
                  </a:txBody>
                  <a:tcPr marL="101600" marR="101600" marT="38100" marB="38100" anchor="ctr">
                    <a:solidFill>
                      <a:srgbClr val="FFFFFF"/>
                    </a:solidFill>
                  </a:tcPr>
                </a:tc>
                <a:tc>
                  <a:txBody>
                    <a:bodyPr/>
                    <a:lstStyle/>
                    <a:p>
                      <a:r>
                        <a:rPr sz="1100" b="0" i="0">
                          <a:solidFill>
                            <a:srgbClr val="1A1440"/>
                          </a:solidFill>
                          <a:latin typeface="Calibri"/>
                        </a:rPr>
                        <a:t>Rs 5,861, up 0.8 percent</a:t>
                      </a:r>
                    </a:p>
                  </a:txBody>
                  <a:tcPr marL="101600" marR="101600" marT="38100" marB="38100" anchor="ctr">
                    <a:solidFill>
                      <a:srgbClr val="FFFFFF"/>
                    </a:solidFill>
                  </a:tcPr>
                </a:tc>
              </a:tr>
              <a:tr h="318008">
                <a:tc>
                  <a:txBody>
                    <a:bodyPr/>
                    <a:lstStyle/>
                    <a:p>
                      <a:r>
                        <a:rPr sz="1100" b="0" i="0">
                          <a:solidFill>
                            <a:srgbClr val="1A1440"/>
                          </a:solidFill>
                          <a:latin typeface="Calibri"/>
                        </a:rPr>
                        <a:t>Peak online hours</a:t>
                      </a:r>
                    </a:p>
                  </a:txBody>
                  <a:tcPr marL="101600" marR="101600" marT="38100" marB="38100" anchor="ctr">
                    <a:solidFill>
                      <a:srgbClr val="F4F2FA"/>
                    </a:solidFill>
                  </a:tcPr>
                </a:tc>
                <a:tc>
                  <a:txBody>
                    <a:bodyPr/>
                    <a:lstStyle/>
                    <a:p>
                      <a:r>
                        <a:rPr sz="1100" b="0" i="0">
                          <a:solidFill>
                            <a:srgbClr val="1A1440"/>
                          </a:solidFill>
                          <a:latin typeface="Calibri"/>
                        </a:rPr>
                        <a:t>118,000</a:t>
                      </a:r>
                    </a:p>
                  </a:txBody>
                  <a:tcPr marL="101600" marR="101600" marT="38100" marB="38100" anchor="ctr">
                    <a:solidFill>
                      <a:srgbClr val="F4F2FA"/>
                    </a:solidFill>
                  </a:tcPr>
                </a:tc>
                <a:tc>
                  <a:txBody>
                    <a:bodyPr/>
                    <a:lstStyle/>
                    <a:p>
                      <a:r>
                        <a:rPr sz="11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530352" y="4637786"/>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765802"/>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756658"/>
            <a:ext cx="10564063" cy="678180"/>
          </a:xfrm>
          <a:prstGeom prst="rect">
            <a:avLst/>
          </a:prstGeom>
          <a:noFill/>
        </p:spPr>
        <p:txBody>
          <a:bodyPr wrap="square" anchor="ctr" lIns="0" rIns="0" tIns="0" bIns="0">
            <a:spAutoFit/>
          </a:bodyPr>
          <a:lstStyle/>
          <a:p>
            <a:r>
              <a:rPr sz="1100" b="1">
                <a:solidFill>
                  <a:srgbClr val="5B3FD6"/>
                </a:solidFill>
                <a:latin typeface="Calibri"/>
              </a:rPr>
              <a:t>Data. </a:t>
            </a:r>
            <a:r>
              <a:rPr sz="1100" b="0" i="0">
                <a:solidFill>
                  <a:srgbClr val="1A1440"/>
                </a:solidFill>
                <a:latin typeface="Calibri"/>
              </a:rPr>
              <a:t>Monday's driver_weeks and zone_weeks. </a:t>
            </a:r>
            <a:r>
              <a:rPr sz="1100" b="1" i="0">
                <a:solidFill>
                  <a:srgbClr val="1A1440"/>
                </a:solidFill>
                <a:latin typeface="Calibri"/>
              </a:rPr>
              <a:t>The afternoon ask.</a:t>
            </a:r>
            <a:r>
              <a:rPr sz="1100" b="0" i="0">
                <a:solidFill>
                  <a:srgbClr val="1A1440"/>
                </a:solidFill>
                <a:latin typeface="Calibri"/>
              </a:rPr>
              <a:t> How many drivers must be online at the weekday evening peak to keep the median rider wait under five minutes, sized in fifteen minutes without a dataset. </a:t>
            </a:r>
            <a:r>
              <a:rPr sz="1100" b="1" i="0">
                <a:solidFill>
                  <a:srgbClr val="1A1440"/>
                </a:solidFill>
                <a:latin typeface="Calibri"/>
              </a:rPr>
              <a:t>Caveats.</a:t>
            </a:r>
            <a:r>
              <a:rPr sz="1100" b="0" i="0">
                <a:solidFill>
                  <a:srgbClr val="1A1440"/>
                </a:solidFill>
                <a:latin typeface="Calibri"/>
              </a:rPr>
              <a:t> Each objection is partly right; the peak window is three hours long; no published figure exists to check the afternoon's answer against.</a:t>
            </a:r>
          </a:p>
        </p:txBody>
      </p:sp>
      <p:sp>
        <p:nvSpPr>
          <p:cNvPr id="14" name="Rounded Rectangle 13"/>
          <p:cNvSpPr/>
          <p:nvPr/>
        </p:nvSpPr>
        <p:spPr>
          <a:xfrm>
            <a:off x="530352" y="5663438"/>
            <a:ext cx="45720" cy="396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5663438"/>
            <a:ext cx="10820095" cy="396240"/>
          </a:xfrm>
          <a:prstGeom prst="rect">
            <a:avLst/>
          </a:prstGeom>
          <a:noFill/>
        </p:spPr>
        <p:txBody>
          <a:bodyPr wrap="square" anchor="t" lIns="0" rIns="0" tIns="0" bIns="0">
            <a:spAutoFit/>
          </a:bodyPr>
          <a:lstStyle/>
          <a:p>
            <a:r>
              <a:rPr sz="12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9accff29b0dbf78f.png"/>
          <p:cNvPicPr>
            <a:picLocks noChangeAspect="1"/>
          </p:cNvPicPr>
          <p:nvPr/>
        </p:nvPicPr>
        <p:blipFill>
          <a:blip r:embed="rId5"/>
          <a:stretch>
            <a:fillRect/>
          </a:stretch>
        </p:blipFill>
        <p:spPr>
          <a:xfrm>
            <a:off x="530352" y="1956816"/>
            <a:ext cx="11130991" cy="2447239"/>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window, so part of the fall may be the season. Pay per completed peak trip with an acceptance floor; that returns Rs 58 lakh to Rs 92.7 lakh over six weeks depending on whether half or a fifth of the idle drivers start accepting."</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sized the drivers the evening peak needs, said every assumption aloud, given a range, and checked it against a ratio the case's own data can confirm.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supply headline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clean hoarding line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"Rs 300 an hour, guaranteed" now carries a condition: the floor holds for drivers who accept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own number as the headline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Monday's definition, in one line. </a:t>
            </a:r>
            <a:r>
              <a:rPr sz="1500" b="0" i="0">
                <a:solidFill>
                  <a:srgbClr val="1A1440"/>
                </a:solidFill>
                <a:latin typeface="Calibri"/>
              </a:rPr>
              <a:t>The scheme pays for completed peak trips per enrolled driver per week, with three guardrails: the acceptance share, the median rider wait at peak, and top-up per completed trip.</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guarantee: six-week review</a:t>
            </a:r>
          </a:p>
          <a:p>
            <a:pPr>
              <a:spcAft>
                <a:spcPts val="800"/>
              </a:spcAft>
            </a:pPr>
            <a:r>
              <a:rPr sz="1600" b="0" i="0">
                <a:solidFill>
                  <a:srgbClr val="1A1440"/>
                </a:solidFill>
                <a:latin typeface="Calibri"/>
              </a:rPr>
              <a:t>b) Online hours up 24 percent, trips up 3 percent</a:t>
            </a:r>
          </a:p>
          <a:p>
            <a:pPr>
              <a:spcAft>
                <a:spcPts val="800"/>
              </a:spcAft>
            </a:pPr>
            <a:r>
              <a:rPr sz="1600" b="0" i="0">
                <a:solidFill>
                  <a:srgbClr val="1A1440"/>
                </a:solidFill>
                <a:latin typeface="Calibri"/>
              </a:rPr>
              <a:t>c) The scheme pays for idle hours: pay per completed trip</a:t>
            </a:r>
          </a:p>
          <a:p>
            <a:pPr>
              <a:spcAft>
                <a:spcPts val="800"/>
              </a:spcAft>
            </a:pPr>
            <a:r>
              <a:rPr sz="1600" b="0" i="0">
                <a:solidFill>
                  <a:srgbClr val="1A1440"/>
                </a:solidFill>
                <a:latin typeface="Calibri"/>
              </a:rPr>
              <a:t>d) Hyderabad operations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numbers and leaves the reader to find the point, and it is Monday's trap resold: online hours up 24 percent is the number that rose while riders were served no better. Barbara Minto's Pyramid Principle puts the answer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cbf314da76da5af4.png"/>
          <p:cNvPicPr>
            <a:picLocks noChangeAspect="1"/>
          </p:cNvPicPr>
          <p:nvPr/>
        </p:nvPicPr>
        <p:blipFill>
          <a:blip r:embed="rId5"/>
          <a:stretch>
            <a:fillRect/>
          </a:stretch>
        </p:blipFill>
        <p:spPr>
          <a:xfrm>
            <a:off x="530352" y="1956816"/>
            <a:ext cx="11130991" cy="1628203"/>
          </a:xfrm>
          <a:prstGeom prst="rect">
            <a:avLst/>
          </a:prstGeom>
        </p:spPr>
      </p:pic>
      <p:sp>
        <p:nvSpPr>
          <p:cNvPr id="10" name="Rounded Rectangle 9"/>
          <p:cNvSpPr/>
          <p:nvPr/>
        </p:nvSpPr>
        <p:spPr>
          <a:xfrm>
            <a:off x="530352" y="373132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5933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50195"/>
            <a:ext cx="10564063" cy="624840"/>
          </a:xfrm>
          <a:prstGeom prst="rect">
            <a:avLst/>
          </a:prstGeom>
          <a:noFill/>
        </p:spPr>
        <p:txBody>
          <a:bodyPr wrap="square" anchor="ctr" lIns="0" rIns="0" tIns="0" bIns="0">
            <a:spAutoFit/>
          </a:bodyPr>
          <a:lstStyle/>
          <a:p>
            <a:r>
              <a:rPr sz="1500" b="1">
                <a:solidFill>
                  <a:srgbClr val="5B3FD6"/>
                </a:solidFill>
                <a:latin typeface="Calibri"/>
              </a:rPr>
              <a:t>The order is the point. </a:t>
            </a:r>
            <a:r>
              <a:rPr sz="1500" b="0" i="0">
                <a:solidFill>
                  <a:srgbClr val="1A1440"/>
                </a:solidFill>
                <a:latin typeface="Calibri"/>
              </a:rPr>
              <a:t>A slide that opens on its evidence has already given away its title, and a slide whose caveat sits off the page invites its owner to call it dishonest.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0.86 to 0.73 and top-up paid Rs 1.9 crore</a:t>
            </a:r>
          </a:p>
          <a:p>
            <a:pPr>
              <a:spcAft>
                <a:spcPts val="800"/>
              </a:spcAft>
            </a:pPr>
            <a:r>
              <a:rPr sz="1600" b="1" i="0">
                <a:solidFill>
                  <a:srgbClr val="1A1440"/>
                </a:solidFill>
                <a:latin typeface="Calibri"/>
              </a:rPr>
              <a:t>Low acceptance</a:t>
            </a:r>
            <a:r>
              <a:rPr sz="1600" b="0" i="0">
                <a:solidFill>
                  <a:srgbClr val="1A1440"/>
                </a:solidFill>
                <a:latin typeface="Calibri"/>
              </a:rPr>
              <a:t> means a driver-week that accepted fewer than half the requests offered.</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3131304" y="1664208"/>
            <a:ext cx="5929085"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Trips per online hour falling at a flat fare is bookings per online hour falling, Rs 314 to Rs 260, and the 61 percent says where the top-up went.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"Rs 1.16 crore of the top-up went to driver-weeks that accepted fewer than half their offers." Choose the one number that proves it, and the caveat that sits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6930402"/>
                <a:gridCol w="3286188"/>
                <a:gridCol w="914400"/>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to drivers</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0.86</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0.04</a:t>
                      </a:r>
                    </a:p>
                  </a:txBody>
                  <a:tcPr marL="101600" marR="101600" marT="38100" marB="38100" anchor="ctr">
                    <a:solidFill>
                      <a:srgbClr val="FFFFFF"/>
                    </a:solidFill>
                  </a:tcPr>
                </a:tc>
                <a:tc>
                  <a:txBody>
                    <a:bodyPr/>
                    <a:lstStyle/>
                    <a:p>
                      <a:r>
                        <a:rPr sz="1200" b="0" i="0">
                          <a:solidFill>
                            <a:srgbClr val="1A1440"/>
                          </a:solidFill>
                          <a:latin typeface="Calibri"/>
                        </a:rPr>
                        <a:t>0.09</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0.11</a:t>
                      </a:r>
                    </a:p>
                  </a:txBody>
                  <a:tcPr marL="101600" marR="101600" marT="38100" marB="38100" anchor="ctr">
                    <a:solidFill>
                      <a:srgbClr val="FFFFFF"/>
                    </a:solidFill>
                  </a:tcPr>
                </a:tc>
                <a:tc>
                  <a:txBody>
                    <a:bodyPr/>
                    <a:lstStyle/>
                    <a:p>
                      <a:r>
                        <a:rPr sz="1200" b="0" i="0">
                          <a:solidFill>
                            <a:srgbClr val="1A1440"/>
                          </a:solidFill>
                          <a:latin typeface="Calibri"/>
                        </a:rPr>
                        <a:t>0.10</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in two weeks say when the denominator changes?</a:t>
            </a:r>
          </a:p>
        </p:txBody>
      </p:sp>
      <p:graphicFrame>
        <p:nvGraphicFramePr>
          <p:cNvPr id="9" name="Table 8"/>
          <p:cNvGraphicFramePr>
            <a:graphicFrameLocks noGrp="1"/>
          </p:cNvGraphicFramePr>
          <p:nvPr/>
        </p:nvGraphicFramePr>
        <p:xfrm>
          <a:off x="530352" y="1956816"/>
          <a:ext cx="11130988" cy="2682240"/>
        </p:xfrm>
        <a:graphic>
          <a:graphicData uri="http://schemas.openxmlformats.org/drawingml/2006/table">
            <a:tbl>
              <a:tblPr firstRow="0" bandRow="0">
                <a:tableStyleId>{2D5ABB26-0587-4C30-8999-92F81FD0307C}</a:tableStyleId>
              </a:tblPr>
              <a:tblGrid>
                <a:gridCol w="914400"/>
                <a:gridCol w="1564898"/>
                <a:gridCol w="1608526"/>
                <a:gridCol w="1608526"/>
                <a:gridCol w="1275371"/>
                <a:gridCol w="1497474"/>
                <a:gridCol w="1497474"/>
                <a:gridCol w="1164319"/>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a:t>
                      </a:r>
                    </a:p>
                  </a:txBody>
                  <a:tcPr marL="101600" marR="101600" marT="38100" marB="38100" anchor="ctr">
                    <a:solidFill>
                      <a:srgbClr val="1A0F5C"/>
                    </a:solidFill>
                  </a:tcPr>
                </a:tc>
                <a:tc>
                  <a:txBody>
                    <a:bodyPr/>
                    <a:lstStyle/>
                    <a:p>
                      <a:r>
                        <a:rPr sz="1250" b="1" i="0">
                          <a:solidFill>
                            <a:srgbClr val="FFFFFF"/>
                          </a:solidFill>
                          <a:latin typeface="Calibri"/>
                        </a:rPr>
                        <a:t>Trips before</a:t>
                      </a:r>
                    </a:p>
                  </a:txBody>
                  <a:tcPr marL="101600" marR="101600" marT="38100" marB="38100" anchor="ctr">
                    <a:solidFill>
                      <a:srgbClr val="1A0F5C"/>
                    </a:solidFill>
                  </a:tcPr>
                </a:tc>
                <a:tc>
                  <a:txBody>
                    <a:bodyPr/>
                    <a:lstStyle/>
                    <a:p>
                      <a:r>
                        <a:rPr sz="1250" b="1" i="0">
                          <a:solidFill>
                            <a:srgbClr val="FFFFFF"/>
                          </a:solidFill>
                          <a:latin typeface="Calibri"/>
                        </a:rPr>
                        <a:t>Rs before</a:t>
                      </a:r>
                    </a:p>
                  </a:txBody>
                  <a:tcPr marL="101600" marR="101600" marT="38100" marB="38100" anchor="ctr">
                    <a:solidFill>
                      <a:srgbClr val="1A0F5C"/>
                    </a:solidFill>
                  </a:tcPr>
                </a:tc>
                <a:tc>
                  <a:txBody>
                    <a:bodyPr/>
                    <a:lstStyle/>
                    <a:p>
                      <a:r>
                        <a:rPr sz="1250" b="1" i="0">
                          <a:solidFill>
                            <a:srgbClr val="FFFFFF"/>
                          </a:solidFill>
                          <a:latin typeface="Calibri"/>
                        </a:rPr>
                        <a:t>Hours after</a:t>
                      </a:r>
                    </a:p>
                  </a:txBody>
                  <a:tcPr marL="101600" marR="101600" marT="38100" marB="38100" anchor="ctr">
                    <a:solidFill>
                      <a:srgbClr val="1A0F5C"/>
                    </a:solidFill>
                  </a:tcPr>
                </a:tc>
                <a:tc>
                  <a:txBody>
                    <a:bodyPr/>
                    <a:lstStyle/>
                    <a:p>
                      <a:r>
                        <a:rPr sz="1250" b="1" i="0">
                          <a:solidFill>
                            <a:srgbClr val="FFFFFF"/>
                          </a:solidFill>
                          <a:latin typeface="Calibri"/>
                        </a:rPr>
                        <a:t>Trips after</a:t>
                      </a:r>
                    </a:p>
                  </a:txBody>
                  <a:tcPr marL="101600" marR="101600" marT="38100" marB="38100" anchor="ctr">
                    <a:solidFill>
                      <a:srgbClr val="1A0F5C"/>
                    </a:solidFill>
                  </a:tcPr>
                </a:tc>
                <a:tc>
                  <a:txBody>
                    <a:bodyPr/>
                    <a:lstStyle/>
                    <a:p>
                      <a:r>
                        <a:rPr sz="1250" b="1" i="0">
                          <a:solidFill>
                            <a:srgbClr val="FFFFFF"/>
                          </a:solidFill>
                          <a:latin typeface="Calibri"/>
                        </a:rPr>
                        <a:t>Rs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read go for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all the driver-weeks, which pair of moves holds?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Per hour falls; per driver-week falls</a:t>
            </a:r>
          </a:p>
          <a:p>
            <a:pPr>
              <a:spcAft>
                <a:spcPts val="800"/>
              </a:spcAft>
            </a:pPr>
            <a:r>
              <a:rPr sz="1600" b="0" i="0">
                <a:solidFill>
                  <a:srgbClr val="1A1440"/>
                </a:solidFill>
                <a:latin typeface="Calibri"/>
              </a:rPr>
              <a:t>b) Per hour falls; per driver-week rises a little</a:t>
            </a:r>
          </a:p>
          <a:p>
            <a:pPr>
              <a:spcAft>
                <a:spcPts val="800"/>
              </a:spcAft>
            </a:pPr>
            <a:r>
              <a:rPr sz="1600" b="0" i="0">
                <a:solidFill>
                  <a:srgbClr val="1A1440"/>
                </a:solidFill>
                <a:latin typeface="Calibri"/>
              </a:rPr>
              <a:t>c) Per hour holds; per driver-week falls</a:t>
            </a:r>
          </a:p>
          <a:p>
            <a:pPr>
              <a:spcAft>
                <a:spcPts val="800"/>
              </a:spcAft>
            </a:pPr>
            <a:r>
              <a:rPr sz="1600" b="0" i="0">
                <a:solidFill>
                  <a:srgbClr val="1A1440"/>
                </a:solidFill>
                <a:latin typeface="Calibri"/>
              </a:rPr>
              <a:t>d) Both hold nearly flat</a:t>
            </a:r>
          </a:p>
          <a:p>
            <a:pPr>
              <a:spcAft>
                <a:spcPts val="800"/>
              </a:spcAft>
            </a:pPr>
            <a:r>
              <a:rPr sz="1600" b="1" i="0">
                <a:solidFill>
                  <a:srgbClr val="1A1440"/>
                </a:solidFill>
                <a:latin typeface="Calibri"/>
              </a:rPr>
              <a:t>On the six drivers,</a:t>
            </a:r>
            <a:r>
              <a:rPr sz="1600" b="0" i="0">
                <a:solidFill>
                  <a:srgbClr val="1A1440"/>
                </a:solidFill>
                <a:latin typeface="Calibri"/>
              </a:rPr>
              <a:t> per driver-week fell 23 percent because the same six drivers sit in both weeks; the city's count of active driver-weeks moves.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per hour falls, per driver-week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twelve weeks show for each denominator?</a:t>
            </a:r>
          </a:p>
        </p:txBody>
      </p:sp>
      <p:pic>
        <p:nvPicPr>
          <p:cNvPr id="9" name="mermaid diagram" descr="C2_W04_D02_three_reads_STUDENT.png"/>
          <p:cNvPicPr>
            <a:picLocks noChangeAspect="1"/>
          </p:cNvPicPr>
          <p:nvPr/>
        </p:nvPicPr>
        <p:blipFill>
          <a:blip r:embed="rId4"/>
          <a:stretch>
            <a:fillRect/>
          </a:stretch>
        </p:blipFill>
        <p:spPr>
          <a:xfrm>
            <a:off x="2928551" y="1664208"/>
            <a:ext cx="6334591"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Per peak online hour the rupees fell 17 percent, Rs 314 to Rs 260. Per active driver-week they rose 0.8 percent, Rs 5,817 to Rs 5,861. Per trip they held at Rs 165. Each line is divided by its own before-window value, so all three start near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read is bookings over active driver-weeks, and online hours do not enter it. Bookings rose 3.0 percent because trips rose 3 percent at the same fare; active driver-weeks rose 2.2 percent, 6,360 to 6,500, because the 140 drivers who joined after the launch added 140 driver-weeks between them. The ratio rose 0.8 percent with no driver earning more for an hour online.</a:t>
            </a:r>
          </a:p>
        </p:txBody>
      </p:sp>
      <p:sp>
        <p:nvSpPr>
          <p:cNvPr id="15" name="Rounded Rectangle 14"/>
          <p:cNvSpPr/>
          <p:nvPr/>
        </p:nvSpPr>
        <p:spPr>
          <a:xfrm>
            <a:off x="530352" y="47015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per, the peak online hour, and keeps the other two reads in the appendix with one line each on what moved them.</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Bookings divided by hours and fare times trips per hour land on the same rupees in both windows.</a:t>
            </a:r>
            <a:r>
              <a:rPr sz="1600" b="0" i="0">
                <a:solidFill>
                  <a:srgbClr val="1A1440"/>
                </a:solidFill>
                <a:latin typeface="Calibri"/>
              </a:rPr>
              <a:t>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4d8a47354834f8c3.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1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446528"/>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611632">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window,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Rider requests rose 1.8 percent; drivers who joined before the launch fell from 1.90 to 1.58</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873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78248"/>
            <a:ext cx="10564063" cy="6248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453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734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6425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9176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57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3657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"Three lines of evidence point at the scheme: rider requests rose 1.8 percent, so demand did not fall; the three busiest weeks after the launch still ran at 1.60 trips per online hour; and drivers who joined before the launch fell from 1.90 to 1.58, so the new drivers do not explain it."</a:t>
            </a:r>
          </a:p>
        </p:txBody>
      </p:sp>
      <p:sp>
        <p:nvSpPr>
          <p:cNvPr id="15" name="Rounded Rectangle 14"/>
          <p:cNvSpPr/>
          <p:nvPr/>
        </p:nvSpPr>
        <p:spPr>
          <a:xfrm>
            <a:off x="530352" y="41567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847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7558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window, and that last year's weeks are not in the data."</a:t>
            </a:r>
          </a:p>
        </p:txBody>
      </p:sp>
      <p:sp>
        <p:nvSpPr>
          <p:cNvPr id="18" name="Rounded Rectangle 17"/>
          <p:cNvSpPr/>
          <p:nvPr/>
        </p:nvSpPr>
        <p:spPr>
          <a:xfrm>
            <a:off x="530352" y="51290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2570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247894"/>
            <a:ext cx="10564063" cy="6248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"The same six weeks of last year showing a fall of this size,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Three rounds of seven minutes. </a:t>
            </a:r>
            <a:r>
              <a:rPr sz="1500" b="0" i="0">
                <a:solidFill>
                  <a:srgbClr val="1A1440"/>
                </a:solidFill>
                <a:latin typeface="Calibri"/>
              </a:rPr>
              <a:t>Rotate seats after each round, so every member of a group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afc59ca9f98645d4.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elements of a crowded draft does the claim need?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chart of bookings per peak online hour, Rs 314 to Rs 260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by zone</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slide and swaps seats.</a:t>
            </a:r>
            <a:r>
              <a:rPr sz="1600" b="0" i="0">
                <a:solidFill>
                  <a:srgbClr val="1A1440"/>
                </a:solidFill>
                <a:latin typeface="Calibri"/>
              </a:rPr>
              <a:t> The round-one presenter now objects, reading the role card that pushed hardest on their own slide; the round-one scorer presents, with the appendix pages built in chapter 3.</a:t>
            </a:r>
          </a:p>
          <a:p>
            <a:pPr>
              <a:spcAft>
                <a:spcPts val="800"/>
              </a:spcAft>
            </a:pPr>
            <a:r>
              <a:rPr sz="1600" b="1" i="0">
                <a:solidFill>
                  <a:srgbClr val="1A1440"/>
                </a:solidFill>
                <a:latin typeface="Calibri"/>
              </a:rPr>
              <a:t>Three rounds of seven minutes, rotating, then eight minutes to rebuild the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