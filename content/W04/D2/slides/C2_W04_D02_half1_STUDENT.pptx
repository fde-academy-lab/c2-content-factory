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seconds, before the first chapter runs. Say once that this is the same illustrative</a:t>
            </a:r>
          </a:p>
          <a:p>
            <a:r>
              <a:t>Uber case as Monday, built for this class, and today the slide the city head takes to the</a:t>
            </a:r>
          </a:p>
          <a:p>
            <a:r>
              <a:t>review is the deliverable. The morning is a studio: build, present, take the objection, get</a:t>
            </a:r>
          </a:p>
          <a:p>
            <a:r>
              <a:t>scored, rebuild. The three roles are Monday's three, now holding Monday's objections. The</a:t>
            </a:r>
          </a:p>
          <a:p>
            <a:r>
              <a:t>afternoon dojo sizes a number from nothing, worked in Half 2.</a:t>
            </a:r>
          </a:p>
          <a:p>
            <a:r>
              <a:t>Transition: the ticket, in full.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ticket in order; name the three denominators once each. Pause on</a:t>
            </a:r>
          </a:p>
          <a:p>
            <a:r>
              <a:t>"each loses something under the redesign". Ask: which of the three roles will side with the</a:t>
            </a:r>
          </a:p>
          <a:p>
            <a:r>
              <a:t>city head when the five minutes end? Leave the answer open; the role cards hold the surprise.</a:t>
            </a:r>
          </a:p>
          <a:p>
            <a:r>
              <a:t>Transition: the week's map, with Tuesday lit.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to Monday's node: it now reads with the number the room produced</a:t>
            </a:r>
          </a:p>
          <a:p>
            <a:r>
              <a:t>yesterday. Tuesday is lit; the three days to the right stay dashed. Every chapter close</a:t>
            </a:r>
          </a:p>
          <a:p>
            <a:r>
              <a:t>today adds one more thing to Tuesday's node, so by the handoff the node reads with the</a:t>
            </a:r>
          </a:p>
          <a:p>
            <a:r>
              <a:t>slide's claim in one sentence.</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one-slide sentence once. Say: everything in the morning is how the</a:t>
            </a:r>
          </a:p>
          <a:p>
            <a:r>
              <a:t>room earns the right to say it in that order. Nothing to write down.</a:t>
            </a:r>
          </a:p>
          <a:p>
            <a:r>
              <a:t>Transition: chapter 1, the title is the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two parts: the hostel notice board (12 minutes), then the cluttered Monday</a:t>
            </a:r>
          </a:p>
          <a:p>
            <a:r>
              <a:t>slide rebuilt live by the room (33 minutes). Laptops closed for the first part. Chapter 1 is</a:t>
            </a:r>
          </a:p>
          <a:p>
            <a:r>
              <a:t>L1 and L2 of the ladder: the title as the claim, and the denominator the slide names.</a:t>
            </a:r>
          </a:p>
          <a:p>
            <a:r>
              <a:t>Styles on this chapter: Brilliant (the chapter opens on a question with options), StatQuest</a:t>
            </a:r>
          </a:p>
          <a:p>
            <a:r>
              <a:t>(the twelve rows summed aloud three ways), Minto and SWD (the makeover and the Big Idea test).</a:t>
            </a:r>
          </a:p>
          <a:p>
            <a:r>
              <a:t>Transition: a predict item on what makes a title 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hands for each letter in turn and write the counts on the board. Expect</a:t>
            </a:r>
          </a:p>
          <a:p>
            <a:r>
              <a:t>a cluster at (a) and (b), with (c) picking up as the morning goes on. Say nothing about which</a:t>
            </a:r>
          </a:p>
          <a:p>
            <a:r>
              <a:t>is right; the warden test will choose it.</a:t>
            </a:r>
          </a:p>
          <a:p>
            <a:r>
              <a:t>Transition: the hostel notice board, with its topic title.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through the two notices in order. The second notice is a toy, invented</a:t>
            </a:r>
          </a:p>
          <a:p>
            <a:r>
              <a:t>for this class, but the shape is Minto's. Ask: which of the four titles from the vote is like</a:t>
            </a:r>
          </a:p>
          <a:p>
            <a:r>
              <a:t>the first notice, which like the second. Expect (a) and (d) called topic, (c) called sentence.</a:t>
            </a:r>
          </a:p>
          <a:p>
            <a:r>
              <a:t>Transition: how does the eye read a slide full of numbers.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Project the image, then ask the room what the slide is asking the city head</a:t>
            </a:r>
          </a:p>
          <a:p>
            <a:r>
              <a:t>to do. Nothing to write; the next slide rebuilds this. The nine numbers are the ones Monday's</a:t>
            </a:r>
          </a:p>
          <a:p>
            <a:r>
              <a:t>pack already published, no new figure is on this page.</a:t>
            </a:r>
          </a:p>
          <a:p>
            <a:r>
              <a:t>Transition: the rebuild, one piece at a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from the title to the chart, to the caveat, to the action, in that</a:t>
            </a:r>
          </a:p>
          <a:p>
            <a:r>
              <a:t>order. Point at each in sight of the room. Ask: which of the two slides lets the city head</a:t>
            </a:r>
          </a:p>
          <a:p>
            <a:r>
              <a:t>do something next. Expect every hand on the second. The reveal is the shape, not the number;</a:t>
            </a:r>
          </a:p>
          <a:p>
            <a:r>
              <a:t>the number is still Monday's.</a:t>
            </a:r>
          </a:p>
          <a:p>
            <a:r>
              <a:t>Transition: the four parts of a slide a loser can repeat.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box as it is named. Say: the four parts are an order, so a</a:t>
            </a:r>
          </a:p>
          <a:p>
            <a:r>
              <a:t>slide that opens on evidence has already lost the title. Ask: what goes on the appendix page</a:t>
            </a:r>
          </a:p>
          <a:p>
            <a:r>
              <a:t>headed by the driver-operations lead? Expect: idle hours, the outer zones, acceptance's</a:t>
            </a:r>
          </a:p>
          <a:p>
            <a:r>
              <a:t>guardrail floor.</a:t>
            </a:r>
          </a:p>
          <a:p>
            <a:r>
              <a:t>Transition: into the second part of chapter 1, the twelve rows read three ways.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aloud: 60, 74 (hours); 114, 88 (trips); 18,810, 14,520 (rupees).</a:t>
            </a:r>
          </a:p>
          <a:p>
            <a:r>
              <a:t>Divide three times for before, three times for after. Say the three verdicts in order: down</a:t>
            </a:r>
          </a:p>
          <a:p>
            <a:r>
              <a:t>37, down 23, flat. Ask: which denominator does the slide read first? Expect the room to say</a:t>
            </a:r>
          </a:p>
          <a:p>
            <a:r>
              <a:t>per peak online hour, since that is what moves most; the next slide shows why that is also</a:t>
            </a:r>
          </a:p>
          <a:p>
            <a:r>
              <a:t>the honest read when the scheme pays for hours.</a:t>
            </a:r>
          </a:p>
          <a:p>
            <a:r>
              <a:t>Transition: the picture, three bars.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left to right. Each bar pair carries its unit as a label. Say: a trip</a:t>
            </a:r>
          </a:p>
          <a:p>
            <a:r>
              <a:t>pays its fare; that is why the per-trip read is flat. Ask: which role would quote per</a:t>
            </a:r>
          </a:p>
          <a:p>
            <a:r>
              <a:t>driver-week? Expect: the marketing lead. Which would quote per trip? Expect: the finance</a:t>
            </a:r>
          </a:p>
          <a:p>
            <a:r>
              <a:t>partner. The city head's slide is the one that names the number the scheme pays for.</a:t>
            </a:r>
          </a:p>
          <a:p>
            <a:r>
              <a:t>Transition: a trap, before the method.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Hands up for each letter; write counts on the board. Expect the room to</a:t>
            </a:r>
          </a:p>
          <a:p>
            <a:r>
              <a:t>split (a) and (c). The reveal shows (b): the hours rose by more than the bookings fell, so</a:t>
            </a:r>
          </a:p>
          <a:p>
            <a:r>
              <a:t>the per-driver-week number barely moved; this is why the city head's roles will each quote</a:t>
            </a:r>
          </a:p>
          <a:p>
            <a:r>
              <a:t>whichever denominator favours their case.</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Trace the fall line first, then the near-flat line. Point at the vertical</a:t>
            </a:r>
          </a:p>
          <a:p>
            <a:r>
              <a:t>dashed line (launch) and say: six weeks either side, the two lines move in different ways</a:t>
            </a:r>
          </a:p>
          <a:p>
            <a:r>
              <a:t>because they are measuring different things. Ask: which line will the marketing lead quote,</a:t>
            </a:r>
          </a:p>
          <a:p>
            <a:r>
              <a:t>and which will the city head? Expect: marketing takes the flat line; the city head takes the</a:t>
            </a:r>
          </a:p>
          <a:p>
            <a:r>
              <a:t>falling one, because that is what the scheme actually pays for.</a:t>
            </a:r>
          </a:p>
          <a:p>
            <a:r>
              <a:t>Transition: into chapter 2, the three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in two parts: the four moves of a defence (12 minutes), and the studio's</a:t>
            </a:r>
          </a:p>
          <a:p>
            <a:r>
              <a:t>first round (38 minutes). Each role is partly right by design. Chapter 2 is L3 and L4 of the</a:t>
            </a:r>
          </a:p>
          <a:p>
            <a:r>
              <a:t>ladder: defence as a shape, with the appendix as the drawer for what leaves the slide.</a:t>
            </a:r>
          </a:p>
          <a:p>
            <a:r>
              <a:t>Styles on this chapter: the case method (the three role cards from Monday return), Veritasium</a:t>
            </a:r>
          </a:p>
          <a:p>
            <a:r>
              <a:t>(predict which role sides with the city head before the cards reveal), ByteByteGo (the slide</a:t>
            </a:r>
          </a:p>
          <a:p>
            <a:r>
              <a:t>grows an appendix drawer, not a longer slide).</a:t>
            </a:r>
          </a:p>
          <a:p>
            <a:r>
              <a:t>Transition: the four moves.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moves on the picture. Say: a slide that cannot survive the</a:t>
            </a:r>
          </a:p>
          <a:p>
            <a:r>
              <a:t>third move (concede) is a slide that does not know what is true. The trainer models one full</a:t>
            </a:r>
          </a:p>
          <a:p>
            <a:r>
              <a:t>defence first, conceding on purpose, before the groups try one.</a:t>
            </a:r>
          </a:p>
          <a:p>
            <a:r>
              <a:t>Transition: three cards, three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card aloud. Ask the room, before the next slide, which of the</a:t>
            </a:r>
          </a:p>
          <a:p>
            <a:r>
              <a:t>three the city head will side with on Thursday afternoon. Collect three answers; write the</a:t>
            </a:r>
          </a:p>
          <a:p>
            <a:r>
              <a:t>tallies on the board; the surprise is that the city head sides with none of them because</a:t>
            </a:r>
          </a:p>
          <a:p>
            <a:r>
              <a:t>each is partly right.</a:t>
            </a:r>
          </a:p>
          <a:p>
            <a:r>
              <a:t>Transition: the partly-right part of each, named.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one row at a time. Say which number on the slide answers each line</a:t>
            </a:r>
          </a:p>
          <a:p>
            <a:r>
              <a:t>(bookings per hour for driver operations, Rs 1.9 crore top-up for marketing, the monsoon-ended</a:t>
            </a:r>
          </a:p>
          <a:p>
            <a:r>
              <a:t>cut for finance). Ask: if driver operations says "but my honest drivers lose money", what is</a:t>
            </a:r>
          </a:p>
          <a:p>
            <a:r>
              <a:t>on their appendix page? Expect: the pay to driver-weeks above 0.5 acceptance, which stays.</a:t>
            </a:r>
          </a:p>
          <a:p>
            <a:r>
              <a:t>Transition: the studio's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the trainer's model. Pick finance's objection ("just the monsoon"), run</a:t>
            </a:r>
          </a:p>
          <a:p>
            <a:r>
              <a:t>the four moves, and concede the first after week honestly. Point at the L4 cut as the fact</a:t>
            </a:r>
          </a:p>
          <a:p>
            <a:r>
              <a:t>that answers it. Then split the room into threes and start the clock. Nine groups, three</a:t>
            </a:r>
          </a:p>
          <a:p>
            <a:r>
              <a:t>rounds, seven minutes each.</a:t>
            </a:r>
          </a:p>
          <a:p>
            <a:r>
              <a:t>Transition: the mid-studio check.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Pause the studio after round one. Call out two or three examples from the</a:t>
            </a:r>
          </a:p>
          <a:p>
            <a:r>
              <a:t>groups; name the pattern, give the hint, send the next round. No new teaching; the rule is</a:t>
            </a:r>
          </a:p>
          <a:p>
            <a:r>
              <a:t>the same.</a:t>
            </a:r>
          </a:p>
          <a:p>
            <a:r>
              <a:t>Transition: a prediction before chapter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Amazon's six-page memo as the opposite stance (5 minutes), then the</a:t>
            </a:r>
          </a:p>
          <a:p>
            <a:r>
              <a:t>appendix drawer with its one page per role (15 minutes). Chapter 3 is L4 of the ladder: what</a:t>
            </a:r>
          </a:p>
          <a:p>
            <a:r>
              <a:t>to cut and where to put it. Styles: the case method again (Amazon's letter as a decision</a:t>
            </a:r>
          </a:p>
          <a:p>
            <a:r>
              <a:t>forced by its own CEO), Minto (one appendix page answers one question).</a:t>
            </a:r>
          </a:p>
          <a:p>
            <a:r>
              <a:t>Transition: Amazon in 2017.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Amazon's rule is not the city head's constraint, so the slide is not</a:t>
            </a:r>
          </a:p>
          <a:p>
            <a:r>
              <a:t>replaced by a memo. The lesson Amazon's rule teaches is: pretend the city head reads the</a:t>
            </a:r>
          </a:p>
          <a:p>
            <a:r>
              <a:t>slide in silence, in five minutes, and ask what each line earns there. Ask: which of the</a:t>
            </a:r>
          </a:p>
          <a:p>
            <a:r>
              <a:t>nine Monday numbers would survive that test? Expect the room to say: the one that moves</a:t>
            </a:r>
          </a:p>
          <a:p>
            <a:r>
              <a:t>most, named with its denominator.</a:t>
            </a:r>
          </a:p>
          <a:p>
            <a:r>
              <a:t>Transition: the appendix drawer.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three pages. Ask: can a caveat live only in the appendix? The</a:t>
            </a:r>
          </a:p>
          <a:p>
            <a:r>
              <a:t>answer is no: a caveat belongs in plain sight on the slide where it changes the action, with</a:t>
            </a:r>
          </a:p>
          <a:p>
            <a:r>
              <a:t>the appendix carrying the detail if the role goes looking. The city head's own slide names</a:t>
            </a:r>
          </a:p>
          <a:p>
            <a:r>
              <a:t>the monsoon-end cut on the main page.</a:t>
            </a:r>
          </a:p>
          <a:p>
            <a:r>
              <a:t>Transition: into the studio's second round.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Reset the clock. The groups swap seats on the trainer's word, not between</a:t>
            </a:r>
          </a:p>
          <a:p>
            <a:r>
              <a:t>rooms. At minute 12 (mid-round-two), pause and ask one group to name the move that most</a:t>
            </a:r>
          </a:p>
          <a:p>
            <a:r>
              <a:t>helped them. Expect: concede. The move that most hurt them: restate (because an objection</a:t>
            </a:r>
          </a:p>
          <a:p>
            <a:r>
              <a:t>restated weak sticks).</a:t>
            </a:r>
          </a:p>
          <a:p>
            <a:r>
              <a:t>Transition: into the gallery and chapter 3's reveal.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Dots on; walk; count. The vote is a cheap read of what the room has learnt,</a:t>
            </a:r>
          </a:p>
          <a:p>
            <a:r>
              <a:t>not a grading. Save the trainer's own vote for the solution discussion. The gallery doubles</a:t>
            </a:r>
          </a:p>
          <a:p>
            <a:r>
              <a:t>as the Big Idea test of SWD (R1 T1): a title that is a claim a city head could act on survives</a:t>
            </a:r>
          </a:p>
          <a:p>
            <a:r>
              <a:t>the vote; a topic title does not.</a:t>
            </a:r>
          </a:p>
          <a:p>
            <a:r>
              <a:t>Transition: the morning closes on where it opened.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in order; read the four not yet done. Say that the Half 2</a:t>
            </a:r>
          </a:p>
          <a:p>
            <a:r>
              <a:t>notebook, the dojo and the written case fill the afternoon. The handoff line now sits at</a:t>
            </a:r>
          </a:p>
          <a:p>
            <a:r>
              <a:t>the bottom of the trainer sheet: "You have a slide a city head could act on. The afternoon</a:t>
            </a:r>
          </a:p>
          <a:p>
            <a:r>
              <a:t>asks whether you can estimate the number you do not have, and write the slide down."</a:t>
            </a:r>
          </a:p>
          <a:p>
            <a:r>
              <a:t>Transition: break, then Half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51851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TUESDAY  ·  MORNING, 180 MINUTES</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Can the redesign survive one slide in front of three losers?</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“Thursday 15:00. One slide. Five minutes. The driver-operations lead, the marketing lead and the finance partner in the room, each losing something under the redesign.”</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Hyderabad city head, Uber, to the senior analyst who built Monday's definition</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What is the one claim, and which number carries it?</a:t>
            </a:r>
          </a:p>
        </p:txBody>
      </p:sp>
      <p:sp>
        <p:nvSpPr>
          <p:cNvPr id="13" name="TextBox 12"/>
          <p:cNvSpPr txBox="1"/>
          <p:nvPr/>
        </p:nvSpPr>
        <p:spPr>
          <a:xfrm>
            <a:off x="318211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566160"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Which objection is partly right, and which part?</a:t>
            </a:r>
          </a:p>
        </p:txBody>
      </p:sp>
      <p:sp>
        <p:nvSpPr>
          <p:cNvPr id="15" name="TextBox 14"/>
          <p:cNvSpPr txBox="1"/>
          <p:nvPr/>
        </p:nvSpPr>
        <p:spPr>
          <a:xfrm>
            <a:off x="574243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6126480"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What leaves the slide, and where does it go?</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Can the redesign survive one slide in front of three losers?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losers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lands first?</a:t>
            </a:r>
          </a:p>
        </p:txBody>
      </p:sp>
      <p:sp>
        <p:nvSpPr>
          <p:cNvPr id="9" name="Rounded Rectangle 8"/>
          <p:cNvSpPr/>
          <p:nvPr/>
        </p:nvSpPr>
        <p:spPr>
          <a:xfrm>
            <a:off x="530352" y="188722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1523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06092"/>
            <a:ext cx="10564063" cy="873760"/>
          </a:xfrm>
          <a:prstGeom prst="rect">
            <a:avLst/>
          </a:prstGeom>
          <a:noFill/>
        </p:spPr>
        <p:txBody>
          <a:bodyPr wrap="square" anchor="ctr" lIns="0" rIns="0" tIns="0" bIns="0">
            <a:spAutoFit/>
          </a:bodyPr>
          <a:lstStyle/>
          <a:p>
            <a:r>
              <a:rPr sz="1100" b="1">
                <a:solidFill>
                  <a:srgbClr val="5B3FD6"/>
                </a:solidFill>
                <a:latin typeface="Calibri"/>
              </a:rPr>
              <a:t>The ask. </a:t>
            </a:r>
            <a:r>
              <a:rPr sz="1100" b="0" i="0">
                <a:solidFill>
                  <a:srgbClr val="1A1440"/>
                </a:solidFill>
                <a:latin typeface="Calibri"/>
              </a:rPr>
              <a:t>The city head takes the redesign to the Thursday city review: one slide, five minutes, with Monday's three roles in the room. Each one loses something under the redesign and each will say so. </a:t>
            </a:r>
            <a:r>
              <a:rPr sz="1100" b="1" i="0">
                <a:solidFill>
                  <a:srgbClr val="1A1440"/>
                </a:solidFill>
                <a:latin typeface="Calibri"/>
              </a:rPr>
              <a:t>The number the slide must explain first, because finance will raise it before anyone sits down:</a:t>
            </a:r>
            <a:r>
              <a:rPr sz="1100" b="0" i="0">
                <a:solidFill>
                  <a:srgbClr val="1A1440"/>
                </a:solidFill>
                <a:latin typeface="Calibri"/>
              </a:rPr>
              <a:t> gross bookings per peak online hour fell from Rs 314 in the six weeks before the launch to Rs 260 in the six weeks after, while the average peak fare stayed at Rs 165 and online hours rose 24 percent.</a:t>
            </a:r>
          </a:p>
        </p:txBody>
      </p:sp>
      <p:sp>
        <p:nvSpPr>
          <p:cNvPr id="12" name="Rounded Rectangle 11"/>
          <p:cNvSpPr/>
          <p:nvPr/>
        </p:nvSpPr>
        <p:spPr>
          <a:xfrm>
            <a:off x="530352" y="3108452"/>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236468"/>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27324"/>
            <a:ext cx="10564063" cy="482600"/>
          </a:xfrm>
          <a:prstGeom prst="rect">
            <a:avLst/>
          </a:prstGeom>
          <a:noFill/>
        </p:spPr>
        <p:txBody>
          <a:bodyPr wrap="square" anchor="ctr" lIns="0" rIns="0" tIns="0" bIns="0">
            <a:spAutoFit/>
          </a:bodyPr>
          <a:lstStyle/>
          <a:p>
            <a:r>
              <a:rPr sz="1100" b="1">
                <a:solidFill>
                  <a:srgbClr val="5B3FD6"/>
                </a:solidFill>
                <a:latin typeface="Calibri"/>
              </a:rPr>
              <a:t>The same rupees read three ways. </a:t>
            </a:r>
            <a:r>
              <a:rPr sz="1100" b="0" i="0">
                <a:solidFill>
                  <a:srgbClr val="1A1440"/>
                </a:solidFill>
                <a:latin typeface="Calibri"/>
              </a:rPr>
              <a:t>Per peak online hour, down 17 percent. Per enrolled driver-week, up less than one percent (because hours and driver-weeks both rose). Per completed trip, flat at Rs 165. The slide must say which denominator it is reading before it says what the number did.</a:t>
            </a:r>
          </a:p>
        </p:txBody>
      </p:sp>
      <p:sp>
        <p:nvSpPr>
          <p:cNvPr id="15" name="Rounded Rectangle 14"/>
          <p:cNvSpPr/>
          <p:nvPr/>
        </p:nvSpPr>
        <p:spPr>
          <a:xfrm>
            <a:off x="530352" y="3938524"/>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066540"/>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057396"/>
            <a:ext cx="10564063" cy="482600"/>
          </a:xfrm>
          <a:prstGeom prst="rect">
            <a:avLst/>
          </a:prstGeom>
          <a:noFill/>
        </p:spPr>
        <p:txBody>
          <a:bodyPr wrap="square" anchor="ctr" lIns="0" rIns="0" tIns="0" bIns="0">
            <a:spAutoFit/>
          </a:bodyPr>
          <a:lstStyle/>
          <a:p>
            <a:r>
              <a:rPr sz="1100" b="1">
                <a:solidFill>
                  <a:srgbClr val="5B3FD6"/>
                </a:solidFill>
                <a:latin typeface="Calibri"/>
              </a:rPr>
              <a:t>The afternoon ask. </a:t>
            </a:r>
            <a:r>
              <a:rPr sz="1100" b="0" i="0">
                <a:solidFill>
                  <a:srgbClr val="1A1440"/>
                </a:solidFill>
                <a:latin typeface="Calibri"/>
              </a:rPr>
              <a:t>Before the review, roughly how many drivers must be online at the evening peak on a weekday to keep the median rider wait under five minutes. Fifteen minutes, no dataset, assumptions stated.</a:t>
            </a:r>
          </a:p>
        </p:txBody>
      </p:sp>
      <p:sp>
        <p:nvSpPr>
          <p:cNvPr id="18" name="Rounded Rectangle 17"/>
          <p:cNvSpPr/>
          <p:nvPr/>
        </p:nvSpPr>
        <p:spPr>
          <a:xfrm>
            <a:off x="530352" y="4768596"/>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896612"/>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887468"/>
            <a:ext cx="10564063" cy="482600"/>
          </a:xfrm>
          <a:prstGeom prst="rect">
            <a:avLst/>
          </a:prstGeom>
          <a:noFill/>
        </p:spPr>
        <p:txBody>
          <a:bodyPr wrap="square" anchor="ctr" lIns="0" rIns="0" tIns="0" bIns="0">
            <a:spAutoFit/>
          </a:bodyPr>
          <a:lstStyle/>
          <a:p>
            <a:r>
              <a:rPr sz="1100" b="1">
                <a:solidFill>
                  <a:srgbClr val="5B3FD6"/>
                </a:solidFill>
                <a:latin typeface="Calibri"/>
              </a:rPr>
              <a:t>Data. </a:t>
            </a:r>
            <a:r>
              <a:rPr sz="1100" b="0" i="0">
                <a:solidFill>
                  <a:srgbClr val="1A1440"/>
                </a:solidFill>
                <a:latin typeface="Calibri"/>
              </a:rPr>
              <a:t>Monday's three tables. </a:t>
            </a:r>
            <a:r>
              <a:rPr sz="1100" b="1" i="0">
                <a:solidFill>
                  <a:srgbClr val="1A1440"/>
                </a:solidFill>
                <a:latin typeface="Calibri"/>
              </a:rPr>
              <a:t>Caveats.</a:t>
            </a:r>
            <a:r>
              <a:rPr sz="1100" b="0" i="0">
                <a:solidFill>
                  <a:srgbClr val="1A1440"/>
                </a:solidFill>
                <a:latin typeface="Calibri"/>
              </a:rPr>
              <a:t> The three objections are each partly right; the peak window is three hours long; the published figure a validate step would want is not in the research ledger.</a:t>
            </a:r>
          </a:p>
        </p:txBody>
      </p:sp>
      <p:sp>
        <p:nvSpPr>
          <p:cNvPr id="21" name="Rounded Rectangle 20"/>
          <p:cNvSpPr/>
          <p:nvPr/>
        </p:nvSpPr>
        <p:spPr>
          <a:xfrm>
            <a:off x="530352" y="5598668"/>
            <a:ext cx="45720" cy="3962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5598668"/>
            <a:ext cx="10820095" cy="396240"/>
          </a:xfrm>
          <a:prstGeom prst="rect">
            <a:avLst/>
          </a:prstGeom>
          <a:noFill/>
        </p:spPr>
        <p:txBody>
          <a:bodyPr wrap="square" anchor="t" lIns="0" rIns="0" tIns="0" bIns="0">
            <a:spAutoFit/>
          </a:bodyPr>
          <a:lstStyle/>
          <a:p>
            <a:r>
              <a:rPr sz="1200" b="0" i="1">
                <a:solidFill>
                  <a:srgbClr val="1A0F5C"/>
                </a:solidFill>
                <a:latin typeface="Georgia"/>
              </a:rPr>
              <a:t>*Illustrative case: the company is real, the situation and the data are synthetic, built for this class.*</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25" name="Oval 2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27" name="Oval 2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has Monday's node earned?</a:t>
            </a:r>
          </a:p>
        </p:txBody>
      </p:sp>
      <p:pic>
        <p:nvPicPr>
          <p:cNvPr id="9" name="mermaid diagram" descr="0f122f4cfa337956.png"/>
          <p:cNvPicPr>
            <a:picLocks noChangeAspect="1"/>
          </p:cNvPicPr>
          <p:nvPr/>
        </p:nvPicPr>
        <p:blipFill>
          <a:blip r:embed="rId5"/>
          <a:stretch>
            <a:fillRect/>
          </a:stretch>
        </p:blipFill>
        <p:spPr>
          <a:xfrm>
            <a:off x="530352" y="1956816"/>
            <a:ext cx="11130991" cy="128282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12" name="Oval 1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4" name="Oval 1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the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closes the day?</a:t>
            </a:r>
          </a:p>
        </p:txBody>
      </p:sp>
      <p:sp>
        <p:nvSpPr>
          <p:cNvPr id="9" name="TextBox 8"/>
          <p:cNvSpPr txBox="1"/>
          <p:nvPr/>
        </p:nvSpPr>
        <p:spPr>
          <a:xfrm>
            <a:off x="530352" y="1901953"/>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morning</a:t>
            </a:r>
            <a:r>
              <a:rPr sz="1600" b="0" i="0">
                <a:solidFill>
                  <a:srgbClr val="1A1440"/>
                </a:solidFill>
                <a:latin typeface="Calibri"/>
              </a:rPr>
              <a:t>, the room has built a one-slide answer the losing roles can repeat accurately back to the city head:</a:t>
            </a:r>
          </a:p>
        </p:txBody>
      </p:sp>
      <p:sp>
        <p:nvSpPr>
          <p:cNvPr id="10" name="Rounded Rectangle 9"/>
          <p:cNvSpPr/>
          <p:nvPr/>
        </p:nvSpPr>
        <p:spPr>
          <a:xfrm>
            <a:off x="530352" y="2802129"/>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802129"/>
            <a:ext cx="10820095" cy="1320799"/>
          </a:xfrm>
          <a:prstGeom prst="rect">
            <a:avLst/>
          </a:prstGeom>
          <a:noFill/>
        </p:spPr>
        <p:txBody>
          <a:bodyPr wrap="square" anchor="t" lIns="0" rIns="0" tIns="0" bIns="0">
            <a:spAutoFit/>
          </a:bodyPr>
          <a:lstStyle/>
          <a:p>
            <a:r>
              <a:rPr sz="1600" b="0" i="1">
                <a:solidFill>
                  <a:srgbClr val="1A0F5C"/>
                </a:solidFill>
                <a:latin typeface="Georgia"/>
              </a:rPr>
              <a:t>*"The peak scheme is paying for online hours that do not carry trips. Pay per completed peak trip, with an acceptance guardrail, saves Rs 58 lakh to Rs 93 lakh over six weeks on last window's data. The number we read is bookings per peak online hour, Rs 314 to Rs 260; the driver-week and per-trip reads are in the appendix."*</a:t>
            </a:r>
          </a:p>
        </p:txBody>
      </p:sp>
      <p:sp>
        <p:nvSpPr>
          <p:cNvPr id="12" name="TextBox 11"/>
          <p:cNvSpPr txBox="1"/>
          <p:nvPr/>
        </p:nvSpPr>
        <p:spPr>
          <a:xfrm>
            <a:off x="530352" y="4269232"/>
            <a:ext cx="11130991" cy="1710943"/>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 dojo</a:t>
            </a:r>
            <a:r>
              <a:rPr sz="1600" b="0" i="0">
                <a:solidFill>
                  <a:srgbClr val="1A1440"/>
                </a:solidFill>
                <a:latin typeface="Calibri"/>
              </a:rPr>
              <a:t>, every learner has sized drivers online at the evening peak from nothing, said each assumption aloud, and validated the number against the case's own request data.</a:t>
            </a:r>
          </a:p>
          <a:p>
            <a:pPr>
              <a:spcAft>
                <a:spcPts val="800"/>
              </a:spcAft>
            </a:pPr>
            <a:r>
              <a:rPr sz="1600" b="0" i="0">
                <a:solidFill>
                  <a:srgbClr val="1A1440"/>
                </a:solidFill>
                <a:latin typeface="Calibri"/>
              </a:rPr>
              <a:t>The room has not earned either yet. The morning climbs from the one claim through the three denominators to the defence that survives three objections; the afternoon brings a Fermi walk, a seven-minute paired estimate against the clock and a one-page business case written AI-free.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7" name="Oval 1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one claim, and which number carries it?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a title that is a topic turn into a title that is a sentence a city head could act on?</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one claim, and which number carries it?</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is partly right, and which part?</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 and where does it go?</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can the redesign survive one slide?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chapter opens on a prediction before any method is taught.</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chapter begins with a lettered vote. Four candidate titles for the slide:</a:t>
            </a:r>
          </a:p>
          <a:p>
            <a:pPr>
              <a:spcAft>
                <a:spcPts val="800"/>
              </a:spcAft>
            </a:pPr>
            <a:r>
              <a:rPr sz="1600" b="0" i="0">
                <a:solidFill>
                  <a:srgbClr val="1A1440"/>
                </a:solidFill>
                <a:latin typeface="Calibri"/>
              </a:rPr>
              <a:t>- a) </a:t>
            </a:r>
            <a:r>
              <a:rPr sz="1600" b="1" i="0">
                <a:solidFill>
                  <a:srgbClr val="1A1440"/>
                </a:solidFill>
                <a:latin typeface="Calibri"/>
              </a:rPr>
              <a:t>Peak guarantee: six-week review</a:t>
            </a:r>
          </a:p>
          <a:p>
            <a:pPr>
              <a:spcAft>
                <a:spcPts val="800"/>
              </a:spcAft>
            </a:pPr>
            <a:r>
              <a:rPr sz="1600" b="0" i="0">
                <a:solidFill>
                  <a:srgbClr val="1A1440"/>
                </a:solidFill>
                <a:latin typeface="Calibri"/>
              </a:rPr>
              <a:t>- b) </a:t>
            </a:r>
            <a:r>
              <a:rPr sz="1600" b="1" i="0">
                <a:solidFill>
                  <a:srgbClr val="1A1440"/>
                </a:solidFill>
                <a:latin typeface="Calibri"/>
              </a:rPr>
              <a:t>Online hours up 24 percent, trips up 3 percent</a:t>
            </a:r>
          </a:p>
          <a:p>
            <a:pPr>
              <a:spcAft>
                <a:spcPts val="800"/>
              </a:spcAft>
            </a:pPr>
            <a:r>
              <a:rPr sz="1600" b="0" i="0">
                <a:solidFill>
                  <a:srgbClr val="1A1440"/>
                </a:solidFill>
                <a:latin typeface="Calibri"/>
              </a:rPr>
              <a:t>- c) </a:t>
            </a:r>
            <a:r>
              <a:rPr sz="1600" b="1" i="0">
                <a:solidFill>
                  <a:srgbClr val="1A1440"/>
                </a:solidFill>
                <a:latin typeface="Calibri"/>
              </a:rPr>
              <a:t>Pay for completed peak trips, not for online hours</a:t>
            </a:r>
          </a:p>
          <a:p>
            <a:pPr>
              <a:spcAft>
                <a:spcPts val="800"/>
              </a:spcAft>
            </a:pPr>
            <a:r>
              <a:rPr sz="1600" b="0" i="0">
                <a:solidFill>
                  <a:srgbClr val="1A1440"/>
                </a:solidFill>
                <a:latin typeface="Calibri"/>
              </a:rPr>
              <a:t>- d) </a:t>
            </a:r>
            <a:r>
              <a:rPr sz="1600" b="1" i="0">
                <a:solidFill>
                  <a:srgbClr val="1A1440"/>
                </a:solidFill>
                <a:latin typeface="Calibri"/>
              </a:rPr>
              <a:t>Hyderabad operations update, October</a:t>
            </a:r>
          </a:p>
        </p:txBody>
      </p:sp>
      <p:sp>
        <p:nvSpPr>
          <p:cNvPr id="10" name="Rounded Rectangle 9"/>
          <p:cNvSpPr/>
          <p:nvPr/>
        </p:nvSpPr>
        <p:spPr>
          <a:xfrm>
            <a:off x="530352" y="41249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29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43832"/>
            <a:ext cx="10564063" cy="624840"/>
          </a:xfrm>
          <a:prstGeom prst="rect">
            <a:avLst/>
          </a:prstGeom>
          <a:noFill/>
        </p:spPr>
        <p:txBody>
          <a:bodyPr wrap="square" anchor="ctr" lIns="0" rIns="0" tIns="0" bIns="0">
            <a:spAutoFit/>
          </a:bodyPr>
          <a:lstStyle/>
          <a:p>
            <a:r>
              <a:rPr sz="1500" b="1">
                <a:solidFill>
                  <a:srgbClr val="5B3FD6"/>
                </a:solidFill>
                <a:latin typeface="Calibri"/>
              </a:rPr>
              <a:t>The question. </a:t>
            </a:r>
            <a:r>
              <a:rPr sz="1500" b="0" i="0">
                <a:solidFill>
                  <a:srgbClr val="1A1440"/>
                </a:solidFill>
                <a:latin typeface="Calibri"/>
              </a:rPr>
              <a:t>Which title tells the city head what to do when she reaches it on the printed page? The room votes before the method arrives.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is the one claim, and which number carries it?</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7" name="Oval 1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title that acts is a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hostel warden act when the title is a sentence?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 warden walks past a notice board. </a:t>
            </a:r>
            <a:r>
              <a:rPr sz="1500" b="0" i="0">
                <a:solidFill>
                  <a:srgbClr val="1A1440"/>
                </a:solidFill>
                <a:latin typeface="Calibri"/>
              </a:rPr>
              <a:t>The notice reads "Breakfast survey results". The warden walks on; the results sit there for a week. The next notice reads "Rotis replace rice at Monday breakfast; the kitchen moves two staff from the rice counter to the roti line". The warden stops, reads once, and sends two staff.</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claim is a sentence a reader can act on.</a:t>
            </a:r>
            <a:r>
              <a:rPr sz="1600" b="0" i="0">
                <a:solidFill>
                  <a:srgbClr val="1A1440"/>
                </a:solidFill>
                <a:latin typeface="Calibri"/>
              </a:rPr>
              <a:t> The topic names the subject. The sentence names the answer, who it is for, and what moves. Pyramid Principle, Minto's phrase: the answer comes first.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is the one claim, and which number carries it?</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7" name="Oval 1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numbers from Monday's dashboard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dashboard arrives on the city head's desk at 09:00?</a:t>
            </a:r>
          </a:p>
        </p:txBody>
      </p:sp>
      <p:pic>
        <p:nvPicPr>
          <p:cNvPr id="9" name="mermaid diagram" descr="C2_W04_D02_cluttered_STUDENT.png"/>
          <p:cNvPicPr>
            <a:picLocks noChangeAspect="1"/>
          </p:cNvPicPr>
          <p:nvPr/>
        </p:nvPicPr>
        <p:blipFill>
          <a:blip r:embed="rId4"/>
          <a:stretch>
            <a:fillRect/>
          </a:stretch>
        </p:blipFill>
        <p:spPr>
          <a:xfrm>
            <a:off x="3247425" y="1664208"/>
            <a:ext cx="569684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cluttered Monday slide</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The slide the Hyderabad operations analyst sent on Monday morning.</a:t>
            </a:r>
            <a:r>
              <a:rPr sz="1600" b="0" i="0">
                <a:solidFill>
                  <a:srgbClr val="1A1440"/>
                </a:solidFill>
                <a:latin typeface="Calibri"/>
              </a:rPr>
              <a:t> Nine numbers from Monday's dashboard, laid out as a grid. </a:t>
            </a:r>
            <a:r>
              <a:rPr sz="1600" b="1" i="0">
                <a:solidFill>
                  <a:srgbClr val="1A1440"/>
                </a:solidFill>
                <a:latin typeface="Calibri"/>
              </a:rPr>
              <a:t>The warden test fails.</a:t>
            </a:r>
            <a:r>
              <a:rPr sz="1600" b="0" i="0">
                <a:solidFill>
                  <a:srgbClr val="1A1440"/>
                </a:solidFill>
                <a:latin typeface="Calibri"/>
              </a:rPr>
              <a:t> A city head reading this at 09:00 cannot act. Every number is up or down. The title names the subject and nothing more.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is the one claim, and which number carries it?</a:t>
            </a:r>
          </a:p>
        </p:txBody>
      </p:sp>
      <p:sp>
        <p:nvSpPr>
          <p:cNvPr id="14" name="Oval 13"/>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6" name="Oval 15"/>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same evidence, rebuilt to one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names the number, the claim and the action?</a:t>
            </a:r>
          </a:p>
        </p:txBody>
      </p:sp>
      <p:pic>
        <p:nvPicPr>
          <p:cNvPr id="9" name="mermaid diagram" descr="C2_W04_D02_cleared_STUDENT.png"/>
          <p:cNvPicPr>
            <a:picLocks noChangeAspect="1"/>
          </p:cNvPicPr>
          <p:nvPr/>
        </p:nvPicPr>
        <p:blipFill>
          <a:blip r:embed="rId4"/>
          <a:stretch>
            <a:fillRect/>
          </a:stretch>
        </p:blipFill>
        <p:spPr>
          <a:xfrm>
            <a:off x="3353901" y="1664208"/>
            <a:ext cx="5483891" cy="2776220"/>
          </a:xfrm>
          <a:prstGeom prst="rect">
            <a:avLst/>
          </a:prstGeom>
        </p:spPr>
      </p:pic>
      <p:sp>
        <p:nvSpPr>
          <p:cNvPr id="10" name="picture caption"/>
          <p:cNvSpPr txBox="1"/>
          <p:nvPr/>
        </p:nvSpPr>
        <p:spPr>
          <a:xfrm>
            <a:off x="530352" y="447700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redesign slide, cleared</a:t>
            </a:r>
          </a:p>
        </p:txBody>
      </p:sp>
      <p:sp>
        <p:nvSpPr>
          <p:cNvPr id="11" name="TextBox 10"/>
          <p:cNvSpPr txBox="1"/>
          <p:nvPr/>
        </p:nvSpPr>
        <p:spPr>
          <a:xfrm>
            <a:off x="530352" y="4803140"/>
            <a:ext cx="11130991" cy="633984"/>
          </a:xfrm>
          <a:prstGeom prst="rect">
            <a:avLst/>
          </a:prstGeom>
          <a:noFill/>
        </p:spPr>
        <p:txBody>
          <a:bodyPr wrap="square" anchor="t" lIns="0" rIns="0" tIns="0" bIns="0">
            <a:spAutoFit/>
          </a:bodyPr>
          <a:lstStyle/>
          <a:p>
            <a:pPr>
              <a:spcAft>
                <a:spcPts val="600"/>
              </a:spcAft>
            </a:pPr>
            <a:r>
              <a:rPr sz="1200" b="1" i="0">
                <a:solidFill>
                  <a:srgbClr val="1A1440"/>
                </a:solidFill>
                <a:latin typeface="Calibri"/>
              </a:rPr>
              <a:t>One claim, one chart, one caveat, one action.</a:t>
            </a:r>
            <a:r>
              <a:rPr sz="1200" b="0" i="0">
                <a:solidFill>
                  <a:srgbClr val="1A1440"/>
                </a:solidFill>
                <a:latin typeface="Calibri"/>
              </a:rPr>
              <a:t> The claim is a sentence. The chart is one number: bookings per peak online hour, Rs 314 to Rs 260. The caveat sits where the eye lands, not in the appendix. The action names what to do and roughly what it saves.</a:t>
            </a:r>
          </a:p>
        </p:txBody>
      </p:sp>
      <p:sp>
        <p:nvSpPr>
          <p:cNvPr id="12" name="Rounded Rectangle 11"/>
          <p:cNvSpPr/>
          <p:nvPr/>
        </p:nvSpPr>
        <p:spPr>
          <a:xfrm>
            <a:off x="530352" y="5565140"/>
            <a:ext cx="11130991" cy="4698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5693156"/>
            <a:ext cx="45720" cy="2138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5684012"/>
            <a:ext cx="10564063" cy="287019"/>
          </a:xfrm>
          <a:prstGeom prst="rect">
            <a:avLst/>
          </a:prstGeom>
          <a:noFill/>
        </p:spPr>
        <p:txBody>
          <a:bodyPr wrap="square" anchor="ctr" lIns="0" rIns="0" tIns="0" bIns="0">
            <a:spAutoFit/>
          </a:bodyPr>
          <a:lstStyle/>
          <a:p>
            <a:r>
              <a:rPr sz="1100" b="1">
                <a:solidFill>
                  <a:srgbClr val="5B3FD6"/>
                </a:solidFill>
                <a:latin typeface="Calibri"/>
              </a:rPr>
              <a:t>The warden test. </a:t>
            </a:r>
            <a:r>
              <a:rPr sz="1100" b="0" i="0">
                <a:solidFill>
                  <a:srgbClr val="1A1440"/>
                </a:solidFill>
                <a:latin typeface="Calibri"/>
              </a:rPr>
              <a:t>A reader who sees the slide for five seconds can repeat the claim and the action.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is the one claim, and which number carries it?</a:t>
            </a:r>
          </a:p>
        </p:txBody>
      </p:sp>
      <p:sp>
        <p:nvSpPr>
          <p:cNvPr id="17" name="Oval 16"/>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9" name="Oval 18"/>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parts of a slide the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parts, in what order, and where do they land on the page?</a:t>
            </a:r>
          </a:p>
        </p:txBody>
      </p:sp>
      <p:pic>
        <p:nvPicPr>
          <p:cNvPr id="9" name="mermaid diagram" descr="78962fc6efad2f39.png"/>
          <p:cNvPicPr>
            <a:picLocks noChangeAspect="1"/>
          </p:cNvPicPr>
          <p:nvPr/>
        </p:nvPicPr>
        <p:blipFill>
          <a:blip r:embed="rId5"/>
          <a:stretch>
            <a:fillRect/>
          </a:stretch>
        </p:blipFill>
        <p:spPr>
          <a:xfrm>
            <a:off x="2363869" y="1682496"/>
            <a:ext cx="1119290"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Panel order on the page. </a:t>
            </a:r>
            <a:r>
              <a:rPr sz="1500" b="0" i="0">
                <a:solidFill>
                  <a:srgbClr val="1A1440"/>
                </a:solidFill>
                <a:latin typeface="Calibri"/>
              </a:rPr>
              <a:t>The claim at the top. The chart filling the left two-thirds. The caveat beside the chart, in a tinted box. The action at the bottom right, with its cost and the role who signs it. </a:t>
            </a:r>
            <a:r>
              <a:rPr sz="1500" b="1" i="0">
                <a:solidFill>
                  <a:srgbClr val="1A1440"/>
                </a:solidFill>
                <a:latin typeface="Calibri"/>
              </a:rPr>
              <a:t>An appendix is one page per role</a:t>
            </a:r>
            <a:r>
              <a:rPr sz="1500" b="0" i="0">
                <a:solidFill>
                  <a:srgbClr val="1A1440"/>
                </a:solidFill>
                <a:latin typeface="Calibri"/>
              </a:rPr>
              <a:t>, each page headed by the question that role will ask on Thursday.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is the one claim, and which number carries it?</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7" name="Oval 1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twelve driver-weeks, read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twelve rows say when the denominator changes?</a:t>
            </a:r>
          </a:p>
        </p:txBody>
      </p:sp>
      <p:graphicFrame>
        <p:nvGraphicFramePr>
          <p:cNvPr id="9" name="Table 8"/>
          <p:cNvGraphicFramePr>
            <a:graphicFrameLocks noGrp="1"/>
          </p:cNvGraphicFramePr>
          <p:nvPr/>
        </p:nvGraphicFramePr>
        <p:xfrm>
          <a:off x="530352" y="1934718"/>
          <a:ext cx="11130988" cy="2682240"/>
        </p:xfrm>
        <a:graphic>
          <a:graphicData uri="http://schemas.openxmlformats.org/drawingml/2006/table">
            <a:tbl>
              <a:tblPr firstRow="0" bandRow="0">
                <a:tableStyleId>{2D5ABB26-0587-4C30-8999-92F81FD0307C}</a:tableStyleId>
              </a:tblPr>
              <a:tblGrid>
                <a:gridCol w="914400"/>
                <a:gridCol w="1564898"/>
                <a:gridCol w="1608526"/>
                <a:gridCol w="1608526"/>
                <a:gridCol w="1275371"/>
                <a:gridCol w="1497474"/>
                <a:gridCol w="1497474"/>
                <a:gridCol w="1164319"/>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a:t>
                      </a:r>
                    </a:p>
                  </a:txBody>
                  <a:tcPr marL="101600" marR="101600" marT="38100" marB="38100" anchor="ctr">
                    <a:solidFill>
                      <a:srgbClr val="1A0F5C"/>
                    </a:solidFill>
                  </a:tcPr>
                </a:tc>
                <a:tc>
                  <a:txBody>
                    <a:bodyPr/>
                    <a:lstStyle/>
                    <a:p>
                      <a:r>
                        <a:rPr sz="1250" b="1" i="0">
                          <a:solidFill>
                            <a:srgbClr val="FFFFFF"/>
                          </a:solidFill>
                          <a:latin typeface="Calibri"/>
                        </a:rPr>
                        <a:t>Trips before</a:t>
                      </a:r>
                    </a:p>
                  </a:txBody>
                  <a:tcPr marL="101600" marR="101600" marT="38100" marB="38100" anchor="ctr">
                    <a:solidFill>
                      <a:srgbClr val="1A0F5C"/>
                    </a:solidFill>
                  </a:tcPr>
                </a:tc>
                <a:tc>
                  <a:txBody>
                    <a:bodyPr/>
                    <a:lstStyle/>
                    <a:p>
                      <a:r>
                        <a:rPr sz="1250" b="1" i="0">
                          <a:solidFill>
                            <a:srgbClr val="FFFFFF"/>
                          </a:solidFill>
                          <a:latin typeface="Calibri"/>
                        </a:rPr>
                        <a:t>Rs before</a:t>
                      </a:r>
                    </a:p>
                  </a:txBody>
                  <a:tcPr marL="101600" marR="101600" marT="38100" marB="38100" anchor="ctr">
                    <a:solidFill>
                      <a:srgbClr val="1A0F5C"/>
                    </a:solidFill>
                  </a:tcPr>
                </a:tc>
                <a:tc>
                  <a:txBody>
                    <a:bodyPr/>
                    <a:lstStyle/>
                    <a:p>
                      <a:r>
                        <a:rPr sz="1250" b="1" i="0">
                          <a:solidFill>
                            <a:srgbClr val="FFFFFF"/>
                          </a:solidFill>
                          <a:latin typeface="Calibri"/>
                        </a:rPr>
                        <a:t>Hours after</a:t>
                      </a:r>
                    </a:p>
                  </a:txBody>
                  <a:tcPr marL="101600" marR="101600" marT="38100" marB="38100" anchor="ctr">
                    <a:solidFill>
                      <a:srgbClr val="1A0F5C"/>
                    </a:solidFill>
                  </a:tcPr>
                </a:tc>
                <a:tc>
                  <a:txBody>
                    <a:bodyPr/>
                    <a:lstStyle/>
                    <a:p>
                      <a:r>
                        <a:rPr sz="1250" b="1" i="0">
                          <a:solidFill>
                            <a:srgbClr val="FFFFFF"/>
                          </a:solidFill>
                          <a:latin typeface="Calibri"/>
                        </a:rPr>
                        <a:t>Trips after</a:t>
                      </a:r>
                    </a:p>
                  </a:txBody>
                  <a:tcPr marL="101600" marR="101600" marT="38100" marB="38100" anchor="ctr">
                    <a:solidFill>
                      <a:srgbClr val="1A0F5C"/>
                    </a:solidFill>
                  </a:tcPr>
                </a:tc>
                <a:tc>
                  <a:txBody>
                    <a:bodyPr/>
                    <a:lstStyle/>
                    <a:p>
                      <a:r>
                        <a:rPr sz="1250" b="1" i="0">
                          <a:solidFill>
                            <a:srgbClr val="FFFFFF"/>
                          </a:solidFill>
                          <a:latin typeface="Calibri"/>
                        </a:rPr>
                        <a:t>Rs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7299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100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1862"/>
            <a:ext cx="10564063" cy="891540"/>
          </a:xfrm>
          <a:prstGeom prst="rect">
            <a:avLst/>
          </a:prstGeom>
          <a:noFill/>
        </p:spPr>
        <p:txBody>
          <a:bodyPr wrap="square" anchor="ctr" lIns="0" rIns="0" tIns="0" bIns="0">
            <a:spAutoFit/>
          </a:bodyPr>
          <a:lstStyle/>
          <a:p>
            <a:r>
              <a:rPr sz="1500" b="1">
                <a:solidFill>
                  <a:srgbClr val="5B3FD6"/>
                </a:solidFill>
                <a:latin typeface="Calibri"/>
              </a:rPr>
              <a:t>Three denominators, three sentences. </a:t>
            </a:r>
            <a:r>
              <a:rPr sz="1500" b="0" i="0">
                <a:solidFill>
                  <a:srgbClr val="1A1440"/>
                </a:solidFill>
                <a:latin typeface="Calibri"/>
              </a:rPr>
              <a:t>Per peak online hour: Rs 18,810 over 60 is Rs 313.5, Rs 14,520 over 74 is Rs 196.2, down 37 percent. Per driver-week: Rs 18,810 over 6 is Rs 3,135, Rs 14,520 over 6 is Rs 2,420, down 23 percent. Per trip: Rs 18,810 over 114 is Rs 165, Rs 14,520 over 88 is Rs 165, flat.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is the one claim, and which number carries it?</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7" name="Oval 1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same rupees, three stories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picture say what the arithmetic has just said?</a:t>
            </a:r>
          </a:p>
        </p:txBody>
      </p:sp>
      <p:pic>
        <p:nvPicPr>
          <p:cNvPr id="9" name="mermaid diagram" descr="C2_W04_D02_three_denominators_STUDENT.png"/>
          <p:cNvPicPr>
            <a:picLocks noChangeAspect="1"/>
          </p:cNvPicPr>
          <p:nvPr/>
        </p:nvPicPr>
        <p:blipFill>
          <a:blip r:embed="rId4"/>
          <a:stretch>
            <a:fillRect/>
          </a:stretch>
        </p:blipFill>
        <p:spPr>
          <a:xfrm>
            <a:off x="3142000" y="1664208"/>
            <a:ext cx="5907695" cy="2650744"/>
          </a:xfrm>
          <a:prstGeom prst="rect">
            <a:avLst/>
          </a:prstGeom>
        </p:spPr>
      </p:pic>
      <p:sp>
        <p:nvSpPr>
          <p:cNvPr id="10" name="picture caption"/>
          <p:cNvSpPr txBox="1"/>
          <p:nvPr/>
        </p:nvSpPr>
        <p:spPr>
          <a:xfrm>
            <a:off x="530352" y="435152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rows, three ways</a:t>
            </a:r>
          </a:p>
        </p:txBody>
      </p:sp>
      <p:sp>
        <p:nvSpPr>
          <p:cNvPr id="11" name="Rounded Rectangle 10"/>
          <p:cNvSpPr/>
          <p:nvPr/>
        </p:nvSpPr>
        <p:spPr>
          <a:xfrm>
            <a:off x="530352" y="4677664"/>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05680"/>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796536"/>
            <a:ext cx="10564063" cy="447040"/>
          </a:xfrm>
          <a:prstGeom prst="rect">
            <a:avLst/>
          </a:prstGeom>
          <a:noFill/>
        </p:spPr>
        <p:txBody>
          <a:bodyPr wrap="square" anchor="ctr" lIns="0" rIns="0" tIns="0" bIns="0">
            <a:spAutoFit/>
          </a:bodyPr>
          <a:lstStyle/>
          <a:p>
            <a:r>
              <a:rPr sz="1000" b="1">
                <a:solidFill>
                  <a:srgbClr val="5B3FD6"/>
                </a:solidFill>
                <a:latin typeface="Calibri"/>
              </a:rPr>
              <a:t>Three bar pairs on one picture. </a:t>
            </a:r>
            <a:r>
              <a:rPr sz="1000" b="0" i="0">
                <a:solidFill>
                  <a:srgbClr val="1A1440"/>
                </a:solidFill>
                <a:latin typeface="Calibri"/>
              </a:rPr>
              <a:t>Per peak online hour falls by about a third. Per driver-week falls by about a quarter (the twelve rows have the same six drivers both weeks, so the denominator does not move; the full data moves it the other way). Per trip holds at Rs 165, because a trip pays its fare.</a:t>
            </a:r>
          </a:p>
        </p:txBody>
      </p:sp>
      <p:sp>
        <p:nvSpPr>
          <p:cNvPr id="14" name="TextBox 13"/>
          <p:cNvSpPr txBox="1"/>
          <p:nvPr/>
        </p:nvSpPr>
        <p:spPr>
          <a:xfrm>
            <a:off x="530352" y="5472176"/>
            <a:ext cx="11130991" cy="599440"/>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The slide says which denominator it reads before it reads the number.</a:t>
            </a:r>
            <a:r>
              <a:rPr sz="1100" b="0" i="0">
                <a:solidFill>
                  <a:srgbClr val="1A1440"/>
                </a:solidFill>
                <a:latin typeface="Calibri"/>
              </a:rPr>
              <a:t> This is the one rule that stops the three roles from each quoting their favourite number.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is the one claim, and which number carries it?</a:t>
            </a:r>
          </a:p>
        </p:txBody>
      </p:sp>
      <p:sp>
        <p:nvSpPr>
          <p:cNvPr id="17" name="Oval 16"/>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9" name="Oval 18"/>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denominator do you expect?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chapter stages its trap before the data arrives.</a:t>
            </a:r>
          </a:p>
        </p:txBody>
      </p:sp>
      <p:pic>
        <p:nvPicPr>
          <p:cNvPr id="9" name="mermaid diagram" descr="7dca3bda40f92b7e.png"/>
          <p:cNvPicPr>
            <a:picLocks noChangeAspect="1"/>
          </p:cNvPicPr>
          <p:nvPr/>
        </p:nvPicPr>
        <p:blipFill>
          <a:blip r:embed="rId5"/>
          <a:stretch>
            <a:fillRect/>
          </a:stretch>
        </p:blipFill>
        <p:spPr>
          <a:xfrm>
            <a:off x="1150259" y="1682496"/>
            <a:ext cx="3546511" cy="4517136"/>
          </a:xfrm>
          <a:prstGeom prst="rect">
            <a:avLst/>
          </a:prstGeom>
        </p:spPr>
      </p:pic>
      <p:sp>
        <p:nvSpPr>
          <p:cNvPr id="10" name="Rounded Rectangle 9"/>
          <p:cNvSpPr/>
          <p:nvPr/>
        </p:nvSpPr>
        <p:spPr>
          <a:xfrm>
            <a:off x="5761917" y="1956816"/>
            <a:ext cx="5899425"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624840"/>
          </a:xfrm>
          <a:prstGeom prst="rect">
            <a:avLst/>
          </a:prstGeom>
          <a:noFill/>
        </p:spPr>
        <p:txBody>
          <a:bodyPr wrap="square" anchor="ctr" lIns="0" rIns="0" tIns="0" bIns="0">
            <a:spAutoFit/>
          </a:bodyPr>
          <a:lstStyle/>
          <a:p>
            <a:r>
              <a:rPr sz="1500" b="1">
                <a:solidFill>
                  <a:srgbClr val="5B3FD6"/>
                </a:solidFill>
                <a:latin typeface="Calibri"/>
              </a:rPr>
              <a:t>Write your letter down. </a:t>
            </a:r>
            <a:r>
              <a:rPr sz="1500" b="0" i="0">
                <a:solidFill>
                  <a:srgbClr val="1A1440"/>
                </a:solidFill>
                <a:latin typeface="Calibri"/>
              </a:rPr>
              <a:t>The reveal is on the next slide; the one who wrote stays with the one who did not.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is the one claim, and which number carries it?</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7" name="Oval 1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314 falls, Rs 5,817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twelve-week picture show about each denominator?</a:t>
            </a:r>
          </a:p>
        </p:txBody>
      </p:sp>
      <p:pic>
        <p:nvPicPr>
          <p:cNvPr id="9" name="mermaid diagram" descr="C2_W04_D02_denominator_drift_STUDENT.png"/>
          <p:cNvPicPr>
            <a:picLocks noChangeAspect="1"/>
          </p:cNvPicPr>
          <p:nvPr/>
        </p:nvPicPr>
        <p:blipFill>
          <a:blip r:embed="rId4"/>
          <a:stretch>
            <a:fillRect/>
          </a:stretch>
        </p:blipFill>
        <p:spPr>
          <a:xfrm>
            <a:off x="3691665" y="1664208"/>
            <a:ext cx="4808363" cy="2405888"/>
          </a:xfrm>
          <a:prstGeom prst="rect">
            <a:avLst/>
          </a:prstGeom>
        </p:spPr>
      </p:pic>
      <p:sp>
        <p:nvSpPr>
          <p:cNvPr id="10" name="picture caption"/>
          <p:cNvSpPr txBox="1"/>
          <p:nvPr/>
        </p:nvSpPr>
        <p:spPr>
          <a:xfrm>
            <a:off x="530352" y="41066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of the two reads</a:t>
            </a:r>
          </a:p>
        </p:txBody>
      </p:sp>
      <p:sp>
        <p:nvSpPr>
          <p:cNvPr id="11" name="Rounded Rectangle 10"/>
          <p:cNvSpPr/>
          <p:nvPr/>
        </p:nvSpPr>
        <p:spPr>
          <a:xfrm>
            <a:off x="530352" y="44328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5608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551680"/>
            <a:ext cx="10564063" cy="624840"/>
          </a:xfrm>
          <a:prstGeom prst="rect">
            <a:avLst/>
          </a:prstGeom>
          <a:noFill/>
        </p:spPr>
        <p:txBody>
          <a:bodyPr wrap="square" anchor="ctr" lIns="0" rIns="0" tIns="0" bIns="0">
            <a:spAutoFit/>
          </a:bodyPr>
          <a:lstStyle/>
          <a:p>
            <a:r>
              <a:rPr sz="1000" b="1">
                <a:solidFill>
                  <a:srgbClr val="5B3FD6"/>
                </a:solidFill>
                <a:latin typeface="Calibri"/>
              </a:rPr>
              <a:t>Twelve weeks, two lines, one axis each. </a:t>
            </a:r>
            <a:r>
              <a:rPr sz="1000" b="0" i="0">
                <a:solidFill>
                  <a:srgbClr val="1A1440"/>
                </a:solidFill>
                <a:latin typeface="Calibri"/>
              </a:rPr>
              <a:t>Rs per peak online hour drops from about Rs 314 to about Rs 260 after the launch date. Rs per driver-week rises from Rs 5,817 to Rs 5,861, less than one percent, because hours and driver-weeks both rose. The flat per-trip read is drawn in the notebook; here the two reads that disagree are the ones the slide must choose between.</a:t>
            </a:r>
          </a:p>
        </p:txBody>
      </p:sp>
      <p:sp>
        <p:nvSpPr>
          <p:cNvPr id="14" name="Rounded Rectangle 13"/>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honest choice. </a:t>
            </a:r>
            <a:r>
              <a:rPr sz="1000" b="0" i="0">
                <a:solidFill>
                  <a:srgbClr val="1A1440"/>
                </a:solidFill>
                <a:latin typeface="Calibri"/>
              </a:rPr>
              <a:t>Pay the scheme per peak online hour and the number is falling. Pay the scheme per enrolled driver-week and the number is holding. The city head's job is to say which one the scheme pays for.</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is the one claim, and which number carries it?</a:t>
            </a:r>
          </a:p>
        </p:txBody>
      </p:sp>
      <p:sp>
        <p:nvSpPr>
          <p:cNvPr id="19" name="Oval 18"/>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21" name="Oval 20"/>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is partly right, and which part?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a defence under three objections stay honest, and where does the slide bend?</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 and which number carries it?</a:t>
            </a:r>
          </a:p>
        </p:txBody>
      </p:sp>
      <p:sp>
        <p:nvSpPr>
          <p:cNvPr id="11" name="Rounded Rectangle 10"/>
          <p:cNvSpPr/>
          <p:nvPr/>
        </p:nvSpPr>
        <p:spPr>
          <a:xfrm>
            <a:off x="2990088"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is partly right, and which part?</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 and where does it go?</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can the redesign survive one slide?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Defence under objection,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owner of a slide survive three objections and keep every honest line?</a:t>
            </a:r>
          </a:p>
        </p:txBody>
      </p:sp>
      <p:pic>
        <p:nvPicPr>
          <p:cNvPr id="9" name="mermaid diagram" descr="C2_W04_D02_four_moves_STUDENT.png"/>
          <p:cNvPicPr>
            <a:picLocks noChangeAspect="1"/>
          </p:cNvPicPr>
          <p:nvPr/>
        </p:nvPicPr>
        <p:blipFill>
          <a:blip r:embed="rId4"/>
          <a:stretch>
            <a:fillRect/>
          </a:stretch>
        </p:blipFill>
        <p:spPr>
          <a:xfrm>
            <a:off x="2763923" y="1664208"/>
            <a:ext cx="6663848" cy="2033524"/>
          </a:xfrm>
          <a:prstGeom prst="rect">
            <a:avLst/>
          </a:prstGeom>
        </p:spPr>
      </p:pic>
      <p:sp>
        <p:nvSpPr>
          <p:cNvPr id="10" name="picture caption"/>
          <p:cNvSpPr txBox="1"/>
          <p:nvPr/>
        </p:nvSpPr>
        <p:spPr>
          <a:xfrm>
            <a:off x="530352" y="373430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four moves of a defence</a:t>
            </a:r>
          </a:p>
        </p:txBody>
      </p:sp>
      <p:sp>
        <p:nvSpPr>
          <p:cNvPr id="11" name="Rounded Rectangle 10"/>
          <p:cNvSpPr/>
          <p:nvPr/>
        </p:nvSpPr>
        <p:spPr>
          <a:xfrm>
            <a:off x="530352" y="40604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1884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179316"/>
            <a:ext cx="10564063" cy="891540"/>
          </a:xfrm>
          <a:prstGeom prst="rect">
            <a:avLst/>
          </a:prstGeom>
          <a:noFill/>
        </p:spPr>
        <p:txBody>
          <a:bodyPr wrap="square" anchor="ctr" lIns="0" rIns="0" tIns="0" bIns="0">
            <a:spAutoFit/>
          </a:bodyPr>
          <a:lstStyle/>
          <a:p>
            <a:r>
              <a:rPr sz="1500" b="1">
                <a:solidFill>
                  <a:srgbClr val="5B3FD6"/>
                </a:solidFill>
                <a:latin typeface="Calibri"/>
              </a:rPr>
              <a:t>Four moves in order. </a:t>
            </a:r>
            <a:r>
              <a:rPr sz="1500" b="0" i="0">
                <a:solidFill>
                  <a:srgbClr val="1A1440"/>
                </a:solidFill>
                <a:latin typeface="Calibri"/>
              </a:rPr>
              <a:t>Restate the objection, in your own words, until the owner agrees. Answer from the evidence on the slide, by line. Concede what is true, in plain words, without surrendering the claim. Say what would change your mind, naming the fact that would move you.</a:t>
            </a:r>
          </a:p>
        </p:txBody>
      </p:sp>
      <p:sp>
        <p:nvSpPr>
          <p:cNvPr id="14" name="TextBox 13"/>
          <p:cNvSpPr txBox="1"/>
          <p:nvPr/>
        </p:nvSpPr>
        <p:spPr>
          <a:xfrm>
            <a:off x="530352" y="5299456"/>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loser can repeat the slide accurately when every move happens in sight of the room.</a:t>
            </a:r>
            <a:r>
              <a:rPr sz="1600" b="0" i="0">
                <a:solidFill>
                  <a:srgbClr val="1A1440"/>
                </a:solidFill>
                <a:latin typeface="Calibri"/>
              </a:rPr>
              <a:t> Nobody wins by repeating the claim louder. Nobody wins by moving a caveat into the appendix.</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17" name="Oval 16"/>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objection is partly right, and which part?</a:t>
            </a:r>
          </a:p>
        </p:txBody>
      </p:sp>
      <p:sp>
        <p:nvSpPr>
          <p:cNvPr id="19" name="Oval 18"/>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three roles return, with Monday's objections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role say about the redesign, and which part is partly right?</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 OPERATIONS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"Drivers will log off"</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Pay per completed trip and the honest majority stops staying online in dead windows; the idle tail is already gone</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"The guarantee is the acquisition story"</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Every hoarding reads 'Rs 300 an hour'; cut it and the sign-up curve breaks</a:t>
            </a:r>
          </a:p>
        </p:txBody>
      </p:sp>
      <p:sp>
        <p:nvSpPr>
          <p:cNvPr id="21" name="Rounded Rectangle 20"/>
          <p:cNvSpPr/>
          <p:nvPr/>
        </p:nvSpPr>
        <p:spPr>
          <a:xfrm>
            <a:off x="807293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 is just the monsoon"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monsoon ended inside the window; demand fell with it; the scheme has not had a fair chance</a:t>
            </a:r>
          </a:p>
        </p:txBody>
      </p:sp>
      <p:sp>
        <p:nvSpPr>
          <p:cNvPr id="27" name="Rounded Rectangle 26"/>
          <p:cNvSpPr/>
          <p:nvPr/>
        </p:nvSpPr>
        <p:spPr>
          <a:xfrm>
            <a:off x="530352" y="43352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6328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54144"/>
            <a:ext cx="10564063" cy="624840"/>
          </a:xfrm>
          <a:prstGeom prst="rect">
            <a:avLst/>
          </a:prstGeom>
          <a:noFill/>
        </p:spPr>
        <p:txBody>
          <a:bodyPr wrap="square" anchor="ctr" lIns="0" rIns="0" tIns="0" bIns="0">
            <a:spAutoFit/>
          </a:bodyPr>
          <a:lstStyle/>
          <a:p>
            <a:r>
              <a:rPr sz="1500" b="1">
                <a:solidFill>
                  <a:srgbClr val="5B3FD6"/>
                </a:solidFill>
                <a:latin typeface="Calibri"/>
              </a:rPr>
              <a:t>The city head reads these in order. </a:t>
            </a:r>
            <a:r>
              <a:rPr sz="1500" b="0" i="0">
                <a:solidFill>
                  <a:srgbClr val="1A1440"/>
                </a:solidFill>
                <a:latin typeface="Calibri"/>
              </a:rPr>
              <a:t>Each one is partly right. Each one's partly-right part is a line the slide must concede in sight of the room.</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32" name="Oval 31"/>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objection is partly right, and which part?</a:t>
            </a:r>
          </a:p>
        </p:txBody>
      </p:sp>
      <p:sp>
        <p:nvSpPr>
          <p:cNvPr id="34" name="Oval 3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partly-right part of each objection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concede, and where does the evidence land?</a:t>
            </a:r>
          </a:p>
        </p:txBody>
      </p:sp>
      <p:graphicFrame>
        <p:nvGraphicFramePr>
          <p:cNvPr id="9" name="Table 8"/>
          <p:cNvGraphicFramePr>
            <a:graphicFrameLocks noGrp="1"/>
          </p:cNvGraphicFramePr>
          <p:nvPr/>
        </p:nvGraphicFramePr>
        <p:xfrm>
          <a:off x="530352" y="1956816"/>
          <a:ext cx="11130989" cy="2584704"/>
        </p:xfrm>
        <a:graphic>
          <a:graphicData uri="http://schemas.openxmlformats.org/drawingml/2006/table">
            <a:tbl>
              <a:tblPr firstRow="0" bandRow="0">
                <a:tableStyleId>{2D5ABB26-0587-4C30-8999-92F81FD0307C}</a:tableStyleId>
              </a:tblPr>
              <a:tblGrid>
                <a:gridCol w="1080993"/>
                <a:gridCol w="2337798"/>
                <a:gridCol w="3856099"/>
                <a:gridCol w="3856099"/>
              </a:tblGrid>
              <a:tr h="335280">
                <a:tc>
                  <a:txBody>
                    <a:bodyPr/>
                    <a:lstStyle/>
                    <a:p>
                      <a:r>
                        <a:rPr sz="1250" b="1" i="0">
                          <a:solidFill>
                            <a:srgbClr val="FFFFFF"/>
                          </a:solidFill>
                          <a:latin typeface="Calibri"/>
                        </a:rPr>
                        <a:t>Role</a:t>
                      </a:r>
                    </a:p>
                  </a:txBody>
                  <a:tcPr marL="101600" marR="101600" marT="38100" marB="38100" anchor="ctr">
                    <a:solidFill>
                      <a:srgbClr val="1A0F5C"/>
                    </a:solidFill>
                  </a:tcPr>
                </a:tc>
                <a:tc>
                  <a:txBody>
                    <a:bodyPr/>
                    <a:lstStyle/>
                    <a:p>
                      <a:r>
                        <a:rPr sz="1250" b="1" i="0">
                          <a:solidFill>
                            <a:srgbClr val="FFFFFF"/>
                          </a:solidFill>
                          <a:latin typeface="Calibri"/>
                        </a:rPr>
                        <a:t>What they say</a:t>
                      </a:r>
                    </a:p>
                  </a:txBody>
                  <a:tcPr marL="101600" marR="101600" marT="38100" marB="38100" anchor="ctr">
                    <a:solidFill>
                      <a:srgbClr val="1A0F5C"/>
                    </a:solidFill>
                  </a:tcPr>
                </a:tc>
                <a:tc>
                  <a:txBody>
                    <a:bodyPr/>
                    <a:lstStyle/>
                    <a:p>
                      <a:r>
                        <a:rPr sz="1250" b="1" i="0">
                          <a:solidFill>
                            <a:srgbClr val="FFFFFF"/>
                          </a:solidFill>
                          <a:latin typeface="Calibri"/>
                        </a:rPr>
                        <a:t>Where they are partly right</a:t>
                      </a:r>
                    </a:p>
                  </a:txBody>
                  <a:tcPr marL="101600" marR="101600" marT="38100" marB="38100" anchor="ctr">
                    <a:solidFill>
                      <a:srgbClr val="1A0F5C"/>
                    </a:solidFill>
                  </a:tcPr>
                </a:tc>
                <a:tc>
                  <a:txBody>
                    <a:bodyPr/>
                    <a:lstStyle/>
                    <a:p>
                      <a:r>
                        <a:rPr sz="1250" b="1" i="0">
                          <a:solidFill>
                            <a:srgbClr val="FFFFFF"/>
                          </a:solidFill>
                          <a:latin typeface="Calibri"/>
                        </a:rPr>
                        <a:t>What the slide answers</a:t>
                      </a:r>
                    </a:p>
                  </a:txBody>
                  <a:tcPr marL="101600" marR="101600" marT="38100" marB="38100" anchor="ctr">
                    <a:solidFill>
                      <a:srgbClr val="1A0F5C"/>
                    </a:solidFill>
                  </a:tcPr>
                </a:tc>
              </a:tr>
              <a:tr h="749808">
                <a:tc>
                  <a:txBody>
                    <a:bodyPr/>
                    <a:lstStyle/>
                    <a:p>
                      <a:r>
                        <a:rPr sz="1200" b="0" i="0">
                          <a:solidFill>
                            <a:srgbClr val="1A1440"/>
                          </a:solidFill>
                          <a:latin typeface="Calibri"/>
                        </a:rPr>
                        <a:t>Driver operations</a:t>
                      </a:r>
                    </a:p>
                  </a:txBody>
                  <a:tcPr marL="101600" marR="101600" marT="38100" marB="38100" anchor="ctr">
                    <a:solidFill>
                      <a:srgbClr val="FFFFFF"/>
                    </a:solidFill>
                  </a:tcPr>
                </a:tc>
                <a:tc>
                  <a:txBody>
                    <a:bodyPr/>
                    <a:lstStyle/>
                    <a:p>
                      <a:r>
                        <a:rPr sz="1200" b="0" i="0">
                          <a:solidFill>
                            <a:srgbClr val="1A1440"/>
                          </a:solidFill>
                          <a:latin typeface="Calibri"/>
                        </a:rPr>
                        <a:t>"Drivers will log off"</a:t>
                      </a:r>
                    </a:p>
                  </a:txBody>
                  <a:tcPr marL="101600" marR="101600" marT="38100" marB="38100" anchor="ctr">
                    <a:solidFill>
                      <a:srgbClr val="FFFFFF"/>
                    </a:solidFill>
                  </a:tcPr>
                </a:tc>
                <a:tc>
                  <a:txBody>
                    <a:bodyPr/>
                    <a:lstStyle/>
                    <a:p>
                      <a:r>
                        <a:rPr sz="1200" b="0" i="0">
                          <a:solidFill>
                            <a:srgbClr val="1A1440"/>
                          </a:solidFill>
                          <a:latin typeface="Calibri"/>
                        </a:rPr>
                        <a:t>True for the idle tail: Rs 1.159 crore of top-up went to driver-weeks under 0.5 acceptance, almost all in outer zones</a:t>
                      </a:r>
                    </a:p>
                  </a:txBody>
                  <a:tcPr marL="101600" marR="101600" marT="38100" marB="38100" anchor="ctr">
                    <a:solidFill>
                      <a:srgbClr val="FFFFFF"/>
                    </a:solidFill>
                  </a:tcPr>
                </a:tc>
                <a:tc>
                  <a:txBody>
                    <a:bodyPr/>
                    <a:lstStyle/>
                    <a:p>
                      <a:r>
                        <a:rPr sz="1200" b="0" i="0">
                          <a:solidFill>
                            <a:srgbClr val="1A1440"/>
                          </a:solidFill>
                          <a:latin typeface="Calibri"/>
                        </a:rPr>
                        <a:t>The honest majority still has the floor; the guardrail is acceptance, so the floor stays for drivers who accept</a:t>
                      </a:r>
                    </a:p>
                  </a:txBody>
                  <a:tcPr marL="101600" marR="101600" marT="38100" marB="38100" anchor="ctr">
                    <a:solidFill>
                      <a:srgbClr val="FFFFFF"/>
                    </a:solidFill>
                  </a:tcPr>
                </a:tc>
              </a:tr>
              <a:tr h="749808">
                <a:tc>
                  <a:txBody>
                    <a:bodyPr/>
                    <a:lstStyle/>
                    <a:p>
                      <a:r>
                        <a:rPr sz="1200" b="0" i="0">
                          <a:solidFill>
                            <a:srgbClr val="1A1440"/>
                          </a:solidFill>
                          <a:latin typeface="Calibri"/>
                        </a:rPr>
                        <a:t>Marketing</a:t>
                      </a:r>
                    </a:p>
                  </a:txBody>
                  <a:tcPr marL="101600" marR="101600" marT="38100" marB="38100" anchor="ctr">
                    <a:solidFill>
                      <a:srgbClr val="F4F2FA"/>
                    </a:solidFill>
                  </a:tcPr>
                </a:tc>
                <a:tc>
                  <a:txBody>
                    <a:bodyPr/>
                    <a:lstStyle/>
                    <a:p>
                      <a:r>
                        <a:rPr sz="1200" b="0" i="0">
                          <a:solidFill>
                            <a:srgbClr val="1A1440"/>
                          </a:solidFill>
                          <a:latin typeface="Calibri"/>
                        </a:rPr>
                        <a:t>"The guarantee is the acquisition story"</a:t>
                      </a:r>
                    </a:p>
                  </a:txBody>
                  <a:tcPr marL="101600" marR="101600" marT="38100" marB="38100" anchor="ctr">
                    <a:solidFill>
                      <a:srgbClr val="F4F2FA"/>
                    </a:solidFill>
                  </a:tcPr>
                </a:tc>
                <a:tc>
                  <a:txBody>
                    <a:bodyPr/>
                    <a:lstStyle/>
                    <a:p>
                      <a:r>
                        <a:rPr sz="1200" b="0" i="0">
                          <a:solidFill>
                            <a:srgbClr val="1A1440"/>
                          </a:solidFill>
                          <a:latin typeface="Calibri"/>
                        </a:rPr>
                        <a:t>True that the hoarding sells the floor; 140 drivers joined in September</a:t>
                      </a:r>
                    </a:p>
                  </a:txBody>
                  <a:tcPr marL="101600" marR="101600" marT="38100" marB="38100" anchor="ctr">
                    <a:solidFill>
                      <a:srgbClr val="F4F2FA"/>
                    </a:solidFill>
                  </a:tcPr>
                </a:tc>
                <a:tc>
                  <a:txBody>
                    <a:bodyPr/>
                    <a:lstStyle/>
                    <a:p>
                      <a:r>
                        <a:rPr sz="1200" b="0" i="0">
                          <a:solidFill>
                            <a:srgbClr val="1A1440"/>
                          </a:solidFill>
                          <a:latin typeface="Calibri"/>
                        </a:rPr>
                        <a:t>The slide keeps the floor as a sign-up story; the redesign changes the pay unit, not the acquisition line</a:t>
                      </a:r>
                    </a:p>
                  </a:txBody>
                  <a:tcPr marL="101600" marR="101600" marT="38100" marB="38100" anchor="ctr">
                    <a:solidFill>
                      <a:srgbClr val="F4F2FA"/>
                    </a:solidFill>
                  </a:tcPr>
                </a:tc>
              </a:tr>
              <a:tr h="749808">
                <a:tc>
                  <a:txBody>
                    <a:bodyPr/>
                    <a:lstStyle/>
                    <a:p>
                      <a:r>
                        <a:rPr sz="1200" b="0" i="0">
                          <a:solidFill>
                            <a:srgbClr val="1A1440"/>
                          </a:solidFill>
                          <a:latin typeface="Calibri"/>
                        </a:rPr>
                        <a:t>Finance partner</a:t>
                      </a:r>
                    </a:p>
                  </a:txBody>
                  <a:tcPr marL="101600" marR="101600" marT="38100" marB="38100" anchor="ctr">
                    <a:solidFill>
                      <a:srgbClr val="FFFFFF"/>
                    </a:solidFill>
                  </a:tcPr>
                </a:tc>
                <a:tc>
                  <a:txBody>
                    <a:bodyPr/>
                    <a:lstStyle/>
                    <a:p>
                      <a:r>
                        <a:rPr sz="1200" b="0" i="0">
                          <a:solidFill>
                            <a:srgbClr val="1A1440"/>
                          </a:solidFill>
                          <a:latin typeface="Calibri"/>
                        </a:rPr>
                        <a:t>"The fall is just the monsoon"</a:t>
                      </a:r>
                    </a:p>
                  </a:txBody>
                  <a:tcPr marL="101600" marR="101600" marT="38100" marB="38100" anchor="ctr">
                    <a:solidFill>
                      <a:srgbClr val="FFFFFF"/>
                    </a:solidFill>
                  </a:tcPr>
                </a:tc>
                <a:tc>
                  <a:txBody>
                    <a:bodyPr/>
                    <a:lstStyle/>
                    <a:p>
                      <a:r>
                        <a:rPr sz="1200" b="0" i="0">
                          <a:solidFill>
                            <a:srgbClr val="1A1440"/>
                          </a:solidFill>
                          <a:latin typeface="Calibri"/>
                        </a:rPr>
                        <a:t>True inside the first after week; demand did ease</a:t>
                      </a:r>
                    </a:p>
                  </a:txBody>
                  <a:tcPr marL="101600" marR="101600" marT="38100" marB="38100" anchor="ctr">
                    <a:solidFill>
                      <a:srgbClr val="FFFFFF"/>
                    </a:solidFill>
                  </a:tcPr>
                </a:tc>
                <a:tc>
                  <a:txBody>
                    <a:bodyPr/>
                    <a:lstStyle/>
                    <a:p>
                      <a:r>
                        <a:rPr sz="1200" b="0" i="0">
                          <a:solidFill>
                            <a:srgbClr val="1A1440"/>
                          </a:solidFill>
                          <a:latin typeface="Calibri"/>
                        </a:rPr>
                        <a:t>The L4 cuts: the fall survives among drivers present in both windows, and in weekday peaks only, and after the monsoon-ended cut</a:t>
                      </a:r>
                    </a:p>
                  </a:txBody>
                  <a:tcPr marL="101600" marR="101600" marT="38100" marB="38100" anchor="ctr">
                    <a:solidFill>
                      <a:srgbClr val="FFFFFF"/>
                    </a:solidFill>
                  </a:tcPr>
                </a:tc>
              </a:tr>
            </a:tbl>
          </a:graphicData>
        </a:graphic>
      </p:graphicFrame>
      <p:sp>
        <p:nvSpPr>
          <p:cNvPr id="10" name="Rounded Rectangle 9"/>
          <p:cNvSpPr/>
          <p:nvPr/>
        </p:nvSpPr>
        <p:spPr>
          <a:xfrm>
            <a:off x="530352" y="479755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556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16424"/>
            <a:ext cx="10564063" cy="891540"/>
          </a:xfrm>
          <a:prstGeom prst="rect">
            <a:avLst/>
          </a:prstGeom>
          <a:noFill/>
        </p:spPr>
        <p:txBody>
          <a:bodyPr wrap="square" anchor="ctr" lIns="0" rIns="0" tIns="0" bIns="0">
            <a:spAutoFit/>
          </a:bodyPr>
          <a:lstStyle/>
          <a:p>
            <a:r>
              <a:rPr sz="1500" b="1">
                <a:solidFill>
                  <a:srgbClr val="5B3FD6"/>
                </a:solidFill>
                <a:latin typeface="Calibri"/>
              </a:rPr>
              <a:t>Each row is one appendix page. </a:t>
            </a:r>
            <a:r>
              <a:rPr sz="1500" b="0" i="0">
                <a:solidFill>
                  <a:srgbClr val="1A1440"/>
                </a:solidFill>
                <a:latin typeface="Calibri"/>
              </a:rPr>
              <a:t>The question in the "What they say" column is the heading of that role's appendix slide, so when the role asks on Thursday, the city head's analyst turns to a page that answers that question.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15" name="Oval 14"/>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objection is partly right, and which part?</a:t>
            </a:r>
          </a:p>
        </p:txBody>
      </p:sp>
      <p:sp>
        <p:nvSpPr>
          <p:cNvPr id="17" name="Oval 1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studio's first round: three minutes, three roles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group present the slide, and what does the scorer hold?</a:t>
            </a:r>
          </a:p>
        </p:txBody>
      </p:sp>
      <p:sp>
        <p:nvSpPr>
          <p:cNvPr id="9" name="TextBox 8"/>
          <p:cNvSpPr txBox="1"/>
          <p:nvPr/>
        </p:nvSpPr>
        <p:spPr>
          <a:xfrm>
            <a:off x="530352" y="1956816"/>
            <a:ext cx="11130991" cy="364134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Three per group</a:t>
            </a:r>
            <a:r>
              <a:rPr sz="1600" b="0" i="0">
                <a:solidFill>
                  <a:srgbClr val="1A1440"/>
                </a:solidFill>
                <a:latin typeface="Calibri"/>
              </a:rPr>
              <a:t>: a presenter (five minutes with one slide), an objector (reads one role card), a scorer (holds the four-moves card). Three rounds of seven minutes, so each learner takes each seat once in the morning. The scorer marks the four moves and never the final number.</a:t>
            </a:r>
          </a:p>
          <a:p>
            <a:pPr>
              <a:spcAft>
                <a:spcPts val="800"/>
              </a:spcAft>
            </a:pPr>
            <a:r>
              <a:rPr sz="1600" b="1" i="0">
                <a:solidFill>
                  <a:srgbClr val="1A1440"/>
                </a:solidFill>
                <a:latin typeface="Calibri"/>
              </a:rPr>
              <a:t>What a studio defender is listening for</a:t>
            </a:r>
            <a:r>
              <a:rPr sz="1600" b="0" i="0">
                <a:solidFill>
                  <a:srgbClr val="1A1440"/>
                </a:solidFill>
                <a:latin typeface="Calibri"/>
              </a:rPr>
              <a:t>, in the scorer's card:</a:t>
            </a:r>
          </a:p>
          <a:p>
            <a:pPr>
              <a:spcAft>
                <a:spcPts val="800"/>
              </a:spcAft>
            </a:pPr>
            <a:r>
              <a:rPr sz="1600" b="0" i="0">
                <a:solidFill>
                  <a:srgbClr val="1A1440"/>
                </a:solidFill>
                <a:latin typeface="Calibri"/>
              </a:rPr>
              <a:t>- Did the presenter restate the objection in their own words before answering?</a:t>
            </a:r>
          </a:p>
          <a:p>
            <a:pPr>
              <a:spcAft>
                <a:spcPts val="800"/>
              </a:spcAft>
            </a:pPr>
            <a:r>
              <a:rPr sz="1600" b="0" i="0">
                <a:solidFill>
                  <a:srgbClr val="1A1440"/>
                </a:solidFill>
                <a:latin typeface="Calibri"/>
              </a:rPr>
              <a:t>- Did the answer name the line of the slide it rested on?</a:t>
            </a:r>
          </a:p>
          <a:p>
            <a:pPr>
              <a:spcAft>
                <a:spcPts val="800"/>
              </a:spcAft>
            </a:pPr>
            <a:r>
              <a:rPr sz="1600" b="0" i="0">
                <a:solidFill>
                  <a:srgbClr val="1A1440"/>
                </a:solidFill>
                <a:latin typeface="Calibri"/>
              </a:rPr>
              <a:t>- Did they concede the part that is true, in plain words?</a:t>
            </a:r>
          </a:p>
          <a:p>
            <a:pPr>
              <a:spcAft>
                <a:spcPts val="800"/>
              </a:spcAft>
            </a:pPr>
            <a:r>
              <a:rPr sz="1600" b="0" i="0">
                <a:solidFill>
                  <a:srgbClr val="1A1440"/>
                </a:solidFill>
                <a:latin typeface="Calibri"/>
              </a:rPr>
              <a:t>- Did they say what would change their mind?</a:t>
            </a:r>
          </a:p>
          <a:p>
            <a:pPr>
              <a:spcAft>
                <a:spcPts val="800"/>
              </a:spcAft>
            </a:pPr>
            <a:r>
              <a:rPr sz="1600" b="1" i="0">
                <a:solidFill>
                  <a:srgbClr val="1A1440"/>
                </a:solidFill>
                <a:latin typeface="Calibri"/>
              </a:rPr>
              <a:t>The trainer models one defence first</a:t>
            </a:r>
            <a:r>
              <a:rPr sz="1600" b="0" i="0">
                <a:solidFill>
                  <a:srgbClr val="1A1440"/>
                </a:solidFill>
                <a:latin typeface="Calibri"/>
              </a:rPr>
              <a:t>, conceding on purpose, so the room sees what the shape looks like before trying it.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12" name="Oval 11"/>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objection is partly right, and which part?</a:t>
            </a:r>
          </a:p>
        </p:txBody>
      </p:sp>
      <p:sp>
        <p:nvSpPr>
          <p:cNvPr id="14" name="Oval 1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studio's mid-point: two patterns that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groups do that costs them the slide?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Two failures the scorer watches for. </a:t>
            </a:r>
            <a:r>
              <a:rPr sz="1500" b="0" i="0">
                <a:solidFill>
                  <a:srgbClr val="1A1440"/>
                </a:solidFill>
                <a:latin typeface="Calibri"/>
              </a:rPr>
              <a:t>The retreat: a presenter concedes everything after the first objection and loses the claim; the room cannot tell what the slide was about. The over-claim: a presenter repeats the claim louder when challenged, never conceding; the loser gives up on hearing anything new.</a:t>
            </a:r>
          </a:p>
        </p:txBody>
      </p:sp>
      <p:sp>
        <p:nvSpPr>
          <p:cNvPr id="12" name="TextBox 11"/>
          <p:cNvSpPr txBox="1"/>
          <p:nvPr/>
        </p:nvSpPr>
        <p:spPr>
          <a:xfrm>
            <a:off x="530352" y="3195828"/>
            <a:ext cx="11130991" cy="1654048"/>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One hint fits each</a:t>
            </a:r>
            <a:r>
              <a:rPr sz="1600" b="0" i="0">
                <a:solidFill>
                  <a:srgbClr val="1A1440"/>
                </a:solidFill>
                <a:latin typeface="Calibri"/>
              </a:rPr>
              <a:t>:</a:t>
            </a:r>
          </a:p>
          <a:p>
            <a:pPr>
              <a:spcAft>
                <a:spcPts val="800"/>
              </a:spcAft>
            </a:pPr>
            <a:r>
              <a:rPr sz="1600" b="0" i="0">
                <a:solidFill>
                  <a:srgbClr val="1A1440"/>
                </a:solidFill>
                <a:latin typeface="Calibri"/>
              </a:rPr>
              <a:t>- To the presenter who retreats, ask: "Which line of your evidence did the objection touch?"</a:t>
            </a:r>
          </a:p>
          <a:p>
            <a:pPr>
              <a:spcAft>
                <a:spcPts val="800"/>
              </a:spcAft>
            </a:pPr>
            <a:r>
              <a:rPr sz="1600" b="0" i="0">
                <a:solidFill>
                  <a:srgbClr val="1A1440"/>
                </a:solidFill>
                <a:latin typeface="Calibri"/>
              </a:rPr>
              <a:t>- To the presenter who over-claims, ask: "What would change your mind?"</a:t>
            </a:r>
          </a:p>
          <a:p>
            <a:pPr>
              <a:spcAft>
                <a:spcPts val="800"/>
              </a:spcAft>
            </a:pPr>
            <a:r>
              <a:rPr sz="1600" b="0" i="0">
                <a:solidFill>
                  <a:srgbClr val="1A1440"/>
                </a:solidFill>
                <a:latin typeface="Calibri"/>
              </a:rPr>
              <a:t>Both are moves three and four of the shape; both appear on the four-moves card.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15" name="Oval 14"/>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objection is partly right, and which part?</a:t>
            </a:r>
          </a:p>
        </p:txBody>
      </p:sp>
      <p:sp>
        <p:nvSpPr>
          <p:cNvPr id="17" name="Oval 1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 and where does it go?</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slide, and where does it go?</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the appendix hold what the four moves leave behind, without hiding it?</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 and which number carries it?</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is partly right, and which part?</a:t>
            </a:r>
          </a:p>
        </p:txBody>
      </p:sp>
      <p:sp>
        <p:nvSpPr>
          <p:cNvPr id="12" name="Rounded Rectangle 11"/>
          <p:cNvSpPr/>
          <p:nvPr/>
        </p:nvSpPr>
        <p:spPr>
          <a:xfrm>
            <a:off x="524865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slide, and where does it go?</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can the redesign survive one slide?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Amazon's six-page memo, the opposite stance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company that bans slides read a memo in silence?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Amazon, 2017 letter to shareholders. </a:t>
            </a:r>
            <a:r>
              <a:rPr sz="1500" b="0" i="0">
                <a:solidFill>
                  <a:srgbClr val="1A1440"/>
                </a:solidFill>
                <a:latin typeface="Calibri"/>
              </a:rPr>
              <a:t>Jeff Bezos wrote: no PowerPoint-style presentations in meetings. In their place, a six-page memo written by the owner of the decision, read by the room in silence for the first fifteen minutes of the meeting.</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The memo's argument. </a:t>
            </a:r>
            <a:r>
              <a:rPr sz="1500" b="0" i="0">
                <a:solidFill>
                  <a:srgbClr val="1A1440"/>
                </a:solidFill>
                <a:latin typeface="Calibri"/>
              </a:rPr>
              <a:t>Writing in full sentences forces thinking that bullets hide. Reading in silence makes every participant start from the same baseline, which a presenter's voice cannot.</a:t>
            </a:r>
          </a:p>
        </p:txBody>
      </p:sp>
      <p:sp>
        <p:nvSpPr>
          <p:cNvPr id="15" name="TextBox 14"/>
          <p:cNvSpPr txBox="1"/>
          <p:nvPr/>
        </p:nvSpPr>
        <p:spPr>
          <a:xfrm>
            <a:off x="530352" y="4168139"/>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For a city head who reads a slide in five minutes, not fifteen</a:t>
            </a:r>
            <a:r>
              <a:rPr sz="1600" b="0" i="0">
                <a:solidFill>
                  <a:srgbClr val="1A1440"/>
                </a:solidFill>
                <a:latin typeface="Calibri"/>
              </a:rPr>
              <a:t>, the lesson is the opposite: every bullet earns its place because the reader will not read a sentence that is not on the page.</a:t>
            </a:r>
          </a:p>
        </p:txBody>
      </p:sp>
      <p:sp>
        <p:nvSpPr>
          <p:cNvPr id="16" name="Rounded Rectangle 15"/>
          <p:cNvSpPr/>
          <p:nvPr/>
        </p:nvSpPr>
        <p:spPr>
          <a:xfrm>
            <a:off x="530352" y="5068315"/>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5068315"/>
            <a:ext cx="10820095" cy="467359"/>
          </a:xfrm>
          <a:prstGeom prst="rect">
            <a:avLst/>
          </a:prstGeom>
          <a:noFill/>
        </p:spPr>
        <p:txBody>
          <a:bodyPr wrap="square" anchor="t" lIns="0" rIns="0" tIns="0" bIns="0">
            <a:spAutoFit/>
          </a:bodyPr>
          <a:lstStyle/>
          <a:p>
            <a:r>
              <a:rPr sz="1600" b="0" i="1">
                <a:solidFill>
                  <a:srgbClr val="1A0F5C"/>
                </a:solidFill>
                <a:latin typeface="Georgia"/>
              </a:rPr>
              <a:t>*Source: Amazon shareholder letter, 2017; the memo convention. R2 id T1.*</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20" name="Oval 19"/>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22" name="Oval 21"/>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431536"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 and where does it go?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appendix drawer, one page per role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behind the slide, and in what order?</a:t>
            </a:r>
          </a:p>
        </p:txBody>
      </p:sp>
      <p:pic>
        <p:nvPicPr>
          <p:cNvPr id="9" name="mermaid diagram" descr="4fce0308007f01f3.png"/>
          <p:cNvPicPr>
            <a:picLocks noChangeAspect="1"/>
          </p:cNvPicPr>
          <p:nvPr/>
        </p:nvPicPr>
        <p:blipFill>
          <a:blip r:embed="rId5"/>
          <a:stretch>
            <a:fillRect/>
          </a:stretch>
        </p:blipFill>
        <p:spPr>
          <a:xfrm>
            <a:off x="3029789" y="1664208"/>
            <a:ext cx="613211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Each appendix page is one question's answer.</a:t>
            </a:r>
            <a:r>
              <a:rPr sz="1600" b="0" i="0">
                <a:solidFill>
                  <a:srgbClr val="1A1440"/>
                </a:solidFill>
                <a:latin typeface="Calibri"/>
              </a:rPr>
              <a:t> The question is the heading. The evidence sits beneath it. The caveat is on the page where it belongs, not hidden; if a caveat is important enough that the role will ask about it, moving it to the appendix is dishonest.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5" name="Oval 14"/>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 and where does it go?</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studio's second round: roles swapped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sits in the objector's seat and defends their old slide?</a:t>
            </a:r>
          </a:p>
        </p:txBody>
      </p:sp>
      <p:sp>
        <p:nvSpPr>
          <p:cNvPr id="9" name="TextBox 8"/>
          <p:cNvSpPr txBox="1"/>
          <p:nvPr/>
        </p:nvSpPr>
        <p:spPr>
          <a:xfrm>
            <a:off x="530352" y="1956816"/>
            <a:ext cx="11130991" cy="2649728"/>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group holds the same slide</a:t>
            </a:r>
            <a:r>
              <a:rPr sz="1600" b="0" i="0">
                <a:solidFill>
                  <a:srgbClr val="1A1440"/>
                </a:solidFill>
                <a:latin typeface="Calibri"/>
              </a:rPr>
              <a:t>, but the three learners swap roles. The presenter from round one becomes the objector in round two. The objector reads the role card that most argued against the slide they built. The scorer rotates to the third learner.</a:t>
            </a:r>
          </a:p>
          <a:p>
            <a:pPr>
              <a:spcAft>
                <a:spcPts val="800"/>
              </a:spcAft>
            </a:pPr>
            <a:r>
              <a:rPr sz="1600" b="1" i="0">
                <a:solidFill>
                  <a:srgbClr val="1A1440"/>
                </a:solidFill>
                <a:latin typeface="Calibri"/>
              </a:rPr>
              <a:t>The second round's test</a:t>
            </a:r>
            <a:r>
              <a:rPr sz="1600" b="0" i="0">
                <a:solidFill>
                  <a:srgbClr val="1A1440"/>
                </a:solidFill>
                <a:latin typeface="Calibri"/>
              </a:rPr>
              <a:t>: a presenter can only defend their slide well when they have sat in every objector's chair. By round two the room has heard every objection three times; the defence is now the moves, not the slide.</a:t>
            </a:r>
          </a:p>
          <a:p>
            <a:pPr>
              <a:spcAft>
                <a:spcPts val="800"/>
              </a:spcAft>
            </a:pPr>
            <a:r>
              <a:rPr sz="1600" b="1" i="0">
                <a:solidFill>
                  <a:srgbClr val="1A1440"/>
                </a:solidFill>
                <a:latin typeface="Calibri"/>
              </a:rPr>
              <a:t>Rotation</a:t>
            </a:r>
            <a:r>
              <a:rPr sz="1600" b="0" i="0">
                <a:solidFill>
                  <a:srgbClr val="1A1440"/>
                </a:solidFill>
                <a:latin typeface="Calibri"/>
              </a:rPr>
              <a:t>: three rounds of seven minutes in round one, three of seven minutes in round two, with two minutes of regroup between rounds. Six minutes of scoring at the end.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12" name="Oval 1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4" name="Oval 13"/>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 and where does it go?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gallery: slides on the wall, voted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titles would a city head actually act on?</a:t>
            </a:r>
          </a:p>
        </p:txBody>
      </p:sp>
      <p:sp>
        <p:nvSpPr>
          <p:cNvPr id="9" name="TextBox 8"/>
          <p:cNvSpPr txBox="1"/>
          <p:nvPr/>
        </p:nvSpPr>
        <p:spPr>
          <a:xfrm>
            <a:off x="530352" y="1956816"/>
            <a:ext cx="11130991" cy="226364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studio</a:t>
            </a:r>
            <a:r>
              <a:rPr sz="1600" b="0" i="0">
                <a:solidFill>
                  <a:srgbClr val="1A1440"/>
                </a:solidFill>
                <a:latin typeface="Calibri"/>
              </a:rPr>
              <a:t>, every group pins its final slide on the wall. The room walks the gallery for five minutes. Each learner holds three dots. One dot on the title that most clearly states a claim a city head could act on. One dot on the appendix page that most clearly answers its role's question. One dot on the slide whose caveat sits most clearly in sight.</a:t>
            </a:r>
          </a:p>
          <a:p>
            <a:pPr>
              <a:spcAft>
                <a:spcPts val="800"/>
              </a:spcAft>
            </a:pPr>
            <a:r>
              <a:rPr sz="1600" b="1" i="0">
                <a:solidFill>
                  <a:srgbClr val="1A1440"/>
                </a:solidFill>
                <a:latin typeface="Calibri"/>
              </a:rPr>
              <a:t>Two patterns the trainer watches</a:t>
            </a:r>
            <a:r>
              <a:rPr sz="1600" b="0" i="0">
                <a:solidFill>
                  <a:srgbClr val="1A1440"/>
                </a:solidFill>
                <a:latin typeface="Calibri"/>
              </a:rPr>
              <a:t>: a slide the room votes highly on whose claim is still a topic ("Peak scheme analysis"); a slide the room votes highly on whose caveat has been moved to the appendix. Both are examples for the solution discussion that closes the morning.</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12" name="Oval 1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4" name="Oval 13"/>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 and where does it go?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morning closes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room earned by the end of chapter 3?</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Three things. </a:t>
            </a:r>
            <a:r>
              <a:rPr sz="1500" b="0" i="0">
                <a:solidFill>
                  <a:srgbClr val="1A1440"/>
                </a:solidFill>
                <a:latin typeface="Calibri"/>
              </a:rPr>
              <a:t>The one-slide answer the three roles can repeat (claim, chart with its denominator, caveat, action). The four moves of a defence under objection, with the trainer having modelled one and the room having run six. The appendix as a drawer, not as a hiding place.</a:t>
            </a:r>
          </a:p>
        </p:txBody>
      </p:sp>
      <p:sp>
        <p:nvSpPr>
          <p:cNvPr id="12" name="TextBox 11"/>
          <p:cNvSpPr txBox="1"/>
          <p:nvPr/>
        </p:nvSpPr>
        <p:spPr>
          <a:xfrm>
            <a:off x="530352" y="3195828"/>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Four things the room has not yet done</a:t>
            </a:r>
            <a:r>
              <a:rPr sz="1600" b="0" i="0">
                <a:solidFill>
                  <a:srgbClr val="1A1440"/>
                </a:solidFill>
                <a:latin typeface="Calibri"/>
              </a:rPr>
              <a:t>, which the afternoon takes up: a number sized from nothing, under the clock; a one-page business case written AI-free; two transcripts of the slide presented to a non-technical leader read and scored; the gallery's lessons for the city head's own slide.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is the one claim, and which number carries it?</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objection is partly right, and which part?</a:t>
            </a:r>
          </a:p>
        </p:txBody>
      </p:sp>
      <p:sp>
        <p:nvSpPr>
          <p:cNvPr id="17" name="Oval 16"/>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 and where does it go?</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