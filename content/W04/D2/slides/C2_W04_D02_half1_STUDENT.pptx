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 Then read the ticket top to</a:t>
            </a:r>
          </a:p>
          <a:p>
            <a:r>
              <a:t>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S4 shows the working.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Cards hidden first. 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a, since it is the number everyone quotes.</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it.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Drivers online at the three-hour weekday evening peak for a median wait under five minutes, in fifteen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Barbara Minto's Pyramid Principle, a book on business writing, puts the single point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f2908926c4d4ae59.png"/>
          <p:cNvPicPr>
            <a:picLocks noChangeAspect="1"/>
          </p:cNvPicPr>
          <p:nvPr/>
        </p:nvPicPr>
        <p:blipFill>
          <a:blip r:embed="rId5"/>
          <a:stretch>
            <a:fillRect/>
          </a:stretch>
        </p:blipFill>
        <p:spPr>
          <a:xfrm>
            <a:off x="530352" y="1956816"/>
            <a:ext cx="11130991" cy="1805825"/>
          </a:xfrm>
          <a:prstGeom prst="rect">
            <a:avLst/>
          </a:prstGeom>
        </p:spPr>
      </p:pic>
      <p:sp>
        <p:nvSpPr>
          <p:cNvPr id="10" name="Rounded Rectangle 9"/>
          <p:cNvSpPr/>
          <p:nvPr/>
        </p:nvSpPr>
        <p:spPr>
          <a:xfrm>
            <a:off x="530352" y="39089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69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7817"/>
            <a:ext cx="10564063" cy="891540"/>
          </a:xfrm>
          <a:prstGeom prst="rect">
            <a:avLst/>
          </a:prstGeom>
          <a:noFill/>
        </p:spPr>
        <p:txBody>
          <a:bodyPr wrap="square" anchor="ctr" lIns="0" rIns="0" tIns="0" bIns="0">
            <a:spAutoFit/>
          </a:bodyPr>
          <a:lstStyle/>
          <a:p>
            <a:r>
              <a:rPr sz="1500" b="1">
                <a:solidFill>
                  <a:srgbClr val="5B3FD6"/>
                </a:solidFill>
                <a:latin typeface="Calibri"/>
              </a:rPr>
              <a:t>The order is the point. </a:t>
            </a:r>
            <a:r>
              <a:rPr sz="1500" b="0" i="0">
                <a:solidFill>
                  <a:srgbClr val="1A1440"/>
                </a:solidFill>
                <a:latin typeface="Calibri"/>
              </a:rPr>
              <a:t>Put the claim first: a slide that opens on its evidence makes the reader guess the point, and a caveat hidden in the appendix hands the person it affects a reason to call the slide dishonest.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Trips per online hour falling at a flat fare is bookings per online hour falling, Rs 314 to Rs 260: that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per driver-week fell 23 percent; on the city it rose 0.8 percent. Why?</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Before the city, an auto driver (invented).</a:t>
            </a:r>
            <a:r>
              <a:rPr sz="1600" b="0" i="0">
                <a:solidFill>
                  <a:srgbClr val="1A1440"/>
                </a:solidFill>
                <a:latin typeface="Calibri"/>
              </a:rPr>
              <a:t> Rs 1,800 on Monday from 20 rides in 9 hours, and Rs 1,800 on Tuesday from 18 rides in 12 hours: per day flat, per ride up from Rs 90 to Rs 100, per hour down from Rs 200 to Rs 150. The denominator picks the direction.</a:t>
            </a:r>
          </a:p>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per driver-week rise while per hour falls?</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the drivers there before the launch rose 1.4 percent.</a:t>
            </a:r>
          </a:p>
        </p:txBody>
      </p:sp>
      <p:sp>
        <p:nvSpPr>
          <p:cNvPr id="15" name="Rounded Rectangle 14"/>
          <p:cNvSpPr/>
          <p:nvPr/>
        </p:nvSpPr>
        <p:spPr>
          <a:xfrm>
            <a:off x="530352" y="49682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3581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says it aloud.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4d8a47354834f8c3.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1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a staple asked everywhere in this programme's interview tags: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line best answers the monsoon?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finance partner says the fall is the monsoon ending. Which line of evidence answers it best?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Rider requests rose 1.8 percent across the six weeks after the launch, so demand never fell</a:t>
            </a:r>
          </a:p>
          <a:p>
            <a:pPr>
              <a:spcAft>
                <a:spcPts val="800"/>
              </a:spcAft>
            </a:pPr>
            <a:r>
              <a:rPr sz="1600" b="0" i="0">
                <a:solidFill>
                  <a:srgbClr val="1A1440"/>
                </a:solidFill>
                <a:latin typeface="Calibri"/>
              </a:rPr>
              <a:t>b) With requests back at the before level, the last three weeks still ran at 1.56 trips an hour</a:t>
            </a:r>
          </a:p>
          <a:p>
            <a:pPr>
              <a:spcAft>
                <a:spcPts val="800"/>
              </a:spcAft>
            </a:pPr>
            <a:r>
              <a:rPr sz="1600" b="0" i="0">
                <a:solidFill>
                  <a:srgbClr val="1A1440"/>
                </a:solidFill>
                <a:latin typeface="Calibri"/>
              </a:rPr>
              <a:t>c) Bookings per active driver-week rose 0.8 percent, so drivers still earned</a:t>
            </a:r>
          </a:p>
          <a:p>
            <a:pPr>
              <a:spcAft>
                <a:spcPts val="800"/>
              </a:spcAft>
            </a:pPr>
            <a:r>
              <a:rPr sz="1600" b="0" i="0">
                <a:solidFill>
                  <a:srgbClr val="1A1440"/>
                </a:solidFill>
                <a:latin typeface="Calibri"/>
              </a:rPr>
              <a:t>d) The 140 drivers who joined after the launch drove only some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weeks answer the monsoon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Weekly requests fell four weeks running from 7 September, so a's six-week average hides a slide; in the last three weeks they sat inside the before window's weekly range, and trips per hour stayed at 1.56. c is the per-driver-week trap, and d explains the denominator, never the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812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40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3090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7843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123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0322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so the new drivers do not explain it."</a:t>
            </a:r>
          </a:p>
        </p:txBody>
      </p:sp>
      <p:sp>
        <p:nvSpPr>
          <p:cNvPr id="15" name="Rounded Rectangle 14"/>
          <p:cNvSpPr/>
          <p:nvPr/>
        </p:nvSpPr>
        <p:spPr>
          <a:xfrm>
            <a:off x="530352" y="40233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513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4223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995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123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114544"/>
            <a:ext cx="10564063" cy="8915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frequent in GCC and product screens: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43459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threes and its rotation.</a:t>
            </a:r>
            <a:r>
              <a:rPr sz="1600" b="0" i="0">
                <a:solidFill>
                  <a:srgbClr val="1A1440"/>
                </a:solidFill>
                <a:latin typeface="Calibri"/>
              </a:rPr>
              <a:t> Each presenter now shows the slide rebuilt after round one, and answers each objection by naming the appendix page, from the drawer on S27, that holds the detail.</a:t>
            </a:r>
          </a:p>
          <a:p>
            <a:pPr>
              <a:spcAft>
                <a:spcPts val="800"/>
              </a:spcAft>
            </a:pPr>
            <a:r>
              <a:rPr sz="1600" b="1" i="0">
                <a:solidFill>
                  <a:srgbClr val="1A1440"/>
                </a:solidFill>
                <a:latin typeface="Calibri"/>
              </a:rPr>
              <a:t>Three turns of seven minutes, rotating, then eight minutes to rebuild the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