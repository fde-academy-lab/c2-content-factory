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title and the subtitle: they are the</a:t>
            </a:r>
          </a:p>
          <a:p>
            <a:r>
              <a:t>row's Day focus, in its words. Say the order of the day once: five topics, each taught on an</a:t>
            </a:r>
          </a:p>
          <a:p>
            <a:r>
              <a:t>invented example and each with its own notebook, then Monday's Uber case one day on, then Kalpa in</a:t>
            </a:r>
          </a:p>
          <a:p>
            <a:r>
              <a:t>the lab. Transition: where Tuesday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The amber node is the TA lab, where the same</a:t>
            </a:r>
          </a:p>
          <a:p>
            <a:r>
              <a:t>studio runs on Kalpa Retail. Explorer: the home screen, Tuesday lit.</a:t>
            </a:r>
          </a:p>
          <a:p>
            <a:r>
              <a:t>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topics down the second column once: these are the curriculum's</a:t>
            </a:r>
          </a:p>
          <a:p>
            <a:r>
              <a:t>words, so a learner can find each one again by name. Chapters 1 to 3 run now, each on an invented</a:t>
            </a:r>
          </a:p>
          <a:p>
            <a:r>
              <a:t>example; chapters 6 and 7 open the afternoon after the second studio round, each right before the</a:t>
            </a:r>
          </a:p>
          <a:p>
            <a:r>
              <a:t>Uber chapter that uses it, so the studio's two rounds stay together and each example sits beside</a:t>
            </a:r>
          </a:p>
          <a:p>
            <a:r>
              <a:t>its case step. A 10-minute break follows chapter 3.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Walk the map left to right. The left box is what the room already has: Week 1</a:t>
            </a:r>
          </a:p>
          <a:p>
            <a:r>
              <a:t>Thursday's four-part note (claim, evidence, caveat, action), which today puts on one slide; the</a:t>
            </a:r>
          </a:p>
          <a:p>
            <a:r>
              <a:t>denominator every rate has named since Week 1 Monday, which today's evidence carries; and Monday's</a:t>
            </a:r>
          </a:p>
          <a:p>
            <a:r>
              <a:t>metric, which today's slide must get past the people who lose under it. The five dark boxes are</a:t>
            </a:r>
          </a:p>
          <a:p>
            <a:r>
              <a:t>today's topics in the curriculum's order. Every topic is applied to Uber's case, and the</a:t>
            </a:r>
          </a:p>
          <a:p>
            <a:r>
              <a:t>guesstimate runs once more on Kalpa in the lab; every build week ends on this slide and this</a:t>
            </a:r>
          </a:p>
          <a:p>
            <a:r>
              <a:t>defence. The guesstimate's map step has the shape of Week 1's revenue tree, a chain of factors</a:t>
            </a:r>
          </a:p>
          <a:p>
            <a:r>
              <a:t>multiplied, with guesses where the columns were. The map comes back at the close of each concept</a:t>
            </a:r>
          </a:p>
          <a:p>
            <a:r>
              <a:t>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Monday's illustrative Uber case, one day on, and the</a:t>
            </a:r>
          </a:p>
          <a:p>
            <a:r>
              <a:t>deliverable is the slide the city head takes to Thursday's review. Read the metric's first row and</a:t>
            </a:r>
          </a:p>
          <a:p>
            <a:r>
              <a:t>the ask, nothing more; chapter 4 opens by reading the ticket in full. Gross bookings are what riders</a:t>
            </a:r>
          </a:p>
          <a:p>
            <a:r>
              <a:t>paid for the trips, before Uber's share and before any top-up; an active driver-week is one driver</a:t>
            </a:r>
          </a:p>
          <a:p>
            <a:r>
              <a:t>with a row that week. Ask which of the three roles will quote which row of the table, and leave it</a:t>
            </a:r>
          </a:p>
          <a:p>
            <a:r>
              <a:t>open: chapter 5 answers it.</a:t>
            </a:r>
          </a:p>
          <a:p>
            <a:r>
              <a:t>Transition: chapter 1, the one-slide answer, on a kirana shop.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1 of 5, 35 minutes. Ramesh's shop and every number about it are</a:t>
            </a:r>
          </a:p>
          <a:p>
            <a:r>
              <a:t>invented, and every slide that shows one says so. Laptops stay shut until the code glimpse;</a:t>
            </a:r>
          </a:p>
          <a:p>
            <a:r>
              <a:t>notebook 01 runs the same count on the shop's 56 days afterwards or in the lab. Transition: who</a:t>
            </a:r>
          </a:p>
          <a:p>
            <a:r>
              <a:t>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Define the words as they arrive. A slide, in a company, is one page shown</a:t>
            </a:r>
          </a:p>
          <a:p>
            <a:r>
              <a:t>to the people who decide, for a few minutes, with others in the room who gain or lose by the</a:t>
            </a:r>
          </a:p>
          <a:p>
            <a:r>
              <a:t>decision; those people are the stakeholders. Read the four questions: each gets an answer on the</a:t>
            </a:r>
          </a:p>
          <a:p>
            <a:r>
              <a:t>shop's numbers before the next. Then name the test the chapter builds to: a slide has worked when</a:t>
            </a:r>
          </a:p>
          <a:p>
            <a:r>
              <a:t>the person who loses under it can repeat it accurately, even while disagreeing. Transition: four</a:t>
            </a:r>
          </a:p>
          <a:p>
            <a:r>
              <a:t>titles for Ramesh's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misconception aloud first, in the room's likely words: "more numbers make a</a:t>
            </a:r>
          </a:p>
          <a:p>
            <a:r>
              <a:t>slide more convincing, and a neutral title keeps the reader fair." Letter cards up, a minute</a:t>
            </a:r>
          </a:p>
          <a:p>
            <a:r>
              <a:t>arguing with a neighbour, letter cards up again; count both votes on the board. Expect b, since it</a:t>
            </a:r>
          </a:p>
          <a:p>
            <a:r>
              <a:t>carries the most numbers. Say nothing about which is right. Transition: the reveal, and two notices</a:t>
            </a:r>
          </a:p>
          <a:p>
            <a:r>
              <a:t>on a hostel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notices aloud and ask which of the four titles is like the second one.</a:t>
            </a:r>
          </a:p>
          <a:p>
            <a:r>
              <a:t>This is answer-first communication, Barbara Minto's Pyramid Principle: Management Consulted's page</a:t>
            </a:r>
          </a:p>
          <a:p>
            <a:r>
              <a:t>on it (updated 2 September 2026, checked 13 October 2026) says it "starts with the conclusion first,</a:t>
            </a:r>
          </a:p>
          <a:p>
            <a:r>
              <a:t>then organizes supporting points underneath it". Transition: which number carries the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hand count, aloud, row by row, the way Week 1 Monday counted every rate:</a:t>
            </a:r>
          </a:p>
          <a:p>
            <a:r>
              <a:t>11,900 / 10 = 1,190; 12,600 / 12 = 1,050; 11,900 / 119 = 100; 12,600 / 126 = 100. Have two</a:t>
            </a:r>
          </a:p>
          <a:p>
            <a:r>
              <a:t>learners say the son's sentence and the father's sentence, each with its denominator named. Then</a:t>
            </a:r>
          </a:p>
          <a:p>
            <a:r>
              <a:t>ask which denominator answers the question Ramesh faces, "do the two extra hours pay?": per hour.</a:t>
            </a:r>
          </a:p>
          <a:p>
            <a:r>
              <a:t>Callback: since Week 1, a rate without its denominator has been a rumour. A second example of the</a:t>
            </a:r>
          </a:p>
          <a:p>
            <a:r>
              <a:t>same shape, an auto driver's day (invented), sits in notebook 01's your-turn cell and the notes.</a:t>
            </a:r>
          </a:p>
          <a:p>
            <a:r>
              <a:t>Transition: the four parts, named.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board region by region: the anchor, then each part in order, then the</a:t>
            </a:r>
          </a:p>
          <a:p>
            <a:r>
              <a:t>pitfalls. The name arrives last, as the shorthand for what the room just counted: the slide's four</a:t>
            </a:r>
          </a:p>
          <a:p>
            <a:r>
              <a:t>parts are claim, evidence, caveat and action. Transition: Ramesh's slide,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1, 2, 3, 4 in order. The chart is the shop's 56 days as one line of sales</a:t>
            </a:r>
          </a:p>
          <a:p>
            <a:r>
              <a:t>per hour, the change marked; the cluttered version of the same days is chapter 2's. The caveat sits</a:t>
            </a:r>
          </a:p>
          <a:p>
            <a:r>
              <a:t>beside the evidence because the son will raise it first: a festival fortnight fell inside October,</a:t>
            </a:r>
          </a:p>
          <a:p>
            <a:r>
              <a:t>so part of the Rs 700 may be the season. The action carries its cost, Rs 170 a day for the helper's</a:t>
            </a:r>
          </a:p>
          <a:p>
            <a:r>
              <a:t>two extra hours, and who signs. Ask two learners to say the title in the son's voice, then in the</a:t>
            </a:r>
          </a:p>
          <a:p>
            <a:r>
              <a:t>father's.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wrong sentence in the son's voice and ask what decision it would make.</a:t>
            </a:r>
          </a:p>
          <a:p>
            <a:r>
              <a:t>Then the code, line by line in plain words: add up each month, divide by its days, divide again by</a:t>
            </a:r>
          </a:p>
          <a:p>
            <a:r>
              <a:t>the hours open, and divide the sales by the customers. Notebook 01 runs it on the 56 days and checks</a:t>
            </a:r>
          </a:p>
          <a:p>
            <a:r>
              <a:t>it against the hand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Check question before moving on:</a:t>
            </a:r>
          </a:p>
          <a:p>
            <a:r>
              <a:t>"which of the four parts did the son's sentence leave out?" It left out the denominator the</a:t>
            </a:r>
          </a:p>
          <a:p>
            <a:r>
              <a:t>decision is priced in, and with it the caveat and the cost. Fill the map's first box. Transition:</a:t>
            </a:r>
          </a:p>
          <a:p>
            <a:r>
              <a:t>chapter 2,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2 of 5, 12 minutes. The same shop and the same invented numbers;</a:t>
            </a:r>
          </a:p>
          <a:p>
            <a:r>
              <a:t>only the question changes.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Choosing what to leave off is the skill: the row says so in as many</a:t>
            </a:r>
          </a:p>
          <a:p>
            <a:r>
              <a:t>words. Read the four questions; each is answered on the draft before the next. Transition: the</a:t>
            </a:r>
          </a:p>
          <a:p>
            <a:r>
              <a:t>draft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first, said aloud: "put everything in the appendix to be safe,</a:t>
            </a:r>
          </a:p>
          <a:p>
            <a:r>
              <a:t>and move the caveat there, since it is only a detail." Letter cards up. Expect a split between a</a:t>
            </a:r>
          </a:p>
          <a:p>
            <a:r>
              <a:t>and b. Transition: the sort that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flow with one element at a time from the draft, then read the four</a:t>
            </a:r>
          </a:p>
          <a:p>
            <a:r>
              <a:t>sentences aloud. Option a is the trap: the two that carry the claim are right, and the caveat is</a:t>
            </a:r>
          </a:p>
          <a:p>
            <a:r>
              <a:t>forgotten. Transition: where the five that leave 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page is headed by its owner's question, so Ramesh can turn to it the moment</a:t>
            </a:r>
          </a:p>
          <a:p>
            <a:r>
              <a:t>the question comes. The four lines of code are the sort, one line per branch; notebook 02 runs them</a:t>
            </a:r>
          </a:p>
          <a:p>
            <a:r>
              <a:t>on the eight elements. Transition: the same rule on a chart.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Point at the left chart first and ask what it claims; nobody can say in</a:t>
            </a:r>
          </a:p>
          <a:p>
            <a:r>
              <a:t>five seconds. Then the right. The quote is from Storytelling with Data's post "a new year's</a:t>
            </a:r>
          </a:p>
          <a:p>
            <a:r>
              <a:t>resolution: declutter your graphics" (4 January 2011, checked 13 October 2026).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true or false with its reason: "the slide is still</a:t>
            </a:r>
          </a:p>
          <a:p>
            <a:r>
              <a:t>crowded after the cut, so the festival caveat moves to the appendix." False: the caveat stays</a:t>
            </a:r>
          </a:p>
          <a:p>
            <a:r>
              <a:t>whatever else leaves, and something else goes instead. Fill the map's second box. Transition:</a:t>
            </a:r>
          </a:p>
          <a:p>
            <a:r>
              <a:t>chapter 3, the defence.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3 of 5, 25 minutes. Gulmohar Secondary School and its weeks are</a:t>
            </a:r>
          </a:p>
          <a:p>
            <a:r>
              <a:t>invented.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Most objections are partly right, which is why repeating</a:t>
            </a:r>
          </a:p>
          <a:p>
            <a:r>
              <a:t>the claim louder fails; a concession is not a loss, because the claim rests on the evidence and</a:t>
            </a:r>
          </a:p>
          <a:p>
            <a:r>
              <a:t>survives the objector being right about one part. Transition: the staff meeting.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misconception first, as the row's Kahoot trap says it: "a strong presenter</a:t>
            </a:r>
          </a:p>
          <a:p>
            <a:r>
              <a:t>never concedes." Letter cards, two minutes arguing with a neighbour, letter cards again; count both</a:t>
            </a:r>
          </a:p>
          <a:p>
            <a:r>
              <a:t>votes on the board. Expect a split between a and c. Transition: the school's weeks.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hand count, aloud. Last year: weeks 6 to 8 average 85.0, weeks 3 to 5 average</a:t>
            </a:r>
          </a:p>
          <a:p>
            <a:r>
              <a:t>76.7, so exams add 8.3. This year: 89.3 against 81.3, so 8.0. Weeks 3 to 5, this year against last:</a:t>
            </a:r>
          </a:p>
          <a:p>
            <a:r>
              <a:t>81.3 against 76.7, 4.7 points, with weeks 1 and 2 at 76.5 in both years. Transition: the same</a:t>
            </a:r>
          </a:p>
          <a:p>
            <a:r>
              <a:t>numbers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grey line, then the violet one. Ask what the sports teacher was looking</a:t>
            </a:r>
          </a:p>
          <a:p>
            <a:r>
              <a:t>at: the jump at week 6, which both years share. The gap from week 3 is the evidence the defence</a:t>
            </a:r>
          </a:p>
          <a:p>
            <a:r>
              <a:t>stands on. 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four moves in character, then name them, the rule arriving last. Move 4 is</a:t>
            </a:r>
          </a:p>
          <a:p>
            <a:r>
              <a:t>the one first defences skip, and it is what tells the room the claim can be tested: Week 1</a:t>
            </a:r>
          </a:p>
          <a:p>
            <a:r>
              <a:t>Thursday's fair comparison, said aloud. Rapoport's first rule, as The Marginalian quotes Dennett's</a:t>
            </a:r>
          </a:p>
          <a:p>
            <a:r>
              <a:t>Intuition Pumps (checked 13 October 2026): re-express the target's position "so clearly, vividly,</a:t>
            </a:r>
          </a:p>
          <a:p>
            <a:r>
              <a:t>and fairly" that the target says "Thanks, I wish I'd thought of putting it that way"; the second</a:t>
            </a:r>
          </a:p>
          <a:p>
            <a:r>
              <a:t>lists the points of agreement. Transition: two ways to lose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failures in character. The last line is the [D] interview question's</a:t>
            </a:r>
          </a:p>
          <a:p>
            <a:r>
              <a:t>answer in miniature: the person who loses under your claim controls the meeting, so the concession</a:t>
            </a:r>
          </a:p>
          <a:p>
            <a:r>
              <a:t>and the deciding test are agreed before it. The Kahoot's trap item asks whether the best defence</a:t>
            </a:r>
          </a:p>
          <a:p>
            <a:r>
              <a:t>never concedes anything; it is false. Transition: the two numbers,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line in plain words: one row per week, one column per year;</a:t>
            </a:r>
          </a:p>
          <a:p>
            <a:r>
              <a:t>the exam weeks against the three weeks before them; the early weeks this year against last year.</a:t>
            </a:r>
          </a:p>
          <a:p>
            <a:r>
              <a:t>Notebook 03 runs it and composes the four moves from the two numbers.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of the four moves does 'you may be right, let us wait'</a:t>
            </a:r>
          </a:p>
          <a:p>
            <a:r>
              <a:t>leave out?" It concedes everything and answers nothing, so moves 2 and 4 are missing. Fill the</a:t>
            </a:r>
          </a:p>
          <a:p>
            <a:r>
              <a:t>map's third box. Then the break, 10 minutes. Transition: after the break, the case: Uber's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levels L1 and L2 of the ladder, 41 minutes with the six on</a:t>
            </a:r>
          </a:p>
          <a:p>
            <a:r>
              <a:t>what each role loses. Laptops closed until the twelve rows. Styles: Brilliant (the chapter opens on</a:t>
            </a:r>
          </a:p>
          <a:p>
            <a:r>
              <a:t>a question), Veritasium (predict, then reveal), StatQuest (the twelve rows summed aloud),</a:t>
            </a:r>
          </a:p>
          <a:p>
            <a:r>
              <a:t>Storytelling with Data and Minto (the makeover, the answer first). Explorer scene T1 runs beside</a:t>
            </a:r>
          </a:p>
          <a:p>
            <a:r>
              <a:t>slide A's rebuild and scene T2 beside the per-driver-week prediction. Transition: what the chapter</a:t>
            </a:r>
          </a:p>
          <a:p>
            <a:r>
              <a:t>applies,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Go back to the ticket slide and read it in full now, top to bottom: the</a:t>
            </a:r>
          </a:p>
          <a:p>
            <a:r>
              <a:t>metric with its values before and after, the two tables and their columns, the ask, the caveats and</a:t>
            </a:r>
          </a:p>
          <a:p>
            <a:r>
              <a:t>the label line. Then the four questions. Every word the chapter needs was taught this morning:</a:t>
            </a:r>
          </a:p>
          <a:p>
            <a:r>
              <a:t>claim, evidence, caveat, action, the appendix.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S30 shows the working.</a:t>
            </a:r>
          </a:p>
          <a:p>
            <a:r>
              <a:t>Transition: what each role loses, chapter 1's loser test on real roles.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If a learner asks how a Rs 300 floor costs Rs 1.9 crore when an hour brought in Rs 260</a:t>
            </a:r>
          </a:p>
          <a:p>
            <a:r>
              <a:t>of fares: the floor is checked driver by driver, week by week, on the driver's own trip earnings, and</a:t>
            </a:r>
          </a:p>
          <a:p>
            <a:r>
              <a:t>the idle tail's 42,000 hours carried Rs 1.16 crore of it, about Rs 276 an hour. Cards hidden first.</a:t>
            </a:r>
          </a:p>
          <a:p>
            <a:r>
              <a:t>Groups of three spend 3 minutes listing what each role loses, the loser test of chapter 1 on three</a:t>
            </a:r>
          </a:p>
          <a:p>
            <a:r>
              <a:t>real roles; take one loss per role from three groups and write them on the board (2 minutes), then</a:t>
            </a:r>
          </a:p>
          <a:p>
            <a:r>
              <a:t>show the cards (1 minute). A loss the room names that the cards miss goes on the board as well: it</a:t>
            </a:r>
          </a:p>
          <a:p>
            <a:r>
              <a:t>will come back as an objection in chapter 5.</a:t>
            </a:r>
          </a:p>
          <a:p>
            <a:r>
              <a:t>Transition: four titles for finance's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Hands for each letter, counts on the board. Expect votes on b, since it carries</a:t>
            </a:r>
          </a:p>
          <a:p>
            <a:r>
              <a:t>numbers. Say nothing about which is right.</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chapter 1's notice board and the four parts are on the</a:t>
            </a:r>
          </a:p>
          <a:p>
            <a:r>
              <a:t>board from the morning; point at the claim box. Minto's site describes ideas organised as a pyramid</a:t>
            </a:r>
          </a:p>
          <a:p>
            <a:r>
              <a:t>under a single point (barbaraminto.com, checked 13 October 2026).</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group writes one letter. Expect a split between a and b. The point of the</a:t>
            </a:r>
          </a:p>
          <a:p>
            <a:r>
              <a:t>vote is that a carries two true numbers and no claim, which is why the room reaches for it.</a:t>
            </a:r>
          </a:p>
          <a:p>
            <a:r>
              <a:t>Explorer scene T1 stays on slide A's nine numbers until every letter is in; nothing is unticked yet.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worked example of the guided exercise: rebuild it with the room</a:t>
            </a:r>
          </a:p>
          <a:p>
            <a:r>
              <a:t>mirroring, part by part, the four parts of chapter 1.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 In explorer scene T1, untick the seven numbers that leave, one at a time,</a:t>
            </a:r>
          </a:p>
          <a:p>
            <a:r>
              <a:t>as each part is pointed at.</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S36 and S37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Chapter 1's kirana read the same rupees per day, per hour</a:t>
            </a:r>
          </a:p>
          <a:p>
            <a:r>
              <a:t>and per customer; the same three divisions run here on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Explorer scene T2, the denominator picker, stays closed until every letter is written; it opens on S40.</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violet line first: a step at the launch, then flat. Then the amber line:</a:t>
            </a:r>
          </a:p>
          <a:p>
            <a:r>
              <a:t>up while hours climbed, down as trips per hour kept falling. Ask which role will quote the amber</a:t>
            </a:r>
          </a:p>
          <a:p>
            <a:r>
              <a:t>line. Expect the marketing lead. Explorer scene T2 lets learners pick the 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04 asserts the two routes agree to the paisa. Say it as one line the</a:t>
            </a:r>
          </a:p>
          <a:p>
            <a:r>
              <a:t>slide's owner can repeat: the fare held, the trips per hour fell.</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a:t>
            </a:r>
          </a:p>
          <a:p>
            <a:r>
              <a:t>Transition: chapter 5,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L3 of the ladder with round one of the studio as L5</a:t>
            </a:r>
          </a:p>
          <a:p>
            <a:r>
              <a:t>practice and the drawer as L4, 52 minutes: 40 on the objections and round one, 12 on the drawer and</a:t>
            </a:r>
          </a:p>
          <a:p>
            <a:r>
              <a:t>the drill. Styles: Veritasium (predict which role the city head sides with), the case method</a:t>
            </a:r>
          </a:p>
          <a:p>
            <a:r>
              <a:t>(Monday's three roles return, each partly right), peer instruction (the vote and the revote).</a:t>
            </a:r>
          </a:p>
          <a:p>
            <a:r>
              <a:t>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four moves were taught on the school this morning; here they meet</a:t>
            </a:r>
          </a:p>
          <a:p>
            <a:r>
              <a:t>three people with real stakes.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Hand out the scorer's cards: chapter 3's four moves, taught on the school this</a:t>
            </a:r>
          </a:p>
          <a:p>
            <a:r>
              <a:t>morning. The two failures, overclaiming and retreating, were chapter 3's too.</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30 seconds. The trainer models this defence first, conceding on purpose, then points at each</a:t>
            </a:r>
          </a:p>
          <a:p>
            <a:r>
              <a:t>move on the S47 card. Every number is Monday's L4 cut, from the facts file.</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and after the round name one of each without names: a retreat</a:t>
            </a:r>
          </a:p>
          <a:p>
            <a:r>
              <a:t>is fixed by "which line of your evidence did the objection touch?", an overclaim by "what would</a:t>
            </a:r>
          </a:p>
          <a:p>
            <a:r>
              <a:t>change your mind?", chapter 3's two failures.</a:t>
            </a:r>
          </a:p>
          <a:p>
            <a:r>
              <a:t>Transition: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sort, applied: the trap here is a caveat in the drawer. Walk the three pages and ask what each</a:t>
            </a:r>
          </a:p>
          <a:p>
            <a:r>
              <a:t>role's page must hold. The common wrong answer in an interview is "I put everything in the</a:t>
            </a:r>
          </a:p>
          <a:p>
            <a:r>
              <a:t>appendix".</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3 adds.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learner says the slide's four parts and the three appendix headings from</a:t>
            </a:r>
          </a:p>
          <a:p>
            <a:r>
              <a:t>memory.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cards. Lunch.</a:t>
            </a:r>
          </a:p>
          <a:p>
            <a:r>
              <a:t>Transition: half two, round two of the studio, then the guesstimate.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 Id="rId6"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Stakeholder communication, then the first guesstimate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slide, five minutes, three people paid to disagree: can the answer survive, and can a number be sized from nothing?</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Taught on invented examples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kirana shop, a secondary school and a campus canteen carry the five topics, each counted by hand before any code.</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r_2853f22980e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Uber, Hyderabad, one day on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Monday's redesign of the peak-hour guarantee goes to Thursday's city review on one slide; then a number is sized from nothing.</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ilding-2_19e68cdc22c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north-star slide presented to a TA, and the sign-ups a new store could win in its first year.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five chapters, then Uber applies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Tuesday teach, in what order, for how long, and in which notebook?</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914400"/>
                <a:gridCol w="6624442"/>
                <a:gridCol w="1575434"/>
                <a:gridCol w="914400"/>
                <a:gridCol w="110231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one-slide answer: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What to leave out, and the appendix</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Defending under challenge: restate, answer, concede, what would change your mind</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03</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guesstimate: clarify, map, calculate, validate</a:t>
                      </a:r>
                    </a:p>
                  </a:txBody>
                  <a:tcPr marL="101600" marR="101600" marT="38100" marB="38100" anchor="ctr">
                    <a:solidFill>
                      <a:srgbClr val="F4F2FA"/>
                    </a:solidFill>
                  </a:tcPr>
                </a:tc>
                <a:tc>
                  <a:txBody>
                    <a:bodyPr/>
                    <a:lstStyle/>
                    <a:p>
                      <a:r>
                        <a:rPr sz="1200" b="0" i="0">
                          <a:solidFill>
                            <a:srgbClr val="1A1440"/>
                          </a:solidFill>
                          <a:latin typeface="Calibri"/>
                        </a:rPr>
                        <a:t>6, after lunch</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AI-free written business case</a:t>
                      </a:r>
                    </a:p>
                  </a:txBody>
                  <a:tcPr marL="101600" marR="101600" marT="38100" marB="38100" anchor="ctr">
                    <a:solidFill>
                      <a:srgbClr val="FFFFFF"/>
                    </a:solidFill>
                  </a:tcPr>
                </a:tc>
                <a:tc>
                  <a:txBody>
                    <a:bodyPr/>
                    <a:lstStyle/>
                    <a:p>
                      <a:r>
                        <a:rPr sz="1200" b="0" i="0">
                          <a:solidFill>
                            <a:srgbClr val="1A1440"/>
                          </a:solidFill>
                          <a:latin typeface="Calibri"/>
                        </a:rPr>
                        <a:t>7,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a:t>
                      </a:r>
                    </a:p>
                  </a:txBody>
                  <a:tcPr marL="101600" marR="101600" marT="38100" marB="38100" anchor="ctr">
                    <a:solidFill>
                      <a:srgbClr val="FFFFFF"/>
                    </a:solidFill>
                  </a:tcPr>
                </a:tc>
              </a:tr>
            </a:tbl>
          </a:graphicData>
        </a:graphic>
      </p:graphicFrame>
      <p:sp>
        <p:nvSpPr>
          <p:cNvPr id="10" name="TextBox 9"/>
          <p:cNvSpPr txBox="1"/>
          <p:nvPr/>
        </p:nvSpPr>
        <p:spPr>
          <a:xfrm>
            <a:off x="530352" y="422452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4 and 5 apply topics 1 to 3 to Uber's slide before lunch, chapters 8 to 10 apply topics 4 and 5 after it, and the lab runs the guesstimate on Kalpa Retail in notebook 11. A slide numbered D is for self-study,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e9beceaf40665de2.png"/>
          <p:cNvPicPr>
            <a:picLocks noChangeAspect="1"/>
          </p:cNvPicPr>
          <p:nvPr/>
        </p:nvPicPr>
        <p:blipFill>
          <a:blip r:embed="rId5"/>
          <a:stretch>
            <a:fillRect/>
          </a:stretch>
        </p:blipFill>
        <p:spPr>
          <a:xfrm>
            <a:off x="530352" y="1956816"/>
            <a:ext cx="11130991" cy="260349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428496"/>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Uber, Hyderabad, the driver app's peak-hour earnings guarantee, one day on.</a:t>
            </a:r>
            <a:r>
              <a:rPr sz="1400" b="0" i="0">
                <a:solidFill>
                  <a:srgbClr val="1A1440"/>
                </a:solidFill>
                <a:latin typeface="Calibri"/>
              </a:rPr>
              <a:t> Thursday's city review gets one slide, five minutes, and three people who each lose under the redesign. Gross bookings are what riders paid; an active driver-week is one driver with a row that week.</a:t>
            </a:r>
          </a:p>
        </p:txBody>
      </p:sp>
      <p:graphicFrame>
        <p:nvGraphicFramePr>
          <p:cNvPr id="10" name="Table 9"/>
          <p:cNvGraphicFramePr>
            <a:graphicFrameLocks noGrp="1"/>
          </p:cNvGraphicFramePr>
          <p:nvPr/>
        </p:nvGraphicFramePr>
        <p:xfrm>
          <a:off x="530352" y="3239008"/>
          <a:ext cx="5291174" cy="1938528"/>
        </p:xfrm>
        <a:graphic>
          <a:graphicData uri="http://schemas.openxmlformats.org/drawingml/2006/table">
            <a:tbl>
              <a:tblPr firstRow="0" bandRow="0">
                <a:tableStyleId>{2D5ABB26-0587-4C30-8999-92F81FD0307C}</a:tableStyleId>
              </a:tblPr>
              <a:tblGrid>
                <a:gridCol w="2190445"/>
                <a:gridCol w="1351856"/>
                <a:gridCol w="1748873"/>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709419"/>
          </a:xfrm>
          <a:prstGeom prst="rect">
            <a:avLst/>
          </a:prstGeom>
          <a:noFill/>
        </p:spPr>
        <p:txBody>
          <a:bodyPr wrap="square" anchor="ctr" lIns="0" rIns="0" tIns="0" bIns="0">
            <a:spAutoFit/>
          </a:bodyPr>
          <a:lstStyle/>
          <a:p>
            <a:r>
              <a:rPr sz="1300" b="1">
                <a:solidFill>
                  <a:srgbClr val="5B3FD6"/>
                </a:solidFill>
                <a:latin typeface="Calibri"/>
              </a:rPr>
              <a:t>Data. </a:t>
            </a:r>
            <a:r>
              <a:rPr sz="1300" b="0" i="0">
                <a:solidFill>
                  <a:srgbClr val="1A1440"/>
                </a:solidFill>
                <a:latin typeface="Calibri"/>
              </a:rPr>
              <a:t>Monday's driver_weeks (peak_online_hours, peak_trips, peak_bookings_rs, topup_rs) and zone_weeks (peak_requests, median_wait_min). </a:t>
            </a:r>
            <a:r>
              <a:rPr sz="1300" b="1" i="0">
                <a:solidFill>
                  <a:srgbClr val="1A1440"/>
                </a:solidFill>
                <a:latin typeface="Calibri"/>
              </a:rPr>
              <a:t>Afternoon ask.</a:t>
            </a:r>
            <a:r>
              <a:rPr sz="1300" b="0" i="0">
                <a:solidFill>
                  <a:srgbClr val="1A1440"/>
                </a:solidFill>
                <a:latin typeface="Calibri"/>
              </a:rPr>
              <a:t> Estimate, in fifteen minutes, how many drivers must be online at the three-hour weekday evening peak for a median wait under five minutes. </a:t>
            </a:r>
            <a:r>
              <a:rPr sz="1300" b="1" i="0">
                <a:solidFill>
                  <a:srgbClr val="1A1440"/>
                </a:solidFill>
                <a:latin typeface="Calibri"/>
              </a:rPr>
              <a:t>Caveats.</a:t>
            </a:r>
            <a:r>
              <a:rPr sz="13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739388"/>
            <a:ext cx="45720" cy="9296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739388"/>
            <a:ext cx="4980279" cy="92964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one-slide answer: claim, evidence, caveat, action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slide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taught on Ramesh's kirana shop, invented for this chapter: one claim as the title, one number with its denominator, the caveat in sight and the action with its cost, so the person who loses under it can repeat it.</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slide carries one decision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one-slide answer: claim, evidence, caveat, action.</a:t>
            </a:r>
          </a:p>
        </p:txBody>
      </p:sp>
      <p:sp>
        <p:nvSpPr>
          <p:cNvPr id="12" name="Rounded Rectangle 11"/>
          <p:cNvSpPr/>
          <p:nvPr/>
        </p:nvSpPr>
        <p:spPr>
          <a:xfrm>
            <a:off x="530352" y="26624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owns a kirana shop (invented) and opened it two more hours a day from October; he must decide whether the longer hours stay. His son argued for them and loses if they go.</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claim?</a:t>
            </a:r>
          </a:p>
        </p:txBody>
      </p:sp>
      <p:sp>
        <p:nvSpPr>
          <p:cNvPr id="20" name="TextBox 19"/>
          <p:cNvSpPr txBox="1"/>
          <p:nvPr/>
        </p:nvSpPr>
        <p:spPr>
          <a:xfrm>
            <a:off x="694944" y="4955794"/>
            <a:ext cx="2316403" cy="531876"/>
          </a:xfrm>
          <a:prstGeom prst="rect">
            <a:avLst/>
          </a:prstGeom>
          <a:noFill/>
        </p:spPr>
        <p:txBody>
          <a:bodyPr wrap="square" anchor="t" lIns="0" rIns="0" tIns="0" bIns="0">
            <a:spAutoFit/>
          </a:bodyPr>
          <a:lstStyle/>
          <a:p>
            <a:pPr algn="l"/>
            <a:r>
              <a:rPr sz="1000" b="0" i="0">
                <a:solidFill>
                  <a:srgbClr val="6B6690"/>
                </a:solidFill>
                <a:latin typeface="Calibri"/>
              </a:rPr>
              <a:t>One sentence with a verb, as the title, saying what is true and what to do.</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is the evidence?</a:t>
            </a:r>
          </a:p>
        </p:txBody>
      </p:sp>
      <p:sp>
        <p:nvSpPr>
          <p:cNvPr id="25" name="TextBox 24"/>
          <p:cNvSpPr txBox="1"/>
          <p:nvPr/>
        </p:nvSpPr>
        <p:spPr>
          <a:xfrm>
            <a:off x="3523411"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number with its denominator, or one chart, from a named window.</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caveat?</a:t>
            </a:r>
          </a:p>
        </p:txBody>
      </p:sp>
      <p:sp>
        <p:nvSpPr>
          <p:cNvPr id="30" name="TextBox 29"/>
          <p:cNvSpPr txBox="1"/>
          <p:nvPr/>
        </p:nvSpPr>
        <p:spPr>
          <a:xfrm>
            <a:off x="6351879"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thing the evidence cannot show yet.</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action?</a:t>
            </a:r>
          </a:p>
        </p:txBody>
      </p:sp>
      <p:sp>
        <p:nvSpPr>
          <p:cNvPr id="35" name="TextBox 34"/>
          <p:cNvSpPr txBox="1"/>
          <p:nvPr/>
        </p:nvSpPr>
        <p:spPr>
          <a:xfrm>
            <a:off x="9180347" y="4955794"/>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to do, its cost in rupees and weeks, and who signs.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title for Ramesh's slide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 opened two more hours a day in October (invented). Which title tells him what to do on the first read?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broken default. </a:t>
            </a:r>
            <a:r>
              <a:rPr sz="1500" b="0" i="0">
                <a:solidFill>
                  <a:srgbClr val="1A1440"/>
                </a:solidFill>
                <a:latin typeface="Calibri"/>
              </a:rPr>
              <a:t>A slide with no claim makes every reader hunt for a point, so the son reads one number and the father another.</a:t>
            </a:r>
          </a:p>
        </p:txBody>
      </p:sp>
      <p:sp>
        <p:nvSpPr>
          <p:cNvPr id="12" name="TextBox 11"/>
          <p:cNvSpPr txBox="1"/>
          <p:nvPr/>
        </p:nvSpPr>
        <p:spPr>
          <a:xfrm>
            <a:off x="530352" y="2929128"/>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Shop sales, October</a:t>
            </a:r>
          </a:p>
          <a:p>
            <a:pPr>
              <a:spcAft>
                <a:spcPts val="800"/>
              </a:spcAft>
            </a:pPr>
            <a:r>
              <a:rPr sz="1600" b="0" i="0">
                <a:solidFill>
                  <a:srgbClr val="1A1440"/>
                </a:solidFill>
                <a:latin typeface="Calibri"/>
              </a:rPr>
              <a:t>b) Sales Rs 12,600 a day, up Rs 700; 126 customers; 12 hours open</a:t>
            </a:r>
          </a:p>
          <a:p>
            <a:pPr>
              <a:spcAft>
                <a:spcPts val="800"/>
              </a:spcAft>
            </a:pPr>
            <a:r>
              <a:rPr sz="1600" b="0" i="0">
                <a:solidFill>
                  <a:srgbClr val="1A1440"/>
                </a:solidFill>
                <a:latin typeface="Calibri"/>
              </a:rPr>
              <a:t>c) The longer hours add Rs 700 a day but earn less per hour, so count the evening on its own before deciding</a:t>
            </a:r>
          </a:p>
          <a:p>
            <a:pPr>
              <a:spcAft>
                <a:spcPts val="800"/>
              </a:spcAft>
            </a:pPr>
            <a:r>
              <a:rPr sz="1600" b="0" i="0">
                <a:solidFill>
                  <a:srgbClr val="1A1440"/>
                </a:solidFill>
                <a:latin typeface="Calibri"/>
              </a:rPr>
              <a:t>d) Hours update</a:t>
            </a:r>
          </a:p>
          <a:p>
            <a:pPr>
              <a:spcAft>
                <a:spcPts val="800"/>
              </a:spcAft>
            </a:pPr>
            <a:r>
              <a:rPr sz="1600" b="1" i="0">
                <a:solidFill>
                  <a:srgbClr val="1A1440"/>
                </a:solidFill>
                <a:latin typeface="Calibri"/>
              </a:rPr>
              <a:t>Write your letter down before the next slide.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Ramesh act on c and walk past a, b and d?</a:t>
            </a:r>
          </a:p>
        </p:txBody>
      </p:sp>
      <p:graphicFrame>
        <p:nvGraphicFramePr>
          <p:cNvPr id="9" name="Table 8"/>
          <p:cNvGraphicFramePr>
            <a:graphicFrameLocks noGrp="1"/>
          </p:cNvGraphicFramePr>
          <p:nvPr/>
        </p:nvGraphicFramePr>
        <p:xfrm>
          <a:off x="530352" y="1956816"/>
          <a:ext cx="11130990" cy="2090928"/>
        </p:xfrm>
        <a:graphic>
          <a:graphicData uri="http://schemas.openxmlformats.org/drawingml/2006/table">
            <a:tbl>
              <a:tblPr firstRow="0" bandRow="0">
                <a:tableStyleId>{2D5ABB26-0587-4C30-8999-92F81FD0307C}</a:tableStyleId>
              </a:tblPr>
              <a:tblGrid>
                <a:gridCol w="6741423"/>
                <a:gridCol w="4389567"/>
              </a:tblGrid>
              <a:tr h="369824">
                <a:tc>
                  <a:txBody>
                    <a:bodyPr/>
                    <a:lstStyle/>
                    <a:p>
                      <a:r>
                        <a:rPr sz="1450" b="1" i="0">
                          <a:solidFill>
                            <a:srgbClr val="FFFFFF"/>
                          </a:solidFill>
                          <a:latin typeface="Calibri"/>
                        </a:rPr>
                        <a:t>Title</a:t>
                      </a:r>
                    </a:p>
                  </a:txBody>
                  <a:tcPr marL="101600" marR="101600" marT="38100" marB="38100" anchor="ctr">
                    <a:solidFill>
                      <a:srgbClr val="1A0F5C"/>
                    </a:solidFill>
                  </a:tcPr>
                </a:tc>
                <a:tc>
                  <a:txBody>
                    <a:bodyPr/>
                    <a:lstStyle/>
                    <a:p>
                      <a:r>
                        <a:rPr sz="1450" b="1" i="0">
                          <a:solidFill>
                            <a:srgbClr val="FFFFFF"/>
                          </a:solidFill>
                          <a:latin typeface="Calibri"/>
                        </a:rPr>
                        <a:t>What Ramesh learns from it</a:t>
                      </a:r>
                    </a:p>
                  </a:txBody>
                  <a:tcPr marL="101600" marR="101600" marT="38100" marB="38100" anchor="ctr">
                    <a:solidFill>
                      <a:srgbClr val="1A0F5C"/>
                    </a:solidFill>
                  </a:tcPr>
                </a:tc>
              </a:tr>
              <a:tr h="369824">
                <a:tc>
                  <a:txBody>
                    <a:bodyPr/>
                    <a:lstStyle/>
                    <a:p>
                      <a:r>
                        <a:rPr sz="1400" b="0" i="0">
                          <a:solidFill>
                            <a:srgbClr val="1A1440"/>
                          </a:solidFill>
                          <a:latin typeface="Calibri"/>
                        </a:rPr>
                        <a:t>a) Shop sales, October</a:t>
                      </a:r>
                    </a:p>
                  </a:txBody>
                  <a:tcPr marL="101600" marR="101600" marT="38100" marB="38100" anchor="ctr">
                    <a:solidFill>
                      <a:srgbClr val="FFFFFF"/>
                    </a:solidFill>
                  </a:tcPr>
                </a:tc>
                <a:tc>
                  <a:txBody>
                    <a:bodyPr/>
                    <a:lstStyle/>
                    <a:p>
                      <a:r>
                        <a:rPr sz="1400" b="0" i="0">
                          <a:solidFill>
                            <a:srgbClr val="1A1440"/>
                          </a:solidFill>
                          <a:latin typeface="Calibri"/>
                        </a:rPr>
                        <a:t>The topic, and nothing to do</a:t>
                      </a:r>
                    </a:p>
                  </a:txBody>
                  <a:tcPr marL="101600" marR="101600" marT="38100" marB="38100" anchor="ctr">
                    <a:solidFill>
                      <a:srgbClr val="FFFFFF"/>
                    </a:solidFill>
                  </a:tcPr>
                </a:tc>
              </a:tr>
              <a:tr h="369824">
                <a:tc>
                  <a:txBody>
                    <a:bodyPr/>
                    <a:lstStyle/>
                    <a:p>
                      <a:r>
                        <a:rPr sz="1400" b="0" i="0">
                          <a:solidFill>
                            <a:srgbClr val="1A1440"/>
                          </a:solidFill>
                          <a:latin typeface="Calibri"/>
                        </a:rPr>
                        <a:t>b) Sales Rs 12,600 a day, up Rs 700; 126 customers; 12 hours open</a:t>
                      </a:r>
                    </a:p>
                  </a:txBody>
                  <a:tcPr marL="101600" marR="101600" marT="38100" marB="38100" anchor="ctr">
                    <a:solidFill>
                      <a:srgbClr val="F4F2FA"/>
                    </a:solidFill>
                  </a:tcPr>
                </a:tc>
                <a:tc>
                  <a:txBody>
                    <a:bodyPr/>
                    <a:lstStyle/>
                    <a:p>
                      <a:r>
                        <a:rPr sz="1400" b="0" i="0">
                          <a:solidFill>
                            <a:srgbClr val="1A1440"/>
                          </a:solidFill>
                          <a:latin typeface="Calibri"/>
                        </a:rPr>
                        <a:t>Four true numbers and no point</a:t>
                      </a:r>
                    </a:p>
                  </a:txBody>
                  <a:tcPr marL="101600" marR="101600" marT="38100" marB="38100" anchor="ctr">
                    <a:solidFill>
                      <a:srgbClr val="F4F2FA"/>
                    </a:solidFill>
                  </a:tcPr>
                </a:tc>
              </a:tr>
              <a:tr h="611632">
                <a:tc>
                  <a:txBody>
                    <a:bodyPr/>
                    <a:lstStyle/>
                    <a:p>
                      <a:r>
                        <a:rPr sz="1400" b="0" i="0">
                          <a:solidFill>
                            <a:srgbClr val="1A1440"/>
                          </a:solidFill>
                          <a:latin typeface="Calibri"/>
                        </a:rPr>
                        <a:t>c) The longer hours add Rs 700 a day but earn less per hour, so count the evening on its own before deciding</a:t>
                      </a:r>
                    </a:p>
                  </a:txBody>
                  <a:tcPr marL="101600" marR="101600" marT="38100" marB="38100" anchor="ctr">
                    <a:solidFill>
                      <a:srgbClr val="FFFFFF"/>
                    </a:solidFill>
                  </a:tcPr>
                </a:tc>
                <a:tc>
                  <a:txBody>
                    <a:bodyPr/>
                    <a:lstStyle/>
                    <a:p>
                      <a:r>
                        <a:rPr sz="1400" b="0" i="0">
                          <a:solidFill>
                            <a:srgbClr val="1A1440"/>
                          </a:solidFill>
                          <a:latin typeface="Calibri"/>
                        </a:rPr>
                        <a:t>What is true, and what to do about it</a:t>
                      </a:r>
                    </a:p>
                  </a:txBody>
                  <a:tcPr marL="101600" marR="101600" marT="38100" marB="38100" anchor="ctr">
                    <a:solidFill>
                      <a:srgbClr val="FFFFFF"/>
                    </a:solidFill>
                  </a:tcPr>
                </a:tc>
              </a:tr>
              <a:tr h="369824">
                <a:tc>
                  <a:txBody>
                    <a:bodyPr/>
                    <a:lstStyle/>
                    <a:p>
                      <a:r>
                        <a:rPr sz="1400" b="0" i="0">
                          <a:solidFill>
                            <a:srgbClr val="1A1440"/>
                          </a:solidFill>
                          <a:latin typeface="Calibri"/>
                        </a:rPr>
                        <a:t>d) Hours update</a:t>
                      </a:r>
                    </a:p>
                  </a:txBody>
                  <a:tcPr marL="101600" marR="101600" marT="38100" marB="38100" anchor="ctr">
                    <a:solidFill>
                      <a:srgbClr val="F4F2FA"/>
                    </a:solidFill>
                  </a:tcPr>
                </a:tc>
                <a:tc>
                  <a:txBody>
                    <a:bodyPr/>
                    <a:lstStyle/>
                    <a:p>
                      <a:r>
                        <a:rPr sz="1400" b="0" i="0">
                          <a:solidFill>
                            <a:srgbClr val="1A1440"/>
                          </a:solidFill>
                          <a:latin typeface="Calibri"/>
                        </a:rPr>
                        <a:t>The topic again</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1158240"/>
          </a:xfrm>
          <a:prstGeom prst="rect">
            <a:avLst/>
          </a:prstGeom>
          <a:noFill/>
        </p:spPr>
        <p:txBody>
          <a:bodyPr wrap="square" anchor="ctr" lIns="0" rIns="0" tIns="0" bIns="0">
            <a:spAutoFit/>
          </a:bodyPr>
          <a:lstStyle/>
          <a:p>
            <a:r>
              <a:rPr sz="1500" b="1">
                <a:solidFill>
                  <a:srgbClr val="5B3FD6"/>
                </a:solidFill>
                <a:latin typeface="Calibri"/>
              </a:rPr>
              <a:t>A hostel notice board (invented). </a:t>
            </a:r>
            <a:r>
              <a:rPr sz="1500" b="0" i="0">
                <a:solidFill>
                  <a:srgbClr val="1A1440"/>
                </a:solidFill>
                <a:latin typeface="Calibri"/>
              </a:rPr>
              <a:t>One notice reads "Breakfast survey results"; the warden walks past it for a week. The next reads "Rotis replace rice at Monday breakfast, so the kitchen moves two staff from the rice counter to the roti line"; the warden reads it once and moves two staff. Title c is the second notice: answer first,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day up 5.9 percent, per hour down 11.8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son says the shop earns more; the father says each hour earns less. Who is right, counted by hand?</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7716737"/>
                <a:gridCol w="1784429"/>
                <a:gridCol w="1629823"/>
              </a:tblGrid>
              <a:tr h="369824">
                <a:tc>
                  <a:txBody>
                    <a:bodyPr/>
                    <a:lstStyle/>
                    <a:p>
                      <a:r>
                        <a:rPr sz="1450" b="1" i="0">
                          <a:solidFill>
                            <a:srgbClr val="FFFFFF"/>
                          </a:solidFill>
                          <a:latin typeface="Calibri"/>
                        </a:rPr>
                        <a:t>Ramesh's shop, four weeks each side (invented)</a:t>
                      </a:r>
                    </a:p>
                  </a:txBody>
                  <a:tcPr marL="101600" marR="101600" marT="38100" marB="38100" anchor="ctr">
                    <a:solidFill>
                      <a:srgbClr val="1A0F5C"/>
                    </a:solidFill>
                  </a:tcPr>
                </a:tc>
                <a:tc>
                  <a:txBody>
                    <a:bodyPr/>
                    <a:lstStyle/>
                    <a:p>
                      <a:r>
                        <a:rPr sz="1450" b="1" i="0">
                          <a:solidFill>
                            <a:srgbClr val="FFFFFF"/>
                          </a:solidFill>
                          <a:latin typeface="Calibri"/>
                        </a:rPr>
                        <a:t>September</a:t>
                      </a:r>
                    </a:p>
                  </a:txBody>
                  <a:tcPr marL="101600" marR="101600" marT="38100" marB="38100" anchor="ctr">
                    <a:solidFill>
                      <a:srgbClr val="1A0F5C"/>
                    </a:solidFill>
                  </a:tcPr>
                </a:tc>
                <a:tc>
                  <a:txBody>
                    <a:bodyPr/>
                    <a:lstStyle/>
                    <a:p>
                      <a:r>
                        <a:rPr sz="1450" b="1" i="0">
                          <a:solidFill>
                            <a:srgbClr val="FFFFFF"/>
                          </a:solidFill>
                          <a:latin typeface="Calibri"/>
                        </a:rPr>
                        <a:t>October</a:t>
                      </a:r>
                    </a:p>
                  </a:txBody>
                  <a:tcPr marL="101600" marR="101600" marT="38100" marB="38100" anchor="ctr">
                    <a:solidFill>
                      <a:srgbClr val="1A0F5C"/>
                    </a:solidFill>
                  </a:tcPr>
                </a:tc>
              </a:tr>
              <a:tr h="369824">
                <a:tc>
                  <a:txBody>
                    <a:bodyPr/>
                    <a:lstStyle/>
                    <a:p>
                      <a:r>
                        <a:rPr sz="1400" b="0" i="0">
                          <a:solidFill>
                            <a:srgbClr val="1A1440"/>
                          </a:solidFill>
                          <a:latin typeface="Calibri"/>
                        </a:rPr>
                        <a:t>Hours open a day</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c>
                  <a:txBody>
                    <a:bodyPr/>
                    <a:lstStyle/>
                    <a:p>
                      <a:r>
                        <a:rPr sz="1400" b="0" i="0">
                          <a:solidFill>
                            <a:srgbClr val="1A1440"/>
                          </a:solidFill>
                          <a:latin typeface="Calibri"/>
                        </a:rPr>
                        <a:t>12</a:t>
                      </a:r>
                    </a:p>
                  </a:txBody>
                  <a:tcPr marL="101600" marR="101600" marT="38100" marB="38100" anchor="ctr">
                    <a:solidFill>
                      <a:srgbClr val="FFFFFF"/>
                    </a:solidFill>
                  </a:tcPr>
                </a:tc>
              </a:tr>
              <a:tr h="369824">
                <a:tc>
                  <a:txBody>
                    <a:bodyPr/>
                    <a:lstStyle/>
                    <a:p>
                      <a:r>
                        <a:rPr sz="1400" b="0" i="0">
                          <a:solidFill>
                            <a:srgbClr val="1A1440"/>
                          </a:solidFill>
                          <a:latin typeface="Calibri"/>
                        </a:rPr>
                        <a:t>Customers a day</a:t>
                      </a:r>
                    </a:p>
                  </a:txBody>
                  <a:tcPr marL="101600" marR="101600" marT="38100" marB="38100" anchor="ctr">
                    <a:solidFill>
                      <a:srgbClr val="F4F2FA"/>
                    </a:solidFill>
                  </a:tcPr>
                </a:tc>
                <a:tc>
                  <a:txBody>
                    <a:bodyPr/>
                    <a:lstStyle/>
                    <a:p>
                      <a:r>
                        <a:rPr sz="1400" b="0" i="0">
                          <a:solidFill>
                            <a:srgbClr val="1A1440"/>
                          </a:solidFill>
                          <a:latin typeface="Calibri"/>
                        </a:rPr>
                        <a:t>119</a:t>
                      </a:r>
                    </a:p>
                  </a:txBody>
                  <a:tcPr marL="101600" marR="101600" marT="38100" marB="38100" anchor="ctr">
                    <a:solidFill>
                      <a:srgbClr val="F4F2FA"/>
                    </a:solidFill>
                  </a:tcPr>
                </a:tc>
                <a:tc>
                  <a:txBody>
                    <a:bodyPr/>
                    <a:lstStyle/>
                    <a:p>
                      <a:r>
                        <a:rPr sz="1400" b="0" i="0">
                          <a:solidFill>
                            <a:srgbClr val="1A1440"/>
                          </a:solidFill>
                          <a:latin typeface="Calibri"/>
                        </a:rPr>
                        <a:t>126</a:t>
                      </a:r>
                    </a:p>
                  </a:txBody>
                  <a:tcPr marL="101600" marR="101600" marT="38100" marB="38100" anchor="ctr">
                    <a:solidFill>
                      <a:srgbClr val="F4F2FA"/>
                    </a:solidFill>
                  </a:tcPr>
                </a:tc>
              </a:tr>
              <a:tr h="369824">
                <a:tc>
                  <a:txBody>
                    <a:bodyPr/>
                    <a:lstStyle/>
                    <a:p>
                      <a:r>
                        <a:rPr sz="1400" b="0" i="0">
                          <a:solidFill>
                            <a:srgbClr val="1A1440"/>
                          </a:solidFill>
                          <a:latin typeface="Calibri"/>
                        </a:rPr>
                        <a:t>Sales a day</a:t>
                      </a:r>
                    </a:p>
                  </a:txBody>
                  <a:tcPr marL="101600" marR="101600" marT="38100" marB="38100" anchor="ctr">
                    <a:solidFill>
                      <a:srgbClr val="FFFFFF"/>
                    </a:solidFill>
                  </a:tcPr>
                </a:tc>
                <a:tc>
                  <a:txBody>
                    <a:bodyPr/>
                    <a:lstStyle/>
                    <a:p>
                      <a:r>
                        <a:rPr sz="1400" b="0" i="0">
                          <a:solidFill>
                            <a:srgbClr val="1A1440"/>
                          </a:solidFill>
                          <a:latin typeface="Calibri"/>
                        </a:rPr>
                        <a:t>Rs 11,900</a:t>
                      </a:r>
                    </a:p>
                  </a:txBody>
                  <a:tcPr marL="101600" marR="101600" marT="38100" marB="38100" anchor="ctr">
                    <a:solidFill>
                      <a:srgbClr val="FFFFFF"/>
                    </a:solidFill>
                  </a:tcPr>
                </a:tc>
                <a:tc>
                  <a:txBody>
                    <a:bodyPr/>
                    <a:lstStyle/>
                    <a:p>
                      <a:r>
                        <a:rPr sz="1400" b="0" i="0">
                          <a:solidFill>
                            <a:srgbClr val="1A1440"/>
                          </a:solidFill>
                          <a:latin typeface="Calibri"/>
                        </a:rPr>
                        <a:t>Rs 12,600</a:t>
                      </a:r>
                    </a:p>
                  </a:txBody>
                  <a:tcPr marL="101600" marR="101600" marT="38100" marB="38100" anchor="ctr">
                    <a:solidFill>
                      <a:srgbClr val="FFFFFF"/>
                    </a:solidFill>
                  </a:tcPr>
                </a:tc>
              </a:tr>
              <a:tr h="369824">
                <a:tc>
                  <a:txBody>
                    <a:bodyPr/>
                    <a:lstStyle/>
                    <a:p>
                      <a:r>
                        <a:rPr sz="1400" b="0" i="0">
                          <a:solidFill>
                            <a:srgbClr val="1A1440"/>
                          </a:solidFill>
                          <a:latin typeface="Calibri"/>
                        </a:rPr>
                        <a:t>Sales per hour: sales a day / hours open</a:t>
                      </a:r>
                    </a:p>
                  </a:txBody>
                  <a:tcPr marL="101600" marR="101600" marT="38100" marB="38100" anchor="ctr">
                    <a:solidFill>
                      <a:srgbClr val="F4F2FA"/>
                    </a:solidFill>
                  </a:tcPr>
                </a:tc>
                <a:tc>
                  <a:txBody>
                    <a:bodyPr/>
                    <a:lstStyle/>
                    <a:p>
                      <a:r>
                        <a:rPr sz="1400" b="0" i="0">
                          <a:solidFill>
                            <a:srgbClr val="1A1440"/>
                          </a:solidFill>
                          <a:latin typeface="Calibri"/>
                        </a:rPr>
                        <a:t>Rs 1,190</a:t>
                      </a:r>
                    </a:p>
                  </a:txBody>
                  <a:tcPr marL="101600" marR="101600" marT="38100" marB="38100" anchor="ctr">
                    <a:solidFill>
                      <a:srgbClr val="F4F2FA"/>
                    </a:solidFill>
                  </a:tcPr>
                </a:tc>
                <a:tc>
                  <a:txBody>
                    <a:bodyPr/>
                    <a:lstStyle/>
                    <a:p>
                      <a:r>
                        <a:rPr sz="1400" b="0" i="0">
                          <a:solidFill>
                            <a:srgbClr val="1A1440"/>
                          </a:solidFill>
                          <a:latin typeface="Calibri"/>
                        </a:rPr>
                        <a:t>Rs 1,050</a:t>
                      </a:r>
                    </a:p>
                  </a:txBody>
                  <a:tcPr marL="101600" marR="101600" marT="38100" marB="38100" anchor="ctr">
                    <a:solidFill>
                      <a:srgbClr val="F4F2FA"/>
                    </a:solidFill>
                  </a:tcPr>
                </a:tc>
              </a:tr>
              <a:tr h="369824">
                <a:tc>
                  <a:txBody>
                    <a:bodyPr/>
                    <a:lstStyle/>
                    <a:p>
                      <a:r>
                        <a:rPr sz="1400" b="0" i="0">
                          <a:solidFill>
                            <a:srgbClr val="1A1440"/>
                          </a:solidFill>
                          <a:latin typeface="Calibri"/>
                        </a:rPr>
                        <a:t>Sales per customer: sales a day / customers</a:t>
                      </a:r>
                    </a:p>
                  </a:txBody>
                  <a:tcPr marL="101600" marR="101600" marT="38100" marB="38100" anchor="ctr">
                    <a:solidFill>
                      <a:srgbClr val="FFFFFF"/>
                    </a:solidFill>
                  </a:tcPr>
                </a:tc>
                <a:tc>
                  <a:txBody>
                    <a:bodyPr/>
                    <a:lstStyle/>
                    <a:p>
                      <a:r>
                        <a:rPr sz="1400" b="0" i="0">
                          <a:solidFill>
                            <a:srgbClr val="1A1440"/>
                          </a:solidFill>
                          <a:latin typeface="Calibri"/>
                        </a:rPr>
                        <a:t>Rs 100</a:t>
                      </a:r>
                    </a:p>
                  </a:txBody>
                  <a:tcPr marL="101600" marR="101600" marT="38100" marB="38100" anchor="ctr">
                    <a:solidFill>
                      <a:srgbClr val="FFFFFF"/>
                    </a:solidFill>
                  </a:tcPr>
                </a:tc>
                <a:tc>
                  <a:txBody>
                    <a:bodyPr/>
                    <a:lstStyle/>
                    <a:p>
                      <a:r>
                        <a:rPr sz="1400" b="0" i="0">
                          <a:solidFill>
                            <a:srgbClr val="1A1440"/>
                          </a:solidFill>
                          <a:latin typeface="Calibri"/>
                        </a:rPr>
                        <a:t>Rs 100</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Both are right, and the denominator decides which sentence the slide carries.</a:t>
            </a:r>
            <a:r>
              <a:rPr sz="1600" b="0" i="0">
                <a:solidFill>
                  <a:srgbClr val="1A1440"/>
                </a:solidFill>
                <a:latin typeface="Calibri"/>
              </a:rPr>
              <a:t> Per day the shop is up Rs 700, 5.9 percent; per hour it is down 11.8 percent; per customer it is flat. The decision on the table is whether the two extra hours pay, so the evidence is priced per hour.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a9076d580e1c6695.png"/>
          <p:cNvPicPr>
            <a:picLocks noChangeAspect="1"/>
          </p:cNvPicPr>
          <p:nvPr/>
        </p:nvPicPr>
        <p:blipFill>
          <a:blip r:embed="rId5"/>
          <a:stretch>
            <a:fillRect/>
          </a:stretch>
        </p:blipFill>
        <p:spPr>
          <a:xfrm>
            <a:off x="530352" y="1956816"/>
            <a:ext cx="11130991" cy="1805825"/>
          </a:xfrm>
          <a:prstGeom prst="rect">
            <a:avLst/>
          </a:prstGeom>
        </p:spPr>
      </p:pic>
      <p:sp>
        <p:nvSpPr>
          <p:cNvPr id="10" name="TextBox 9"/>
          <p:cNvSpPr txBox="1"/>
          <p:nvPr/>
        </p:nvSpPr>
        <p:spPr>
          <a:xfrm>
            <a:off x="530352" y="390894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This is the one-slide answer: claim, evidence, caveat, action.</a:t>
            </a:r>
            <a:r>
              <a:rPr sz="1600" b="0" i="0">
                <a:solidFill>
                  <a:srgbClr val="1A1440"/>
                </a:solidFill>
                <a:latin typeface="Calibri"/>
              </a:rPr>
              <a:t> It is Week 1 Thursday's four-part note made into one page, and the order is the order a reader needs: what to believe, why, what it cannot show yet, and what to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slide, built in its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parts say for Ramesh, and can the son repeat it?</a:t>
            </a:r>
          </a:p>
        </p:txBody>
      </p:sp>
      <p:pic>
        <p:nvPicPr>
          <p:cNvPr id="9" name="mermaid diagram" descr="C2_W04_D02_kirana_slide_STUDENT.png"/>
          <p:cNvPicPr>
            <a:picLocks noChangeAspect="1"/>
          </p:cNvPicPr>
          <p:nvPr/>
        </p:nvPicPr>
        <p:blipFill>
          <a:blip r:embed="rId4"/>
          <a:stretch>
            <a:fillRect/>
          </a:stretch>
        </p:blipFill>
        <p:spPr>
          <a:xfrm>
            <a:off x="2814141" y="1664208"/>
            <a:ext cx="6563412"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Ramesh's slide in its four parts, numbered where each sits, every number invented</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loser test. </a:t>
            </a:r>
            <a:r>
              <a:rPr sz="1100" b="0" i="0">
                <a:solidFill>
                  <a:srgbClr val="1A1440"/>
                </a:solidFill>
                <a:latin typeface="Calibri"/>
              </a:rPr>
              <a:t>The son argued for the longer hours, and he can repeat this title accurately while disagreeing with it, because it states his number, Rs 700 a day, beside his father's, the fall per hour.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700 more a day, so the hours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true number the wrong evidence for this decision?</a:t>
            </a:r>
          </a:p>
        </p:txBody>
      </p:sp>
      <p:sp>
        <p:nvSpPr>
          <p:cNvPr id="9" name="Rounded Rectangle 8"/>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The plausible wrong answer. </a:t>
            </a:r>
            <a:r>
              <a:rPr sz="1300" b="0" i="0">
                <a:solidFill>
                  <a:srgbClr val="1A1440"/>
                </a:solidFill>
                <a:latin typeface="Calibri"/>
              </a:rPr>
              <a:t>"Sales a day rose from Rs 11,900 to Rs 12,600, so the longer hours work; keep them." Every rupee is right, and it would keep paying the helper for two hours while each hour of the day earns less than before.</a:t>
            </a:r>
          </a:p>
        </p:txBody>
      </p:sp>
      <p:sp>
        <p:nvSpPr>
          <p:cNvPr id="12" name="Rounded Rectangle 11"/>
          <p:cNvSpPr/>
          <p:nvPr/>
        </p:nvSpPr>
        <p:spPr>
          <a:xfrm>
            <a:off x="530352" y="2858008"/>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86024"/>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76880"/>
            <a:ext cx="10564063" cy="784860"/>
          </a:xfrm>
          <a:prstGeom prst="rect">
            <a:avLst/>
          </a:prstGeom>
          <a:noFill/>
        </p:spPr>
        <p:txBody>
          <a:bodyPr wrap="square" anchor="ctr" lIns="0" rIns="0" tIns="0" bIns="0">
            <a:spAutoFit/>
          </a:bodyPr>
          <a:lstStyle/>
          <a:p>
            <a:r>
              <a:rPr sz="1300" b="1">
                <a:solidFill>
                  <a:srgbClr val="5B3FD6"/>
                </a:solidFill>
                <a:latin typeface="Calibri"/>
              </a:rPr>
              <a:t>Why it is wrong. </a:t>
            </a:r>
            <a:r>
              <a:rPr sz="1300" b="0" i="0">
                <a:solidFill>
                  <a:srgbClr val="1A1440"/>
                </a:solidFill>
                <a:latin typeface="Calibri"/>
              </a:rPr>
              <a:t>The rise was bought with two more hours: per hour the shop earns 11.8 percent less. </a:t>
            </a:r>
            <a:r>
              <a:rPr sz="1300" b="1" i="0">
                <a:solidFill>
                  <a:srgbClr val="1A1440"/>
                </a:solidFill>
                <a:latin typeface="Calibri"/>
              </a:rPr>
              <a:t>The check:</a:t>
            </a:r>
            <a:r>
              <a:rPr sz="1300" b="0" i="0">
                <a:solidFill>
                  <a:srgbClr val="1A1440"/>
                </a:solidFill>
                <a:latin typeface="Calibri"/>
              </a:rPr>
              <a:t> name the denominator the decision is priced in, here the hour, before reading the number. </a:t>
            </a:r>
            <a:r>
              <a:rPr sz="1300" b="1" i="0">
                <a:solidFill>
                  <a:srgbClr val="1A1440"/>
                </a:solidFill>
                <a:latin typeface="Calibri"/>
              </a:rPr>
              <a:t>The fix:</a:t>
            </a:r>
            <a:r>
              <a:rPr sz="1300" b="0" i="0">
                <a:solidFill>
                  <a:srgbClr val="1A1440"/>
                </a:solidFill>
                <a:latin typeface="Calibri"/>
              </a:rPr>
              <a:t> the evidence is sales per hour, with sales per customer beside it.</a:t>
            </a:r>
          </a:p>
        </p:txBody>
      </p:sp>
      <p:sp>
        <p:nvSpPr>
          <p:cNvPr id="15" name="Rounded Rectangle 14"/>
          <p:cNvSpPr/>
          <p:nvPr/>
        </p:nvSpPr>
        <p:spPr>
          <a:xfrm>
            <a:off x="530352" y="3990340"/>
            <a:ext cx="11130991" cy="175564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1183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1183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1183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319524"/>
            <a:ext cx="10673791" cy="1353312"/>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m = days.groupby("month").agg(sales=("sales_rs", "sum"),</a:t>
            </a:r>
          </a:p>
          <a:p>
            <a:pPr>
              <a:spcAft>
                <a:spcPts val="200"/>
              </a:spcAft>
            </a:pPr>
            <a:r>
              <a:rPr sz="1200" b="0" i="0">
                <a:solidFill>
                  <a:srgbClr val="E4E1F1"/>
                </a:solidFill>
                <a:latin typeface="Consolas"/>
              </a:rPr>
              <a:t>        days=("day", "count"), hours=("hours_open", "mean"),</a:t>
            </a:r>
          </a:p>
          <a:p>
            <a:pPr>
              <a:spcAft>
                <a:spcPts val="200"/>
              </a:spcAft>
            </a:pPr>
            <a:r>
              <a:rPr sz="1200" b="0" i="0">
                <a:solidFill>
                  <a:srgbClr val="E4E1F1"/>
                </a:solidFill>
                <a:latin typeface="Consolas"/>
              </a:rPr>
              <a:t>        customers=("customers", "sum"))</a:t>
            </a:r>
          </a:p>
          <a:p>
            <a:pPr>
              <a:spcAft>
                <a:spcPts val="200"/>
              </a:spcAft>
            </a:pPr>
            <a:r>
              <a:rPr sz="1200" b="0" i="0">
                <a:solidFill>
                  <a:srgbClr val="E4E1F1"/>
                </a:solidFill>
                <a:latin typeface="Consolas"/>
              </a:rPr>
              <a:t>m["per_day"] = m.sales / m.days            # 11,900 and 12,600</a:t>
            </a:r>
          </a:p>
          <a:p>
            <a:pPr>
              <a:spcAft>
                <a:spcPts val="200"/>
              </a:spcAft>
            </a:pPr>
            <a:r>
              <a:rPr sz="1200" b="0" i="0">
                <a:solidFill>
                  <a:srgbClr val="E4E1F1"/>
                </a:solidFill>
                <a:latin typeface="Consolas"/>
              </a:rPr>
              <a:t>m["per_hour"] = m.per_day / m.hours        # 1,190 and 1,050</a:t>
            </a:r>
          </a:p>
          <a:p>
            <a:pPr>
              <a:spcAft>
                <a:spcPts val="200"/>
              </a:spcAft>
            </a:pPr>
            <a:r>
              <a:rPr sz="1200" b="0" i="0">
                <a:solidFill>
                  <a:srgbClr val="E4E1F1"/>
                </a:solidFill>
                <a:latin typeface="Consolas"/>
              </a:rPr>
              <a:t>m["per_customer"] = m.sales / m.customers  # 100 and 100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slide its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The title is the claim: a sentence with a verb that says what is true and what to do.</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The evidence is one number with its denominator and window, or one chart, chosen by the decision it prices.</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caveat sits beside the evidence, in plain sight.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action names what to do, its cost in rupees and weeks, and who signs.</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Present a recommendation to a non-technical stakeholder in two minutes: open on the claim, then one number with its denominator.</a:t>
            </a:r>
          </a:p>
        </p:txBody>
      </p:sp>
      <p:pic>
        <p:nvPicPr>
          <p:cNvPr id="22" name="mermaid diagram" descr="b8fe85ec0ccfa74e.png"/>
          <p:cNvPicPr>
            <a:picLocks noChangeAspect="1"/>
          </p:cNvPicPr>
          <p:nvPr/>
        </p:nvPicPr>
        <p:blipFill>
          <a:blip r:embed="rId6"/>
          <a:stretch>
            <a:fillRect/>
          </a:stretch>
        </p:blipFill>
        <p:spPr>
          <a:xfrm>
            <a:off x="3118748" y="4639056"/>
            <a:ext cx="5954197"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leave out,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the rest go?</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What to leave out, and the appendix, on Ramesh's first draft (invented): every element supports the claim, answers a named person's question on a page behind the slide, or leaves; the caveat never leaves.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element stays, moves to a page, or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What to leave out, and the appendix.</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reads the slide in five minutes, and two readers who each look for their own question behind it: his son and the shop's accountant. An </a:t>
            </a:r>
            <a:r>
              <a:rPr sz="1500" b="1" i="0">
                <a:solidFill>
                  <a:srgbClr val="1A1440"/>
                </a:solidFill>
                <a:latin typeface="Calibri"/>
              </a:rPr>
              <a:t>appendix</a:t>
            </a:r>
            <a:r>
              <a:rPr sz="1500" b="0" i="0">
                <a:solidFill>
                  <a:srgbClr val="1A1440"/>
                </a:solidFill>
                <a:latin typeface="Calibri"/>
              </a:rPr>
              <a:t> is the set of pages behind the slide, shown only when someone asks.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elements stay?</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eight on Ramesh's first draft.</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each of the rest go?</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A page behind the slide, or nowhere.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Can the caveat leave?</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Even when the slide is crowded.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a chart obey the same rule?</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Six series against one line.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the draft's eight elements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Ramesh's first draft (invented) carries eight elements. How many belong on the slide itself?</a:t>
            </a:r>
          </a:p>
        </p:txBody>
      </p:sp>
      <p:graphicFrame>
        <p:nvGraphicFramePr>
          <p:cNvPr id="9" name="Table 8"/>
          <p:cNvGraphicFramePr>
            <a:graphicFrameLocks noGrp="1"/>
          </p:cNvGraphicFramePr>
          <p:nvPr/>
        </p:nvGraphicFramePr>
        <p:xfrm>
          <a:off x="530352" y="1900936"/>
          <a:ext cx="11130990" cy="3328416"/>
        </p:xfrm>
        <a:graphic>
          <a:graphicData uri="http://schemas.openxmlformats.org/drawingml/2006/table">
            <a:tbl>
              <a:tblPr firstRow="0" bandRow="0">
                <a:tableStyleId>{2D5ABB26-0587-4C30-8999-92F81FD0307C}</a:tableStyleId>
              </a:tblPr>
              <a:tblGrid>
                <a:gridCol w="4154401"/>
                <a:gridCol w="6976589"/>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What it shows</a:t>
                      </a:r>
                    </a:p>
                  </a:txBody>
                  <a:tcPr marL="101600" marR="101600" marT="38100" marB="38100" anchor="ctr">
                    <a:solidFill>
                      <a:srgbClr val="1A0F5C"/>
                    </a:solidFill>
                  </a:tcPr>
                </a:tc>
              </a:tr>
              <a:tr h="369824">
                <a:tc>
                  <a:txBody>
                    <a:bodyPr/>
                    <a:lstStyle/>
                    <a:p>
                      <a:r>
                        <a:rPr sz="1400" b="0" i="0">
                          <a:solidFill>
                            <a:srgbClr val="1A1440"/>
                          </a:solidFill>
                          <a:latin typeface="Calibri"/>
                        </a:rPr>
                        <a:t>Chart: sales per hour, by day</a:t>
                      </a:r>
                    </a:p>
                  </a:txBody>
                  <a:tcPr marL="101600" marR="101600" marT="38100" marB="38100" anchor="ctr">
                    <a:solidFill>
                      <a:srgbClr val="FFFFFF"/>
                    </a:solidFill>
                  </a:tcPr>
                </a:tc>
                <a:tc>
                  <a:txBody>
                    <a:bodyPr/>
                    <a:lstStyle/>
                    <a:p>
                      <a:r>
                        <a:rPr sz="1400" b="0" i="0">
                          <a:solidFill>
                            <a:srgbClr val="1A1440"/>
                          </a:solidFill>
                          <a:latin typeface="Calibri"/>
                        </a:rPr>
                        <a:t>Rs 1,190 an hour in September, Rs 1,050 in October</a:t>
                      </a:r>
                    </a:p>
                  </a:txBody>
                  <a:tcPr marL="101600" marR="101600" marT="38100" marB="38100" anchor="ctr">
                    <a:solidFill>
                      <a:srgbClr val="FFFFFF"/>
                    </a:solidFill>
                  </a:tcPr>
                </a:tc>
              </a:tr>
              <a:tr h="369824">
                <a:tc>
                  <a:txBody>
                    <a:bodyPr/>
                    <a:lstStyle/>
                    <a:p>
                      <a:r>
                        <a:rPr sz="1400" b="0" i="0">
                          <a:solidFill>
                            <a:srgbClr val="1A1440"/>
                          </a:solidFill>
                          <a:latin typeface="Calibri"/>
                        </a:rPr>
                        <a:t>Total sales, four weeks</a:t>
                      </a:r>
                    </a:p>
                  </a:txBody>
                  <a:tcPr marL="101600" marR="101600" marT="38100" marB="38100" anchor="ctr">
                    <a:solidFill>
                      <a:srgbClr val="F4F2FA"/>
                    </a:solidFill>
                  </a:tcPr>
                </a:tc>
                <a:tc>
                  <a:txBody>
                    <a:bodyPr/>
                    <a:lstStyle/>
                    <a:p>
                      <a:r>
                        <a:rPr sz="1400" b="0" i="0">
                          <a:solidFill>
                            <a:srgbClr val="1A1440"/>
                          </a:solidFill>
                          <a:latin typeface="Calibri"/>
                        </a:rPr>
                        <a:t>Rs 3.33 lakh in September, Rs 3.53 lakh in October</a:t>
                      </a:r>
                    </a:p>
                  </a:txBody>
                  <a:tcPr marL="101600" marR="101600" marT="38100" marB="38100" anchor="ctr">
                    <a:solidFill>
                      <a:srgbClr val="F4F2FA"/>
                    </a:solidFill>
                  </a:tcPr>
                </a:tc>
              </a:tr>
              <a:tr h="369824">
                <a:tc>
                  <a:txBody>
                    <a:bodyPr/>
                    <a:lstStyle/>
                    <a:p>
                      <a:r>
                        <a:rPr sz="1400" b="0" i="0">
                          <a:solidFill>
                            <a:srgbClr val="1A1440"/>
                          </a:solidFill>
                          <a:latin typeface="Calibri"/>
                        </a:rPr>
                        <a:t>Customers a day</a:t>
                      </a:r>
                    </a:p>
                  </a:txBody>
                  <a:tcPr marL="101600" marR="101600" marT="38100" marB="38100" anchor="ctr">
                    <a:solidFill>
                      <a:srgbClr val="FFFFFF"/>
                    </a:solidFill>
                  </a:tcPr>
                </a:tc>
                <a:tc>
                  <a:txBody>
                    <a:bodyPr/>
                    <a:lstStyle/>
                    <a:p>
                      <a:r>
                        <a:rPr sz="1400" b="0" i="0">
                          <a:solidFill>
                            <a:srgbClr val="1A1440"/>
                          </a:solidFill>
                          <a:latin typeface="Calibri"/>
                        </a:rPr>
                        <a:t>119 in September, 126 in October</a:t>
                      </a:r>
                    </a:p>
                  </a:txBody>
                  <a:tcPr marL="101600" marR="101600" marT="38100" marB="38100" anchor="ctr">
                    <a:solidFill>
                      <a:srgbClr val="FFFFFF"/>
                    </a:solidFill>
                  </a:tcPr>
                </a:tc>
              </a:tr>
              <a:tr h="369824">
                <a:tc>
                  <a:txBody>
                    <a:bodyPr/>
                    <a:lstStyle/>
                    <a:p>
                      <a:r>
                        <a:rPr sz="1400" b="0" i="0">
                          <a:solidFill>
                            <a:srgbClr val="1A1440"/>
                          </a:solidFill>
                          <a:latin typeface="Calibri"/>
                        </a:rPr>
                        <a:t>Rain days</a:t>
                      </a:r>
                    </a:p>
                  </a:txBody>
                  <a:tcPr marL="101600" marR="101600" marT="38100" marB="38100" anchor="ctr">
                    <a:solidFill>
                      <a:srgbClr val="F4F2FA"/>
                    </a:solidFill>
                  </a:tcPr>
                </a:tc>
                <a:tc>
                  <a:txBody>
                    <a:bodyPr/>
                    <a:lstStyle/>
                    <a:p>
                      <a:r>
                        <a:rPr sz="1400" b="0" i="0">
                          <a:solidFill>
                            <a:srgbClr val="1A1440"/>
                          </a:solidFill>
                          <a:latin typeface="Calibri"/>
                        </a:rPr>
                        <a:t>5 in September, 2 in October</a:t>
                      </a:r>
                    </a:p>
                  </a:txBody>
                  <a:tcPr marL="101600" marR="101600" marT="38100" marB="38100" anchor="ctr">
                    <a:solidFill>
                      <a:srgbClr val="F4F2FA"/>
                    </a:solidFill>
                  </a:tcPr>
                </a:tc>
              </a:tr>
              <a:tr h="369824">
                <a:tc>
                  <a:txBody>
                    <a:bodyPr/>
                    <a:lstStyle/>
                    <a:p>
                      <a:r>
                        <a:rPr sz="1400" b="0" i="0">
                          <a:solidFill>
                            <a:srgbClr val="1A1440"/>
                          </a:solidFill>
                          <a:latin typeface="Calibri"/>
                        </a:rPr>
                        <a:t>The son's hours at the counter</a:t>
                      </a:r>
                    </a:p>
                  </a:txBody>
                  <a:tcPr marL="101600" marR="101600" marT="38100" marB="38100" anchor="ctr">
                    <a:solidFill>
                      <a:srgbClr val="FFFFFF"/>
                    </a:solidFill>
                  </a:tcPr>
                </a:tc>
                <a:tc>
                  <a:txBody>
                    <a:bodyPr/>
                    <a:lstStyle/>
                    <a:p>
                      <a:r>
                        <a:rPr sz="1400" b="0" i="0">
                          <a:solidFill>
                            <a:srgbClr val="1A1440"/>
                          </a:solidFill>
                          <a:latin typeface="Calibri"/>
                        </a:rPr>
                        <a:t>4 a day in September, 6 in October</a:t>
                      </a:r>
                    </a:p>
                  </a:txBody>
                  <a:tcPr marL="101600" marR="101600" marT="38100" marB="38100" anchor="ctr">
                    <a:solidFill>
                      <a:srgbClr val="FFFFFF"/>
                    </a:solidFill>
                  </a:tcPr>
                </a:tc>
              </a:tr>
              <a:tr h="369824">
                <a:tc>
                  <a:txBody>
                    <a:bodyPr/>
                    <a:lstStyle/>
                    <a:p>
                      <a:r>
                        <a:rPr sz="1400" b="0" i="0">
                          <a:solidFill>
                            <a:srgbClr val="1A1440"/>
                          </a:solidFill>
                          <a:latin typeface="Calibri"/>
                        </a:rPr>
                        <a:t>The helper's wage</a:t>
                      </a:r>
                    </a:p>
                  </a:txBody>
                  <a:tcPr marL="101600" marR="101600" marT="38100" marB="38100" anchor="ctr">
                    <a:solidFill>
                      <a:srgbClr val="F4F2FA"/>
                    </a:solidFill>
                  </a:tcPr>
                </a:tc>
                <a:tc>
                  <a:txBody>
                    <a:bodyPr/>
                    <a:lstStyle/>
                    <a:p>
                      <a:r>
                        <a:rPr sz="1400" b="0" i="0">
                          <a:solidFill>
                            <a:srgbClr val="1A1440"/>
                          </a:solidFill>
                          <a:latin typeface="Calibri"/>
                        </a:rPr>
                        <a:t>Rs 85 an hour; the two extra hours cost Rs 170 a day</a:t>
                      </a:r>
                    </a:p>
                  </a:txBody>
                  <a:tcPr marL="101600" marR="101600" marT="38100" marB="38100" anchor="ctr">
                    <a:solidFill>
                      <a:srgbClr val="F4F2FA"/>
                    </a:solidFill>
                  </a:tcPr>
                </a:tc>
              </a:tr>
              <a:tr h="369824">
                <a:tc>
                  <a:txBody>
                    <a:bodyPr/>
                    <a:lstStyle/>
                    <a:p>
                      <a:r>
                        <a:rPr sz="1400" b="0" i="0">
                          <a:solidFill>
                            <a:srgbClr val="1A1440"/>
                          </a:solidFill>
                          <a:latin typeface="Calibri"/>
                        </a:rPr>
                        <a:t>The festival fortnight</a:t>
                      </a:r>
                    </a:p>
                  </a:txBody>
                  <a:tcPr marL="101600" marR="101600" marT="38100" marB="38100" anchor="ctr">
                    <a:solidFill>
                      <a:srgbClr val="FFFFFF"/>
                    </a:solidFill>
                  </a:tcPr>
                </a:tc>
                <a:tc>
                  <a:txBody>
                    <a:bodyPr/>
                    <a:lstStyle/>
                    <a:p>
                      <a:r>
                        <a:rPr sz="1400" b="0" i="0">
                          <a:solidFill>
                            <a:srgbClr val="1A1440"/>
                          </a:solidFill>
                          <a:latin typeface="Calibri"/>
                        </a:rPr>
                        <a:t>14 of October's 28 days</a:t>
                      </a:r>
                    </a:p>
                  </a:txBody>
                  <a:tcPr marL="101600" marR="101600" marT="38100" marB="38100" anchor="ctr">
                    <a:solidFill>
                      <a:srgbClr val="FFFFFF"/>
                    </a:solidFill>
                  </a:tcPr>
                </a:tc>
              </a:tr>
              <a:tr h="369824">
                <a:tc>
                  <a:txBody>
                    <a:bodyPr/>
                    <a:lstStyle/>
                    <a:p>
                      <a:r>
                        <a:rPr sz="1400" b="0" i="0">
                          <a:solidFill>
                            <a:srgbClr val="1A1440"/>
                          </a:solidFill>
                          <a:latin typeface="Calibri"/>
                        </a:rPr>
                        <a:t>Sales per customer</a:t>
                      </a:r>
                    </a:p>
                  </a:txBody>
                  <a:tcPr marL="101600" marR="101600" marT="38100" marB="38100" anchor="ctr">
                    <a:solidFill>
                      <a:srgbClr val="F4F2FA"/>
                    </a:solidFill>
                  </a:tcPr>
                </a:tc>
                <a:tc>
                  <a:txBody>
                    <a:bodyPr/>
                    <a:lstStyle/>
                    <a:p>
                      <a:r>
                        <a:rPr sz="1400" b="0" i="0">
                          <a:solidFill>
                            <a:srgbClr val="1A1440"/>
                          </a:solidFill>
                          <a:latin typeface="Calibri"/>
                        </a:rPr>
                        <a:t>Rs 100 in both months</a:t>
                      </a:r>
                    </a:p>
                  </a:txBody>
                  <a:tcPr marL="101600" marR="101600" marT="38100" marB="38100" anchor="ctr">
                    <a:solidFill>
                      <a:srgbClr val="F4F2FA"/>
                    </a:solidFill>
                  </a:tcPr>
                </a:tc>
              </a:tr>
            </a:tbl>
          </a:graphicData>
        </a:graphic>
      </p:graphicFrame>
      <p:sp>
        <p:nvSpPr>
          <p:cNvPr id="10" name="TextBox 9"/>
          <p:cNvSpPr txBox="1"/>
          <p:nvPr/>
        </p:nvSpPr>
        <p:spPr>
          <a:xfrm>
            <a:off x="530352" y="54853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2, the two that carry the claim   b) 3   c) 5   d) 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three stay, and the caveat never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element go, and why does the caveat skip the sort?</a:t>
            </a:r>
          </a:p>
        </p:txBody>
      </p:sp>
      <p:pic>
        <p:nvPicPr>
          <p:cNvPr id="9" name="mermaid diagram" descr="614c9666c8763efb.png"/>
          <p:cNvPicPr>
            <a:picLocks noChangeAspect="1"/>
          </p:cNvPicPr>
          <p:nvPr/>
        </p:nvPicPr>
        <p:blipFill>
          <a:blip r:embed="rId5"/>
          <a:stretch>
            <a:fillRect/>
          </a:stretch>
        </p:blipFill>
        <p:spPr>
          <a:xfrm>
            <a:off x="1357752" y="1664208"/>
            <a:ext cx="9476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Two elements carry the claim, the per-hour chart and sales per customer, and the festival fortnight stays as the caveat. Read as sentences: if the claim needs an element, it stays; if a named person will ask about it, it goes to that person's page; if neither, it leaves; and the caveat stays whatever else happens, because an owner who finds it in the drawer calls the slide dishonest.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pages behind the slide take four elements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page takes each element that leaves, and what does the rule look like as code?</a:t>
            </a:r>
          </a:p>
        </p:txBody>
      </p:sp>
      <p:graphicFrame>
        <p:nvGraphicFramePr>
          <p:cNvPr id="9" name="Table 8"/>
          <p:cNvGraphicFramePr>
            <a:graphicFrameLocks noGrp="1"/>
          </p:cNvGraphicFramePr>
          <p:nvPr/>
        </p:nvGraphicFramePr>
        <p:xfrm>
          <a:off x="530352" y="1913128"/>
          <a:ext cx="11130990" cy="233273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Where it goes</a:t>
                      </a:r>
                    </a:p>
                  </a:txBody>
                  <a:tcPr marL="101600" marR="101600" marT="38100" marB="38100" anchor="ctr">
                    <a:solidFill>
                      <a:srgbClr val="1A0F5C"/>
                    </a:solidFill>
                  </a:tcPr>
                </a:tc>
                <a:tc>
                  <a:txBody>
                    <a:bodyPr/>
                    <a:lstStyle/>
                    <a:p>
                      <a:r>
                        <a:rPr sz="1450" b="1" i="0">
                          <a:solidFill>
                            <a:srgbClr val="FFFFFF"/>
                          </a:solidFill>
                          <a:latin typeface="Calibri"/>
                        </a:rPr>
                        <a:t>Elements</a:t>
                      </a:r>
                    </a:p>
                  </a:txBody>
                  <a:tcPr marL="101600" marR="101600" marT="38100" marB="38100" anchor="ctr">
                    <a:solidFill>
                      <a:srgbClr val="1A0F5C"/>
                    </a:solidFill>
                  </a:tcPr>
                </a:tc>
              </a:tr>
              <a:tr h="611632">
                <a:tc>
                  <a:txBody>
                    <a:bodyPr/>
                    <a:lstStyle/>
                    <a:p>
                      <a:r>
                        <a:rPr sz="1400" b="0" i="0">
                          <a:solidFill>
                            <a:srgbClr val="1A1440"/>
                          </a:solidFill>
                          <a:latin typeface="Calibri"/>
                        </a:rPr>
                        <a:t>The slide</a:t>
                      </a:r>
                    </a:p>
                  </a:txBody>
                  <a:tcPr marL="101600" marR="101600" marT="38100" marB="38100" anchor="ctr">
                    <a:solidFill>
                      <a:srgbClr val="FFFFFF"/>
                    </a:solidFill>
                  </a:tcPr>
                </a:tc>
                <a:tc>
                  <a:txBody>
                    <a:bodyPr/>
                    <a:lstStyle/>
                    <a:p>
                      <a:r>
                        <a:rPr sz="1400" b="0" i="0">
                          <a:solidFill>
                            <a:srgbClr val="1A1440"/>
                          </a:solidFill>
                          <a:latin typeface="Calibri"/>
                        </a:rPr>
                        <a:t>The per-hour chart; sales per customer; the festival fortnight, as the caveat</a:t>
                      </a:r>
                    </a:p>
                  </a:txBody>
                  <a:tcPr marL="101600" marR="101600" marT="38100" marB="38100" anchor="ctr">
                    <a:solidFill>
                      <a:srgbClr val="FFFFFF"/>
                    </a:solidFill>
                  </a:tcPr>
                </a:tc>
              </a:tr>
              <a:tr h="369824">
                <a:tc>
                  <a:txBody>
                    <a:bodyPr/>
                    <a:lstStyle/>
                    <a:p>
                      <a:r>
                        <a:rPr sz="1400" b="0" i="0">
                          <a:solidFill>
                            <a:srgbClr val="1A1440"/>
                          </a:solidFill>
                          <a:latin typeface="Calibri"/>
                        </a:rPr>
                        <a:t>The son's page: did my extra hours bring customers?</a:t>
                      </a:r>
                    </a:p>
                  </a:txBody>
                  <a:tcPr marL="101600" marR="101600" marT="38100" marB="38100" anchor="ctr">
                    <a:solidFill>
                      <a:srgbClr val="F4F2FA"/>
                    </a:solidFill>
                  </a:tcPr>
                </a:tc>
                <a:tc>
                  <a:txBody>
                    <a:bodyPr/>
                    <a:lstStyle/>
                    <a:p>
                      <a:r>
                        <a:rPr sz="1400" b="0" i="0">
                          <a:solidFill>
                            <a:srgbClr val="1A1440"/>
                          </a:solidFill>
                          <a:latin typeface="Calibri"/>
                        </a:rPr>
                        <a:t>Customers a day; the son's hours at the counter</a:t>
                      </a:r>
                    </a:p>
                  </a:txBody>
                  <a:tcPr marL="101600" marR="101600" marT="38100" marB="38100" anchor="ctr">
                    <a:solidFill>
                      <a:srgbClr val="F4F2FA"/>
                    </a:solidFill>
                  </a:tcPr>
                </a:tc>
              </a:tr>
              <a:tr h="611632">
                <a:tc>
                  <a:txBody>
                    <a:bodyPr/>
                    <a:lstStyle/>
                    <a:p>
                      <a:r>
                        <a:rPr sz="1400" b="0" i="0">
                          <a:solidFill>
                            <a:srgbClr val="1A1440"/>
                          </a:solidFill>
                          <a:latin typeface="Calibri"/>
                        </a:rPr>
                        <a:t>The accounts page: what did the hours cost, and what did they bring?</a:t>
                      </a:r>
                    </a:p>
                  </a:txBody>
                  <a:tcPr marL="101600" marR="101600" marT="38100" marB="38100" anchor="ctr">
                    <a:solidFill>
                      <a:srgbClr val="FFFFFF"/>
                    </a:solidFill>
                  </a:tcPr>
                </a:tc>
                <a:tc>
                  <a:txBody>
                    <a:bodyPr/>
                    <a:lstStyle/>
                    <a:p>
                      <a:r>
                        <a:rPr sz="1400" b="0" i="0">
                          <a:solidFill>
                            <a:srgbClr val="1A1440"/>
                          </a:solidFill>
                          <a:latin typeface="Calibri"/>
                        </a:rPr>
                        <a:t>Total sales over four weeks; the helper's wage</a:t>
                      </a:r>
                    </a:p>
                  </a:txBody>
                  <a:tcPr marL="101600" marR="101600" marT="38100" marB="38100" anchor="ctr">
                    <a:solidFill>
                      <a:srgbClr val="FFFFFF"/>
                    </a:solidFill>
                  </a:tcPr>
                </a:tc>
              </a:tr>
              <a:tr h="369824">
                <a:tc>
                  <a:txBody>
                    <a:bodyPr/>
                    <a:lstStyle/>
                    <a:p>
                      <a:r>
                        <a:rPr sz="1400" b="0" i="0">
                          <a:solidFill>
                            <a:srgbClr val="1A1440"/>
                          </a:solidFill>
                          <a:latin typeface="Calibri"/>
                        </a:rPr>
                        <a:t>Nowhere: nobody will ask</a:t>
                      </a:r>
                    </a:p>
                  </a:txBody>
                  <a:tcPr marL="101600" marR="101600" marT="38100" marB="38100" anchor="ctr">
                    <a:solidFill>
                      <a:srgbClr val="F4F2FA"/>
                    </a:solidFill>
                  </a:tcPr>
                </a:tc>
                <a:tc>
                  <a:txBody>
                    <a:bodyPr/>
                    <a:lstStyle/>
                    <a:p>
                      <a:r>
                        <a:rPr sz="1400" b="0" i="0">
                          <a:solidFill>
                            <a:srgbClr val="1A1440"/>
                          </a:solidFill>
                          <a:latin typeface="Calibri"/>
                        </a:rPr>
                        <a:t>Rain days</a:t>
                      </a:r>
                    </a:p>
                  </a:txBody>
                  <a:tcPr marL="101600" marR="101600" marT="38100" marB="38100" anchor="ctr">
                    <a:solidFill>
                      <a:srgbClr val="F4F2FA"/>
                    </a:solidFill>
                  </a:tcPr>
                </a:tc>
              </a:tr>
            </a:tbl>
          </a:graphicData>
        </a:graphic>
      </p:graphicFrame>
      <p:sp>
        <p:nvSpPr>
          <p:cNvPr id="10" name="Rounded Rectangle 9"/>
          <p:cNvSpPr/>
          <p:nvPr/>
        </p:nvSpPr>
        <p:spPr>
          <a:xfrm>
            <a:off x="530352" y="450189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6299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6299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6299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83108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route(e):</a:t>
            </a:r>
          </a:p>
          <a:p>
            <a:pPr>
              <a:spcAft>
                <a:spcPts val="200"/>
              </a:spcAft>
            </a:pPr>
            <a:r>
              <a:rPr sz="1400" b="0" i="0">
                <a:solidFill>
                  <a:srgbClr val="E4E1F1"/>
                </a:solidFill>
                <a:latin typeface="Consolas"/>
              </a:rPr>
              <a:t>    if e.is_caveat == "yes" or e.supports_claim == "yes":</a:t>
            </a:r>
          </a:p>
          <a:p>
            <a:pPr>
              <a:spcAft>
                <a:spcPts val="200"/>
              </a:spcAft>
            </a:pPr>
            <a:r>
              <a:rPr sz="1400" b="0" i="0">
                <a:solidFill>
                  <a:srgbClr val="E4E1F1"/>
                </a:solidFill>
                <a:latin typeface="Consolas"/>
              </a:rPr>
              <a:t>        return "the slide"</a:t>
            </a:r>
          </a:p>
          <a:p>
            <a:pPr>
              <a:spcAft>
                <a:spcPts val="200"/>
              </a:spcAft>
            </a:pPr>
            <a:r>
              <a:rPr sz="1400" b="0" i="0">
                <a:solidFill>
                  <a:srgbClr val="E4E1F1"/>
                </a:solidFill>
                <a:latin typeface="Consolas"/>
              </a:rPr>
              <a:t>    return e.whose_question + "'s page" if e.whose_question else "leaves"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chart obeys the same rule: one line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the cluttered chart's ink carries the claim?</a:t>
            </a:r>
          </a:p>
        </p:txBody>
      </p:sp>
      <p:pic>
        <p:nvPicPr>
          <p:cNvPr id="9" name="mermaid diagram" descr="C2_W04_D02_kirana_makeover_STUDENT.png"/>
          <p:cNvPicPr>
            <a:picLocks noChangeAspect="1"/>
          </p:cNvPicPr>
          <p:nvPr/>
        </p:nvPicPr>
        <p:blipFill>
          <a:blip r:embed="rId4"/>
          <a:stretch>
            <a:fillRect/>
          </a:stretch>
        </p:blipFill>
        <p:spPr>
          <a:xfrm>
            <a:off x="2352231" y="1664208"/>
            <a:ext cx="748723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shop's 56 invented days drawn cluttered, then as the one line that carries the claim</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Five of the six series leave, with the legend, the gridlines and the border; one line and two labels stay.</a:t>
            </a:r>
            <a:r>
              <a:rPr sz="1600" b="0" i="0">
                <a:solidFill>
                  <a:srgbClr val="1A1440"/>
                </a:solidFill>
                <a:latin typeface="Calibri"/>
              </a:rPr>
              <a:t> Storytelling with Data's declutter test asks of each element, "Is it adding any informative value? If the answer is no, then take it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what leaves the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An element stays only if the claim cannot stand without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 element a named person will ask about goes to that person's page, headed by their question.</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element nobody will ask about leaves.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caveat stays on the slide, even when the slide is crowded.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What do you leave off the slide, and where does it go?</a:t>
            </a:r>
          </a:p>
        </p:txBody>
      </p:sp>
      <p:pic>
        <p:nvPicPr>
          <p:cNvPr id="22" name="mermaid diagram" descr="18adbe11e297accf.png"/>
          <p:cNvPicPr>
            <a:picLocks noChangeAspect="1"/>
          </p:cNvPicPr>
          <p:nvPr/>
        </p:nvPicPr>
        <p:blipFill>
          <a:blip r:embed="rId6"/>
          <a:stretch>
            <a:fillRect/>
          </a:stretch>
        </p:blipFill>
        <p:spPr>
          <a:xfrm>
            <a:off x="3019899" y="4587240"/>
            <a:ext cx="6151895"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Defending under challenge: restate, answer, concede, what would change your mind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hold a claim?</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taught at Gulmohar Secondary School, invented for this chapter: an objection is usually partly right, and a defence that concedes its true part keeps the claim.</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objection is usually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Defending under challenge: restate, answer, concede, what would change your mind.</a:t>
            </a:r>
          </a:p>
        </p:txBody>
      </p:sp>
      <p:sp>
        <p:nvSpPr>
          <p:cNvPr id="12" name="Rounded Rectangle 11"/>
          <p:cNvSpPr/>
          <p:nvPr/>
        </p:nvSpPr>
        <p:spPr>
          <a:xfrm>
            <a:off x="530352" y="264541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7342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6428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teacher at Gulmohar Secondary School (invented) who claims at a staff meeting that the new timetable raised attendance, and the headmaster, who decides whether the timetable stays. An </a:t>
            </a:r>
            <a:r>
              <a:rPr sz="1500" b="1" i="0">
                <a:solidFill>
                  <a:srgbClr val="1A1440"/>
                </a:solidFill>
                <a:latin typeface="Calibri"/>
              </a:rPr>
              <a:t>objection</a:t>
            </a:r>
            <a:r>
              <a:rPr sz="1500" b="0" i="0">
                <a:solidFill>
                  <a:srgbClr val="1A1440"/>
                </a:solidFill>
                <a:latin typeface="Calibri"/>
              </a:rPr>
              <a:t> is the reason a listener gives for not accepting a claim, usually built on a number the objector can see. To </a:t>
            </a:r>
            <a:r>
              <a:rPr sz="1500" b="1" i="0">
                <a:solidFill>
                  <a:srgbClr val="1A1440"/>
                </a:solidFill>
                <a:latin typeface="Calibri"/>
              </a:rPr>
              <a:t>concede</a:t>
            </a:r>
            <a:r>
              <a:rPr sz="1500" b="0" i="0">
                <a:solidFill>
                  <a:srgbClr val="1A1440"/>
                </a:solidFill>
                <a:latin typeface="Calibri"/>
              </a:rPr>
              <a:t> is to say its true part out loud.</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reply wins the room?</a:t>
            </a:r>
          </a:p>
        </p:txBody>
      </p:sp>
      <p:sp>
        <p:nvSpPr>
          <p:cNvPr id="20" name="TextBox 19"/>
          <p:cNvSpPr txBox="1"/>
          <p:nvPr/>
        </p:nvSpPr>
        <p:spPr>
          <a:xfrm>
            <a:off x="694944"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replies to one objection.</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part of the objection is true?</a:t>
            </a:r>
          </a:p>
        </p:txBody>
      </p:sp>
      <p:sp>
        <p:nvSpPr>
          <p:cNvPr id="25" name="TextBox 24"/>
          <p:cNvSpPr txBox="1"/>
          <p:nvPr/>
        </p:nvSpPr>
        <p:spPr>
          <a:xfrm>
            <a:off x="3523411"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Counted on two years of weeks.</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evidence answers the rest?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before any exam.</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would change the teacher's mind?</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fact that can be checked.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reply wins the headmaster?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teacher says the new timetable, from week 3, raised attendance. The sports teacher objects: "Attendance rose because the exams began." Which reply wins?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numbers again, louder: attendance went from 77 percent in week 1 to 89 percent in week 8</a:t>
            </a:r>
          </a:p>
          <a:p>
            <a:pPr>
              <a:spcAft>
                <a:spcPts val="800"/>
              </a:spcAft>
            </a:pPr>
            <a:r>
              <a:rPr sz="1600" b="0" i="0">
                <a:solidFill>
                  <a:srgbClr val="1A1440"/>
                </a:solidFill>
                <a:latin typeface="Calibri"/>
              </a:rPr>
              <a:t>b) Withdraw the claim until next term</a:t>
            </a:r>
          </a:p>
          <a:p>
            <a:pPr>
              <a:spcAft>
                <a:spcPts val="800"/>
              </a:spcAft>
            </a:pPr>
            <a:r>
              <a:rPr sz="1600" b="0" i="0">
                <a:solidFill>
                  <a:srgbClr val="1A1440"/>
                </a:solidFill>
                <a:latin typeface="Calibri"/>
              </a:rPr>
              <a:t>c) Agree that exam weeks run higher, show that the rise began before the exams, and name what would change your mind</a:t>
            </a:r>
          </a:p>
          <a:p>
            <a:pPr>
              <a:spcAft>
                <a:spcPts val="800"/>
              </a:spcAft>
            </a:pPr>
            <a:r>
              <a:rPr sz="1600" b="0" i="0">
                <a:solidFill>
                  <a:srgbClr val="1A1440"/>
                </a:solidFill>
                <a:latin typeface="Calibri"/>
              </a:rPr>
              <a:t>d) Ask for another term of data before anyone decides</a:t>
            </a:r>
          </a:p>
          <a:p>
            <a:pPr>
              <a:spcAft>
                <a:spcPts val="800"/>
              </a:spcAft>
            </a:pPr>
            <a:r>
              <a:rPr sz="1600" b="1" i="0">
                <a:solidFill>
                  <a:srgbClr val="1A1440"/>
                </a:solidFill>
                <a:latin typeface="Calibri"/>
              </a:rPr>
              <a:t>Vote, two minutes with a neighbour, then vote again.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concede the exams and keep weeks 3 to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objection is true, and which line of evidence answers the rest?</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3815791"/>
                <a:gridCol w="914400"/>
                <a:gridCol w="914400"/>
                <a:gridCol w="914400"/>
                <a:gridCol w="914400"/>
                <a:gridCol w="914400"/>
                <a:gridCol w="914400"/>
                <a:gridCol w="914400"/>
                <a:gridCol w="914400"/>
              </a:tblGrid>
              <a:tr h="335280">
                <a:tc>
                  <a:txBody>
                    <a:bodyPr/>
                    <a:lstStyle/>
                    <a:p>
                      <a:r>
                        <a:rPr sz="1250" b="1" i="0">
                          <a:solidFill>
                            <a:srgbClr val="FFFFFF"/>
                          </a:solidFill>
                          <a:latin typeface="Calibri"/>
                        </a:rPr>
                        <a:t>Week (invented)</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r>
              <a:tr h="335280">
                <a:tc>
                  <a:txBody>
                    <a:bodyPr/>
                    <a:lstStyle/>
                    <a:p>
                      <a:r>
                        <a:rPr sz="1200" b="0" i="0">
                          <a:solidFill>
                            <a:srgbClr val="1A1440"/>
                          </a:solidFill>
                          <a:latin typeface="Calibri"/>
                        </a:rPr>
                        <a:t>Last year, percent</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r>
              <a:tr h="335280">
                <a:tc>
                  <a:txBody>
                    <a:bodyPr/>
                    <a:lstStyle/>
                    <a:p>
                      <a:r>
                        <a:rPr sz="1200" b="0" i="0">
                          <a:solidFill>
                            <a:srgbClr val="1A1440"/>
                          </a:solidFill>
                          <a:latin typeface="Calibri"/>
                        </a:rPr>
                        <a:t>This year, percent</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82</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c>
                  <a:txBody>
                    <a:bodyPr/>
                    <a:lstStyle/>
                    <a:p>
                      <a:r>
                        <a:rPr sz="1200" b="0" i="0">
                          <a:solidFill>
                            <a:srgbClr val="1A1440"/>
                          </a:solidFill>
                          <a:latin typeface="Calibri"/>
                        </a:rPr>
                        <a:t>90</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new timetable began in week 3 this year; exams ran in weeks 6 to 8 in both years. </a:t>
            </a:r>
            <a:r>
              <a:rPr sz="1600" b="1" i="0">
                <a:solidFill>
                  <a:srgbClr val="1A1440"/>
                </a:solidFill>
                <a:latin typeface="Calibri"/>
              </a:rPr>
              <a:t>The true part:</a:t>
            </a:r>
            <a:r>
              <a:rPr sz="1600" b="0" i="0">
                <a:solidFill>
                  <a:srgbClr val="1A1440"/>
                </a:solidFill>
                <a:latin typeface="Calibri"/>
              </a:rPr>
              <a:t> the exam weeks run about 8 points above the three weeks before them in both years, 8.3 last year and 8.0 this year. </a:t>
            </a:r>
            <a:r>
              <a:rPr sz="1600" b="1" i="0">
                <a:solidFill>
                  <a:srgbClr val="1A1440"/>
                </a:solidFill>
                <a:latin typeface="Calibri"/>
              </a:rPr>
              <a:t>The rest:</a:t>
            </a:r>
            <a:r>
              <a:rPr sz="1600" b="0" i="0">
                <a:solidFill>
                  <a:srgbClr val="1A1440"/>
                </a:solidFill>
                <a:latin typeface="Calibri"/>
              </a:rPr>
              <a:t> weeks 3 to 5 this year sit 4 to 5 points above the same weeks last year, before any exam, 4.7 on average. </a:t>
            </a:r>
            <a:r>
              <a:rPr sz="1600" b="1" i="0">
                <a:solidFill>
                  <a:srgbClr val="1A1440"/>
                </a:solidFill>
                <a:latin typeface="Calibri"/>
              </a:rPr>
              <a:t>The answer is c.</a:t>
            </a:r>
            <a:r>
              <a:rPr sz="1600" b="0" i="0">
                <a:solidFill>
                  <a:srgbClr val="1A1440"/>
                </a:solidFill>
                <a:latin typeface="Calibri"/>
              </a:rPr>
              <a:t> a repeats the claim and concedes nothing; b and d retreat from evidence the teacher already holds.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rise began in week 3, before any exam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that the objection missed?</a:t>
            </a:r>
          </a:p>
        </p:txBody>
      </p:sp>
      <p:pic>
        <p:nvPicPr>
          <p:cNvPr id="9" name="mermaid diagram" descr="C2_W04_D02_school_two_years_STUDENT.png"/>
          <p:cNvPicPr>
            <a:picLocks noChangeAspect="1"/>
          </p:cNvPicPr>
          <p:nvPr/>
        </p:nvPicPr>
        <p:blipFill>
          <a:blip r:embed="rId4"/>
          <a:stretch>
            <a:fillRect/>
          </a:stretch>
        </p:blipFill>
        <p:spPr>
          <a:xfrm>
            <a:off x="3027570" y="1664208"/>
            <a:ext cx="613655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Gulmohar Secondary School's attendance over two years, the new timetable and the exams marked, invented</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1" i="0">
                <a:solidFill>
                  <a:srgbClr val="1A1440"/>
                </a:solidFill>
                <a:latin typeface="Calibri"/>
              </a:rPr>
              <a:t>The two lines agree where nothing changed and part where the timetable did.</a:t>
            </a:r>
            <a:r>
              <a:rPr sz="1600" b="0" i="0">
                <a:solidFill>
                  <a:srgbClr val="1A1440"/>
                </a:solidFill>
                <a:latin typeface="Calibri"/>
              </a:rPr>
              <a:t> Weeks 1 and 2 match; the exam weeks lift both years by about 8 points; only this year's line rises from week 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 worked 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the sports teacher's objection sound like?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saying attendance rose because the exams began, so the timetable may have done nothing."</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"Weeks 3 to 5 this year sit 4 to 5 points above last year's same weeks, before any exam."</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right that exam weeks run about 8 points higher; they did in both years."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696976"/>
          </a:xfrm>
          <a:prstGeom prst="rect">
            <a:avLst/>
          </a:prstGeom>
          <a:noFill/>
        </p:spPr>
        <p:txBody>
          <a:bodyPr wrap="square" anchor="t" lIns="0" rIns="0" tIns="0" bIns="0">
            <a:spAutoFit/>
          </a:bodyPr>
          <a:lstStyle/>
          <a:p>
            <a:pPr algn="l"/>
            <a:r>
              <a:rPr sz="1000" b="0" i="0">
                <a:solidFill>
                  <a:srgbClr val="CFC9EE"/>
                </a:solidFill>
                <a:latin typeface="Calibri"/>
              </a:rPr>
              <a:t>"If a school with the same exams and the old timetable showed the same rise in weeks 3 to 5, I would drop the claim."</a:t>
            </a:r>
          </a:p>
        </p:txBody>
      </p:sp>
      <p:sp>
        <p:nvSpPr>
          <p:cNvPr id="30" name="TextBox 29"/>
          <p:cNvSpPr txBox="1"/>
          <p:nvPr/>
        </p:nvSpPr>
        <p:spPr>
          <a:xfrm>
            <a:off x="530352" y="444906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These are the four moves: restate, answer, concede, what would change your mind.</a:t>
            </a:r>
            <a:r>
              <a:rPr sz="1600" b="0" i="0">
                <a:solidFill>
                  <a:srgbClr val="1A1440"/>
                </a:solidFill>
                <a:latin typeface="Calibri"/>
              </a:rPr>
              <a:t> Restating comes first because the objector has to agree with your version before any answer lands; Rapoport's rules, which the philosopher Daniel Dennett set out, open the same way.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overclaiming or retreating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 the school?</a:t>
            </a:r>
          </a:p>
        </p:txBody>
      </p:sp>
      <p:graphicFrame>
        <p:nvGraphicFramePr>
          <p:cNvPr id="9" name="Table 8"/>
          <p:cNvGraphicFramePr>
            <a:graphicFrameLocks noGrp="1"/>
          </p:cNvGraphicFramePr>
          <p:nvPr/>
        </p:nvGraphicFramePr>
        <p:xfrm>
          <a:off x="530352" y="1956816"/>
          <a:ext cx="11130990" cy="1834896"/>
        </p:xfrm>
        <a:graphic>
          <a:graphicData uri="http://schemas.openxmlformats.org/drawingml/2006/table">
            <a:tbl>
              <a:tblPr firstRow="0" bandRow="0">
                <a:tableStyleId>{2D5ABB26-0587-4C30-8999-92F81FD0307C}</a:tableStyleId>
              </a:tblPr>
              <a:tblGrid>
                <a:gridCol w="2383010"/>
                <a:gridCol w="3842736"/>
                <a:gridCol w="490524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What it costs the school</a:t>
                      </a:r>
                    </a:p>
                  </a:txBody>
                  <a:tcPr marL="101600" marR="101600" marT="38100" marB="38100" anchor="ctr">
                    <a:solidFill>
                      <a:srgbClr val="1A0F5C"/>
                    </a:solidFill>
                  </a:tcPr>
                </a:tc>
              </a:tr>
              <a:tr h="853440">
                <a:tc>
                  <a:txBody>
                    <a:bodyPr/>
                    <a:lstStyle/>
                    <a:p>
                      <a:r>
                        <a:rPr sz="1400" b="0" i="0">
                          <a:solidFill>
                            <a:srgbClr val="1A1440"/>
                          </a:solidFill>
                          <a:latin typeface="Calibri"/>
                        </a:rPr>
                        <a:t>Overclaim: concede nothing</a:t>
                      </a:r>
                    </a:p>
                  </a:txBody>
                  <a:tcPr marL="101600" marR="101600" marT="38100" marB="38100" anchor="ctr">
                    <a:solidFill>
                      <a:srgbClr val="FFFFFF"/>
                    </a:solidFill>
                  </a:tcPr>
                </a:tc>
                <a:tc>
                  <a:txBody>
                    <a:bodyPr/>
                    <a:lstStyle/>
                    <a:p>
                      <a:r>
                        <a:rPr sz="1400" b="0" i="0">
                          <a:solidFill>
                            <a:srgbClr val="1A1440"/>
                          </a:solidFill>
                          <a:latin typeface="Calibri"/>
                        </a:rPr>
                        <a:t>"Exams are irrelevant; the timetable did it."</a:t>
                      </a:r>
                    </a:p>
                  </a:txBody>
                  <a:tcPr marL="101600" marR="101600" marT="38100" marB="38100" anchor="ctr">
                    <a:solidFill>
                      <a:srgbClr val="FFFFFF"/>
                    </a:solidFill>
                  </a:tcPr>
                </a:tc>
                <a:tc>
                  <a:txBody>
                    <a:bodyPr/>
                    <a:lstStyle/>
                    <a:p>
                      <a:r>
                        <a:rPr sz="1400" b="0" i="0">
                          <a:solidFill>
                            <a:srgbClr val="1A1440"/>
                          </a:solidFill>
                          <a:latin typeface="Calibri"/>
                        </a:rPr>
                        <a:t>The headmaster hears a claim repeated louder, and the sports teacher, partly right, turns the staff room against the timetable</a:t>
                      </a:r>
                    </a:p>
                  </a:txBody>
                  <a:tcPr marL="101600" marR="101600" marT="38100" marB="38100" anchor="ctr">
                    <a:solidFill>
                      <a:srgbClr val="FFFFFF"/>
                    </a:solidFill>
                  </a:tcPr>
                </a:tc>
              </a:tr>
              <a:tr h="611632">
                <a:tc>
                  <a:txBody>
                    <a:bodyPr/>
                    <a:lstStyle/>
                    <a:p>
                      <a:r>
                        <a:rPr sz="1400" b="0" i="0">
                          <a:solidFill>
                            <a:srgbClr val="1A1440"/>
                          </a:solidFill>
                          <a:latin typeface="Calibri"/>
                        </a:rPr>
                        <a:t>Retreat: concede everything</a:t>
                      </a:r>
                    </a:p>
                  </a:txBody>
                  <a:tcPr marL="101600" marR="101600" marT="38100" marB="38100" anchor="ctr">
                    <a:solidFill>
                      <a:srgbClr val="F4F2FA"/>
                    </a:solidFill>
                  </a:tcPr>
                </a:tc>
                <a:tc>
                  <a:txBody>
                    <a:bodyPr/>
                    <a:lstStyle/>
                    <a:p>
                      <a:r>
                        <a:rPr sz="1400" b="0" i="0">
                          <a:solidFill>
                            <a:srgbClr val="1A1440"/>
                          </a:solidFill>
                          <a:latin typeface="Calibri"/>
                        </a:rPr>
                        <a:t>"You may be right; let us wait a term."</a:t>
                      </a:r>
                    </a:p>
                  </a:txBody>
                  <a:tcPr marL="101600" marR="101600" marT="38100" marB="38100" anchor="ctr">
                    <a:solidFill>
                      <a:srgbClr val="F4F2FA"/>
                    </a:solidFill>
                  </a:tcPr>
                </a:tc>
                <a:tc>
                  <a:txBody>
                    <a:bodyPr/>
                    <a:lstStyle/>
                    <a:p>
                      <a:r>
                        <a:rPr sz="1400" b="0" i="0">
                          <a:solidFill>
                            <a:srgbClr val="1A1440"/>
                          </a:solidFill>
                          <a:latin typeface="Calibri"/>
                        </a:rPr>
                        <a:t>A term of the old timetable, with the evidence for the new one never heard</a:t>
                      </a:r>
                    </a:p>
                  </a:txBody>
                  <a:tcPr marL="101600" marR="101600" marT="38100" marB="38100" anchor="ctr">
                    <a:solidFill>
                      <a:srgbClr val="F4F2FA"/>
                    </a:solidFill>
                  </a:tcPr>
                </a:tc>
              </a:tr>
            </a:tbl>
          </a:graphicData>
        </a:graphic>
      </p:graphicFrame>
      <p:sp>
        <p:nvSpPr>
          <p:cNvPr id="10" name="Rounded Rectangle 9"/>
          <p:cNvSpPr/>
          <p:nvPr/>
        </p:nvSpPr>
        <p:spPr>
          <a:xfrm>
            <a:off x="530352" y="40477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757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6661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a:t>
            </a:r>
            <a:r>
              <a:rPr sz="1500" b="1" i="0">
                <a:solidFill>
                  <a:srgbClr val="1A1440"/>
                </a:solidFill>
                <a:latin typeface="Calibri"/>
              </a:rPr>
              <a:t>When the objector runs the meeting,</a:t>
            </a:r>
            <a:r>
              <a:rPr sz="1500" b="0" i="0">
                <a:solidFill>
                  <a:srgbClr val="1A1440"/>
                </a:solidFill>
                <a:latin typeface="Calibri"/>
              </a:rPr>
              <a:t> concede the true part first, keep their visible number on the page, and agree the test and the result that decides it before the meeting.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concession and the answer, in four lines of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numbers does the defence stand on, computed?</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 = att.pivot(index="week", columns="year", values="attendance_pct")</a:t>
            </a:r>
          </a:p>
          <a:p>
            <a:pPr>
              <a:spcAft>
                <a:spcPts val="200"/>
              </a:spcAft>
            </a:pPr>
            <a:r>
              <a:rPr sz="1400" b="0" i="0">
                <a:solidFill>
                  <a:srgbClr val="E4E1F1"/>
                </a:solidFill>
                <a:latin typeface="Consolas"/>
              </a:rPr>
              <a:t>exam_lift = w.loc[6:8].mean() - w.loc[3:5].mean()     # 8.3 last year, 8.0 this year</a:t>
            </a:r>
          </a:p>
          <a:p>
            <a:pPr>
              <a:spcAft>
                <a:spcPts val="200"/>
              </a:spcAft>
            </a:pPr>
            <a:r>
              <a:rPr sz="1400" b="0" i="0">
                <a:solidFill>
                  <a:srgbClr val="E4E1F1"/>
                </a:solidFill>
                <a:latin typeface="Consolas"/>
              </a:rPr>
              <a:t>early = w.loc[3:5].mean()                             # weeks 3 to 5, both years</a:t>
            </a:r>
          </a:p>
          <a:p>
            <a:pPr>
              <a:spcAft>
                <a:spcPts val="200"/>
              </a:spcAft>
            </a:pPr>
            <a:r>
              <a:rPr sz="1400" b="0" i="0">
                <a:solidFill>
                  <a:srgbClr val="E4E1F1"/>
                </a:solidFill>
                <a:latin typeface="Consolas"/>
              </a:rPr>
              <a:t>rise = early["this year"] - early["last year"]        # 4.7 points, before any exam</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concession carries one number and the answer carries another.</a:t>
            </a:r>
            <a:r>
              <a:rPr sz="1600" b="0" i="0">
                <a:solidFill>
                  <a:srgbClr val="1A1440"/>
                </a:solidFill>
                <a:latin typeface="Calibri"/>
              </a:rPr>
              <a:t> Exams lift both years by about 8 points; the timetable's weeks sit 4.7 points above last year's before any exam.</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9" name="Oval 1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holding a claim under challenge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Restate the objection until its owner agrees with your version.</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Answer from a named line of the evidence, never from the claim repeated.</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Concede the true part out loud; the claim survives it.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Say the fact that would change your mind, so the claim can be tested.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A stakeholder's objection is partly right; how do you answer it?</a:t>
            </a:r>
          </a:p>
        </p:txBody>
      </p:sp>
      <p:pic>
        <p:nvPicPr>
          <p:cNvPr id="22" name="mermaid diagram" descr="7a6795348fb3a5fa.png"/>
          <p:cNvPicPr>
            <a:picLocks noChangeAspect="1"/>
          </p:cNvPicPr>
          <p:nvPr/>
        </p:nvPicPr>
        <p:blipFill>
          <a:blip r:embed="rId6"/>
          <a:stretch>
            <a:fillRect/>
          </a:stretch>
        </p:blipFill>
        <p:spPr>
          <a:xfrm>
            <a:off x="2871063" y="4587240"/>
            <a:ext cx="6449568"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Uber's slide, rebuilt with the one-slide answer and what to leave out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carries it?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applied: Uber's slides A, B and C rebuilt to one claim, one number with its denominator, the caveat in sight and the action with its cost, so the city head can act on one slide.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slide applies chapters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What to leave out, and the appendix (chapter 2).</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has one slide and five minutes at Thursday's city review, with the driver-operations lead, the marketing lead and the finance partner in the room, each losing something under the redesign.</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role lose?</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loser test, on three real roles.</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title acts?</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1's claim, on finance's top-up.</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two numbers stay?</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Nine dashboard numbers cut to two.</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denominator?</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same rupees read three ways.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city-wide, it saves Rs 58 lakh to Rs 92.7 lakh over six weeks if a half to a fifth of the idle drivers' top-up is still paid."</a:t>
            </a:r>
          </a:p>
        </p:txBody>
      </p:sp>
      <p:sp>
        <p:nvSpPr>
          <p:cNvPr id="11" name="TextBox 10"/>
          <p:cNvSpPr txBox="1"/>
          <p:nvPr/>
        </p:nvSpPr>
        <p:spPr>
          <a:xfrm>
            <a:off x="530352" y="370840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05482"/>
            <a:ext cx="237744" cy="237744"/>
          </a:xfrm>
          <a:prstGeom prst="rect">
            <a:avLst/>
          </a:prstGeom>
        </p:spPr>
      </p:pic>
      <p:sp>
        <p:nvSpPr>
          <p:cNvPr id="12" name="TextBox 11"/>
          <p:cNvSpPr txBox="1"/>
          <p:nvPr/>
        </p:nvSpPr>
        <p:spPr>
          <a:xfrm>
            <a:off x="731519"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The supply headline</a:t>
            </a:r>
          </a:p>
        </p:txBody>
      </p:sp>
      <p:sp>
        <p:nvSpPr>
          <p:cNvPr id="14" name="TextBox 13"/>
          <p:cNvSpPr txBox="1"/>
          <p:nvPr/>
        </p:nvSpPr>
        <p:spPr>
          <a:xfrm>
            <a:off x="731519"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05482"/>
            <a:ext cx="237744" cy="237744"/>
          </a:xfrm>
          <a:prstGeom prst="rect">
            <a:avLst/>
          </a:prstGeom>
        </p:spPr>
      </p:pic>
      <p:sp>
        <p:nvSpPr>
          <p:cNvPr id="18" name="TextBox 17"/>
          <p:cNvSpPr txBox="1"/>
          <p:nvPr/>
        </p:nvSpPr>
        <p:spPr>
          <a:xfrm>
            <a:off x="450281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A clean hoarding line</a:t>
            </a:r>
          </a:p>
        </p:txBody>
      </p:sp>
      <p:sp>
        <p:nvSpPr>
          <p:cNvPr id="20" name="TextBox 19"/>
          <p:cNvSpPr txBox="1"/>
          <p:nvPr/>
        </p:nvSpPr>
        <p:spPr>
          <a:xfrm>
            <a:off x="4502810"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"Rs 300 an hour, guaranteed" now carries a condition: the Rs 300 floor holds only for drivers who accept most offers</a:t>
            </a:r>
          </a:p>
        </p:txBody>
      </p:sp>
      <p:sp>
        <p:nvSpPr>
          <p:cNvPr id="21" name="Rounded Rectangle 20"/>
          <p:cNvSpPr/>
          <p:nvPr/>
        </p:nvSpPr>
        <p:spPr>
          <a:xfrm>
            <a:off x="807293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05482"/>
            <a:ext cx="237744" cy="237744"/>
          </a:xfrm>
          <a:prstGeom prst="rect">
            <a:avLst/>
          </a:prstGeom>
        </p:spPr>
      </p:pic>
      <p:sp>
        <p:nvSpPr>
          <p:cNvPr id="24" name="TextBox 23"/>
          <p:cNvSpPr txBox="1"/>
          <p:nvPr/>
        </p:nvSpPr>
        <p:spPr>
          <a:xfrm>
            <a:off x="827410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Its own number as the headline</a:t>
            </a:r>
          </a:p>
        </p:txBody>
      </p:sp>
      <p:sp>
        <p:nvSpPr>
          <p:cNvPr id="26" name="TextBox 25"/>
          <p:cNvSpPr txBox="1"/>
          <p:nvPr/>
        </p:nvSpPr>
        <p:spPr>
          <a:xfrm>
            <a:off x="8274100" y="3208274"/>
            <a:ext cx="3186074" cy="333756"/>
          </a:xfrm>
          <a:prstGeom prst="rect">
            <a:avLst/>
          </a:prstGeom>
          <a:noFill/>
        </p:spPr>
        <p:txBody>
          <a:bodyPr wrap="square" anchor="t" lIns="0" rIns="0" tIns="0" bIns="0">
            <a:spAutoFit/>
          </a:bodyPr>
          <a:lstStyle/>
          <a:p>
            <a:pPr algn="l"/>
            <a:r>
              <a:rPr sz="9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95242"/>
            <a:ext cx="11130991"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23258"/>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14114"/>
            <a:ext cx="10564063" cy="1709419"/>
          </a:xfrm>
          <a:prstGeom prst="rect">
            <a:avLst/>
          </a:prstGeom>
          <a:noFill/>
        </p:spPr>
        <p:txBody>
          <a:bodyPr wrap="square" anchor="ctr" lIns="0" rIns="0" tIns="0" bIns="0">
            <a:spAutoFit/>
          </a:bodyPr>
          <a:lstStyle/>
          <a:p>
            <a:r>
              <a:rPr sz="1300" b="1">
                <a:solidFill>
                  <a:srgbClr val="5B3FD6"/>
                </a:solidFill>
                <a:latin typeface="Calibri"/>
              </a:rPr>
              <a:t>The scheme now. </a:t>
            </a:r>
            <a:r>
              <a:rPr sz="1300" b="0" i="0">
                <a:solidFill>
                  <a:srgbClr val="1A1440"/>
                </a:solidFill>
                <a:latin typeface="Calibri"/>
              </a:rPr>
              <a:t>An enrolled driver online through a whole peak window (two three-hour windows a day) is guaranteed Rs 300 per peak online hour, the floor; when the driver's trip earnings fall short, Uber pays the gap as a </a:t>
            </a:r>
            <a:r>
              <a:rPr sz="1300" b="1" i="0">
                <a:solidFill>
                  <a:srgbClr val="1A1440"/>
                </a:solidFill>
                <a:latin typeface="Calibri"/>
              </a:rPr>
              <a:t>top-up</a:t>
            </a:r>
            <a:r>
              <a:rPr sz="1300" b="0" i="0">
                <a:solidFill>
                  <a:srgbClr val="1A1440"/>
                </a:solidFill>
                <a:latin typeface="Calibri"/>
              </a:rPr>
              <a:t>. </a:t>
            </a:r>
            <a:r>
              <a:rPr sz="1300" b="1" i="0">
                <a:solidFill>
                  <a:srgbClr val="1A1440"/>
                </a:solidFill>
                <a:latin typeface="Calibri"/>
              </a:rPr>
              <a:t>Monday's redesign,</a:t>
            </a:r>
            <a:r>
              <a:rPr sz="1300" b="0" i="0">
                <a:solidFill>
                  <a:srgbClr val="1A1440"/>
                </a:solidFill>
                <a:latin typeface="Calibri"/>
              </a:rPr>
              <a:t> as a driver hears it: "The floor now pays for trips you complete, if you say yes to most offers." Saying yes to at least half the requests offered is the </a:t>
            </a:r>
            <a:r>
              <a:rPr sz="1300" b="1" i="0">
                <a:solidFill>
                  <a:srgbClr val="1A1440"/>
                </a:solidFill>
                <a:latin typeface="Calibri"/>
              </a:rPr>
              <a:t>acceptance floor</a:t>
            </a:r>
            <a:r>
              <a:rPr sz="1300" b="0" i="0">
                <a:solidFill>
                  <a:srgbClr val="1A1440"/>
                </a:solidFill>
                <a:latin typeface="Calibri"/>
              </a:rPr>
              <a:t>. Three </a:t>
            </a:r>
            <a:r>
              <a:rPr sz="1300" b="1" i="0">
                <a:solidFill>
                  <a:srgbClr val="1A1440"/>
                </a:solidFill>
                <a:latin typeface="Calibri"/>
              </a:rPr>
              <a:t>guardrails</a:t>
            </a:r>
            <a:r>
              <a:rPr sz="1300" b="0" i="0">
                <a:solidFill>
                  <a:srgbClr val="1A1440"/>
                </a:solidFill>
                <a:latin typeface="Calibri"/>
              </a:rPr>
              <a:t>, numbers that must not get worse while trips rise, watch it: the acceptance share, the median rider wait at peak and top-up per completed trip. </a:t>
            </a:r>
            <a:r>
              <a:rPr sz="1300" b="1" i="0">
                <a:solidFill>
                  <a:srgbClr val="1A1440"/>
                </a:solidFill>
                <a:latin typeface="Calibri"/>
              </a:rPr>
              <a:t>The saving:</a:t>
            </a:r>
            <a:r>
              <a:rPr sz="13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chapter 1's rule, the title is the claim, and Ramesh's title c on the kirana shop worked the same way.</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At a flat fare, fewer trips per online hour means lower bookings per online hour, Rs 314 to Rs 260, and that fall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three verdicts on twelve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rupees per driver-week fell 23 percent; city-wide, it rose 0.8 percent. Why?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Recall chapter 1: </a:t>
            </a:r>
            <a:r>
              <a:rPr sz="1500" b="0" i="0">
                <a:solidFill>
                  <a:srgbClr val="1A1440"/>
                </a:solidFill>
                <a:latin typeface="Calibri"/>
              </a:rPr>
              <a:t>the denominator picks the direction. Ramesh's shop rose per day and fell per hour on the same rupees.</a:t>
            </a:r>
          </a:p>
        </p:txBody>
      </p:sp>
      <p:sp>
        <p:nvSpPr>
          <p:cNvPr id="12" name="TextBox 11"/>
          <p:cNvSpPr txBox="1"/>
          <p:nvPr/>
        </p:nvSpPr>
        <p:spPr>
          <a:xfrm>
            <a:off x="530352" y="29291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rupees per driver-week rise while rupees per hour fall?</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Each driver-week carried about four more online hours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4249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140 drivers who joined after the launch drove about one week each, at Rs 4,314 a driver-week, so they pulled the read down; for the drivers there before the launch, it rose 1.4 percent.</a:t>
            </a:r>
          </a:p>
        </p:txBody>
      </p:sp>
      <p:sp>
        <p:nvSpPr>
          <p:cNvPr id="15" name="Rounded Rectangle 14"/>
          <p:cNvSpPr/>
          <p:nvPr/>
        </p:nvSpPr>
        <p:spPr>
          <a:xfrm>
            <a:off x="530352" y="49682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0962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08711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the presenter says it aloud.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4" name="Oval 2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092b409cb85c5f94.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4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this programme's tag for a staple asked everywhere: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Uber's three objections, answered by defending under challenge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applied: three roles, each partly right; the four moves in two studio rounds; and the appendix drawer with one page per role's question.</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defence applies chapters 3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Defending under challenge: restate, answer, concede, what would change your mind (chapter 3); What to leave out, and the appendix (chapter 2).</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analyst whose slide must survive three roles who each lose something under it, and the city head, who sides with nobody until the evidence is on the table.</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Whose side is the city head on?</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objections, one vote.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part of each is true?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true part, conceded; the rest, answered.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full defence sound like?</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modelled, then practised.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goes behind the slide?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appendix page per role's question.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31670"/>
          <a:ext cx="11130989" cy="2688336"/>
        </p:xfrm>
        <a:graphic>
          <a:graphicData uri="http://schemas.openxmlformats.org/drawingml/2006/table">
            <a:tbl>
              <a:tblPr firstRow="0" bandRow="0">
                <a:tableStyleId>{2D5ABB26-0587-4C30-8999-92F81FD0307C}</a:tableStyleId>
              </a:tblPr>
              <a:tblGrid>
                <a:gridCol w="1537309"/>
                <a:gridCol w="4796840"/>
                <a:gridCol w="4796840"/>
              </a:tblGrid>
              <a:tr h="369824">
                <a:tc>
                  <a:txBody>
                    <a:bodyPr/>
                    <a:lstStyle/>
                    <a:p>
                      <a:r>
                        <a:rPr sz="1450" b="1" i="0">
                          <a:solidFill>
                            <a:srgbClr val="FFFFFF"/>
                          </a:solidFill>
                          <a:latin typeface="Calibri"/>
                        </a:rPr>
                        <a:t>Role</a:t>
                      </a:r>
                    </a:p>
                  </a:txBody>
                  <a:tcPr marL="101600" marR="101600" marT="38100" marB="38100" anchor="ctr">
                    <a:solidFill>
                      <a:srgbClr val="1A0F5C"/>
                    </a:solidFill>
                  </a:tcPr>
                </a:tc>
                <a:tc>
                  <a:txBody>
                    <a:bodyPr/>
                    <a:lstStyle/>
                    <a:p>
                      <a:r>
                        <a:rPr sz="1450" b="1" i="0">
                          <a:solidFill>
                            <a:srgbClr val="FFFFFF"/>
                          </a:solidFill>
                          <a:latin typeface="Calibri"/>
                        </a:rPr>
                        <a:t>The true part</a:t>
                      </a:r>
                    </a:p>
                  </a:txBody>
                  <a:tcPr marL="101600" marR="101600" marT="38100" marB="38100" anchor="ctr">
                    <a:solidFill>
                      <a:srgbClr val="1A0F5C"/>
                    </a:solidFill>
                  </a:tcPr>
                </a:tc>
                <a:tc>
                  <a:txBody>
                    <a:bodyPr/>
                    <a:lstStyle/>
                    <a:p>
                      <a:r>
                        <a:rPr sz="1450" b="1" i="0">
                          <a:solidFill>
                            <a:srgbClr val="FFFFFF"/>
                          </a:solidFill>
                          <a:latin typeface="Calibri"/>
                        </a:rPr>
                        <a:t>The part the evidence answers</a:t>
                      </a:r>
                    </a:p>
                  </a:txBody>
                  <a:tcPr marL="101600" marR="101600" marT="38100" marB="38100" anchor="ctr">
                    <a:solidFill>
                      <a:srgbClr val="1A0F5C"/>
                    </a:solidFill>
                  </a:tcPr>
                </a:tc>
              </a:tr>
              <a:tr h="853440">
                <a:tc>
                  <a:txBody>
                    <a:bodyPr/>
                    <a:lstStyle/>
                    <a:p>
                      <a:r>
                        <a:rPr sz="1400" b="0" i="0">
                          <a:solidFill>
                            <a:srgbClr val="1A1440"/>
                          </a:solidFill>
                          <a:latin typeface="Calibri"/>
                        </a:rPr>
                        <a:t>Driver operations</a:t>
                      </a:r>
                    </a:p>
                  </a:txBody>
                  <a:tcPr marL="101600" marR="101600" marT="38100" marB="38100" anchor="ctr">
                    <a:solidFill>
                      <a:srgbClr val="FFFFFF"/>
                    </a:solidFill>
                  </a:tcPr>
                </a:tc>
                <a:tc>
                  <a:txBody>
                    <a:bodyPr/>
                    <a:lstStyle/>
                    <a:p>
                      <a:r>
                        <a:rPr sz="14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400" b="0" i="0">
                          <a:solidFill>
                            <a:srgbClr val="1A1440"/>
                          </a:solidFill>
                          <a:latin typeface="Calibri"/>
                        </a:rPr>
                        <a:t>The other 880 drivers, there before the launch, held at 1.90 trips per online hour and keep the floor if they accept</a:t>
                      </a:r>
                    </a:p>
                  </a:txBody>
                  <a:tcPr marL="101600" marR="101600" marT="38100" marB="38100" anchor="ctr">
                    <a:solidFill>
                      <a:srgbClr val="FFFFFF"/>
                    </a:solidFill>
                  </a:tcPr>
                </a:tc>
              </a:tr>
              <a:tr h="611632">
                <a:tc>
                  <a:txBody>
                    <a:bodyPr/>
                    <a:lstStyle/>
                    <a:p>
                      <a:r>
                        <a:rPr sz="1400" b="0" i="0">
                          <a:solidFill>
                            <a:srgbClr val="1A1440"/>
                          </a:solidFill>
                          <a:latin typeface="Calibri"/>
                        </a:rPr>
                        <a:t>Marketing</a:t>
                      </a:r>
                    </a:p>
                  </a:txBody>
                  <a:tcPr marL="101600" marR="101600" marT="38100" marB="38100" anchor="ctr">
                    <a:solidFill>
                      <a:srgbClr val="F4F2FA"/>
                    </a:solidFill>
                  </a:tcPr>
                </a:tc>
                <a:tc>
                  <a:txBody>
                    <a:bodyPr/>
                    <a:lstStyle/>
                    <a:p>
                      <a:r>
                        <a:rPr sz="14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4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853440">
                <a:tc>
                  <a:txBody>
                    <a:bodyPr/>
                    <a:lstStyle/>
                    <a:p>
                      <a:r>
                        <a:rPr sz="1400" b="0" i="0">
                          <a:solidFill>
                            <a:srgbClr val="1A1440"/>
                          </a:solidFill>
                          <a:latin typeface="Calibri"/>
                        </a:rPr>
                        <a:t>Finance</a:t>
                      </a:r>
                    </a:p>
                  </a:txBody>
                  <a:tcPr marL="101600" marR="101600" marT="38100" marB="38100" anchor="ctr">
                    <a:solidFill>
                      <a:srgbClr val="FFFFFF"/>
                    </a:solidFill>
                  </a:tcPr>
                </a:tc>
                <a:tc>
                  <a:txBody>
                    <a:bodyPr/>
                    <a:lstStyle/>
                    <a:p>
                      <a:r>
                        <a:rPr sz="14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4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8760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40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4910"/>
            <a:ext cx="10564063" cy="891540"/>
          </a:xfrm>
          <a:prstGeom prst="rect">
            <a:avLst/>
          </a:prstGeom>
          <a:noFill/>
        </p:spPr>
        <p:txBody>
          <a:bodyPr wrap="square" anchor="ctr" lIns="0" rIns="0" tIns="0" bIns="0">
            <a:spAutoFit/>
          </a:bodyPr>
          <a:lstStyle/>
          <a:p>
            <a:r>
              <a:rPr sz="1500" b="1">
                <a:solidFill>
                  <a:srgbClr val="5B3FD6"/>
                </a:solidFill>
                <a:latin typeface="Calibri"/>
              </a:rPr>
              <a:t>The answer is d. </a:t>
            </a:r>
            <a:r>
              <a:rPr sz="1500" b="0" i="0">
                <a:solidFill>
                  <a:srgbClr val="1A1440"/>
                </a:solidFill>
                <a:latin typeface="Calibri"/>
              </a:rPr>
              <a:t>A defence that sides with no one concedes each true part out loud and answers the rest from a line of evidence. Finance's row is the hardest: weekly requests fell four weeks running from 7 September, so the six-week rise of 1.8 percent hides that decline;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ticked as heard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624840"/>
          </a:xfrm>
          <a:prstGeom prst="rect">
            <a:avLst/>
          </a:prstGeom>
          <a:noFill/>
        </p:spPr>
        <p:txBody>
          <a:bodyPr wrap="square" anchor="ctr" lIns="0" rIns="0" tIns="0" bIns="0">
            <a:spAutoFit/>
          </a:bodyPr>
          <a:lstStyle/>
          <a:p>
            <a:r>
              <a:rPr sz="1500" b="1">
                <a:solidFill>
                  <a:srgbClr val="5B3FD6"/>
                </a:solidFill>
                <a:latin typeface="Calibri"/>
              </a:rPr>
              <a:t>Chapter 3's four moves, on one card. </a:t>
            </a:r>
            <a:r>
              <a:rPr sz="1500" b="0" i="0">
                <a:solidFill>
                  <a:srgbClr val="1A1440"/>
                </a:solidFill>
                <a:latin typeface="Calibri"/>
              </a:rPr>
              <a:t>The scorer ticks each move as it is heard and never scores the final number.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812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40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30908"/>
            <a:ext cx="10564063" cy="624840"/>
          </a:xfrm>
          <a:prstGeom prst="rect">
            <a:avLst/>
          </a:prstGeom>
          <a:noFill/>
        </p:spPr>
        <p:txBody>
          <a:bodyPr wrap="square" anchor="ctr" lIns="0" rIns="0" tIns="0" bIns="0">
            <a:spAutoFit/>
          </a:bodyPr>
          <a:lstStyle/>
          <a:p>
            <a:r>
              <a:rPr sz="1500" b="1">
                <a:solidFill>
                  <a:srgbClr val="5B3FD6"/>
                </a:solidFill>
                <a:latin typeface="Calibri"/>
              </a:rPr>
              <a:t>Restate. </a:t>
            </a:r>
            <a:r>
              <a:rPr sz="15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7843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123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03220"/>
            <a:ext cx="10564063" cy="891540"/>
          </a:xfrm>
          <a:prstGeom prst="rect">
            <a:avLst/>
          </a:prstGeom>
          <a:noFill/>
        </p:spPr>
        <p:txBody>
          <a:bodyPr wrap="square" anchor="ctr" lIns="0" rIns="0" tIns="0" bIns="0">
            <a:spAutoFit/>
          </a:bodyPr>
          <a:lstStyle/>
          <a:p>
            <a:r>
              <a:rPr sz="1500" b="1">
                <a:solidFill>
                  <a:srgbClr val="5B3FD6"/>
                </a:solidFill>
                <a:latin typeface="Calibri"/>
              </a:rPr>
              <a:t>Answer. </a:t>
            </a:r>
            <a:r>
              <a:rPr sz="1500" b="0" i="0">
                <a:solidFill>
                  <a:srgbClr val="1A1440"/>
                </a:solidFill>
                <a:latin typeface="Calibri"/>
              </a:rPr>
              <a:t>"Two lines of evidence point at the scheme: in the last three weeks after the launch, requests were back at the before window's level and trips per online hour still ran at 1.56; and the drivers who were there before the launch fell from 1.90 to 1.58, so the new drivers do not explain it."</a:t>
            </a:r>
          </a:p>
        </p:txBody>
      </p:sp>
      <p:sp>
        <p:nvSpPr>
          <p:cNvPr id="15" name="Rounded Rectangle 14"/>
          <p:cNvSpPr/>
          <p:nvPr/>
        </p:nvSpPr>
        <p:spPr>
          <a:xfrm>
            <a:off x="530352" y="40233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513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42232"/>
            <a:ext cx="10564063" cy="624840"/>
          </a:xfrm>
          <a:prstGeom prst="rect">
            <a:avLst/>
          </a:prstGeom>
          <a:noFill/>
        </p:spPr>
        <p:txBody>
          <a:bodyPr wrap="square" anchor="ctr" lIns="0" rIns="0" tIns="0" bIns="0">
            <a:spAutoFit/>
          </a:bodyPr>
          <a:lstStyle/>
          <a:p>
            <a:r>
              <a:rPr sz="1500" b="1">
                <a:solidFill>
                  <a:srgbClr val="5B3FD6"/>
                </a:solidFill>
                <a:latin typeface="Calibri"/>
              </a:rPr>
              <a:t>Concede. </a:t>
            </a:r>
            <a:r>
              <a:rPr sz="15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9956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51236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5114544"/>
            <a:ext cx="10564063" cy="891540"/>
          </a:xfrm>
          <a:prstGeom prst="rect">
            <a:avLst/>
          </a:prstGeom>
          <a:noFill/>
        </p:spPr>
        <p:txBody>
          <a:bodyPr wrap="square" anchor="ctr" lIns="0" rIns="0" tIns="0" bIns="0">
            <a:spAutoFit/>
          </a:bodyPr>
          <a:lstStyle/>
          <a:p>
            <a:r>
              <a:rPr sz="1500" b="1">
                <a:solidFill>
                  <a:srgbClr val="5B3FD6"/>
                </a:solidFill>
                <a:latin typeface="Calibri"/>
              </a:rPr>
              <a:t>What would change my mind. </a:t>
            </a:r>
            <a:r>
              <a:rPr sz="15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9" name="Oval 2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Three turns of seven minutes. </a:t>
            </a:r>
            <a:r>
              <a:rPr sz="1500" b="0" i="0">
                <a:solidFill>
                  <a:srgbClr val="1A1440"/>
                </a:solidFill>
                <a:latin typeface="Calibri"/>
              </a:rPr>
              <a:t>The studio is the morning's practice: build a slide, present it, take an objection, get scored, rebuild. After each turn the seats rotate inside the three, so every member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pie of top-up by week</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c2da78d826bfdefa.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topics applied: claim, drawer,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1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3 AND 5</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2 AND 5</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opens on round two of the studio, then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4" name="Oval 3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6" name="Oval 35"/>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