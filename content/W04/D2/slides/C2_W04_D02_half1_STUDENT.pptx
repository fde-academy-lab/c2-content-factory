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on screen as the room sits down. Read the title and the subtitle: they are the</a:t>
            </a:r>
          </a:p>
          <a:p>
            <a:r>
              <a:t>row's Day focus, in its words. Say the order of the day once: five topics, each taught on an</a:t>
            </a:r>
          </a:p>
          <a:p>
            <a:r>
              <a:t>invented example and each with its own notebook, then Monday's Uber case one day on, then Kalpa in</a:t>
            </a:r>
          </a:p>
          <a:p>
            <a:r>
              <a:t>the lab. Transition: where Tuesday sits in the week.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Monday's node now carries the number the room produced and the decision it led to.</a:t>
            </a:r>
          </a:p>
          <a:p>
            <a:r>
              <a:t>Tuesday is lit; the days to the right stay dashed. The amber node is the TA lab, where the same</a:t>
            </a:r>
          </a:p>
          <a:p>
            <a:r>
              <a:t>studio runs on Kalpa Retail. The week's explorer, Monday's page at content/W04/D1/demos/C2_W04_D01_week_explorer_STUDENT.html: the home screen, Tuesday</a:t>
            </a:r>
          </a:p>
          <a:p>
            <a:r>
              <a:t>lit; its scenes T1 to T3 are Tuesday's.</a:t>
            </a:r>
          </a:p>
          <a:p>
            <a:r>
              <a:t>Transition: the five topics.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five topics down the second column once: these are the curriculum's</a:t>
            </a:r>
          </a:p>
          <a:p>
            <a:r>
              <a:t>words, so a learner can find each one again by name. Chapters 1 to 3 run now, each on an invented</a:t>
            </a:r>
          </a:p>
          <a:p>
            <a:r>
              <a:t>example; chapters 6 and 7 open the afternoon after the second studio round, chapter 6 two chapters</a:t>
            </a:r>
          </a:p>
          <a:p>
            <a:r>
              <a:t>before chapter 8, which applies it, and chapter 7 two before chapter 9, so the studio's two rounds</a:t>
            </a:r>
          </a:p>
          <a:p>
            <a:r>
              <a:t>stay together and both afternoon topics are taught before the case uses them. A 10-minute break follows chapter 3. Transition: how the five topics join.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Walk the map left to right. The left box is what the room already has: Week 1</a:t>
            </a:r>
          </a:p>
          <a:p>
            <a:r>
              <a:t>Thursday's four-part note (claim, evidence, caveat, action), which today puts on one slide; the</a:t>
            </a:r>
          </a:p>
          <a:p>
            <a:r>
              <a:t>denominator every rate has named since Week 1 Monday, which today's evidence carries; and Monday's</a:t>
            </a:r>
          </a:p>
          <a:p>
            <a:r>
              <a:t>metric, which today's slide must get past the people who lose under it. The five dark boxes are</a:t>
            </a:r>
          </a:p>
          <a:p>
            <a:r>
              <a:t>today's topics in the curriculum's order. Every topic is applied to Uber's case, and the</a:t>
            </a:r>
          </a:p>
          <a:p>
            <a:r>
              <a:t>guesstimate runs once more on Kalpa in the lab; every build week ends on this slide and this</a:t>
            </a:r>
          </a:p>
          <a:p>
            <a:r>
              <a:t>defence. The guesstimate's map step has the shape of Week 1's revenue tree, a chain of factors</a:t>
            </a:r>
          </a:p>
          <a:p>
            <a:r>
              <a:t>multiplied, with guesses where the columns were. The map comes back at the close of each concept</a:t>
            </a:r>
          </a:p>
          <a:p>
            <a:r>
              <a:t>chapter with that chapter's box filled. Transition: the case these topics will be used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Show it as the destination: Monday's illustrative Uber case, one day on, and the</a:t>
            </a:r>
          </a:p>
          <a:p>
            <a:r>
              <a:t>deliverable is the slide the city head takes to Thursday's review. Read the metric's first row and</a:t>
            </a:r>
          </a:p>
          <a:p>
            <a:r>
              <a:t>the ask, nothing more; chapter 4 opens by reading the ticket in full. Gross bookings are what riders</a:t>
            </a:r>
          </a:p>
          <a:p>
            <a:r>
              <a:t>paid for the trips, before Uber's share and before any top-up; an active driver-week is one driver</a:t>
            </a:r>
          </a:p>
          <a:p>
            <a:r>
              <a:t>with a row that week. Ask which of the three roles will quote which row of the table, and leave it</a:t>
            </a:r>
          </a:p>
          <a:p>
            <a:r>
              <a:t>open: chapter 5 answers it.</a:t>
            </a:r>
          </a:p>
          <a:p>
            <a:r>
              <a:t>Transition: chapter 1, the one-slide answer, on a kirana shop.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Concept chapter 1 of 5, 35 minutes. Ramesh's shop and every number about it are</a:t>
            </a:r>
          </a:p>
          <a:p>
            <a:r>
              <a:t>invented, and every slide that shows one says so. Laptops stay shut until the code glimpse;</a:t>
            </a:r>
          </a:p>
          <a:p>
            <a:r>
              <a:t>notebook 01 runs the same count on the shop's 56 days afterwards or in the lab. Transition: who</a:t>
            </a:r>
          </a:p>
          <a:p>
            <a:r>
              <a:t>needs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30 seconds. Define the words as they arrive. A slide, in a company, is one page shown</a:t>
            </a:r>
          </a:p>
          <a:p>
            <a:r>
              <a:t>to the people who decide, for a few minutes, with others in the room who gain or lose by the</a:t>
            </a:r>
          </a:p>
          <a:p>
            <a:r>
              <a:t>decision; those people are the stakeholders. Read the four questions: each gets an answer on the</a:t>
            </a:r>
          </a:p>
          <a:p>
            <a:r>
              <a:t>shop's numbers before the next. Then name the test the chapter builds to: a slide has worked when</a:t>
            </a:r>
          </a:p>
          <a:p>
            <a:r>
              <a:t>the person who loses under it can repeat it accurately, even while disagreeing. Transition: four</a:t>
            </a:r>
          </a:p>
          <a:p>
            <a:r>
              <a:t>titles for Ramesh's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Say the misconception aloud first, in the room's likely words: "more numbers make a</a:t>
            </a:r>
          </a:p>
          <a:p>
            <a:r>
              <a:t>slide more convincing, and a neutral title keeps the reader fair." Letter cards up, a minute</a:t>
            </a:r>
          </a:p>
          <a:p>
            <a:r>
              <a:t>arguing with a neighbour, letter cards up again; count both votes on the board. Expect b, since it</a:t>
            </a:r>
          </a:p>
          <a:p>
            <a:r>
              <a:t>carries the most numbers. Say nothing about which is right. Transition: the reveal, and two notices</a:t>
            </a:r>
          </a:p>
          <a:p>
            <a:r>
              <a:t>on a hostel board.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Read the two notices aloud and ask which of the four titles is like the second one.</a:t>
            </a:r>
          </a:p>
          <a:p>
            <a:r>
              <a:t>This is answer-first communication, Barbara Minto's Pyramid Principle: Management Consulted's page</a:t>
            </a:r>
          </a:p>
          <a:p>
            <a:r>
              <a:t>on it (updated 2 September 2026, checked 13 October 2026) says it "starts with the conclusion first,</a:t>
            </a:r>
          </a:p>
          <a:p>
            <a:r>
              <a:t>then organizes supporting points underneath it". Transition: which number carries the claim.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The hand count, aloud, row by row, the way Week 1 Monday counted every rate:</a:t>
            </a:r>
          </a:p>
          <a:p>
            <a:r>
              <a:t>11,900 / 10 = 1,190; 12,600 / 12 = 1,050; 11,900 / 119 = 100; 12,600 / 126 = 100. Have two</a:t>
            </a:r>
          </a:p>
          <a:p>
            <a:r>
              <a:t>learners say the son's sentence and the father's sentence, each with its denominator named. Then</a:t>
            </a:r>
          </a:p>
          <a:p>
            <a:r>
              <a:t>ask which denominator answers the question Ramesh faces, "do the two extra hours pay?": per hour,</a:t>
            </a:r>
          </a:p>
          <a:p>
            <a:r>
              <a:t>and the sharpest per-hour number is the added hours' own, (12,600 - 11,900) / 2 = 350. It is the</a:t>
            </a:r>
          </a:p>
          <a:p>
            <a:r>
              <a:t>most they can have sold: if the festival lifted the old ten hours too, the evening brought less.</a:t>
            </a:r>
          </a:p>
          <a:p>
            <a:r>
              <a:t>Rs 350 is sales, before the cost of the goods; the shop's records hold no figure for what the goods</a:t>
            </a:r>
          </a:p>
          <a:p>
            <a:r>
              <a:t>cost, so the slide cannot say yet whether the evening covers the helper's Rs 170 a day, and the</a:t>
            </a:r>
          </a:p>
          <a:p>
            <a:r>
              <a:t>action has to count it. Callback: since Week 1, a rate without its denominator has been a rumour. A second example of the</a:t>
            </a:r>
          </a:p>
          <a:p>
            <a:r>
              <a:t>same shape, an auto driver's day (invented), sits in notebook 01's your-turn cell and the notes.</a:t>
            </a:r>
          </a:p>
          <a:p>
            <a:r>
              <a:t>Transition: the four parts, named.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Build the board region by region: the anchor, then each part in order, then the</a:t>
            </a:r>
          </a:p>
          <a:p>
            <a:r>
              <a:t>pitfalls. The name arrives last, as the shorthand for what the room just counted: the slide's four</a:t>
            </a:r>
          </a:p>
          <a:p>
            <a:r>
              <a:t>parts are claim, evidence, caveat and action. Transition: Ramesh's slide, built.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Point at 1, 2, 3, 4 in order. The chart is the shop's 56 days as one line of sales</a:t>
            </a:r>
          </a:p>
          <a:p>
            <a:r>
              <a:t>per hour, the change marked; the cluttered version of the same days is chapter 2's. The caveat sits</a:t>
            </a:r>
          </a:p>
          <a:p>
            <a:r>
              <a:t>beside the evidence because Ramesh will raise it first, since it is the reason the son's Rs 700 may</a:t>
            </a:r>
          </a:p>
          <a:p>
            <a:r>
              <a:t>not last: a festival fortnight fell inside October, so part of the Rs 700 may be the season. The action carries its cost, Rs 170 a day for the helper's</a:t>
            </a:r>
          </a:p>
          <a:p>
            <a:r>
              <a:t>two extra hours, and who signs. Ask two learners to say the title in the son's voice, then in the</a:t>
            </a:r>
          </a:p>
          <a:p>
            <a:r>
              <a:t>father's. Transition: the trap.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Read the wrong sentence in the son's voice and ask what decision it would make.</a:t>
            </a:r>
          </a:p>
          <a:p>
            <a:r>
              <a:t>Then the code, one line at a time, said as a sentence: add up each month, divide by its days, divide again by</a:t>
            </a:r>
          </a:p>
          <a:p>
            <a:r>
              <a:t>the hours open, divide the sales by the customers, and divide the rise by the hours added. Notebook</a:t>
            </a:r>
          </a:p>
          <a:p>
            <a:r>
              <a:t>01 runs it on the 56 days and checks it against the hand count. Transition: the rules.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rules are the slide a learner photographs. Check question before moving on:</a:t>
            </a:r>
          </a:p>
          <a:p>
            <a:r>
              <a:t>"which of the four parts did the son's sentence leave out?" It left out the denominator the</a:t>
            </a:r>
          </a:p>
          <a:p>
            <a:r>
              <a:t>decision is priced in, and with it the caveat and the cost. Fill the map's first box. Transition:</a:t>
            </a:r>
          </a:p>
          <a:p>
            <a:r>
              <a:t>chapter 2, what leaves the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Concept chapter 2 of 5, 12 minutes. The same shop and the same invented numbers;</a:t>
            </a:r>
          </a:p>
          <a:p>
            <a:r>
              <a:t>only the question changes. Transition: who needs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Choosing what to leave off is the skill: the row says so in as many</a:t>
            </a:r>
          </a:p>
          <a:p>
            <a:r>
              <a:t>words. Read the four questions; each is answered on the draft before the next. Transition: the</a:t>
            </a:r>
          </a:p>
          <a:p>
            <a:r>
              <a:t>draft itself.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misconception first, said aloud: "put everything in the appendix to be safe,</a:t>
            </a:r>
          </a:p>
          <a:p>
            <a:r>
              <a:t>and move the caveat there, since it is only a detail." Letter cards up. Expect a split between a</a:t>
            </a:r>
          </a:p>
          <a:p>
            <a:r>
              <a:t>and b. Transition: the sort that decides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Walk the flow with one element at a time from the draft, then read the four</a:t>
            </a:r>
          </a:p>
          <a:p>
            <a:r>
              <a:t>sentences aloud. Option a is the trap: the two that carry the claim are right, and the caveat is</a:t>
            </a:r>
          </a:p>
          <a:p>
            <a:r>
              <a:t>forgotten. Transition: where the five that leave go.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Each page is headed by its owner's question, so Ramesh can turn to it the moment</a:t>
            </a:r>
          </a:p>
          <a:p>
            <a:r>
              <a:t>the question comes. The four lines of code are the sort, one line per branch; notebook 02 runs them</a:t>
            </a:r>
          </a:p>
          <a:p>
            <a:r>
              <a:t>on the eight elements. Transition: the same rule on a chart.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Point at the left chart first and ask what it claims; nobody can say in</a:t>
            </a:r>
          </a:p>
          <a:p>
            <a:r>
              <a:t>five seconds. Then the right. The quote is from Storytelling with Data's post "a new year's</a:t>
            </a:r>
          </a:p>
          <a:p>
            <a:r>
              <a:t>resolution: declutter your graphics" (4 January 2011, checked 13 October 2026). Transition: the</a:t>
            </a:r>
          </a:p>
          <a:p>
            <a:r>
              <a:t>rules.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Check question, true or false with its reason: "the slide is still</a:t>
            </a:r>
          </a:p>
          <a:p>
            <a:r>
              <a:t>crowded after the cut, so the festival caveat moves to the appendix." False: the caveat stays</a:t>
            </a:r>
          </a:p>
          <a:p>
            <a:r>
              <a:t>whatever else leaves, and something else goes instead. Fill the map's second box. Transition:</a:t>
            </a:r>
          </a:p>
          <a:p>
            <a:r>
              <a:t>chapter 3, the defence.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Concept chapter 3 of 5, 25 minutes. Gulmohar Secondary School and its weeks are</a:t>
            </a:r>
          </a:p>
          <a:p>
            <a:r>
              <a:t>invented. Transition: who needs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four questions. Most objections are partly right, which is why repeating</a:t>
            </a:r>
          </a:p>
          <a:p>
            <a:r>
              <a:t>the claim louder fails; a concession is not a loss, because the claim rests on the evidence and</a:t>
            </a:r>
          </a:p>
          <a:p>
            <a:r>
              <a:t>survives the objector being right about one part. Transition: the staff meeting.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misconception first, as the row's Kahoot trap says it: "a strong presenter</a:t>
            </a:r>
          </a:p>
          <a:p>
            <a:r>
              <a:t>never concedes." Letter cards, two minutes arguing with a neighbour, letter cards again; count both</a:t>
            </a:r>
          </a:p>
          <a:p>
            <a:r>
              <a:t>votes on the board. Expect a split between a and c. Transition: the school's weeks.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hand count, aloud. Last year: weeks 6 to 8 average 85.0, weeks 3 to 5 average</a:t>
            </a:r>
          </a:p>
          <a:p>
            <a:r>
              <a:t>76.7, so exams add 8.3. This year: 89.3 against 81.3, so 8.0. Weeks 3 to 5, this year against last:</a:t>
            </a:r>
          </a:p>
          <a:p>
            <a:r>
              <a:t>81.3 against 76.7, 4.7 points, with weeks 1 and 2 at 76.5 in both years. Transition: the same</a:t>
            </a:r>
          </a:p>
          <a:p>
            <a:r>
              <a:t>numbers as a picture.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Trace the grey line, then the violet one. Ask what the sports teacher was looking</a:t>
            </a:r>
          </a:p>
          <a:p>
            <a:r>
              <a:t>at: the jump at week 6, which both years share. The gap from week 3 is the evidence the defence</a:t>
            </a:r>
          </a:p>
          <a:p>
            <a:r>
              <a:t>stands on. Transition: the shape a defence takes.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Read the four moves in character, then name them, the rule arriving last. Move 4 is</a:t>
            </a:r>
          </a:p>
          <a:p>
            <a:r>
              <a:t>the one first defences skip, and it is what tells the room the claim can be tested: Week 1</a:t>
            </a:r>
          </a:p>
          <a:p>
            <a:r>
              <a:t>Thursday's fair comparison, said aloud. Rapoport's first rule, as The Marginalian quotes Dennett's</a:t>
            </a:r>
          </a:p>
          <a:p>
            <a:r>
              <a:t>Intuition Pumps (checked 13 October 2026): re-express the target's position "so clearly, vividly,</a:t>
            </a:r>
          </a:p>
          <a:p>
            <a:r>
              <a:t>and fairly" that the target says "Thanks, I wish I'd thought of putting it that way"; the second</a:t>
            </a:r>
          </a:p>
          <a:p>
            <a:r>
              <a:t>lists the points of agreement. Transition: two ways to lose the room.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both failures in character. The last line is the [D] interview question's</a:t>
            </a:r>
          </a:p>
          <a:p>
            <a:r>
              <a:t>answer in miniature: the person who loses under your claim controls the meeting, so the concession</a:t>
            </a:r>
          </a:p>
          <a:p>
            <a:r>
              <a:t>and the deciding test are agreed before it. The Kahoot's trap item asks whether the best defence</a:t>
            </a:r>
          </a:p>
          <a:p>
            <a:r>
              <a:t>never concedes anything; it is false. Transition: the two numbers, in code.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Read each line aloud as a sentence: one row per week, one column per year;</a:t>
            </a:r>
          </a:p>
          <a:p>
            <a:r>
              <a:t>the exam weeks against the three weeks before them; the early weeks this year against last year.</a:t>
            </a:r>
          </a:p>
          <a:p>
            <a:r>
              <a:t>Notebook 03 runs it and composes the four moves from the two numbers. Transition: the rules.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Check question: "which of the four moves does 'you may be right, let us wait'</a:t>
            </a:r>
          </a:p>
          <a:p>
            <a:r>
              <a:t>leave out?" It concedes everything and answers nothing, so moves 2 and 4 are missing. Fill the</a:t>
            </a:r>
          </a:p>
          <a:p>
            <a:r>
              <a:t>map's third box. Then the break, 10 minutes. Transition: after the break, the case: Uber's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The first case chapter, levels L1 and L2 of the ladder, 40 minutes with the five on</a:t>
            </a:r>
          </a:p>
          <a:p>
            <a:r>
              <a:t>what each role loses. Laptops closed until the twelve rows. Styles: Brilliant (the chapter opens on</a:t>
            </a:r>
          </a:p>
          <a:p>
            <a:r>
              <a:t>a question), Veritasium (predict, then reveal), StatQuest (the twelve rows summed aloud),</a:t>
            </a:r>
          </a:p>
          <a:p>
            <a:r>
              <a:t>Storytelling with Data and Minto (the makeover, the answer first). Explorer scene T1 runs beside</a:t>
            </a:r>
          </a:p>
          <a:p>
            <a:r>
              <a:t>slide A's rebuild and scene T2 beside the per-driver-week prediction. Transition: what the chapter</a:t>
            </a:r>
          </a:p>
          <a:p>
            <a:r>
              <a:t>applies, and for whom.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Go back to the ticket slide and read it in full now, top to bottom: the</a:t>
            </a:r>
          </a:p>
          <a:p>
            <a:r>
              <a:t>metric with its values before and after, the two tables and their columns, the ask, the caveats and</a:t>
            </a:r>
          </a:p>
          <a:p>
            <a:r>
              <a:t>the label line. Then the four questions. Every word the chapter needs was taught this morning:</a:t>
            </a:r>
          </a:p>
          <a:p>
            <a:r>
              <a:t>claim, evidence, caveat, action, the appendix. Transition: where today ends.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sentence once. The morning earns its four parts in order: the claim, one</a:t>
            </a:r>
          </a:p>
          <a:p>
            <a:r>
              <a:t>number with its denominator, the caveat, the action with its cost. The saving range is Monday's:</a:t>
            </a:r>
          </a:p>
          <a:p>
            <a:r>
              <a:t>Rs 1.16 crore went to driver-weeks that accepted under half their offers, and the range assumes a</a:t>
            </a:r>
          </a:p>
          <a:p>
            <a:r>
              <a:t>half to a fifth of that is still paid because those drivers start accepting: half still paid saves</a:t>
            </a:r>
          </a:p>
          <a:p>
            <a:r>
              <a:t>Rs 58 lakh, a fifth saves Rs 92.7 lakh. The range runs to a tenth of a lakh only because it is</a:t>
            </a:r>
          </a:p>
          <a:p>
            <a:r>
              <a:t>arithmetic on Monday's total; the per-trip rate is the real unknown, since a rate set high pays back</a:t>
            </a:r>
          </a:p>
          <a:p>
            <a:r>
              <a:t>what the floor stops paying, so the sentence names it. The saving is the scheme's, across the 1,200</a:t>
            </a:r>
          </a:p>
          <a:p>
            <a:r>
              <a:t>enrolled drivers in Monday's data; a test on half of them saves about half of it while it runs. S30</a:t>
            </a:r>
          </a:p>
          <a:p>
            <a:r>
              <a:t>shows the working.</a:t>
            </a:r>
          </a:p>
          <a:p>
            <a:r>
              <a:t>Transition: what each role loses, chapter 1's loser test on real roles.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If a learner asks how a Rs 300 floor costs Rs 1.9 crore when an hour brought in Rs 260</a:t>
            </a:r>
          </a:p>
          <a:p>
            <a:r>
              <a:t>of fares, or why the 880 drivers whose fares averaged Rs 313.5 an hour drew Rs 74 lakh: the floor is</a:t>
            </a:r>
          </a:p>
          <a:p>
            <a:r>
              <a:t>checked window by window on the driver's share of the fares, so every slow window pays a top-up even</a:t>
            </a:r>
          </a:p>
          <a:p>
            <a:r>
              <a:t>when the driver's average hour clears Rs 300, and the share is below the fare. Monday's caveats say</a:t>
            </a:r>
          </a:p>
          <a:p>
            <a:r>
              <a:t>the share and the window record are not in the tables, so the top-up is read as Monday recorded it</a:t>
            </a:r>
          </a:p>
          <a:p>
            <a:r>
              <a:t>and never rebuilt from the bookings. Cards hidden first.</a:t>
            </a:r>
          </a:p>
          <a:p>
            <a:r>
              <a:t>Groups of three spend 3 minutes listing what each role loses, the loser test of chapter 1 on three</a:t>
            </a:r>
          </a:p>
          <a:p>
            <a:r>
              <a:t>real roles; take one loss per role from three groups and write them on the board (1 minute), then</a:t>
            </a:r>
          </a:p>
          <a:p>
            <a:r>
              <a:t>show the cards (1 minute). A loss the room names that the cards miss goes on the board as well: it</a:t>
            </a:r>
          </a:p>
          <a:p>
            <a:r>
              <a:t>will come back as an objection in chapter 5.</a:t>
            </a:r>
          </a:p>
          <a:p>
            <a:r>
              <a:t>Transition: four titles for finance's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Hands for each letter, counts on the board. Expect votes on b, since it carries</a:t>
            </a:r>
          </a:p>
          <a:p>
            <a:r>
              <a:t>numbers. Say nothing about which is right.</a:t>
            </a:r>
          </a:p>
          <a:p>
            <a:r>
              <a:t>Transition: the reveal.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line of recall: chapter 1's notice board and the four parts are on the</a:t>
            </a:r>
          </a:p>
          <a:p>
            <a:r>
              <a:t>board from the morning; point at the claim box. Minto's site describes ideas organised as a pyramid</a:t>
            </a:r>
          </a:p>
          <a:p>
            <a:r>
              <a:t>under a single point (barbaraminto.com, checked 13 October 2026).</a:t>
            </a:r>
          </a:p>
          <a:p>
            <a:r>
              <a:t>Transition: slide A, exactly as it arrived.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Give the room 30 seconds of silence with the slide, then ask what it is asking the</a:t>
            </a:r>
          </a:p>
          <a:p>
            <a:r>
              <a:t>city head to do. Every number here is Monday's. Explorer scene T1 starts from this slide.</a:t>
            </a:r>
          </a:p>
          <a:p>
            <a:r>
              <a:t>Transition: which two of the nine carry a claim.</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Each group writes one letter. Expect a split between a and b. The point of the</a:t>
            </a:r>
          </a:p>
          <a:p>
            <a:r>
              <a:t>vote is that a carries two true numbers and no claim, which is why the room reaches for it.</a:t>
            </a:r>
          </a:p>
          <a:p>
            <a:r>
              <a:t>Explorer scene T1 stays on slide A's nine numbers until every letter is in; nothing is unticked yet.</a:t>
            </a:r>
          </a:p>
          <a:p>
            <a:r>
              <a:t>Transition: the rebuild.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This is the worked example of the guided exercise: rebuild it with the room</a:t>
            </a:r>
          </a:p>
          <a:p>
            <a:r>
              <a:t>mirroring, part by part, the four parts of chapter 1. Point at 1, 2, 3, 4 in order: the chart names its denominator in its title,</a:t>
            </a:r>
          </a:p>
          <a:p>
            <a:r>
              <a:t>the caveat sits beside the evidence, and the action states the saving with the assumption behind it. The drop lands in the launch week: the</a:t>
            </a:r>
          </a:p>
          <a:p>
            <a:r>
              <a:t>highest after week, Rs 271, sits below the lowest before week, Rs 310, which is why the chart, not</a:t>
            </a:r>
          </a:p>
          <a:p>
            <a:r>
              <a:t>the bar pair, is the evidence. In explorer scene T1, untick the seven numbers that leave, one at a time,</a:t>
            </a:r>
          </a:p>
          <a:p>
            <a:r>
              <a:t>as each part is pointed at.</a:t>
            </a:r>
          </a:p>
          <a:p>
            <a:r>
              <a:t>Transition: two more slides, rebuilt by the groups.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Odd-numbered groups take slide B, even-numbered groups take slide C (next slide).</a:t>
            </a:r>
          </a:p>
          <a:p>
            <a:r>
              <a:t>Six minutes in total across S36 and S37 once both are on screen, then two groups read their</a:t>
            </a:r>
          </a:p>
          <a:p>
            <a:r>
              <a:t>rebuilt titles. The guided exercise file carries both slides.</a:t>
            </a:r>
          </a:p>
          <a:p>
            <a:r>
              <a:t>Transition: slide C.</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faded step: no drafted claim. Collect two titles. A strong one reads close</a:t>
            </a:r>
          </a:p>
          <a:p>
            <a:r>
              <a:t>to "180 drivers doubled their online hours while their trips fell": idle hours up 2.1 times</a:t>
            </a:r>
          </a:p>
          <a:p>
            <a:r>
              <a:t>(20,000 to 42,000), trips down 12 percent.</a:t>
            </a:r>
          </a:p>
          <a:p>
            <a:r>
              <a:t>Transition: the twelve rows, read in rupees.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Chapter 1's kirana read the same rupees per day, per hour</a:t>
            </a:r>
          </a:p>
          <a:p>
            <a:r>
              <a:t>and per customer; the same three divisions run here on twelve driver-weeks: six drivers, the week of 10 August against the week of 21</a:t>
            </a:r>
          </a:p>
          <a:p>
            <a:r>
              <a:t>September. Count aloud, column by column: 60 and 74 hours, 114 and 88 trips, 18,810 and 14,520</a:t>
            </a:r>
          </a:p>
          <a:p>
            <a:r>
              <a:t>rupees. Divide three times for each week and say the three verdicts. E and F are Monday's two</a:t>
            </a:r>
          </a:p>
          <a:p>
            <a:r>
              <a:t>idle-tail drivers, which is why six drivers fall further than the city. These six drive about 10</a:t>
            </a:r>
          </a:p>
          <a:p>
            <a:r>
              <a:t>peak hours a week against the city's 18.6, so their rupees per driver-week sit below the city's:</a:t>
            </a:r>
          </a:p>
          <a:p>
            <a:r>
              <a:t>the hand count is for the method, and the city's numbers come next.</a:t>
            </a:r>
          </a:p>
          <a:p>
            <a:r>
              <a:t>Transition: the city does something the six did not.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Per driver-week means per active driver-week: one driver with a row that week.</a:t>
            </a:r>
          </a:p>
          <a:p>
            <a:r>
              <a:t>Each learner writes a letter. Expect votes on a, since new drivers are the obvious change.</a:t>
            </a:r>
          </a:p>
          <a:p>
            <a:r>
              <a:t>Explorer scene T2, the denominator picker, stays closed until every letter is written; it opens on S40.</a:t>
            </a:r>
          </a:p>
          <a:p>
            <a:r>
              <a:t>Transition: the reveal.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Trace the violet line first: a step at the launch, then flat. Then the amber line:</a:t>
            </a:r>
          </a:p>
          <a:p>
            <a:r>
              <a:t>up while hours climbed, down as trips per hour kept falling. Where the extra hours came from: the</a:t>
            </a:r>
          </a:p>
          <a:p>
            <a:r>
              <a:t>idle tail's 180 drivers doubled their online hours, to about 39 a week, while completing 12 percent</a:t>
            </a:r>
          </a:p>
          <a:p>
            <a:r>
              <a:t>fewer trips; the other 880 added under one hour a week. Ask which role will quote the amber</a:t>
            </a:r>
          </a:p>
          <a:p>
            <a:r>
              <a:t>line. Expect the driver-operations lead, since it is closest to what a driver takes home in a week;</a:t>
            </a:r>
          </a:p>
          <a:p>
            <a:r>
              <a:t>notebook 04's table gives each role its favourite. Explorer scene T2 lets learners pick the</a:t>
            </a:r>
          </a:p>
          <a:p>
            <a:r>
              <a:t>denominator.</a:t>
            </a:r>
          </a:p>
          <a:p>
            <a:r>
              <a:t>Transition: the trap in that amber line.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Write the split on the board: Rs per driver-week = Rs per hour x hours per</a:t>
            </a:r>
          </a:p>
          <a:p>
            <a:r>
              <a:t>driver-week. Then the three growth rates: bookings 3.0, driver-weeks 2.2, ratio 0.8. An active</a:t>
            </a:r>
          </a:p>
          <a:p>
            <a:r>
              <a:t>driver-week is a driver with a row that week, never a sign-up to the guarantee.</a:t>
            </a:r>
          </a:p>
          <a:p>
            <a:r>
              <a:t>Transition: the second route to the same number.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Notebook 04 asserts the two routes agree to the paisa. Say it as one line the</a:t>
            </a:r>
          </a:p>
          <a:p>
            <a:r>
              <a:t>slide's owner can repeat: the fare held, the trips per hour fell.</a:t>
            </a:r>
          </a:p>
          <a:p>
            <a:r>
              <a:t>Transition: what chapter 4 adds to Tuesday's node.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Ask two learners to say the plain sentence aloud without the slide.</a:t>
            </a:r>
          </a:p>
          <a:p>
            <a:r>
              <a:t>Transition: chapter 5, the objections.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The second case chapter, L3 of the ladder with round one of the studio as L5</a:t>
            </a:r>
          </a:p>
          <a:p>
            <a:r>
              <a:t>practice and the drawer as L4, 52 minutes: 40 on the objections and round one, 12 on the drawer and</a:t>
            </a:r>
          </a:p>
          <a:p>
            <a:r>
              <a:t>the drill. Styles: Veritasium (predict which role the city head sides with), the case method</a:t>
            </a:r>
          </a:p>
          <a:p>
            <a:r>
              <a:t>(Monday's three roles return, each partly right), peer instruction (the vote and the revote).</a:t>
            </a:r>
          </a:p>
          <a:p>
            <a:r>
              <a:t>Transition: what the chapter applies.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The four moves were taught on the school this morning; here they meet</a:t>
            </a:r>
          </a:p>
          <a:p>
            <a:r>
              <a:t>three people with real stakes. Transition: the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Vote, two minutes with a neighbour, revote. Count both votes on the board. Expect</a:t>
            </a:r>
          </a:p>
          <a:p>
            <a:r>
              <a:t>votes on c, since the monsoon sounds like the safest explanation.</a:t>
            </a:r>
          </a:p>
          <a:p>
            <a:r>
              <a:t>Transition: the true part of each objection.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One row at a time. Every number here is Monday's or is computed from Monday's</a:t>
            </a:r>
          </a:p>
          <a:p>
            <a:r>
              <a:t>tables in the facts file: the 880 are the 1,200 drivers less the 180 in the idle tail and the 140</a:t>
            </a:r>
          </a:p>
          <a:p>
            <a:r>
              <a:t>joiners, and none of the joiners is in the tail. The 180 had also run at 1.90 trips an hour before</a:t>
            </a:r>
          </a:p>
          <a:p>
            <a:r>
              <a:t>the launch, so the tail is drivers who changed, never drivers who were always slow. Weekly requests</a:t>
            </a:r>
          </a:p>
          <a:p>
            <a:r>
              <a:t>in the last three weeks ran 41,161 to 42,602, against 41,155 to 42,719 before the launch.</a:t>
            </a:r>
          </a:p>
          <a:p>
            <a:r>
              <a:t>Transition: the shape a defence takes.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Hand out the scorer's cards: chapter 3's four moves, taught on the school this</a:t>
            </a:r>
          </a:p>
          <a:p>
            <a:r>
              <a:t>morning. The two failures, overclaiming and retreating, were chapter 3's too.</a:t>
            </a:r>
          </a:p>
          <a:p>
            <a:r>
              <a:t>Transition: one full defence, modelled.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30 seconds. The trainer models this defence first, conceding on purpose, then points at each</a:t>
            </a:r>
          </a:p>
          <a:p>
            <a:r>
              <a:t>move on the S47 card. Every number is Monday's, recounted from Monday's tables when Tuesday's data</a:t>
            </a:r>
          </a:p>
          <a:p>
            <a:r>
              <a:t>was built.</a:t>
            </a:r>
          </a:p>
          <a:p>
            <a:r>
              <a:t>Transition: round one of the studio.</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23 minutes. Two minutes to form threes and hand out cards, then 3 x 7. Thirty-five learners</a:t>
            </a:r>
          </a:p>
          <a:p>
            <a:r>
              <a:t>make eleven threes and one pair; in the pair a TA takes the objector seat. Walk the room; note one</a:t>
            </a:r>
          </a:p>
          <a:p>
            <a:r>
              <a:t>strong concession and one retreat, and after the round name one of each without names: a retreat</a:t>
            </a:r>
          </a:p>
          <a:p>
            <a:r>
              <a:t>is fixed by "which line of your evidence did the objection touch?", an overclaim by "what would</a:t>
            </a:r>
          </a:p>
          <a:p>
            <a:r>
              <a:t>change your mind?", chapter 3's two failures.</a:t>
            </a:r>
          </a:p>
          <a:p>
            <a:r>
              <a:t>Transition: what leaves the slide.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Letters on paper. Expect some votes for a, since caveats feel like detail.</a:t>
            </a:r>
          </a:p>
          <a:p>
            <a:r>
              <a:t>Transition: the answer, and the drawer it goes in.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Chapter 2's sort, applied: the trap here is a caveat in the drawer. Walk the three pages and ask what each</a:t>
            </a:r>
          </a:p>
          <a:p>
            <a:r>
              <a:t>role's page must hold. The common wrong answer in an interview is "I put everything in the</a:t>
            </a:r>
          </a:p>
          <a:p>
            <a:r>
              <a:t>appendix".</a:t>
            </a:r>
          </a:p>
          <a:p>
            <a:r>
              <a:t>Transition: the drill.</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This is mid-session drill 1, in exercises/unguided. Four minutes alone, two</a:t>
            </a:r>
          </a:p>
          <a:p>
            <a:r>
              <a:t>minutes comparing with a neighbour. Expect the 24 percent line kept by some: ask what claim it</a:t>
            </a:r>
          </a:p>
          <a:p>
            <a:r>
              <a:t>supports. The two that carry it: the wait barely moved, and each extra trip cost Rs 2,836 of top-up</a:t>
            </a:r>
          </a:p>
          <a:p>
            <a:r>
              <a:t>(Rs 1.9 crore over the 6,700 extra trips).</a:t>
            </a:r>
          </a:p>
          <a:p>
            <a:r>
              <a:t>Transition: what chapter 5 adds.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One learner says the slide's four parts and the three appendix headings from</a:t>
            </a:r>
          </a:p>
          <a:p>
            <a:r>
              <a:t>memory.</a:t>
            </a:r>
          </a:p>
          <a:p>
            <a:r>
              <a:t>Transition: where the morning ends.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three cards. Lunch.</a:t>
            </a:r>
          </a:p>
          <a:p>
            <a:r>
              <a:t>Transition: half two, round two of the studio, then the guesstimate.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1.xml"/><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4.xml"/><Relationship Id="rId5" Type="http://schemas.openxmlformats.org/officeDocument/2006/relationships/image" Target="../media/image12.png"/><Relationship Id="rId6"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8.xml"/><Relationship Id="rId5"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1.xml"/><Relationship Id="rId5" Type="http://schemas.openxmlformats.org/officeDocument/2006/relationships/image" Target="../media/image12.png"/><Relationship Id="rId6"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0.xml"/><Relationship Id="rId5" Type="http://schemas.openxmlformats.org/officeDocument/2006/relationships/image" Target="../media/image12.png"/><Relationship Id="rId6"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7.xml"/><Relationship Id="rId5" Type="http://schemas.openxmlformats.org/officeDocument/2006/relationships/image" Target="../media/image2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6.xml"/><Relationship Id="rId5"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8.xml"/><Relationship Id="rId5" Type="http://schemas.openxmlformats.org/officeDocument/2006/relationships/image" Target="../media/image2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notesSlide" Target="../notesSlides/notesSlide5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Stakeholder communication, then the first guesstimate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One slide, five minutes, three people paid to disagree: can the answer survive, and can a number be sized from nothing?</a:t>
            </a:r>
          </a:p>
        </p:txBody>
      </p:sp>
      <p:sp>
        <p:nvSpPr>
          <p:cNvPr id="9" name="Rounded Rectangle 8"/>
          <p:cNvSpPr/>
          <p:nvPr/>
        </p:nvSpPr>
        <p:spPr>
          <a:xfrm>
            <a:off x="53035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tore_c62a884f6627.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TOPICS</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Taught on invented examples</a:t>
            </a:r>
          </a:p>
        </p:txBody>
      </p:sp>
      <p:sp>
        <p:nvSpPr>
          <p:cNvPr id="14" name="TextBox 13"/>
          <p:cNvSpPr txBox="1"/>
          <p:nvPr/>
        </p:nvSpPr>
        <p:spPr>
          <a:xfrm>
            <a:off x="731519"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A kirana shop, a secondary school and a campus canteen carry the five topics, each counted by hand before any code.</a:t>
            </a:r>
          </a:p>
        </p:txBody>
      </p:sp>
      <p:sp>
        <p:nvSpPr>
          <p:cNvPr id="15" name="Rounded Rectangle 14"/>
          <p:cNvSpPr/>
          <p:nvPr/>
        </p:nvSpPr>
        <p:spPr>
          <a:xfrm>
            <a:off x="430164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car_2853f22980e2.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CASE</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Uber, Hyderabad, one day on</a:t>
            </a:r>
          </a:p>
        </p:txBody>
      </p:sp>
      <p:sp>
        <p:nvSpPr>
          <p:cNvPr id="20" name="TextBox 19"/>
          <p:cNvSpPr txBox="1"/>
          <p:nvPr/>
        </p:nvSpPr>
        <p:spPr>
          <a:xfrm>
            <a:off x="450281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Monday's redesign of the peak-hour guarantee goes to Thursday's city review on one slide; then a number is sized from nothing.</a:t>
            </a:r>
          </a:p>
        </p:txBody>
      </p:sp>
      <p:sp>
        <p:nvSpPr>
          <p:cNvPr id="21" name="Rounded Rectangle 20"/>
          <p:cNvSpPr/>
          <p:nvPr/>
        </p:nvSpPr>
        <p:spPr>
          <a:xfrm>
            <a:off x="8072932" y="1956816"/>
            <a:ext cx="3588410"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building-2_19e68cdc22ce.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THE LAB</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Kalpa Retail</a:t>
            </a:r>
          </a:p>
        </p:txBody>
      </p:sp>
      <p:sp>
        <p:nvSpPr>
          <p:cNvPr id="26" name="TextBox 25"/>
          <p:cNvSpPr txBox="1"/>
          <p:nvPr/>
        </p:nvSpPr>
        <p:spPr>
          <a:xfrm>
            <a:off x="8274100" y="3303524"/>
            <a:ext cx="3186074" cy="581406"/>
          </a:xfrm>
          <a:prstGeom prst="rect">
            <a:avLst/>
          </a:prstGeom>
          <a:noFill/>
        </p:spPr>
        <p:txBody>
          <a:bodyPr wrap="square" anchor="t" lIns="0" rIns="0" tIns="0" bIns="0">
            <a:spAutoFit/>
          </a:bodyPr>
          <a:lstStyle/>
          <a:p>
            <a:pPr algn="l"/>
            <a:r>
              <a:rPr sz="1100" b="0" i="0">
                <a:solidFill>
                  <a:srgbClr val="CFC9EE"/>
                </a:solidFill>
                <a:latin typeface="Calibri"/>
              </a:rPr>
              <a:t>The north-star slide presented to a TA, and the sign-ups a new store could win in its first year.</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29" name="Oval 28"/>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31" name="Oval 30"/>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33" name="Oval 32"/>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35" name="Oval 34"/>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1 / 59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week map: Monday's number in, Tuesday lit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today sit, and what did Monday's node earn?</a:t>
            </a:r>
          </a:p>
        </p:txBody>
      </p:sp>
      <p:pic>
        <p:nvPicPr>
          <p:cNvPr id="9" name="mermaid diagram" descr="4a6dd0cdefb73055.png"/>
          <p:cNvPicPr>
            <a:picLocks noChangeAspect="1"/>
          </p:cNvPicPr>
          <p:nvPr/>
        </p:nvPicPr>
        <p:blipFill>
          <a:blip r:embed="rId5"/>
          <a:stretch>
            <a:fillRect/>
          </a:stretch>
        </p:blipFill>
        <p:spPr>
          <a:xfrm>
            <a:off x="530352" y="1956816"/>
            <a:ext cx="11130991" cy="2536050"/>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6" name="Oval 15"/>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18" name="Oval 17"/>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2 / 59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topics in five chapters, then Uber applies them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topics does Tuesday teach, in what order, for how long, and in which notebook?</a:t>
            </a:r>
          </a:p>
        </p:txBody>
      </p:sp>
      <p:graphicFrame>
        <p:nvGraphicFramePr>
          <p:cNvPr id="9" name="Table 8"/>
          <p:cNvGraphicFramePr>
            <a:graphicFrameLocks noGrp="1"/>
          </p:cNvGraphicFramePr>
          <p:nvPr/>
        </p:nvGraphicFramePr>
        <p:xfrm>
          <a:off x="530352" y="1868424"/>
          <a:ext cx="11130990" cy="2011680"/>
        </p:xfrm>
        <a:graphic>
          <a:graphicData uri="http://schemas.openxmlformats.org/drawingml/2006/table">
            <a:tbl>
              <a:tblPr firstRow="0" bandRow="0">
                <a:tableStyleId>{2D5ABB26-0587-4C30-8999-92F81FD0307C}</a:tableStyleId>
              </a:tblPr>
              <a:tblGrid>
                <a:gridCol w="914400"/>
                <a:gridCol w="6624442"/>
                <a:gridCol w="1575434"/>
                <a:gridCol w="914400"/>
                <a:gridCol w="1102314"/>
              </a:tblGrid>
              <a:tr h="335280">
                <a:tc>
                  <a:txBody>
                    <a:bodyPr/>
                    <a:lstStyle/>
                    <a:p>
                      <a:r>
                        <a:rPr sz="1250" b="1" i="0">
                          <a:solidFill>
                            <a:srgbClr val="FFFFFF"/>
                          </a:solidFill>
                          <a:latin typeface="Calibri"/>
                        </a:rPr>
                        <a:t>#</a:t>
                      </a:r>
                    </a:p>
                  </a:txBody>
                  <a:tcPr marL="101600" marR="101600" marT="38100" marB="38100" anchor="ctr">
                    <a:solidFill>
                      <a:srgbClr val="1A0F5C"/>
                    </a:solidFill>
                  </a:tcPr>
                </a:tc>
                <a:tc>
                  <a:txBody>
                    <a:bodyPr/>
                    <a:lstStyle/>
                    <a:p>
                      <a:r>
                        <a:rPr sz="1250" b="1" i="0">
                          <a:solidFill>
                            <a:srgbClr val="FFFFFF"/>
                          </a:solidFill>
                          <a:latin typeface="Calibri"/>
                        </a:rPr>
                        <a:t>The topic, in the curriculum's words</a:t>
                      </a:r>
                    </a:p>
                  </a:txBody>
                  <a:tcPr marL="101600" marR="101600" marT="38100" marB="38100" anchor="ctr">
                    <a:solidFill>
                      <a:srgbClr val="1A0F5C"/>
                    </a:solidFill>
                  </a:tcPr>
                </a:tc>
                <a:tc>
                  <a:txBody>
                    <a:bodyPr/>
                    <a:lstStyle/>
                    <a:p>
                      <a:r>
                        <a:rPr sz="1250" b="1" i="0">
                          <a:solidFill>
                            <a:srgbClr val="FFFFFF"/>
                          </a:solidFill>
                          <a:latin typeface="Calibri"/>
                        </a:rPr>
                        <a:t>Chapter</a:t>
                      </a:r>
                    </a:p>
                  </a:txBody>
                  <a:tcPr marL="101600" marR="101600" marT="38100" marB="38100" anchor="ctr">
                    <a:solidFill>
                      <a:srgbClr val="1A0F5C"/>
                    </a:solidFill>
                  </a:tcPr>
                </a:tc>
                <a:tc>
                  <a:txBody>
                    <a:bodyPr/>
                    <a:lstStyle/>
                    <a:p>
                      <a:r>
                        <a:rPr sz="1250" b="1" i="0">
                          <a:solidFill>
                            <a:srgbClr val="FFFFFF"/>
                          </a:solidFill>
                          <a:latin typeface="Calibri"/>
                        </a:rPr>
                        <a:t>Minutes</a:t>
                      </a:r>
                    </a:p>
                  </a:txBody>
                  <a:tcPr marL="101600" marR="101600" marT="38100" marB="38100" anchor="ctr">
                    <a:solidFill>
                      <a:srgbClr val="1A0F5C"/>
                    </a:solidFill>
                  </a:tcPr>
                </a:tc>
                <a:tc>
                  <a:txBody>
                    <a:bodyPr/>
                    <a:lstStyle/>
                    <a:p>
                      <a:r>
                        <a:rPr sz="1250" b="1" i="0">
                          <a:solidFill>
                            <a:srgbClr val="FFFFFF"/>
                          </a:solidFill>
                          <a:latin typeface="Calibri"/>
                        </a:rPr>
                        <a:t>Notebook</a:t>
                      </a:r>
                    </a:p>
                  </a:txBody>
                  <a:tcPr marL="101600" marR="101600" marT="38100" marB="38100" anchor="ctr">
                    <a:solidFill>
                      <a:srgbClr val="1A0F5C"/>
                    </a:solidFill>
                  </a:tcPr>
                </a:tc>
              </a:tr>
              <a:tr h="335280">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The one-slide answer: claim, evidence, caveat, action</a:t>
                      </a:r>
                    </a:p>
                  </a:txBody>
                  <a:tcPr marL="101600" marR="101600" marT="38100" marB="38100" anchor="ctr">
                    <a:solidFill>
                      <a:srgbClr val="FFFFFF"/>
                    </a:solidFill>
                  </a:tcPr>
                </a:tc>
                <a:tc>
                  <a:txBody>
                    <a:bodyPr/>
                    <a:lstStyle/>
                    <a:p>
                      <a:r>
                        <a:rPr sz="1200" b="0" i="0">
                          <a:solidFill>
                            <a:srgbClr val="1A1440"/>
                          </a:solidFill>
                          <a:latin typeface="Calibri"/>
                        </a:rPr>
                        <a:t>1</a:t>
                      </a:r>
                    </a:p>
                  </a:txBody>
                  <a:tcPr marL="101600" marR="101600" marT="38100" marB="38100" anchor="ctr">
                    <a:solidFill>
                      <a:srgbClr val="FFFFFF"/>
                    </a:solidFill>
                  </a:tcPr>
                </a:tc>
                <a:tc>
                  <a:txBody>
                    <a:bodyPr/>
                    <a:lstStyle/>
                    <a:p>
                      <a:r>
                        <a:rPr sz="1200" b="0" i="0">
                          <a:solidFill>
                            <a:srgbClr val="1A1440"/>
                          </a:solidFill>
                          <a:latin typeface="Calibri"/>
                        </a:rPr>
                        <a:t>35</a:t>
                      </a:r>
                    </a:p>
                  </a:txBody>
                  <a:tcPr marL="101600" marR="101600" marT="38100" marB="38100" anchor="ctr">
                    <a:solidFill>
                      <a:srgbClr val="FFFFFF"/>
                    </a:solidFill>
                  </a:tcPr>
                </a:tc>
                <a:tc>
                  <a:txBody>
                    <a:bodyPr/>
                    <a:lstStyle/>
                    <a:p>
                      <a:r>
                        <a:rPr sz="1200" b="0" i="0">
                          <a:solidFill>
                            <a:srgbClr val="1A1440"/>
                          </a:solidFill>
                          <a:latin typeface="Calibri"/>
                        </a:rPr>
                        <a:t>01</a:t>
                      </a:r>
                    </a:p>
                  </a:txBody>
                  <a:tcPr marL="101600" marR="101600" marT="38100" marB="38100" anchor="ctr">
                    <a:solidFill>
                      <a:srgbClr val="FFFFFF"/>
                    </a:solidFill>
                  </a:tcPr>
                </a:tc>
              </a:tr>
              <a:tr h="335280">
                <a:tc>
                  <a:txBody>
                    <a:bodyPr/>
                    <a:lstStyle/>
                    <a:p>
                      <a:r>
                        <a:rPr sz="1200" b="0" i="0">
                          <a:solidFill>
                            <a:srgbClr val="1A1440"/>
                          </a:solidFill>
                          <a:latin typeface="Calibri"/>
                        </a:rPr>
                        <a:t>2</a:t>
                      </a:r>
                    </a:p>
                  </a:txBody>
                  <a:tcPr marL="101600" marR="101600" marT="38100" marB="38100" anchor="ctr">
                    <a:solidFill>
                      <a:srgbClr val="F4F2FA"/>
                    </a:solidFill>
                  </a:tcPr>
                </a:tc>
                <a:tc>
                  <a:txBody>
                    <a:bodyPr/>
                    <a:lstStyle/>
                    <a:p>
                      <a:r>
                        <a:rPr sz="1200" b="0" i="0">
                          <a:solidFill>
                            <a:srgbClr val="1A1440"/>
                          </a:solidFill>
                          <a:latin typeface="Calibri"/>
                        </a:rPr>
                        <a:t>What to leave out, and the appendix</a:t>
                      </a:r>
                    </a:p>
                  </a:txBody>
                  <a:tcPr marL="101600" marR="101600" marT="38100" marB="38100" anchor="ctr">
                    <a:solidFill>
                      <a:srgbClr val="F4F2FA"/>
                    </a:solidFill>
                  </a:tcPr>
                </a:tc>
                <a:tc>
                  <a:txBody>
                    <a:bodyPr/>
                    <a:lstStyle/>
                    <a:p>
                      <a:r>
                        <a:rPr sz="1200" b="0" i="0">
                          <a:solidFill>
                            <a:srgbClr val="1A1440"/>
                          </a:solidFill>
                          <a:latin typeface="Calibri"/>
                        </a:rPr>
                        <a:t>2</a:t>
                      </a:r>
                    </a:p>
                  </a:txBody>
                  <a:tcPr marL="101600" marR="101600" marT="38100" marB="38100" anchor="ctr">
                    <a:solidFill>
                      <a:srgbClr val="F4F2FA"/>
                    </a:solidFill>
                  </a:tcPr>
                </a:tc>
                <a:tc>
                  <a:txBody>
                    <a:bodyPr/>
                    <a:lstStyle/>
                    <a:p>
                      <a:r>
                        <a:rPr sz="1200" b="0" i="0">
                          <a:solidFill>
                            <a:srgbClr val="1A1440"/>
                          </a:solidFill>
                          <a:latin typeface="Calibri"/>
                        </a:rPr>
                        <a:t>12</a:t>
                      </a:r>
                    </a:p>
                  </a:txBody>
                  <a:tcPr marL="101600" marR="101600" marT="38100" marB="38100" anchor="ctr">
                    <a:solidFill>
                      <a:srgbClr val="F4F2FA"/>
                    </a:solidFill>
                  </a:tcPr>
                </a:tc>
                <a:tc>
                  <a:txBody>
                    <a:bodyPr/>
                    <a:lstStyle/>
                    <a:p>
                      <a:r>
                        <a:rPr sz="1200" b="0" i="0">
                          <a:solidFill>
                            <a:srgbClr val="1A1440"/>
                          </a:solidFill>
                          <a:latin typeface="Calibri"/>
                        </a:rPr>
                        <a:t>02</a:t>
                      </a:r>
                    </a:p>
                  </a:txBody>
                  <a:tcPr marL="101600" marR="101600" marT="38100" marB="38100" anchor="ctr">
                    <a:solidFill>
                      <a:srgbClr val="F4F2FA"/>
                    </a:solidFill>
                  </a:tcPr>
                </a:tc>
              </a:tr>
              <a:tr h="335280">
                <a:tc>
                  <a:txBody>
                    <a:bodyPr/>
                    <a:lstStyle/>
                    <a:p>
                      <a:r>
                        <a:rPr sz="1200" b="0" i="0">
                          <a:solidFill>
                            <a:srgbClr val="1A1440"/>
                          </a:solidFill>
                          <a:latin typeface="Calibri"/>
                        </a:rPr>
                        <a:t>3</a:t>
                      </a:r>
                    </a:p>
                  </a:txBody>
                  <a:tcPr marL="101600" marR="101600" marT="38100" marB="38100" anchor="ctr">
                    <a:solidFill>
                      <a:srgbClr val="FFFFFF"/>
                    </a:solidFill>
                  </a:tcPr>
                </a:tc>
                <a:tc>
                  <a:txBody>
                    <a:bodyPr/>
                    <a:lstStyle/>
                    <a:p>
                      <a:r>
                        <a:rPr sz="1200" b="0" i="0">
                          <a:solidFill>
                            <a:srgbClr val="1A1440"/>
                          </a:solidFill>
                          <a:latin typeface="Calibri"/>
                        </a:rPr>
                        <a:t>Defending under challenge: restate, answer, concede, what would change your mind</a:t>
                      </a:r>
                    </a:p>
                  </a:txBody>
                  <a:tcPr marL="101600" marR="101600" marT="38100" marB="38100" anchor="ctr">
                    <a:solidFill>
                      <a:srgbClr val="FFFFFF"/>
                    </a:solidFill>
                  </a:tcPr>
                </a:tc>
                <a:tc>
                  <a:txBody>
                    <a:bodyPr/>
                    <a:lstStyle/>
                    <a:p>
                      <a:r>
                        <a:rPr sz="1200" b="0" i="0">
                          <a:solidFill>
                            <a:srgbClr val="1A1440"/>
                          </a:solidFill>
                          <a:latin typeface="Calibri"/>
                        </a:rPr>
                        <a:t>3</a:t>
                      </a:r>
                    </a:p>
                  </a:txBody>
                  <a:tcPr marL="101600" marR="101600" marT="38100" marB="38100" anchor="ctr">
                    <a:solidFill>
                      <a:srgbClr val="FFFFFF"/>
                    </a:solidFill>
                  </a:tcPr>
                </a:tc>
                <a:tc>
                  <a:txBody>
                    <a:bodyPr/>
                    <a:lstStyle/>
                    <a:p>
                      <a:r>
                        <a:rPr sz="1200" b="0" i="0">
                          <a:solidFill>
                            <a:srgbClr val="1A1440"/>
                          </a:solidFill>
                          <a:latin typeface="Calibri"/>
                        </a:rPr>
                        <a:t>25</a:t>
                      </a:r>
                    </a:p>
                  </a:txBody>
                  <a:tcPr marL="101600" marR="101600" marT="38100" marB="38100" anchor="ctr">
                    <a:solidFill>
                      <a:srgbClr val="FFFFFF"/>
                    </a:solidFill>
                  </a:tcPr>
                </a:tc>
                <a:tc>
                  <a:txBody>
                    <a:bodyPr/>
                    <a:lstStyle/>
                    <a:p>
                      <a:r>
                        <a:rPr sz="1200" b="0" i="0">
                          <a:solidFill>
                            <a:srgbClr val="1A1440"/>
                          </a:solidFill>
                          <a:latin typeface="Calibri"/>
                        </a:rPr>
                        <a:t>03</a:t>
                      </a:r>
                    </a:p>
                  </a:txBody>
                  <a:tcPr marL="101600" marR="101600" marT="38100" marB="38100" anchor="ctr">
                    <a:solidFill>
                      <a:srgbClr val="FFFFFF"/>
                    </a:solidFill>
                  </a:tcPr>
                </a:tc>
              </a:tr>
              <a:tr h="335280">
                <a:tc>
                  <a:txBody>
                    <a:bodyPr/>
                    <a:lstStyle/>
                    <a:p>
                      <a:r>
                        <a:rPr sz="1200" b="0" i="0">
                          <a:solidFill>
                            <a:srgbClr val="1A1440"/>
                          </a:solidFill>
                          <a:latin typeface="Calibri"/>
                        </a:rPr>
                        <a:t>4</a:t>
                      </a:r>
                    </a:p>
                  </a:txBody>
                  <a:tcPr marL="101600" marR="101600" marT="38100" marB="38100" anchor="ctr">
                    <a:solidFill>
                      <a:srgbClr val="F4F2FA"/>
                    </a:solidFill>
                  </a:tcPr>
                </a:tc>
                <a:tc>
                  <a:txBody>
                    <a:bodyPr/>
                    <a:lstStyle/>
                    <a:p>
                      <a:r>
                        <a:rPr sz="1200" b="0" i="0">
                          <a:solidFill>
                            <a:srgbClr val="1A1440"/>
                          </a:solidFill>
                          <a:latin typeface="Calibri"/>
                        </a:rPr>
                        <a:t>The guesstimate: clarify, map, calculate, validate</a:t>
                      </a:r>
                    </a:p>
                  </a:txBody>
                  <a:tcPr marL="101600" marR="101600" marT="38100" marB="38100" anchor="ctr">
                    <a:solidFill>
                      <a:srgbClr val="F4F2FA"/>
                    </a:solidFill>
                  </a:tcPr>
                </a:tc>
                <a:tc>
                  <a:txBody>
                    <a:bodyPr/>
                    <a:lstStyle/>
                    <a:p>
                      <a:r>
                        <a:rPr sz="1200" b="0" i="0">
                          <a:solidFill>
                            <a:srgbClr val="1A1440"/>
                          </a:solidFill>
                          <a:latin typeface="Calibri"/>
                        </a:rPr>
                        <a:t>6, after lunch</a:t>
                      </a:r>
                    </a:p>
                  </a:txBody>
                  <a:tcPr marL="101600" marR="101600" marT="38100" marB="38100" anchor="ctr">
                    <a:solidFill>
                      <a:srgbClr val="F4F2FA"/>
                    </a:solidFill>
                  </a:tcPr>
                </a:tc>
                <a:tc>
                  <a:txBody>
                    <a:bodyPr/>
                    <a:lstStyle/>
                    <a:p>
                      <a:r>
                        <a:rPr sz="1200" b="0" i="0">
                          <a:solidFill>
                            <a:srgbClr val="1A1440"/>
                          </a:solidFill>
                          <a:latin typeface="Calibri"/>
                        </a:rPr>
                        <a:t>30</a:t>
                      </a:r>
                    </a:p>
                  </a:txBody>
                  <a:tcPr marL="101600" marR="101600" marT="38100" marB="38100" anchor="ctr">
                    <a:solidFill>
                      <a:srgbClr val="F4F2FA"/>
                    </a:solidFill>
                  </a:tcPr>
                </a:tc>
                <a:tc>
                  <a:txBody>
                    <a:bodyPr/>
                    <a:lstStyle/>
                    <a:p>
                      <a:r>
                        <a:rPr sz="1200" b="0" i="0">
                          <a:solidFill>
                            <a:srgbClr val="1A1440"/>
                          </a:solidFill>
                          <a:latin typeface="Calibri"/>
                        </a:rPr>
                        <a:t>06</a:t>
                      </a:r>
                    </a:p>
                  </a:txBody>
                  <a:tcPr marL="101600" marR="101600" marT="38100" marB="38100" anchor="ctr">
                    <a:solidFill>
                      <a:srgbClr val="F4F2FA"/>
                    </a:solidFill>
                  </a:tcPr>
                </a:tc>
              </a:tr>
              <a:tr h="335280">
                <a:tc>
                  <a:txBody>
                    <a:bodyPr/>
                    <a:lstStyle/>
                    <a:p>
                      <a:r>
                        <a:rPr sz="1200" b="0" i="0">
                          <a:solidFill>
                            <a:srgbClr val="1A1440"/>
                          </a:solidFill>
                          <a:latin typeface="Calibri"/>
                        </a:rPr>
                        <a:t>5</a:t>
                      </a:r>
                    </a:p>
                  </a:txBody>
                  <a:tcPr marL="101600" marR="101600" marT="38100" marB="38100" anchor="ctr">
                    <a:solidFill>
                      <a:srgbClr val="FFFFFF"/>
                    </a:solidFill>
                  </a:tcPr>
                </a:tc>
                <a:tc>
                  <a:txBody>
                    <a:bodyPr/>
                    <a:lstStyle/>
                    <a:p>
                      <a:r>
                        <a:rPr sz="1200" b="0" i="0">
                          <a:solidFill>
                            <a:srgbClr val="1A1440"/>
                          </a:solidFill>
                          <a:latin typeface="Calibri"/>
                        </a:rPr>
                        <a:t>The AI-free written business case</a:t>
                      </a:r>
                    </a:p>
                  </a:txBody>
                  <a:tcPr marL="101600" marR="101600" marT="38100" marB="38100" anchor="ctr">
                    <a:solidFill>
                      <a:srgbClr val="FFFFFF"/>
                    </a:solidFill>
                  </a:tcPr>
                </a:tc>
                <a:tc>
                  <a:txBody>
                    <a:bodyPr/>
                    <a:lstStyle/>
                    <a:p>
                      <a:r>
                        <a:rPr sz="1200" b="0" i="0">
                          <a:solidFill>
                            <a:srgbClr val="1A1440"/>
                          </a:solidFill>
                          <a:latin typeface="Calibri"/>
                        </a:rPr>
                        <a:t>7, after lunch</a:t>
                      </a:r>
                    </a:p>
                  </a:txBody>
                  <a:tcPr marL="101600" marR="101600" marT="38100" marB="38100" anchor="ctr">
                    <a:solidFill>
                      <a:srgbClr val="FFFFFF"/>
                    </a:solidFill>
                  </a:tcPr>
                </a:tc>
                <a:tc>
                  <a:txBody>
                    <a:bodyPr/>
                    <a:lstStyle/>
                    <a:p>
                      <a:r>
                        <a:rPr sz="1200" b="0" i="0">
                          <a:solidFill>
                            <a:srgbClr val="1A1440"/>
                          </a:solidFill>
                          <a:latin typeface="Calibri"/>
                        </a:rPr>
                        <a:t>10</a:t>
                      </a:r>
                    </a:p>
                  </a:txBody>
                  <a:tcPr marL="101600" marR="101600" marT="38100" marB="38100" anchor="ctr">
                    <a:solidFill>
                      <a:srgbClr val="FFFFFF"/>
                    </a:solidFill>
                  </a:tcPr>
                </a:tc>
                <a:tc>
                  <a:txBody>
                    <a:bodyPr/>
                    <a:lstStyle/>
                    <a:p>
                      <a:r>
                        <a:rPr sz="1200" b="0" i="0">
                          <a:solidFill>
                            <a:srgbClr val="1A1440"/>
                          </a:solidFill>
                          <a:latin typeface="Calibri"/>
                        </a:rPr>
                        <a:t>07</a:t>
                      </a:r>
                    </a:p>
                  </a:txBody>
                  <a:tcPr marL="101600" marR="101600" marT="38100" marB="38100" anchor="ctr">
                    <a:solidFill>
                      <a:srgbClr val="FFFFFF"/>
                    </a:solidFill>
                  </a:tcPr>
                </a:tc>
              </a:tr>
            </a:tbl>
          </a:graphicData>
        </a:graphic>
      </p:graphicFrame>
      <p:sp>
        <p:nvSpPr>
          <p:cNvPr id="10" name="TextBox 9"/>
          <p:cNvSpPr txBox="1"/>
          <p:nvPr/>
        </p:nvSpPr>
        <p:spPr>
          <a:xfrm>
            <a:off x="530352" y="4136136"/>
            <a:ext cx="11130991" cy="187756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Chapters 4 and 5 apply topics 1 to 3 to Uber's slide before lunch; chapters 8 to 10 apply topics 4 and 5 after it, with topics 1 and 3 back in the page and the interview room; and the lab runs the guesstimate on Kalpa Retail in notebook 11. A slide numbered D is for self-study; L1 to L6 in the notes mark the day's ladder, from a hand count anyone can do (L1) to the depth a hard interview asks (L6); and each interview line carries this programme's tag: [S] a staple asked everywhere, [F] frequent in product-company and global capability centre screens, [D] a differentiator.</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19" name="Oval 1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3 / 59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topics, joined to what came before and after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topic rest on, what does it feed, and where is it applied?</a:t>
            </a:r>
          </a:p>
        </p:txBody>
      </p:sp>
      <p:pic>
        <p:nvPicPr>
          <p:cNvPr id="9" name="mermaid diagram" descr="e9beceaf40665de2.png"/>
          <p:cNvPicPr>
            <a:picLocks noChangeAspect="1"/>
          </p:cNvPicPr>
          <p:nvPr/>
        </p:nvPicPr>
        <p:blipFill>
          <a:blip r:embed="rId5"/>
          <a:stretch>
            <a:fillRect/>
          </a:stretch>
        </p:blipFill>
        <p:spPr>
          <a:xfrm>
            <a:off x="530352" y="1956816"/>
            <a:ext cx="11130991" cy="2603491"/>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6" name="Oval 15"/>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18" name="Oval 17"/>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4 / 59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ticket: one slide, five minutes, three objectors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has the city head asked for, and which number will land first?</a:t>
            </a:r>
          </a:p>
        </p:txBody>
      </p:sp>
      <p:sp>
        <p:nvSpPr>
          <p:cNvPr id="9" name="TextBox 8"/>
          <p:cNvSpPr txBox="1"/>
          <p:nvPr/>
        </p:nvSpPr>
        <p:spPr>
          <a:xfrm>
            <a:off x="530352" y="1806702"/>
            <a:ext cx="11130991" cy="979424"/>
          </a:xfrm>
          <a:prstGeom prst="rect">
            <a:avLst/>
          </a:prstGeom>
          <a:noFill/>
        </p:spPr>
        <p:txBody>
          <a:bodyPr wrap="square" anchor="t" lIns="0" rIns="0" tIns="0" bIns="0">
            <a:spAutoFit/>
          </a:bodyPr>
          <a:lstStyle/>
          <a:p>
            <a:pPr>
              <a:spcAft>
                <a:spcPts val="500"/>
              </a:spcAft>
            </a:pPr>
            <a:r>
              <a:rPr sz="1100" b="1" i="0">
                <a:solidFill>
                  <a:srgbClr val="1A1440"/>
                </a:solidFill>
                <a:latin typeface="Calibri"/>
              </a:rPr>
              <a:t>Uber, Hyderabad, the driver app's peak-hour earnings guarantee, one day on.</a:t>
            </a:r>
            <a:r>
              <a:rPr sz="1100" b="0" i="0">
                <a:solidFill>
                  <a:srgbClr val="1A1440"/>
                </a:solidFill>
                <a:latin typeface="Calibri"/>
              </a:rPr>
              <a:t> The scheme promises each enrolled driver Rs 300 per peak online hour and pays any shortfall as a top-up; Monday's redesign pays for completed peak trips instead, to drivers who accept at least half the requests offered. Thursday's city review gets one slide, five minutes, and three people who each lose under the redesign. Gross bookings are what riders paid; an active driver-week is one driver with a row that week.</a:t>
            </a:r>
          </a:p>
        </p:txBody>
      </p:sp>
      <p:graphicFrame>
        <p:nvGraphicFramePr>
          <p:cNvPr id="10" name="Table 9"/>
          <p:cNvGraphicFramePr>
            <a:graphicFrameLocks noGrp="1"/>
          </p:cNvGraphicFramePr>
          <p:nvPr/>
        </p:nvGraphicFramePr>
        <p:xfrm>
          <a:off x="530352" y="2914142"/>
          <a:ext cx="11130989" cy="1554480"/>
        </p:xfrm>
        <a:graphic>
          <a:graphicData uri="http://schemas.openxmlformats.org/drawingml/2006/table">
            <a:tbl>
              <a:tblPr firstRow="0" bandRow="0">
                <a:tableStyleId>{2D5ABB26-0587-4C30-8999-92F81FD0307C}</a:tableStyleId>
              </a:tblPr>
              <a:tblGrid>
                <a:gridCol w="5032116"/>
                <a:gridCol w="2673667"/>
                <a:gridCol w="3425206"/>
              </a:tblGrid>
              <a:tr h="310896">
                <a:tc>
                  <a:txBody>
                    <a:bodyPr/>
                    <a:lstStyle/>
                    <a:p>
                      <a:r>
                        <a:rPr sz="950" b="1" i="0">
                          <a:solidFill>
                            <a:srgbClr val="FFFFFF"/>
                          </a:solidFill>
                          <a:latin typeface="Calibri"/>
                        </a:rPr>
                        <a:t>Six weeks each side</a:t>
                      </a:r>
                    </a:p>
                  </a:txBody>
                  <a:tcPr marL="101600" marR="101600" marT="38100" marB="38100" anchor="ctr">
                    <a:solidFill>
                      <a:srgbClr val="1A0F5C"/>
                    </a:solidFill>
                  </a:tcPr>
                </a:tc>
                <a:tc>
                  <a:txBody>
                    <a:bodyPr/>
                    <a:lstStyle/>
                    <a:p>
                      <a:r>
                        <a:rPr sz="950" b="1" i="0">
                          <a:solidFill>
                            <a:srgbClr val="FFFFFF"/>
                          </a:solidFill>
                          <a:latin typeface="Calibri"/>
                        </a:rPr>
                        <a:t>20 Jul to 30 Aug</a:t>
                      </a:r>
                    </a:p>
                  </a:txBody>
                  <a:tcPr marL="101600" marR="101600" marT="38100" marB="38100" anchor="ctr">
                    <a:solidFill>
                      <a:srgbClr val="1A0F5C"/>
                    </a:solidFill>
                  </a:tcPr>
                </a:tc>
                <a:tc>
                  <a:txBody>
                    <a:bodyPr/>
                    <a:lstStyle/>
                    <a:p>
                      <a:r>
                        <a:rPr sz="950" b="1" i="0">
                          <a:solidFill>
                            <a:srgbClr val="FFFFFF"/>
                          </a:solidFill>
                          <a:latin typeface="Calibri"/>
                        </a:rPr>
                        <a:t>31 Aug to 11 Oct</a:t>
                      </a:r>
                    </a:p>
                  </a:txBody>
                  <a:tcPr marL="101600" marR="101600" marT="38100" marB="38100" anchor="ctr">
                    <a:solidFill>
                      <a:srgbClr val="1A0F5C"/>
                    </a:solidFill>
                  </a:tcPr>
                </a:tc>
              </a:tr>
              <a:tr h="310896">
                <a:tc>
                  <a:txBody>
                    <a:bodyPr/>
                    <a:lstStyle/>
                    <a:p>
                      <a:r>
                        <a:rPr sz="900" b="0" i="0">
                          <a:solidFill>
                            <a:srgbClr val="1A1440"/>
                          </a:solidFill>
                          <a:latin typeface="Calibri"/>
                        </a:rPr>
                        <a:t>Gross bookings per peak online hour</a:t>
                      </a:r>
                    </a:p>
                  </a:txBody>
                  <a:tcPr marL="101600" marR="101600" marT="38100" marB="38100" anchor="ctr">
                    <a:solidFill>
                      <a:srgbClr val="FFFFFF"/>
                    </a:solidFill>
                  </a:tcPr>
                </a:tc>
                <a:tc>
                  <a:txBody>
                    <a:bodyPr/>
                    <a:lstStyle/>
                    <a:p>
                      <a:r>
                        <a:rPr sz="900" b="0" i="0">
                          <a:solidFill>
                            <a:srgbClr val="1A1440"/>
                          </a:solidFill>
                          <a:latin typeface="Calibri"/>
                        </a:rPr>
                        <a:t>Rs 314</a:t>
                      </a:r>
                    </a:p>
                  </a:txBody>
                  <a:tcPr marL="101600" marR="101600" marT="38100" marB="38100" anchor="ctr">
                    <a:solidFill>
                      <a:srgbClr val="FFFFFF"/>
                    </a:solidFill>
                  </a:tcPr>
                </a:tc>
                <a:tc>
                  <a:txBody>
                    <a:bodyPr/>
                    <a:lstStyle/>
                    <a:p>
                      <a:r>
                        <a:rPr sz="900" b="0" i="0">
                          <a:solidFill>
                            <a:srgbClr val="1A1440"/>
                          </a:solidFill>
                          <a:latin typeface="Calibri"/>
                        </a:rPr>
                        <a:t>Rs 260, down 17 percent</a:t>
                      </a:r>
                    </a:p>
                  </a:txBody>
                  <a:tcPr marL="101600" marR="101600" marT="38100" marB="38100" anchor="ctr">
                    <a:solidFill>
                      <a:srgbClr val="FFFFFF"/>
                    </a:solidFill>
                  </a:tcPr>
                </a:tc>
              </a:tr>
              <a:tr h="310896">
                <a:tc>
                  <a:txBody>
                    <a:bodyPr/>
                    <a:lstStyle/>
                    <a:p>
                      <a:r>
                        <a:rPr sz="900" b="0" i="0">
                          <a:solidFill>
                            <a:srgbClr val="1A1440"/>
                          </a:solidFill>
                          <a:latin typeface="Calibri"/>
                        </a:rPr>
                        <a:t>Average peak fare (bookings per trip)</a:t>
                      </a:r>
                    </a:p>
                  </a:txBody>
                  <a:tcPr marL="101600" marR="101600" marT="38100" marB="38100" anchor="ctr">
                    <a:solidFill>
                      <a:srgbClr val="F4F2FA"/>
                    </a:solidFill>
                  </a:tcPr>
                </a:tc>
                <a:tc>
                  <a:txBody>
                    <a:bodyPr/>
                    <a:lstStyle/>
                    <a:p>
                      <a:r>
                        <a:rPr sz="900" b="0" i="0">
                          <a:solidFill>
                            <a:srgbClr val="1A1440"/>
                          </a:solidFill>
                          <a:latin typeface="Calibri"/>
                        </a:rPr>
                        <a:t>Rs 165</a:t>
                      </a:r>
                    </a:p>
                  </a:txBody>
                  <a:tcPr marL="101600" marR="101600" marT="38100" marB="38100" anchor="ctr">
                    <a:solidFill>
                      <a:srgbClr val="F4F2FA"/>
                    </a:solidFill>
                  </a:tcPr>
                </a:tc>
                <a:tc>
                  <a:txBody>
                    <a:bodyPr/>
                    <a:lstStyle/>
                    <a:p>
                      <a:r>
                        <a:rPr sz="900" b="0" i="0">
                          <a:solidFill>
                            <a:srgbClr val="1A1440"/>
                          </a:solidFill>
                          <a:latin typeface="Calibri"/>
                        </a:rPr>
                        <a:t>Rs 165, flat</a:t>
                      </a:r>
                    </a:p>
                  </a:txBody>
                  <a:tcPr marL="101600" marR="101600" marT="38100" marB="38100" anchor="ctr">
                    <a:solidFill>
                      <a:srgbClr val="F4F2FA"/>
                    </a:solidFill>
                  </a:tcPr>
                </a:tc>
              </a:tr>
              <a:tr h="310896">
                <a:tc>
                  <a:txBody>
                    <a:bodyPr/>
                    <a:lstStyle/>
                    <a:p>
                      <a:r>
                        <a:rPr sz="900" b="0" i="0">
                          <a:solidFill>
                            <a:srgbClr val="1A1440"/>
                          </a:solidFill>
                          <a:latin typeface="Calibri"/>
                        </a:rPr>
                        <a:t>Gross bookings per active driver-week</a:t>
                      </a:r>
                    </a:p>
                  </a:txBody>
                  <a:tcPr marL="101600" marR="101600" marT="38100" marB="38100" anchor="ctr">
                    <a:solidFill>
                      <a:srgbClr val="FFFFFF"/>
                    </a:solidFill>
                  </a:tcPr>
                </a:tc>
                <a:tc>
                  <a:txBody>
                    <a:bodyPr/>
                    <a:lstStyle/>
                    <a:p>
                      <a:r>
                        <a:rPr sz="900" b="0" i="0">
                          <a:solidFill>
                            <a:srgbClr val="1A1440"/>
                          </a:solidFill>
                          <a:latin typeface="Calibri"/>
                        </a:rPr>
                        <a:t>Rs 5,817</a:t>
                      </a:r>
                    </a:p>
                  </a:txBody>
                  <a:tcPr marL="101600" marR="101600" marT="38100" marB="38100" anchor="ctr">
                    <a:solidFill>
                      <a:srgbClr val="FFFFFF"/>
                    </a:solidFill>
                  </a:tcPr>
                </a:tc>
                <a:tc>
                  <a:txBody>
                    <a:bodyPr/>
                    <a:lstStyle/>
                    <a:p>
                      <a:r>
                        <a:rPr sz="900" b="0" i="0">
                          <a:solidFill>
                            <a:srgbClr val="1A1440"/>
                          </a:solidFill>
                          <a:latin typeface="Calibri"/>
                        </a:rPr>
                        <a:t>Rs 5,861, up 0.8 percent</a:t>
                      </a:r>
                    </a:p>
                  </a:txBody>
                  <a:tcPr marL="101600" marR="101600" marT="38100" marB="38100" anchor="ctr">
                    <a:solidFill>
                      <a:srgbClr val="FFFFFF"/>
                    </a:solidFill>
                  </a:tcPr>
                </a:tc>
              </a:tr>
              <a:tr h="310896">
                <a:tc>
                  <a:txBody>
                    <a:bodyPr/>
                    <a:lstStyle/>
                    <a:p>
                      <a:r>
                        <a:rPr sz="900" b="0" i="0">
                          <a:solidFill>
                            <a:srgbClr val="1A1440"/>
                          </a:solidFill>
                          <a:latin typeface="Calibri"/>
                        </a:rPr>
                        <a:t>Peak online hours</a:t>
                      </a:r>
                    </a:p>
                  </a:txBody>
                  <a:tcPr marL="101600" marR="101600" marT="38100" marB="38100" anchor="ctr">
                    <a:solidFill>
                      <a:srgbClr val="F4F2FA"/>
                    </a:solidFill>
                  </a:tcPr>
                </a:tc>
                <a:tc>
                  <a:txBody>
                    <a:bodyPr/>
                    <a:lstStyle/>
                    <a:p>
                      <a:r>
                        <a:rPr sz="900" b="0" i="0">
                          <a:solidFill>
                            <a:srgbClr val="1A1440"/>
                          </a:solidFill>
                          <a:latin typeface="Calibri"/>
                        </a:rPr>
                        <a:t>118,000</a:t>
                      </a:r>
                    </a:p>
                  </a:txBody>
                  <a:tcPr marL="101600" marR="101600" marT="38100" marB="38100" anchor="ctr">
                    <a:solidFill>
                      <a:srgbClr val="F4F2FA"/>
                    </a:solidFill>
                  </a:tcPr>
                </a:tc>
                <a:tc>
                  <a:txBody>
                    <a:bodyPr/>
                    <a:lstStyle/>
                    <a:p>
                      <a:r>
                        <a:rPr sz="900" b="0" i="0">
                          <a:solidFill>
                            <a:srgbClr val="1A1440"/>
                          </a:solidFill>
                          <a:latin typeface="Calibri"/>
                        </a:rPr>
                        <a:t>146,300, up 24 percent</a:t>
                      </a:r>
                    </a:p>
                  </a:txBody>
                  <a:tcPr marL="101600" marR="101600" marT="38100" marB="38100" anchor="ctr">
                    <a:solidFill>
                      <a:srgbClr val="F4F2FA"/>
                    </a:solidFill>
                  </a:tcPr>
                </a:tc>
              </a:tr>
            </a:tbl>
          </a:graphicData>
        </a:graphic>
      </p:graphicFrame>
      <p:sp>
        <p:nvSpPr>
          <p:cNvPr id="11" name="Rounded Rectangle 10"/>
          <p:cNvSpPr/>
          <p:nvPr/>
        </p:nvSpPr>
        <p:spPr>
          <a:xfrm>
            <a:off x="530352" y="4724654"/>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485267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4843526"/>
            <a:ext cx="10564063" cy="624840"/>
          </a:xfrm>
          <a:prstGeom prst="rect">
            <a:avLst/>
          </a:prstGeom>
          <a:noFill/>
        </p:spPr>
        <p:txBody>
          <a:bodyPr wrap="square" anchor="ctr" lIns="0" rIns="0" tIns="0" bIns="0">
            <a:spAutoFit/>
          </a:bodyPr>
          <a:lstStyle/>
          <a:p>
            <a:r>
              <a:rPr sz="1000" b="1">
                <a:solidFill>
                  <a:srgbClr val="5B3FD6"/>
                </a:solidFill>
                <a:latin typeface="Calibri"/>
              </a:rPr>
              <a:t>Data. </a:t>
            </a:r>
            <a:r>
              <a:rPr sz="1000" b="0" i="0">
                <a:solidFill>
                  <a:srgbClr val="1A1440"/>
                </a:solidFill>
                <a:latin typeface="Calibri"/>
              </a:rPr>
              <a:t>Monday's driver_weeks (peak_online_hours, peak_trips, peak_bookings_rs, topup_rs) and zone_weeks (peak_requests, median_wait_min). </a:t>
            </a:r>
            <a:r>
              <a:rPr sz="1000" b="1" i="0">
                <a:solidFill>
                  <a:srgbClr val="1A1440"/>
                </a:solidFill>
                <a:latin typeface="Calibri"/>
              </a:rPr>
              <a:t>Afternoon ask.</a:t>
            </a:r>
            <a:r>
              <a:rPr sz="1000" b="0" i="0">
                <a:solidFill>
                  <a:srgbClr val="1A1440"/>
                </a:solidFill>
                <a:latin typeface="Calibri"/>
              </a:rPr>
              <a:t> Estimate, in fifteen minutes, how many drivers must be online at the three-hour weekday evening peak for a median wait under five minutes. </a:t>
            </a:r>
            <a:r>
              <a:rPr sz="1000" b="1" i="0">
                <a:solidFill>
                  <a:srgbClr val="1A1440"/>
                </a:solidFill>
                <a:latin typeface="Calibri"/>
              </a:rPr>
              <a:t>Caveats.</a:t>
            </a:r>
            <a:r>
              <a:rPr sz="1000" b="0" i="0">
                <a:solidFill>
                  <a:srgbClr val="1A1440"/>
                </a:solidFill>
                <a:latin typeface="Calibri"/>
              </a:rPr>
              <a:t> Each objection is partly right; no published figure checks the afternoon's answer.</a:t>
            </a:r>
          </a:p>
        </p:txBody>
      </p:sp>
      <p:sp>
        <p:nvSpPr>
          <p:cNvPr id="14" name="Rounded Rectangle 13"/>
          <p:cNvSpPr/>
          <p:nvPr/>
        </p:nvSpPr>
        <p:spPr>
          <a:xfrm>
            <a:off x="530352" y="5696966"/>
            <a:ext cx="45720" cy="37846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86384" y="5696966"/>
            <a:ext cx="10820095" cy="378460"/>
          </a:xfrm>
          <a:prstGeom prst="rect">
            <a:avLst/>
          </a:prstGeom>
          <a:noFill/>
        </p:spPr>
        <p:txBody>
          <a:bodyPr wrap="square" anchor="t" lIns="0" rIns="0" tIns="0" bIns="0">
            <a:spAutoFit/>
          </a:bodyPr>
          <a:lstStyle/>
          <a:p>
            <a:r>
              <a:rPr sz="1100" b="0" i="1">
                <a:solidFill>
                  <a:srgbClr val="1A0F5C"/>
                </a:solidFill>
                <a:latin typeface="Georgia"/>
              </a:rPr>
              <a:t>Illustrative case: the company is real, the situation and the data are synthetic, built for this class.</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8" name="Oval 1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20" name="Oval 1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22" name="Oval 21"/>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4" name="Oval 23"/>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5 / 59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The one-slide answer: claim, evidence, caveat, action</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does a slide carry?</a:t>
            </a:r>
          </a:p>
        </p:txBody>
      </p:sp>
      <p:sp>
        <p:nvSpPr>
          <p:cNvPr id="10" name="TextBox 9"/>
          <p:cNvSpPr txBox="1"/>
          <p:nvPr/>
        </p:nvSpPr>
        <p:spPr>
          <a:xfrm>
            <a:off x="731519" y="3931920"/>
            <a:ext cx="9509760" cy="779526"/>
          </a:xfrm>
          <a:prstGeom prst="rect">
            <a:avLst/>
          </a:prstGeom>
          <a:noFill/>
        </p:spPr>
        <p:txBody>
          <a:bodyPr wrap="square" anchor="t" lIns="0" rIns="0" tIns="0" bIns="0">
            <a:spAutoFit/>
          </a:bodyPr>
          <a:lstStyle/>
          <a:p>
            <a:pPr algn="l"/>
            <a:r>
              <a:rPr sz="1500" b="0" i="0">
                <a:solidFill>
                  <a:srgbClr val="E4E1F1"/>
                </a:solidFill>
                <a:latin typeface="Calibri"/>
              </a:rPr>
              <a:t>The one-slide answer, taught on Ramesh's kirana shop, invented for this chapter: one claim as the title, one number with its denominator, the caveat in sight and the action with its cost, so the person who loses under it can repeat it.</a:t>
            </a:r>
          </a:p>
        </p:txBody>
      </p:sp>
      <p:sp>
        <p:nvSpPr>
          <p:cNvPr id="11" name="Rounded Rectangle 10"/>
          <p:cNvSpPr/>
          <p:nvPr/>
        </p:nvSpPr>
        <p:spPr>
          <a:xfrm>
            <a:off x="731519" y="5074920"/>
            <a:ext cx="178694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does a slide carry?</a:t>
            </a:r>
          </a:p>
        </p:txBody>
      </p:sp>
      <p:sp>
        <p:nvSpPr>
          <p:cNvPr id="12" name="Rounded Rectangle 11"/>
          <p:cNvSpPr/>
          <p:nvPr/>
        </p:nvSpPr>
        <p:spPr>
          <a:xfrm>
            <a:off x="2628191"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does the rest go?</a:t>
            </a:r>
          </a:p>
        </p:txBody>
      </p:sp>
      <p:sp>
        <p:nvSpPr>
          <p:cNvPr id="13" name="Rounded Rectangle 12"/>
          <p:cNvSpPr/>
          <p:nvPr/>
        </p:nvSpPr>
        <p:spPr>
          <a:xfrm>
            <a:off x="4465646"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do you hold a claim?</a:t>
            </a:r>
          </a:p>
        </p:txBody>
      </p:sp>
      <p:sp>
        <p:nvSpPr>
          <p:cNvPr id="14" name="Rounded Rectangle 13"/>
          <p:cNvSpPr/>
          <p:nvPr/>
        </p:nvSpPr>
        <p:spPr>
          <a:xfrm>
            <a:off x="6362318"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carries it?</a:t>
            </a:r>
          </a:p>
        </p:txBody>
      </p:sp>
      <p:sp>
        <p:nvSpPr>
          <p:cNvPr id="15" name="Rounded Rectangle 14"/>
          <p:cNvSpPr/>
          <p:nvPr/>
        </p:nvSpPr>
        <p:spPr>
          <a:xfrm>
            <a:off x="825898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objection holds?</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2. Stakeholder communication: one slide, five minutes, three people paid to disagree</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6 / 59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slide carries one decision in four parts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90042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28444"/>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19300"/>
            <a:ext cx="10564063" cy="358140"/>
          </a:xfrm>
          <a:prstGeom prst="rect">
            <a:avLst/>
          </a:prstGeom>
          <a:noFill/>
        </p:spPr>
        <p:txBody>
          <a:bodyPr wrap="square" anchor="ctr" lIns="0" rIns="0" tIns="0" bIns="0">
            <a:spAutoFit/>
          </a:bodyPr>
          <a:lstStyle/>
          <a:p>
            <a:r>
              <a:rPr sz="1500" b="1">
                <a:solidFill>
                  <a:srgbClr val="5B3FD6"/>
                </a:solidFill>
                <a:latin typeface="Calibri"/>
              </a:rPr>
              <a:t>The topic. </a:t>
            </a:r>
            <a:r>
              <a:rPr sz="1500" b="0" i="0">
                <a:solidFill>
                  <a:srgbClr val="1A1440"/>
                </a:solidFill>
                <a:latin typeface="Calibri"/>
              </a:rPr>
              <a:t>The one-slide answer: claim, evidence, caveat, action.</a:t>
            </a:r>
          </a:p>
        </p:txBody>
      </p:sp>
      <p:sp>
        <p:nvSpPr>
          <p:cNvPr id="12" name="Rounded Rectangle 11"/>
          <p:cNvSpPr/>
          <p:nvPr/>
        </p:nvSpPr>
        <p:spPr>
          <a:xfrm>
            <a:off x="530352" y="260604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273405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2724912"/>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Ramesh, who owns a kirana shop, a neighbourhood grocery (invented), and opened it two more hours a day from October; he must decide whether the longer hours stay. His son argued for them and loses if they go.</a:t>
            </a:r>
          </a:p>
        </p:txBody>
      </p:sp>
      <p:sp>
        <p:nvSpPr>
          <p:cNvPr id="15" name="Rectangle 14"/>
          <p:cNvSpPr/>
          <p:nvPr/>
        </p:nvSpPr>
        <p:spPr>
          <a:xfrm>
            <a:off x="1853145" y="4411980"/>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384505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7" name="Oval 16"/>
          <p:cNvSpPr/>
          <p:nvPr/>
        </p:nvSpPr>
        <p:spPr>
          <a:xfrm>
            <a:off x="1752561" y="432054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732020"/>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4878324"/>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is the claim?</a:t>
            </a:r>
          </a:p>
        </p:txBody>
      </p:sp>
      <p:sp>
        <p:nvSpPr>
          <p:cNvPr id="20" name="TextBox 19"/>
          <p:cNvSpPr txBox="1"/>
          <p:nvPr/>
        </p:nvSpPr>
        <p:spPr>
          <a:xfrm>
            <a:off x="694944" y="5166106"/>
            <a:ext cx="2316403" cy="531876"/>
          </a:xfrm>
          <a:prstGeom prst="rect">
            <a:avLst/>
          </a:prstGeom>
          <a:noFill/>
        </p:spPr>
        <p:txBody>
          <a:bodyPr wrap="square" anchor="t" lIns="0" rIns="0" tIns="0" bIns="0">
            <a:spAutoFit/>
          </a:bodyPr>
          <a:lstStyle/>
          <a:p>
            <a:pPr algn="l"/>
            <a:r>
              <a:rPr sz="1000" b="0" i="0">
                <a:solidFill>
                  <a:srgbClr val="6B6690"/>
                </a:solidFill>
                <a:latin typeface="Calibri"/>
              </a:rPr>
              <a:t>One sentence with a verb, as the title, saying what is true and what to do.</a:t>
            </a:r>
          </a:p>
        </p:txBody>
      </p:sp>
      <p:sp>
        <p:nvSpPr>
          <p:cNvPr id="21" name="TextBox 20"/>
          <p:cNvSpPr txBox="1"/>
          <p:nvPr/>
        </p:nvSpPr>
        <p:spPr>
          <a:xfrm>
            <a:off x="3358819" y="384505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22" name="Oval 21"/>
          <p:cNvSpPr/>
          <p:nvPr/>
        </p:nvSpPr>
        <p:spPr>
          <a:xfrm>
            <a:off x="4581029" y="432054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732020"/>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4878324"/>
            <a:ext cx="2316403" cy="465836"/>
          </a:xfrm>
          <a:prstGeom prst="rect">
            <a:avLst/>
          </a:prstGeom>
          <a:noFill/>
        </p:spPr>
        <p:txBody>
          <a:bodyPr wrap="square" anchor="t" lIns="0" rIns="0" tIns="0" bIns="0">
            <a:spAutoFit/>
          </a:bodyPr>
          <a:lstStyle/>
          <a:p>
            <a:pPr algn="l"/>
            <a:r>
              <a:rPr sz="1300" b="1" i="0">
                <a:solidFill>
                  <a:srgbClr val="1A0F5C"/>
                </a:solidFill>
                <a:latin typeface="Calibri"/>
              </a:rPr>
              <a:t>Which number is the evidence?</a:t>
            </a:r>
          </a:p>
        </p:txBody>
      </p:sp>
      <p:sp>
        <p:nvSpPr>
          <p:cNvPr id="25" name="TextBox 24"/>
          <p:cNvSpPr txBox="1"/>
          <p:nvPr/>
        </p:nvSpPr>
        <p:spPr>
          <a:xfrm>
            <a:off x="3523411" y="5380736"/>
            <a:ext cx="2316403" cy="366776"/>
          </a:xfrm>
          <a:prstGeom prst="rect">
            <a:avLst/>
          </a:prstGeom>
          <a:noFill/>
        </p:spPr>
        <p:txBody>
          <a:bodyPr wrap="square" anchor="t" lIns="0" rIns="0" tIns="0" bIns="0">
            <a:spAutoFit/>
          </a:bodyPr>
          <a:lstStyle/>
          <a:p>
            <a:pPr algn="l"/>
            <a:r>
              <a:rPr sz="1000" b="0" i="0">
                <a:solidFill>
                  <a:srgbClr val="6B6690"/>
                </a:solidFill>
                <a:latin typeface="Calibri"/>
              </a:rPr>
              <a:t>One number with its denominator, or one chart, from a named window.</a:t>
            </a:r>
          </a:p>
        </p:txBody>
      </p:sp>
      <p:sp>
        <p:nvSpPr>
          <p:cNvPr id="26" name="TextBox 25"/>
          <p:cNvSpPr txBox="1"/>
          <p:nvPr/>
        </p:nvSpPr>
        <p:spPr>
          <a:xfrm>
            <a:off x="6187287" y="384505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7" name="Oval 26"/>
          <p:cNvSpPr/>
          <p:nvPr/>
        </p:nvSpPr>
        <p:spPr>
          <a:xfrm>
            <a:off x="7409497" y="432054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732020"/>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4878324"/>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is the caveat?</a:t>
            </a:r>
          </a:p>
        </p:txBody>
      </p:sp>
      <p:sp>
        <p:nvSpPr>
          <p:cNvPr id="30" name="TextBox 29"/>
          <p:cNvSpPr txBox="1"/>
          <p:nvPr/>
        </p:nvSpPr>
        <p:spPr>
          <a:xfrm>
            <a:off x="6351879" y="5166106"/>
            <a:ext cx="2316403" cy="366776"/>
          </a:xfrm>
          <a:prstGeom prst="rect">
            <a:avLst/>
          </a:prstGeom>
          <a:noFill/>
        </p:spPr>
        <p:txBody>
          <a:bodyPr wrap="square" anchor="t" lIns="0" rIns="0" tIns="0" bIns="0">
            <a:spAutoFit/>
          </a:bodyPr>
          <a:lstStyle/>
          <a:p>
            <a:pPr algn="l"/>
            <a:r>
              <a:rPr sz="1000" b="0" i="0">
                <a:solidFill>
                  <a:srgbClr val="6B6690"/>
                </a:solidFill>
                <a:latin typeface="Calibri"/>
              </a:rPr>
              <a:t>The one thing the evidence cannot show yet.</a:t>
            </a:r>
          </a:p>
        </p:txBody>
      </p:sp>
      <p:sp>
        <p:nvSpPr>
          <p:cNvPr id="31" name="TextBox 30"/>
          <p:cNvSpPr txBox="1"/>
          <p:nvPr/>
        </p:nvSpPr>
        <p:spPr>
          <a:xfrm>
            <a:off x="9015755" y="384505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32" name="Oval 31"/>
          <p:cNvSpPr/>
          <p:nvPr/>
        </p:nvSpPr>
        <p:spPr>
          <a:xfrm>
            <a:off x="10237965" y="432054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732020"/>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4878324"/>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is the action?</a:t>
            </a:r>
          </a:p>
        </p:txBody>
      </p:sp>
      <p:sp>
        <p:nvSpPr>
          <p:cNvPr id="35" name="TextBox 34"/>
          <p:cNvSpPr txBox="1"/>
          <p:nvPr/>
        </p:nvSpPr>
        <p:spPr>
          <a:xfrm>
            <a:off x="9180347" y="5166106"/>
            <a:ext cx="2316403" cy="366776"/>
          </a:xfrm>
          <a:prstGeom prst="rect">
            <a:avLst/>
          </a:prstGeom>
          <a:noFill/>
        </p:spPr>
        <p:txBody>
          <a:bodyPr wrap="square" anchor="t" lIns="0" rIns="0" tIns="0" bIns="0">
            <a:spAutoFit/>
          </a:bodyPr>
          <a:lstStyle/>
          <a:p>
            <a:pPr algn="l"/>
            <a:r>
              <a:rPr sz="1000" b="0" i="0">
                <a:solidFill>
                  <a:srgbClr val="6B6690"/>
                </a:solidFill>
                <a:latin typeface="Calibri"/>
              </a:rPr>
              <a:t>What to do, its cost in rupees and weeks, and who signs.</a:t>
            </a:r>
          </a:p>
        </p:txBody>
      </p:sp>
      <p:sp>
        <p:nvSpPr>
          <p:cNvPr id="36" name="Oval 3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 slide carry?</a:t>
            </a:r>
          </a:p>
        </p:txBody>
      </p:sp>
      <p:sp>
        <p:nvSpPr>
          <p:cNvPr id="38" name="Oval 3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40" name="Oval 3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42" name="Oval 41"/>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44" name="Oval 43"/>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46" name="TextBox 4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7 / 59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title for Ramesh's slide acts?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Ramesh opened two more hours a day in October (invented). Which title tells him what to do on the first read?</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The broken default. </a:t>
            </a:r>
            <a:r>
              <a:rPr sz="1500" b="0" i="0">
                <a:solidFill>
                  <a:srgbClr val="1A1440"/>
                </a:solidFill>
                <a:latin typeface="Calibri"/>
              </a:rPr>
              <a:t>A slide with no claim makes every reader hunt for a point, so the son reads one number and the father another.</a:t>
            </a:r>
          </a:p>
        </p:txBody>
      </p:sp>
      <p:sp>
        <p:nvSpPr>
          <p:cNvPr id="12" name="TextBox 11"/>
          <p:cNvSpPr txBox="1"/>
          <p:nvPr/>
        </p:nvSpPr>
        <p:spPr>
          <a:xfrm>
            <a:off x="530352" y="2929128"/>
            <a:ext cx="11130991" cy="231648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Shop sales, October</a:t>
            </a:r>
          </a:p>
          <a:p>
            <a:pPr>
              <a:spcAft>
                <a:spcPts val="800"/>
              </a:spcAft>
            </a:pPr>
            <a:r>
              <a:rPr sz="1600" b="0" i="0">
                <a:solidFill>
                  <a:srgbClr val="1A1440"/>
                </a:solidFill>
                <a:latin typeface="Calibri"/>
              </a:rPr>
              <a:t>b) Sales Rs 12,600 a day, up Rs 700; 126 customers; 12 hours open</a:t>
            </a:r>
          </a:p>
          <a:p>
            <a:pPr>
              <a:spcAft>
                <a:spcPts val="800"/>
              </a:spcAft>
            </a:pPr>
            <a:r>
              <a:rPr sz="1600" b="0" i="0">
                <a:solidFill>
                  <a:srgbClr val="1A1440"/>
                </a:solidFill>
                <a:latin typeface="Calibri"/>
              </a:rPr>
              <a:t>c) The longer hours add Rs 700 a day but earn less per hour, so count the evening on its own before deciding</a:t>
            </a:r>
          </a:p>
          <a:p>
            <a:pPr>
              <a:spcAft>
                <a:spcPts val="800"/>
              </a:spcAft>
            </a:pPr>
            <a:r>
              <a:rPr sz="1600" b="0" i="0">
                <a:solidFill>
                  <a:srgbClr val="1A1440"/>
                </a:solidFill>
                <a:latin typeface="Calibri"/>
              </a:rPr>
              <a:t>d) Hours update</a:t>
            </a:r>
          </a:p>
          <a:p>
            <a:pPr>
              <a:spcAft>
                <a:spcPts val="800"/>
              </a:spcAft>
            </a:pPr>
            <a:r>
              <a:rPr sz="1600" b="1" i="0">
                <a:solidFill>
                  <a:srgbClr val="1A1440"/>
                </a:solidFill>
                <a:latin typeface="Calibri"/>
              </a:rPr>
              <a:t>Write your letter down before the next slide.</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 slide carry?</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1" name="Oval 2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8 / 59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 a title that acts is a sentence with a verb</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Ramesh act on c and walk past a, b and d?</a:t>
            </a:r>
          </a:p>
        </p:txBody>
      </p:sp>
      <p:graphicFrame>
        <p:nvGraphicFramePr>
          <p:cNvPr id="9" name="Table 8"/>
          <p:cNvGraphicFramePr>
            <a:graphicFrameLocks noGrp="1"/>
          </p:cNvGraphicFramePr>
          <p:nvPr/>
        </p:nvGraphicFramePr>
        <p:xfrm>
          <a:off x="530352" y="1956816"/>
          <a:ext cx="11130990" cy="2090928"/>
        </p:xfrm>
        <a:graphic>
          <a:graphicData uri="http://schemas.openxmlformats.org/drawingml/2006/table">
            <a:tbl>
              <a:tblPr firstRow="0" bandRow="0">
                <a:tableStyleId>{2D5ABB26-0587-4C30-8999-92F81FD0307C}</a:tableStyleId>
              </a:tblPr>
              <a:tblGrid>
                <a:gridCol w="6741423"/>
                <a:gridCol w="4389567"/>
              </a:tblGrid>
              <a:tr h="369824">
                <a:tc>
                  <a:txBody>
                    <a:bodyPr/>
                    <a:lstStyle/>
                    <a:p>
                      <a:r>
                        <a:rPr sz="1450" b="1" i="0">
                          <a:solidFill>
                            <a:srgbClr val="FFFFFF"/>
                          </a:solidFill>
                          <a:latin typeface="Calibri"/>
                        </a:rPr>
                        <a:t>Title</a:t>
                      </a:r>
                    </a:p>
                  </a:txBody>
                  <a:tcPr marL="101600" marR="101600" marT="38100" marB="38100" anchor="ctr">
                    <a:solidFill>
                      <a:srgbClr val="1A0F5C"/>
                    </a:solidFill>
                  </a:tcPr>
                </a:tc>
                <a:tc>
                  <a:txBody>
                    <a:bodyPr/>
                    <a:lstStyle/>
                    <a:p>
                      <a:r>
                        <a:rPr sz="1450" b="1" i="0">
                          <a:solidFill>
                            <a:srgbClr val="FFFFFF"/>
                          </a:solidFill>
                          <a:latin typeface="Calibri"/>
                        </a:rPr>
                        <a:t>What Ramesh learns from it</a:t>
                      </a:r>
                    </a:p>
                  </a:txBody>
                  <a:tcPr marL="101600" marR="101600" marT="38100" marB="38100" anchor="ctr">
                    <a:solidFill>
                      <a:srgbClr val="1A0F5C"/>
                    </a:solidFill>
                  </a:tcPr>
                </a:tc>
              </a:tr>
              <a:tr h="369824">
                <a:tc>
                  <a:txBody>
                    <a:bodyPr/>
                    <a:lstStyle/>
                    <a:p>
                      <a:r>
                        <a:rPr sz="1400" b="0" i="0">
                          <a:solidFill>
                            <a:srgbClr val="1A1440"/>
                          </a:solidFill>
                          <a:latin typeface="Calibri"/>
                        </a:rPr>
                        <a:t>a) Shop sales, October</a:t>
                      </a:r>
                    </a:p>
                  </a:txBody>
                  <a:tcPr marL="101600" marR="101600" marT="38100" marB="38100" anchor="ctr">
                    <a:solidFill>
                      <a:srgbClr val="FFFFFF"/>
                    </a:solidFill>
                  </a:tcPr>
                </a:tc>
                <a:tc>
                  <a:txBody>
                    <a:bodyPr/>
                    <a:lstStyle/>
                    <a:p>
                      <a:r>
                        <a:rPr sz="1400" b="0" i="0">
                          <a:solidFill>
                            <a:srgbClr val="1A1440"/>
                          </a:solidFill>
                          <a:latin typeface="Calibri"/>
                        </a:rPr>
                        <a:t>The topic, and nothing to do</a:t>
                      </a:r>
                    </a:p>
                  </a:txBody>
                  <a:tcPr marL="101600" marR="101600" marT="38100" marB="38100" anchor="ctr">
                    <a:solidFill>
                      <a:srgbClr val="FFFFFF"/>
                    </a:solidFill>
                  </a:tcPr>
                </a:tc>
              </a:tr>
              <a:tr h="369824">
                <a:tc>
                  <a:txBody>
                    <a:bodyPr/>
                    <a:lstStyle/>
                    <a:p>
                      <a:r>
                        <a:rPr sz="1400" b="0" i="0">
                          <a:solidFill>
                            <a:srgbClr val="1A1440"/>
                          </a:solidFill>
                          <a:latin typeface="Calibri"/>
                        </a:rPr>
                        <a:t>b) Sales Rs 12,600 a day, up Rs 700; 126 customers; 12 hours open</a:t>
                      </a:r>
                    </a:p>
                  </a:txBody>
                  <a:tcPr marL="101600" marR="101600" marT="38100" marB="38100" anchor="ctr">
                    <a:solidFill>
                      <a:srgbClr val="F4F2FA"/>
                    </a:solidFill>
                  </a:tcPr>
                </a:tc>
                <a:tc>
                  <a:txBody>
                    <a:bodyPr/>
                    <a:lstStyle/>
                    <a:p>
                      <a:r>
                        <a:rPr sz="1400" b="0" i="0">
                          <a:solidFill>
                            <a:srgbClr val="1A1440"/>
                          </a:solidFill>
                          <a:latin typeface="Calibri"/>
                        </a:rPr>
                        <a:t>Four true numbers and no point</a:t>
                      </a:r>
                    </a:p>
                  </a:txBody>
                  <a:tcPr marL="101600" marR="101600" marT="38100" marB="38100" anchor="ctr">
                    <a:solidFill>
                      <a:srgbClr val="F4F2FA"/>
                    </a:solidFill>
                  </a:tcPr>
                </a:tc>
              </a:tr>
              <a:tr h="611632">
                <a:tc>
                  <a:txBody>
                    <a:bodyPr/>
                    <a:lstStyle/>
                    <a:p>
                      <a:r>
                        <a:rPr sz="1400" b="0" i="0">
                          <a:solidFill>
                            <a:srgbClr val="1A1440"/>
                          </a:solidFill>
                          <a:latin typeface="Calibri"/>
                        </a:rPr>
                        <a:t>c) The longer hours add Rs 700 a day but earn less per hour, so count the evening on its own before deciding</a:t>
                      </a:r>
                    </a:p>
                  </a:txBody>
                  <a:tcPr marL="101600" marR="101600" marT="38100" marB="38100" anchor="ctr">
                    <a:solidFill>
                      <a:srgbClr val="FFFFFF"/>
                    </a:solidFill>
                  </a:tcPr>
                </a:tc>
                <a:tc>
                  <a:txBody>
                    <a:bodyPr/>
                    <a:lstStyle/>
                    <a:p>
                      <a:r>
                        <a:rPr sz="1400" b="0" i="0">
                          <a:solidFill>
                            <a:srgbClr val="1A1440"/>
                          </a:solidFill>
                          <a:latin typeface="Calibri"/>
                        </a:rPr>
                        <a:t>What is true, and what to do about it</a:t>
                      </a:r>
                    </a:p>
                  </a:txBody>
                  <a:tcPr marL="101600" marR="101600" marT="38100" marB="38100" anchor="ctr">
                    <a:solidFill>
                      <a:srgbClr val="FFFFFF"/>
                    </a:solidFill>
                  </a:tcPr>
                </a:tc>
              </a:tr>
              <a:tr h="369824">
                <a:tc>
                  <a:txBody>
                    <a:bodyPr/>
                    <a:lstStyle/>
                    <a:p>
                      <a:r>
                        <a:rPr sz="1400" b="0" i="0">
                          <a:solidFill>
                            <a:srgbClr val="1A1440"/>
                          </a:solidFill>
                          <a:latin typeface="Calibri"/>
                        </a:rPr>
                        <a:t>d) Hours update</a:t>
                      </a:r>
                    </a:p>
                  </a:txBody>
                  <a:tcPr marL="101600" marR="101600" marT="38100" marB="38100" anchor="ctr">
                    <a:solidFill>
                      <a:srgbClr val="F4F2FA"/>
                    </a:solidFill>
                  </a:tcPr>
                </a:tc>
                <a:tc>
                  <a:txBody>
                    <a:bodyPr/>
                    <a:lstStyle/>
                    <a:p>
                      <a:r>
                        <a:rPr sz="1400" b="0" i="0">
                          <a:solidFill>
                            <a:srgbClr val="1A1440"/>
                          </a:solidFill>
                          <a:latin typeface="Calibri"/>
                        </a:rPr>
                        <a:t>The topic again</a:t>
                      </a:r>
                    </a:p>
                  </a:txBody>
                  <a:tcPr marL="101600" marR="101600" marT="38100" marB="38100" anchor="ctr">
                    <a:solidFill>
                      <a:srgbClr val="F4F2FA"/>
                    </a:solidFill>
                  </a:tcPr>
                </a:tc>
              </a:tr>
            </a:tbl>
          </a:graphicData>
        </a:graphic>
      </p:graphicFrame>
      <p:sp>
        <p:nvSpPr>
          <p:cNvPr id="10" name="Rounded Rectangle 9"/>
          <p:cNvSpPr/>
          <p:nvPr/>
        </p:nvSpPr>
        <p:spPr>
          <a:xfrm>
            <a:off x="530352" y="4303776"/>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431792"/>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422648"/>
            <a:ext cx="10564063" cy="1158240"/>
          </a:xfrm>
          <a:prstGeom prst="rect">
            <a:avLst/>
          </a:prstGeom>
          <a:noFill/>
        </p:spPr>
        <p:txBody>
          <a:bodyPr wrap="square" anchor="ctr" lIns="0" rIns="0" tIns="0" bIns="0">
            <a:spAutoFit/>
          </a:bodyPr>
          <a:lstStyle/>
          <a:p>
            <a:r>
              <a:rPr sz="1500" b="1">
                <a:solidFill>
                  <a:srgbClr val="5B3FD6"/>
                </a:solidFill>
                <a:latin typeface="Calibri"/>
              </a:rPr>
              <a:t>A hostel notice board (invented). </a:t>
            </a:r>
            <a:r>
              <a:rPr sz="1500" b="0" i="0">
                <a:solidFill>
                  <a:srgbClr val="1A1440"/>
                </a:solidFill>
                <a:latin typeface="Calibri"/>
              </a:rPr>
              <a:t>One notice reads "Breakfast survey results"; the warden walks past it for a week. The next reads "Rotis replace rice at Monday breakfast, so the kitchen moves two staff from the rice counter to the roti line"; the warden reads it once and moves two staff. Title c is the second notice: answer first, the support beneath it.</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 slide carry?</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1" name="Oval 2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9 / 59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Per day up 5.9 percent, per hour down 11.8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son says the shop earns more; the father says each hour earns less. Who is right, counted by hand?</a:t>
            </a:r>
          </a:p>
        </p:txBody>
      </p:sp>
      <p:graphicFrame>
        <p:nvGraphicFramePr>
          <p:cNvPr id="9" name="Table 8"/>
          <p:cNvGraphicFramePr>
            <a:graphicFrameLocks noGrp="1"/>
          </p:cNvGraphicFramePr>
          <p:nvPr/>
        </p:nvGraphicFramePr>
        <p:xfrm>
          <a:off x="530352" y="1956816"/>
          <a:ext cx="11130990" cy="2346960"/>
        </p:xfrm>
        <a:graphic>
          <a:graphicData uri="http://schemas.openxmlformats.org/drawingml/2006/table">
            <a:tbl>
              <a:tblPr firstRow="0" bandRow="0">
                <a:tableStyleId>{2D5ABB26-0587-4C30-8999-92F81FD0307C}</a:tableStyleId>
              </a:tblPr>
              <a:tblGrid>
                <a:gridCol w="7313000"/>
                <a:gridCol w="1656568"/>
                <a:gridCol w="2161422"/>
              </a:tblGrid>
              <a:tr h="335280">
                <a:tc>
                  <a:txBody>
                    <a:bodyPr/>
                    <a:lstStyle/>
                    <a:p>
                      <a:r>
                        <a:rPr sz="1250" b="1" i="0">
                          <a:solidFill>
                            <a:srgbClr val="FFFFFF"/>
                          </a:solidFill>
                          <a:latin typeface="Calibri"/>
                        </a:rPr>
                        <a:t>Ramesh's shop, four weeks each side (invented)</a:t>
                      </a:r>
                    </a:p>
                  </a:txBody>
                  <a:tcPr marL="101600" marR="101600" marT="38100" marB="38100" anchor="ctr">
                    <a:solidFill>
                      <a:srgbClr val="1A0F5C"/>
                    </a:solidFill>
                  </a:tcPr>
                </a:tc>
                <a:tc>
                  <a:txBody>
                    <a:bodyPr/>
                    <a:lstStyle/>
                    <a:p>
                      <a:r>
                        <a:rPr sz="1250" b="1" i="0">
                          <a:solidFill>
                            <a:srgbClr val="FFFFFF"/>
                          </a:solidFill>
                          <a:latin typeface="Calibri"/>
                        </a:rPr>
                        <a:t>September</a:t>
                      </a:r>
                    </a:p>
                  </a:txBody>
                  <a:tcPr marL="101600" marR="101600" marT="38100" marB="38100" anchor="ctr">
                    <a:solidFill>
                      <a:srgbClr val="1A0F5C"/>
                    </a:solidFill>
                  </a:tcPr>
                </a:tc>
                <a:tc>
                  <a:txBody>
                    <a:bodyPr/>
                    <a:lstStyle/>
                    <a:p>
                      <a:r>
                        <a:rPr sz="1250" b="1" i="0">
                          <a:solidFill>
                            <a:srgbClr val="FFFFFF"/>
                          </a:solidFill>
                          <a:latin typeface="Calibri"/>
                        </a:rPr>
                        <a:t>October</a:t>
                      </a:r>
                    </a:p>
                  </a:txBody>
                  <a:tcPr marL="101600" marR="101600" marT="38100" marB="38100" anchor="ctr">
                    <a:solidFill>
                      <a:srgbClr val="1A0F5C"/>
                    </a:solidFill>
                  </a:tcPr>
                </a:tc>
              </a:tr>
              <a:tr h="335280">
                <a:tc>
                  <a:txBody>
                    <a:bodyPr/>
                    <a:lstStyle/>
                    <a:p>
                      <a:r>
                        <a:rPr sz="1200" b="0" i="0">
                          <a:solidFill>
                            <a:srgbClr val="1A1440"/>
                          </a:solidFill>
                          <a:latin typeface="Calibri"/>
                        </a:rPr>
                        <a:t>Hours open a day</a:t>
                      </a:r>
                    </a:p>
                  </a:txBody>
                  <a:tcPr marL="101600" marR="101600" marT="38100" marB="38100" anchor="ctr">
                    <a:solidFill>
                      <a:srgbClr val="FFFFFF"/>
                    </a:solidFill>
                  </a:tcPr>
                </a:tc>
                <a:tc>
                  <a:txBody>
                    <a:bodyPr/>
                    <a:lstStyle/>
                    <a:p>
                      <a:r>
                        <a:rPr sz="1200" b="0" i="0">
                          <a:solidFill>
                            <a:srgbClr val="1A1440"/>
                          </a:solidFill>
                          <a:latin typeface="Calibri"/>
                        </a:rPr>
                        <a:t>10</a:t>
                      </a:r>
                    </a:p>
                  </a:txBody>
                  <a:tcPr marL="101600" marR="101600" marT="38100" marB="38100" anchor="ctr">
                    <a:solidFill>
                      <a:srgbClr val="FFFFFF"/>
                    </a:solidFill>
                  </a:tcPr>
                </a:tc>
                <a:tc>
                  <a:txBody>
                    <a:bodyPr/>
                    <a:lstStyle/>
                    <a:p>
                      <a:r>
                        <a:rPr sz="1200" b="0" i="0">
                          <a:solidFill>
                            <a:srgbClr val="1A1440"/>
                          </a:solidFill>
                          <a:latin typeface="Calibri"/>
                        </a:rPr>
                        <a:t>12</a:t>
                      </a:r>
                    </a:p>
                  </a:txBody>
                  <a:tcPr marL="101600" marR="101600" marT="38100" marB="38100" anchor="ctr">
                    <a:solidFill>
                      <a:srgbClr val="FFFFFF"/>
                    </a:solidFill>
                  </a:tcPr>
                </a:tc>
              </a:tr>
              <a:tr h="335280">
                <a:tc>
                  <a:txBody>
                    <a:bodyPr/>
                    <a:lstStyle/>
                    <a:p>
                      <a:r>
                        <a:rPr sz="1200" b="0" i="0">
                          <a:solidFill>
                            <a:srgbClr val="1A1440"/>
                          </a:solidFill>
                          <a:latin typeface="Calibri"/>
                        </a:rPr>
                        <a:t>Customers a day</a:t>
                      </a:r>
                    </a:p>
                  </a:txBody>
                  <a:tcPr marL="101600" marR="101600" marT="38100" marB="38100" anchor="ctr">
                    <a:solidFill>
                      <a:srgbClr val="F4F2FA"/>
                    </a:solidFill>
                  </a:tcPr>
                </a:tc>
                <a:tc>
                  <a:txBody>
                    <a:bodyPr/>
                    <a:lstStyle/>
                    <a:p>
                      <a:r>
                        <a:rPr sz="1200" b="0" i="0">
                          <a:solidFill>
                            <a:srgbClr val="1A1440"/>
                          </a:solidFill>
                          <a:latin typeface="Calibri"/>
                        </a:rPr>
                        <a:t>119</a:t>
                      </a:r>
                    </a:p>
                  </a:txBody>
                  <a:tcPr marL="101600" marR="101600" marT="38100" marB="38100" anchor="ctr">
                    <a:solidFill>
                      <a:srgbClr val="F4F2FA"/>
                    </a:solidFill>
                  </a:tcPr>
                </a:tc>
                <a:tc>
                  <a:txBody>
                    <a:bodyPr/>
                    <a:lstStyle/>
                    <a:p>
                      <a:r>
                        <a:rPr sz="1200" b="0" i="0">
                          <a:solidFill>
                            <a:srgbClr val="1A1440"/>
                          </a:solidFill>
                          <a:latin typeface="Calibri"/>
                        </a:rPr>
                        <a:t>126</a:t>
                      </a:r>
                    </a:p>
                  </a:txBody>
                  <a:tcPr marL="101600" marR="101600" marT="38100" marB="38100" anchor="ctr">
                    <a:solidFill>
                      <a:srgbClr val="F4F2FA"/>
                    </a:solidFill>
                  </a:tcPr>
                </a:tc>
              </a:tr>
              <a:tr h="335280">
                <a:tc>
                  <a:txBody>
                    <a:bodyPr/>
                    <a:lstStyle/>
                    <a:p>
                      <a:r>
                        <a:rPr sz="1200" b="0" i="0">
                          <a:solidFill>
                            <a:srgbClr val="1A1440"/>
                          </a:solidFill>
                          <a:latin typeface="Calibri"/>
                        </a:rPr>
                        <a:t>Sales a day</a:t>
                      </a:r>
                    </a:p>
                  </a:txBody>
                  <a:tcPr marL="101600" marR="101600" marT="38100" marB="38100" anchor="ctr">
                    <a:solidFill>
                      <a:srgbClr val="FFFFFF"/>
                    </a:solidFill>
                  </a:tcPr>
                </a:tc>
                <a:tc>
                  <a:txBody>
                    <a:bodyPr/>
                    <a:lstStyle/>
                    <a:p>
                      <a:r>
                        <a:rPr sz="1200" b="0" i="0">
                          <a:solidFill>
                            <a:srgbClr val="1A1440"/>
                          </a:solidFill>
                          <a:latin typeface="Calibri"/>
                        </a:rPr>
                        <a:t>Rs 11,900</a:t>
                      </a:r>
                    </a:p>
                  </a:txBody>
                  <a:tcPr marL="101600" marR="101600" marT="38100" marB="38100" anchor="ctr">
                    <a:solidFill>
                      <a:srgbClr val="FFFFFF"/>
                    </a:solidFill>
                  </a:tcPr>
                </a:tc>
                <a:tc>
                  <a:txBody>
                    <a:bodyPr/>
                    <a:lstStyle/>
                    <a:p>
                      <a:r>
                        <a:rPr sz="1200" b="0" i="0">
                          <a:solidFill>
                            <a:srgbClr val="1A1440"/>
                          </a:solidFill>
                          <a:latin typeface="Calibri"/>
                        </a:rPr>
                        <a:t>Rs 12,600</a:t>
                      </a:r>
                    </a:p>
                  </a:txBody>
                  <a:tcPr marL="101600" marR="101600" marT="38100" marB="38100" anchor="ctr">
                    <a:solidFill>
                      <a:srgbClr val="FFFFFF"/>
                    </a:solidFill>
                  </a:tcPr>
                </a:tc>
              </a:tr>
              <a:tr h="335280">
                <a:tc>
                  <a:txBody>
                    <a:bodyPr/>
                    <a:lstStyle/>
                    <a:p>
                      <a:r>
                        <a:rPr sz="1200" b="0" i="0">
                          <a:solidFill>
                            <a:srgbClr val="1A1440"/>
                          </a:solidFill>
                          <a:latin typeface="Calibri"/>
                        </a:rPr>
                        <a:t>Sales per hour: sales a day / hours open</a:t>
                      </a:r>
                    </a:p>
                  </a:txBody>
                  <a:tcPr marL="101600" marR="101600" marT="38100" marB="38100" anchor="ctr">
                    <a:solidFill>
                      <a:srgbClr val="F4F2FA"/>
                    </a:solidFill>
                  </a:tcPr>
                </a:tc>
                <a:tc>
                  <a:txBody>
                    <a:bodyPr/>
                    <a:lstStyle/>
                    <a:p>
                      <a:r>
                        <a:rPr sz="1200" b="0" i="0">
                          <a:solidFill>
                            <a:srgbClr val="1A1440"/>
                          </a:solidFill>
                          <a:latin typeface="Calibri"/>
                        </a:rPr>
                        <a:t>Rs 1,190</a:t>
                      </a:r>
                    </a:p>
                  </a:txBody>
                  <a:tcPr marL="101600" marR="101600" marT="38100" marB="38100" anchor="ctr">
                    <a:solidFill>
                      <a:srgbClr val="F4F2FA"/>
                    </a:solidFill>
                  </a:tcPr>
                </a:tc>
                <a:tc>
                  <a:txBody>
                    <a:bodyPr/>
                    <a:lstStyle/>
                    <a:p>
                      <a:r>
                        <a:rPr sz="1200" b="0" i="0">
                          <a:solidFill>
                            <a:srgbClr val="1A1440"/>
                          </a:solidFill>
                          <a:latin typeface="Calibri"/>
                        </a:rPr>
                        <a:t>Rs 1,050</a:t>
                      </a:r>
                    </a:p>
                  </a:txBody>
                  <a:tcPr marL="101600" marR="101600" marT="38100" marB="38100" anchor="ctr">
                    <a:solidFill>
                      <a:srgbClr val="F4F2FA"/>
                    </a:solidFill>
                  </a:tcPr>
                </a:tc>
              </a:tr>
              <a:tr h="335280">
                <a:tc>
                  <a:txBody>
                    <a:bodyPr/>
                    <a:lstStyle/>
                    <a:p>
                      <a:r>
                        <a:rPr sz="1200" b="0" i="0">
                          <a:solidFill>
                            <a:srgbClr val="1A1440"/>
                          </a:solidFill>
                          <a:latin typeface="Calibri"/>
                        </a:rPr>
                        <a:t>Sales per customer: sales a day / customers</a:t>
                      </a:r>
                    </a:p>
                  </a:txBody>
                  <a:tcPr marL="101600" marR="101600" marT="38100" marB="38100" anchor="ctr">
                    <a:solidFill>
                      <a:srgbClr val="FFFFFF"/>
                    </a:solidFill>
                  </a:tcPr>
                </a:tc>
                <a:tc>
                  <a:txBody>
                    <a:bodyPr/>
                    <a:lstStyle/>
                    <a:p>
                      <a:r>
                        <a:rPr sz="1200" b="0" i="0">
                          <a:solidFill>
                            <a:srgbClr val="1A1440"/>
                          </a:solidFill>
                          <a:latin typeface="Calibri"/>
                        </a:rPr>
                        <a:t>Rs 100</a:t>
                      </a:r>
                    </a:p>
                  </a:txBody>
                  <a:tcPr marL="101600" marR="101600" marT="38100" marB="38100" anchor="ctr">
                    <a:solidFill>
                      <a:srgbClr val="FFFFFF"/>
                    </a:solidFill>
                  </a:tcPr>
                </a:tc>
                <a:tc>
                  <a:txBody>
                    <a:bodyPr/>
                    <a:lstStyle/>
                    <a:p>
                      <a:r>
                        <a:rPr sz="1200" b="0" i="0">
                          <a:solidFill>
                            <a:srgbClr val="1A1440"/>
                          </a:solidFill>
                          <a:latin typeface="Calibri"/>
                        </a:rPr>
                        <a:t>Rs 100</a:t>
                      </a:r>
                    </a:p>
                  </a:txBody>
                  <a:tcPr marL="101600" marR="101600" marT="38100" marB="38100" anchor="ctr">
                    <a:solidFill>
                      <a:srgbClr val="FFFFFF"/>
                    </a:solidFill>
                  </a:tcPr>
                </a:tc>
              </a:tr>
              <a:tr h="335280">
                <a:tc>
                  <a:txBody>
                    <a:bodyPr/>
                    <a:lstStyle/>
                    <a:p>
                      <a:r>
                        <a:rPr sz="1200" b="0" i="0">
                          <a:solidFill>
                            <a:srgbClr val="1A1440"/>
                          </a:solidFill>
                          <a:latin typeface="Calibri"/>
                        </a:rPr>
                        <a:t>Each of the two added hours: the Rs 700 rise / 2 hours</a:t>
                      </a:r>
                    </a:p>
                  </a:txBody>
                  <a:tcPr marL="101600" marR="101600" marT="38100" marB="38100" anchor="ctr">
                    <a:solidFill>
                      <a:srgbClr val="F4F2FA"/>
                    </a:solidFill>
                  </a:tcPr>
                </a:tc>
                <a:tc>
                  <a:txBody>
                    <a:bodyPr/>
                    <a:lstStyle/>
                    <a:p/>
                  </a:txBody>
                  <a:tcPr marL="101600" marR="101600" marT="38100" marB="38100" anchor="ctr">
                    <a:solidFill>
                      <a:srgbClr val="F4F2FA"/>
                    </a:solidFill>
                  </a:tcPr>
                </a:tc>
                <a:tc>
                  <a:txBody>
                    <a:bodyPr/>
                    <a:lstStyle/>
                    <a:p>
                      <a:r>
                        <a:rPr sz="1200" b="0" i="0">
                          <a:solidFill>
                            <a:srgbClr val="1A1440"/>
                          </a:solidFill>
                          <a:latin typeface="Calibri"/>
                        </a:rPr>
                        <a:t>at most Rs 350</a:t>
                      </a:r>
                    </a:p>
                  </a:txBody>
                  <a:tcPr marL="101600" marR="101600" marT="38100" marB="38100" anchor="ctr">
                    <a:solidFill>
                      <a:srgbClr val="F4F2FA"/>
                    </a:solidFill>
                  </a:tcPr>
                </a:tc>
              </a:tr>
            </a:tbl>
          </a:graphicData>
        </a:graphic>
      </p:graphicFrame>
      <p:sp>
        <p:nvSpPr>
          <p:cNvPr id="10" name="TextBox 9"/>
          <p:cNvSpPr txBox="1"/>
          <p:nvPr/>
        </p:nvSpPr>
        <p:spPr>
          <a:xfrm>
            <a:off x="530352" y="4559808"/>
            <a:ext cx="11130991" cy="1186688"/>
          </a:xfrm>
          <a:prstGeom prst="rect">
            <a:avLst/>
          </a:prstGeom>
          <a:noFill/>
        </p:spPr>
        <p:txBody>
          <a:bodyPr wrap="square" anchor="t" lIns="0" rIns="0" tIns="0" bIns="0">
            <a:spAutoFit/>
          </a:bodyPr>
          <a:lstStyle/>
          <a:p>
            <a:pPr>
              <a:spcAft>
                <a:spcPts val="700"/>
              </a:spcAft>
            </a:pPr>
            <a:r>
              <a:rPr sz="1400" b="1" i="0">
                <a:solidFill>
                  <a:srgbClr val="1A1440"/>
                </a:solidFill>
                <a:latin typeface="Calibri"/>
              </a:rPr>
              <a:t>Both are right, and the denominator decides which sentence the slide carries.</a:t>
            </a:r>
            <a:r>
              <a:rPr sz="1400" b="0" i="0">
                <a:solidFill>
                  <a:srgbClr val="1A1440"/>
                </a:solidFill>
                <a:latin typeface="Calibri"/>
              </a:rPr>
              <a:t> Per day the shop is up Rs 700, 5.9 percent; per hour it is down 11.8 percent; per customer it is flat. The decision is whether the two extra hours pay, so the evidence divides by what the decision buys: the two added hours sold at most Rs 350 each, against Rs 1,190 in each of the old ten. The average fell because quieter hours joined it, and the Rs 350 says how much quieter.</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 slide carry?</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19" name="Oval 1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10 / 59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One slide carries four parts, in this order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lets one slide carry a decision?</a:t>
            </a:r>
          </a:p>
        </p:txBody>
      </p:sp>
      <p:pic>
        <p:nvPicPr>
          <p:cNvPr id="9" name="mermaid diagram" descr="a9076d580e1c6695.png"/>
          <p:cNvPicPr>
            <a:picLocks noChangeAspect="1"/>
          </p:cNvPicPr>
          <p:nvPr/>
        </p:nvPicPr>
        <p:blipFill>
          <a:blip r:embed="rId5"/>
          <a:stretch>
            <a:fillRect/>
          </a:stretch>
        </p:blipFill>
        <p:spPr>
          <a:xfrm>
            <a:off x="530352" y="1956816"/>
            <a:ext cx="11130991" cy="1805825"/>
          </a:xfrm>
          <a:prstGeom prst="rect">
            <a:avLst/>
          </a:prstGeom>
        </p:spPr>
      </p:pic>
      <p:sp>
        <p:nvSpPr>
          <p:cNvPr id="10" name="TextBox 9"/>
          <p:cNvSpPr txBox="1"/>
          <p:nvPr/>
        </p:nvSpPr>
        <p:spPr>
          <a:xfrm>
            <a:off x="530352" y="3908945"/>
            <a:ext cx="11130991" cy="1048512"/>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This is the one-slide answer: claim, evidence, caveat, action.</a:t>
            </a:r>
            <a:r>
              <a:rPr sz="1600" b="0" i="0">
                <a:solidFill>
                  <a:srgbClr val="1A1440"/>
                </a:solidFill>
                <a:latin typeface="Calibri"/>
              </a:rPr>
              <a:t> It is Week 1 Thursday's four-part note made into one page, and the order is the order a reader needs: what to believe, why, what it cannot show yet, and what to do.</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 slide carry?</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19" name="Oval 1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11 / 59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Ramesh's slide, built in its four parts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the four parts say for Ramesh, and can the son repeat it?</a:t>
            </a:r>
          </a:p>
        </p:txBody>
      </p:sp>
      <p:pic>
        <p:nvPicPr>
          <p:cNvPr id="9" name="mermaid diagram" descr="C2_W04_D02_kirana_slide_STUDENT.png"/>
          <p:cNvPicPr>
            <a:picLocks noChangeAspect="1"/>
          </p:cNvPicPr>
          <p:nvPr/>
        </p:nvPicPr>
        <p:blipFill>
          <a:blip r:embed="rId4"/>
          <a:stretch>
            <a:fillRect/>
          </a:stretch>
        </p:blipFill>
        <p:spPr>
          <a:xfrm>
            <a:off x="2814141" y="1664208"/>
            <a:ext cx="6563412" cy="3342640"/>
          </a:xfrm>
          <a:prstGeom prst="rect">
            <a:avLst/>
          </a:prstGeom>
        </p:spPr>
      </p:pic>
      <p:sp>
        <p:nvSpPr>
          <p:cNvPr id="10" name="picture caption"/>
          <p:cNvSpPr txBox="1"/>
          <p:nvPr/>
        </p:nvSpPr>
        <p:spPr>
          <a:xfrm>
            <a:off x="530352" y="5043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Ramesh's slide in its four parts, numbered where each sits, every number invented</a:t>
            </a:r>
          </a:p>
        </p:txBody>
      </p:sp>
      <p:sp>
        <p:nvSpPr>
          <p:cNvPr id="11" name="Rounded Rectangle 10"/>
          <p:cNvSpPr/>
          <p:nvPr/>
        </p:nvSpPr>
        <p:spPr>
          <a:xfrm>
            <a:off x="530352" y="5369560"/>
            <a:ext cx="11130991" cy="66548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497576"/>
            <a:ext cx="45720" cy="40944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488432"/>
            <a:ext cx="10564063" cy="482600"/>
          </a:xfrm>
          <a:prstGeom prst="rect">
            <a:avLst/>
          </a:prstGeom>
          <a:noFill/>
        </p:spPr>
        <p:txBody>
          <a:bodyPr wrap="square" anchor="ctr" lIns="0" rIns="0" tIns="0" bIns="0">
            <a:spAutoFit/>
          </a:bodyPr>
          <a:lstStyle/>
          <a:p>
            <a:r>
              <a:rPr sz="1100" b="1">
                <a:solidFill>
                  <a:srgbClr val="5B3FD6"/>
                </a:solidFill>
                <a:latin typeface="Calibri"/>
              </a:rPr>
              <a:t>The loser test. </a:t>
            </a:r>
            <a:r>
              <a:rPr sz="1100" b="0" i="0">
                <a:solidFill>
                  <a:srgbClr val="1A1440"/>
                </a:solidFill>
                <a:latin typeface="Calibri"/>
              </a:rPr>
              <a:t>The son argued for the longer hours, and he can repeat this title accurately while disagreeing with it, because it states his number, Rs 700 a day, beside his father's, the fall per hour.</a:t>
            </a:r>
          </a:p>
        </p:txBody>
      </p:sp>
      <p:sp>
        <p:nvSpPr>
          <p:cNvPr id="14" name="Oval 1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 slide carry?</a:t>
            </a:r>
          </a:p>
        </p:txBody>
      </p:sp>
      <p:sp>
        <p:nvSpPr>
          <p:cNvPr id="16" name="Oval 1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8" name="Oval 17"/>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20" name="Oval 19"/>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2" name="Oval 21"/>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12 / 59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trap: "Rs 700 more a day, so the hours work"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is a true number the wrong evidence for this decision, on the shop's invented days?</a:t>
            </a:r>
          </a:p>
        </p:txBody>
      </p:sp>
      <p:sp>
        <p:nvSpPr>
          <p:cNvPr id="9" name="Rounded Rectangle 8"/>
          <p:cNvSpPr/>
          <p:nvPr/>
        </p:nvSpPr>
        <p:spPr>
          <a:xfrm>
            <a:off x="530352" y="1822704"/>
            <a:ext cx="11130991" cy="73660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950720"/>
            <a:ext cx="45720" cy="48056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941576"/>
            <a:ext cx="10564063" cy="553720"/>
          </a:xfrm>
          <a:prstGeom prst="rect">
            <a:avLst/>
          </a:prstGeom>
          <a:noFill/>
        </p:spPr>
        <p:txBody>
          <a:bodyPr wrap="square" anchor="ctr" lIns="0" rIns="0" tIns="0" bIns="0">
            <a:spAutoFit/>
          </a:bodyPr>
          <a:lstStyle/>
          <a:p>
            <a:r>
              <a:rPr sz="1300" b="1">
                <a:solidFill>
                  <a:srgbClr val="5B3FD6"/>
                </a:solidFill>
                <a:latin typeface="Calibri"/>
              </a:rPr>
              <a:t>The plausible wrong answer. </a:t>
            </a:r>
            <a:r>
              <a:rPr sz="1300" b="0" i="0">
                <a:solidFill>
                  <a:srgbClr val="1A1440"/>
                </a:solidFill>
                <a:latin typeface="Calibri"/>
              </a:rPr>
              <a:t>"Sales a day rose from Rs 11,900 to Rs 12,600, so the longer hours work; keep them." Every rupee is right, and it would keep paying the helper for two hours nobody has priced.</a:t>
            </a:r>
          </a:p>
        </p:txBody>
      </p:sp>
      <p:sp>
        <p:nvSpPr>
          <p:cNvPr id="12" name="Rounded Rectangle 11"/>
          <p:cNvSpPr/>
          <p:nvPr/>
        </p:nvSpPr>
        <p:spPr>
          <a:xfrm>
            <a:off x="530352" y="2723896"/>
            <a:ext cx="11130991" cy="119888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2851912"/>
            <a:ext cx="45720" cy="94284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2842768"/>
            <a:ext cx="10564063" cy="1016000"/>
          </a:xfrm>
          <a:prstGeom prst="rect">
            <a:avLst/>
          </a:prstGeom>
          <a:noFill/>
        </p:spPr>
        <p:txBody>
          <a:bodyPr wrap="square" anchor="ctr" lIns="0" rIns="0" tIns="0" bIns="0">
            <a:spAutoFit/>
          </a:bodyPr>
          <a:lstStyle/>
          <a:p>
            <a:r>
              <a:rPr sz="1300" b="1">
                <a:solidFill>
                  <a:srgbClr val="5B3FD6"/>
                </a:solidFill>
                <a:latin typeface="Calibri"/>
              </a:rPr>
              <a:t>Why it is wrong. </a:t>
            </a:r>
            <a:r>
              <a:rPr sz="1300" b="0" i="0">
                <a:solidFill>
                  <a:srgbClr val="1A1440"/>
                </a:solidFill>
                <a:latin typeface="Calibri"/>
              </a:rPr>
              <a:t>Rs 700 is sales before the cost of the goods, part of it may be the festival, and a day's total hides what each added hour brings: at most Rs 350, against Rs 1,190 in each old hour. </a:t>
            </a:r>
            <a:r>
              <a:rPr sz="1300" b="1" i="0">
                <a:solidFill>
                  <a:srgbClr val="1A1440"/>
                </a:solidFill>
                <a:latin typeface="Calibri"/>
              </a:rPr>
              <a:t>The check:</a:t>
            </a:r>
            <a:r>
              <a:rPr sz="1300" b="0" i="0">
                <a:solidFill>
                  <a:srgbClr val="1A1440"/>
                </a:solidFill>
                <a:latin typeface="Calibri"/>
              </a:rPr>
              <a:t> divide by what the decision buys, here the two extra hours, before reading the number. </a:t>
            </a:r>
            <a:r>
              <a:rPr sz="1300" b="1" i="0">
                <a:solidFill>
                  <a:srgbClr val="1A1440"/>
                </a:solidFill>
                <a:latin typeface="Calibri"/>
              </a:rPr>
              <a:t>The fix:</a:t>
            </a:r>
            <a:r>
              <a:rPr sz="1300" b="0" i="0">
                <a:solidFill>
                  <a:srgbClr val="1A1440"/>
                </a:solidFill>
                <a:latin typeface="Calibri"/>
              </a:rPr>
              <a:t> the evidence is per hour, the added hours' Rs 350 beside the old hours' Rs 1,190, and the action counts the evening's sales on their own for a month.</a:t>
            </a:r>
          </a:p>
        </p:txBody>
      </p:sp>
      <p:sp>
        <p:nvSpPr>
          <p:cNvPr id="15" name="Rounded Rectangle 14"/>
          <p:cNvSpPr/>
          <p:nvPr/>
        </p:nvSpPr>
        <p:spPr>
          <a:xfrm>
            <a:off x="530352" y="4087368"/>
            <a:ext cx="11130991" cy="1972055"/>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13232" y="4215383"/>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868680" y="4215383"/>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1024128" y="4215383"/>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04671" y="4416552"/>
            <a:ext cx="10673791" cy="1569719"/>
          </a:xfrm>
          <a:prstGeom prst="rect">
            <a:avLst/>
          </a:prstGeom>
          <a:noFill/>
        </p:spPr>
        <p:txBody>
          <a:bodyPr wrap="square" anchor="t" lIns="0" rIns="0" tIns="0" bIns="0">
            <a:spAutoFit/>
          </a:bodyPr>
          <a:lstStyle/>
          <a:p>
            <a:pPr>
              <a:spcAft>
                <a:spcPts val="200"/>
              </a:spcAft>
            </a:pPr>
            <a:r>
              <a:rPr sz="1200" b="0" i="0">
                <a:solidFill>
                  <a:srgbClr val="E4E1F1"/>
                </a:solidFill>
                <a:latin typeface="Consolas"/>
              </a:rPr>
              <a:t>m = days.groupby("month").agg(sales=("sales_rs", "sum"),</a:t>
            </a:r>
          </a:p>
          <a:p>
            <a:pPr>
              <a:spcAft>
                <a:spcPts val="200"/>
              </a:spcAft>
            </a:pPr>
            <a:r>
              <a:rPr sz="1200" b="0" i="0">
                <a:solidFill>
                  <a:srgbClr val="E4E1F1"/>
                </a:solidFill>
                <a:latin typeface="Consolas"/>
              </a:rPr>
              <a:t>        days=("day", "count"), hours=("hours_open", "mean"),</a:t>
            </a:r>
          </a:p>
          <a:p>
            <a:pPr>
              <a:spcAft>
                <a:spcPts val="200"/>
              </a:spcAft>
            </a:pPr>
            <a:r>
              <a:rPr sz="1200" b="0" i="0">
                <a:solidFill>
                  <a:srgbClr val="E4E1F1"/>
                </a:solidFill>
                <a:latin typeface="Consolas"/>
              </a:rPr>
              <a:t>        customers=("customers", "sum"))</a:t>
            </a:r>
          </a:p>
          <a:p>
            <a:pPr>
              <a:spcAft>
                <a:spcPts val="200"/>
              </a:spcAft>
            </a:pPr>
            <a:r>
              <a:rPr sz="1200" b="0" i="0">
                <a:solidFill>
                  <a:srgbClr val="E4E1F1"/>
                </a:solidFill>
                <a:latin typeface="Consolas"/>
              </a:rPr>
              <a:t>m["per_day"] = m.sales / m.days            # 11,900 and 12,600</a:t>
            </a:r>
          </a:p>
          <a:p>
            <a:pPr>
              <a:spcAft>
                <a:spcPts val="200"/>
              </a:spcAft>
            </a:pPr>
            <a:r>
              <a:rPr sz="1200" b="0" i="0">
                <a:solidFill>
                  <a:srgbClr val="E4E1F1"/>
                </a:solidFill>
                <a:latin typeface="Consolas"/>
              </a:rPr>
              <a:t>m["per_hour"] = m.per_day / m.hours        # 1,190 and 1,050</a:t>
            </a:r>
          </a:p>
          <a:p>
            <a:pPr>
              <a:spcAft>
                <a:spcPts val="200"/>
              </a:spcAft>
            </a:pPr>
            <a:r>
              <a:rPr sz="1200" b="0" i="0">
                <a:solidFill>
                  <a:srgbClr val="E4E1F1"/>
                </a:solidFill>
                <a:latin typeface="Consolas"/>
              </a:rPr>
              <a:t>m["per_customer"] = m.sales / m.customers  # 100 and 100</a:t>
            </a:r>
          </a:p>
          <a:p>
            <a:pPr>
              <a:spcAft>
                <a:spcPts val="200"/>
              </a:spcAft>
            </a:pPr>
            <a:r>
              <a:rPr sz="1200" b="0" i="0">
                <a:solidFill>
                  <a:srgbClr val="E4E1F1"/>
                </a:solidFill>
                <a:latin typeface="Consolas"/>
              </a:rPr>
              <a:t>added = m.per_day.diff().iloc[-1] / m.hours.diff().iloc[-1]  # 350</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 slide carry?</a:t>
            </a:r>
          </a:p>
        </p:txBody>
      </p:sp>
      <p:sp>
        <p:nvSpPr>
          <p:cNvPr id="22" name="Oval 2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24" name="Oval 2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26" name="Oval 25"/>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8" name="Oval 27"/>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13 / 59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rules for a slide its loser can repeat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should a learner keep from chapter 1, and where is it used next?</a:t>
            </a:r>
          </a:p>
        </p:txBody>
      </p:sp>
      <p:sp>
        <p:nvSpPr>
          <p:cNvPr id="9" name="TextBox 8"/>
          <p:cNvSpPr txBox="1"/>
          <p:nvPr/>
        </p:nvSpPr>
        <p:spPr>
          <a:xfrm>
            <a:off x="530352" y="1645920"/>
            <a:ext cx="502920" cy="300735"/>
          </a:xfrm>
          <a:prstGeom prst="rect">
            <a:avLst/>
          </a:prstGeom>
          <a:noFill/>
        </p:spPr>
        <p:txBody>
          <a:bodyPr wrap="square" anchor="t" lIns="0" rIns="0" tIns="0" bIns="0">
            <a:spAutoFit/>
          </a:bodyPr>
          <a:lstStyle/>
          <a:p>
            <a:pPr algn="l"/>
            <a:r>
              <a:rPr sz="1600" b="0" i="0">
                <a:solidFill>
                  <a:srgbClr val="5B3FD6"/>
                </a:solidFill>
                <a:latin typeface="Georgia"/>
              </a:rPr>
              <a:t>01</a:t>
            </a:r>
          </a:p>
        </p:txBody>
      </p:sp>
      <p:sp>
        <p:nvSpPr>
          <p:cNvPr id="10" name="TextBox 9"/>
          <p:cNvSpPr txBox="1"/>
          <p:nvPr/>
        </p:nvSpPr>
        <p:spPr>
          <a:xfrm>
            <a:off x="1097280" y="1682496"/>
            <a:ext cx="10564063" cy="334264"/>
          </a:xfrm>
          <a:prstGeom prst="rect">
            <a:avLst/>
          </a:prstGeom>
          <a:noFill/>
        </p:spPr>
        <p:txBody>
          <a:bodyPr wrap="square" anchor="t" lIns="0" rIns="0" tIns="0" bIns="0">
            <a:spAutoFit/>
          </a:bodyPr>
          <a:lstStyle/>
          <a:p>
            <a:r>
              <a:rPr sz="1300" b="0" i="0">
                <a:solidFill>
                  <a:srgbClr val="1A1440"/>
                </a:solidFill>
                <a:latin typeface="Calibri"/>
              </a:rPr>
              <a:t>The title is the claim: a sentence with a verb that says what is true and what to do.</a:t>
            </a:r>
          </a:p>
        </p:txBody>
      </p:sp>
      <p:sp>
        <p:nvSpPr>
          <p:cNvPr id="11" name="TextBox 10"/>
          <p:cNvSpPr txBox="1"/>
          <p:nvPr/>
        </p:nvSpPr>
        <p:spPr>
          <a:xfrm>
            <a:off x="530352" y="2053336"/>
            <a:ext cx="502920" cy="300735"/>
          </a:xfrm>
          <a:prstGeom prst="rect">
            <a:avLst/>
          </a:prstGeom>
          <a:noFill/>
        </p:spPr>
        <p:txBody>
          <a:bodyPr wrap="square" anchor="t" lIns="0" rIns="0" tIns="0" bIns="0">
            <a:spAutoFit/>
          </a:bodyPr>
          <a:lstStyle/>
          <a:p>
            <a:pPr algn="l"/>
            <a:r>
              <a:rPr sz="1600" b="0" i="0">
                <a:solidFill>
                  <a:srgbClr val="5B3FD6"/>
                </a:solidFill>
                <a:latin typeface="Georgia"/>
              </a:rPr>
              <a:t>02</a:t>
            </a:r>
          </a:p>
        </p:txBody>
      </p:sp>
      <p:sp>
        <p:nvSpPr>
          <p:cNvPr id="12" name="TextBox 11"/>
          <p:cNvSpPr txBox="1"/>
          <p:nvPr/>
        </p:nvSpPr>
        <p:spPr>
          <a:xfrm>
            <a:off x="1097280" y="2089912"/>
            <a:ext cx="10564063" cy="334264"/>
          </a:xfrm>
          <a:prstGeom prst="rect">
            <a:avLst/>
          </a:prstGeom>
          <a:noFill/>
        </p:spPr>
        <p:txBody>
          <a:bodyPr wrap="square" anchor="t" lIns="0" rIns="0" tIns="0" bIns="0">
            <a:spAutoFit/>
          </a:bodyPr>
          <a:lstStyle/>
          <a:p>
            <a:r>
              <a:rPr sz="1300" b="0" i="0">
                <a:solidFill>
                  <a:srgbClr val="1A1440"/>
                </a:solidFill>
                <a:latin typeface="Calibri"/>
              </a:rPr>
              <a:t>The evidence is one number divided by what the decision buys, with its window, or one chart.</a:t>
            </a:r>
          </a:p>
        </p:txBody>
      </p:sp>
      <p:sp>
        <p:nvSpPr>
          <p:cNvPr id="13" name="TextBox 12"/>
          <p:cNvSpPr txBox="1"/>
          <p:nvPr/>
        </p:nvSpPr>
        <p:spPr>
          <a:xfrm>
            <a:off x="530352" y="2460752"/>
            <a:ext cx="502920" cy="300735"/>
          </a:xfrm>
          <a:prstGeom prst="rect">
            <a:avLst/>
          </a:prstGeom>
          <a:noFill/>
        </p:spPr>
        <p:txBody>
          <a:bodyPr wrap="square" anchor="t" lIns="0" rIns="0" tIns="0" bIns="0">
            <a:spAutoFit/>
          </a:bodyPr>
          <a:lstStyle/>
          <a:p>
            <a:pPr algn="l"/>
            <a:r>
              <a:rPr sz="1600" b="0" i="0">
                <a:solidFill>
                  <a:srgbClr val="5B3FD6"/>
                </a:solidFill>
                <a:latin typeface="Georgia"/>
              </a:rPr>
              <a:t>03</a:t>
            </a:r>
          </a:p>
        </p:txBody>
      </p:sp>
      <p:sp>
        <p:nvSpPr>
          <p:cNvPr id="14" name="TextBox 13"/>
          <p:cNvSpPr txBox="1"/>
          <p:nvPr/>
        </p:nvSpPr>
        <p:spPr>
          <a:xfrm>
            <a:off x="1097280" y="2497328"/>
            <a:ext cx="10564063" cy="334264"/>
          </a:xfrm>
          <a:prstGeom prst="rect">
            <a:avLst/>
          </a:prstGeom>
          <a:noFill/>
        </p:spPr>
        <p:txBody>
          <a:bodyPr wrap="square" anchor="t" lIns="0" rIns="0" tIns="0" bIns="0">
            <a:spAutoFit/>
          </a:bodyPr>
          <a:lstStyle/>
          <a:p>
            <a:r>
              <a:rPr sz="1300" b="0" i="0">
                <a:solidFill>
                  <a:srgbClr val="1A1440"/>
                </a:solidFill>
                <a:latin typeface="Calibri"/>
              </a:rPr>
              <a:t>The caveat sits beside the evidence, in plain sight.</a:t>
            </a:r>
          </a:p>
        </p:txBody>
      </p:sp>
      <p:sp>
        <p:nvSpPr>
          <p:cNvPr id="15" name="TextBox 14"/>
          <p:cNvSpPr txBox="1"/>
          <p:nvPr/>
        </p:nvSpPr>
        <p:spPr>
          <a:xfrm>
            <a:off x="530352" y="2868168"/>
            <a:ext cx="502920" cy="300735"/>
          </a:xfrm>
          <a:prstGeom prst="rect">
            <a:avLst/>
          </a:prstGeom>
          <a:noFill/>
        </p:spPr>
        <p:txBody>
          <a:bodyPr wrap="square" anchor="t" lIns="0" rIns="0" tIns="0" bIns="0">
            <a:spAutoFit/>
          </a:bodyPr>
          <a:lstStyle/>
          <a:p>
            <a:pPr algn="l"/>
            <a:r>
              <a:rPr sz="1600" b="0" i="0">
                <a:solidFill>
                  <a:srgbClr val="5B3FD6"/>
                </a:solidFill>
                <a:latin typeface="Georgia"/>
              </a:rPr>
              <a:t>04</a:t>
            </a:r>
          </a:p>
        </p:txBody>
      </p:sp>
      <p:sp>
        <p:nvSpPr>
          <p:cNvPr id="16" name="TextBox 15"/>
          <p:cNvSpPr txBox="1"/>
          <p:nvPr/>
        </p:nvSpPr>
        <p:spPr>
          <a:xfrm>
            <a:off x="1097280" y="2904744"/>
            <a:ext cx="10564063" cy="334264"/>
          </a:xfrm>
          <a:prstGeom prst="rect">
            <a:avLst/>
          </a:prstGeom>
          <a:noFill/>
        </p:spPr>
        <p:txBody>
          <a:bodyPr wrap="square" anchor="t" lIns="0" rIns="0" tIns="0" bIns="0">
            <a:spAutoFit/>
          </a:bodyPr>
          <a:lstStyle/>
          <a:p>
            <a:r>
              <a:rPr sz="1300" b="0" i="0">
                <a:solidFill>
                  <a:srgbClr val="1A1440"/>
                </a:solidFill>
                <a:latin typeface="Calibri"/>
              </a:rPr>
              <a:t>The action names what to do, its cost in rupees and weeks, and who signs.</a:t>
            </a:r>
          </a:p>
        </p:txBody>
      </p:sp>
      <p:sp>
        <p:nvSpPr>
          <p:cNvPr id="17" name="Rounded Rectangle 16"/>
          <p:cNvSpPr/>
          <p:nvPr/>
        </p:nvSpPr>
        <p:spPr>
          <a:xfrm>
            <a:off x="530352" y="3421888"/>
            <a:ext cx="11130991" cy="1052576"/>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371957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mic_caee7398c80d.png"/>
          <p:cNvPicPr>
            <a:picLocks noChangeAspect="1"/>
          </p:cNvPicPr>
          <p:nvPr/>
        </p:nvPicPr>
        <p:blipFill>
          <a:blip r:embed="rId5"/>
          <a:stretch>
            <a:fillRect/>
          </a:stretch>
        </p:blipFill>
        <p:spPr>
          <a:xfrm>
            <a:off x="868680" y="3829304"/>
            <a:ext cx="237744" cy="237744"/>
          </a:xfrm>
          <a:prstGeom prst="rect">
            <a:avLst/>
          </a:prstGeom>
        </p:spPr>
      </p:pic>
      <p:sp>
        <p:nvSpPr>
          <p:cNvPr id="20" name="TextBox 19"/>
          <p:cNvSpPr txBox="1"/>
          <p:nvPr/>
        </p:nvSpPr>
        <p:spPr>
          <a:xfrm>
            <a:off x="1399031" y="356819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1" name="TextBox 20"/>
          <p:cNvSpPr txBox="1"/>
          <p:nvPr/>
        </p:nvSpPr>
        <p:spPr>
          <a:xfrm>
            <a:off x="1399031" y="3787648"/>
            <a:ext cx="9987991" cy="613664"/>
          </a:xfrm>
          <a:prstGeom prst="rect">
            <a:avLst/>
          </a:prstGeom>
          <a:noFill/>
        </p:spPr>
        <p:txBody>
          <a:bodyPr wrap="square" anchor="t" lIns="0" rIns="0" tIns="0" bIns="0">
            <a:spAutoFit/>
          </a:bodyPr>
          <a:lstStyle/>
          <a:p>
            <a:r>
              <a:rPr sz="1300" b="0" i="0">
                <a:solidFill>
                  <a:srgbClr val="1A1440"/>
                </a:solidFill>
                <a:latin typeface="Calibri"/>
              </a:rPr>
              <a:t>[S] Present a recommendation to a non-technical stakeholder in two minutes: open on the claim, then one number with its denominator.</a:t>
            </a:r>
          </a:p>
        </p:txBody>
      </p:sp>
      <p:pic>
        <p:nvPicPr>
          <p:cNvPr id="22" name="mermaid diagram" descr="b8fe85ec0ccfa74e.png"/>
          <p:cNvPicPr>
            <a:picLocks noChangeAspect="1"/>
          </p:cNvPicPr>
          <p:nvPr/>
        </p:nvPicPr>
        <p:blipFill>
          <a:blip r:embed="rId6"/>
          <a:stretch>
            <a:fillRect/>
          </a:stretch>
        </p:blipFill>
        <p:spPr>
          <a:xfrm>
            <a:off x="3118748" y="4639056"/>
            <a:ext cx="5954197" cy="1560576"/>
          </a:xfrm>
          <a:prstGeom prst="rect">
            <a:avLst/>
          </a:prstGeom>
        </p:spPr>
      </p:pic>
      <p:sp>
        <p:nvSpPr>
          <p:cNvPr id="23" name="Oval 2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 slide carry?</a:t>
            </a:r>
          </a:p>
        </p:txBody>
      </p:sp>
      <p:sp>
        <p:nvSpPr>
          <p:cNvPr id="25" name="Oval 2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27" name="Oval 2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29" name="Oval 2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31" name="Oval 3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14 / 59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What to leave out, and the appendix</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Where does the rest go?</a:t>
            </a:r>
          </a:p>
        </p:txBody>
      </p:sp>
      <p:sp>
        <p:nvSpPr>
          <p:cNvPr id="10" name="TextBox 9"/>
          <p:cNvSpPr txBox="1"/>
          <p:nvPr/>
        </p:nvSpPr>
        <p:spPr>
          <a:xfrm>
            <a:off x="731519" y="3931920"/>
            <a:ext cx="9509760" cy="779526"/>
          </a:xfrm>
          <a:prstGeom prst="rect">
            <a:avLst/>
          </a:prstGeom>
          <a:noFill/>
        </p:spPr>
        <p:txBody>
          <a:bodyPr wrap="square" anchor="t" lIns="0" rIns="0" tIns="0" bIns="0">
            <a:spAutoFit/>
          </a:bodyPr>
          <a:lstStyle/>
          <a:p>
            <a:pPr algn="l"/>
            <a:r>
              <a:rPr sz="1500" b="0" i="0">
                <a:solidFill>
                  <a:srgbClr val="E4E1F1"/>
                </a:solidFill>
                <a:latin typeface="Calibri"/>
              </a:rPr>
              <a:t>What to leave out, and the appendix, on Ramesh's first draft (invented): every element supports the claim, answers a named person's question on a page behind the slide, or leaves; the caveat never leaves.</a:t>
            </a:r>
          </a:p>
        </p:txBody>
      </p:sp>
      <p:sp>
        <p:nvSpPr>
          <p:cNvPr id="11" name="Rounded Rectangle 10"/>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a slide carry?</a:t>
            </a:r>
          </a:p>
        </p:txBody>
      </p:sp>
      <p:sp>
        <p:nvSpPr>
          <p:cNvPr id="12" name="Rounded Rectangle 11"/>
          <p:cNvSpPr/>
          <p:nvPr/>
        </p:nvSpPr>
        <p:spPr>
          <a:xfrm>
            <a:off x="2628191" y="5074920"/>
            <a:ext cx="172772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Where does the rest go?</a:t>
            </a:r>
          </a:p>
        </p:txBody>
      </p:sp>
      <p:sp>
        <p:nvSpPr>
          <p:cNvPr id="13" name="Rounded Rectangle 12"/>
          <p:cNvSpPr/>
          <p:nvPr/>
        </p:nvSpPr>
        <p:spPr>
          <a:xfrm>
            <a:off x="4465646"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do you hold a claim?</a:t>
            </a:r>
          </a:p>
        </p:txBody>
      </p:sp>
      <p:sp>
        <p:nvSpPr>
          <p:cNvPr id="14" name="Rounded Rectangle 13"/>
          <p:cNvSpPr/>
          <p:nvPr/>
        </p:nvSpPr>
        <p:spPr>
          <a:xfrm>
            <a:off x="6362318"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carries it?</a:t>
            </a:r>
          </a:p>
        </p:txBody>
      </p:sp>
      <p:sp>
        <p:nvSpPr>
          <p:cNvPr id="15" name="Rounded Rectangle 14"/>
          <p:cNvSpPr/>
          <p:nvPr/>
        </p:nvSpPr>
        <p:spPr>
          <a:xfrm>
            <a:off x="825898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objection holds?</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2. Stakeholder communication: one slide, five minutes, three people paid to disagree</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15 / 59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Every element stays, moves to a page, or leaves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956816"/>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358140"/>
          </a:xfrm>
          <a:prstGeom prst="rect">
            <a:avLst/>
          </a:prstGeom>
          <a:noFill/>
        </p:spPr>
        <p:txBody>
          <a:bodyPr wrap="square" anchor="ctr" lIns="0" rIns="0" tIns="0" bIns="0">
            <a:spAutoFit/>
          </a:bodyPr>
          <a:lstStyle/>
          <a:p>
            <a:r>
              <a:rPr sz="1500" b="1">
                <a:solidFill>
                  <a:srgbClr val="5B3FD6"/>
                </a:solidFill>
                <a:latin typeface="Calibri"/>
              </a:rPr>
              <a:t>The topic. </a:t>
            </a:r>
            <a:r>
              <a:rPr sz="1500" b="0" i="0">
                <a:solidFill>
                  <a:srgbClr val="1A1440"/>
                </a:solidFill>
                <a:latin typeface="Calibri"/>
              </a:rPr>
              <a:t>What to leave out, and the appendix.</a:t>
            </a:r>
          </a:p>
        </p:txBody>
      </p:sp>
      <p:sp>
        <p:nvSpPr>
          <p:cNvPr id="12" name="Rounded Rectangle 11"/>
          <p:cNvSpPr/>
          <p:nvPr/>
        </p:nvSpPr>
        <p:spPr>
          <a:xfrm>
            <a:off x="530352" y="266242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2790444"/>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2781300"/>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Ramesh, who reads the slide in five minutes, and two readers who each look for their own question behind it: his son and the shop's accountant. An </a:t>
            </a:r>
            <a:r>
              <a:rPr sz="1500" b="1" i="0">
                <a:solidFill>
                  <a:srgbClr val="1A1440"/>
                </a:solidFill>
                <a:latin typeface="Calibri"/>
              </a:rPr>
              <a:t>appendix</a:t>
            </a:r>
            <a:r>
              <a:rPr sz="1500" b="0" i="0">
                <a:solidFill>
                  <a:srgbClr val="1A1440"/>
                </a:solidFill>
                <a:latin typeface="Calibri"/>
              </a:rPr>
              <a:t> is the set of pages behind the slide, shown only when someone asks.</a:t>
            </a:r>
          </a:p>
        </p:txBody>
      </p:sp>
      <p:sp>
        <p:nvSpPr>
          <p:cNvPr id="15" name="Rectangle 14"/>
          <p:cNvSpPr/>
          <p:nvPr/>
        </p:nvSpPr>
        <p:spPr>
          <a:xfrm>
            <a:off x="1853145" y="4468368"/>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7" name="Oval 16"/>
          <p:cNvSpPr/>
          <p:nvPr/>
        </p:nvSpPr>
        <p:spPr>
          <a:xfrm>
            <a:off x="1752561"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How many elements stay?</a:t>
            </a:r>
          </a:p>
        </p:txBody>
      </p:sp>
      <p:sp>
        <p:nvSpPr>
          <p:cNvPr id="20" name="TextBox 19"/>
          <p:cNvSpPr txBox="1"/>
          <p:nvPr/>
        </p:nvSpPr>
        <p:spPr>
          <a:xfrm>
            <a:off x="694944" y="5222494"/>
            <a:ext cx="2316403" cy="366776"/>
          </a:xfrm>
          <a:prstGeom prst="rect">
            <a:avLst/>
          </a:prstGeom>
          <a:noFill/>
        </p:spPr>
        <p:txBody>
          <a:bodyPr wrap="square" anchor="t" lIns="0" rIns="0" tIns="0" bIns="0">
            <a:spAutoFit/>
          </a:bodyPr>
          <a:lstStyle/>
          <a:p>
            <a:pPr algn="l"/>
            <a:r>
              <a:rPr sz="1000" b="0" i="0">
                <a:solidFill>
                  <a:srgbClr val="6B6690"/>
                </a:solidFill>
                <a:latin typeface="Calibri"/>
              </a:rPr>
              <a:t>Of the eight on Ramesh's first draft.</a:t>
            </a:r>
          </a:p>
        </p:txBody>
      </p:sp>
      <p:sp>
        <p:nvSpPr>
          <p:cNvPr id="21" name="TextBox 20"/>
          <p:cNvSpPr txBox="1"/>
          <p:nvPr/>
        </p:nvSpPr>
        <p:spPr>
          <a:xfrm>
            <a:off x="3358819"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22" name="Oval 21"/>
          <p:cNvSpPr/>
          <p:nvPr/>
        </p:nvSpPr>
        <p:spPr>
          <a:xfrm>
            <a:off x="4581029"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4934712"/>
            <a:ext cx="2316403" cy="465836"/>
          </a:xfrm>
          <a:prstGeom prst="rect">
            <a:avLst/>
          </a:prstGeom>
          <a:noFill/>
        </p:spPr>
        <p:txBody>
          <a:bodyPr wrap="square" anchor="t" lIns="0" rIns="0" tIns="0" bIns="0">
            <a:spAutoFit/>
          </a:bodyPr>
          <a:lstStyle/>
          <a:p>
            <a:pPr algn="l"/>
            <a:r>
              <a:rPr sz="1300" b="1" i="0">
                <a:solidFill>
                  <a:srgbClr val="1A0F5C"/>
                </a:solidFill>
                <a:latin typeface="Calibri"/>
              </a:rPr>
              <a:t>Where does each of the rest go?</a:t>
            </a:r>
          </a:p>
        </p:txBody>
      </p:sp>
      <p:sp>
        <p:nvSpPr>
          <p:cNvPr id="25" name="TextBox 24"/>
          <p:cNvSpPr txBox="1"/>
          <p:nvPr/>
        </p:nvSpPr>
        <p:spPr>
          <a:xfrm>
            <a:off x="3523411" y="5437124"/>
            <a:ext cx="2316403" cy="366776"/>
          </a:xfrm>
          <a:prstGeom prst="rect">
            <a:avLst/>
          </a:prstGeom>
          <a:noFill/>
        </p:spPr>
        <p:txBody>
          <a:bodyPr wrap="square" anchor="t" lIns="0" rIns="0" tIns="0" bIns="0">
            <a:spAutoFit/>
          </a:bodyPr>
          <a:lstStyle/>
          <a:p>
            <a:pPr algn="l"/>
            <a:r>
              <a:rPr sz="1000" b="0" i="0">
                <a:solidFill>
                  <a:srgbClr val="6B6690"/>
                </a:solidFill>
                <a:latin typeface="Calibri"/>
              </a:rPr>
              <a:t>A page behind the slide, or nowhere.</a:t>
            </a:r>
          </a:p>
        </p:txBody>
      </p:sp>
      <p:sp>
        <p:nvSpPr>
          <p:cNvPr id="26" name="TextBox 25"/>
          <p:cNvSpPr txBox="1"/>
          <p:nvPr/>
        </p:nvSpPr>
        <p:spPr>
          <a:xfrm>
            <a:off x="6187287"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7" name="Oval 26"/>
          <p:cNvSpPr/>
          <p:nvPr/>
        </p:nvSpPr>
        <p:spPr>
          <a:xfrm>
            <a:off x="7409497"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Can the caveat leave?</a:t>
            </a:r>
          </a:p>
        </p:txBody>
      </p:sp>
      <p:sp>
        <p:nvSpPr>
          <p:cNvPr id="30" name="TextBox 29"/>
          <p:cNvSpPr txBox="1"/>
          <p:nvPr/>
        </p:nvSpPr>
        <p:spPr>
          <a:xfrm>
            <a:off x="6351879" y="5222494"/>
            <a:ext cx="2316403" cy="201676"/>
          </a:xfrm>
          <a:prstGeom prst="rect">
            <a:avLst/>
          </a:prstGeom>
          <a:noFill/>
        </p:spPr>
        <p:txBody>
          <a:bodyPr wrap="square" anchor="t" lIns="0" rIns="0" tIns="0" bIns="0">
            <a:spAutoFit/>
          </a:bodyPr>
          <a:lstStyle/>
          <a:p>
            <a:pPr algn="l"/>
            <a:r>
              <a:rPr sz="1000" b="0" i="0">
                <a:solidFill>
                  <a:srgbClr val="6B6690"/>
                </a:solidFill>
                <a:latin typeface="Calibri"/>
              </a:rPr>
              <a:t>Even when the slide is crowded.</a:t>
            </a:r>
          </a:p>
        </p:txBody>
      </p:sp>
      <p:sp>
        <p:nvSpPr>
          <p:cNvPr id="31" name="TextBox 30"/>
          <p:cNvSpPr txBox="1"/>
          <p:nvPr/>
        </p:nvSpPr>
        <p:spPr>
          <a:xfrm>
            <a:off x="9015755"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32" name="Oval 31"/>
          <p:cNvSpPr/>
          <p:nvPr/>
        </p:nvSpPr>
        <p:spPr>
          <a:xfrm>
            <a:off x="10237965"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4934712"/>
            <a:ext cx="2316403" cy="465836"/>
          </a:xfrm>
          <a:prstGeom prst="rect">
            <a:avLst/>
          </a:prstGeom>
          <a:noFill/>
        </p:spPr>
        <p:txBody>
          <a:bodyPr wrap="square" anchor="t" lIns="0" rIns="0" tIns="0" bIns="0">
            <a:spAutoFit/>
          </a:bodyPr>
          <a:lstStyle/>
          <a:p>
            <a:pPr algn="l"/>
            <a:r>
              <a:rPr sz="1300" b="1" i="0">
                <a:solidFill>
                  <a:srgbClr val="1A0F5C"/>
                </a:solidFill>
                <a:latin typeface="Calibri"/>
              </a:rPr>
              <a:t>Does a chart obey the same rule?</a:t>
            </a:r>
          </a:p>
        </p:txBody>
      </p:sp>
      <p:sp>
        <p:nvSpPr>
          <p:cNvPr id="35" name="TextBox 34"/>
          <p:cNvSpPr txBox="1"/>
          <p:nvPr/>
        </p:nvSpPr>
        <p:spPr>
          <a:xfrm>
            <a:off x="9180347" y="5437124"/>
            <a:ext cx="2316403" cy="201676"/>
          </a:xfrm>
          <a:prstGeom prst="rect">
            <a:avLst/>
          </a:prstGeom>
          <a:noFill/>
        </p:spPr>
        <p:txBody>
          <a:bodyPr wrap="square" anchor="t" lIns="0" rIns="0" tIns="0" bIns="0">
            <a:spAutoFit/>
          </a:bodyPr>
          <a:lstStyle/>
          <a:p>
            <a:pPr algn="l"/>
            <a:r>
              <a:rPr sz="1000" b="0" i="0">
                <a:solidFill>
                  <a:srgbClr val="6B6690"/>
                </a:solidFill>
                <a:latin typeface="Calibri"/>
              </a:rPr>
              <a:t>Six series against one line.</a:t>
            </a:r>
          </a:p>
        </p:txBody>
      </p:sp>
      <p:sp>
        <p:nvSpPr>
          <p:cNvPr id="36" name="Oval 3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38" name="Oval 37"/>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does the rest go?</a:t>
            </a:r>
          </a:p>
        </p:txBody>
      </p:sp>
      <p:sp>
        <p:nvSpPr>
          <p:cNvPr id="40" name="Oval 3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42" name="Oval 41"/>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44" name="Oval 43"/>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46" name="TextBox 4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16 / 59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How many of the draft's eight elements stay?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Ramesh's first draft (invented) carries eight elements. How many belong on the slide itself?</a:t>
            </a:r>
          </a:p>
        </p:txBody>
      </p:sp>
      <p:graphicFrame>
        <p:nvGraphicFramePr>
          <p:cNvPr id="9" name="Table 8"/>
          <p:cNvGraphicFramePr>
            <a:graphicFrameLocks noGrp="1"/>
          </p:cNvGraphicFramePr>
          <p:nvPr/>
        </p:nvGraphicFramePr>
        <p:xfrm>
          <a:off x="530352" y="1900936"/>
          <a:ext cx="11130990" cy="3328416"/>
        </p:xfrm>
        <a:graphic>
          <a:graphicData uri="http://schemas.openxmlformats.org/drawingml/2006/table">
            <a:tbl>
              <a:tblPr firstRow="0" bandRow="0">
                <a:tableStyleId>{2D5ABB26-0587-4C30-8999-92F81FD0307C}</a:tableStyleId>
              </a:tblPr>
              <a:tblGrid>
                <a:gridCol w="4154401"/>
                <a:gridCol w="6976589"/>
              </a:tblGrid>
              <a:tr h="369824">
                <a:tc>
                  <a:txBody>
                    <a:bodyPr/>
                    <a:lstStyle/>
                    <a:p>
                      <a:r>
                        <a:rPr sz="1450" b="1" i="0">
                          <a:solidFill>
                            <a:srgbClr val="FFFFFF"/>
                          </a:solidFill>
                          <a:latin typeface="Calibri"/>
                        </a:rPr>
                        <a:t>Element on the draft</a:t>
                      </a:r>
                    </a:p>
                  </a:txBody>
                  <a:tcPr marL="101600" marR="101600" marT="38100" marB="38100" anchor="ctr">
                    <a:solidFill>
                      <a:srgbClr val="1A0F5C"/>
                    </a:solidFill>
                  </a:tcPr>
                </a:tc>
                <a:tc>
                  <a:txBody>
                    <a:bodyPr/>
                    <a:lstStyle/>
                    <a:p>
                      <a:r>
                        <a:rPr sz="1450" b="1" i="0">
                          <a:solidFill>
                            <a:srgbClr val="FFFFFF"/>
                          </a:solidFill>
                          <a:latin typeface="Calibri"/>
                        </a:rPr>
                        <a:t>What it shows</a:t>
                      </a:r>
                    </a:p>
                  </a:txBody>
                  <a:tcPr marL="101600" marR="101600" marT="38100" marB="38100" anchor="ctr">
                    <a:solidFill>
                      <a:srgbClr val="1A0F5C"/>
                    </a:solidFill>
                  </a:tcPr>
                </a:tc>
              </a:tr>
              <a:tr h="369824">
                <a:tc>
                  <a:txBody>
                    <a:bodyPr/>
                    <a:lstStyle/>
                    <a:p>
                      <a:r>
                        <a:rPr sz="1400" b="0" i="0">
                          <a:solidFill>
                            <a:srgbClr val="1A1440"/>
                          </a:solidFill>
                          <a:latin typeface="Calibri"/>
                        </a:rPr>
                        <a:t>Chart: sales per hour, by day</a:t>
                      </a:r>
                    </a:p>
                  </a:txBody>
                  <a:tcPr marL="101600" marR="101600" marT="38100" marB="38100" anchor="ctr">
                    <a:solidFill>
                      <a:srgbClr val="FFFFFF"/>
                    </a:solidFill>
                  </a:tcPr>
                </a:tc>
                <a:tc>
                  <a:txBody>
                    <a:bodyPr/>
                    <a:lstStyle/>
                    <a:p>
                      <a:r>
                        <a:rPr sz="1400" b="0" i="0">
                          <a:solidFill>
                            <a:srgbClr val="1A1440"/>
                          </a:solidFill>
                          <a:latin typeface="Calibri"/>
                        </a:rPr>
                        <a:t>Rs 1,190 an hour in September, Rs 1,050 in October</a:t>
                      </a:r>
                    </a:p>
                  </a:txBody>
                  <a:tcPr marL="101600" marR="101600" marT="38100" marB="38100" anchor="ctr">
                    <a:solidFill>
                      <a:srgbClr val="FFFFFF"/>
                    </a:solidFill>
                  </a:tcPr>
                </a:tc>
              </a:tr>
              <a:tr h="369824">
                <a:tc>
                  <a:txBody>
                    <a:bodyPr/>
                    <a:lstStyle/>
                    <a:p>
                      <a:r>
                        <a:rPr sz="1400" b="0" i="0">
                          <a:solidFill>
                            <a:srgbClr val="1A1440"/>
                          </a:solidFill>
                          <a:latin typeface="Calibri"/>
                        </a:rPr>
                        <a:t>Total sales, four weeks</a:t>
                      </a:r>
                    </a:p>
                  </a:txBody>
                  <a:tcPr marL="101600" marR="101600" marT="38100" marB="38100" anchor="ctr">
                    <a:solidFill>
                      <a:srgbClr val="F4F2FA"/>
                    </a:solidFill>
                  </a:tcPr>
                </a:tc>
                <a:tc>
                  <a:txBody>
                    <a:bodyPr/>
                    <a:lstStyle/>
                    <a:p>
                      <a:r>
                        <a:rPr sz="1400" b="0" i="0">
                          <a:solidFill>
                            <a:srgbClr val="1A1440"/>
                          </a:solidFill>
                          <a:latin typeface="Calibri"/>
                        </a:rPr>
                        <a:t>Rs 3.33 lakh in September, Rs 3.53 lakh in October</a:t>
                      </a:r>
                    </a:p>
                  </a:txBody>
                  <a:tcPr marL="101600" marR="101600" marT="38100" marB="38100" anchor="ctr">
                    <a:solidFill>
                      <a:srgbClr val="F4F2FA"/>
                    </a:solidFill>
                  </a:tcPr>
                </a:tc>
              </a:tr>
              <a:tr h="369824">
                <a:tc>
                  <a:txBody>
                    <a:bodyPr/>
                    <a:lstStyle/>
                    <a:p>
                      <a:r>
                        <a:rPr sz="1400" b="0" i="0">
                          <a:solidFill>
                            <a:srgbClr val="1A1440"/>
                          </a:solidFill>
                          <a:latin typeface="Calibri"/>
                        </a:rPr>
                        <a:t>Customers a day</a:t>
                      </a:r>
                    </a:p>
                  </a:txBody>
                  <a:tcPr marL="101600" marR="101600" marT="38100" marB="38100" anchor="ctr">
                    <a:solidFill>
                      <a:srgbClr val="FFFFFF"/>
                    </a:solidFill>
                  </a:tcPr>
                </a:tc>
                <a:tc>
                  <a:txBody>
                    <a:bodyPr/>
                    <a:lstStyle/>
                    <a:p>
                      <a:r>
                        <a:rPr sz="1400" b="0" i="0">
                          <a:solidFill>
                            <a:srgbClr val="1A1440"/>
                          </a:solidFill>
                          <a:latin typeface="Calibri"/>
                        </a:rPr>
                        <a:t>119 in September, 126 in October</a:t>
                      </a:r>
                    </a:p>
                  </a:txBody>
                  <a:tcPr marL="101600" marR="101600" marT="38100" marB="38100" anchor="ctr">
                    <a:solidFill>
                      <a:srgbClr val="FFFFFF"/>
                    </a:solidFill>
                  </a:tcPr>
                </a:tc>
              </a:tr>
              <a:tr h="369824">
                <a:tc>
                  <a:txBody>
                    <a:bodyPr/>
                    <a:lstStyle/>
                    <a:p>
                      <a:r>
                        <a:rPr sz="1400" b="0" i="0">
                          <a:solidFill>
                            <a:srgbClr val="1A1440"/>
                          </a:solidFill>
                          <a:latin typeface="Calibri"/>
                        </a:rPr>
                        <a:t>Rain days</a:t>
                      </a:r>
                    </a:p>
                  </a:txBody>
                  <a:tcPr marL="101600" marR="101600" marT="38100" marB="38100" anchor="ctr">
                    <a:solidFill>
                      <a:srgbClr val="F4F2FA"/>
                    </a:solidFill>
                  </a:tcPr>
                </a:tc>
                <a:tc>
                  <a:txBody>
                    <a:bodyPr/>
                    <a:lstStyle/>
                    <a:p>
                      <a:r>
                        <a:rPr sz="1400" b="0" i="0">
                          <a:solidFill>
                            <a:srgbClr val="1A1440"/>
                          </a:solidFill>
                          <a:latin typeface="Calibri"/>
                        </a:rPr>
                        <a:t>2 in September, 2 in October</a:t>
                      </a:r>
                    </a:p>
                  </a:txBody>
                  <a:tcPr marL="101600" marR="101600" marT="38100" marB="38100" anchor="ctr">
                    <a:solidFill>
                      <a:srgbClr val="F4F2FA"/>
                    </a:solidFill>
                  </a:tcPr>
                </a:tc>
              </a:tr>
              <a:tr h="369824">
                <a:tc>
                  <a:txBody>
                    <a:bodyPr/>
                    <a:lstStyle/>
                    <a:p>
                      <a:r>
                        <a:rPr sz="1400" b="0" i="0">
                          <a:solidFill>
                            <a:srgbClr val="1A1440"/>
                          </a:solidFill>
                          <a:latin typeface="Calibri"/>
                        </a:rPr>
                        <a:t>The son's hours at the counter</a:t>
                      </a:r>
                    </a:p>
                  </a:txBody>
                  <a:tcPr marL="101600" marR="101600" marT="38100" marB="38100" anchor="ctr">
                    <a:solidFill>
                      <a:srgbClr val="FFFFFF"/>
                    </a:solidFill>
                  </a:tcPr>
                </a:tc>
                <a:tc>
                  <a:txBody>
                    <a:bodyPr/>
                    <a:lstStyle/>
                    <a:p>
                      <a:r>
                        <a:rPr sz="1400" b="0" i="0">
                          <a:solidFill>
                            <a:srgbClr val="1A1440"/>
                          </a:solidFill>
                          <a:latin typeface="Calibri"/>
                        </a:rPr>
                        <a:t>4 a day in September, 6 in October</a:t>
                      </a:r>
                    </a:p>
                  </a:txBody>
                  <a:tcPr marL="101600" marR="101600" marT="38100" marB="38100" anchor="ctr">
                    <a:solidFill>
                      <a:srgbClr val="FFFFFF"/>
                    </a:solidFill>
                  </a:tcPr>
                </a:tc>
              </a:tr>
              <a:tr h="369824">
                <a:tc>
                  <a:txBody>
                    <a:bodyPr/>
                    <a:lstStyle/>
                    <a:p>
                      <a:r>
                        <a:rPr sz="1400" b="0" i="0">
                          <a:solidFill>
                            <a:srgbClr val="1A1440"/>
                          </a:solidFill>
                          <a:latin typeface="Calibri"/>
                        </a:rPr>
                        <a:t>The helper's wage</a:t>
                      </a:r>
                    </a:p>
                  </a:txBody>
                  <a:tcPr marL="101600" marR="101600" marT="38100" marB="38100" anchor="ctr">
                    <a:solidFill>
                      <a:srgbClr val="F4F2FA"/>
                    </a:solidFill>
                  </a:tcPr>
                </a:tc>
                <a:tc>
                  <a:txBody>
                    <a:bodyPr/>
                    <a:lstStyle/>
                    <a:p>
                      <a:r>
                        <a:rPr sz="1400" b="0" i="0">
                          <a:solidFill>
                            <a:srgbClr val="1A1440"/>
                          </a:solidFill>
                          <a:latin typeface="Calibri"/>
                        </a:rPr>
                        <a:t>Rs 85 an hour; the two extra hours cost Rs 170 a day</a:t>
                      </a:r>
                    </a:p>
                  </a:txBody>
                  <a:tcPr marL="101600" marR="101600" marT="38100" marB="38100" anchor="ctr">
                    <a:solidFill>
                      <a:srgbClr val="F4F2FA"/>
                    </a:solidFill>
                  </a:tcPr>
                </a:tc>
              </a:tr>
              <a:tr h="369824">
                <a:tc>
                  <a:txBody>
                    <a:bodyPr/>
                    <a:lstStyle/>
                    <a:p>
                      <a:r>
                        <a:rPr sz="1400" b="0" i="0">
                          <a:solidFill>
                            <a:srgbClr val="1A1440"/>
                          </a:solidFill>
                          <a:latin typeface="Calibri"/>
                        </a:rPr>
                        <a:t>The festival fortnight</a:t>
                      </a:r>
                    </a:p>
                  </a:txBody>
                  <a:tcPr marL="101600" marR="101600" marT="38100" marB="38100" anchor="ctr">
                    <a:solidFill>
                      <a:srgbClr val="FFFFFF"/>
                    </a:solidFill>
                  </a:tcPr>
                </a:tc>
                <a:tc>
                  <a:txBody>
                    <a:bodyPr/>
                    <a:lstStyle/>
                    <a:p>
                      <a:r>
                        <a:rPr sz="1400" b="0" i="0">
                          <a:solidFill>
                            <a:srgbClr val="1A1440"/>
                          </a:solidFill>
                          <a:latin typeface="Calibri"/>
                        </a:rPr>
                        <a:t>14 of October's 28 days</a:t>
                      </a:r>
                    </a:p>
                  </a:txBody>
                  <a:tcPr marL="101600" marR="101600" marT="38100" marB="38100" anchor="ctr">
                    <a:solidFill>
                      <a:srgbClr val="FFFFFF"/>
                    </a:solidFill>
                  </a:tcPr>
                </a:tc>
              </a:tr>
              <a:tr h="369824">
                <a:tc>
                  <a:txBody>
                    <a:bodyPr/>
                    <a:lstStyle/>
                    <a:p>
                      <a:r>
                        <a:rPr sz="1400" b="0" i="0">
                          <a:solidFill>
                            <a:srgbClr val="1A1440"/>
                          </a:solidFill>
                          <a:latin typeface="Calibri"/>
                        </a:rPr>
                        <a:t>Sales per customer</a:t>
                      </a:r>
                    </a:p>
                  </a:txBody>
                  <a:tcPr marL="101600" marR="101600" marT="38100" marB="38100" anchor="ctr">
                    <a:solidFill>
                      <a:srgbClr val="F4F2FA"/>
                    </a:solidFill>
                  </a:tcPr>
                </a:tc>
                <a:tc>
                  <a:txBody>
                    <a:bodyPr/>
                    <a:lstStyle/>
                    <a:p>
                      <a:r>
                        <a:rPr sz="1400" b="0" i="0">
                          <a:solidFill>
                            <a:srgbClr val="1A1440"/>
                          </a:solidFill>
                          <a:latin typeface="Calibri"/>
                        </a:rPr>
                        <a:t>Rs 100 in both months</a:t>
                      </a:r>
                    </a:p>
                  </a:txBody>
                  <a:tcPr marL="101600" marR="101600" marT="38100" marB="38100" anchor="ctr">
                    <a:solidFill>
                      <a:srgbClr val="F4F2FA"/>
                    </a:solidFill>
                  </a:tcPr>
                </a:tc>
              </a:tr>
            </a:tbl>
          </a:graphicData>
        </a:graphic>
      </p:graphicFrame>
      <p:sp>
        <p:nvSpPr>
          <p:cNvPr id="10" name="TextBox 9"/>
          <p:cNvSpPr txBox="1"/>
          <p:nvPr/>
        </p:nvSpPr>
        <p:spPr>
          <a:xfrm>
            <a:off x="530352" y="5485384"/>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2, the two that carry the claim   b) 3   c) 5   d) 8</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3" name="Oval 12"/>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does the rest go?</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19" name="Oval 1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17 / 59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 three stay, and the caveat never leaves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each element go, and why does the caveat skip the sort?</a:t>
            </a:r>
          </a:p>
        </p:txBody>
      </p:sp>
      <p:pic>
        <p:nvPicPr>
          <p:cNvPr id="9" name="mermaid diagram" descr="614c9666c8763efb.png"/>
          <p:cNvPicPr>
            <a:picLocks noChangeAspect="1"/>
          </p:cNvPicPr>
          <p:nvPr/>
        </p:nvPicPr>
        <p:blipFill>
          <a:blip r:embed="rId5"/>
          <a:stretch>
            <a:fillRect/>
          </a:stretch>
        </p:blipFill>
        <p:spPr>
          <a:xfrm>
            <a:off x="1357752" y="1664208"/>
            <a:ext cx="9476190" cy="2983992"/>
          </a:xfrm>
          <a:prstGeom prst="rect">
            <a:avLst/>
          </a:prstGeom>
        </p:spPr>
      </p:pic>
      <p:sp>
        <p:nvSpPr>
          <p:cNvPr id="10" name="Rounded Rectangle 9"/>
          <p:cNvSpPr/>
          <p:nvPr/>
        </p:nvSpPr>
        <p:spPr>
          <a:xfrm>
            <a:off x="530352" y="4693920"/>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821936"/>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812792"/>
            <a:ext cx="10564063" cy="1158240"/>
          </a:xfrm>
          <a:prstGeom prst="rect">
            <a:avLst/>
          </a:prstGeom>
          <a:noFill/>
        </p:spPr>
        <p:txBody>
          <a:bodyPr wrap="square" anchor="ctr" lIns="0" rIns="0" tIns="0" bIns="0">
            <a:spAutoFit/>
          </a:bodyPr>
          <a:lstStyle/>
          <a:p>
            <a:r>
              <a:rPr sz="1500" b="1">
                <a:solidFill>
                  <a:srgbClr val="5B3FD6"/>
                </a:solidFill>
                <a:latin typeface="Calibri"/>
              </a:rPr>
              <a:t>The answer is b. </a:t>
            </a:r>
            <a:r>
              <a:rPr sz="1500" b="0" i="0">
                <a:solidFill>
                  <a:srgbClr val="1A1440"/>
                </a:solidFill>
                <a:latin typeface="Calibri"/>
              </a:rPr>
              <a:t>Two elements carry the claim, the per-hour chart and sales per customer, and the festival fortnight stays as the caveat. Read as sentences: if the claim needs an element, it stays; if a named person will ask about it, it goes to that person's page; if neither, it leaves; and the caveat stays whatever else happens, because an owner who finds it in the drawer calls the slide dishonest.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5" name="Oval 14"/>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does the rest go?</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1" name="Oval 2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18 / 59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Two pages behind the slide take four elements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page takes each element that leaves, and what does the rule look like as code?</a:t>
            </a:r>
          </a:p>
        </p:txBody>
      </p:sp>
      <p:graphicFrame>
        <p:nvGraphicFramePr>
          <p:cNvPr id="9" name="Table 8"/>
          <p:cNvGraphicFramePr>
            <a:graphicFrameLocks noGrp="1"/>
          </p:cNvGraphicFramePr>
          <p:nvPr/>
        </p:nvGraphicFramePr>
        <p:xfrm>
          <a:off x="530352" y="1792224"/>
          <a:ext cx="11130990" cy="2574544"/>
        </p:xfrm>
        <a:graphic>
          <a:graphicData uri="http://schemas.openxmlformats.org/drawingml/2006/table">
            <a:tbl>
              <a:tblPr firstRow="0" bandRow="0">
                <a:tableStyleId>{2D5ABB26-0587-4C30-8999-92F81FD0307C}</a:tableStyleId>
              </a:tblPr>
              <a:tblGrid>
                <a:gridCol w="5565495"/>
                <a:gridCol w="5565495"/>
              </a:tblGrid>
              <a:tr h="369824">
                <a:tc>
                  <a:txBody>
                    <a:bodyPr/>
                    <a:lstStyle/>
                    <a:p>
                      <a:r>
                        <a:rPr sz="1450" b="1" i="0">
                          <a:solidFill>
                            <a:srgbClr val="FFFFFF"/>
                          </a:solidFill>
                          <a:latin typeface="Calibri"/>
                        </a:rPr>
                        <a:t>Where it goes</a:t>
                      </a:r>
                    </a:p>
                  </a:txBody>
                  <a:tcPr marL="101600" marR="101600" marT="38100" marB="38100" anchor="ctr">
                    <a:solidFill>
                      <a:srgbClr val="1A0F5C"/>
                    </a:solidFill>
                  </a:tcPr>
                </a:tc>
                <a:tc>
                  <a:txBody>
                    <a:bodyPr/>
                    <a:lstStyle/>
                    <a:p>
                      <a:r>
                        <a:rPr sz="1450" b="1" i="0">
                          <a:solidFill>
                            <a:srgbClr val="FFFFFF"/>
                          </a:solidFill>
                          <a:latin typeface="Calibri"/>
                        </a:rPr>
                        <a:t>Elements</a:t>
                      </a:r>
                    </a:p>
                  </a:txBody>
                  <a:tcPr marL="101600" marR="101600" marT="38100" marB="38100" anchor="ctr">
                    <a:solidFill>
                      <a:srgbClr val="1A0F5C"/>
                    </a:solidFill>
                  </a:tcPr>
                </a:tc>
              </a:tr>
              <a:tr h="611632">
                <a:tc>
                  <a:txBody>
                    <a:bodyPr/>
                    <a:lstStyle/>
                    <a:p>
                      <a:r>
                        <a:rPr sz="1400" b="0" i="0">
                          <a:solidFill>
                            <a:srgbClr val="1A1440"/>
                          </a:solidFill>
                          <a:latin typeface="Calibri"/>
                        </a:rPr>
                        <a:t>The slide</a:t>
                      </a:r>
                    </a:p>
                  </a:txBody>
                  <a:tcPr marL="101600" marR="101600" marT="38100" marB="38100" anchor="ctr">
                    <a:solidFill>
                      <a:srgbClr val="FFFFFF"/>
                    </a:solidFill>
                  </a:tcPr>
                </a:tc>
                <a:tc>
                  <a:txBody>
                    <a:bodyPr/>
                    <a:lstStyle/>
                    <a:p>
                      <a:r>
                        <a:rPr sz="1400" b="0" i="0">
                          <a:solidFill>
                            <a:srgbClr val="1A1440"/>
                          </a:solidFill>
                          <a:latin typeface="Calibri"/>
                        </a:rPr>
                        <a:t>The per-hour chart; sales per customer; the festival fortnight, as the caveat</a:t>
                      </a:r>
                    </a:p>
                  </a:txBody>
                  <a:tcPr marL="101600" marR="101600" marT="38100" marB="38100" anchor="ctr">
                    <a:solidFill>
                      <a:srgbClr val="FFFFFF"/>
                    </a:solidFill>
                  </a:tcPr>
                </a:tc>
              </a:tr>
              <a:tr h="369824">
                <a:tc>
                  <a:txBody>
                    <a:bodyPr/>
                    <a:lstStyle/>
                    <a:p>
                      <a:r>
                        <a:rPr sz="1400" b="0" i="0">
                          <a:solidFill>
                            <a:srgbClr val="1A1440"/>
                          </a:solidFill>
                          <a:latin typeface="Calibri"/>
                        </a:rPr>
                        <a:t>The son's page: did my extra hours bring customers?</a:t>
                      </a:r>
                    </a:p>
                  </a:txBody>
                  <a:tcPr marL="101600" marR="101600" marT="38100" marB="38100" anchor="ctr">
                    <a:solidFill>
                      <a:srgbClr val="F4F2FA"/>
                    </a:solidFill>
                  </a:tcPr>
                </a:tc>
                <a:tc>
                  <a:txBody>
                    <a:bodyPr/>
                    <a:lstStyle/>
                    <a:p>
                      <a:r>
                        <a:rPr sz="1400" b="0" i="0">
                          <a:solidFill>
                            <a:srgbClr val="1A1440"/>
                          </a:solidFill>
                          <a:latin typeface="Calibri"/>
                        </a:rPr>
                        <a:t>Customers a day; the son's hours at the counter</a:t>
                      </a:r>
                    </a:p>
                  </a:txBody>
                  <a:tcPr marL="101600" marR="101600" marT="38100" marB="38100" anchor="ctr">
                    <a:solidFill>
                      <a:srgbClr val="F4F2FA"/>
                    </a:solidFill>
                  </a:tcPr>
                </a:tc>
              </a:tr>
              <a:tr h="611632">
                <a:tc>
                  <a:txBody>
                    <a:bodyPr/>
                    <a:lstStyle/>
                    <a:p>
                      <a:r>
                        <a:rPr sz="1400" b="0" i="0">
                          <a:solidFill>
                            <a:srgbClr val="1A1440"/>
                          </a:solidFill>
                          <a:latin typeface="Calibri"/>
                        </a:rPr>
                        <a:t>The accounts page: what did the hours cost, and what did they bring?</a:t>
                      </a:r>
                    </a:p>
                  </a:txBody>
                  <a:tcPr marL="101600" marR="101600" marT="38100" marB="38100" anchor="ctr">
                    <a:solidFill>
                      <a:srgbClr val="FFFFFF"/>
                    </a:solidFill>
                  </a:tcPr>
                </a:tc>
                <a:tc>
                  <a:txBody>
                    <a:bodyPr/>
                    <a:lstStyle/>
                    <a:p>
                      <a:r>
                        <a:rPr sz="1400" b="0" i="0">
                          <a:solidFill>
                            <a:srgbClr val="1A1440"/>
                          </a:solidFill>
                          <a:latin typeface="Calibri"/>
                        </a:rPr>
                        <a:t>Total sales over four weeks; the helper's wage</a:t>
                      </a:r>
                    </a:p>
                  </a:txBody>
                  <a:tcPr marL="101600" marR="101600" marT="38100" marB="38100" anchor="ctr">
                    <a:solidFill>
                      <a:srgbClr val="FFFFFF"/>
                    </a:solidFill>
                  </a:tcPr>
                </a:tc>
              </a:tr>
              <a:tr h="611632">
                <a:tc>
                  <a:txBody>
                    <a:bodyPr/>
                    <a:lstStyle/>
                    <a:p>
                      <a:r>
                        <a:rPr sz="1400" b="0" i="0">
                          <a:solidFill>
                            <a:srgbClr val="1A1440"/>
                          </a:solidFill>
                          <a:latin typeface="Calibri"/>
                        </a:rPr>
                        <a:t>Nowhere: two in each month, so they explain none of the change, and nobody will ask</a:t>
                      </a:r>
                    </a:p>
                  </a:txBody>
                  <a:tcPr marL="101600" marR="101600" marT="38100" marB="38100" anchor="ctr">
                    <a:solidFill>
                      <a:srgbClr val="F4F2FA"/>
                    </a:solidFill>
                  </a:tcPr>
                </a:tc>
                <a:tc>
                  <a:txBody>
                    <a:bodyPr/>
                    <a:lstStyle/>
                    <a:p>
                      <a:r>
                        <a:rPr sz="1400" b="0" i="0">
                          <a:solidFill>
                            <a:srgbClr val="1A1440"/>
                          </a:solidFill>
                          <a:latin typeface="Calibri"/>
                        </a:rPr>
                        <a:t>Rain days</a:t>
                      </a:r>
                    </a:p>
                  </a:txBody>
                  <a:tcPr marL="101600" marR="101600" marT="38100" marB="38100" anchor="ctr">
                    <a:solidFill>
                      <a:srgbClr val="F4F2FA"/>
                    </a:solidFill>
                  </a:tcPr>
                </a:tc>
              </a:tr>
            </a:tbl>
          </a:graphicData>
        </a:graphic>
      </p:graphicFrame>
      <p:sp>
        <p:nvSpPr>
          <p:cNvPr id="10" name="Rounded Rectangle 9"/>
          <p:cNvSpPr/>
          <p:nvPr/>
        </p:nvSpPr>
        <p:spPr>
          <a:xfrm>
            <a:off x="530352" y="4622800"/>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13232" y="4750816"/>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68680" y="4750816"/>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1024128" y="4750816"/>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04671" y="4951984"/>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def route(e):</a:t>
            </a:r>
          </a:p>
          <a:p>
            <a:pPr>
              <a:spcAft>
                <a:spcPts val="200"/>
              </a:spcAft>
            </a:pPr>
            <a:r>
              <a:rPr sz="1400" b="0" i="0">
                <a:solidFill>
                  <a:srgbClr val="E4E1F1"/>
                </a:solidFill>
                <a:latin typeface="Consolas"/>
              </a:rPr>
              <a:t>    if e.is_caveat == "yes" or e.supports_claim == "yes":</a:t>
            </a:r>
          </a:p>
          <a:p>
            <a:pPr>
              <a:spcAft>
                <a:spcPts val="200"/>
              </a:spcAft>
            </a:pPr>
            <a:r>
              <a:rPr sz="1400" b="0" i="0">
                <a:solidFill>
                  <a:srgbClr val="E4E1F1"/>
                </a:solidFill>
                <a:latin typeface="Consolas"/>
              </a:rPr>
              <a:t>        return "the slide"</a:t>
            </a:r>
          </a:p>
          <a:p>
            <a:pPr>
              <a:spcAft>
                <a:spcPts val="200"/>
              </a:spcAft>
            </a:pPr>
            <a:r>
              <a:rPr sz="1400" b="0" i="0">
                <a:solidFill>
                  <a:srgbClr val="E4E1F1"/>
                </a:solidFill>
                <a:latin typeface="Consolas"/>
              </a:rPr>
              <a:t>    return e.whose_question + "'s page" if e.whose_question else "leaves"</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7" name="Oval 16"/>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does the rest go?</a:t>
            </a:r>
          </a:p>
        </p:txBody>
      </p:sp>
      <p:sp>
        <p:nvSpPr>
          <p:cNvPr id="19" name="Oval 18"/>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21" name="Oval 20"/>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3" name="Oval 22"/>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19 / 59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chart obeys the same rule: one line stays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much of the cluttered chart's ink carries the claim?</a:t>
            </a:r>
          </a:p>
        </p:txBody>
      </p:sp>
      <p:pic>
        <p:nvPicPr>
          <p:cNvPr id="9" name="mermaid diagram" descr="C2_W04_D02_kirana_makeover_STUDENT.png"/>
          <p:cNvPicPr>
            <a:picLocks noChangeAspect="1"/>
          </p:cNvPicPr>
          <p:nvPr/>
        </p:nvPicPr>
        <p:blipFill>
          <a:blip r:embed="rId4"/>
          <a:stretch>
            <a:fillRect/>
          </a:stretch>
        </p:blipFill>
        <p:spPr>
          <a:xfrm>
            <a:off x="2469829" y="1664208"/>
            <a:ext cx="7252037" cy="3319272"/>
          </a:xfrm>
          <a:prstGeom prst="rect">
            <a:avLst/>
          </a:prstGeom>
        </p:spPr>
      </p:pic>
      <p:sp>
        <p:nvSpPr>
          <p:cNvPr id="10" name="picture caption"/>
          <p:cNvSpPr txBox="1"/>
          <p:nvPr/>
        </p:nvSpPr>
        <p:spPr>
          <a:xfrm>
            <a:off x="530352" y="5020056"/>
            <a:ext cx="11130991" cy="316992"/>
          </a:xfrm>
          <a:prstGeom prst="rect">
            <a:avLst/>
          </a:prstGeom>
          <a:noFill/>
        </p:spPr>
        <p:txBody>
          <a:bodyPr wrap="square" anchor="t" lIns="0" rIns="0" tIns="0" bIns="0">
            <a:spAutoFit/>
          </a:bodyPr>
          <a:lstStyle/>
          <a:p>
            <a:pPr algn="ctr"/>
            <a:r>
              <a:rPr sz="1200" b="0" i="0">
                <a:solidFill>
                  <a:srgbClr val="6B6690"/>
                </a:solidFill>
                <a:latin typeface="Calibri"/>
              </a:rPr>
              <a:t>The shop's 56 invented days drawn cluttered, then as the one line that carries the claim</a:t>
            </a:r>
          </a:p>
        </p:txBody>
      </p:sp>
      <p:sp>
        <p:nvSpPr>
          <p:cNvPr id="11" name="TextBox 10"/>
          <p:cNvSpPr txBox="1"/>
          <p:nvPr/>
        </p:nvSpPr>
        <p:spPr>
          <a:xfrm>
            <a:off x="530352" y="5346192"/>
            <a:ext cx="11130991" cy="853440"/>
          </a:xfrm>
          <a:prstGeom prst="rect">
            <a:avLst/>
          </a:prstGeom>
          <a:noFill/>
        </p:spPr>
        <p:txBody>
          <a:bodyPr wrap="square" anchor="t" lIns="0" rIns="0" tIns="0" bIns="0">
            <a:spAutoFit/>
          </a:bodyPr>
          <a:lstStyle/>
          <a:p>
            <a:r>
              <a:rPr sz="1400" b="1" i="0">
                <a:solidFill>
                  <a:srgbClr val="1A1440"/>
                </a:solidFill>
                <a:latin typeface="Calibri"/>
              </a:rPr>
              <a:t>Five of the six series leave, with the legend, the gridlines and the border; one line stays, with four short labels that read it: the two months' averages, the change and the festival.</a:t>
            </a:r>
            <a:r>
              <a:rPr sz="1400" b="0" i="0">
                <a:solidFill>
                  <a:srgbClr val="1A1440"/>
                </a:solidFill>
                <a:latin typeface="Calibri"/>
              </a:rPr>
              <a:t> Storytelling with Data's declutter test asks of each element, "Is it adding any informative value? If the answer is no, then take it out!"</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4" name="Oval 13"/>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does the rest go?</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8" name="Oval 17"/>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0" name="Oval 19"/>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20 / 59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rules for what leaves the slide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should a learner keep from chapter 2, and where is it used next?</a:t>
            </a:r>
          </a:p>
        </p:txBody>
      </p:sp>
      <p:sp>
        <p:nvSpPr>
          <p:cNvPr id="9" name="TextBox 8"/>
          <p:cNvSpPr txBox="1"/>
          <p:nvPr/>
        </p:nvSpPr>
        <p:spPr>
          <a:xfrm>
            <a:off x="530352" y="1645920"/>
            <a:ext cx="502920" cy="333756"/>
          </a:xfrm>
          <a:prstGeom prst="rect">
            <a:avLst/>
          </a:prstGeom>
          <a:noFill/>
        </p:spPr>
        <p:txBody>
          <a:bodyPr wrap="square" anchor="t" lIns="0" rIns="0" tIns="0" bIns="0">
            <a:spAutoFit/>
          </a:bodyPr>
          <a:lstStyle/>
          <a:p>
            <a:pPr algn="l"/>
            <a:r>
              <a:rPr sz="1800" b="0" i="0">
                <a:solidFill>
                  <a:srgbClr val="5B3FD6"/>
                </a:solidFill>
                <a:latin typeface="Georgia"/>
              </a:rPr>
              <a:t>01</a:t>
            </a:r>
          </a:p>
        </p:txBody>
      </p:sp>
      <p:sp>
        <p:nvSpPr>
          <p:cNvPr id="10" name="TextBox 9"/>
          <p:cNvSpPr txBox="1"/>
          <p:nvPr/>
        </p:nvSpPr>
        <p:spPr>
          <a:xfrm>
            <a:off x="1097280" y="1682496"/>
            <a:ext cx="10564063" cy="368808"/>
          </a:xfrm>
          <a:prstGeom prst="rect">
            <a:avLst/>
          </a:prstGeom>
          <a:noFill/>
        </p:spPr>
        <p:txBody>
          <a:bodyPr wrap="square" anchor="t" lIns="0" rIns="0" tIns="0" bIns="0">
            <a:spAutoFit/>
          </a:bodyPr>
          <a:lstStyle/>
          <a:p>
            <a:r>
              <a:rPr sz="1500" b="0" i="0">
                <a:solidFill>
                  <a:srgbClr val="1A1440"/>
                </a:solidFill>
                <a:latin typeface="Calibri"/>
              </a:rPr>
              <a:t>An element stays only if the claim cannot stand without it.</a:t>
            </a:r>
          </a:p>
        </p:txBody>
      </p:sp>
      <p:sp>
        <p:nvSpPr>
          <p:cNvPr id="11" name="TextBox 10"/>
          <p:cNvSpPr txBox="1"/>
          <p:nvPr/>
        </p:nvSpPr>
        <p:spPr>
          <a:xfrm>
            <a:off x="530352" y="2087880"/>
            <a:ext cx="502920" cy="333756"/>
          </a:xfrm>
          <a:prstGeom prst="rect">
            <a:avLst/>
          </a:prstGeom>
          <a:noFill/>
        </p:spPr>
        <p:txBody>
          <a:bodyPr wrap="square" anchor="t" lIns="0" rIns="0" tIns="0" bIns="0">
            <a:spAutoFit/>
          </a:bodyPr>
          <a:lstStyle/>
          <a:p>
            <a:pPr algn="l"/>
            <a:r>
              <a:rPr sz="1800" b="0" i="0">
                <a:solidFill>
                  <a:srgbClr val="5B3FD6"/>
                </a:solidFill>
                <a:latin typeface="Georgia"/>
              </a:rPr>
              <a:t>02</a:t>
            </a:r>
          </a:p>
        </p:txBody>
      </p:sp>
      <p:sp>
        <p:nvSpPr>
          <p:cNvPr id="12" name="TextBox 11"/>
          <p:cNvSpPr txBox="1"/>
          <p:nvPr/>
        </p:nvSpPr>
        <p:spPr>
          <a:xfrm>
            <a:off x="1097280" y="2124456"/>
            <a:ext cx="10564063" cy="368808"/>
          </a:xfrm>
          <a:prstGeom prst="rect">
            <a:avLst/>
          </a:prstGeom>
          <a:noFill/>
        </p:spPr>
        <p:txBody>
          <a:bodyPr wrap="square" anchor="t" lIns="0" rIns="0" tIns="0" bIns="0">
            <a:spAutoFit/>
          </a:bodyPr>
          <a:lstStyle/>
          <a:p>
            <a:r>
              <a:rPr sz="1500" b="0" i="0">
                <a:solidFill>
                  <a:srgbClr val="1A1440"/>
                </a:solidFill>
                <a:latin typeface="Calibri"/>
              </a:rPr>
              <a:t>An element a named person will ask about goes to that person's page, headed by their question.</a:t>
            </a:r>
          </a:p>
        </p:txBody>
      </p:sp>
      <p:sp>
        <p:nvSpPr>
          <p:cNvPr id="13" name="TextBox 12"/>
          <p:cNvSpPr txBox="1"/>
          <p:nvPr/>
        </p:nvSpPr>
        <p:spPr>
          <a:xfrm>
            <a:off x="530352" y="2529840"/>
            <a:ext cx="502920" cy="333756"/>
          </a:xfrm>
          <a:prstGeom prst="rect">
            <a:avLst/>
          </a:prstGeom>
          <a:noFill/>
        </p:spPr>
        <p:txBody>
          <a:bodyPr wrap="square" anchor="t" lIns="0" rIns="0" tIns="0" bIns="0">
            <a:spAutoFit/>
          </a:bodyPr>
          <a:lstStyle/>
          <a:p>
            <a:pPr algn="l"/>
            <a:r>
              <a:rPr sz="1800" b="0" i="0">
                <a:solidFill>
                  <a:srgbClr val="5B3FD6"/>
                </a:solidFill>
                <a:latin typeface="Georgia"/>
              </a:rPr>
              <a:t>03</a:t>
            </a:r>
          </a:p>
        </p:txBody>
      </p:sp>
      <p:sp>
        <p:nvSpPr>
          <p:cNvPr id="14" name="TextBox 13"/>
          <p:cNvSpPr txBox="1"/>
          <p:nvPr/>
        </p:nvSpPr>
        <p:spPr>
          <a:xfrm>
            <a:off x="1097280" y="2566416"/>
            <a:ext cx="10564063" cy="368808"/>
          </a:xfrm>
          <a:prstGeom prst="rect">
            <a:avLst/>
          </a:prstGeom>
          <a:noFill/>
        </p:spPr>
        <p:txBody>
          <a:bodyPr wrap="square" anchor="t" lIns="0" rIns="0" tIns="0" bIns="0">
            <a:spAutoFit/>
          </a:bodyPr>
          <a:lstStyle/>
          <a:p>
            <a:r>
              <a:rPr sz="1500" b="0" i="0">
                <a:solidFill>
                  <a:srgbClr val="1A1440"/>
                </a:solidFill>
                <a:latin typeface="Calibri"/>
              </a:rPr>
              <a:t>An element nobody will ask about leaves.</a:t>
            </a:r>
          </a:p>
        </p:txBody>
      </p:sp>
      <p:sp>
        <p:nvSpPr>
          <p:cNvPr id="15" name="TextBox 14"/>
          <p:cNvSpPr txBox="1"/>
          <p:nvPr/>
        </p:nvSpPr>
        <p:spPr>
          <a:xfrm>
            <a:off x="530352" y="2971800"/>
            <a:ext cx="502920" cy="333756"/>
          </a:xfrm>
          <a:prstGeom prst="rect">
            <a:avLst/>
          </a:prstGeom>
          <a:noFill/>
        </p:spPr>
        <p:txBody>
          <a:bodyPr wrap="square" anchor="t" lIns="0" rIns="0" tIns="0" bIns="0">
            <a:spAutoFit/>
          </a:bodyPr>
          <a:lstStyle/>
          <a:p>
            <a:pPr algn="l"/>
            <a:r>
              <a:rPr sz="1800" b="0" i="0">
                <a:solidFill>
                  <a:srgbClr val="5B3FD6"/>
                </a:solidFill>
                <a:latin typeface="Georgia"/>
              </a:rPr>
              <a:t>04</a:t>
            </a:r>
          </a:p>
        </p:txBody>
      </p:sp>
      <p:sp>
        <p:nvSpPr>
          <p:cNvPr id="16" name="TextBox 15"/>
          <p:cNvSpPr txBox="1"/>
          <p:nvPr/>
        </p:nvSpPr>
        <p:spPr>
          <a:xfrm>
            <a:off x="1097280" y="3008376"/>
            <a:ext cx="10564063" cy="368808"/>
          </a:xfrm>
          <a:prstGeom prst="rect">
            <a:avLst/>
          </a:prstGeom>
          <a:noFill/>
        </p:spPr>
        <p:txBody>
          <a:bodyPr wrap="square" anchor="t" lIns="0" rIns="0" tIns="0" bIns="0">
            <a:spAutoFit/>
          </a:bodyPr>
          <a:lstStyle/>
          <a:p>
            <a:r>
              <a:rPr sz="1500" b="0" i="0">
                <a:solidFill>
                  <a:srgbClr val="1A1440"/>
                </a:solidFill>
                <a:latin typeface="Calibri"/>
              </a:rPr>
              <a:t>The caveat stays on the slide, even when the slide is crowded.</a:t>
            </a:r>
          </a:p>
        </p:txBody>
      </p:sp>
      <p:sp>
        <p:nvSpPr>
          <p:cNvPr id="17" name="Rounded Rectangle 16"/>
          <p:cNvSpPr/>
          <p:nvPr/>
        </p:nvSpPr>
        <p:spPr>
          <a:xfrm>
            <a:off x="530352" y="3560064"/>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376275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mic_caee7398c80d.png"/>
          <p:cNvPicPr>
            <a:picLocks noChangeAspect="1"/>
          </p:cNvPicPr>
          <p:nvPr/>
        </p:nvPicPr>
        <p:blipFill>
          <a:blip r:embed="rId5"/>
          <a:stretch>
            <a:fillRect/>
          </a:stretch>
        </p:blipFill>
        <p:spPr>
          <a:xfrm>
            <a:off x="868680" y="3872484"/>
            <a:ext cx="237744" cy="237744"/>
          </a:xfrm>
          <a:prstGeom prst="rect">
            <a:avLst/>
          </a:prstGeom>
        </p:spPr>
      </p:pic>
      <p:sp>
        <p:nvSpPr>
          <p:cNvPr id="20" name="TextBox 19"/>
          <p:cNvSpPr txBox="1"/>
          <p:nvPr/>
        </p:nvSpPr>
        <p:spPr>
          <a:xfrm>
            <a:off x="1399031" y="370636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1" name="TextBox 20"/>
          <p:cNvSpPr txBox="1"/>
          <p:nvPr/>
        </p:nvSpPr>
        <p:spPr>
          <a:xfrm>
            <a:off x="1399031" y="3925824"/>
            <a:ext cx="9987991" cy="423672"/>
          </a:xfrm>
          <a:prstGeom prst="rect">
            <a:avLst/>
          </a:prstGeom>
          <a:noFill/>
        </p:spPr>
        <p:txBody>
          <a:bodyPr wrap="square" anchor="t" lIns="0" rIns="0" tIns="0" bIns="0">
            <a:spAutoFit/>
          </a:bodyPr>
          <a:lstStyle/>
          <a:p>
            <a:r>
              <a:rPr sz="1500" b="0" i="0">
                <a:solidFill>
                  <a:srgbClr val="1A1440"/>
                </a:solidFill>
                <a:latin typeface="Calibri"/>
              </a:rPr>
              <a:t>[F] What do you leave off the slide, and where does it go?</a:t>
            </a:r>
          </a:p>
        </p:txBody>
      </p:sp>
      <p:pic>
        <p:nvPicPr>
          <p:cNvPr id="22" name="mermaid diagram" descr="18adbe11e297accf.png"/>
          <p:cNvPicPr>
            <a:picLocks noChangeAspect="1"/>
          </p:cNvPicPr>
          <p:nvPr/>
        </p:nvPicPr>
        <p:blipFill>
          <a:blip r:embed="rId6"/>
          <a:stretch>
            <a:fillRect/>
          </a:stretch>
        </p:blipFill>
        <p:spPr>
          <a:xfrm>
            <a:off x="3019899" y="4587240"/>
            <a:ext cx="6151895" cy="1612392"/>
          </a:xfrm>
          <a:prstGeom prst="rect">
            <a:avLst/>
          </a:prstGeom>
        </p:spPr>
      </p:pic>
      <p:sp>
        <p:nvSpPr>
          <p:cNvPr id="23" name="Oval 2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25" name="Oval 24"/>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does the rest go?</a:t>
            </a:r>
          </a:p>
        </p:txBody>
      </p:sp>
      <p:sp>
        <p:nvSpPr>
          <p:cNvPr id="27" name="Oval 2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29" name="Oval 2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31" name="Oval 3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21 / 59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542032"/>
            <a:ext cx="10673791" cy="350266"/>
          </a:xfrm>
          <a:prstGeom prst="rect">
            <a:avLst/>
          </a:prstGeom>
          <a:noFill/>
        </p:spPr>
        <p:txBody>
          <a:bodyPr wrap="square" anchor="t" lIns="0" rIns="0" tIns="0" bIns="0">
            <a:spAutoFit/>
          </a:bodyPr>
          <a:lstStyle/>
          <a:p>
            <a:pPr algn="l"/>
            <a:r>
              <a:rPr sz="1900" b="1" i="0">
                <a:solidFill>
                  <a:srgbClr val="D9A7FF"/>
                </a:solidFill>
                <a:latin typeface="Calibri"/>
              </a:rPr>
              <a:t>Defending under challenge: restate, answer, concede, what would change your mind</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How do you hold a claim?</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Defending under challenge, taught at Gulmohar Secondary School, invented for this chapter: an objection is usually partly right, and a defence that concedes its true part keeps the claim.</a:t>
            </a:r>
          </a:p>
        </p:txBody>
      </p:sp>
      <p:sp>
        <p:nvSpPr>
          <p:cNvPr id="11" name="Rounded Rectangle 10"/>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a slide carry?</a:t>
            </a:r>
          </a:p>
        </p:txBody>
      </p:sp>
      <p:sp>
        <p:nvSpPr>
          <p:cNvPr id="12" name="Rounded Rectangle 11"/>
          <p:cNvSpPr/>
          <p:nvPr/>
        </p:nvSpPr>
        <p:spPr>
          <a:xfrm>
            <a:off x="2628191"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does the rest go?</a:t>
            </a:r>
          </a:p>
        </p:txBody>
      </p:sp>
      <p:sp>
        <p:nvSpPr>
          <p:cNvPr id="13" name="Rounded Rectangle 12"/>
          <p:cNvSpPr/>
          <p:nvPr/>
        </p:nvSpPr>
        <p:spPr>
          <a:xfrm>
            <a:off x="4465646" y="5074920"/>
            <a:ext cx="178694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How do you hold a claim?</a:t>
            </a:r>
          </a:p>
        </p:txBody>
      </p:sp>
      <p:sp>
        <p:nvSpPr>
          <p:cNvPr id="14" name="Rounded Rectangle 13"/>
          <p:cNvSpPr/>
          <p:nvPr/>
        </p:nvSpPr>
        <p:spPr>
          <a:xfrm>
            <a:off x="6362318"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carries it?</a:t>
            </a:r>
          </a:p>
        </p:txBody>
      </p:sp>
      <p:sp>
        <p:nvSpPr>
          <p:cNvPr id="15" name="Rounded Rectangle 14"/>
          <p:cNvSpPr/>
          <p:nvPr/>
        </p:nvSpPr>
        <p:spPr>
          <a:xfrm>
            <a:off x="825898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objection holds?</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2. Stakeholder communication: one slide, five minutes, three people paid to disagree</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22 / 59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 objection is usually partly right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93979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67814"/>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58670"/>
            <a:ext cx="10564063" cy="358140"/>
          </a:xfrm>
          <a:prstGeom prst="rect">
            <a:avLst/>
          </a:prstGeom>
          <a:noFill/>
        </p:spPr>
        <p:txBody>
          <a:bodyPr wrap="square" anchor="ctr" lIns="0" rIns="0" tIns="0" bIns="0">
            <a:spAutoFit/>
          </a:bodyPr>
          <a:lstStyle/>
          <a:p>
            <a:r>
              <a:rPr sz="1500" b="1">
                <a:solidFill>
                  <a:srgbClr val="5B3FD6"/>
                </a:solidFill>
                <a:latin typeface="Calibri"/>
              </a:rPr>
              <a:t>The topic. </a:t>
            </a:r>
            <a:r>
              <a:rPr sz="1500" b="0" i="0">
                <a:solidFill>
                  <a:srgbClr val="1A1440"/>
                </a:solidFill>
                <a:latin typeface="Calibri"/>
              </a:rPr>
              <a:t>Defending under challenge: restate, answer, concede, what would change your mind.</a:t>
            </a:r>
          </a:p>
        </p:txBody>
      </p:sp>
      <p:sp>
        <p:nvSpPr>
          <p:cNvPr id="12" name="Rounded Rectangle 11"/>
          <p:cNvSpPr/>
          <p:nvPr/>
        </p:nvSpPr>
        <p:spPr>
          <a:xfrm>
            <a:off x="530352" y="2645410"/>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2773426"/>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2764282"/>
            <a:ext cx="10564063" cy="11582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A teacher at Gulmohar Secondary School (invented) who claims at a staff meeting that the new timetable raised attendance, and the headmaster, who decides whether the timetable stays. An </a:t>
            </a:r>
            <a:r>
              <a:rPr sz="1500" b="1" i="0">
                <a:solidFill>
                  <a:srgbClr val="1A1440"/>
                </a:solidFill>
                <a:latin typeface="Calibri"/>
              </a:rPr>
              <a:t>objection</a:t>
            </a:r>
            <a:r>
              <a:rPr sz="1500" b="0" i="0">
                <a:solidFill>
                  <a:srgbClr val="1A1440"/>
                </a:solidFill>
                <a:latin typeface="Calibri"/>
              </a:rPr>
              <a:t> is the reason a listener gives for not accepting a claim, usually built on a number the objector can see. To </a:t>
            </a:r>
            <a:r>
              <a:rPr sz="1500" b="1" i="0">
                <a:solidFill>
                  <a:srgbClr val="1A1440"/>
                </a:solidFill>
                <a:latin typeface="Calibri"/>
              </a:rPr>
              <a:t>concede</a:t>
            </a:r>
            <a:r>
              <a:rPr sz="1500" b="0" i="0">
                <a:solidFill>
                  <a:srgbClr val="1A1440"/>
                </a:solidFill>
                <a:latin typeface="Calibri"/>
              </a:rPr>
              <a:t> is to say its true part out loud.</a:t>
            </a:r>
          </a:p>
        </p:txBody>
      </p:sp>
      <p:sp>
        <p:nvSpPr>
          <p:cNvPr id="15" name="Rectangle 14"/>
          <p:cNvSpPr/>
          <p:nvPr/>
        </p:nvSpPr>
        <p:spPr>
          <a:xfrm>
            <a:off x="1853145" y="4718049"/>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15112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7" name="Oval 16"/>
          <p:cNvSpPr/>
          <p:nvPr/>
        </p:nvSpPr>
        <p:spPr>
          <a:xfrm>
            <a:off x="1752561" y="462660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5038089"/>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5184393"/>
            <a:ext cx="2316403" cy="251205"/>
          </a:xfrm>
          <a:prstGeom prst="rect">
            <a:avLst/>
          </a:prstGeom>
          <a:noFill/>
        </p:spPr>
        <p:txBody>
          <a:bodyPr wrap="square" anchor="t" lIns="0" rIns="0" tIns="0" bIns="0">
            <a:spAutoFit/>
          </a:bodyPr>
          <a:lstStyle/>
          <a:p>
            <a:pPr algn="l"/>
            <a:r>
              <a:rPr sz="1300" b="1" i="0">
                <a:solidFill>
                  <a:srgbClr val="1A0F5C"/>
                </a:solidFill>
                <a:latin typeface="Calibri"/>
              </a:rPr>
              <a:t>Which reply wins the room?</a:t>
            </a:r>
          </a:p>
        </p:txBody>
      </p:sp>
      <p:sp>
        <p:nvSpPr>
          <p:cNvPr id="20" name="TextBox 19"/>
          <p:cNvSpPr txBox="1"/>
          <p:nvPr/>
        </p:nvSpPr>
        <p:spPr>
          <a:xfrm>
            <a:off x="694944" y="5472176"/>
            <a:ext cx="2316403" cy="201676"/>
          </a:xfrm>
          <a:prstGeom prst="rect">
            <a:avLst/>
          </a:prstGeom>
          <a:noFill/>
        </p:spPr>
        <p:txBody>
          <a:bodyPr wrap="square" anchor="t" lIns="0" rIns="0" tIns="0" bIns="0">
            <a:spAutoFit/>
          </a:bodyPr>
          <a:lstStyle/>
          <a:p>
            <a:pPr algn="l"/>
            <a:r>
              <a:rPr sz="1000" b="0" i="0">
                <a:solidFill>
                  <a:srgbClr val="6B6690"/>
                </a:solidFill>
                <a:latin typeface="Calibri"/>
              </a:rPr>
              <a:t>Four replies to one objection.</a:t>
            </a:r>
          </a:p>
        </p:txBody>
      </p:sp>
      <p:sp>
        <p:nvSpPr>
          <p:cNvPr id="21" name="TextBox 20"/>
          <p:cNvSpPr txBox="1"/>
          <p:nvPr/>
        </p:nvSpPr>
        <p:spPr>
          <a:xfrm>
            <a:off x="3358819" y="415112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22" name="Oval 21"/>
          <p:cNvSpPr/>
          <p:nvPr/>
        </p:nvSpPr>
        <p:spPr>
          <a:xfrm>
            <a:off x="4581029" y="462660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5038089"/>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5184393"/>
            <a:ext cx="2316403" cy="465836"/>
          </a:xfrm>
          <a:prstGeom prst="rect">
            <a:avLst/>
          </a:prstGeom>
          <a:noFill/>
        </p:spPr>
        <p:txBody>
          <a:bodyPr wrap="square" anchor="t" lIns="0" rIns="0" tIns="0" bIns="0">
            <a:spAutoFit/>
          </a:bodyPr>
          <a:lstStyle/>
          <a:p>
            <a:pPr algn="l"/>
            <a:r>
              <a:rPr sz="1300" b="1" i="0">
                <a:solidFill>
                  <a:srgbClr val="1A0F5C"/>
                </a:solidFill>
                <a:latin typeface="Calibri"/>
              </a:rPr>
              <a:t>Which part of the objection is true?</a:t>
            </a:r>
          </a:p>
        </p:txBody>
      </p:sp>
      <p:sp>
        <p:nvSpPr>
          <p:cNvPr id="25" name="TextBox 24"/>
          <p:cNvSpPr txBox="1"/>
          <p:nvPr/>
        </p:nvSpPr>
        <p:spPr>
          <a:xfrm>
            <a:off x="3523411" y="5686805"/>
            <a:ext cx="2316403" cy="201676"/>
          </a:xfrm>
          <a:prstGeom prst="rect">
            <a:avLst/>
          </a:prstGeom>
          <a:noFill/>
        </p:spPr>
        <p:txBody>
          <a:bodyPr wrap="square" anchor="t" lIns="0" rIns="0" tIns="0" bIns="0">
            <a:spAutoFit/>
          </a:bodyPr>
          <a:lstStyle/>
          <a:p>
            <a:pPr algn="l"/>
            <a:r>
              <a:rPr sz="1000" b="0" i="0">
                <a:solidFill>
                  <a:srgbClr val="6B6690"/>
                </a:solidFill>
                <a:latin typeface="Calibri"/>
              </a:rPr>
              <a:t>Counted on two years of weeks.</a:t>
            </a:r>
          </a:p>
        </p:txBody>
      </p:sp>
      <p:sp>
        <p:nvSpPr>
          <p:cNvPr id="26" name="TextBox 25"/>
          <p:cNvSpPr txBox="1"/>
          <p:nvPr/>
        </p:nvSpPr>
        <p:spPr>
          <a:xfrm>
            <a:off x="6187287" y="415112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7" name="Oval 26"/>
          <p:cNvSpPr/>
          <p:nvPr/>
        </p:nvSpPr>
        <p:spPr>
          <a:xfrm>
            <a:off x="7409497" y="462660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5038089"/>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5184393"/>
            <a:ext cx="2316403" cy="465836"/>
          </a:xfrm>
          <a:prstGeom prst="rect">
            <a:avLst/>
          </a:prstGeom>
          <a:noFill/>
        </p:spPr>
        <p:txBody>
          <a:bodyPr wrap="square" anchor="t" lIns="0" rIns="0" tIns="0" bIns="0">
            <a:spAutoFit/>
          </a:bodyPr>
          <a:lstStyle/>
          <a:p>
            <a:pPr algn="l"/>
            <a:r>
              <a:rPr sz="1300" b="1" i="0">
                <a:solidFill>
                  <a:srgbClr val="1A0F5C"/>
                </a:solidFill>
                <a:latin typeface="Calibri"/>
              </a:rPr>
              <a:t>Which evidence answers the rest?</a:t>
            </a:r>
          </a:p>
        </p:txBody>
      </p:sp>
      <p:sp>
        <p:nvSpPr>
          <p:cNvPr id="30" name="TextBox 29"/>
          <p:cNvSpPr txBox="1"/>
          <p:nvPr/>
        </p:nvSpPr>
        <p:spPr>
          <a:xfrm>
            <a:off x="6351879" y="5686805"/>
            <a:ext cx="2316403" cy="201676"/>
          </a:xfrm>
          <a:prstGeom prst="rect">
            <a:avLst/>
          </a:prstGeom>
          <a:noFill/>
        </p:spPr>
        <p:txBody>
          <a:bodyPr wrap="square" anchor="t" lIns="0" rIns="0" tIns="0" bIns="0">
            <a:spAutoFit/>
          </a:bodyPr>
          <a:lstStyle/>
          <a:p>
            <a:pPr algn="l"/>
            <a:r>
              <a:rPr sz="1000" b="0" i="0">
                <a:solidFill>
                  <a:srgbClr val="6B6690"/>
                </a:solidFill>
                <a:latin typeface="Calibri"/>
              </a:rPr>
              <a:t>The weeks before any exam.</a:t>
            </a:r>
          </a:p>
        </p:txBody>
      </p:sp>
      <p:sp>
        <p:nvSpPr>
          <p:cNvPr id="31" name="TextBox 30"/>
          <p:cNvSpPr txBox="1"/>
          <p:nvPr/>
        </p:nvSpPr>
        <p:spPr>
          <a:xfrm>
            <a:off x="9015755" y="415112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32" name="Oval 31"/>
          <p:cNvSpPr/>
          <p:nvPr/>
        </p:nvSpPr>
        <p:spPr>
          <a:xfrm>
            <a:off x="10237965" y="462660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5038089"/>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5184393"/>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would change the teacher's mind?</a:t>
            </a:r>
          </a:p>
        </p:txBody>
      </p:sp>
      <p:sp>
        <p:nvSpPr>
          <p:cNvPr id="35" name="TextBox 34"/>
          <p:cNvSpPr txBox="1"/>
          <p:nvPr/>
        </p:nvSpPr>
        <p:spPr>
          <a:xfrm>
            <a:off x="9180347" y="5686805"/>
            <a:ext cx="2316403" cy="201676"/>
          </a:xfrm>
          <a:prstGeom prst="rect">
            <a:avLst/>
          </a:prstGeom>
          <a:noFill/>
        </p:spPr>
        <p:txBody>
          <a:bodyPr wrap="square" anchor="t" lIns="0" rIns="0" tIns="0" bIns="0">
            <a:spAutoFit/>
          </a:bodyPr>
          <a:lstStyle/>
          <a:p>
            <a:pPr algn="l"/>
            <a:r>
              <a:rPr sz="1000" b="0" i="0">
                <a:solidFill>
                  <a:srgbClr val="6B6690"/>
                </a:solidFill>
                <a:latin typeface="Calibri"/>
              </a:rPr>
              <a:t>A fact that can be checked.</a:t>
            </a:r>
          </a:p>
        </p:txBody>
      </p:sp>
      <p:sp>
        <p:nvSpPr>
          <p:cNvPr id="36" name="Oval 3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38" name="Oval 3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40" name="Oval 39"/>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do you hold a claim?</a:t>
            </a:r>
          </a:p>
        </p:txBody>
      </p:sp>
      <p:sp>
        <p:nvSpPr>
          <p:cNvPr id="42" name="Oval 41"/>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44" name="Oval 43"/>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46" name="TextBox 4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23 / 59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reply wins the headmaster?</a:t>
            </a:r>
          </a:p>
        </p:txBody>
      </p:sp>
      <p:sp>
        <p:nvSpPr>
          <p:cNvPr id="8" name="TextBox 7"/>
          <p:cNvSpPr txBox="1"/>
          <p:nvPr/>
        </p:nvSpPr>
        <p:spPr>
          <a:xfrm>
            <a:off x="530352" y="1243584"/>
            <a:ext cx="11130991" cy="399796"/>
          </a:xfrm>
          <a:prstGeom prst="rect">
            <a:avLst/>
          </a:prstGeom>
          <a:noFill/>
        </p:spPr>
        <p:txBody>
          <a:bodyPr wrap="square" anchor="t" lIns="0" rIns="0" tIns="0" bIns="0">
            <a:spAutoFit/>
          </a:bodyPr>
          <a:lstStyle/>
          <a:p>
            <a:pPr algn="l"/>
            <a:r>
              <a:rPr sz="1100" b="0" i="0">
                <a:solidFill>
                  <a:srgbClr val="6B6690"/>
                </a:solidFill>
                <a:latin typeface="Calibri"/>
              </a:rPr>
              <a:t>The teacher says the new timetable, from week 3, raised attendance (invented). The sports teacher objects: "Attendance rose because the exams began." Which reply wins?</a:t>
            </a:r>
          </a:p>
        </p:txBody>
      </p:sp>
      <p:sp>
        <p:nvSpPr>
          <p:cNvPr id="9" name="TextBox 8"/>
          <p:cNvSpPr txBox="1"/>
          <p:nvPr/>
        </p:nvSpPr>
        <p:spPr>
          <a:xfrm>
            <a:off x="530352" y="1956816"/>
            <a:ext cx="11130991" cy="231648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The numbers again, louder: attendance rose 12.8 points this term, from 76.5 to 89.3 percent</a:t>
            </a:r>
          </a:p>
          <a:p>
            <a:pPr>
              <a:spcAft>
                <a:spcPts val="800"/>
              </a:spcAft>
            </a:pPr>
            <a:r>
              <a:rPr sz="1600" b="0" i="0">
                <a:solidFill>
                  <a:srgbClr val="1A1440"/>
                </a:solidFill>
                <a:latin typeface="Calibri"/>
              </a:rPr>
              <a:t>b) Withdraw the claim until next term</a:t>
            </a:r>
          </a:p>
          <a:p>
            <a:pPr>
              <a:spcAft>
                <a:spcPts val="800"/>
              </a:spcAft>
            </a:pPr>
            <a:r>
              <a:rPr sz="1600" b="0" i="0">
                <a:solidFill>
                  <a:srgbClr val="1A1440"/>
                </a:solidFill>
                <a:latin typeface="Calibri"/>
              </a:rPr>
              <a:t>c) Agree that exam weeks run higher, show that the rise began before the exams, and name what would change your mind</a:t>
            </a:r>
          </a:p>
          <a:p>
            <a:pPr>
              <a:spcAft>
                <a:spcPts val="800"/>
              </a:spcAft>
            </a:pPr>
            <a:r>
              <a:rPr sz="1600" b="0" i="0">
                <a:solidFill>
                  <a:srgbClr val="1A1440"/>
                </a:solidFill>
                <a:latin typeface="Calibri"/>
              </a:rPr>
              <a:t>d) Ask for another term of data before anyone decides</a:t>
            </a:r>
          </a:p>
          <a:p>
            <a:pPr>
              <a:spcAft>
                <a:spcPts val="800"/>
              </a:spcAft>
            </a:pPr>
            <a:r>
              <a:rPr sz="1600" b="1" i="0">
                <a:solidFill>
                  <a:srgbClr val="1A1440"/>
                </a:solidFill>
                <a:latin typeface="Calibri"/>
              </a:rPr>
              <a:t>Vote, two minutes with a neighbour, then vote again.</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4" name="Oval 13"/>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do you hold a claim?</a:t>
            </a:r>
          </a:p>
        </p:txBody>
      </p:sp>
      <p:sp>
        <p:nvSpPr>
          <p:cNvPr id="16" name="Oval 15"/>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18" name="Oval 17"/>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24 / 59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 concede the exams and keep weeks 3 to 5</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part of the objection is true, and which line of evidence answers the rest?</a:t>
            </a:r>
          </a:p>
        </p:txBody>
      </p:sp>
      <p:graphicFrame>
        <p:nvGraphicFramePr>
          <p:cNvPr id="9" name="Table 8"/>
          <p:cNvGraphicFramePr>
            <a:graphicFrameLocks noGrp="1"/>
          </p:cNvGraphicFramePr>
          <p:nvPr/>
        </p:nvGraphicFramePr>
        <p:xfrm>
          <a:off x="530352" y="1956816"/>
          <a:ext cx="11130991" cy="1005840"/>
        </p:xfrm>
        <a:graphic>
          <a:graphicData uri="http://schemas.openxmlformats.org/drawingml/2006/table">
            <a:tbl>
              <a:tblPr firstRow="0" bandRow="0">
                <a:tableStyleId>{2D5ABB26-0587-4C30-8999-92F81FD0307C}</a:tableStyleId>
              </a:tblPr>
              <a:tblGrid>
                <a:gridCol w="3815791"/>
                <a:gridCol w="914400"/>
                <a:gridCol w="914400"/>
                <a:gridCol w="914400"/>
                <a:gridCol w="914400"/>
                <a:gridCol w="914400"/>
                <a:gridCol w="914400"/>
                <a:gridCol w="914400"/>
                <a:gridCol w="914400"/>
              </a:tblGrid>
              <a:tr h="335280">
                <a:tc>
                  <a:txBody>
                    <a:bodyPr/>
                    <a:lstStyle/>
                    <a:p>
                      <a:r>
                        <a:rPr sz="1250" b="1" i="0">
                          <a:solidFill>
                            <a:srgbClr val="FFFFFF"/>
                          </a:solidFill>
                          <a:latin typeface="Calibri"/>
                        </a:rPr>
                        <a:t>Week (invented)</a:t>
                      </a:r>
                    </a:p>
                  </a:txBody>
                  <a:tcPr marL="101600" marR="101600" marT="38100" marB="38100" anchor="ctr">
                    <a:solidFill>
                      <a:srgbClr val="1A0F5C"/>
                    </a:solidFill>
                  </a:tcPr>
                </a:tc>
                <a:tc>
                  <a:txBody>
                    <a:bodyPr/>
                    <a:lstStyle/>
                    <a:p>
                      <a:r>
                        <a:rPr sz="1250" b="1" i="0">
                          <a:solidFill>
                            <a:srgbClr val="FFFFFF"/>
                          </a:solidFill>
                          <a:latin typeface="Calibri"/>
                        </a:rPr>
                        <a:t>1</a:t>
                      </a:r>
                    </a:p>
                  </a:txBody>
                  <a:tcPr marL="101600" marR="101600" marT="38100" marB="38100" anchor="ctr">
                    <a:solidFill>
                      <a:srgbClr val="1A0F5C"/>
                    </a:solidFill>
                  </a:tcPr>
                </a:tc>
                <a:tc>
                  <a:txBody>
                    <a:bodyPr/>
                    <a:lstStyle/>
                    <a:p>
                      <a:r>
                        <a:rPr sz="1250" b="1" i="0">
                          <a:solidFill>
                            <a:srgbClr val="FFFFFF"/>
                          </a:solidFill>
                          <a:latin typeface="Calibri"/>
                        </a:rPr>
                        <a:t>2</a:t>
                      </a:r>
                    </a:p>
                  </a:txBody>
                  <a:tcPr marL="101600" marR="101600" marT="38100" marB="38100" anchor="ctr">
                    <a:solidFill>
                      <a:srgbClr val="1A0F5C"/>
                    </a:solidFill>
                  </a:tcPr>
                </a:tc>
                <a:tc>
                  <a:txBody>
                    <a:bodyPr/>
                    <a:lstStyle/>
                    <a:p>
                      <a:r>
                        <a:rPr sz="1250" b="1" i="0">
                          <a:solidFill>
                            <a:srgbClr val="FFFFFF"/>
                          </a:solidFill>
                          <a:latin typeface="Calibri"/>
                        </a:rPr>
                        <a:t>3</a:t>
                      </a:r>
                    </a:p>
                  </a:txBody>
                  <a:tcPr marL="101600" marR="101600" marT="38100" marB="38100" anchor="ctr">
                    <a:solidFill>
                      <a:srgbClr val="1A0F5C"/>
                    </a:solidFill>
                  </a:tcPr>
                </a:tc>
                <a:tc>
                  <a:txBody>
                    <a:bodyPr/>
                    <a:lstStyle/>
                    <a:p>
                      <a:r>
                        <a:rPr sz="1250" b="1" i="0">
                          <a:solidFill>
                            <a:srgbClr val="FFFFFF"/>
                          </a:solidFill>
                          <a:latin typeface="Calibri"/>
                        </a:rPr>
                        <a:t>4</a:t>
                      </a:r>
                    </a:p>
                  </a:txBody>
                  <a:tcPr marL="101600" marR="101600" marT="38100" marB="38100" anchor="ctr">
                    <a:solidFill>
                      <a:srgbClr val="1A0F5C"/>
                    </a:solidFill>
                  </a:tcPr>
                </a:tc>
                <a:tc>
                  <a:txBody>
                    <a:bodyPr/>
                    <a:lstStyle/>
                    <a:p>
                      <a:r>
                        <a:rPr sz="1250" b="1" i="0">
                          <a:solidFill>
                            <a:srgbClr val="FFFFFF"/>
                          </a:solidFill>
                          <a:latin typeface="Calibri"/>
                        </a:rPr>
                        <a:t>5</a:t>
                      </a:r>
                    </a:p>
                  </a:txBody>
                  <a:tcPr marL="101600" marR="101600" marT="38100" marB="38100" anchor="ctr">
                    <a:solidFill>
                      <a:srgbClr val="1A0F5C"/>
                    </a:solidFill>
                  </a:tcPr>
                </a:tc>
                <a:tc>
                  <a:txBody>
                    <a:bodyPr/>
                    <a:lstStyle/>
                    <a:p>
                      <a:r>
                        <a:rPr sz="1250" b="1" i="0">
                          <a:solidFill>
                            <a:srgbClr val="FFFFFF"/>
                          </a:solidFill>
                          <a:latin typeface="Calibri"/>
                        </a:rPr>
                        <a:t>6</a:t>
                      </a:r>
                    </a:p>
                  </a:txBody>
                  <a:tcPr marL="101600" marR="101600" marT="38100" marB="38100" anchor="ctr">
                    <a:solidFill>
                      <a:srgbClr val="1A0F5C"/>
                    </a:solidFill>
                  </a:tcPr>
                </a:tc>
                <a:tc>
                  <a:txBody>
                    <a:bodyPr/>
                    <a:lstStyle/>
                    <a:p>
                      <a:r>
                        <a:rPr sz="1250" b="1" i="0">
                          <a:solidFill>
                            <a:srgbClr val="FFFFFF"/>
                          </a:solidFill>
                          <a:latin typeface="Calibri"/>
                        </a:rPr>
                        <a:t>7</a:t>
                      </a:r>
                    </a:p>
                  </a:txBody>
                  <a:tcPr marL="101600" marR="101600" marT="38100" marB="38100" anchor="ctr">
                    <a:solidFill>
                      <a:srgbClr val="1A0F5C"/>
                    </a:solidFill>
                  </a:tcPr>
                </a:tc>
                <a:tc>
                  <a:txBody>
                    <a:bodyPr/>
                    <a:lstStyle/>
                    <a:p>
                      <a:r>
                        <a:rPr sz="1250" b="1" i="0">
                          <a:solidFill>
                            <a:srgbClr val="FFFFFF"/>
                          </a:solidFill>
                          <a:latin typeface="Calibri"/>
                        </a:rPr>
                        <a:t>8</a:t>
                      </a:r>
                    </a:p>
                  </a:txBody>
                  <a:tcPr marL="101600" marR="101600" marT="38100" marB="38100" anchor="ctr">
                    <a:solidFill>
                      <a:srgbClr val="1A0F5C"/>
                    </a:solidFill>
                  </a:tcPr>
                </a:tc>
              </a:tr>
              <a:tr h="335280">
                <a:tc>
                  <a:txBody>
                    <a:bodyPr/>
                    <a:lstStyle/>
                    <a:p>
                      <a:r>
                        <a:rPr sz="1200" b="0" i="0">
                          <a:solidFill>
                            <a:srgbClr val="1A1440"/>
                          </a:solidFill>
                          <a:latin typeface="Calibri"/>
                        </a:rPr>
                        <a:t>Last year, percent</a:t>
                      </a:r>
                    </a:p>
                  </a:txBody>
                  <a:tcPr marL="101600" marR="101600" marT="38100" marB="38100" anchor="ctr">
                    <a:solidFill>
                      <a:srgbClr val="FFFFFF"/>
                    </a:solidFill>
                  </a:tcPr>
                </a:tc>
                <a:tc>
                  <a:txBody>
                    <a:bodyPr/>
                    <a:lstStyle/>
                    <a:p>
                      <a:r>
                        <a:rPr sz="1200" b="0" i="0">
                          <a:solidFill>
                            <a:srgbClr val="1A1440"/>
                          </a:solidFill>
                          <a:latin typeface="Calibri"/>
                        </a:rPr>
                        <a:t>76</a:t>
                      </a:r>
                    </a:p>
                  </a:txBody>
                  <a:tcPr marL="101600" marR="101600" marT="38100" marB="38100" anchor="ctr">
                    <a:solidFill>
                      <a:srgbClr val="FFFFFF"/>
                    </a:solidFill>
                  </a:tcPr>
                </a:tc>
                <a:tc>
                  <a:txBody>
                    <a:bodyPr/>
                    <a:lstStyle/>
                    <a:p>
                      <a:r>
                        <a:rPr sz="1200" b="0" i="0">
                          <a:solidFill>
                            <a:srgbClr val="1A1440"/>
                          </a:solidFill>
                          <a:latin typeface="Calibri"/>
                        </a:rPr>
                        <a:t>77</a:t>
                      </a:r>
                    </a:p>
                  </a:txBody>
                  <a:tcPr marL="101600" marR="101600" marT="38100" marB="38100" anchor="ctr">
                    <a:solidFill>
                      <a:srgbClr val="FFFFFF"/>
                    </a:solidFill>
                  </a:tcPr>
                </a:tc>
                <a:tc>
                  <a:txBody>
                    <a:bodyPr/>
                    <a:lstStyle/>
                    <a:p>
                      <a:r>
                        <a:rPr sz="1200" b="0" i="0">
                          <a:solidFill>
                            <a:srgbClr val="1A1440"/>
                          </a:solidFill>
                          <a:latin typeface="Calibri"/>
                        </a:rPr>
                        <a:t>76</a:t>
                      </a:r>
                    </a:p>
                  </a:txBody>
                  <a:tcPr marL="101600" marR="101600" marT="38100" marB="38100" anchor="ctr">
                    <a:solidFill>
                      <a:srgbClr val="FFFFFF"/>
                    </a:solidFill>
                  </a:tcPr>
                </a:tc>
                <a:tc>
                  <a:txBody>
                    <a:bodyPr/>
                    <a:lstStyle/>
                    <a:p>
                      <a:r>
                        <a:rPr sz="1200" b="0" i="0">
                          <a:solidFill>
                            <a:srgbClr val="1A1440"/>
                          </a:solidFill>
                          <a:latin typeface="Calibri"/>
                        </a:rPr>
                        <a:t>77</a:t>
                      </a:r>
                    </a:p>
                  </a:txBody>
                  <a:tcPr marL="101600" marR="101600" marT="38100" marB="38100" anchor="ctr">
                    <a:solidFill>
                      <a:srgbClr val="FFFFFF"/>
                    </a:solidFill>
                  </a:tcPr>
                </a:tc>
                <a:tc>
                  <a:txBody>
                    <a:bodyPr/>
                    <a:lstStyle/>
                    <a:p>
                      <a:r>
                        <a:rPr sz="1200" b="0" i="0">
                          <a:solidFill>
                            <a:srgbClr val="1A1440"/>
                          </a:solidFill>
                          <a:latin typeface="Calibri"/>
                        </a:rPr>
                        <a:t>77</a:t>
                      </a:r>
                    </a:p>
                  </a:txBody>
                  <a:tcPr marL="101600" marR="101600" marT="38100" marB="38100" anchor="ctr">
                    <a:solidFill>
                      <a:srgbClr val="FFFFFF"/>
                    </a:solidFill>
                  </a:tcPr>
                </a:tc>
                <a:tc>
                  <a:txBody>
                    <a:bodyPr/>
                    <a:lstStyle/>
                    <a:p>
                      <a:r>
                        <a:rPr sz="1200" b="0" i="0">
                          <a:solidFill>
                            <a:srgbClr val="1A1440"/>
                          </a:solidFill>
                          <a:latin typeface="Calibri"/>
                        </a:rPr>
                        <a:t>85</a:t>
                      </a:r>
                    </a:p>
                  </a:txBody>
                  <a:tcPr marL="101600" marR="101600" marT="38100" marB="38100" anchor="ctr">
                    <a:solidFill>
                      <a:srgbClr val="FFFFFF"/>
                    </a:solidFill>
                  </a:tcPr>
                </a:tc>
                <a:tc>
                  <a:txBody>
                    <a:bodyPr/>
                    <a:lstStyle/>
                    <a:p>
                      <a:r>
                        <a:rPr sz="1200" b="0" i="0">
                          <a:solidFill>
                            <a:srgbClr val="1A1440"/>
                          </a:solidFill>
                          <a:latin typeface="Calibri"/>
                        </a:rPr>
                        <a:t>85</a:t>
                      </a:r>
                    </a:p>
                  </a:txBody>
                  <a:tcPr marL="101600" marR="101600" marT="38100" marB="38100" anchor="ctr">
                    <a:solidFill>
                      <a:srgbClr val="FFFFFF"/>
                    </a:solidFill>
                  </a:tcPr>
                </a:tc>
                <a:tc>
                  <a:txBody>
                    <a:bodyPr/>
                    <a:lstStyle/>
                    <a:p>
                      <a:r>
                        <a:rPr sz="1200" b="0" i="0">
                          <a:solidFill>
                            <a:srgbClr val="1A1440"/>
                          </a:solidFill>
                          <a:latin typeface="Calibri"/>
                        </a:rPr>
                        <a:t>85</a:t>
                      </a:r>
                    </a:p>
                  </a:txBody>
                  <a:tcPr marL="101600" marR="101600" marT="38100" marB="38100" anchor="ctr">
                    <a:solidFill>
                      <a:srgbClr val="FFFFFF"/>
                    </a:solidFill>
                  </a:tcPr>
                </a:tc>
              </a:tr>
              <a:tr h="335280">
                <a:tc>
                  <a:txBody>
                    <a:bodyPr/>
                    <a:lstStyle/>
                    <a:p>
                      <a:r>
                        <a:rPr sz="1200" b="0" i="0">
                          <a:solidFill>
                            <a:srgbClr val="1A1440"/>
                          </a:solidFill>
                          <a:latin typeface="Calibri"/>
                        </a:rPr>
                        <a:t>This year, percent</a:t>
                      </a:r>
                    </a:p>
                  </a:txBody>
                  <a:tcPr marL="101600" marR="101600" marT="38100" marB="38100" anchor="ctr">
                    <a:solidFill>
                      <a:srgbClr val="F4F2FA"/>
                    </a:solidFill>
                  </a:tcPr>
                </a:tc>
                <a:tc>
                  <a:txBody>
                    <a:bodyPr/>
                    <a:lstStyle/>
                    <a:p>
                      <a:r>
                        <a:rPr sz="1200" b="0" i="0">
                          <a:solidFill>
                            <a:srgbClr val="1A1440"/>
                          </a:solidFill>
                          <a:latin typeface="Calibri"/>
                        </a:rPr>
                        <a:t>77</a:t>
                      </a:r>
                    </a:p>
                  </a:txBody>
                  <a:tcPr marL="101600" marR="101600" marT="38100" marB="38100" anchor="ctr">
                    <a:solidFill>
                      <a:srgbClr val="F4F2FA"/>
                    </a:solidFill>
                  </a:tcPr>
                </a:tc>
                <a:tc>
                  <a:txBody>
                    <a:bodyPr/>
                    <a:lstStyle/>
                    <a:p>
                      <a:r>
                        <a:rPr sz="1200" b="0" i="0">
                          <a:solidFill>
                            <a:srgbClr val="1A1440"/>
                          </a:solidFill>
                          <a:latin typeface="Calibri"/>
                        </a:rPr>
                        <a:t>76</a:t>
                      </a:r>
                    </a:p>
                  </a:txBody>
                  <a:tcPr marL="101600" marR="101600" marT="38100" marB="38100" anchor="ctr">
                    <a:solidFill>
                      <a:srgbClr val="F4F2FA"/>
                    </a:solidFill>
                  </a:tcPr>
                </a:tc>
                <a:tc>
                  <a:txBody>
                    <a:bodyPr/>
                    <a:lstStyle/>
                    <a:p>
                      <a:r>
                        <a:rPr sz="1200" b="0" i="0">
                          <a:solidFill>
                            <a:srgbClr val="1A1440"/>
                          </a:solidFill>
                          <a:latin typeface="Calibri"/>
                        </a:rPr>
                        <a:t>81</a:t>
                      </a:r>
                    </a:p>
                  </a:txBody>
                  <a:tcPr marL="101600" marR="101600" marT="38100" marB="38100" anchor="ctr">
                    <a:solidFill>
                      <a:srgbClr val="F4F2FA"/>
                    </a:solidFill>
                  </a:tcPr>
                </a:tc>
                <a:tc>
                  <a:txBody>
                    <a:bodyPr/>
                    <a:lstStyle/>
                    <a:p>
                      <a:r>
                        <a:rPr sz="1200" b="0" i="0">
                          <a:solidFill>
                            <a:srgbClr val="1A1440"/>
                          </a:solidFill>
                          <a:latin typeface="Calibri"/>
                        </a:rPr>
                        <a:t>82</a:t>
                      </a:r>
                    </a:p>
                  </a:txBody>
                  <a:tcPr marL="101600" marR="101600" marT="38100" marB="38100" anchor="ctr">
                    <a:solidFill>
                      <a:srgbClr val="F4F2FA"/>
                    </a:solidFill>
                  </a:tcPr>
                </a:tc>
                <a:tc>
                  <a:txBody>
                    <a:bodyPr/>
                    <a:lstStyle/>
                    <a:p>
                      <a:r>
                        <a:rPr sz="1200" b="0" i="0">
                          <a:solidFill>
                            <a:srgbClr val="1A1440"/>
                          </a:solidFill>
                          <a:latin typeface="Calibri"/>
                        </a:rPr>
                        <a:t>81</a:t>
                      </a:r>
                    </a:p>
                  </a:txBody>
                  <a:tcPr marL="101600" marR="101600" marT="38100" marB="38100" anchor="ctr">
                    <a:solidFill>
                      <a:srgbClr val="F4F2FA"/>
                    </a:solidFill>
                  </a:tcPr>
                </a:tc>
                <a:tc>
                  <a:txBody>
                    <a:bodyPr/>
                    <a:lstStyle/>
                    <a:p>
                      <a:r>
                        <a:rPr sz="1200" b="0" i="0">
                          <a:solidFill>
                            <a:srgbClr val="1A1440"/>
                          </a:solidFill>
                          <a:latin typeface="Calibri"/>
                        </a:rPr>
                        <a:t>89</a:t>
                      </a:r>
                    </a:p>
                  </a:txBody>
                  <a:tcPr marL="101600" marR="101600" marT="38100" marB="38100" anchor="ctr">
                    <a:solidFill>
                      <a:srgbClr val="F4F2FA"/>
                    </a:solidFill>
                  </a:tcPr>
                </a:tc>
                <a:tc>
                  <a:txBody>
                    <a:bodyPr/>
                    <a:lstStyle/>
                    <a:p>
                      <a:r>
                        <a:rPr sz="1200" b="0" i="0">
                          <a:solidFill>
                            <a:srgbClr val="1A1440"/>
                          </a:solidFill>
                          <a:latin typeface="Calibri"/>
                        </a:rPr>
                        <a:t>90</a:t>
                      </a:r>
                    </a:p>
                  </a:txBody>
                  <a:tcPr marL="101600" marR="101600" marT="38100" marB="38100" anchor="ctr">
                    <a:solidFill>
                      <a:srgbClr val="F4F2FA"/>
                    </a:solidFill>
                  </a:tcPr>
                </a:tc>
                <a:tc>
                  <a:txBody>
                    <a:bodyPr/>
                    <a:lstStyle/>
                    <a:p>
                      <a:r>
                        <a:rPr sz="1200" b="0" i="0">
                          <a:solidFill>
                            <a:srgbClr val="1A1440"/>
                          </a:solidFill>
                          <a:latin typeface="Calibri"/>
                        </a:rPr>
                        <a:t>89</a:t>
                      </a:r>
                    </a:p>
                  </a:txBody>
                  <a:tcPr marL="101600" marR="101600" marT="38100" marB="38100" anchor="ctr">
                    <a:solidFill>
                      <a:srgbClr val="F4F2FA"/>
                    </a:solidFill>
                  </a:tcPr>
                </a:tc>
              </a:tr>
            </a:tbl>
          </a:graphicData>
        </a:graphic>
      </p:graphicFrame>
      <p:sp>
        <p:nvSpPr>
          <p:cNvPr id="10" name="TextBox 9"/>
          <p:cNvSpPr txBox="1"/>
          <p:nvPr/>
        </p:nvSpPr>
        <p:spPr>
          <a:xfrm>
            <a:off x="530352" y="3218688"/>
            <a:ext cx="11130991" cy="1601216"/>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new timetable began in week 3 this year; exams ran in weeks 6 to 8 in both years. </a:t>
            </a:r>
            <a:r>
              <a:rPr sz="1600" b="1" i="0">
                <a:solidFill>
                  <a:srgbClr val="1A1440"/>
                </a:solidFill>
                <a:latin typeface="Calibri"/>
              </a:rPr>
              <a:t>The true part:</a:t>
            </a:r>
            <a:r>
              <a:rPr sz="1600" b="0" i="0">
                <a:solidFill>
                  <a:srgbClr val="1A1440"/>
                </a:solidFill>
                <a:latin typeface="Calibri"/>
              </a:rPr>
              <a:t> the exam weeks run about 8 points above the three weeks before them in both years, 8.3 last year and 8.0 this year. </a:t>
            </a:r>
            <a:r>
              <a:rPr sz="1600" b="1" i="0">
                <a:solidFill>
                  <a:srgbClr val="1A1440"/>
                </a:solidFill>
                <a:latin typeface="Calibri"/>
              </a:rPr>
              <a:t>The rest:</a:t>
            </a:r>
            <a:r>
              <a:rPr sz="1600" b="0" i="0">
                <a:solidFill>
                  <a:srgbClr val="1A1440"/>
                </a:solidFill>
                <a:latin typeface="Calibri"/>
              </a:rPr>
              <a:t> weeks 3 to 5 this year sit 4 to 5 points above the same weeks last year, before any exam, 4.7 on average. </a:t>
            </a:r>
            <a:r>
              <a:rPr sz="1600" b="1" i="0">
                <a:solidFill>
                  <a:srgbClr val="1A1440"/>
                </a:solidFill>
                <a:latin typeface="Calibri"/>
              </a:rPr>
              <a:t>The answer is c.</a:t>
            </a:r>
            <a:r>
              <a:rPr sz="1600" b="0" i="0">
                <a:solidFill>
                  <a:srgbClr val="1A1440"/>
                </a:solidFill>
                <a:latin typeface="Calibri"/>
              </a:rPr>
              <a:t> a repeats the claim and concedes nothing; b and d retreat from evidence the teacher already holds.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5" name="Oval 14"/>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do you hold a claim?</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19" name="Oval 1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25 / 59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rise began in week 3, before any exam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picture show that the objection missed?</a:t>
            </a:r>
          </a:p>
        </p:txBody>
      </p:sp>
      <p:pic>
        <p:nvPicPr>
          <p:cNvPr id="9" name="mermaid diagram" descr="C2_W04_D02_school_two_years_STUDENT.png"/>
          <p:cNvPicPr>
            <a:picLocks noChangeAspect="1"/>
          </p:cNvPicPr>
          <p:nvPr/>
        </p:nvPicPr>
        <p:blipFill>
          <a:blip r:embed="rId4"/>
          <a:stretch>
            <a:fillRect/>
          </a:stretch>
        </p:blipFill>
        <p:spPr>
          <a:xfrm>
            <a:off x="3027570" y="1664208"/>
            <a:ext cx="6136554" cy="3491992"/>
          </a:xfrm>
          <a:prstGeom prst="rect">
            <a:avLst/>
          </a:prstGeom>
        </p:spPr>
      </p:pic>
      <p:sp>
        <p:nvSpPr>
          <p:cNvPr id="10" name="picture caption"/>
          <p:cNvSpPr txBox="1"/>
          <p:nvPr/>
        </p:nvSpPr>
        <p:spPr>
          <a:xfrm>
            <a:off x="530352" y="5192776"/>
            <a:ext cx="11130991" cy="316992"/>
          </a:xfrm>
          <a:prstGeom prst="rect">
            <a:avLst/>
          </a:prstGeom>
          <a:noFill/>
        </p:spPr>
        <p:txBody>
          <a:bodyPr wrap="square" anchor="t" lIns="0" rIns="0" tIns="0" bIns="0">
            <a:spAutoFit/>
          </a:bodyPr>
          <a:lstStyle/>
          <a:p>
            <a:pPr algn="ctr"/>
            <a:r>
              <a:rPr sz="1200" b="0" i="0">
                <a:solidFill>
                  <a:srgbClr val="6B6690"/>
                </a:solidFill>
                <a:latin typeface="Calibri"/>
              </a:rPr>
              <a:t>Gulmohar Secondary School's attendance over two years, the new timetable and the exams marked, invented</a:t>
            </a:r>
          </a:p>
        </p:txBody>
      </p:sp>
      <p:sp>
        <p:nvSpPr>
          <p:cNvPr id="11" name="TextBox 10"/>
          <p:cNvSpPr txBox="1"/>
          <p:nvPr/>
        </p:nvSpPr>
        <p:spPr>
          <a:xfrm>
            <a:off x="530352" y="5518912"/>
            <a:ext cx="11130991" cy="680720"/>
          </a:xfrm>
          <a:prstGeom prst="rect">
            <a:avLst/>
          </a:prstGeom>
          <a:noFill/>
        </p:spPr>
        <p:txBody>
          <a:bodyPr wrap="square" anchor="t" lIns="0" rIns="0" tIns="0" bIns="0">
            <a:spAutoFit/>
          </a:bodyPr>
          <a:lstStyle/>
          <a:p>
            <a:r>
              <a:rPr sz="1600" b="1" i="0">
                <a:solidFill>
                  <a:srgbClr val="1A1440"/>
                </a:solidFill>
                <a:latin typeface="Calibri"/>
              </a:rPr>
              <a:t>The two lines agree where nothing changed and part where the timetable did.</a:t>
            </a:r>
            <a:r>
              <a:rPr sz="1600" b="0" i="0">
                <a:solidFill>
                  <a:srgbClr val="1A1440"/>
                </a:solidFill>
                <a:latin typeface="Calibri"/>
              </a:rPr>
              <a:t> Weeks 1 and 2 match; the exam weeks lift both years by about 8 points; only this year's line rises from week 3.</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6" name="Oval 15"/>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do you hold a claim?</a:t>
            </a:r>
          </a:p>
        </p:txBody>
      </p:sp>
      <p:sp>
        <p:nvSpPr>
          <p:cNvPr id="18" name="Oval 17"/>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0" name="Oval 19"/>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26 / 59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defence runs in four moves, worked here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complete defence of the sports teacher's objection sound like, on the school's invented numbers?</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MOVE 1</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Restate</a:t>
            </a:r>
          </a:p>
        </p:txBody>
      </p:sp>
      <p:sp>
        <p:nvSpPr>
          <p:cNvPr id="14" name="TextBox 13"/>
          <p:cNvSpPr txBox="1"/>
          <p:nvPr/>
        </p:nvSpPr>
        <p:spPr>
          <a:xfrm>
            <a:off x="694944" y="3277870"/>
            <a:ext cx="2316403" cy="531876"/>
          </a:xfrm>
          <a:prstGeom prst="rect">
            <a:avLst/>
          </a:prstGeom>
          <a:noFill/>
        </p:spPr>
        <p:txBody>
          <a:bodyPr wrap="square" anchor="t" lIns="0" rIns="0" tIns="0" bIns="0">
            <a:spAutoFit/>
          </a:bodyPr>
          <a:lstStyle/>
          <a:p>
            <a:pPr algn="l"/>
            <a:r>
              <a:rPr sz="1000" b="0" i="0">
                <a:solidFill>
                  <a:srgbClr val="6B6690"/>
                </a:solidFill>
                <a:latin typeface="Calibri"/>
              </a:rPr>
              <a:t>"You are saying attendance rose because the exams began, so the timetable may have done nothing."</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MOVE 2</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Answer</a:t>
            </a:r>
          </a:p>
        </p:txBody>
      </p:sp>
      <p:sp>
        <p:nvSpPr>
          <p:cNvPr id="19" name="TextBox 18"/>
          <p:cNvSpPr txBox="1"/>
          <p:nvPr/>
        </p:nvSpPr>
        <p:spPr>
          <a:xfrm>
            <a:off x="3523411" y="3277870"/>
            <a:ext cx="2316403" cy="531876"/>
          </a:xfrm>
          <a:prstGeom prst="rect">
            <a:avLst/>
          </a:prstGeom>
          <a:noFill/>
        </p:spPr>
        <p:txBody>
          <a:bodyPr wrap="square" anchor="t" lIns="0" rIns="0" tIns="0" bIns="0">
            <a:spAutoFit/>
          </a:bodyPr>
          <a:lstStyle/>
          <a:p>
            <a:pPr algn="l"/>
            <a:r>
              <a:rPr sz="1000" b="0" i="0">
                <a:solidFill>
                  <a:srgbClr val="6B6690"/>
                </a:solidFill>
                <a:latin typeface="Calibri"/>
              </a:rPr>
              <a:t>"Weeks 3 to 5 this year sit 4 to 5 points above last year's same weeks, before any exam."</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MOVE 3</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Concede</a:t>
            </a:r>
          </a:p>
        </p:txBody>
      </p:sp>
      <p:sp>
        <p:nvSpPr>
          <p:cNvPr id="24" name="TextBox 23"/>
          <p:cNvSpPr txBox="1"/>
          <p:nvPr/>
        </p:nvSpPr>
        <p:spPr>
          <a:xfrm>
            <a:off x="6351879" y="3277870"/>
            <a:ext cx="2316403" cy="531876"/>
          </a:xfrm>
          <a:prstGeom prst="rect">
            <a:avLst/>
          </a:prstGeom>
          <a:noFill/>
        </p:spPr>
        <p:txBody>
          <a:bodyPr wrap="square" anchor="t" lIns="0" rIns="0" tIns="0" bIns="0">
            <a:spAutoFit/>
          </a:bodyPr>
          <a:lstStyle/>
          <a:p>
            <a:pPr algn="l"/>
            <a:r>
              <a:rPr sz="1000" b="0" i="0">
                <a:solidFill>
                  <a:srgbClr val="6B6690"/>
                </a:solidFill>
                <a:latin typeface="Calibri"/>
              </a:rPr>
              <a:t>"You are right that exam weeks run about 8 points higher; they did in both years."</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MOVE 4</a:t>
            </a:r>
          </a:p>
        </p:txBody>
      </p:sp>
      <p:sp>
        <p:nvSpPr>
          <p:cNvPr id="26" name="Oval 25"/>
          <p:cNvSpPr/>
          <p:nvPr/>
        </p:nvSpPr>
        <p:spPr>
          <a:xfrm>
            <a:off x="10237965"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42240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FFFFFF"/>
                </a:solidFill>
                <a:latin typeface="Calibri"/>
              </a:rPr>
              <a:t>Change my mind</a:t>
            </a:r>
          </a:p>
        </p:txBody>
      </p:sp>
      <p:sp>
        <p:nvSpPr>
          <p:cNvPr id="29" name="TextBox 28"/>
          <p:cNvSpPr txBox="1"/>
          <p:nvPr/>
        </p:nvSpPr>
        <p:spPr>
          <a:xfrm>
            <a:off x="9180347" y="3277870"/>
            <a:ext cx="2316403" cy="696976"/>
          </a:xfrm>
          <a:prstGeom prst="rect">
            <a:avLst/>
          </a:prstGeom>
          <a:noFill/>
        </p:spPr>
        <p:txBody>
          <a:bodyPr wrap="square" anchor="t" lIns="0" rIns="0" tIns="0" bIns="0">
            <a:spAutoFit/>
          </a:bodyPr>
          <a:lstStyle/>
          <a:p>
            <a:pPr algn="l"/>
            <a:r>
              <a:rPr sz="1000" b="0" i="0">
                <a:solidFill>
                  <a:srgbClr val="CFC9EE"/>
                </a:solidFill>
                <a:latin typeface="Calibri"/>
              </a:rPr>
              <a:t>"If a school with the same exams and the old timetable showed the same rise in weeks 3 to 5, I would drop the claim."</a:t>
            </a:r>
          </a:p>
        </p:txBody>
      </p:sp>
      <p:sp>
        <p:nvSpPr>
          <p:cNvPr id="30" name="TextBox 29"/>
          <p:cNvSpPr txBox="1"/>
          <p:nvPr/>
        </p:nvSpPr>
        <p:spPr>
          <a:xfrm>
            <a:off x="530352" y="4449064"/>
            <a:ext cx="11130991" cy="1048512"/>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These are the four moves: restate, answer, concede, what would change your mind.</a:t>
            </a:r>
            <a:r>
              <a:rPr sz="1600" b="0" i="0">
                <a:solidFill>
                  <a:srgbClr val="1A1440"/>
                </a:solidFill>
                <a:latin typeface="Calibri"/>
              </a:rPr>
              <a:t> Restating comes first because the objector has to agree with your version before any answer lands; Rapoport's rules, the philosopher Daniel Dennett's guide to criticising an argument fairly, open the same way.</a:t>
            </a:r>
          </a:p>
        </p:txBody>
      </p:sp>
      <p:sp>
        <p:nvSpPr>
          <p:cNvPr id="31" name="Oval 3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33" name="Oval 3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35" name="Oval 34"/>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do you hold a claim?</a:t>
            </a:r>
          </a:p>
        </p:txBody>
      </p:sp>
      <p:sp>
        <p:nvSpPr>
          <p:cNvPr id="37" name="Oval 3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39" name="Oval 3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41" name="TextBox 4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27 / 59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defence fails by overclaiming or retreating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two defences lose the room, and what does each cost the school?</a:t>
            </a:r>
          </a:p>
        </p:txBody>
      </p:sp>
      <p:graphicFrame>
        <p:nvGraphicFramePr>
          <p:cNvPr id="9" name="Table 8"/>
          <p:cNvGraphicFramePr>
            <a:graphicFrameLocks noGrp="1"/>
          </p:cNvGraphicFramePr>
          <p:nvPr/>
        </p:nvGraphicFramePr>
        <p:xfrm>
          <a:off x="530352" y="1956816"/>
          <a:ext cx="11130990" cy="1834896"/>
        </p:xfrm>
        <a:graphic>
          <a:graphicData uri="http://schemas.openxmlformats.org/drawingml/2006/table">
            <a:tbl>
              <a:tblPr firstRow="0" bandRow="0">
                <a:tableStyleId>{2D5ABB26-0587-4C30-8999-92F81FD0307C}</a:tableStyleId>
              </a:tblPr>
              <a:tblGrid>
                <a:gridCol w="2383010"/>
                <a:gridCol w="3842736"/>
                <a:gridCol w="4905244"/>
              </a:tblGrid>
              <a:tr h="369824">
                <a:tc>
                  <a:txBody>
                    <a:bodyPr/>
                    <a:lstStyle/>
                    <a:p>
                      <a:r>
                        <a:rPr sz="1450" b="1" i="0">
                          <a:solidFill>
                            <a:srgbClr val="FFFFFF"/>
                          </a:solidFill>
                          <a:latin typeface="Calibri"/>
                        </a:rPr>
                        <a:t>The failure</a:t>
                      </a:r>
                    </a:p>
                  </a:txBody>
                  <a:tcPr marL="101600" marR="101600" marT="38100" marB="38100" anchor="ctr">
                    <a:solidFill>
                      <a:srgbClr val="1A0F5C"/>
                    </a:solidFill>
                  </a:tcPr>
                </a:tc>
                <a:tc>
                  <a:txBody>
                    <a:bodyPr/>
                    <a:lstStyle/>
                    <a:p>
                      <a:r>
                        <a:rPr sz="1450" b="1" i="0">
                          <a:solidFill>
                            <a:srgbClr val="FFFFFF"/>
                          </a:solidFill>
                          <a:latin typeface="Calibri"/>
                        </a:rPr>
                        <a:t>What it sounds like</a:t>
                      </a:r>
                    </a:p>
                  </a:txBody>
                  <a:tcPr marL="101600" marR="101600" marT="38100" marB="38100" anchor="ctr">
                    <a:solidFill>
                      <a:srgbClr val="1A0F5C"/>
                    </a:solidFill>
                  </a:tcPr>
                </a:tc>
                <a:tc>
                  <a:txBody>
                    <a:bodyPr/>
                    <a:lstStyle/>
                    <a:p>
                      <a:r>
                        <a:rPr sz="1450" b="1" i="0">
                          <a:solidFill>
                            <a:srgbClr val="FFFFFF"/>
                          </a:solidFill>
                          <a:latin typeface="Calibri"/>
                        </a:rPr>
                        <a:t>What it costs the school</a:t>
                      </a:r>
                    </a:p>
                  </a:txBody>
                  <a:tcPr marL="101600" marR="101600" marT="38100" marB="38100" anchor="ctr">
                    <a:solidFill>
                      <a:srgbClr val="1A0F5C"/>
                    </a:solidFill>
                  </a:tcPr>
                </a:tc>
              </a:tr>
              <a:tr h="853440">
                <a:tc>
                  <a:txBody>
                    <a:bodyPr/>
                    <a:lstStyle/>
                    <a:p>
                      <a:r>
                        <a:rPr sz="1400" b="0" i="0">
                          <a:solidFill>
                            <a:srgbClr val="1A1440"/>
                          </a:solidFill>
                          <a:latin typeface="Calibri"/>
                        </a:rPr>
                        <a:t>Overclaim: concede nothing</a:t>
                      </a:r>
                    </a:p>
                  </a:txBody>
                  <a:tcPr marL="101600" marR="101600" marT="38100" marB="38100" anchor="ctr">
                    <a:solidFill>
                      <a:srgbClr val="FFFFFF"/>
                    </a:solidFill>
                  </a:tcPr>
                </a:tc>
                <a:tc>
                  <a:txBody>
                    <a:bodyPr/>
                    <a:lstStyle/>
                    <a:p>
                      <a:r>
                        <a:rPr sz="1400" b="0" i="0">
                          <a:solidFill>
                            <a:srgbClr val="1A1440"/>
                          </a:solidFill>
                          <a:latin typeface="Calibri"/>
                        </a:rPr>
                        <a:t>"Exams are irrelevant; the timetable did it."</a:t>
                      </a:r>
                    </a:p>
                  </a:txBody>
                  <a:tcPr marL="101600" marR="101600" marT="38100" marB="38100" anchor="ctr">
                    <a:solidFill>
                      <a:srgbClr val="FFFFFF"/>
                    </a:solidFill>
                  </a:tcPr>
                </a:tc>
                <a:tc>
                  <a:txBody>
                    <a:bodyPr/>
                    <a:lstStyle/>
                    <a:p>
                      <a:r>
                        <a:rPr sz="1400" b="0" i="0">
                          <a:solidFill>
                            <a:srgbClr val="1A1440"/>
                          </a:solidFill>
                          <a:latin typeface="Calibri"/>
                        </a:rPr>
                        <a:t>The headmaster hears a claim repeated louder, and the sports teacher, partly right, turns the staff room against the timetable</a:t>
                      </a:r>
                    </a:p>
                  </a:txBody>
                  <a:tcPr marL="101600" marR="101600" marT="38100" marB="38100" anchor="ctr">
                    <a:solidFill>
                      <a:srgbClr val="FFFFFF"/>
                    </a:solidFill>
                  </a:tcPr>
                </a:tc>
              </a:tr>
              <a:tr h="611632">
                <a:tc>
                  <a:txBody>
                    <a:bodyPr/>
                    <a:lstStyle/>
                    <a:p>
                      <a:r>
                        <a:rPr sz="1400" b="0" i="0">
                          <a:solidFill>
                            <a:srgbClr val="1A1440"/>
                          </a:solidFill>
                          <a:latin typeface="Calibri"/>
                        </a:rPr>
                        <a:t>Retreat: concede everything</a:t>
                      </a:r>
                    </a:p>
                  </a:txBody>
                  <a:tcPr marL="101600" marR="101600" marT="38100" marB="38100" anchor="ctr">
                    <a:solidFill>
                      <a:srgbClr val="F4F2FA"/>
                    </a:solidFill>
                  </a:tcPr>
                </a:tc>
                <a:tc>
                  <a:txBody>
                    <a:bodyPr/>
                    <a:lstStyle/>
                    <a:p>
                      <a:r>
                        <a:rPr sz="1400" b="0" i="0">
                          <a:solidFill>
                            <a:srgbClr val="1A1440"/>
                          </a:solidFill>
                          <a:latin typeface="Calibri"/>
                        </a:rPr>
                        <a:t>"You may be right; let us wait a term."</a:t>
                      </a:r>
                    </a:p>
                  </a:txBody>
                  <a:tcPr marL="101600" marR="101600" marT="38100" marB="38100" anchor="ctr">
                    <a:solidFill>
                      <a:srgbClr val="F4F2FA"/>
                    </a:solidFill>
                  </a:tcPr>
                </a:tc>
                <a:tc>
                  <a:txBody>
                    <a:bodyPr/>
                    <a:lstStyle/>
                    <a:p>
                      <a:r>
                        <a:rPr sz="1400" b="0" i="0">
                          <a:solidFill>
                            <a:srgbClr val="1A1440"/>
                          </a:solidFill>
                          <a:latin typeface="Calibri"/>
                        </a:rPr>
                        <a:t>A term of the old timetable, with the evidence for the new one never heard</a:t>
                      </a:r>
                    </a:p>
                  </a:txBody>
                  <a:tcPr marL="101600" marR="101600" marT="38100" marB="38100" anchor="ctr">
                    <a:solidFill>
                      <a:srgbClr val="F4F2FA"/>
                    </a:solidFill>
                  </a:tcPr>
                </a:tc>
              </a:tr>
            </a:tbl>
          </a:graphicData>
        </a:graphic>
      </p:graphicFrame>
      <p:sp>
        <p:nvSpPr>
          <p:cNvPr id="10" name="Rounded Rectangle 9"/>
          <p:cNvSpPr/>
          <p:nvPr/>
        </p:nvSpPr>
        <p:spPr>
          <a:xfrm>
            <a:off x="530352" y="4047744"/>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175760"/>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166616"/>
            <a:ext cx="10564063" cy="8915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Did the reply name the true part and the line of evidence, in that order? </a:t>
            </a:r>
            <a:r>
              <a:rPr sz="1500" b="1" i="0">
                <a:solidFill>
                  <a:srgbClr val="1A1440"/>
                </a:solidFill>
                <a:latin typeface="Calibri"/>
              </a:rPr>
              <a:t>When the objector runs the meeting,</a:t>
            </a:r>
            <a:r>
              <a:rPr sz="1500" b="0" i="0">
                <a:solidFill>
                  <a:srgbClr val="1A1440"/>
                </a:solidFill>
                <a:latin typeface="Calibri"/>
              </a:rPr>
              <a:t> concede the true part first, keep their visible number on the page, and agree the test and the result that decides it before the meeting.</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7" name="Oval 16"/>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do you hold a claim?</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1" name="Oval 2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28 / 59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concession and the answer, in four lines of code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two numbers does the defence stand on, computed from the invented table?</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w = att.pivot(index="week", columns="year", values="attendance_pct")</a:t>
            </a:r>
          </a:p>
          <a:p>
            <a:pPr>
              <a:spcAft>
                <a:spcPts val="200"/>
              </a:spcAft>
            </a:pPr>
            <a:r>
              <a:rPr sz="1400" b="0" i="0">
                <a:solidFill>
                  <a:srgbClr val="E4E1F1"/>
                </a:solidFill>
                <a:latin typeface="Consolas"/>
              </a:rPr>
              <a:t>exam_lift = w.loc[6:8].mean() - w.loc[3:5].mean()     # 8.3 last year, 8.0 this year</a:t>
            </a:r>
          </a:p>
          <a:p>
            <a:pPr>
              <a:spcAft>
                <a:spcPts val="200"/>
              </a:spcAft>
            </a:pPr>
            <a:r>
              <a:rPr sz="1400" b="0" i="0">
                <a:solidFill>
                  <a:srgbClr val="E4E1F1"/>
                </a:solidFill>
                <a:latin typeface="Consolas"/>
              </a:rPr>
              <a:t>early = w.loc[3:5].mean()                             # weeks 3 to 5, both years</a:t>
            </a:r>
          </a:p>
          <a:p>
            <a:pPr>
              <a:spcAft>
                <a:spcPts val="200"/>
              </a:spcAft>
            </a:pPr>
            <a:r>
              <a:rPr sz="1400" b="0" i="0">
                <a:solidFill>
                  <a:srgbClr val="E4E1F1"/>
                </a:solidFill>
                <a:latin typeface="Consolas"/>
              </a:rPr>
              <a:t>rise = early["this year"] - early["last year"]        # 4.7 points, before any exam</a:t>
            </a:r>
          </a:p>
        </p:txBody>
      </p:sp>
      <p:sp>
        <p:nvSpPr>
          <p:cNvPr id="14" name="TextBox 13"/>
          <p:cNvSpPr txBox="1"/>
          <p:nvPr/>
        </p:nvSpPr>
        <p:spPr>
          <a:xfrm>
            <a:off x="530352" y="3588512"/>
            <a:ext cx="11130991" cy="772160"/>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The concession carries one number and the answer carries another.</a:t>
            </a:r>
            <a:r>
              <a:rPr sz="1600" b="0" i="0">
                <a:solidFill>
                  <a:srgbClr val="1A1440"/>
                </a:solidFill>
                <a:latin typeface="Calibri"/>
              </a:rPr>
              <a:t> Exams lift both years by about 8 points; the timetable's weeks sit 4.7 points above last year's before any exam.</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9" name="Oval 18"/>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do you hold a claim?</a:t>
            </a:r>
          </a:p>
        </p:txBody>
      </p:sp>
      <p:sp>
        <p:nvSpPr>
          <p:cNvPr id="21" name="Oval 20"/>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3" name="Oval 22"/>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29 / 59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rules for holding a claim under challenge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should a learner keep from chapter 3, and where is it used next?</a:t>
            </a:r>
          </a:p>
        </p:txBody>
      </p:sp>
      <p:sp>
        <p:nvSpPr>
          <p:cNvPr id="9" name="TextBox 8"/>
          <p:cNvSpPr txBox="1"/>
          <p:nvPr/>
        </p:nvSpPr>
        <p:spPr>
          <a:xfrm>
            <a:off x="530352" y="1645920"/>
            <a:ext cx="502920" cy="333756"/>
          </a:xfrm>
          <a:prstGeom prst="rect">
            <a:avLst/>
          </a:prstGeom>
          <a:noFill/>
        </p:spPr>
        <p:txBody>
          <a:bodyPr wrap="square" anchor="t" lIns="0" rIns="0" tIns="0" bIns="0">
            <a:spAutoFit/>
          </a:bodyPr>
          <a:lstStyle/>
          <a:p>
            <a:pPr algn="l"/>
            <a:r>
              <a:rPr sz="1800" b="0" i="0">
                <a:solidFill>
                  <a:srgbClr val="5B3FD6"/>
                </a:solidFill>
                <a:latin typeface="Georgia"/>
              </a:rPr>
              <a:t>01</a:t>
            </a:r>
          </a:p>
        </p:txBody>
      </p:sp>
      <p:sp>
        <p:nvSpPr>
          <p:cNvPr id="10" name="TextBox 9"/>
          <p:cNvSpPr txBox="1"/>
          <p:nvPr/>
        </p:nvSpPr>
        <p:spPr>
          <a:xfrm>
            <a:off x="1097280" y="1682496"/>
            <a:ext cx="10564063" cy="368808"/>
          </a:xfrm>
          <a:prstGeom prst="rect">
            <a:avLst/>
          </a:prstGeom>
          <a:noFill/>
        </p:spPr>
        <p:txBody>
          <a:bodyPr wrap="square" anchor="t" lIns="0" rIns="0" tIns="0" bIns="0">
            <a:spAutoFit/>
          </a:bodyPr>
          <a:lstStyle/>
          <a:p>
            <a:r>
              <a:rPr sz="1500" b="0" i="0">
                <a:solidFill>
                  <a:srgbClr val="1A1440"/>
                </a:solidFill>
                <a:latin typeface="Calibri"/>
              </a:rPr>
              <a:t>Restate the objection until its owner agrees with your version.</a:t>
            </a:r>
          </a:p>
        </p:txBody>
      </p:sp>
      <p:sp>
        <p:nvSpPr>
          <p:cNvPr id="11" name="TextBox 10"/>
          <p:cNvSpPr txBox="1"/>
          <p:nvPr/>
        </p:nvSpPr>
        <p:spPr>
          <a:xfrm>
            <a:off x="530352" y="2087880"/>
            <a:ext cx="502920" cy="333756"/>
          </a:xfrm>
          <a:prstGeom prst="rect">
            <a:avLst/>
          </a:prstGeom>
          <a:noFill/>
        </p:spPr>
        <p:txBody>
          <a:bodyPr wrap="square" anchor="t" lIns="0" rIns="0" tIns="0" bIns="0">
            <a:spAutoFit/>
          </a:bodyPr>
          <a:lstStyle/>
          <a:p>
            <a:pPr algn="l"/>
            <a:r>
              <a:rPr sz="1800" b="0" i="0">
                <a:solidFill>
                  <a:srgbClr val="5B3FD6"/>
                </a:solidFill>
                <a:latin typeface="Georgia"/>
              </a:rPr>
              <a:t>02</a:t>
            </a:r>
          </a:p>
        </p:txBody>
      </p:sp>
      <p:sp>
        <p:nvSpPr>
          <p:cNvPr id="12" name="TextBox 11"/>
          <p:cNvSpPr txBox="1"/>
          <p:nvPr/>
        </p:nvSpPr>
        <p:spPr>
          <a:xfrm>
            <a:off x="1097280" y="2124456"/>
            <a:ext cx="10564063" cy="368808"/>
          </a:xfrm>
          <a:prstGeom prst="rect">
            <a:avLst/>
          </a:prstGeom>
          <a:noFill/>
        </p:spPr>
        <p:txBody>
          <a:bodyPr wrap="square" anchor="t" lIns="0" rIns="0" tIns="0" bIns="0">
            <a:spAutoFit/>
          </a:bodyPr>
          <a:lstStyle/>
          <a:p>
            <a:r>
              <a:rPr sz="1500" b="0" i="0">
                <a:solidFill>
                  <a:srgbClr val="1A1440"/>
                </a:solidFill>
                <a:latin typeface="Calibri"/>
              </a:rPr>
              <a:t>Answer from a named line of the evidence, never from the claim repeated.</a:t>
            </a:r>
          </a:p>
        </p:txBody>
      </p:sp>
      <p:sp>
        <p:nvSpPr>
          <p:cNvPr id="13" name="TextBox 12"/>
          <p:cNvSpPr txBox="1"/>
          <p:nvPr/>
        </p:nvSpPr>
        <p:spPr>
          <a:xfrm>
            <a:off x="530352" y="2529840"/>
            <a:ext cx="502920" cy="333756"/>
          </a:xfrm>
          <a:prstGeom prst="rect">
            <a:avLst/>
          </a:prstGeom>
          <a:noFill/>
        </p:spPr>
        <p:txBody>
          <a:bodyPr wrap="square" anchor="t" lIns="0" rIns="0" tIns="0" bIns="0">
            <a:spAutoFit/>
          </a:bodyPr>
          <a:lstStyle/>
          <a:p>
            <a:pPr algn="l"/>
            <a:r>
              <a:rPr sz="1800" b="0" i="0">
                <a:solidFill>
                  <a:srgbClr val="5B3FD6"/>
                </a:solidFill>
                <a:latin typeface="Georgia"/>
              </a:rPr>
              <a:t>03</a:t>
            </a:r>
          </a:p>
        </p:txBody>
      </p:sp>
      <p:sp>
        <p:nvSpPr>
          <p:cNvPr id="14" name="TextBox 13"/>
          <p:cNvSpPr txBox="1"/>
          <p:nvPr/>
        </p:nvSpPr>
        <p:spPr>
          <a:xfrm>
            <a:off x="1097280" y="2566416"/>
            <a:ext cx="10564063" cy="368808"/>
          </a:xfrm>
          <a:prstGeom prst="rect">
            <a:avLst/>
          </a:prstGeom>
          <a:noFill/>
        </p:spPr>
        <p:txBody>
          <a:bodyPr wrap="square" anchor="t" lIns="0" rIns="0" tIns="0" bIns="0">
            <a:spAutoFit/>
          </a:bodyPr>
          <a:lstStyle/>
          <a:p>
            <a:r>
              <a:rPr sz="1500" b="0" i="0">
                <a:solidFill>
                  <a:srgbClr val="1A1440"/>
                </a:solidFill>
                <a:latin typeface="Calibri"/>
              </a:rPr>
              <a:t>Concede the true part out loud; the claim survives it.</a:t>
            </a:r>
          </a:p>
        </p:txBody>
      </p:sp>
      <p:sp>
        <p:nvSpPr>
          <p:cNvPr id="15" name="TextBox 14"/>
          <p:cNvSpPr txBox="1"/>
          <p:nvPr/>
        </p:nvSpPr>
        <p:spPr>
          <a:xfrm>
            <a:off x="530352" y="2971800"/>
            <a:ext cx="502920" cy="333756"/>
          </a:xfrm>
          <a:prstGeom prst="rect">
            <a:avLst/>
          </a:prstGeom>
          <a:noFill/>
        </p:spPr>
        <p:txBody>
          <a:bodyPr wrap="square" anchor="t" lIns="0" rIns="0" tIns="0" bIns="0">
            <a:spAutoFit/>
          </a:bodyPr>
          <a:lstStyle/>
          <a:p>
            <a:pPr algn="l"/>
            <a:r>
              <a:rPr sz="1800" b="0" i="0">
                <a:solidFill>
                  <a:srgbClr val="5B3FD6"/>
                </a:solidFill>
                <a:latin typeface="Georgia"/>
              </a:rPr>
              <a:t>04</a:t>
            </a:r>
          </a:p>
        </p:txBody>
      </p:sp>
      <p:sp>
        <p:nvSpPr>
          <p:cNvPr id="16" name="TextBox 15"/>
          <p:cNvSpPr txBox="1"/>
          <p:nvPr/>
        </p:nvSpPr>
        <p:spPr>
          <a:xfrm>
            <a:off x="1097280" y="3008376"/>
            <a:ext cx="10564063" cy="368808"/>
          </a:xfrm>
          <a:prstGeom prst="rect">
            <a:avLst/>
          </a:prstGeom>
          <a:noFill/>
        </p:spPr>
        <p:txBody>
          <a:bodyPr wrap="square" anchor="t" lIns="0" rIns="0" tIns="0" bIns="0">
            <a:spAutoFit/>
          </a:bodyPr>
          <a:lstStyle/>
          <a:p>
            <a:r>
              <a:rPr sz="1500" b="0" i="0">
                <a:solidFill>
                  <a:srgbClr val="1A1440"/>
                </a:solidFill>
                <a:latin typeface="Calibri"/>
              </a:rPr>
              <a:t>Say the fact that would change your mind, so the claim can be tested.</a:t>
            </a:r>
          </a:p>
        </p:txBody>
      </p:sp>
      <p:sp>
        <p:nvSpPr>
          <p:cNvPr id="17" name="Rounded Rectangle 16"/>
          <p:cNvSpPr/>
          <p:nvPr/>
        </p:nvSpPr>
        <p:spPr>
          <a:xfrm>
            <a:off x="530352" y="3560064"/>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389229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mic_caee7398c80d.png"/>
          <p:cNvPicPr>
            <a:picLocks noChangeAspect="1"/>
          </p:cNvPicPr>
          <p:nvPr/>
        </p:nvPicPr>
        <p:blipFill>
          <a:blip r:embed="rId5"/>
          <a:stretch>
            <a:fillRect/>
          </a:stretch>
        </p:blipFill>
        <p:spPr>
          <a:xfrm>
            <a:off x="868680" y="4002024"/>
            <a:ext cx="237744" cy="237744"/>
          </a:xfrm>
          <a:prstGeom prst="rect">
            <a:avLst/>
          </a:prstGeom>
        </p:spPr>
      </p:pic>
      <p:sp>
        <p:nvSpPr>
          <p:cNvPr id="20" name="TextBox 19"/>
          <p:cNvSpPr txBox="1"/>
          <p:nvPr/>
        </p:nvSpPr>
        <p:spPr>
          <a:xfrm>
            <a:off x="1399031" y="370636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1" name="TextBox 20"/>
          <p:cNvSpPr txBox="1"/>
          <p:nvPr/>
        </p:nvSpPr>
        <p:spPr>
          <a:xfrm>
            <a:off x="1399031" y="3925824"/>
            <a:ext cx="9987991" cy="682752"/>
          </a:xfrm>
          <a:prstGeom prst="rect">
            <a:avLst/>
          </a:prstGeom>
          <a:noFill/>
        </p:spPr>
        <p:txBody>
          <a:bodyPr wrap="square" anchor="t" lIns="0" rIns="0" tIns="0" bIns="0">
            <a:spAutoFit/>
          </a:bodyPr>
          <a:lstStyle/>
          <a:p>
            <a:r>
              <a:rPr sz="1500" b="0" i="0">
                <a:solidFill>
                  <a:srgbClr val="1A1440"/>
                </a:solidFill>
                <a:latin typeface="Calibri"/>
              </a:rPr>
              <a:t>[F] A stakeholder's objection is partly right; how do you answer it? [D] The person who loses under your metric controls the meeting; how do you get it adopted anyway?</a:t>
            </a:r>
          </a:p>
        </p:txBody>
      </p:sp>
      <p:pic>
        <p:nvPicPr>
          <p:cNvPr id="22" name="mermaid diagram" descr="7a6795348fb3a5fa.png"/>
          <p:cNvPicPr>
            <a:picLocks noChangeAspect="1"/>
          </p:cNvPicPr>
          <p:nvPr/>
        </p:nvPicPr>
        <p:blipFill>
          <a:blip r:embed="rId6"/>
          <a:stretch>
            <a:fillRect/>
          </a:stretch>
        </p:blipFill>
        <p:spPr>
          <a:xfrm>
            <a:off x="3389223" y="4846320"/>
            <a:ext cx="5413248" cy="1353312"/>
          </a:xfrm>
          <a:prstGeom prst="rect">
            <a:avLst/>
          </a:prstGeom>
        </p:spPr>
      </p:pic>
      <p:sp>
        <p:nvSpPr>
          <p:cNvPr id="23" name="Oval 2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25" name="Oval 2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27" name="Oval 26"/>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do you hold a claim?</a:t>
            </a:r>
          </a:p>
        </p:txBody>
      </p:sp>
      <p:sp>
        <p:nvSpPr>
          <p:cNvPr id="29" name="Oval 2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31" name="Oval 3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30 / 59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04</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Uber's slide, rebuilt with the one-slide answer and what to leave out</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number carries it?</a:t>
            </a:r>
          </a:p>
        </p:txBody>
      </p:sp>
      <p:sp>
        <p:nvSpPr>
          <p:cNvPr id="10" name="TextBox 9"/>
          <p:cNvSpPr txBox="1"/>
          <p:nvPr/>
        </p:nvSpPr>
        <p:spPr>
          <a:xfrm>
            <a:off x="731519" y="3931920"/>
            <a:ext cx="9509760" cy="779526"/>
          </a:xfrm>
          <a:prstGeom prst="rect">
            <a:avLst/>
          </a:prstGeom>
          <a:noFill/>
        </p:spPr>
        <p:txBody>
          <a:bodyPr wrap="square" anchor="t" lIns="0" rIns="0" tIns="0" bIns="0">
            <a:spAutoFit/>
          </a:bodyPr>
          <a:lstStyle/>
          <a:p>
            <a:pPr algn="l"/>
            <a:r>
              <a:rPr sz="1500" b="0" i="0">
                <a:solidFill>
                  <a:srgbClr val="E4E1F1"/>
                </a:solidFill>
                <a:latin typeface="Calibri"/>
              </a:rPr>
              <a:t>The one-slide answer applied: Uber's slides A, B and C rebuilt to one claim, one number with its denominator, the caveat in sight and the action with its cost, so the city head can act on one slide.</a:t>
            </a:r>
          </a:p>
        </p:txBody>
      </p:sp>
      <p:sp>
        <p:nvSpPr>
          <p:cNvPr id="11" name="Rounded Rectangle 10"/>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a slide carry?</a:t>
            </a:r>
          </a:p>
        </p:txBody>
      </p:sp>
      <p:sp>
        <p:nvSpPr>
          <p:cNvPr id="12" name="Rounded Rectangle 11"/>
          <p:cNvSpPr/>
          <p:nvPr/>
        </p:nvSpPr>
        <p:spPr>
          <a:xfrm>
            <a:off x="2628191"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does the rest go?</a:t>
            </a:r>
          </a:p>
        </p:txBody>
      </p:sp>
      <p:sp>
        <p:nvSpPr>
          <p:cNvPr id="13" name="Rounded Rectangle 12"/>
          <p:cNvSpPr/>
          <p:nvPr/>
        </p:nvSpPr>
        <p:spPr>
          <a:xfrm>
            <a:off x="4465646"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do you hold a claim?</a:t>
            </a:r>
          </a:p>
        </p:txBody>
      </p:sp>
      <p:sp>
        <p:nvSpPr>
          <p:cNvPr id="14" name="Rounded Rectangle 13"/>
          <p:cNvSpPr/>
          <p:nvPr/>
        </p:nvSpPr>
        <p:spPr>
          <a:xfrm>
            <a:off x="6362318" y="5074920"/>
            <a:ext cx="178694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number carries it?</a:t>
            </a:r>
          </a:p>
        </p:txBody>
      </p:sp>
      <p:sp>
        <p:nvSpPr>
          <p:cNvPr id="15" name="Rounded Rectangle 14"/>
          <p:cNvSpPr/>
          <p:nvPr/>
        </p:nvSpPr>
        <p:spPr>
          <a:xfrm>
            <a:off x="825898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objection holds?</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2. Stakeholder communication: one slide, five minutes, three people paid to disagree</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31 / 59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Uber's slide applies chapters 1 and 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85343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98145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972310"/>
            <a:ext cx="10564063" cy="624840"/>
          </a:xfrm>
          <a:prstGeom prst="rect">
            <a:avLst/>
          </a:prstGeom>
          <a:noFill/>
        </p:spPr>
        <p:txBody>
          <a:bodyPr wrap="square" anchor="ctr" lIns="0" rIns="0" tIns="0" bIns="0">
            <a:spAutoFit/>
          </a:bodyPr>
          <a:lstStyle/>
          <a:p>
            <a:r>
              <a:rPr sz="1500" b="1">
                <a:solidFill>
                  <a:srgbClr val="5B3FD6"/>
                </a:solidFill>
                <a:latin typeface="Calibri"/>
              </a:rPr>
              <a:t>Applies: </a:t>
            </a:r>
            <a:r>
              <a:rPr sz="1500" b="0" i="0">
                <a:solidFill>
                  <a:srgbClr val="1A1440"/>
                </a:solidFill>
                <a:latin typeface="Calibri"/>
              </a:rPr>
              <a:t>The one-slide answer: claim, evidence, caveat, action (chapter 1); What to leave out, and the appendix (chapter 2).</a:t>
            </a:r>
          </a:p>
        </p:txBody>
      </p:sp>
      <p:sp>
        <p:nvSpPr>
          <p:cNvPr id="12" name="Rounded Rectangle 11"/>
          <p:cNvSpPr/>
          <p:nvPr/>
        </p:nvSpPr>
        <p:spPr>
          <a:xfrm>
            <a:off x="530352" y="282575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295376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2944622"/>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Hyderabad city head, who has one slide and five minutes at Thursday's city review, with the driver-operations lead, the marketing lead and the finance partner in the room, each losing something under the redesign.</a:t>
            </a:r>
          </a:p>
        </p:txBody>
      </p:sp>
      <p:sp>
        <p:nvSpPr>
          <p:cNvPr id="15" name="Rectangle 14"/>
          <p:cNvSpPr/>
          <p:nvPr/>
        </p:nvSpPr>
        <p:spPr>
          <a:xfrm>
            <a:off x="1853145" y="4631690"/>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06476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7" name="Oval 16"/>
          <p:cNvSpPr/>
          <p:nvPr/>
        </p:nvSpPr>
        <p:spPr>
          <a:xfrm>
            <a:off x="1752561" y="454025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95173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5098034"/>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does each role lose?</a:t>
            </a:r>
          </a:p>
        </p:txBody>
      </p:sp>
      <p:sp>
        <p:nvSpPr>
          <p:cNvPr id="20" name="TextBox 19"/>
          <p:cNvSpPr txBox="1"/>
          <p:nvPr/>
        </p:nvSpPr>
        <p:spPr>
          <a:xfrm>
            <a:off x="694944" y="5385816"/>
            <a:ext cx="2316403" cy="366776"/>
          </a:xfrm>
          <a:prstGeom prst="rect">
            <a:avLst/>
          </a:prstGeom>
          <a:noFill/>
        </p:spPr>
        <p:txBody>
          <a:bodyPr wrap="square" anchor="t" lIns="0" rIns="0" tIns="0" bIns="0">
            <a:spAutoFit/>
          </a:bodyPr>
          <a:lstStyle/>
          <a:p>
            <a:pPr algn="l"/>
            <a:r>
              <a:rPr sz="1000" b="0" i="0">
                <a:solidFill>
                  <a:srgbClr val="6B6690"/>
                </a:solidFill>
                <a:latin typeface="Calibri"/>
              </a:rPr>
              <a:t>The loser test, on three real roles.</a:t>
            </a:r>
          </a:p>
        </p:txBody>
      </p:sp>
      <p:sp>
        <p:nvSpPr>
          <p:cNvPr id="21" name="TextBox 20"/>
          <p:cNvSpPr txBox="1"/>
          <p:nvPr/>
        </p:nvSpPr>
        <p:spPr>
          <a:xfrm>
            <a:off x="3358819" y="406476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22" name="Oval 21"/>
          <p:cNvSpPr/>
          <p:nvPr/>
        </p:nvSpPr>
        <p:spPr>
          <a:xfrm>
            <a:off x="4581029" y="454025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95173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5098034"/>
            <a:ext cx="2316403" cy="251205"/>
          </a:xfrm>
          <a:prstGeom prst="rect">
            <a:avLst/>
          </a:prstGeom>
          <a:noFill/>
        </p:spPr>
        <p:txBody>
          <a:bodyPr wrap="square" anchor="t" lIns="0" rIns="0" tIns="0" bIns="0">
            <a:spAutoFit/>
          </a:bodyPr>
          <a:lstStyle/>
          <a:p>
            <a:pPr algn="l"/>
            <a:r>
              <a:rPr sz="1300" b="1" i="0">
                <a:solidFill>
                  <a:srgbClr val="1A0F5C"/>
                </a:solidFill>
                <a:latin typeface="Calibri"/>
              </a:rPr>
              <a:t>Which title acts?</a:t>
            </a:r>
          </a:p>
        </p:txBody>
      </p:sp>
      <p:sp>
        <p:nvSpPr>
          <p:cNvPr id="25" name="TextBox 24"/>
          <p:cNvSpPr txBox="1"/>
          <p:nvPr/>
        </p:nvSpPr>
        <p:spPr>
          <a:xfrm>
            <a:off x="3523411" y="5385816"/>
            <a:ext cx="2316403" cy="366776"/>
          </a:xfrm>
          <a:prstGeom prst="rect">
            <a:avLst/>
          </a:prstGeom>
          <a:noFill/>
        </p:spPr>
        <p:txBody>
          <a:bodyPr wrap="square" anchor="t" lIns="0" rIns="0" tIns="0" bIns="0">
            <a:spAutoFit/>
          </a:bodyPr>
          <a:lstStyle/>
          <a:p>
            <a:pPr algn="l"/>
            <a:r>
              <a:rPr sz="1000" b="0" i="0">
                <a:solidFill>
                  <a:srgbClr val="6B6690"/>
                </a:solidFill>
                <a:latin typeface="Calibri"/>
              </a:rPr>
              <a:t>Chapter 1's claim, on finance's top-up.</a:t>
            </a:r>
          </a:p>
        </p:txBody>
      </p:sp>
      <p:sp>
        <p:nvSpPr>
          <p:cNvPr id="26" name="TextBox 25"/>
          <p:cNvSpPr txBox="1"/>
          <p:nvPr/>
        </p:nvSpPr>
        <p:spPr>
          <a:xfrm>
            <a:off x="6187287" y="406476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7" name="Oval 26"/>
          <p:cNvSpPr/>
          <p:nvPr/>
        </p:nvSpPr>
        <p:spPr>
          <a:xfrm>
            <a:off x="7409497" y="454025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95173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5098034"/>
            <a:ext cx="2316403" cy="251205"/>
          </a:xfrm>
          <a:prstGeom prst="rect">
            <a:avLst/>
          </a:prstGeom>
          <a:noFill/>
        </p:spPr>
        <p:txBody>
          <a:bodyPr wrap="square" anchor="t" lIns="0" rIns="0" tIns="0" bIns="0">
            <a:spAutoFit/>
          </a:bodyPr>
          <a:lstStyle/>
          <a:p>
            <a:pPr algn="l"/>
            <a:r>
              <a:rPr sz="1300" b="1" i="0">
                <a:solidFill>
                  <a:srgbClr val="1A0F5C"/>
                </a:solidFill>
                <a:latin typeface="Calibri"/>
              </a:rPr>
              <a:t>Which two numbers stay?</a:t>
            </a:r>
          </a:p>
        </p:txBody>
      </p:sp>
      <p:sp>
        <p:nvSpPr>
          <p:cNvPr id="30" name="TextBox 29"/>
          <p:cNvSpPr txBox="1"/>
          <p:nvPr/>
        </p:nvSpPr>
        <p:spPr>
          <a:xfrm>
            <a:off x="6351879" y="5385816"/>
            <a:ext cx="2316403" cy="201676"/>
          </a:xfrm>
          <a:prstGeom prst="rect">
            <a:avLst/>
          </a:prstGeom>
          <a:noFill/>
        </p:spPr>
        <p:txBody>
          <a:bodyPr wrap="square" anchor="t" lIns="0" rIns="0" tIns="0" bIns="0">
            <a:spAutoFit/>
          </a:bodyPr>
          <a:lstStyle/>
          <a:p>
            <a:pPr algn="l"/>
            <a:r>
              <a:rPr sz="1000" b="0" i="0">
                <a:solidFill>
                  <a:srgbClr val="6B6690"/>
                </a:solidFill>
                <a:latin typeface="Calibri"/>
              </a:rPr>
              <a:t>Nine dashboard numbers cut to two.</a:t>
            </a:r>
          </a:p>
        </p:txBody>
      </p:sp>
      <p:sp>
        <p:nvSpPr>
          <p:cNvPr id="31" name="TextBox 30"/>
          <p:cNvSpPr txBox="1"/>
          <p:nvPr/>
        </p:nvSpPr>
        <p:spPr>
          <a:xfrm>
            <a:off x="9015755" y="4064762"/>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32" name="Oval 31"/>
          <p:cNvSpPr/>
          <p:nvPr/>
        </p:nvSpPr>
        <p:spPr>
          <a:xfrm>
            <a:off x="10237965" y="454025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951730"/>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5098034"/>
            <a:ext cx="2316403" cy="251205"/>
          </a:xfrm>
          <a:prstGeom prst="rect">
            <a:avLst/>
          </a:prstGeom>
          <a:noFill/>
        </p:spPr>
        <p:txBody>
          <a:bodyPr wrap="square" anchor="t" lIns="0" rIns="0" tIns="0" bIns="0">
            <a:spAutoFit/>
          </a:bodyPr>
          <a:lstStyle/>
          <a:p>
            <a:pPr algn="l"/>
            <a:r>
              <a:rPr sz="1300" b="1" i="0">
                <a:solidFill>
                  <a:srgbClr val="1A0F5C"/>
                </a:solidFill>
                <a:latin typeface="Calibri"/>
              </a:rPr>
              <a:t>Which denominator?</a:t>
            </a:r>
          </a:p>
        </p:txBody>
      </p:sp>
      <p:sp>
        <p:nvSpPr>
          <p:cNvPr id="35" name="TextBox 34"/>
          <p:cNvSpPr txBox="1"/>
          <p:nvPr/>
        </p:nvSpPr>
        <p:spPr>
          <a:xfrm>
            <a:off x="9180347" y="5385816"/>
            <a:ext cx="2316403" cy="201676"/>
          </a:xfrm>
          <a:prstGeom prst="rect">
            <a:avLst/>
          </a:prstGeom>
          <a:noFill/>
        </p:spPr>
        <p:txBody>
          <a:bodyPr wrap="square" anchor="t" lIns="0" rIns="0" tIns="0" bIns="0">
            <a:spAutoFit/>
          </a:bodyPr>
          <a:lstStyle/>
          <a:p>
            <a:pPr algn="l"/>
            <a:r>
              <a:rPr sz="1000" b="0" i="0">
                <a:solidFill>
                  <a:srgbClr val="6B6690"/>
                </a:solidFill>
                <a:latin typeface="Calibri"/>
              </a:rPr>
              <a:t>The same rupees read three ways.</a:t>
            </a:r>
          </a:p>
        </p:txBody>
      </p:sp>
      <p:sp>
        <p:nvSpPr>
          <p:cNvPr id="36" name="Oval 3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38" name="Oval 3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40" name="Oval 3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42" name="Oval 41"/>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44" name="Oval 43"/>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46" name="TextBox 4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32 / 59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Where today ends: a slide its losers can repeat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sentence will the city head be able to say on Thursday?</a:t>
            </a:r>
          </a:p>
        </p:txBody>
      </p:sp>
      <p:sp>
        <p:nvSpPr>
          <p:cNvPr id="9" name="Rounded Rectangle 8"/>
          <p:cNvSpPr/>
          <p:nvPr/>
        </p:nvSpPr>
        <p:spPr>
          <a:xfrm>
            <a:off x="530352" y="1956816"/>
            <a:ext cx="45720" cy="188975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889759"/>
          </a:xfrm>
          <a:prstGeom prst="rect">
            <a:avLst/>
          </a:prstGeom>
          <a:noFill/>
        </p:spPr>
        <p:txBody>
          <a:bodyPr wrap="square" anchor="t" lIns="0" rIns="0" tIns="0" bIns="0">
            <a:spAutoFit/>
          </a:bodyPr>
          <a:lstStyle/>
          <a:p>
            <a:r>
              <a:rPr sz="1600" b="0" i="1">
                <a:solidFill>
                  <a:srgbClr val="1A0F5C"/>
                </a:solidFill>
                <a:latin typeface="Georgia"/>
              </a:rPr>
              <a:t>"The scheme is paying for online hours that carry no trips: gross bookings per peak online hour fell from Rs 314 to Rs 260 while the fare held at Rs 165. The monsoon ended inside the six weeks, so part of the fall may be the season. Test paying per completed peak trip with an acceptance floor: across the enrolled drivers, Monday's arithmetic saves Rs 58 lakh to Rs 92.7 lakh over six weeks if a half to a fifth of the idle drivers' top-up is still paid, and the per-trip rate, not yet set, decides where it lands."</a:t>
            </a:r>
          </a:p>
        </p:txBody>
      </p:sp>
      <p:sp>
        <p:nvSpPr>
          <p:cNvPr id="11" name="TextBox 10"/>
          <p:cNvSpPr txBox="1"/>
          <p:nvPr/>
        </p:nvSpPr>
        <p:spPr>
          <a:xfrm>
            <a:off x="530352" y="3992880"/>
            <a:ext cx="11130991" cy="772160"/>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By the end of the afternoon</a:t>
            </a:r>
            <a:r>
              <a:rPr sz="1600" b="0" i="0">
                <a:solidFill>
                  <a:srgbClr val="1A1440"/>
                </a:solidFill>
                <a:latin typeface="Calibri"/>
              </a:rPr>
              <a:t> you will also have estimated how many drivers the evening peak needs, said every assumption aloud, given a range, and checked it against the case's own data.</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8" name="Oval 17"/>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20" name="Oval 19"/>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S29  ·  33 / 59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Each role loses one thing it can point to</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of the three roles lose under Monday's definition?</a:t>
            </a:r>
          </a:p>
        </p:txBody>
      </p:sp>
      <p:sp>
        <p:nvSpPr>
          <p:cNvPr id="9" name="Rounded Rectangle 8"/>
          <p:cNvSpPr/>
          <p:nvPr/>
        </p:nvSpPr>
        <p:spPr>
          <a:xfrm>
            <a:off x="530352" y="1956816"/>
            <a:ext cx="3588410" cy="194945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user_c13406686cbb.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DRIVER-OPERATIONS LEAD</a:t>
            </a:r>
          </a:p>
        </p:txBody>
      </p:sp>
      <p:sp>
        <p:nvSpPr>
          <p:cNvPr id="13" name="TextBox 12"/>
          <p:cNvSpPr txBox="1"/>
          <p:nvPr/>
        </p:nvSpPr>
        <p:spPr>
          <a:xfrm>
            <a:off x="731519" y="2962656"/>
            <a:ext cx="3186074" cy="218186"/>
          </a:xfrm>
          <a:prstGeom prst="rect">
            <a:avLst/>
          </a:prstGeom>
          <a:noFill/>
        </p:spPr>
        <p:txBody>
          <a:bodyPr wrap="square" anchor="t" lIns="0" rIns="0" tIns="0" bIns="0">
            <a:spAutoFit/>
          </a:bodyPr>
          <a:lstStyle/>
          <a:p>
            <a:pPr algn="l"/>
            <a:r>
              <a:rPr sz="1100" b="1" i="0">
                <a:solidFill>
                  <a:srgbClr val="1A0F5C"/>
                </a:solidFill>
                <a:latin typeface="Calibri"/>
              </a:rPr>
              <a:t>The supply headline</a:t>
            </a:r>
          </a:p>
        </p:txBody>
      </p:sp>
      <p:sp>
        <p:nvSpPr>
          <p:cNvPr id="14" name="TextBox 13"/>
          <p:cNvSpPr txBox="1"/>
          <p:nvPr/>
        </p:nvSpPr>
        <p:spPr>
          <a:xfrm>
            <a:off x="731519" y="3253994"/>
            <a:ext cx="3186074" cy="432816"/>
          </a:xfrm>
          <a:prstGeom prst="rect">
            <a:avLst/>
          </a:prstGeom>
          <a:noFill/>
        </p:spPr>
        <p:txBody>
          <a:bodyPr wrap="square" anchor="t" lIns="0" rIns="0" tIns="0" bIns="0">
            <a:spAutoFit/>
          </a:bodyPr>
          <a:lstStyle/>
          <a:p>
            <a:pPr algn="l"/>
            <a:r>
              <a:rPr sz="800" b="0" i="0">
                <a:solidFill>
                  <a:srgbClr val="6B6690"/>
                </a:solidFill>
                <a:latin typeface="Calibri"/>
              </a:rPr>
              <a:t>Peak online hours up 24 percent stops being the target, and the idle drivers' hours will fall when idle hours stop paying</a:t>
            </a:r>
          </a:p>
        </p:txBody>
      </p:sp>
      <p:sp>
        <p:nvSpPr>
          <p:cNvPr id="15" name="Rounded Rectangle 14"/>
          <p:cNvSpPr/>
          <p:nvPr/>
        </p:nvSpPr>
        <p:spPr>
          <a:xfrm>
            <a:off x="4301642" y="1956816"/>
            <a:ext cx="3588410" cy="194945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user_c13406686cbb.png"/>
          <p:cNvPicPr>
            <a:picLocks noChangeAspect="1"/>
          </p:cNvPicPr>
          <p:nvPr/>
        </p:nvPicPr>
        <p:blipFill>
          <a:blip r:embed="rId4"/>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MARKETING LEAD</a:t>
            </a:r>
          </a:p>
        </p:txBody>
      </p:sp>
      <p:sp>
        <p:nvSpPr>
          <p:cNvPr id="19" name="TextBox 18"/>
          <p:cNvSpPr txBox="1"/>
          <p:nvPr/>
        </p:nvSpPr>
        <p:spPr>
          <a:xfrm>
            <a:off x="4502810" y="2962656"/>
            <a:ext cx="3186074" cy="218186"/>
          </a:xfrm>
          <a:prstGeom prst="rect">
            <a:avLst/>
          </a:prstGeom>
          <a:noFill/>
        </p:spPr>
        <p:txBody>
          <a:bodyPr wrap="square" anchor="t" lIns="0" rIns="0" tIns="0" bIns="0">
            <a:spAutoFit/>
          </a:bodyPr>
          <a:lstStyle/>
          <a:p>
            <a:pPr algn="l"/>
            <a:r>
              <a:rPr sz="1100" b="1" i="0">
                <a:solidFill>
                  <a:srgbClr val="1A0F5C"/>
                </a:solidFill>
                <a:latin typeface="Calibri"/>
              </a:rPr>
              <a:t>A clean hoarding line</a:t>
            </a:r>
          </a:p>
        </p:txBody>
      </p:sp>
      <p:sp>
        <p:nvSpPr>
          <p:cNvPr id="20" name="TextBox 19"/>
          <p:cNvSpPr txBox="1"/>
          <p:nvPr/>
        </p:nvSpPr>
        <p:spPr>
          <a:xfrm>
            <a:off x="4502810" y="3253994"/>
            <a:ext cx="3186074" cy="432816"/>
          </a:xfrm>
          <a:prstGeom prst="rect">
            <a:avLst/>
          </a:prstGeom>
          <a:noFill/>
        </p:spPr>
        <p:txBody>
          <a:bodyPr wrap="square" anchor="t" lIns="0" rIns="0" tIns="0" bIns="0">
            <a:spAutoFit/>
          </a:bodyPr>
          <a:lstStyle/>
          <a:p>
            <a:pPr algn="l"/>
            <a:r>
              <a:rPr sz="800" b="0" i="0">
                <a:solidFill>
                  <a:srgbClr val="6B6690"/>
                </a:solidFill>
                <a:latin typeface="Calibri"/>
              </a:rPr>
              <a:t>"Rs 300 an hour, guaranteed" now carries a condition: the Rs 300 floor holds only for drivers who accept at least half their offers</a:t>
            </a:r>
          </a:p>
        </p:txBody>
      </p:sp>
      <p:sp>
        <p:nvSpPr>
          <p:cNvPr id="21" name="Rounded Rectangle 20"/>
          <p:cNvSpPr/>
          <p:nvPr/>
        </p:nvSpPr>
        <p:spPr>
          <a:xfrm>
            <a:off x="8072932" y="1956816"/>
            <a:ext cx="3588410" cy="194945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user_c13406686cbb.png"/>
          <p:cNvPicPr>
            <a:picLocks noChangeAspect="1"/>
          </p:cNvPicPr>
          <p:nvPr/>
        </p:nvPicPr>
        <p:blipFill>
          <a:blip r:embed="rId4"/>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FINANCE PARTNER</a:t>
            </a:r>
          </a:p>
        </p:txBody>
      </p:sp>
      <p:sp>
        <p:nvSpPr>
          <p:cNvPr id="25" name="TextBox 24"/>
          <p:cNvSpPr txBox="1"/>
          <p:nvPr/>
        </p:nvSpPr>
        <p:spPr>
          <a:xfrm>
            <a:off x="8274100" y="2962656"/>
            <a:ext cx="3186074" cy="218186"/>
          </a:xfrm>
          <a:prstGeom prst="rect">
            <a:avLst/>
          </a:prstGeom>
          <a:noFill/>
        </p:spPr>
        <p:txBody>
          <a:bodyPr wrap="square" anchor="t" lIns="0" rIns="0" tIns="0" bIns="0">
            <a:spAutoFit/>
          </a:bodyPr>
          <a:lstStyle/>
          <a:p>
            <a:pPr algn="l"/>
            <a:r>
              <a:rPr sz="1100" b="1" i="0">
                <a:solidFill>
                  <a:srgbClr val="1A0F5C"/>
                </a:solidFill>
                <a:latin typeface="Calibri"/>
              </a:rPr>
              <a:t>Its own number as the headline</a:t>
            </a:r>
          </a:p>
        </p:txBody>
      </p:sp>
      <p:sp>
        <p:nvSpPr>
          <p:cNvPr id="26" name="TextBox 25"/>
          <p:cNvSpPr txBox="1"/>
          <p:nvPr/>
        </p:nvSpPr>
        <p:spPr>
          <a:xfrm>
            <a:off x="8274100" y="3253994"/>
            <a:ext cx="3186074" cy="300735"/>
          </a:xfrm>
          <a:prstGeom prst="rect">
            <a:avLst/>
          </a:prstGeom>
          <a:noFill/>
        </p:spPr>
        <p:txBody>
          <a:bodyPr wrap="square" anchor="t" lIns="0" rIns="0" tIns="0" bIns="0">
            <a:spAutoFit/>
          </a:bodyPr>
          <a:lstStyle/>
          <a:p>
            <a:pPr algn="l"/>
            <a:r>
              <a:rPr sz="800" b="0" i="0">
                <a:solidFill>
                  <a:srgbClr val="6B6690"/>
                </a:solidFill>
                <a:latin typeface="Calibri"/>
              </a:rPr>
              <a:t>Top-up per trip becomes a guardrail, and the slide opens on bookings per online hour, Rs 314 to Rs 260</a:t>
            </a:r>
          </a:p>
        </p:txBody>
      </p:sp>
      <p:sp>
        <p:nvSpPr>
          <p:cNvPr id="27" name="Rounded Rectangle 26"/>
          <p:cNvSpPr/>
          <p:nvPr/>
        </p:nvSpPr>
        <p:spPr>
          <a:xfrm>
            <a:off x="530352" y="4089146"/>
            <a:ext cx="11130991" cy="164338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76656" y="4217162"/>
            <a:ext cx="45720" cy="138734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77824" y="4208018"/>
            <a:ext cx="10564063" cy="1460500"/>
          </a:xfrm>
          <a:prstGeom prst="rect">
            <a:avLst/>
          </a:prstGeom>
          <a:noFill/>
        </p:spPr>
        <p:txBody>
          <a:bodyPr wrap="square" anchor="ctr" lIns="0" rIns="0" tIns="0" bIns="0">
            <a:spAutoFit/>
          </a:bodyPr>
          <a:lstStyle/>
          <a:p>
            <a:r>
              <a:rPr sz="1100" b="1">
                <a:solidFill>
                  <a:srgbClr val="5B3FD6"/>
                </a:solidFill>
                <a:latin typeface="Calibri"/>
              </a:rPr>
              <a:t>The scheme now. </a:t>
            </a:r>
            <a:r>
              <a:rPr sz="1100" b="0" i="0">
                <a:solidFill>
                  <a:srgbClr val="1A1440"/>
                </a:solidFill>
                <a:latin typeface="Calibri"/>
              </a:rPr>
              <a:t>An enrolled driver online through a whole peak window (two three-hour windows a day) is guaranteed Rs 300 per peak online hour, the floor; when the driver's trip earnings in a window fall short, Uber pays the gap as a </a:t>
            </a:r>
            <a:r>
              <a:rPr sz="1100" b="1" i="0">
                <a:solidFill>
                  <a:srgbClr val="1A1440"/>
                </a:solidFill>
                <a:latin typeface="Calibri"/>
              </a:rPr>
              <a:t>top-up</a:t>
            </a:r>
            <a:r>
              <a:rPr sz="1100" b="0" i="0">
                <a:solidFill>
                  <a:srgbClr val="1A1440"/>
                </a:solidFill>
                <a:latin typeface="Calibri"/>
              </a:rPr>
              <a:t>. The trip earnings are the driver's share of the fares, and neither that share nor the window-by-window record is in Monday's tables, so a week's top-up cannot be rebuilt from its bookings. </a:t>
            </a:r>
            <a:r>
              <a:rPr sz="1100" b="1" i="0">
                <a:solidFill>
                  <a:srgbClr val="1A1440"/>
                </a:solidFill>
                <a:latin typeface="Calibri"/>
              </a:rPr>
              <a:t>Monday's redesign,</a:t>
            </a:r>
            <a:r>
              <a:rPr sz="1100" b="0" i="0">
                <a:solidFill>
                  <a:srgbClr val="1A1440"/>
                </a:solidFill>
                <a:latin typeface="Calibri"/>
              </a:rPr>
              <a:t> as a driver hears it: "The floor now pays for trips you complete, if you say yes to most offers." Saying yes to at least half the requests offered is the </a:t>
            </a:r>
            <a:r>
              <a:rPr sz="1100" b="1" i="0">
                <a:solidFill>
                  <a:srgbClr val="1A1440"/>
                </a:solidFill>
                <a:latin typeface="Calibri"/>
              </a:rPr>
              <a:t>acceptance floor</a:t>
            </a:r>
            <a:r>
              <a:rPr sz="1100" b="0" i="0">
                <a:solidFill>
                  <a:srgbClr val="1A1440"/>
                </a:solidFill>
                <a:latin typeface="Calibri"/>
              </a:rPr>
              <a:t>. Three </a:t>
            </a:r>
            <a:r>
              <a:rPr sz="1100" b="1" i="0">
                <a:solidFill>
                  <a:srgbClr val="1A1440"/>
                </a:solidFill>
                <a:latin typeface="Calibri"/>
              </a:rPr>
              <a:t>guardrails</a:t>
            </a:r>
            <a:r>
              <a:rPr sz="1100" b="0" i="0">
                <a:solidFill>
                  <a:srgbClr val="1A1440"/>
                </a:solidFill>
                <a:latin typeface="Calibri"/>
              </a:rPr>
              <a:t>, numbers that must not get worse while trips rise, watch it: the acceptance share, the median rider wait at peak and top-up per completed trip. </a:t>
            </a:r>
            <a:r>
              <a:rPr sz="1100" b="1" i="0">
                <a:solidFill>
                  <a:srgbClr val="1A1440"/>
                </a:solidFill>
                <a:latin typeface="Calibri"/>
              </a:rPr>
              <a:t>The saving:</a:t>
            </a:r>
            <a:r>
              <a:rPr sz="1100" b="0" i="0">
                <a:solidFill>
                  <a:srgbClr val="1A1440"/>
                </a:solidFill>
                <a:latin typeface="Calibri"/>
              </a:rPr>
              <a:t> Rs 1.16 crore of top-up (115.9 lakh) went to driver-weeks that accepted under half their offers; if half of it is still paid, 115.9 / 2 = Rs 58 lakh is saved over six weeks, and if a fifth is, 115.9 x 4/5 = Rs 92.7 lakh.</a:t>
            </a:r>
          </a:p>
        </p:txBody>
      </p:sp>
      <p:sp>
        <p:nvSpPr>
          <p:cNvPr id="30" name="Oval 2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32" name="Oval 3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34" name="Oval 3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36" name="Oval 35"/>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38" name="Oval 37"/>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34 / 59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which of these four titles acts?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Finance has a slide on the top-up. Which title tells the city head what to do on the first read?</a:t>
            </a:r>
          </a:p>
        </p:txBody>
      </p:sp>
      <p:sp>
        <p:nvSpPr>
          <p:cNvPr id="9" name="TextBox 8"/>
          <p:cNvSpPr txBox="1"/>
          <p:nvPr/>
        </p:nvSpPr>
        <p:spPr>
          <a:xfrm>
            <a:off x="530352" y="1956816"/>
            <a:ext cx="11130991" cy="204012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Top-up review, six weeks</a:t>
            </a:r>
          </a:p>
          <a:p>
            <a:pPr>
              <a:spcAft>
                <a:spcPts val="800"/>
              </a:spcAft>
            </a:pPr>
            <a:r>
              <a:rPr sz="1600" b="0" i="0">
                <a:solidFill>
                  <a:srgbClr val="1A1440"/>
                </a:solidFill>
                <a:latin typeface="Calibri"/>
              </a:rPr>
              <a:t>b) Top-up Rs 1.9 crore, 61 percent of it to drivers accepting under half their offers</a:t>
            </a:r>
          </a:p>
          <a:p>
            <a:pPr>
              <a:spcAft>
                <a:spcPts val="800"/>
              </a:spcAft>
            </a:pPr>
            <a:r>
              <a:rPr sz="1600" b="0" i="0">
                <a:solidFill>
                  <a:srgbClr val="1A1440"/>
                </a:solidFill>
                <a:latin typeface="Calibri"/>
              </a:rPr>
              <a:t>c) Most of the top-up pays drivers who decline offers: add an acceptance floor</a:t>
            </a:r>
          </a:p>
          <a:p>
            <a:pPr>
              <a:spcAft>
                <a:spcPts val="800"/>
              </a:spcAft>
            </a:pPr>
            <a:r>
              <a:rPr sz="1600" b="0" i="0">
                <a:solidFill>
                  <a:srgbClr val="1A1440"/>
                </a:solidFill>
                <a:latin typeface="Calibri"/>
              </a:rPr>
              <a:t>d) Driver payments update, October</a:t>
            </a:r>
          </a:p>
          <a:p>
            <a:pPr>
              <a:spcAft>
                <a:spcPts val="800"/>
              </a:spcAft>
            </a:pPr>
            <a:r>
              <a:rPr sz="1600" b="1" i="0">
                <a:solidFill>
                  <a:srgbClr val="1A1440"/>
                </a:solidFill>
                <a:latin typeface="Calibri"/>
              </a:rPr>
              <a:t>Write your letter down before the next slide.</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6" name="Oval 15"/>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18" name="Oval 17"/>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35 / 59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a title that acts is a sentence with a verb</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a reader act on c and walk past a, b and d?</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The answer is c. </a:t>
            </a:r>
            <a:r>
              <a:rPr sz="1500" b="0" i="0">
                <a:solidFill>
                  <a:srgbClr val="1A1440"/>
                </a:solidFill>
                <a:latin typeface="Calibri"/>
              </a:rPr>
              <a:t>a and d name a topic. b reports two true numbers and leaves the reader to find the point. c says what is true and what to do about it, so a reader can act on the title alone: chapter 1's rule, the title is the claim, and Ramesh's title c on the kirana shop worked the same way.</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8" name="Oval 17"/>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20" name="Oval 19"/>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S32  ·  36 / 59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Slide A arrived with nine numbers and no claim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is a city head meant to do with this slide?</a:t>
            </a:r>
          </a:p>
        </p:txBody>
      </p:sp>
      <p:pic>
        <p:nvPicPr>
          <p:cNvPr id="9" name="mermaid diagram" descr="C2_W04_D02_cluttered_slide_STUDENT.png"/>
          <p:cNvPicPr>
            <a:picLocks noChangeAspect="1"/>
          </p:cNvPicPr>
          <p:nvPr/>
        </p:nvPicPr>
        <p:blipFill>
          <a:blip r:embed="rId4"/>
          <a:stretch>
            <a:fillRect/>
          </a:stretch>
        </p:blipFill>
        <p:spPr>
          <a:xfrm>
            <a:off x="3259305" y="1664208"/>
            <a:ext cx="5673084"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Slide A as the operations analyst sent it</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1" i="0">
                <a:solidFill>
                  <a:srgbClr val="1A1440"/>
                </a:solidFill>
                <a:latin typeface="Calibri"/>
              </a:rPr>
              <a:t>Nine numbers from Monday's dashboard, each given the same weight, under a title that names a topic.</a:t>
            </a:r>
            <a:r>
              <a:rPr sz="1600" b="0" i="0">
                <a:solidFill>
                  <a:srgbClr val="1A1440"/>
                </a:solidFill>
                <a:latin typeface="Calibri"/>
              </a:rPr>
              <a:t> The reader cannot tell which number matters, and the first number the eye meets is the one Monday showed to be the wrong one to celebrate.</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8" name="Oval 17"/>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20" name="Oval 19"/>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S33  ·  37 / 59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two of the nine numbers carry the claim?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If the slide may keep only two numbers, which two make the case?</a:t>
            </a:r>
          </a:p>
        </p:txBody>
      </p:sp>
      <p:sp>
        <p:nvSpPr>
          <p:cNvPr id="9" name="TextBox 8"/>
          <p:cNvSpPr txBox="1"/>
          <p:nvPr/>
        </p:nvSpPr>
        <p:spPr>
          <a:xfrm>
            <a:off x="530352" y="1956816"/>
            <a:ext cx="11130991" cy="259283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Peak online hours +24 percent and completed peak trips +3 percent</a:t>
            </a:r>
          </a:p>
          <a:p>
            <a:pPr>
              <a:spcAft>
                <a:spcPts val="800"/>
              </a:spcAft>
            </a:pPr>
            <a:r>
              <a:rPr sz="1600" b="0" i="0">
                <a:solidFill>
                  <a:srgbClr val="1A1440"/>
                </a:solidFill>
                <a:latin typeface="Calibri"/>
              </a:rPr>
              <a:t>b) Trips per peak online hour 1.90 to 1.58 and top-up to low acceptance 61 percent</a:t>
            </a:r>
          </a:p>
          <a:p>
            <a:pPr>
              <a:spcAft>
                <a:spcPts val="800"/>
              </a:spcAft>
            </a:pPr>
            <a:r>
              <a:rPr sz="1600" b="0" i="0">
                <a:solidFill>
                  <a:srgbClr val="1A1440"/>
                </a:solidFill>
                <a:latin typeface="Calibri"/>
              </a:rPr>
              <a:t>c) Median rider wait 4.8 to 4.6 minutes and new drivers since launch 140</a:t>
            </a:r>
          </a:p>
          <a:p>
            <a:pPr>
              <a:spcAft>
                <a:spcPts val="800"/>
              </a:spcAft>
            </a:pPr>
            <a:r>
              <a:rPr sz="1600" b="0" i="0">
                <a:solidFill>
                  <a:srgbClr val="1A1440"/>
                </a:solidFill>
                <a:latin typeface="Calibri"/>
              </a:rPr>
              <a:t>d) Acceptance share 86 to 73 percent and top-up paid Rs 1.9 crore</a:t>
            </a:r>
          </a:p>
          <a:p>
            <a:pPr>
              <a:spcAft>
                <a:spcPts val="800"/>
              </a:spcAft>
            </a:pPr>
            <a:r>
              <a:rPr sz="1600" b="0" i="0">
                <a:solidFill>
                  <a:srgbClr val="1A1440"/>
                </a:solidFill>
                <a:latin typeface="Calibri"/>
              </a:rPr>
              <a:t>The </a:t>
            </a:r>
            <a:r>
              <a:rPr sz="1600" b="1" i="0">
                <a:solidFill>
                  <a:srgbClr val="1A1440"/>
                </a:solidFill>
                <a:latin typeface="Calibri"/>
              </a:rPr>
              <a:t>acceptance share</a:t>
            </a:r>
            <a:r>
              <a:rPr sz="1600" b="0" i="0">
                <a:solidFill>
                  <a:srgbClr val="1A1440"/>
                </a:solidFill>
                <a:latin typeface="Calibri"/>
              </a:rPr>
              <a:t> is requests a driver accepted over requests offered to them. </a:t>
            </a:r>
            <a:r>
              <a:rPr sz="1600" b="1" i="0">
                <a:solidFill>
                  <a:srgbClr val="1A1440"/>
                </a:solidFill>
                <a:latin typeface="Calibri"/>
              </a:rPr>
              <a:t>Low acceptance</a:t>
            </a:r>
            <a:r>
              <a:rPr sz="1600" b="0" i="0">
                <a:solidFill>
                  <a:srgbClr val="1A1440"/>
                </a:solidFill>
                <a:latin typeface="Calibri"/>
              </a:rPr>
              <a:t> means a driver-week that accepted fewer than half the requests offered: after the launch, these are the idle tail's weeks.</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6" name="Oval 15"/>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18" name="Oval 17"/>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S34  ·  38 / 59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slide A rebuilt to one claim and its evidence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slide become when it keeps one claim, one number and its denominator?</a:t>
            </a:r>
          </a:p>
        </p:txBody>
      </p:sp>
      <p:pic>
        <p:nvPicPr>
          <p:cNvPr id="9" name="mermaid diagram" descr="C2_W04_D02_cleared_slide_STUDENT.png"/>
          <p:cNvPicPr>
            <a:picLocks noChangeAspect="1"/>
          </p:cNvPicPr>
          <p:nvPr/>
        </p:nvPicPr>
        <p:blipFill>
          <a:blip r:embed="rId4"/>
          <a:stretch>
            <a:fillRect/>
          </a:stretch>
        </p:blipFill>
        <p:spPr>
          <a:xfrm>
            <a:off x="2585686" y="1664208"/>
            <a:ext cx="7020321" cy="3378200"/>
          </a:xfrm>
          <a:prstGeom prst="rect">
            <a:avLst/>
          </a:prstGeom>
        </p:spPr>
      </p:pic>
      <p:sp>
        <p:nvSpPr>
          <p:cNvPr id="10" name="picture caption"/>
          <p:cNvSpPr txBox="1"/>
          <p:nvPr/>
        </p:nvSpPr>
        <p:spPr>
          <a:xfrm>
            <a:off x="530352" y="5078984"/>
            <a:ext cx="11130991" cy="316992"/>
          </a:xfrm>
          <a:prstGeom prst="rect">
            <a:avLst/>
          </a:prstGeom>
          <a:noFill/>
        </p:spPr>
        <p:txBody>
          <a:bodyPr wrap="square" anchor="t" lIns="0" rIns="0" tIns="0" bIns="0">
            <a:spAutoFit/>
          </a:bodyPr>
          <a:lstStyle/>
          <a:p>
            <a:pPr algn="ctr"/>
            <a:r>
              <a:rPr sz="1200" b="0" i="0">
                <a:solidFill>
                  <a:srgbClr val="6B6690"/>
                </a:solidFill>
                <a:latin typeface="Calibri"/>
              </a:rPr>
              <a:t>Slide A rebuilt, the four parts numbered</a:t>
            </a:r>
          </a:p>
        </p:txBody>
      </p:sp>
      <p:sp>
        <p:nvSpPr>
          <p:cNvPr id="11" name="Rounded Rectangle 10"/>
          <p:cNvSpPr/>
          <p:nvPr/>
        </p:nvSpPr>
        <p:spPr>
          <a:xfrm>
            <a:off x="530352" y="5405120"/>
            <a:ext cx="11130991" cy="6299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533136"/>
            <a:ext cx="45720" cy="3738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523992"/>
            <a:ext cx="10564063" cy="447040"/>
          </a:xfrm>
          <a:prstGeom prst="rect">
            <a:avLst/>
          </a:prstGeom>
          <a:noFill/>
        </p:spPr>
        <p:txBody>
          <a:bodyPr wrap="square" anchor="ctr" lIns="0" rIns="0" tIns="0" bIns="0">
            <a:spAutoFit/>
          </a:bodyPr>
          <a:lstStyle/>
          <a:p>
            <a:r>
              <a:rPr sz="1000" b="1">
                <a:solidFill>
                  <a:srgbClr val="5B3FD6"/>
                </a:solidFill>
                <a:latin typeface="Calibri"/>
              </a:rPr>
              <a:t>The answer is b. </a:t>
            </a:r>
            <a:r>
              <a:rPr sz="1000" b="0" i="0">
                <a:solidFill>
                  <a:srgbClr val="1A1440"/>
                </a:solidFill>
                <a:latin typeface="Calibri"/>
              </a:rPr>
              <a:t>At a flat fare, fewer trips per online hour means lower bookings per online hour, Rs 314 to Rs 260, and that fall is the chart. The 61 percent, the one number beside it, says where the top-up went. Option a is Monday's trap resold: online hours rose 24 percent while riders barely gained.</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6" name="Oval 1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8" name="Oval 17"/>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20" name="Oval 19"/>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22" name="Oval 21"/>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S35  ·  39 / 59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Slide B: nine numbers from finance's tab</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one claim does finance's slide carry, and which number proves it?</a:t>
            </a:r>
          </a:p>
        </p:txBody>
      </p:sp>
      <p:graphicFrame>
        <p:nvGraphicFramePr>
          <p:cNvPr id="9" name="Table 8"/>
          <p:cNvGraphicFramePr>
            <a:graphicFrameLocks noGrp="1"/>
          </p:cNvGraphicFramePr>
          <p:nvPr/>
        </p:nvGraphicFramePr>
        <p:xfrm>
          <a:off x="530352" y="1682496"/>
          <a:ext cx="11130990" cy="3352800"/>
        </p:xfrm>
        <a:graphic>
          <a:graphicData uri="http://schemas.openxmlformats.org/drawingml/2006/table">
            <a:tbl>
              <a:tblPr firstRow="0" bandRow="0">
                <a:tableStyleId>{2D5ABB26-0587-4C30-8999-92F81FD0307C}</a:tableStyleId>
              </a:tblPr>
              <a:tblGrid>
                <a:gridCol w="5754344"/>
                <a:gridCol w="2688323"/>
                <a:gridCol w="2688323"/>
              </a:tblGrid>
              <a:tr h="335280">
                <a:tc>
                  <a:txBody>
                    <a:bodyPr/>
                    <a:lstStyle/>
                    <a:p>
                      <a:r>
                        <a:rPr sz="1250" b="1" i="0">
                          <a:solidFill>
                            <a:srgbClr val="FFFFFF"/>
                          </a:solidFill>
                          <a:latin typeface="Calibri"/>
                        </a:rPr>
                        <a:t>Finance's tab, as sent</a:t>
                      </a:r>
                    </a:p>
                  </a:txBody>
                  <a:tcPr marL="101600" marR="101600" marT="38100" marB="38100" anchor="ctr">
                    <a:solidFill>
                      <a:srgbClr val="1A0F5C"/>
                    </a:solidFill>
                  </a:tcPr>
                </a:tc>
                <a:tc>
                  <a:txBody>
                    <a:bodyPr/>
                    <a:lstStyle/>
                    <a:p>
                      <a:r>
                        <a:rPr sz="1250" b="1" i="0">
                          <a:solidFill>
                            <a:srgbClr val="FFFFFF"/>
                          </a:solidFill>
                          <a:latin typeface="Calibri"/>
                        </a:rPr>
                        <a:t>Before</a:t>
                      </a:r>
                    </a:p>
                  </a:txBody>
                  <a:tcPr marL="101600" marR="101600" marT="38100" marB="38100" anchor="ctr">
                    <a:solidFill>
                      <a:srgbClr val="1A0F5C"/>
                    </a:solidFill>
                  </a:tcPr>
                </a:tc>
                <a:tc>
                  <a:txBody>
                    <a:bodyPr/>
                    <a:lstStyle/>
                    <a:p>
                      <a:r>
                        <a:rPr sz="1250" b="1" i="0">
                          <a:solidFill>
                            <a:srgbClr val="FFFFFF"/>
                          </a:solidFill>
                          <a:latin typeface="Calibri"/>
                        </a:rPr>
                        <a:t>After</a:t>
                      </a:r>
                    </a:p>
                  </a:txBody>
                  <a:tcPr marL="101600" marR="101600" marT="38100" marB="38100" anchor="ctr">
                    <a:solidFill>
                      <a:srgbClr val="1A0F5C"/>
                    </a:solidFill>
                  </a:tcPr>
                </a:tc>
              </a:tr>
              <a:tr h="335280">
                <a:tc>
                  <a:txBody>
                    <a:bodyPr/>
                    <a:lstStyle/>
                    <a:p>
                      <a:r>
                        <a:rPr sz="1200" b="0" i="0">
                          <a:solidFill>
                            <a:srgbClr val="1A1440"/>
                          </a:solidFill>
                          <a:latin typeface="Calibri"/>
                        </a:rPr>
                        <a:t>Gross peak bookings</a:t>
                      </a:r>
                    </a:p>
                  </a:txBody>
                  <a:tcPr marL="101600" marR="101600" marT="38100" marB="38100" anchor="ctr">
                    <a:solidFill>
                      <a:srgbClr val="FFFFFF"/>
                    </a:solidFill>
                  </a:tcPr>
                </a:tc>
                <a:tc>
                  <a:txBody>
                    <a:bodyPr/>
                    <a:lstStyle/>
                    <a:p>
                      <a:r>
                        <a:rPr sz="1200" b="0" i="0">
                          <a:solidFill>
                            <a:srgbClr val="1A1440"/>
                          </a:solidFill>
                          <a:latin typeface="Calibri"/>
                        </a:rPr>
                        <a:t>Rs 3.70 crore</a:t>
                      </a:r>
                    </a:p>
                  </a:txBody>
                  <a:tcPr marL="101600" marR="101600" marT="38100" marB="38100" anchor="ctr">
                    <a:solidFill>
                      <a:srgbClr val="FFFFFF"/>
                    </a:solidFill>
                  </a:tcPr>
                </a:tc>
                <a:tc>
                  <a:txBody>
                    <a:bodyPr/>
                    <a:lstStyle/>
                    <a:p>
                      <a:r>
                        <a:rPr sz="1200" b="0" i="0">
                          <a:solidFill>
                            <a:srgbClr val="1A1440"/>
                          </a:solidFill>
                          <a:latin typeface="Calibri"/>
                        </a:rPr>
                        <a:t>Rs 3.81 crore</a:t>
                      </a:r>
                    </a:p>
                  </a:txBody>
                  <a:tcPr marL="101600" marR="101600" marT="38100" marB="38100" anchor="ctr">
                    <a:solidFill>
                      <a:srgbClr val="FFFFFF"/>
                    </a:solidFill>
                  </a:tcPr>
                </a:tc>
              </a:tr>
              <a:tr h="335280">
                <a:tc>
                  <a:txBody>
                    <a:bodyPr/>
                    <a:lstStyle/>
                    <a:p>
                      <a:r>
                        <a:rPr sz="1200" b="0" i="0">
                          <a:solidFill>
                            <a:srgbClr val="1A1440"/>
                          </a:solidFill>
                          <a:latin typeface="Calibri"/>
                        </a:rPr>
                        <a:t>Bookings per online hour</a:t>
                      </a:r>
                    </a:p>
                  </a:txBody>
                  <a:tcPr marL="101600" marR="101600" marT="38100" marB="38100" anchor="ctr">
                    <a:solidFill>
                      <a:srgbClr val="F4F2FA"/>
                    </a:solidFill>
                  </a:tcPr>
                </a:tc>
                <a:tc>
                  <a:txBody>
                    <a:bodyPr/>
                    <a:lstStyle/>
                    <a:p>
                      <a:r>
                        <a:rPr sz="1200" b="0" i="0">
                          <a:solidFill>
                            <a:srgbClr val="1A1440"/>
                          </a:solidFill>
                          <a:latin typeface="Calibri"/>
                        </a:rPr>
                        <a:t>Rs 314</a:t>
                      </a:r>
                    </a:p>
                  </a:txBody>
                  <a:tcPr marL="101600" marR="101600" marT="38100" marB="38100" anchor="ctr">
                    <a:solidFill>
                      <a:srgbClr val="F4F2FA"/>
                    </a:solidFill>
                  </a:tcPr>
                </a:tc>
                <a:tc>
                  <a:txBody>
                    <a:bodyPr/>
                    <a:lstStyle/>
                    <a:p>
                      <a:r>
                        <a:rPr sz="1200" b="0" i="0">
                          <a:solidFill>
                            <a:srgbClr val="1A1440"/>
                          </a:solidFill>
                          <a:latin typeface="Calibri"/>
                        </a:rPr>
                        <a:t>Rs 260</a:t>
                      </a:r>
                    </a:p>
                  </a:txBody>
                  <a:tcPr marL="101600" marR="101600" marT="38100" marB="38100" anchor="ctr">
                    <a:solidFill>
                      <a:srgbClr val="F4F2FA"/>
                    </a:solidFill>
                  </a:tcPr>
                </a:tc>
              </a:tr>
              <a:tr h="335280">
                <a:tc>
                  <a:txBody>
                    <a:bodyPr/>
                    <a:lstStyle/>
                    <a:p>
                      <a:r>
                        <a:rPr sz="1200" b="0" i="0">
                          <a:solidFill>
                            <a:srgbClr val="1A1440"/>
                          </a:solidFill>
                          <a:latin typeface="Calibri"/>
                        </a:rPr>
                        <a:t>Bookings per active driver-week</a:t>
                      </a:r>
                    </a:p>
                  </a:txBody>
                  <a:tcPr marL="101600" marR="101600" marT="38100" marB="38100" anchor="ctr">
                    <a:solidFill>
                      <a:srgbClr val="FFFFFF"/>
                    </a:solidFill>
                  </a:tcPr>
                </a:tc>
                <a:tc>
                  <a:txBody>
                    <a:bodyPr/>
                    <a:lstStyle/>
                    <a:p>
                      <a:r>
                        <a:rPr sz="1200" b="0" i="0">
                          <a:solidFill>
                            <a:srgbClr val="1A1440"/>
                          </a:solidFill>
                          <a:latin typeface="Calibri"/>
                        </a:rPr>
                        <a:t>Rs 5,817</a:t>
                      </a:r>
                    </a:p>
                  </a:txBody>
                  <a:tcPr marL="101600" marR="101600" marT="38100" marB="38100" anchor="ctr">
                    <a:solidFill>
                      <a:srgbClr val="FFFFFF"/>
                    </a:solidFill>
                  </a:tcPr>
                </a:tc>
                <a:tc>
                  <a:txBody>
                    <a:bodyPr/>
                    <a:lstStyle/>
                    <a:p>
                      <a:r>
                        <a:rPr sz="1200" b="0" i="0">
                          <a:solidFill>
                            <a:srgbClr val="1A1440"/>
                          </a:solidFill>
                          <a:latin typeface="Calibri"/>
                        </a:rPr>
                        <a:t>Rs 5,861</a:t>
                      </a:r>
                    </a:p>
                  </a:txBody>
                  <a:tcPr marL="101600" marR="101600" marT="38100" marB="38100" anchor="ctr">
                    <a:solidFill>
                      <a:srgbClr val="FFFFFF"/>
                    </a:solidFill>
                  </a:tcPr>
                </a:tc>
              </a:tr>
              <a:tr h="335280">
                <a:tc>
                  <a:txBody>
                    <a:bodyPr/>
                    <a:lstStyle/>
                    <a:p>
                      <a:r>
                        <a:rPr sz="1200" b="0" i="0">
                          <a:solidFill>
                            <a:srgbClr val="1A1440"/>
                          </a:solidFill>
                          <a:latin typeface="Calibri"/>
                        </a:rPr>
                        <a:t>Bookings per trip</a:t>
                      </a:r>
                    </a:p>
                  </a:txBody>
                  <a:tcPr marL="101600" marR="101600" marT="38100" marB="38100" anchor="ctr">
                    <a:solidFill>
                      <a:srgbClr val="F4F2FA"/>
                    </a:solidFill>
                  </a:tcPr>
                </a:tc>
                <a:tc>
                  <a:txBody>
                    <a:bodyPr/>
                    <a:lstStyle/>
                    <a:p>
                      <a:r>
                        <a:rPr sz="1200" b="0" i="0">
                          <a:solidFill>
                            <a:srgbClr val="1A1440"/>
                          </a:solidFill>
                          <a:latin typeface="Calibri"/>
                        </a:rPr>
                        <a:t>Rs 165</a:t>
                      </a:r>
                    </a:p>
                  </a:txBody>
                  <a:tcPr marL="101600" marR="101600" marT="38100" marB="38100" anchor="ctr">
                    <a:solidFill>
                      <a:srgbClr val="F4F2FA"/>
                    </a:solidFill>
                  </a:tcPr>
                </a:tc>
                <a:tc>
                  <a:txBody>
                    <a:bodyPr/>
                    <a:lstStyle/>
                    <a:p>
                      <a:r>
                        <a:rPr sz="1200" b="0" i="0">
                          <a:solidFill>
                            <a:srgbClr val="1A1440"/>
                          </a:solidFill>
                          <a:latin typeface="Calibri"/>
                        </a:rPr>
                        <a:t>Rs 165</a:t>
                      </a:r>
                    </a:p>
                  </a:txBody>
                  <a:tcPr marL="101600" marR="101600" marT="38100" marB="38100" anchor="ctr">
                    <a:solidFill>
                      <a:srgbClr val="F4F2FA"/>
                    </a:solidFill>
                  </a:tcPr>
                </a:tc>
              </a:tr>
              <a:tr h="335280">
                <a:tc>
                  <a:txBody>
                    <a:bodyPr/>
                    <a:lstStyle/>
                    <a:p>
                      <a:r>
                        <a:rPr sz="1200" b="0" i="0">
                          <a:solidFill>
                            <a:srgbClr val="1A1440"/>
                          </a:solidFill>
                          <a:latin typeface="Calibri"/>
                        </a:rPr>
                        <a:t>Top-up paid</a:t>
                      </a:r>
                    </a:p>
                  </a:txBody>
                  <a:tcPr marL="101600" marR="101600" marT="38100" marB="38100" anchor="ctr">
                    <a:solidFill>
                      <a:srgbClr val="FFFFFF"/>
                    </a:solidFill>
                  </a:tcPr>
                </a:tc>
                <a:tc>
                  <a:txBody>
                    <a:bodyPr/>
                    <a:lstStyle/>
                    <a:p>
                      <a:r>
                        <a:rPr sz="1200" b="0" i="0">
                          <a:solidFill>
                            <a:srgbClr val="1A1440"/>
                          </a:solidFill>
                          <a:latin typeface="Calibri"/>
                        </a:rPr>
                        <a:t>Rs 0</a:t>
                      </a:r>
                    </a:p>
                  </a:txBody>
                  <a:tcPr marL="101600" marR="101600" marT="38100" marB="38100" anchor="ctr">
                    <a:solidFill>
                      <a:srgbClr val="FFFFFF"/>
                    </a:solidFill>
                  </a:tcPr>
                </a:tc>
                <a:tc>
                  <a:txBody>
                    <a:bodyPr/>
                    <a:lstStyle/>
                    <a:p>
                      <a:r>
                        <a:rPr sz="1200" b="0" i="0">
                          <a:solidFill>
                            <a:srgbClr val="1A1440"/>
                          </a:solidFill>
                          <a:latin typeface="Calibri"/>
                        </a:rPr>
                        <a:t>Rs 1.9 crore</a:t>
                      </a:r>
                    </a:p>
                  </a:txBody>
                  <a:tcPr marL="101600" marR="101600" marT="38100" marB="38100" anchor="ctr">
                    <a:solidFill>
                      <a:srgbClr val="FFFFFF"/>
                    </a:solidFill>
                  </a:tcPr>
                </a:tc>
              </a:tr>
              <a:tr h="335280">
                <a:tc>
                  <a:txBody>
                    <a:bodyPr/>
                    <a:lstStyle/>
                    <a:p>
                      <a:r>
                        <a:rPr sz="1200" b="0" i="0">
                          <a:solidFill>
                            <a:srgbClr val="1A1440"/>
                          </a:solidFill>
                          <a:latin typeface="Calibri"/>
                        </a:rPr>
                        <a:t>Top-up per completed trip</a:t>
                      </a:r>
                    </a:p>
                  </a:txBody>
                  <a:tcPr marL="101600" marR="101600" marT="38100" marB="38100" anchor="ctr">
                    <a:solidFill>
                      <a:srgbClr val="F4F2FA"/>
                    </a:solidFill>
                  </a:tcPr>
                </a:tc>
                <a:tc>
                  <a:txBody>
                    <a:bodyPr/>
                    <a:lstStyle/>
                    <a:p/>
                  </a:txBody>
                  <a:tcPr marL="101600" marR="101600" marT="38100" marB="38100" anchor="ctr">
                    <a:solidFill>
                      <a:srgbClr val="F4F2FA"/>
                    </a:solidFill>
                  </a:tcPr>
                </a:tc>
                <a:tc>
                  <a:txBody>
                    <a:bodyPr/>
                    <a:lstStyle/>
                    <a:p>
                      <a:r>
                        <a:rPr sz="1200" b="0" i="0">
                          <a:solidFill>
                            <a:srgbClr val="1A1440"/>
                          </a:solidFill>
                          <a:latin typeface="Calibri"/>
                        </a:rPr>
                        <a:t>Rs 82.3</a:t>
                      </a:r>
                    </a:p>
                  </a:txBody>
                  <a:tcPr marL="101600" marR="101600" marT="38100" marB="38100" anchor="ctr">
                    <a:solidFill>
                      <a:srgbClr val="F4F2FA"/>
                    </a:solidFill>
                  </a:tcPr>
                </a:tc>
              </a:tr>
              <a:tr h="335280">
                <a:tc>
                  <a:txBody>
                    <a:bodyPr/>
                    <a:lstStyle/>
                    <a:p>
                      <a:r>
                        <a:rPr sz="1200" b="0" i="0">
                          <a:solidFill>
                            <a:srgbClr val="1A1440"/>
                          </a:solidFill>
                          <a:latin typeface="Calibri"/>
                        </a:rPr>
                        <a:t>Top-up to low acceptance</a:t>
                      </a:r>
                    </a:p>
                  </a:txBody>
                  <a:tcPr marL="101600" marR="101600" marT="38100" marB="38100" anchor="ctr">
                    <a:solidFill>
                      <a:srgbClr val="FFFFFF"/>
                    </a:solidFill>
                  </a:tcPr>
                </a:tc>
                <a:tc>
                  <a:txBody>
                    <a:bodyPr/>
                    <a:lstStyle/>
                    <a:p/>
                  </a:txBody>
                  <a:tcPr marL="101600" marR="101600" marT="38100" marB="38100" anchor="ctr">
                    <a:solidFill>
                      <a:srgbClr val="FFFFFF"/>
                    </a:solidFill>
                  </a:tcPr>
                </a:tc>
                <a:tc>
                  <a:txBody>
                    <a:bodyPr/>
                    <a:lstStyle/>
                    <a:p>
                      <a:r>
                        <a:rPr sz="1200" b="0" i="0">
                          <a:solidFill>
                            <a:srgbClr val="1A1440"/>
                          </a:solidFill>
                          <a:latin typeface="Calibri"/>
                        </a:rPr>
                        <a:t>Rs 1.16 crore</a:t>
                      </a:r>
                    </a:p>
                  </a:txBody>
                  <a:tcPr marL="101600" marR="101600" marT="38100" marB="38100" anchor="ctr">
                    <a:solidFill>
                      <a:srgbClr val="FFFFFF"/>
                    </a:solidFill>
                  </a:tcPr>
                </a:tc>
              </a:tr>
              <a:tr h="335280">
                <a:tc>
                  <a:txBody>
                    <a:bodyPr/>
                    <a:lstStyle/>
                    <a:p>
                      <a:r>
                        <a:rPr sz="1200" b="0" i="0">
                          <a:solidFill>
                            <a:srgbClr val="1A1440"/>
                          </a:solidFill>
                          <a:latin typeface="Calibri"/>
                        </a:rPr>
                        <a:t>Top-up to everyone else</a:t>
                      </a:r>
                    </a:p>
                  </a:txBody>
                  <a:tcPr marL="101600" marR="101600" marT="38100" marB="38100" anchor="ctr">
                    <a:solidFill>
                      <a:srgbClr val="F4F2FA"/>
                    </a:solidFill>
                  </a:tcPr>
                </a:tc>
                <a:tc>
                  <a:txBody>
                    <a:bodyPr/>
                    <a:lstStyle/>
                    <a:p/>
                  </a:txBody>
                  <a:tcPr marL="101600" marR="101600" marT="38100" marB="38100" anchor="ctr">
                    <a:solidFill>
                      <a:srgbClr val="F4F2FA"/>
                    </a:solidFill>
                  </a:tcPr>
                </a:tc>
                <a:tc>
                  <a:txBody>
                    <a:bodyPr/>
                    <a:lstStyle/>
                    <a:p>
                      <a:r>
                        <a:rPr sz="1200" b="0" i="0">
                          <a:solidFill>
                            <a:srgbClr val="1A1440"/>
                          </a:solidFill>
                          <a:latin typeface="Calibri"/>
                        </a:rPr>
                        <a:t>Rs 74 lakh</a:t>
                      </a:r>
                    </a:p>
                  </a:txBody>
                  <a:tcPr marL="101600" marR="101600" marT="38100" marB="38100" anchor="ctr">
                    <a:solidFill>
                      <a:srgbClr val="F4F2FA"/>
                    </a:solidFill>
                  </a:tcPr>
                </a:tc>
              </a:tr>
              <a:tr h="335280">
                <a:tc>
                  <a:txBody>
                    <a:bodyPr/>
                    <a:lstStyle/>
                    <a:p>
                      <a:r>
                        <a:rPr sz="1200" b="0" i="0">
                          <a:solidFill>
                            <a:srgbClr val="1A1440"/>
                          </a:solidFill>
                          <a:latin typeface="Calibri"/>
                        </a:rPr>
                        <a:t>Rider requests</a:t>
                      </a:r>
                    </a:p>
                  </a:txBody>
                  <a:tcPr marL="101600" marR="101600" marT="38100" marB="38100" anchor="ctr">
                    <a:solidFill>
                      <a:srgbClr val="FFFFFF"/>
                    </a:solidFill>
                  </a:tcPr>
                </a:tc>
                <a:tc>
                  <a:txBody>
                    <a:bodyPr/>
                    <a:lstStyle/>
                    <a:p>
                      <a:r>
                        <a:rPr sz="1200" b="0" i="0">
                          <a:solidFill>
                            <a:srgbClr val="1A1440"/>
                          </a:solidFill>
                          <a:latin typeface="Calibri"/>
                        </a:rPr>
                        <a:t>251,910</a:t>
                      </a:r>
                    </a:p>
                  </a:txBody>
                  <a:tcPr marL="101600" marR="101600" marT="38100" marB="38100" anchor="ctr">
                    <a:solidFill>
                      <a:srgbClr val="FFFFFF"/>
                    </a:solidFill>
                  </a:tcPr>
                </a:tc>
                <a:tc>
                  <a:txBody>
                    <a:bodyPr/>
                    <a:lstStyle/>
                    <a:p>
                      <a:r>
                        <a:rPr sz="1200" b="0" i="0">
                          <a:solidFill>
                            <a:srgbClr val="1A1440"/>
                          </a:solidFill>
                          <a:latin typeface="Calibri"/>
                        </a:rPr>
                        <a:t>256,556</a:t>
                      </a:r>
                    </a:p>
                  </a:txBody>
                  <a:tcPr marL="101600" marR="101600" marT="38100" marB="38100" anchor="ctr">
                    <a:solidFill>
                      <a:srgbClr val="FFFFFF"/>
                    </a:solidFill>
                  </a:tcPr>
                </a:tc>
              </a:tr>
            </a:tbl>
          </a:graphicData>
        </a:graphic>
      </p:graphicFrame>
      <p:sp>
        <p:nvSpPr>
          <p:cNvPr id="10" name="Rounded Rectangle 9"/>
          <p:cNvSpPr/>
          <p:nvPr/>
        </p:nvSpPr>
        <p:spPr>
          <a:xfrm>
            <a:off x="530352" y="5291328"/>
            <a:ext cx="11130991" cy="73660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419344"/>
            <a:ext cx="45720" cy="48056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410200"/>
            <a:ext cx="10564063" cy="553720"/>
          </a:xfrm>
          <a:prstGeom prst="rect">
            <a:avLst/>
          </a:prstGeom>
          <a:noFill/>
        </p:spPr>
        <p:txBody>
          <a:bodyPr wrap="square" anchor="ctr" lIns="0" rIns="0" tIns="0" bIns="0">
            <a:spAutoFit/>
          </a:bodyPr>
          <a:lstStyle/>
          <a:p>
            <a:r>
              <a:rPr sz="1300" b="1">
                <a:solidFill>
                  <a:srgbClr val="5B3FD6"/>
                </a:solidFill>
                <a:latin typeface="Calibri"/>
              </a:rPr>
              <a:t>Half worked. </a:t>
            </a:r>
            <a:r>
              <a:rPr sz="1300" b="0" i="0">
                <a:solidFill>
                  <a:srgbClr val="1A1440"/>
                </a:solidFill>
                <a:latin typeface="Calibri"/>
              </a:rPr>
              <a:t>The claim is drafted for you: "Most of the top-up went to driver-weeks that accepted fewer than half their offers." Choose the one number that proves it, and keep the monsoon caveat beside it.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9" name="Oval 18"/>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21" name="Oval 2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S36  ·  40 / 59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Slide C: nine numbers from driver operations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one claim does driver operations' slide carry, in a sentence of your own?</a:t>
            </a:r>
          </a:p>
        </p:txBody>
      </p:sp>
      <p:graphicFrame>
        <p:nvGraphicFramePr>
          <p:cNvPr id="9" name="Table 8"/>
          <p:cNvGraphicFramePr>
            <a:graphicFrameLocks noGrp="1"/>
          </p:cNvGraphicFramePr>
          <p:nvPr/>
        </p:nvGraphicFramePr>
        <p:xfrm>
          <a:off x="530352" y="1682496"/>
          <a:ext cx="11130990" cy="3352800"/>
        </p:xfrm>
        <a:graphic>
          <a:graphicData uri="http://schemas.openxmlformats.org/drawingml/2006/table">
            <a:tbl>
              <a:tblPr firstRow="0" bandRow="0">
                <a:tableStyleId>{2D5ABB26-0587-4C30-8999-92F81FD0307C}</a:tableStyleId>
              </a:tblPr>
              <a:tblGrid>
                <a:gridCol w="7049047"/>
                <a:gridCol w="1707100"/>
                <a:gridCol w="2374843"/>
              </a:tblGrid>
              <a:tr h="335280">
                <a:tc>
                  <a:txBody>
                    <a:bodyPr/>
                    <a:lstStyle/>
                    <a:p>
                      <a:r>
                        <a:rPr sz="1250" b="1" i="0">
                          <a:solidFill>
                            <a:srgbClr val="FFFFFF"/>
                          </a:solidFill>
                          <a:latin typeface="Calibri"/>
                        </a:rPr>
                        <a:t>Driver operations' tab, as sent</a:t>
                      </a:r>
                    </a:p>
                  </a:txBody>
                  <a:tcPr marL="101600" marR="101600" marT="38100" marB="38100" anchor="ctr">
                    <a:solidFill>
                      <a:srgbClr val="1A0F5C"/>
                    </a:solidFill>
                  </a:tcPr>
                </a:tc>
                <a:tc>
                  <a:txBody>
                    <a:bodyPr/>
                    <a:lstStyle/>
                    <a:p>
                      <a:r>
                        <a:rPr sz="1250" b="1" i="0">
                          <a:solidFill>
                            <a:srgbClr val="FFFFFF"/>
                          </a:solidFill>
                          <a:latin typeface="Calibri"/>
                        </a:rPr>
                        <a:t>Before</a:t>
                      </a:r>
                    </a:p>
                  </a:txBody>
                  <a:tcPr marL="101600" marR="101600" marT="38100" marB="38100" anchor="ctr">
                    <a:solidFill>
                      <a:srgbClr val="1A0F5C"/>
                    </a:solidFill>
                  </a:tcPr>
                </a:tc>
                <a:tc>
                  <a:txBody>
                    <a:bodyPr/>
                    <a:lstStyle/>
                    <a:p>
                      <a:r>
                        <a:rPr sz="1250" b="1" i="0">
                          <a:solidFill>
                            <a:srgbClr val="FFFFFF"/>
                          </a:solidFill>
                          <a:latin typeface="Calibri"/>
                        </a:rPr>
                        <a:t>After</a:t>
                      </a:r>
                    </a:p>
                  </a:txBody>
                  <a:tcPr marL="101600" marR="101600" marT="38100" marB="38100" anchor="ctr">
                    <a:solidFill>
                      <a:srgbClr val="1A0F5C"/>
                    </a:solidFill>
                  </a:tcPr>
                </a:tc>
              </a:tr>
              <a:tr h="335280">
                <a:tc>
                  <a:txBody>
                    <a:bodyPr/>
                    <a:lstStyle/>
                    <a:p>
                      <a:r>
                        <a:rPr sz="1200" b="0" i="0">
                          <a:solidFill>
                            <a:srgbClr val="1A1440"/>
                          </a:solidFill>
                          <a:latin typeface="Calibri"/>
                        </a:rPr>
                        <a:t>Drivers</a:t>
                      </a:r>
                    </a:p>
                  </a:txBody>
                  <a:tcPr marL="101600" marR="101600" marT="38100" marB="38100" anchor="ctr">
                    <a:solidFill>
                      <a:srgbClr val="FFFFFF"/>
                    </a:solidFill>
                  </a:tcPr>
                </a:tc>
                <a:tc>
                  <a:txBody>
                    <a:bodyPr/>
                    <a:lstStyle/>
                    <a:p>
                      <a:r>
                        <a:rPr sz="1200" b="0" i="0">
                          <a:solidFill>
                            <a:srgbClr val="1A1440"/>
                          </a:solidFill>
                          <a:latin typeface="Calibri"/>
                        </a:rPr>
                        <a:t>1,060</a:t>
                      </a:r>
                    </a:p>
                  </a:txBody>
                  <a:tcPr marL="101600" marR="101600" marT="38100" marB="38100" anchor="ctr">
                    <a:solidFill>
                      <a:srgbClr val="FFFFFF"/>
                    </a:solidFill>
                  </a:tcPr>
                </a:tc>
                <a:tc>
                  <a:txBody>
                    <a:bodyPr/>
                    <a:lstStyle/>
                    <a:p>
                      <a:r>
                        <a:rPr sz="1200" b="0" i="0">
                          <a:solidFill>
                            <a:srgbClr val="1A1440"/>
                          </a:solidFill>
                          <a:latin typeface="Calibri"/>
                        </a:rPr>
                        <a:t>1,200 (140 new)</a:t>
                      </a:r>
                    </a:p>
                  </a:txBody>
                  <a:tcPr marL="101600" marR="101600" marT="38100" marB="38100" anchor="ctr">
                    <a:solidFill>
                      <a:srgbClr val="FFFFFF"/>
                    </a:solidFill>
                  </a:tcPr>
                </a:tc>
              </a:tr>
              <a:tr h="335280">
                <a:tc>
                  <a:txBody>
                    <a:bodyPr/>
                    <a:lstStyle/>
                    <a:p>
                      <a:r>
                        <a:rPr sz="1200" b="0" i="0">
                          <a:solidFill>
                            <a:srgbClr val="1A1440"/>
                          </a:solidFill>
                          <a:latin typeface="Calibri"/>
                        </a:rPr>
                        <a:t>Active driver-weeks</a:t>
                      </a:r>
                    </a:p>
                  </a:txBody>
                  <a:tcPr marL="101600" marR="101600" marT="38100" marB="38100" anchor="ctr">
                    <a:solidFill>
                      <a:srgbClr val="F4F2FA"/>
                    </a:solidFill>
                  </a:tcPr>
                </a:tc>
                <a:tc>
                  <a:txBody>
                    <a:bodyPr/>
                    <a:lstStyle/>
                    <a:p>
                      <a:r>
                        <a:rPr sz="1200" b="0" i="0">
                          <a:solidFill>
                            <a:srgbClr val="1A1440"/>
                          </a:solidFill>
                          <a:latin typeface="Calibri"/>
                        </a:rPr>
                        <a:t>6,360</a:t>
                      </a:r>
                    </a:p>
                  </a:txBody>
                  <a:tcPr marL="101600" marR="101600" marT="38100" marB="38100" anchor="ctr">
                    <a:solidFill>
                      <a:srgbClr val="F4F2FA"/>
                    </a:solidFill>
                  </a:tcPr>
                </a:tc>
                <a:tc>
                  <a:txBody>
                    <a:bodyPr/>
                    <a:lstStyle/>
                    <a:p>
                      <a:r>
                        <a:rPr sz="1200" b="0" i="0">
                          <a:solidFill>
                            <a:srgbClr val="1A1440"/>
                          </a:solidFill>
                          <a:latin typeface="Calibri"/>
                        </a:rPr>
                        <a:t>6,500</a:t>
                      </a:r>
                    </a:p>
                  </a:txBody>
                  <a:tcPr marL="101600" marR="101600" marT="38100" marB="38100" anchor="ctr">
                    <a:solidFill>
                      <a:srgbClr val="F4F2FA"/>
                    </a:solidFill>
                  </a:tcPr>
                </a:tc>
              </a:tr>
              <a:tr h="335280">
                <a:tc>
                  <a:txBody>
                    <a:bodyPr/>
                    <a:lstStyle/>
                    <a:p>
                      <a:r>
                        <a:rPr sz="1200" b="0" i="0">
                          <a:solidFill>
                            <a:srgbClr val="1A1440"/>
                          </a:solidFill>
                          <a:latin typeface="Calibri"/>
                        </a:rPr>
                        <a:t>Offers shown (a declined request is offered again)</a:t>
                      </a:r>
                    </a:p>
                  </a:txBody>
                  <a:tcPr marL="101600" marR="101600" marT="38100" marB="38100" anchor="ctr">
                    <a:solidFill>
                      <a:srgbClr val="FFFFFF"/>
                    </a:solidFill>
                  </a:tcPr>
                </a:tc>
                <a:tc>
                  <a:txBody>
                    <a:bodyPr/>
                    <a:lstStyle/>
                    <a:p>
                      <a:r>
                        <a:rPr sz="1200" b="0" i="0">
                          <a:solidFill>
                            <a:srgbClr val="1A1440"/>
                          </a:solidFill>
                          <a:latin typeface="Calibri"/>
                        </a:rPr>
                        <a:t>269,773</a:t>
                      </a:r>
                    </a:p>
                  </a:txBody>
                  <a:tcPr marL="101600" marR="101600" marT="38100" marB="38100" anchor="ctr">
                    <a:solidFill>
                      <a:srgbClr val="FFFFFF"/>
                    </a:solidFill>
                  </a:tcPr>
                </a:tc>
                <a:tc>
                  <a:txBody>
                    <a:bodyPr/>
                    <a:lstStyle/>
                    <a:p>
                      <a:r>
                        <a:rPr sz="1200" b="0" i="0">
                          <a:solidFill>
                            <a:srgbClr val="1A1440"/>
                          </a:solidFill>
                          <a:latin typeface="Calibri"/>
                        </a:rPr>
                        <a:t>347,583</a:t>
                      </a:r>
                    </a:p>
                  </a:txBody>
                  <a:tcPr marL="101600" marR="101600" marT="38100" marB="38100" anchor="ctr">
                    <a:solidFill>
                      <a:srgbClr val="FFFFFF"/>
                    </a:solidFill>
                  </a:tcPr>
                </a:tc>
              </a:tr>
              <a:tr h="335280">
                <a:tc>
                  <a:txBody>
                    <a:bodyPr/>
                    <a:lstStyle/>
                    <a:p>
                      <a:r>
                        <a:rPr sz="1200" b="0" i="0">
                          <a:solidFill>
                            <a:srgbClr val="1A1440"/>
                          </a:solidFill>
                          <a:latin typeface="Calibri"/>
                        </a:rPr>
                        <a:t>Acceptance share</a:t>
                      </a:r>
                    </a:p>
                  </a:txBody>
                  <a:tcPr marL="101600" marR="101600" marT="38100" marB="38100" anchor="ctr">
                    <a:solidFill>
                      <a:srgbClr val="F4F2FA"/>
                    </a:solidFill>
                  </a:tcPr>
                </a:tc>
                <a:tc>
                  <a:txBody>
                    <a:bodyPr/>
                    <a:lstStyle/>
                    <a:p>
                      <a:r>
                        <a:rPr sz="1200" b="0" i="0">
                          <a:solidFill>
                            <a:srgbClr val="1A1440"/>
                          </a:solidFill>
                          <a:latin typeface="Calibri"/>
                        </a:rPr>
                        <a:t>86 percent</a:t>
                      </a:r>
                    </a:p>
                  </a:txBody>
                  <a:tcPr marL="101600" marR="101600" marT="38100" marB="38100" anchor="ctr">
                    <a:solidFill>
                      <a:srgbClr val="F4F2FA"/>
                    </a:solidFill>
                  </a:tcPr>
                </a:tc>
                <a:tc>
                  <a:txBody>
                    <a:bodyPr/>
                    <a:lstStyle/>
                    <a:p>
                      <a:r>
                        <a:rPr sz="1200" b="0" i="0">
                          <a:solidFill>
                            <a:srgbClr val="1A1440"/>
                          </a:solidFill>
                          <a:latin typeface="Calibri"/>
                        </a:rPr>
                        <a:t>73 percent</a:t>
                      </a:r>
                    </a:p>
                  </a:txBody>
                  <a:tcPr marL="101600" marR="101600" marT="38100" marB="38100" anchor="ctr">
                    <a:solidFill>
                      <a:srgbClr val="F4F2FA"/>
                    </a:solidFill>
                  </a:tcPr>
                </a:tc>
              </a:tr>
              <a:tr h="335280">
                <a:tc>
                  <a:txBody>
                    <a:bodyPr/>
                    <a:lstStyle/>
                    <a:p>
                      <a:r>
                        <a:rPr sz="1200" b="0" i="0">
                          <a:solidFill>
                            <a:srgbClr val="1A1440"/>
                          </a:solidFill>
                          <a:latin typeface="Calibri"/>
                        </a:rPr>
                        <a:t>Driver cancels after accepting</a:t>
                      </a:r>
                    </a:p>
                  </a:txBody>
                  <a:tcPr marL="101600" marR="101600" marT="38100" marB="38100" anchor="ctr">
                    <a:solidFill>
                      <a:srgbClr val="FFFFFF"/>
                    </a:solidFill>
                  </a:tcPr>
                </a:tc>
                <a:tc>
                  <a:txBody>
                    <a:bodyPr/>
                    <a:lstStyle/>
                    <a:p>
                      <a:r>
                        <a:rPr sz="1200" b="0" i="0">
                          <a:solidFill>
                            <a:srgbClr val="1A1440"/>
                          </a:solidFill>
                          <a:latin typeface="Calibri"/>
                        </a:rPr>
                        <a:t>4 percent</a:t>
                      </a:r>
                    </a:p>
                  </a:txBody>
                  <a:tcPr marL="101600" marR="101600" marT="38100" marB="38100" anchor="ctr">
                    <a:solidFill>
                      <a:srgbClr val="FFFFFF"/>
                    </a:solidFill>
                  </a:tcPr>
                </a:tc>
                <a:tc>
                  <a:txBody>
                    <a:bodyPr/>
                    <a:lstStyle/>
                    <a:p>
                      <a:r>
                        <a:rPr sz="1200" b="0" i="0">
                          <a:solidFill>
                            <a:srgbClr val="1A1440"/>
                          </a:solidFill>
                          <a:latin typeface="Calibri"/>
                        </a:rPr>
                        <a:t>9 percent</a:t>
                      </a:r>
                    </a:p>
                  </a:txBody>
                  <a:tcPr marL="101600" marR="101600" marT="38100" marB="38100" anchor="ctr">
                    <a:solidFill>
                      <a:srgbClr val="FFFFFF"/>
                    </a:solidFill>
                  </a:tcPr>
                </a:tc>
              </a:tr>
              <a:tr h="335280">
                <a:tc>
                  <a:txBody>
                    <a:bodyPr/>
                    <a:lstStyle/>
                    <a:p>
                      <a:r>
                        <a:rPr sz="1200" b="0" i="0">
                          <a:solidFill>
                            <a:srgbClr val="1A1440"/>
                          </a:solidFill>
                          <a:latin typeface="Calibri"/>
                        </a:rPr>
                        <a:t>Drivers in the idle tail</a:t>
                      </a:r>
                    </a:p>
                  </a:txBody>
                  <a:tcPr marL="101600" marR="101600" marT="38100" marB="38100" anchor="ctr">
                    <a:solidFill>
                      <a:srgbClr val="F4F2FA"/>
                    </a:solidFill>
                  </a:tcPr>
                </a:tc>
                <a:tc>
                  <a:txBody>
                    <a:bodyPr/>
                    <a:lstStyle/>
                    <a:p/>
                  </a:txBody>
                  <a:tcPr marL="101600" marR="101600" marT="38100" marB="38100" anchor="ctr">
                    <a:solidFill>
                      <a:srgbClr val="F4F2FA"/>
                    </a:solidFill>
                  </a:tcPr>
                </a:tc>
                <a:tc>
                  <a:txBody>
                    <a:bodyPr/>
                    <a:lstStyle/>
                    <a:p>
                      <a:r>
                        <a:rPr sz="1200" b="0" i="0">
                          <a:solidFill>
                            <a:srgbClr val="1A1440"/>
                          </a:solidFill>
                          <a:latin typeface="Calibri"/>
                        </a:rPr>
                        <a:t>180</a:t>
                      </a:r>
                    </a:p>
                  </a:txBody>
                  <a:tcPr marL="101600" marR="101600" marT="38100" marB="38100" anchor="ctr">
                    <a:solidFill>
                      <a:srgbClr val="F4F2FA"/>
                    </a:solidFill>
                  </a:tcPr>
                </a:tc>
              </a:tr>
              <a:tr h="335280">
                <a:tc>
                  <a:txBody>
                    <a:bodyPr/>
                    <a:lstStyle/>
                    <a:p>
                      <a:r>
                        <a:rPr sz="1200" b="0" i="0">
                          <a:solidFill>
                            <a:srgbClr val="1A1440"/>
                          </a:solidFill>
                          <a:latin typeface="Calibri"/>
                        </a:rPr>
                        <a:t>Idle-tail online hours</a:t>
                      </a:r>
                    </a:p>
                  </a:txBody>
                  <a:tcPr marL="101600" marR="101600" marT="38100" marB="38100" anchor="ctr">
                    <a:solidFill>
                      <a:srgbClr val="FFFFFF"/>
                    </a:solidFill>
                  </a:tcPr>
                </a:tc>
                <a:tc>
                  <a:txBody>
                    <a:bodyPr/>
                    <a:lstStyle/>
                    <a:p>
                      <a:r>
                        <a:rPr sz="1200" b="0" i="0">
                          <a:solidFill>
                            <a:srgbClr val="1A1440"/>
                          </a:solidFill>
                          <a:latin typeface="Calibri"/>
                        </a:rPr>
                        <a:t>20,000</a:t>
                      </a:r>
                    </a:p>
                  </a:txBody>
                  <a:tcPr marL="101600" marR="101600" marT="38100" marB="38100" anchor="ctr">
                    <a:solidFill>
                      <a:srgbClr val="FFFFFF"/>
                    </a:solidFill>
                  </a:tcPr>
                </a:tc>
                <a:tc>
                  <a:txBody>
                    <a:bodyPr/>
                    <a:lstStyle/>
                    <a:p>
                      <a:r>
                        <a:rPr sz="1200" b="0" i="0">
                          <a:solidFill>
                            <a:srgbClr val="1A1440"/>
                          </a:solidFill>
                          <a:latin typeface="Calibri"/>
                        </a:rPr>
                        <a:t>42,000</a:t>
                      </a:r>
                    </a:p>
                  </a:txBody>
                  <a:tcPr marL="101600" marR="101600" marT="38100" marB="38100" anchor="ctr">
                    <a:solidFill>
                      <a:srgbClr val="FFFFFF"/>
                    </a:solidFill>
                  </a:tcPr>
                </a:tc>
              </a:tr>
              <a:tr h="335280">
                <a:tc>
                  <a:txBody>
                    <a:bodyPr/>
                    <a:lstStyle/>
                    <a:p>
                      <a:r>
                        <a:rPr sz="1200" b="0" i="0">
                          <a:solidFill>
                            <a:srgbClr val="1A1440"/>
                          </a:solidFill>
                          <a:latin typeface="Calibri"/>
                        </a:rPr>
                        <a:t>Idle-tail trips</a:t>
                      </a:r>
                    </a:p>
                  </a:txBody>
                  <a:tcPr marL="101600" marR="101600" marT="38100" marB="38100" anchor="ctr">
                    <a:solidFill>
                      <a:srgbClr val="F4F2FA"/>
                    </a:solidFill>
                  </a:tcPr>
                </a:tc>
                <a:tc>
                  <a:txBody>
                    <a:bodyPr/>
                    <a:lstStyle/>
                    <a:p>
                      <a:r>
                        <a:rPr sz="1200" b="0" i="0">
                          <a:solidFill>
                            <a:srgbClr val="1A1440"/>
                          </a:solidFill>
                          <a:latin typeface="Calibri"/>
                        </a:rPr>
                        <a:t>38,000</a:t>
                      </a:r>
                    </a:p>
                  </a:txBody>
                  <a:tcPr marL="101600" marR="101600" marT="38100" marB="38100" anchor="ctr">
                    <a:solidFill>
                      <a:srgbClr val="F4F2FA"/>
                    </a:solidFill>
                  </a:tcPr>
                </a:tc>
                <a:tc>
                  <a:txBody>
                    <a:bodyPr/>
                    <a:lstStyle/>
                    <a:p>
                      <a:r>
                        <a:rPr sz="1200" b="0" i="0">
                          <a:solidFill>
                            <a:srgbClr val="1A1440"/>
                          </a:solidFill>
                          <a:latin typeface="Calibri"/>
                        </a:rPr>
                        <a:t>33,440</a:t>
                      </a:r>
                    </a:p>
                  </a:txBody>
                  <a:tcPr marL="101600" marR="101600" marT="38100" marB="38100" anchor="ctr">
                    <a:solidFill>
                      <a:srgbClr val="F4F2FA"/>
                    </a:solidFill>
                  </a:tcPr>
                </a:tc>
              </a:tr>
              <a:tr h="335280">
                <a:tc>
                  <a:txBody>
                    <a:bodyPr/>
                    <a:lstStyle/>
                    <a:p>
                      <a:r>
                        <a:rPr sz="1200" b="0" i="0">
                          <a:solidFill>
                            <a:srgbClr val="1A1440"/>
                          </a:solidFill>
                          <a:latin typeface="Calibri"/>
                        </a:rPr>
                        <a:t>Unfulfilled requests</a:t>
                      </a:r>
                    </a:p>
                  </a:txBody>
                  <a:tcPr marL="101600" marR="101600" marT="38100" marB="38100" anchor="ctr">
                    <a:solidFill>
                      <a:srgbClr val="FFFFFF"/>
                    </a:solidFill>
                  </a:tcPr>
                </a:tc>
                <a:tc>
                  <a:txBody>
                    <a:bodyPr/>
                    <a:lstStyle/>
                    <a:p>
                      <a:r>
                        <a:rPr sz="1200" b="0" i="0">
                          <a:solidFill>
                            <a:srgbClr val="1A1440"/>
                          </a:solidFill>
                          <a:latin typeface="Calibri"/>
                        </a:rPr>
                        <a:t>11 percent</a:t>
                      </a:r>
                    </a:p>
                  </a:txBody>
                  <a:tcPr marL="101600" marR="101600" marT="38100" marB="38100" anchor="ctr">
                    <a:solidFill>
                      <a:srgbClr val="FFFFFF"/>
                    </a:solidFill>
                  </a:tcPr>
                </a:tc>
                <a:tc>
                  <a:txBody>
                    <a:bodyPr/>
                    <a:lstStyle/>
                    <a:p>
                      <a:r>
                        <a:rPr sz="1200" b="0" i="0">
                          <a:solidFill>
                            <a:srgbClr val="1A1440"/>
                          </a:solidFill>
                          <a:latin typeface="Calibri"/>
                        </a:rPr>
                        <a:t>10 percent</a:t>
                      </a:r>
                    </a:p>
                  </a:txBody>
                  <a:tcPr marL="101600" marR="101600" marT="38100" marB="38100" anchor="ctr">
                    <a:solidFill>
                      <a:srgbClr val="FFFFFF"/>
                    </a:solidFill>
                  </a:tcPr>
                </a:tc>
              </a:tr>
            </a:tbl>
          </a:graphicData>
        </a:graphic>
      </p:graphicFrame>
      <p:sp>
        <p:nvSpPr>
          <p:cNvPr id="10" name="Rounded Rectangle 9"/>
          <p:cNvSpPr/>
          <p:nvPr/>
        </p:nvSpPr>
        <p:spPr>
          <a:xfrm>
            <a:off x="530352" y="5291328"/>
            <a:ext cx="11130991" cy="73660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419344"/>
            <a:ext cx="45720" cy="48056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410200"/>
            <a:ext cx="10564063" cy="553720"/>
          </a:xfrm>
          <a:prstGeom prst="rect">
            <a:avLst/>
          </a:prstGeom>
          <a:noFill/>
        </p:spPr>
        <p:txBody>
          <a:bodyPr wrap="square" anchor="ctr" lIns="0" rIns="0" tIns="0" bIns="0">
            <a:spAutoFit/>
          </a:bodyPr>
          <a:lstStyle/>
          <a:p>
            <a:r>
              <a:rPr sz="1300" b="1">
                <a:solidFill>
                  <a:srgbClr val="5B3FD6"/>
                </a:solidFill>
                <a:latin typeface="Calibri"/>
              </a:rPr>
              <a:t>Blank. </a:t>
            </a:r>
            <a:r>
              <a:rPr sz="1300" b="0" i="0">
                <a:solidFill>
                  <a:srgbClr val="1A1440"/>
                </a:solidFill>
                <a:latin typeface="Calibri"/>
              </a:rPr>
              <a:t>Write the claim yourself, keep two numbers, and name the caveat. The </a:t>
            </a:r>
            <a:r>
              <a:rPr sz="1300" b="1" i="0">
                <a:solidFill>
                  <a:srgbClr val="1A1440"/>
                </a:solidFill>
                <a:latin typeface="Calibri"/>
              </a:rPr>
              <a:t>idle tail</a:t>
            </a:r>
            <a:r>
              <a:rPr sz="1300" b="0" i="0">
                <a:solidFill>
                  <a:srgbClr val="1A1440"/>
                </a:solidFill>
                <a:latin typeface="Calibri"/>
              </a:rPr>
              <a:t> is Monday's name for the 180 drivers whose trips per online hour fell under 1.0 after the launch.</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9" name="Oval 18"/>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21" name="Oval 2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S37  ·  41 / 59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denominators, three verdicts on twelve rows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six drivers, one week before the launch and one after, say when the denominator changes?</a:t>
            </a:r>
          </a:p>
        </p:txBody>
      </p:sp>
      <p:graphicFrame>
        <p:nvGraphicFramePr>
          <p:cNvPr id="9" name="Table 8"/>
          <p:cNvGraphicFramePr>
            <a:graphicFrameLocks noGrp="1"/>
          </p:cNvGraphicFramePr>
          <p:nvPr/>
        </p:nvGraphicFramePr>
        <p:xfrm>
          <a:off x="530352" y="1956816"/>
          <a:ext cx="11130990" cy="2682240"/>
        </p:xfrm>
        <a:graphic>
          <a:graphicData uri="http://schemas.openxmlformats.org/drawingml/2006/table">
            <a:tbl>
              <a:tblPr firstRow="0" bandRow="0">
                <a:tableStyleId>{2D5ABB26-0587-4C30-8999-92F81FD0307C}</a:tableStyleId>
              </a:tblPr>
              <a:tblGrid>
                <a:gridCol w="914400"/>
                <a:gridCol w="1425450"/>
                <a:gridCol w="1566346"/>
                <a:gridCol w="1566346"/>
                <a:gridCol w="1262878"/>
                <a:gridCol w="1566346"/>
                <a:gridCol w="1566346"/>
                <a:gridCol w="1262878"/>
              </a:tblGrid>
              <a:tr h="335280">
                <a:tc>
                  <a:txBody>
                    <a:bodyPr/>
                    <a:lstStyle/>
                    <a:p>
                      <a:r>
                        <a:rPr sz="1250" b="1" i="0">
                          <a:solidFill>
                            <a:srgbClr val="FFFFFF"/>
                          </a:solidFill>
                          <a:latin typeface="Calibri"/>
                        </a:rPr>
                        <a:t>Driver</a:t>
                      </a:r>
                    </a:p>
                  </a:txBody>
                  <a:tcPr marL="101600" marR="101600" marT="38100" marB="38100" anchor="ctr">
                    <a:solidFill>
                      <a:srgbClr val="1A0F5C"/>
                    </a:solidFill>
                  </a:tcPr>
                </a:tc>
                <a:tc>
                  <a:txBody>
                    <a:bodyPr/>
                    <a:lstStyle/>
                    <a:p>
                      <a:r>
                        <a:rPr sz="1250" b="1" i="0">
                          <a:solidFill>
                            <a:srgbClr val="FFFFFF"/>
                          </a:solidFill>
                          <a:latin typeface="Calibri"/>
                        </a:rPr>
                        <a:t>Zone</a:t>
                      </a:r>
                    </a:p>
                  </a:txBody>
                  <a:tcPr marL="101600" marR="101600" marT="38100" marB="38100" anchor="ctr">
                    <a:solidFill>
                      <a:srgbClr val="1A0F5C"/>
                    </a:solidFill>
                  </a:tcPr>
                </a:tc>
                <a:tc>
                  <a:txBody>
                    <a:bodyPr/>
                    <a:lstStyle/>
                    <a:p>
                      <a:r>
                        <a:rPr sz="1250" b="1" i="0">
                          <a:solidFill>
                            <a:srgbClr val="FFFFFF"/>
                          </a:solidFill>
                          <a:latin typeface="Calibri"/>
                        </a:rPr>
                        <a:t>Hours, 10 Aug</a:t>
                      </a:r>
                    </a:p>
                  </a:txBody>
                  <a:tcPr marL="101600" marR="101600" marT="38100" marB="38100" anchor="ctr">
                    <a:solidFill>
                      <a:srgbClr val="1A0F5C"/>
                    </a:solidFill>
                  </a:tcPr>
                </a:tc>
                <a:tc>
                  <a:txBody>
                    <a:bodyPr/>
                    <a:lstStyle/>
                    <a:p>
                      <a:r>
                        <a:rPr sz="1250" b="1" i="0">
                          <a:solidFill>
                            <a:srgbClr val="FFFFFF"/>
                          </a:solidFill>
                          <a:latin typeface="Calibri"/>
                        </a:rPr>
                        <a:t>Trips, 10 Aug</a:t>
                      </a:r>
                    </a:p>
                  </a:txBody>
                  <a:tcPr marL="101600" marR="101600" marT="38100" marB="38100" anchor="ctr">
                    <a:solidFill>
                      <a:srgbClr val="1A0F5C"/>
                    </a:solidFill>
                  </a:tcPr>
                </a:tc>
                <a:tc>
                  <a:txBody>
                    <a:bodyPr/>
                    <a:lstStyle/>
                    <a:p>
                      <a:r>
                        <a:rPr sz="1250" b="1" i="0">
                          <a:solidFill>
                            <a:srgbClr val="FFFFFF"/>
                          </a:solidFill>
                          <a:latin typeface="Calibri"/>
                        </a:rPr>
                        <a:t>Rs, 10 Aug</a:t>
                      </a:r>
                    </a:p>
                  </a:txBody>
                  <a:tcPr marL="101600" marR="101600" marT="38100" marB="38100" anchor="ctr">
                    <a:solidFill>
                      <a:srgbClr val="1A0F5C"/>
                    </a:solidFill>
                  </a:tcPr>
                </a:tc>
                <a:tc>
                  <a:txBody>
                    <a:bodyPr/>
                    <a:lstStyle/>
                    <a:p>
                      <a:r>
                        <a:rPr sz="1250" b="1" i="0">
                          <a:solidFill>
                            <a:srgbClr val="FFFFFF"/>
                          </a:solidFill>
                          <a:latin typeface="Calibri"/>
                        </a:rPr>
                        <a:t>Hours, 21 Sep</a:t>
                      </a:r>
                    </a:p>
                  </a:txBody>
                  <a:tcPr marL="101600" marR="101600" marT="38100" marB="38100" anchor="ctr">
                    <a:solidFill>
                      <a:srgbClr val="1A0F5C"/>
                    </a:solidFill>
                  </a:tcPr>
                </a:tc>
                <a:tc>
                  <a:txBody>
                    <a:bodyPr/>
                    <a:lstStyle/>
                    <a:p>
                      <a:r>
                        <a:rPr sz="1250" b="1" i="0">
                          <a:solidFill>
                            <a:srgbClr val="FFFFFF"/>
                          </a:solidFill>
                          <a:latin typeface="Calibri"/>
                        </a:rPr>
                        <a:t>Trips, 21 Sep</a:t>
                      </a:r>
                    </a:p>
                  </a:txBody>
                  <a:tcPr marL="101600" marR="101600" marT="38100" marB="38100" anchor="ctr">
                    <a:solidFill>
                      <a:srgbClr val="1A0F5C"/>
                    </a:solidFill>
                  </a:tcPr>
                </a:tc>
                <a:tc>
                  <a:txBody>
                    <a:bodyPr/>
                    <a:lstStyle/>
                    <a:p>
                      <a:r>
                        <a:rPr sz="1250" b="1" i="0">
                          <a:solidFill>
                            <a:srgbClr val="FFFFFF"/>
                          </a:solidFill>
                          <a:latin typeface="Calibri"/>
                        </a:rPr>
                        <a:t>Rs, 21 Sep</a:t>
                      </a:r>
                    </a:p>
                  </a:txBody>
                  <a:tcPr marL="101600" marR="101600" marT="38100" marB="38100" anchor="ctr">
                    <a:solidFill>
                      <a:srgbClr val="1A0F5C"/>
                    </a:solidFill>
                  </a:tcPr>
                </a:tc>
              </a:tr>
              <a:tr h="335280">
                <a:tc>
                  <a:txBody>
                    <a:bodyPr/>
                    <a:lstStyle/>
                    <a:p>
                      <a:r>
                        <a:rPr sz="1200" b="0" i="0">
                          <a:solidFill>
                            <a:srgbClr val="1A1440"/>
                          </a:solidFill>
                          <a:latin typeface="Calibri"/>
                        </a:rPr>
                        <a:t>A</a:t>
                      </a:r>
                    </a:p>
                  </a:txBody>
                  <a:tcPr marL="101600" marR="101600" marT="38100" marB="38100" anchor="ctr">
                    <a:solidFill>
                      <a:srgbClr val="FFFFFF"/>
                    </a:solidFill>
                  </a:tcPr>
                </a:tc>
                <a:tc>
                  <a:txBody>
                    <a:bodyPr/>
                    <a:lstStyle/>
                    <a:p>
                      <a:r>
                        <a:rPr sz="1200" b="0" i="0">
                          <a:solidFill>
                            <a:srgbClr val="1A1440"/>
                          </a:solidFill>
                          <a:latin typeface="Calibri"/>
                        </a:rPr>
                        <a:t>Jubilee Hills</a:t>
                      </a:r>
                    </a:p>
                  </a:txBody>
                  <a:tcPr marL="101600" marR="101600" marT="38100" marB="38100" anchor="ctr">
                    <a:solidFill>
                      <a:srgbClr val="FFFFFF"/>
                    </a:solidFill>
                  </a:tcPr>
                </a:tc>
                <a:tc>
                  <a:txBody>
                    <a:bodyPr/>
                    <a:lstStyle/>
                    <a:p>
                      <a:r>
                        <a:rPr sz="1200" b="0" i="0">
                          <a:solidFill>
                            <a:srgbClr val="1A1440"/>
                          </a:solidFill>
                          <a:latin typeface="Calibri"/>
                        </a:rPr>
                        <a:t>10</a:t>
                      </a:r>
                    </a:p>
                  </a:txBody>
                  <a:tcPr marL="101600" marR="101600" marT="38100" marB="38100" anchor="ctr">
                    <a:solidFill>
                      <a:srgbClr val="FFFFFF"/>
                    </a:solidFill>
                  </a:tcPr>
                </a:tc>
                <a:tc>
                  <a:txBody>
                    <a:bodyPr/>
                    <a:lstStyle/>
                    <a:p>
                      <a:r>
                        <a:rPr sz="1200" b="0" i="0">
                          <a:solidFill>
                            <a:srgbClr val="1A1440"/>
                          </a:solidFill>
                          <a:latin typeface="Calibri"/>
                        </a:rPr>
                        <a:t>21</a:t>
                      </a:r>
                    </a:p>
                  </a:txBody>
                  <a:tcPr marL="101600" marR="101600" marT="38100" marB="38100" anchor="ctr">
                    <a:solidFill>
                      <a:srgbClr val="FFFFFF"/>
                    </a:solidFill>
                  </a:tcPr>
                </a:tc>
                <a:tc>
                  <a:txBody>
                    <a:bodyPr/>
                    <a:lstStyle/>
                    <a:p>
                      <a:r>
                        <a:rPr sz="1200" b="0" i="0">
                          <a:solidFill>
                            <a:srgbClr val="1A1440"/>
                          </a:solidFill>
                          <a:latin typeface="Calibri"/>
                        </a:rPr>
                        <a:t>3,465</a:t>
                      </a:r>
                    </a:p>
                  </a:txBody>
                  <a:tcPr marL="101600" marR="101600" marT="38100" marB="38100" anchor="ctr">
                    <a:solidFill>
                      <a:srgbClr val="FFFFFF"/>
                    </a:solidFill>
                  </a:tcPr>
                </a:tc>
                <a:tc>
                  <a:txBody>
                    <a:bodyPr/>
                    <a:lstStyle/>
                    <a:p>
                      <a:r>
                        <a:rPr sz="1200" b="0" i="0">
                          <a:solidFill>
                            <a:srgbClr val="1A1440"/>
                          </a:solidFill>
                          <a:latin typeface="Calibri"/>
                        </a:rPr>
                        <a:t>11</a:t>
                      </a:r>
                    </a:p>
                  </a:txBody>
                  <a:tcPr marL="101600" marR="101600" marT="38100" marB="38100" anchor="ctr">
                    <a:solidFill>
                      <a:srgbClr val="FFFFFF"/>
                    </a:solidFill>
                  </a:tcPr>
                </a:tc>
                <a:tc>
                  <a:txBody>
                    <a:bodyPr/>
                    <a:lstStyle/>
                    <a:p>
                      <a:r>
                        <a:rPr sz="1200" b="0" i="0">
                          <a:solidFill>
                            <a:srgbClr val="1A1440"/>
                          </a:solidFill>
                          <a:latin typeface="Calibri"/>
                        </a:rPr>
                        <a:t>22</a:t>
                      </a:r>
                    </a:p>
                  </a:txBody>
                  <a:tcPr marL="101600" marR="101600" marT="38100" marB="38100" anchor="ctr">
                    <a:solidFill>
                      <a:srgbClr val="FFFFFF"/>
                    </a:solidFill>
                  </a:tcPr>
                </a:tc>
                <a:tc>
                  <a:txBody>
                    <a:bodyPr/>
                    <a:lstStyle/>
                    <a:p>
                      <a:r>
                        <a:rPr sz="1200" b="0" i="0">
                          <a:solidFill>
                            <a:srgbClr val="1A1440"/>
                          </a:solidFill>
                          <a:latin typeface="Calibri"/>
                        </a:rPr>
                        <a:t>3,630</a:t>
                      </a:r>
                    </a:p>
                  </a:txBody>
                  <a:tcPr marL="101600" marR="101600" marT="38100" marB="38100" anchor="ctr">
                    <a:solidFill>
                      <a:srgbClr val="FFFFFF"/>
                    </a:solidFill>
                  </a:tcPr>
                </a:tc>
              </a:tr>
              <a:tr h="335280">
                <a:tc>
                  <a:txBody>
                    <a:bodyPr/>
                    <a:lstStyle/>
                    <a:p>
                      <a:r>
                        <a:rPr sz="1200" b="0" i="0">
                          <a:solidFill>
                            <a:srgbClr val="1A1440"/>
                          </a:solidFill>
                          <a:latin typeface="Calibri"/>
                        </a:rPr>
                        <a:t>B</a:t>
                      </a:r>
                    </a:p>
                  </a:txBody>
                  <a:tcPr marL="101600" marR="101600" marT="38100" marB="38100" anchor="ctr">
                    <a:solidFill>
                      <a:srgbClr val="F4F2FA"/>
                    </a:solidFill>
                  </a:tcPr>
                </a:tc>
                <a:tc>
                  <a:txBody>
                    <a:bodyPr/>
                    <a:lstStyle/>
                    <a:p>
                      <a:r>
                        <a:rPr sz="1200" b="0" i="0">
                          <a:solidFill>
                            <a:srgbClr val="1A1440"/>
                          </a:solidFill>
                          <a:latin typeface="Calibri"/>
                        </a:rPr>
                        <a:t>Banjara Hills</a:t>
                      </a:r>
                    </a:p>
                  </a:txBody>
                  <a:tcPr marL="101600" marR="101600" marT="38100" marB="38100" anchor="ctr">
                    <a:solidFill>
                      <a:srgbClr val="F4F2FA"/>
                    </a:solidFill>
                  </a:tcPr>
                </a:tc>
                <a:tc>
                  <a:txBody>
                    <a:bodyPr/>
                    <a:lstStyle/>
                    <a:p>
                      <a:r>
                        <a:rPr sz="1200" b="0" i="0">
                          <a:solidFill>
                            <a:srgbClr val="1A1440"/>
                          </a:solidFill>
                          <a:latin typeface="Calibri"/>
                        </a:rPr>
                        <a:t>9</a:t>
                      </a:r>
                    </a:p>
                  </a:txBody>
                  <a:tcPr marL="101600" marR="101600" marT="38100" marB="38100" anchor="ctr">
                    <a:solidFill>
                      <a:srgbClr val="F4F2FA"/>
                    </a:solidFill>
                  </a:tcPr>
                </a:tc>
                <a:tc>
                  <a:txBody>
                    <a:bodyPr/>
                    <a:lstStyle/>
                    <a:p>
                      <a:r>
                        <a:rPr sz="1200" b="0" i="0">
                          <a:solidFill>
                            <a:srgbClr val="1A1440"/>
                          </a:solidFill>
                          <a:latin typeface="Calibri"/>
                        </a:rPr>
                        <a:t>17</a:t>
                      </a:r>
                    </a:p>
                  </a:txBody>
                  <a:tcPr marL="101600" marR="101600" marT="38100" marB="38100" anchor="ctr">
                    <a:solidFill>
                      <a:srgbClr val="F4F2FA"/>
                    </a:solidFill>
                  </a:tcPr>
                </a:tc>
                <a:tc>
                  <a:txBody>
                    <a:bodyPr/>
                    <a:lstStyle/>
                    <a:p>
                      <a:r>
                        <a:rPr sz="1200" b="0" i="0">
                          <a:solidFill>
                            <a:srgbClr val="1A1440"/>
                          </a:solidFill>
                          <a:latin typeface="Calibri"/>
                        </a:rPr>
                        <a:t>2,805</a:t>
                      </a:r>
                    </a:p>
                  </a:txBody>
                  <a:tcPr marL="101600" marR="101600" marT="38100" marB="38100" anchor="ctr">
                    <a:solidFill>
                      <a:srgbClr val="F4F2FA"/>
                    </a:solidFill>
                  </a:tcPr>
                </a:tc>
                <a:tc>
                  <a:txBody>
                    <a:bodyPr/>
                    <a:lstStyle/>
                    <a:p>
                      <a:r>
                        <a:rPr sz="1200" b="0" i="0">
                          <a:solidFill>
                            <a:srgbClr val="1A1440"/>
                          </a:solidFill>
                          <a:latin typeface="Calibri"/>
                        </a:rPr>
                        <a:t>10</a:t>
                      </a:r>
                    </a:p>
                  </a:txBody>
                  <a:tcPr marL="101600" marR="101600" marT="38100" marB="38100" anchor="ctr">
                    <a:solidFill>
                      <a:srgbClr val="F4F2FA"/>
                    </a:solidFill>
                  </a:tcPr>
                </a:tc>
                <a:tc>
                  <a:txBody>
                    <a:bodyPr/>
                    <a:lstStyle/>
                    <a:p>
                      <a:r>
                        <a:rPr sz="1200" b="0" i="0">
                          <a:solidFill>
                            <a:srgbClr val="1A1440"/>
                          </a:solidFill>
                          <a:latin typeface="Calibri"/>
                        </a:rPr>
                        <a:t>18</a:t>
                      </a:r>
                    </a:p>
                  </a:txBody>
                  <a:tcPr marL="101600" marR="101600" marT="38100" marB="38100" anchor="ctr">
                    <a:solidFill>
                      <a:srgbClr val="F4F2FA"/>
                    </a:solidFill>
                  </a:tcPr>
                </a:tc>
                <a:tc>
                  <a:txBody>
                    <a:bodyPr/>
                    <a:lstStyle/>
                    <a:p>
                      <a:r>
                        <a:rPr sz="1200" b="0" i="0">
                          <a:solidFill>
                            <a:srgbClr val="1A1440"/>
                          </a:solidFill>
                          <a:latin typeface="Calibri"/>
                        </a:rPr>
                        <a:t>2,970</a:t>
                      </a:r>
                    </a:p>
                  </a:txBody>
                  <a:tcPr marL="101600" marR="101600" marT="38100" marB="38100" anchor="ctr">
                    <a:solidFill>
                      <a:srgbClr val="F4F2FA"/>
                    </a:solidFill>
                  </a:tcPr>
                </a:tc>
              </a:tr>
              <a:tr h="335280">
                <a:tc>
                  <a:txBody>
                    <a:bodyPr/>
                    <a:lstStyle/>
                    <a:p>
                      <a:r>
                        <a:rPr sz="1200" b="0" i="0">
                          <a:solidFill>
                            <a:srgbClr val="1A1440"/>
                          </a:solidFill>
                          <a:latin typeface="Calibri"/>
                        </a:rPr>
                        <a:t>C</a:t>
                      </a:r>
                    </a:p>
                  </a:txBody>
                  <a:tcPr marL="101600" marR="101600" marT="38100" marB="38100" anchor="ctr">
                    <a:solidFill>
                      <a:srgbClr val="FFFFFF"/>
                    </a:solidFill>
                  </a:tcPr>
                </a:tc>
                <a:tc>
                  <a:txBody>
                    <a:bodyPr/>
                    <a:lstStyle/>
                    <a:p>
                      <a:r>
                        <a:rPr sz="1200" b="0" i="0">
                          <a:solidFill>
                            <a:srgbClr val="1A1440"/>
                          </a:solidFill>
                          <a:latin typeface="Calibri"/>
                        </a:rPr>
                        <a:t>Gachibowli</a:t>
                      </a:r>
                    </a:p>
                  </a:txBody>
                  <a:tcPr marL="101600" marR="101600" marT="38100" marB="38100" anchor="ctr">
                    <a:solidFill>
                      <a:srgbClr val="FFFFFF"/>
                    </a:solidFill>
                  </a:tcPr>
                </a:tc>
                <a:tc>
                  <a:txBody>
                    <a:bodyPr/>
                    <a:lstStyle/>
                    <a:p>
                      <a:r>
                        <a:rPr sz="1200" b="0" i="0">
                          <a:solidFill>
                            <a:srgbClr val="1A1440"/>
                          </a:solidFill>
                          <a:latin typeface="Calibri"/>
                        </a:rPr>
                        <a:t>11</a:t>
                      </a:r>
                    </a:p>
                  </a:txBody>
                  <a:tcPr marL="101600" marR="101600" marT="38100" marB="38100" anchor="ctr">
                    <a:solidFill>
                      <a:srgbClr val="FFFFFF"/>
                    </a:solidFill>
                  </a:tcPr>
                </a:tc>
                <a:tc>
                  <a:txBody>
                    <a:bodyPr/>
                    <a:lstStyle/>
                    <a:p>
                      <a:r>
                        <a:rPr sz="1200" b="0" i="0">
                          <a:solidFill>
                            <a:srgbClr val="1A1440"/>
                          </a:solidFill>
                          <a:latin typeface="Calibri"/>
                        </a:rPr>
                        <a:t>22</a:t>
                      </a:r>
                    </a:p>
                  </a:txBody>
                  <a:tcPr marL="101600" marR="101600" marT="38100" marB="38100" anchor="ctr">
                    <a:solidFill>
                      <a:srgbClr val="FFFFFF"/>
                    </a:solidFill>
                  </a:tcPr>
                </a:tc>
                <a:tc>
                  <a:txBody>
                    <a:bodyPr/>
                    <a:lstStyle/>
                    <a:p>
                      <a:r>
                        <a:rPr sz="1200" b="0" i="0">
                          <a:solidFill>
                            <a:srgbClr val="1A1440"/>
                          </a:solidFill>
                          <a:latin typeface="Calibri"/>
                        </a:rPr>
                        <a:t>3,630</a:t>
                      </a:r>
                    </a:p>
                  </a:txBody>
                  <a:tcPr marL="101600" marR="101600" marT="38100" marB="38100" anchor="ctr">
                    <a:solidFill>
                      <a:srgbClr val="FFFFFF"/>
                    </a:solidFill>
                  </a:tcPr>
                </a:tc>
                <a:tc>
                  <a:txBody>
                    <a:bodyPr/>
                    <a:lstStyle/>
                    <a:p>
                      <a:r>
                        <a:rPr sz="1200" b="0" i="0">
                          <a:solidFill>
                            <a:srgbClr val="1A1440"/>
                          </a:solidFill>
                          <a:latin typeface="Calibri"/>
                        </a:rPr>
                        <a:t>12</a:t>
                      </a:r>
                    </a:p>
                  </a:txBody>
                  <a:tcPr marL="101600" marR="101600" marT="38100" marB="38100" anchor="ctr">
                    <a:solidFill>
                      <a:srgbClr val="FFFFFF"/>
                    </a:solidFill>
                  </a:tcPr>
                </a:tc>
                <a:tc>
                  <a:txBody>
                    <a:bodyPr/>
                    <a:lstStyle/>
                    <a:p>
                      <a:r>
                        <a:rPr sz="1200" b="0" i="0">
                          <a:solidFill>
                            <a:srgbClr val="1A1440"/>
                          </a:solidFill>
                          <a:latin typeface="Calibri"/>
                        </a:rPr>
                        <a:t>23</a:t>
                      </a:r>
                    </a:p>
                  </a:txBody>
                  <a:tcPr marL="101600" marR="101600" marT="38100" marB="38100" anchor="ctr">
                    <a:solidFill>
                      <a:srgbClr val="FFFFFF"/>
                    </a:solidFill>
                  </a:tcPr>
                </a:tc>
                <a:tc>
                  <a:txBody>
                    <a:bodyPr/>
                    <a:lstStyle/>
                    <a:p>
                      <a:r>
                        <a:rPr sz="1200" b="0" i="0">
                          <a:solidFill>
                            <a:srgbClr val="1A1440"/>
                          </a:solidFill>
                          <a:latin typeface="Calibri"/>
                        </a:rPr>
                        <a:t>3,795</a:t>
                      </a:r>
                    </a:p>
                  </a:txBody>
                  <a:tcPr marL="101600" marR="101600" marT="38100" marB="38100" anchor="ctr">
                    <a:solidFill>
                      <a:srgbClr val="FFFFFF"/>
                    </a:solidFill>
                  </a:tcPr>
                </a:tc>
              </a:tr>
              <a:tr h="335280">
                <a:tc>
                  <a:txBody>
                    <a:bodyPr/>
                    <a:lstStyle/>
                    <a:p>
                      <a:r>
                        <a:rPr sz="1200" b="0" i="0">
                          <a:solidFill>
                            <a:srgbClr val="1A1440"/>
                          </a:solidFill>
                          <a:latin typeface="Calibri"/>
                        </a:rPr>
                        <a:t>D</a:t>
                      </a:r>
                    </a:p>
                  </a:txBody>
                  <a:tcPr marL="101600" marR="101600" marT="38100" marB="38100" anchor="ctr">
                    <a:solidFill>
                      <a:srgbClr val="F4F2FA"/>
                    </a:solidFill>
                  </a:tcPr>
                </a:tc>
                <a:tc>
                  <a:txBody>
                    <a:bodyPr/>
                    <a:lstStyle/>
                    <a:p>
                      <a:r>
                        <a:rPr sz="1200" b="0" i="0">
                          <a:solidFill>
                            <a:srgbClr val="1A1440"/>
                          </a:solidFill>
                          <a:latin typeface="Calibri"/>
                        </a:rPr>
                        <a:t>Madhapur</a:t>
                      </a:r>
                    </a:p>
                  </a:txBody>
                  <a:tcPr marL="101600" marR="101600" marT="38100" marB="38100" anchor="ctr">
                    <a:solidFill>
                      <a:srgbClr val="F4F2FA"/>
                    </a:solidFill>
                  </a:tcPr>
                </a:tc>
                <a:tc>
                  <a:txBody>
                    <a:bodyPr/>
                    <a:lstStyle/>
                    <a:p>
                      <a:r>
                        <a:rPr sz="1200" b="0" i="0">
                          <a:solidFill>
                            <a:srgbClr val="1A1440"/>
                          </a:solidFill>
                          <a:latin typeface="Calibri"/>
                        </a:rPr>
                        <a:t>10</a:t>
                      </a:r>
                    </a:p>
                  </a:txBody>
                  <a:tcPr marL="101600" marR="101600" marT="38100" marB="38100" anchor="ctr">
                    <a:solidFill>
                      <a:srgbClr val="F4F2FA"/>
                    </a:solidFill>
                  </a:tcPr>
                </a:tc>
                <a:tc>
                  <a:txBody>
                    <a:bodyPr/>
                    <a:lstStyle/>
                    <a:p>
                      <a:r>
                        <a:rPr sz="1200" b="0" i="0">
                          <a:solidFill>
                            <a:srgbClr val="1A1440"/>
                          </a:solidFill>
                          <a:latin typeface="Calibri"/>
                        </a:rPr>
                        <a:t>19</a:t>
                      </a:r>
                    </a:p>
                  </a:txBody>
                  <a:tcPr marL="101600" marR="101600" marT="38100" marB="38100" anchor="ctr">
                    <a:solidFill>
                      <a:srgbClr val="F4F2FA"/>
                    </a:solidFill>
                  </a:tcPr>
                </a:tc>
                <a:tc>
                  <a:txBody>
                    <a:bodyPr/>
                    <a:lstStyle/>
                    <a:p>
                      <a:r>
                        <a:rPr sz="1200" b="0" i="0">
                          <a:solidFill>
                            <a:srgbClr val="1A1440"/>
                          </a:solidFill>
                          <a:latin typeface="Calibri"/>
                        </a:rPr>
                        <a:t>3,135</a:t>
                      </a:r>
                    </a:p>
                  </a:txBody>
                  <a:tcPr marL="101600" marR="101600" marT="38100" marB="38100" anchor="ctr">
                    <a:solidFill>
                      <a:srgbClr val="F4F2FA"/>
                    </a:solidFill>
                  </a:tcPr>
                </a:tc>
                <a:tc>
                  <a:txBody>
                    <a:bodyPr/>
                    <a:lstStyle/>
                    <a:p>
                      <a:r>
                        <a:rPr sz="1200" b="0" i="0">
                          <a:solidFill>
                            <a:srgbClr val="1A1440"/>
                          </a:solidFill>
                          <a:latin typeface="Calibri"/>
                        </a:rPr>
                        <a:t>11</a:t>
                      </a:r>
                    </a:p>
                  </a:txBody>
                  <a:tcPr marL="101600" marR="101600" marT="38100" marB="38100" anchor="ctr">
                    <a:solidFill>
                      <a:srgbClr val="F4F2FA"/>
                    </a:solidFill>
                  </a:tcPr>
                </a:tc>
                <a:tc>
                  <a:txBody>
                    <a:bodyPr/>
                    <a:lstStyle/>
                    <a:p>
                      <a:r>
                        <a:rPr sz="1200" b="0" i="0">
                          <a:solidFill>
                            <a:srgbClr val="1A1440"/>
                          </a:solidFill>
                          <a:latin typeface="Calibri"/>
                        </a:rPr>
                        <a:t>20</a:t>
                      </a:r>
                    </a:p>
                  </a:txBody>
                  <a:tcPr marL="101600" marR="101600" marT="38100" marB="38100" anchor="ctr">
                    <a:solidFill>
                      <a:srgbClr val="F4F2FA"/>
                    </a:solidFill>
                  </a:tcPr>
                </a:tc>
                <a:tc>
                  <a:txBody>
                    <a:bodyPr/>
                    <a:lstStyle/>
                    <a:p>
                      <a:r>
                        <a:rPr sz="1200" b="0" i="0">
                          <a:solidFill>
                            <a:srgbClr val="1A1440"/>
                          </a:solidFill>
                          <a:latin typeface="Calibri"/>
                        </a:rPr>
                        <a:t>3,300</a:t>
                      </a:r>
                    </a:p>
                  </a:txBody>
                  <a:tcPr marL="101600" marR="101600" marT="38100" marB="38100" anchor="ctr">
                    <a:solidFill>
                      <a:srgbClr val="F4F2FA"/>
                    </a:solidFill>
                  </a:tcPr>
                </a:tc>
              </a:tr>
              <a:tr h="335280">
                <a:tc>
                  <a:txBody>
                    <a:bodyPr/>
                    <a:lstStyle/>
                    <a:p>
                      <a:r>
                        <a:rPr sz="1200" b="0" i="0">
                          <a:solidFill>
                            <a:srgbClr val="1A1440"/>
                          </a:solidFill>
                          <a:latin typeface="Calibri"/>
                        </a:rPr>
                        <a:t>E</a:t>
                      </a:r>
                    </a:p>
                  </a:txBody>
                  <a:tcPr marL="101600" marR="101600" marT="38100" marB="38100" anchor="ctr">
                    <a:solidFill>
                      <a:srgbClr val="FFFFFF"/>
                    </a:solidFill>
                  </a:tcPr>
                </a:tc>
                <a:tc>
                  <a:txBody>
                    <a:bodyPr/>
                    <a:lstStyle/>
                    <a:p>
                      <a:r>
                        <a:rPr sz="1200" b="0" i="0">
                          <a:solidFill>
                            <a:srgbClr val="1A1440"/>
                          </a:solidFill>
                          <a:latin typeface="Calibri"/>
                        </a:rPr>
                        <a:t>Shamshabad</a:t>
                      </a:r>
                    </a:p>
                  </a:txBody>
                  <a:tcPr marL="101600" marR="101600" marT="38100" marB="38100" anchor="ctr">
                    <a:solidFill>
                      <a:srgbClr val="FFFFFF"/>
                    </a:solidFill>
                  </a:tcPr>
                </a:tc>
                <a:tc>
                  <a:txBody>
                    <a:bodyPr/>
                    <a:lstStyle/>
                    <a:p>
                      <a:r>
                        <a:rPr sz="1200" b="0" i="0">
                          <a:solidFill>
                            <a:srgbClr val="1A1440"/>
                          </a:solidFill>
                          <a:latin typeface="Calibri"/>
                        </a:rPr>
                        <a:t>10</a:t>
                      </a:r>
                    </a:p>
                  </a:txBody>
                  <a:tcPr marL="101600" marR="101600" marT="38100" marB="38100" anchor="ctr">
                    <a:solidFill>
                      <a:srgbClr val="FFFFFF"/>
                    </a:solidFill>
                  </a:tcPr>
                </a:tc>
                <a:tc>
                  <a:txBody>
                    <a:bodyPr/>
                    <a:lstStyle/>
                    <a:p>
                      <a:r>
                        <a:rPr sz="1200" b="0" i="0">
                          <a:solidFill>
                            <a:srgbClr val="1A1440"/>
                          </a:solidFill>
                          <a:latin typeface="Calibri"/>
                        </a:rPr>
                        <a:t>18</a:t>
                      </a:r>
                    </a:p>
                  </a:txBody>
                  <a:tcPr marL="101600" marR="101600" marT="38100" marB="38100" anchor="ctr">
                    <a:solidFill>
                      <a:srgbClr val="FFFFFF"/>
                    </a:solidFill>
                  </a:tcPr>
                </a:tc>
                <a:tc>
                  <a:txBody>
                    <a:bodyPr/>
                    <a:lstStyle/>
                    <a:p>
                      <a:r>
                        <a:rPr sz="1200" b="0" i="0">
                          <a:solidFill>
                            <a:srgbClr val="1A1440"/>
                          </a:solidFill>
                          <a:latin typeface="Calibri"/>
                        </a:rPr>
                        <a:t>2,970</a:t>
                      </a:r>
                    </a:p>
                  </a:txBody>
                  <a:tcPr marL="101600" marR="101600" marT="38100" marB="38100" anchor="ctr">
                    <a:solidFill>
                      <a:srgbClr val="FFFFFF"/>
                    </a:solidFill>
                  </a:tcPr>
                </a:tc>
                <a:tc>
                  <a:txBody>
                    <a:bodyPr/>
                    <a:lstStyle/>
                    <a:p>
                      <a:r>
                        <a:rPr sz="1200" b="0" i="0">
                          <a:solidFill>
                            <a:srgbClr val="1A1440"/>
                          </a:solidFill>
                          <a:latin typeface="Calibri"/>
                        </a:rPr>
                        <a:t>16</a:t>
                      </a:r>
                    </a:p>
                  </a:txBody>
                  <a:tcPr marL="101600" marR="101600" marT="38100" marB="38100" anchor="ctr">
                    <a:solidFill>
                      <a:srgbClr val="FFFFFF"/>
                    </a:solidFill>
                  </a:tcPr>
                </a:tc>
                <a:tc>
                  <a:txBody>
                    <a:bodyPr/>
                    <a:lstStyle/>
                    <a:p>
                      <a:r>
                        <a:rPr sz="1200" b="0" i="0">
                          <a:solidFill>
                            <a:srgbClr val="1A1440"/>
                          </a:solidFill>
                          <a:latin typeface="Calibri"/>
                        </a:rPr>
                        <a:t>3</a:t>
                      </a:r>
                    </a:p>
                  </a:txBody>
                  <a:tcPr marL="101600" marR="101600" marT="38100" marB="38100" anchor="ctr">
                    <a:solidFill>
                      <a:srgbClr val="FFFFFF"/>
                    </a:solidFill>
                  </a:tcPr>
                </a:tc>
                <a:tc>
                  <a:txBody>
                    <a:bodyPr/>
                    <a:lstStyle/>
                    <a:p>
                      <a:r>
                        <a:rPr sz="1200" b="0" i="0">
                          <a:solidFill>
                            <a:srgbClr val="1A1440"/>
                          </a:solidFill>
                          <a:latin typeface="Calibri"/>
                        </a:rPr>
                        <a:t>495</a:t>
                      </a:r>
                    </a:p>
                  </a:txBody>
                  <a:tcPr marL="101600" marR="101600" marT="38100" marB="38100" anchor="ctr">
                    <a:solidFill>
                      <a:srgbClr val="FFFFFF"/>
                    </a:solidFill>
                  </a:tcPr>
                </a:tc>
              </a:tr>
              <a:tr h="335280">
                <a:tc>
                  <a:txBody>
                    <a:bodyPr/>
                    <a:lstStyle/>
                    <a:p>
                      <a:r>
                        <a:rPr sz="1200" b="0" i="0">
                          <a:solidFill>
                            <a:srgbClr val="1A1440"/>
                          </a:solidFill>
                          <a:latin typeface="Calibri"/>
                        </a:rPr>
                        <a:t>F</a:t>
                      </a:r>
                    </a:p>
                  </a:txBody>
                  <a:tcPr marL="101600" marR="101600" marT="38100" marB="38100" anchor="ctr">
                    <a:solidFill>
                      <a:srgbClr val="F4F2FA"/>
                    </a:solidFill>
                  </a:tcPr>
                </a:tc>
                <a:tc>
                  <a:txBody>
                    <a:bodyPr/>
                    <a:lstStyle/>
                    <a:p>
                      <a:r>
                        <a:rPr sz="1200" b="0" i="0">
                          <a:solidFill>
                            <a:srgbClr val="1A1440"/>
                          </a:solidFill>
                          <a:latin typeface="Calibri"/>
                        </a:rPr>
                        <a:t>Rajendranagar</a:t>
                      </a:r>
                    </a:p>
                  </a:txBody>
                  <a:tcPr marL="101600" marR="101600" marT="38100" marB="38100" anchor="ctr">
                    <a:solidFill>
                      <a:srgbClr val="F4F2FA"/>
                    </a:solidFill>
                  </a:tcPr>
                </a:tc>
                <a:tc>
                  <a:txBody>
                    <a:bodyPr/>
                    <a:lstStyle/>
                    <a:p>
                      <a:r>
                        <a:rPr sz="1200" b="0" i="0">
                          <a:solidFill>
                            <a:srgbClr val="1A1440"/>
                          </a:solidFill>
                          <a:latin typeface="Calibri"/>
                        </a:rPr>
                        <a:t>10</a:t>
                      </a:r>
                    </a:p>
                  </a:txBody>
                  <a:tcPr marL="101600" marR="101600" marT="38100" marB="38100" anchor="ctr">
                    <a:solidFill>
                      <a:srgbClr val="F4F2FA"/>
                    </a:solidFill>
                  </a:tcPr>
                </a:tc>
                <a:tc>
                  <a:txBody>
                    <a:bodyPr/>
                    <a:lstStyle/>
                    <a:p>
                      <a:r>
                        <a:rPr sz="1200" b="0" i="0">
                          <a:solidFill>
                            <a:srgbClr val="1A1440"/>
                          </a:solidFill>
                          <a:latin typeface="Calibri"/>
                        </a:rPr>
                        <a:t>17</a:t>
                      </a:r>
                    </a:p>
                  </a:txBody>
                  <a:tcPr marL="101600" marR="101600" marT="38100" marB="38100" anchor="ctr">
                    <a:solidFill>
                      <a:srgbClr val="F4F2FA"/>
                    </a:solidFill>
                  </a:tcPr>
                </a:tc>
                <a:tc>
                  <a:txBody>
                    <a:bodyPr/>
                    <a:lstStyle/>
                    <a:p>
                      <a:r>
                        <a:rPr sz="1200" b="0" i="0">
                          <a:solidFill>
                            <a:srgbClr val="1A1440"/>
                          </a:solidFill>
                          <a:latin typeface="Calibri"/>
                        </a:rPr>
                        <a:t>2,805</a:t>
                      </a:r>
                    </a:p>
                  </a:txBody>
                  <a:tcPr marL="101600" marR="101600" marT="38100" marB="38100" anchor="ctr">
                    <a:solidFill>
                      <a:srgbClr val="F4F2FA"/>
                    </a:solidFill>
                  </a:tcPr>
                </a:tc>
                <a:tc>
                  <a:txBody>
                    <a:bodyPr/>
                    <a:lstStyle/>
                    <a:p>
                      <a:r>
                        <a:rPr sz="1200" b="0" i="0">
                          <a:solidFill>
                            <a:srgbClr val="1A1440"/>
                          </a:solidFill>
                          <a:latin typeface="Calibri"/>
                        </a:rPr>
                        <a:t>14</a:t>
                      </a:r>
                    </a:p>
                  </a:txBody>
                  <a:tcPr marL="101600" marR="101600" marT="38100" marB="38100" anchor="ctr">
                    <a:solidFill>
                      <a:srgbClr val="F4F2FA"/>
                    </a:solidFill>
                  </a:tcPr>
                </a:tc>
                <a:tc>
                  <a:txBody>
                    <a:bodyPr/>
                    <a:lstStyle/>
                    <a:p>
                      <a:r>
                        <a:rPr sz="1200" b="0" i="0">
                          <a:solidFill>
                            <a:srgbClr val="1A1440"/>
                          </a:solidFill>
                          <a:latin typeface="Calibri"/>
                        </a:rPr>
                        <a:t>2</a:t>
                      </a:r>
                    </a:p>
                  </a:txBody>
                  <a:tcPr marL="101600" marR="101600" marT="38100" marB="38100" anchor="ctr">
                    <a:solidFill>
                      <a:srgbClr val="F4F2FA"/>
                    </a:solidFill>
                  </a:tcPr>
                </a:tc>
                <a:tc>
                  <a:txBody>
                    <a:bodyPr/>
                    <a:lstStyle/>
                    <a:p>
                      <a:r>
                        <a:rPr sz="1200" b="0" i="0">
                          <a:solidFill>
                            <a:srgbClr val="1A1440"/>
                          </a:solidFill>
                          <a:latin typeface="Calibri"/>
                        </a:rPr>
                        <a:t>330</a:t>
                      </a:r>
                    </a:p>
                  </a:txBody>
                  <a:tcPr marL="101600" marR="101600" marT="38100" marB="38100" anchor="ctr">
                    <a:solidFill>
                      <a:srgbClr val="F4F2FA"/>
                    </a:solidFill>
                  </a:tcPr>
                </a:tc>
              </a:tr>
              <a:tr h="335280">
                <a:tc>
                  <a:txBody>
                    <a:bodyPr/>
                    <a:lstStyle/>
                    <a:p>
                      <a:r>
                        <a:rPr sz="1200" b="1" i="0">
                          <a:solidFill>
                            <a:srgbClr val="1A1440"/>
                          </a:solidFill>
                          <a:latin typeface="Calibri"/>
                        </a:rPr>
                        <a:t>Total</a:t>
                      </a:r>
                    </a:p>
                  </a:txBody>
                  <a:tcPr marL="101600" marR="101600" marT="38100" marB="38100" anchor="ctr">
                    <a:solidFill>
                      <a:srgbClr val="FFFFFF"/>
                    </a:solidFill>
                  </a:tcPr>
                </a:tc>
                <a:tc>
                  <a:txBody>
                    <a:bodyPr/>
                    <a:lstStyle/>
                    <a:p/>
                  </a:txBody>
                  <a:tcPr marL="101600" marR="101600" marT="38100" marB="38100" anchor="ctr">
                    <a:solidFill>
                      <a:srgbClr val="FFFFFF"/>
                    </a:solidFill>
                  </a:tcPr>
                </a:tc>
                <a:tc>
                  <a:txBody>
                    <a:bodyPr/>
                    <a:lstStyle/>
                    <a:p>
                      <a:r>
                        <a:rPr sz="1200" b="1" i="0">
                          <a:solidFill>
                            <a:srgbClr val="1A1440"/>
                          </a:solidFill>
                          <a:latin typeface="Calibri"/>
                        </a:rPr>
                        <a:t>60</a:t>
                      </a:r>
                    </a:p>
                  </a:txBody>
                  <a:tcPr marL="101600" marR="101600" marT="38100" marB="38100" anchor="ctr">
                    <a:solidFill>
                      <a:srgbClr val="FFFFFF"/>
                    </a:solidFill>
                  </a:tcPr>
                </a:tc>
                <a:tc>
                  <a:txBody>
                    <a:bodyPr/>
                    <a:lstStyle/>
                    <a:p>
                      <a:r>
                        <a:rPr sz="1200" b="1" i="0">
                          <a:solidFill>
                            <a:srgbClr val="1A1440"/>
                          </a:solidFill>
                          <a:latin typeface="Calibri"/>
                        </a:rPr>
                        <a:t>114</a:t>
                      </a:r>
                    </a:p>
                  </a:txBody>
                  <a:tcPr marL="101600" marR="101600" marT="38100" marB="38100" anchor="ctr">
                    <a:solidFill>
                      <a:srgbClr val="FFFFFF"/>
                    </a:solidFill>
                  </a:tcPr>
                </a:tc>
                <a:tc>
                  <a:txBody>
                    <a:bodyPr/>
                    <a:lstStyle/>
                    <a:p>
                      <a:r>
                        <a:rPr sz="1200" b="1" i="0">
                          <a:solidFill>
                            <a:srgbClr val="1A1440"/>
                          </a:solidFill>
                          <a:latin typeface="Calibri"/>
                        </a:rPr>
                        <a:t>18,810</a:t>
                      </a:r>
                    </a:p>
                  </a:txBody>
                  <a:tcPr marL="101600" marR="101600" marT="38100" marB="38100" anchor="ctr">
                    <a:solidFill>
                      <a:srgbClr val="FFFFFF"/>
                    </a:solidFill>
                  </a:tcPr>
                </a:tc>
                <a:tc>
                  <a:txBody>
                    <a:bodyPr/>
                    <a:lstStyle/>
                    <a:p>
                      <a:r>
                        <a:rPr sz="1200" b="1" i="0">
                          <a:solidFill>
                            <a:srgbClr val="1A1440"/>
                          </a:solidFill>
                          <a:latin typeface="Calibri"/>
                        </a:rPr>
                        <a:t>74</a:t>
                      </a:r>
                    </a:p>
                  </a:txBody>
                  <a:tcPr marL="101600" marR="101600" marT="38100" marB="38100" anchor="ctr">
                    <a:solidFill>
                      <a:srgbClr val="FFFFFF"/>
                    </a:solidFill>
                  </a:tcPr>
                </a:tc>
                <a:tc>
                  <a:txBody>
                    <a:bodyPr/>
                    <a:lstStyle/>
                    <a:p>
                      <a:r>
                        <a:rPr sz="1200" b="1" i="0">
                          <a:solidFill>
                            <a:srgbClr val="1A1440"/>
                          </a:solidFill>
                          <a:latin typeface="Calibri"/>
                        </a:rPr>
                        <a:t>88</a:t>
                      </a:r>
                    </a:p>
                  </a:txBody>
                  <a:tcPr marL="101600" marR="101600" marT="38100" marB="38100" anchor="ctr">
                    <a:solidFill>
                      <a:srgbClr val="FFFFFF"/>
                    </a:solidFill>
                  </a:tcPr>
                </a:tc>
                <a:tc>
                  <a:txBody>
                    <a:bodyPr/>
                    <a:lstStyle/>
                    <a:p>
                      <a:r>
                        <a:rPr sz="1200" b="1" i="0">
                          <a:solidFill>
                            <a:srgbClr val="1A1440"/>
                          </a:solidFill>
                          <a:latin typeface="Calibri"/>
                        </a:rPr>
                        <a:t>14,520</a:t>
                      </a:r>
                    </a:p>
                  </a:txBody>
                  <a:tcPr marL="101600" marR="101600" marT="38100" marB="38100" anchor="ctr">
                    <a:solidFill>
                      <a:srgbClr val="FFFFFF"/>
                    </a:solidFill>
                  </a:tcPr>
                </a:tc>
              </a:tr>
            </a:tbl>
          </a:graphicData>
        </a:graphic>
      </p:graphicFrame>
      <p:sp>
        <p:nvSpPr>
          <p:cNvPr id="10" name="Rounded Rectangle 9"/>
          <p:cNvSpPr/>
          <p:nvPr/>
        </p:nvSpPr>
        <p:spPr>
          <a:xfrm>
            <a:off x="530352" y="489508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02310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013960"/>
            <a:ext cx="10564063" cy="624840"/>
          </a:xfrm>
          <a:prstGeom prst="rect">
            <a:avLst/>
          </a:prstGeom>
          <a:noFill/>
        </p:spPr>
        <p:txBody>
          <a:bodyPr wrap="square" anchor="ctr" lIns="0" rIns="0" tIns="0" bIns="0">
            <a:spAutoFit/>
          </a:bodyPr>
          <a:lstStyle/>
          <a:p>
            <a:r>
              <a:rPr sz="1500" b="1">
                <a:solidFill>
                  <a:srgbClr val="5B3FD6"/>
                </a:solidFill>
                <a:latin typeface="Calibri"/>
              </a:rPr>
              <a:t>Per peak online hour: </a:t>
            </a:r>
            <a:r>
              <a:rPr sz="1500" b="0" i="0">
                <a:solidFill>
                  <a:srgbClr val="1A1440"/>
                </a:solidFill>
                <a:latin typeface="Calibri"/>
              </a:rPr>
              <a:t>18,810 / 60 = Rs 313.5, then 14,520 / 74 = Rs 196.2, down 37 percent. </a:t>
            </a:r>
            <a:r>
              <a:rPr sz="1500" b="1" i="0">
                <a:solidFill>
                  <a:srgbClr val="1A1440"/>
                </a:solidFill>
                <a:latin typeface="Calibri"/>
              </a:rPr>
              <a:t>Per driver-week:</a:t>
            </a:r>
            <a:r>
              <a:rPr sz="1500" b="0" i="0">
                <a:solidFill>
                  <a:srgbClr val="1A1440"/>
                </a:solidFill>
                <a:latin typeface="Calibri"/>
              </a:rPr>
              <a:t> 18,810 / 6 = Rs 3,135, then 14,520 / 6 = Rs 2,420, down 23 percent. </a:t>
            </a:r>
            <a:r>
              <a:rPr sz="1500" b="1" i="0">
                <a:solidFill>
                  <a:srgbClr val="1A1440"/>
                </a:solidFill>
                <a:latin typeface="Calibri"/>
              </a:rPr>
              <a:t>Per trip:</a:t>
            </a:r>
            <a:r>
              <a:rPr sz="1500" b="0" i="0">
                <a:solidFill>
                  <a:srgbClr val="1A1440"/>
                </a:solidFill>
                <a:latin typeface="Calibri"/>
              </a:rPr>
              <a:t> Rs 165 both times.</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9" name="Oval 18"/>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21" name="Oval 2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S38  ·  42 / 59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why does the city's per-driver-week rise?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On the six drivers, rupees per driver-week fell 23 percent; on all driver-weeks, it rose 0.8 percent. Why?</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Recall chapter 1: </a:t>
            </a:r>
            <a:r>
              <a:rPr sz="1500" b="0" i="0">
                <a:solidFill>
                  <a:srgbClr val="1A1440"/>
                </a:solidFill>
                <a:latin typeface="Calibri"/>
              </a:rPr>
              <a:t>the denominator picks the direction. Ramesh's shop rose per day and fell per hour on the same rupees.</a:t>
            </a:r>
          </a:p>
        </p:txBody>
      </p:sp>
      <p:sp>
        <p:nvSpPr>
          <p:cNvPr id="12" name="TextBox 11"/>
          <p:cNvSpPr txBox="1"/>
          <p:nvPr/>
        </p:nvSpPr>
        <p:spPr>
          <a:xfrm>
            <a:off x="530352" y="2929128"/>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The 140 new drivers earned more than the rest</a:t>
            </a:r>
          </a:p>
          <a:p>
            <a:pPr>
              <a:spcAft>
                <a:spcPts val="800"/>
              </a:spcAft>
            </a:pPr>
            <a:r>
              <a:rPr sz="1600" b="0" i="0">
                <a:solidFill>
                  <a:srgbClr val="1A1440"/>
                </a:solidFill>
                <a:latin typeface="Calibri"/>
              </a:rPr>
              <a:t>b) Each driver-week carried more online hours</a:t>
            </a:r>
          </a:p>
          <a:p>
            <a:pPr>
              <a:spcAft>
                <a:spcPts val="800"/>
              </a:spcAft>
            </a:pPr>
            <a:r>
              <a:rPr sz="1600" b="0" i="0">
                <a:solidFill>
                  <a:srgbClr val="1A1440"/>
                </a:solidFill>
                <a:latin typeface="Calibri"/>
              </a:rPr>
              <a:t>c) The fare rose after the launch</a:t>
            </a:r>
          </a:p>
          <a:p>
            <a:pPr>
              <a:spcAft>
                <a:spcPts val="800"/>
              </a:spcAft>
            </a:pPr>
            <a:r>
              <a:rPr sz="1600" b="0" i="0">
                <a:solidFill>
                  <a:srgbClr val="1A1440"/>
                </a:solidFill>
                <a:latin typeface="Calibri"/>
              </a:rPr>
              <a:t>d) Fewer drivers sat idle after the launch</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9" name="Oval 18"/>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21" name="Oval 2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S39  ·  43 / 59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more hours a driver-week, less per hour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can rupees per driver-week rise while rupees per hour fall?</a:t>
            </a:r>
          </a:p>
        </p:txBody>
      </p:sp>
      <p:pic>
        <p:nvPicPr>
          <p:cNvPr id="9" name="mermaid diagram" descr="C2_W04_D02_three_reads_STUDENT.png"/>
          <p:cNvPicPr>
            <a:picLocks noChangeAspect="1"/>
          </p:cNvPicPr>
          <p:nvPr/>
        </p:nvPicPr>
        <p:blipFill>
          <a:blip r:embed="rId4"/>
          <a:stretch>
            <a:fillRect/>
          </a:stretch>
        </p:blipFill>
        <p:spPr>
          <a:xfrm>
            <a:off x="3121654" y="1664208"/>
            <a:ext cx="5948386" cy="3147060"/>
          </a:xfrm>
          <a:prstGeom prst="rect">
            <a:avLst/>
          </a:prstGeom>
        </p:spPr>
      </p:pic>
      <p:sp>
        <p:nvSpPr>
          <p:cNvPr id="10" name="picture caption"/>
          <p:cNvSpPr txBox="1"/>
          <p:nvPr/>
        </p:nvSpPr>
        <p:spPr>
          <a:xfrm>
            <a:off x="530352" y="4847844"/>
            <a:ext cx="11130991" cy="316992"/>
          </a:xfrm>
          <a:prstGeom prst="rect">
            <a:avLst/>
          </a:prstGeom>
          <a:noFill/>
        </p:spPr>
        <p:txBody>
          <a:bodyPr wrap="square" anchor="t" lIns="0" rIns="0" tIns="0" bIns="0">
            <a:spAutoFit/>
          </a:bodyPr>
          <a:lstStyle/>
          <a:p>
            <a:pPr algn="ctr"/>
            <a:r>
              <a:rPr sz="1200" b="0" i="0">
                <a:solidFill>
                  <a:srgbClr val="6B6690"/>
                </a:solidFill>
                <a:latin typeface="Calibri"/>
              </a:rPr>
              <a:t>Each read divided by its own before window</a:t>
            </a:r>
          </a:p>
        </p:txBody>
      </p:sp>
      <p:sp>
        <p:nvSpPr>
          <p:cNvPr id="11" name="Rounded Rectangle 10"/>
          <p:cNvSpPr/>
          <p:nvPr/>
        </p:nvSpPr>
        <p:spPr>
          <a:xfrm>
            <a:off x="530352" y="5173980"/>
            <a:ext cx="11130991" cy="86106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301996"/>
            <a:ext cx="45720" cy="60502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292852"/>
            <a:ext cx="10564063" cy="678180"/>
          </a:xfrm>
          <a:prstGeom prst="rect">
            <a:avLst/>
          </a:prstGeom>
          <a:noFill/>
        </p:spPr>
        <p:txBody>
          <a:bodyPr wrap="square" anchor="ctr" lIns="0" rIns="0" tIns="0" bIns="0">
            <a:spAutoFit/>
          </a:bodyPr>
          <a:lstStyle/>
          <a:p>
            <a:r>
              <a:rPr sz="1100" b="1">
                <a:solidFill>
                  <a:srgbClr val="5B3FD6"/>
                </a:solidFill>
                <a:latin typeface="Calibri"/>
              </a:rPr>
              <a:t>The answer is b. </a:t>
            </a:r>
            <a:r>
              <a:rPr sz="1100" b="0" i="0">
                <a:solidFill>
                  <a:srgbClr val="1A1440"/>
                </a:solidFill>
                <a:latin typeface="Calibri"/>
              </a:rPr>
              <a:t>Rupees per driver-week is rupees per hour times hours per driver-week, so the hours are Rs 5,817 / Rs 313.5 = 18.6 a driver-week before and Rs 5,861 / Rs 260.4 = 22.5 after. The average driver-week carried about four more online hours, most of them the idle tail's, while each hour brought in 17 percent less. Each line is the week over its before-window average, times 100; the amber line rose, then slid below 100.</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6" name="Oval 1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8" name="Oval 17"/>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20" name="Oval 19"/>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22" name="Oval 21"/>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S40  ·  44 / 59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trap: "per driver-week is up, so it works"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the rise in bookings per active driver-week say nothing good about the scheme?</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The plausible wrong answer. </a:t>
            </a:r>
            <a:r>
              <a:rPr sz="1500" b="0" i="0">
                <a:solidFill>
                  <a:srgbClr val="1A1440"/>
                </a:solidFill>
                <a:latin typeface="Calibri"/>
              </a:rPr>
              <a:t>"Bookings per driver-week rose from Rs 5,817 to Rs 5,861, so the guarantee is working; keep it as it is." Every rupee in that sentence is right, and it would keep the city paying for idle hours.</a:t>
            </a:r>
          </a:p>
        </p:txBody>
      </p:sp>
      <p:sp>
        <p:nvSpPr>
          <p:cNvPr id="12" name="Rounded Rectangle 11"/>
          <p:cNvSpPr/>
          <p:nvPr/>
        </p:nvSpPr>
        <p:spPr>
          <a:xfrm>
            <a:off x="530352" y="3195828"/>
            <a:ext cx="11130991" cy="16078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323844"/>
            <a:ext cx="45720" cy="13517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314700"/>
            <a:ext cx="10564063" cy="1424940"/>
          </a:xfrm>
          <a:prstGeom prst="rect">
            <a:avLst/>
          </a:prstGeom>
          <a:noFill/>
        </p:spPr>
        <p:txBody>
          <a:bodyPr wrap="square" anchor="ctr" lIns="0" rIns="0" tIns="0" bIns="0">
            <a:spAutoFit/>
          </a:bodyPr>
          <a:lstStyle/>
          <a:p>
            <a:r>
              <a:rPr sz="1500" b="1">
                <a:solidFill>
                  <a:srgbClr val="5B3FD6"/>
                </a:solidFill>
                <a:latin typeface="Calibri"/>
              </a:rPr>
              <a:t>Why it is wrong. </a:t>
            </a:r>
            <a:r>
              <a:rPr sz="1500" b="0" i="0">
                <a:solidFill>
                  <a:srgbClr val="1A1440"/>
                </a:solidFill>
                <a:latin typeface="Calibri"/>
              </a:rPr>
              <a:t>Bookings rose 3.0 percent and active driver-weeks 2.2 percent (6,360 to 6,500), so the ratio rose 0.8 percent (1.030 / 1.022 = 1.008). The rise was bought with hours: 21 percent more online hours a driver-week for 17 percent less per hour, most of them the idle tail's. The 140 drivers who joined after the launch drove about one week each, at Rs 4,314 a driver-week, so they pulled the read down; for the drivers there before the launch, it rose 1.4 percent.</a:t>
            </a:r>
          </a:p>
        </p:txBody>
      </p:sp>
      <p:sp>
        <p:nvSpPr>
          <p:cNvPr id="15" name="Rounded Rectangle 14"/>
          <p:cNvSpPr/>
          <p:nvPr/>
        </p:nvSpPr>
        <p:spPr>
          <a:xfrm>
            <a:off x="530352" y="496824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76656" y="509625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77824" y="5087112"/>
            <a:ext cx="10564063" cy="624840"/>
          </a:xfrm>
          <a:prstGeom prst="rect">
            <a:avLst/>
          </a:prstGeom>
          <a:noFill/>
        </p:spPr>
        <p:txBody>
          <a:bodyPr wrap="square" anchor="ctr" lIns="0" rIns="0" tIns="0" bIns="0">
            <a:spAutoFit/>
          </a:bodyPr>
          <a:lstStyle/>
          <a:p>
            <a:r>
              <a:rPr sz="1500" b="1">
                <a:solidFill>
                  <a:srgbClr val="5B3FD6"/>
                </a:solidFill>
                <a:latin typeface="Calibri"/>
              </a:rPr>
              <a:t>The fix. </a:t>
            </a:r>
            <a:r>
              <a:rPr sz="1500" b="0" i="0">
                <a:solidFill>
                  <a:srgbClr val="1A1440"/>
                </a:solidFill>
                <a:latin typeface="Calibri"/>
              </a:rPr>
              <a:t>The slide names the denominator the scheme pays for, the peak online hour, and the presenter says it aloud.</a:t>
            </a:r>
          </a:p>
        </p:txBody>
      </p:sp>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20" name="Oval 19"/>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22" name="Oval 21"/>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24" name="Oval 23"/>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26" name="Oval 25"/>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S41  ·  45 / 59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fare times trips per hour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Is the fall in rupees per hour all trips, or some of it fare?</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313.5</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RS 165 X 1.90 TRIPS PER HOUR</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six weeks from 20 July</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260.4</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RS 165 X 1.578 TRIPS PER HOUR</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six weeks from 31 August</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Rs 165</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FARE, BOTH WINDOWS</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so the whole fall is trips per hour</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Rupees per hour is the fare times trips per hour, so the two routes always agree; the split shows which half moved.</a:t>
            </a:r>
            <a:r>
              <a:rPr sz="1600" b="0" i="0">
                <a:solidFill>
                  <a:srgbClr val="1A1440"/>
                </a:solidFill>
                <a:latin typeface="Calibri"/>
              </a:rPr>
              <a:t> The fare held, so the whole fall is trips per hour, 1.90 to 1.578 (230,900 / 146,300, printed as 1.58). The finance partner will ask whether riders paid less; they did not.</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24" name="Oval 2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26" name="Oval 2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28" name="Oval 27"/>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30" name="Oval 29"/>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S42  ·  46 / 59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Chapter 4 adds the claim and its denominator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can you now say in one sentence a driver would understand?</a:t>
            </a:r>
          </a:p>
        </p:txBody>
      </p:sp>
      <p:pic>
        <p:nvPicPr>
          <p:cNvPr id="9" name="mermaid diagram" descr="092b409cb85c5f94.png"/>
          <p:cNvPicPr>
            <a:picLocks noChangeAspect="1"/>
          </p:cNvPicPr>
          <p:nvPr/>
        </p:nvPicPr>
        <p:blipFill>
          <a:blip r:embed="rId5"/>
          <a:stretch>
            <a:fillRect/>
          </a:stretch>
        </p:blipFill>
        <p:spPr>
          <a:xfrm>
            <a:off x="2152497" y="1956816"/>
            <a:ext cx="7886700" cy="2100262"/>
          </a:xfrm>
          <a:prstGeom prst="rect">
            <a:avLst/>
          </a:prstGeom>
        </p:spPr>
      </p:pic>
      <p:sp>
        <p:nvSpPr>
          <p:cNvPr id="10" name="TextBox 9"/>
          <p:cNvSpPr txBox="1"/>
          <p:nvPr/>
        </p:nvSpPr>
        <p:spPr>
          <a:xfrm>
            <a:off x="530352" y="4203382"/>
            <a:ext cx="11130991" cy="1601216"/>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Chapter 4 adds</a:t>
            </a:r>
            <a:r>
              <a:rPr sz="1600" b="0" i="0">
                <a:solidFill>
                  <a:srgbClr val="1A1440"/>
                </a:solidFill>
                <a:latin typeface="Calibri"/>
              </a:rPr>
              <a:t> the claim (the scheme pays for idle hours) and its denominator (Rs 314 to Rs 260 per peak online hour). </a:t>
            </a:r>
            <a:r>
              <a:rPr sz="1600" b="1" i="0">
                <a:solidFill>
                  <a:srgbClr val="1A1440"/>
                </a:solidFill>
                <a:latin typeface="Calibri"/>
              </a:rPr>
              <a:t>Said plainly:</a:t>
            </a:r>
            <a:r>
              <a:rPr sz="1600" b="0" i="0">
                <a:solidFill>
                  <a:srgbClr val="1A1440"/>
                </a:solidFill>
                <a:latin typeface="Calibri"/>
              </a:rPr>
              <a:t> "An hour online used to bring in Rs 314 of fares and now brings in Rs 260, because more of those hours have no rider." </a:t>
            </a:r>
            <a:r>
              <a:rPr sz="1600" b="1" i="0">
                <a:solidFill>
                  <a:srgbClr val="1A1440"/>
                </a:solidFill>
                <a:latin typeface="Calibri"/>
              </a:rPr>
              <a:t>In the interview</a:t>
            </a:r>
            <a:r>
              <a:rPr sz="1600" b="0" i="0">
                <a:solidFill>
                  <a:srgbClr val="1A1440"/>
                </a:solidFill>
                <a:latin typeface="Calibri"/>
              </a:rPr>
              <a:t> [S], this programme's tag for a staple asked everywhere: present a recommendation to a non-technical stakeholder in two minutes, opening on that sentence.</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7" name="Oval 16"/>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Which number carries it?</a:t>
            </a:r>
          </a:p>
        </p:txBody>
      </p:sp>
      <p:sp>
        <p:nvSpPr>
          <p:cNvPr id="19" name="Oval 1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Which objection holds?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S43  ·  47 / 59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05</a:t>
            </a:r>
          </a:p>
        </p:txBody>
      </p:sp>
      <p:sp>
        <p:nvSpPr>
          <p:cNvPr id="8" name="TextBox 7"/>
          <p:cNvSpPr txBox="1"/>
          <p:nvPr/>
        </p:nvSpPr>
        <p:spPr>
          <a:xfrm>
            <a:off x="731519" y="2542032"/>
            <a:ext cx="10673791" cy="350266"/>
          </a:xfrm>
          <a:prstGeom prst="rect">
            <a:avLst/>
          </a:prstGeom>
          <a:noFill/>
        </p:spPr>
        <p:txBody>
          <a:bodyPr wrap="square" anchor="t" lIns="0" rIns="0" tIns="0" bIns="0">
            <a:spAutoFit/>
          </a:bodyPr>
          <a:lstStyle/>
          <a:p>
            <a:pPr algn="l"/>
            <a:r>
              <a:rPr sz="1900" b="1" i="0">
                <a:solidFill>
                  <a:srgbClr val="D9A7FF"/>
                </a:solidFill>
                <a:latin typeface="Calibri"/>
              </a:rPr>
              <a:t>Uber's three objections, answered by defending under challenge and the appendix</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objection holds?</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Defending under challenge applied: three roles, each partly right; the four moves in two studio rounds; and the appendix drawer with one page per role's question.</a:t>
            </a:r>
          </a:p>
        </p:txBody>
      </p:sp>
      <p:sp>
        <p:nvSpPr>
          <p:cNvPr id="11" name="Rounded Rectangle 10"/>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a slide carry?</a:t>
            </a:r>
          </a:p>
        </p:txBody>
      </p:sp>
      <p:sp>
        <p:nvSpPr>
          <p:cNvPr id="12" name="Rounded Rectangle 11"/>
          <p:cNvSpPr/>
          <p:nvPr/>
        </p:nvSpPr>
        <p:spPr>
          <a:xfrm>
            <a:off x="2628191"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does the rest go?</a:t>
            </a:r>
          </a:p>
        </p:txBody>
      </p:sp>
      <p:sp>
        <p:nvSpPr>
          <p:cNvPr id="13" name="Rounded Rectangle 12"/>
          <p:cNvSpPr/>
          <p:nvPr/>
        </p:nvSpPr>
        <p:spPr>
          <a:xfrm>
            <a:off x="4465646"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do you hold a claim?</a:t>
            </a:r>
          </a:p>
        </p:txBody>
      </p:sp>
      <p:sp>
        <p:nvSpPr>
          <p:cNvPr id="14" name="Rounded Rectangle 13"/>
          <p:cNvSpPr/>
          <p:nvPr/>
        </p:nvSpPr>
        <p:spPr>
          <a:xfrm>
            <a:off x="6362318"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 carries it?</a:t>
            </a:r>
          </a:p>
        </p:txBody>
      </p:sp>
      <p:sp>
        <p:nvSpPr>
          <p:cNvPr id="15" name="Rounded Rectangle 14"/>
          <p:cNvSpPr/>
          <p:nvPr/>
        </p:nvSpPr>
        <p:spPr>
          <a:xfrm>
            <a:off x="8258989" y="5074920"/>
            <a:ext cx="166851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objection holds?</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2. Stakeholder communication: one slide, five minutes, three people paid to disagree</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48 / 59</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Uber's defence applies chapters 3 and 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Applies: </a:t>
            </a:r>
            <a:r>
              <a:rPr sz="1500" b="0" i="0">
                <a:solidFill>
                  <a:srgbClr val="1A1440"/>
                </a:solidFill>
                <a:latin typeface="Calibri"/>
              </a:rPr>
              <a:t>Defending under challenge: restate, answer, concede, what would change your mind (chapter 3); What to leave out, and the appendix (chapter 2).</a:t>
            </a:r>
          </a:p>
        </p:txBody>
      </p:sp>
      <p:sp>
        <p:nvSpPr>
          <p:cNvPr id="12" name="Rounded Rectangle 11"/>
          <p:cNvSpPr/>
          <p:nvPr/>
        </p:nvSpPr>
        <p:spPr>
          <a:xfrm>
            <a:off x="530352" y="292912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05714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048000"/>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analyst whose slide must survive three roles who each lose something under it, and the city head, who sides with nobody until the evidence is on the table.</a:t>
            </a:r>
          </a:p>
        </p:txBody>
      </p:sp>
      <p:sp>
        <p:nvSpPr>
          <p:cNvPr id="15" name="Rectangle 14"/>
          <p:cNvSpPr/>
          <p:nvPr/>
        </p:nvSpPr>
        <p:spPr>
          <a:xfrm>
            <a:off x="1853145" y="4468368"/>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7" name="Oval 16"/>
          <p:cNvSpPr/>
          <p:nvPr/>
        </p:nvSpPr>
        <p:spPr>
          <a:xfrm>
            <a:off x="1752561"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4934712"/>
            <a:ext cx="2316403" cy="465836"/>
          </a:xfrm>
          <a:prstGeom prst="rect">
            <a:avLst/>
          </a:prstGeom>
          <a:noFill/>
        </p:spPr>
        <p:txBody>
          <a:bodyPr wrap="square" anchor="t" lIns="0" rIns="0" tIns="0" bIns="0">
            <a:spAutoFit/>
          </a:bodyPr>
          <a:lstStyle/>
          <a:p>
            <a:pPr algn="l"/>
            <a:r>
              <a:rPr sz="1300" b="1" i="0">
                <a:solidFill>
                  <a:srgbClr val="1A0F5C"/>
                </a:solidFill>
                <a:latin typeface="Calibri"/>
              </a:rPr>
              <a:t>Whose side is the city head on?</a:t>
            </a:r>
          </a:p>
        </p:txBody>
      </p:sp>
      <p:sp>
        <p:nvSpPr>
          <p:cNvPr id="20" name="TextBox 19"/>
          <p:cNvSpPr txBox="1"/>
          <p:nvPr/>
        </p:nvSpPr>
        <p:spPr>
          <a:xfrm>
            <a:off x="694944" y="5437124"/>
            <a:ext cx="2316403" cy="201676"/>
          </a:xfrm>
          <a:prstGeom prst="rect">
            <a:avLst/>
          </a:prstGeom>
          <a:noFill/>
        </p:spPr>
        <p:txBody>
          <a:bodyPr wrap="square" anchor="t" lIns="0" rIns="0" tIns="0" bIns="0">
            <a:spAutoFit/>
          </a:bodyPr>
          <a:lstStyle/>
          <a:p>
            <a:pPr algn="l"/>
            <a:r>
              <a:rPr sz="1000" b="0" i="0">
                <a:solidFill>
                  <a:srgbClr val="6B6690"/>
                </a:solidFill>
                <a:latin typeface="Calibri"/>
              </a:rPr>
              <a:t>Three objections, one vote.</a:t>
            </a:r>
          </a:p>
        </p:txBody>
      </p:sp>
      <p:sp>
        <p:nvSpPr>
          <p:cNvPr id="21" name="TextBox 20"/>
          <p:cNvSpPr txBox="1"/>
          <p:nvPr/>
        </p:nvSpPr>
        <p:spPr>
          <a:xfrm>
            <a:off x="3358819"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22" name="Oval 21"/>
          <p:cNvSpPr/>
          <p:nvPr/>
        </p:nvSpPr>
        <p:spPr>
          <a:xfrm>
            <a:off x="4581029"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Which part of each is true?</a:t>
            </a:r>
          </a:p>
        </p:txBody>
      </p:sp>
      <p:sp>
        <p:nvSpPr>
          <p:cNvPr id="25" name="TextBox 24"/>
          <p:cNvSpPr txBox="1"/>
          <p:nvPr/>
        </p:nvSpPr>
        <p:spPr>
          <a:xfrm>
            <a:off x="3523411" y="5222494"/>
            <a:ext cx="2316403" cy="366776"/>
          </a:xfrm>
          <a:prstGeom prst="rect">
            <a:avLst/>
          </a:prstGeom>
          <a:noFill/>
        </p:spPr>
        <p:txBody>
          <a:bodyPr wrap="square" anchor="t" lIns="0" rIns="0" tIns="0" bIns="0">
            <a:spAutoFit/>
          </a:bodyPr>
          <a:lstStyle/>
          <a:p>
            <a:pPr algn="l"/>
            <a:r>
              <a:rPr sz="1000" b="0" i="0">
                <a:solidFill>
                  <a:srgbClr val="6B6690"/>
                </a:solidFill>
                <a:latin typeface="Calibri"/>
              </a:rPr>
              <a:t>The true part, conceded; the rest, answered.</a:t>
            </a:r>
          </a:p>
        </p:txBody>
      </p:sp>
      <p:sp>
        <p:nvSpPr>
          <p:cNvPr id="26" name="TextBox 25"/>
          <p:cNvSpPr txBox="1"/>
          <p:nvPr/>
        </p:nvSpPr>
        <p:spPr>
          <a:xfrm>
            <a:off x="6187287"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7" name="Oval 26"/>
          <p:cNvSpPr/>
          <p:nvPr/>
        </p:nvSpPr>
        <p:spPr>
          <a:xfrm>
            <a:off x="7409497"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4934712"/>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does a full defence sound like?</a:t>
            </a:r>
          </a:p>
        </p:txBody>
      </p:sp>
      <p:sp>
        <p:nvSpPr>
          <p:cNvPr id="30" name="TextBox 29"/>
          <p:cNvSpPr txBox="1"/>
          <p:nvPr/>
        </p:nvSpPr>
        <p:spPr>
          <a:xfrm>
            <a:off x="6351879" y="5437124"/>
            <a:ext cx="2316403" cy="366776"/>
          </a:xfrm>
          <a:prstGeom prst="rect">
            <a:avLst/>
          </a:prstGeom>
          <a:noFill/>
        </p:spPr>
        <p:txBody>
          <a:bodyPr wrap="square" anchor="t" lIns="0" rIns="0" tIns="0" bIns="0">
            <a:spAutoFit/>
          </a:bodyPr>
          <a:lstStyle/>
          <a:p>
            <a:pPr algn="l"/>
            <a:r>
              <a:rPr sz="1000" b="0" i="0">
                <a:solidFill>
                  <a:srgbClr val="6B6690"/>
                </a:solidFill>
                <a:latin typeface="Calibri"/>
              </a:rPr>
              <a:t>The four moves, modelled, then practised.</a:t>
            </a:r>
          </a:p>
        </p:txBody>
      </p:sp>
      <p:sp>
        <p:nvSpPr>
          <p:cNvPr id="31" name="TextBox 30"/>
          <p:cNvSpPr txBox="1"/>
          <p:nvPr/>
        </p:nvSpPr>
        <p:spPr>
          <a:xfrm>
            <a:off x="9015755"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32" name="Oval 31"/>
          <p:cNvSpPr/>
          <p:nvPr/>
        </p:nvSpPr>
        <p:spPr>
          <a:xfrm>
            <a:off x="10237965"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goes behind the slide?</a:t>
            </a:r>
          </a:p>
        </p:txBody>
      </p:sp>
      <p:sp>
        <p:nvSpPr>
          <p:cNvPr id="35" name="TextBox 34"/>
          <p:cNvSpPr txBox="1"/>
          <p:nvPr/>
        </p:nvSpPr>
        <p:spPr>
          <a:xfrm>
            <a:off x="9180347" y="5222494"/>
            <a:ext cx="2316403" cy="366776"/>
          </a:xfrm>
          <a:prstGeom prst="rect">
            <a:avLst/>
          </a:prstGeom>
          <a:noFill/>
        </p:spPr>
        <p:txBody>
          <a:bodyPr wrap="square" anchor="t" lIns="0" rIns="0" tIns="0" bIns="0">
            <a:spAutoFit/>
          </a:bodyPr>
          <a:lstStyle/>
          <a:p>
            <a:pPr algn="l"/>
            <a:r>
              <a:rPr sz="1000" b="0" i="0">
                <a:solidFill>
                  <a:srgbClr val="6B6690"/>
                </a:solidFill>
                <a:latin typeface="Calibri"/>
              </a:rPr>
              <a:t>One appendix page per role's question.</a:t>
            </a:r>
          </a:p>
        </p:txBody>
      </p:sp>
      <p:sp>
        <p:nvSpPr>
          <p:cNvPr id="36" name="Oval 3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38" name="Oval 3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40" name="Oval 3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42" name="Oval 41"/>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44" name="Oval 43"/>
          <p:cNvSpPr/>
          <p:nvPr/>
        </p:nvSpPr>
        <p:spPr>
          <a:xfrm>
            <a:off x="680285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91257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objection holds?</a:t>
            </a:r>
          </a:p>
        </p:txBody>
      </p:sp>
      <p:sp>
        <p:nvSpPr>
          <p:cNvPr id="46" name="TextBox 4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S44  ·  49 / 59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which role will the city head side with?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When the three objections land, whose side is the city head on?</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The driver-operations lead: "Drivers will log off and supply at peak will fall"</a:t>
            </a:r>
          </a:p>
          <a:p>
            <a:pPr>
              <a:spcAft>
                <a:spcPts val="800"/>
              </a:spcAft>
            </a:pPr>
            <a:r>
              <a:rPr sz="1600" b="0" i="0">
                <a:solidFill>
                  <a:srgbClr val="1A1440"/>
                </a:solidFill>
                <a:latin typeface="Calibri"/>
              </a:rPr>
              <a:t>b) The marketing lead: "The guarantee is on every hoarding; changing it six weeks in looks like bait"</a:t>
            </a:r>
          </a:p>
          <a:p>
            <a:pPr>
              <a:spcAft>
                <a:spcPts val="800"/>
              </a:spcAft>
            </a:pPr>
            <a:r>
              <a:rPr sz="1600" b="0" i="0">
                <a:solidFill>
                  <a:srgbClr val="1A1440"/>
                </a:solidFill>
                <a:latin typeface="Calibri"/>
              </a:rPr>
              <a:t>c) The finance partner: "The fall in bookings per hour is the monsoon ending"</a:t>
            </a:r>
          </a:p>
          <a:p>
            <a:pPr>
              <a:spcAft>
                <a:spcPts val="800"/>
              </a:spcAft>
            </a:pPr>
            <a:r>
              <a:rPr sz="1600" b="0" i="0">
                <a:solidFill>
                  <a:srgbClr val="1A1440"/>
                </a:solidFill>
                <a:latin typeface="Calibri"/>
              </a:rPr>
              <a:t>d) None of them outright, because each objection is partly right</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6" name="Oval 15"/>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18" name="Oval 17"/>
          <p:cNvSpPr/>
          <p:nvPr/>
        </p:nvSpPr>
        <p:spPr>
          <a:xfrm>
            <a:off x="680285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1257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objection holds?</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S45  ·  50 / 59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each objection is partly right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part of each objection is true, and what evidence answers the rest?</a:t>
            </a:r>
          </a:p>
        </p:txBody>
      </p:sp>
      <p:graphicFrame>
        <p:nvGraphicFramePr>
          <p:cNvPr id="9" name="Table 8"/>
          <p:cNvGraphicFramePr>
            <a:graphicFrameLocks noGrp="1"/>
          </p:cNvGraphicFramePr>
          <p:nvPr/>
        </p:nvGraphicFramePr>
        <p:xfrm>
          <a:off x="530352" y="1956816"/>
          <a:ext cx="11130989" cy="2170176"/>
        </p:xfrm>
        <a:graphic>
          <a:graphicData uri="http://schemas.openxmlformats.org/drawingml/2006/table">
            <a:tbl>
              <a:tblPr firstRow="0" bandRow="0">
                <a:tableStyleId>{2D5ABB26-0587-4C30-8999-92F81FD0307C}</a:tableStyleId>
              </a:tblPr>
              <a:tblGrid>
                <a:gridCol w="1368391"/>
                <a:gridCol w="4881299"/>
                <a:gridCol w="4881299"/>
              </a:tblGrid>
              <a:tr h="335280">
                <a:tc>
                  <a:txBody>
                    <a:bodyPr/>
                    <a:lstStyle/>
                    <a:p>
                      <a:r>
                        <a:rPr sz="1250" b="1" i="0">
                          <a:solidFill>
                            <a:srgbClr val="FFFFFF"/>
                          </a:solidFill>
                          <a:latin typeface="Calibri"/>
                        </a:rPr>
                        <a:t>Role</a:t>
                      </a:r>
                    </a:p>
                  </a:txBody>
                  <a:tcPr marL="101600" marR="101600" marT="38100" marB="38100" anchor="ctr">
                    <a:solidFill>
                      <a:srgbClr val="1A0F5C"/>
                    </a:solidFill>
                  </a:tcPr>
                </a:tc>
                <a:tc>
                  <a:txBody>
                    <a:bodyPr/>
                    <a:lstStyle/>
                    <a:p>
                      <a:r>
                        <a:rPr sz="1250" b="1" i="0">
                          <a:solidFill>
                            <a:srgbClr val="FFFFFF"/>
                          </a:solidFill>
                          <a:latin typeface="Calibri"/>
                        </a:rPr>
                        <a:t>The true part</a:t>
                      </a:r>
                    </a:p>
                  </a:txBody>
                  <a:tcPr marL="101600" marR="101600" marT="38100" marB="38100" anchor="ctr">
                    <a:solidFill>
                      <a:srgbClr val="1A0F5C"/>
                    </a:solidFill>
                  </a:tcPr>
                </a:tc>
                <a:tc>
                  <a:txBody>
                    <a:bodyPr/>
                    <a:lstStyle/>
                    <a:p>
                      <a:r>
                        <a:rPr sz="1250" b="1" i="0">
                          <a:solidFill>
                            <a:srgbClr val="FFFFFF"/>
                          </a:solidFill>
                          <a:latin typeface="Calibri"/>
                        </a:rPr>
                        <a:t>The part the evidence answers</a:t>
                      </a:r>
                    </a:p>
                  </a:txBody>
                  <a:tcPr marL="101600" marR="101600" marT="38100" marB="38100" anchor="ctr">
                    <a:solidFill>
                      <a:srgbClr val="1A0F5C"/>
                    </a:solidFill>
                  </a:tcPr>
                </a:tc>
              </a:tr>
              <a:tr h="749808">
                <a:tc>
                  <a:txBody>
                    <a:bodyPr/>
                    <a:lstStyle/>
                    <a:p>
                      <a:r>
                        <a:rPr sz="1200" b="0" i="0">
                          <a:solidFill>
                            <a:srgbClr val="1A1440"/>
                          </a:solidFill>
                          <a:latin typeface="Calibri"/>
                        </a:rPr>
                        <a:t>Driver operations</a:t>
                      </a:r>
                    </a:p>
                  </a:txBody>
                  <a:tcPr marL="101600" marR="101600" marT="38100" marB="38100" anchor="ctr">
                    <a:solidFill>
                      <a:srgbClr val="FFFFFF"/>
                    </a:solidFill>
                  </a:tcPr>
                </a:tc>
                <a:tc>
                  <a:txBody>
                    <a:bodyPr/>
                    <a:lstStyle/>
                    <a:p>
                      <a:r>
                        <a:rPr sz="1200" b="0" i="0">
                          <a:solidFill>
                            <a:srgbClr val="1A1440"/>
                          </a:solidFill>
                          <a:latin typeface="Calibri"/>
                        </a:rPr>
                        <a:t>The 180 idle-tail drivers will log off: their idle hours are what stops being paid</a:t>
                      </a:r>
                    </a:p>
                  </a:txBody>
                  <a:tcPr marL="101600" marR="101600" marT="38100" marB="38100" anchor="ctr">
                    <a:solidFill>
                      <a:srgbClr val="FFFFFF"/>
                    </a:solidFill>
                  </a:tcPr>
                </a:tc>
                <a:tc>
                  <a:txBody>
                    <a:bodyPr/>
                    <a:lstStyle/>
                    <a:p>
                      <a:r>
                        <a:rPr sz="1200" b="0" i="0">
                          <a:solidFill>
                            <a:srgbClr val="1A1440"/>
                          </a:solidFill>
                          <a:latin typeface="Calibri"/>
                        </a:rPr>
                        <a:t>The other 880 of the 1,060 drivers there before the launch held at 1.90 trips per online hour and keep the floor if they accept</a:t>
                      </a:r>
                    </a:p>
                  </a:txBody>
                  <a:tcPr marL="101600" marR="101600" marT="38100" marB="38100" anchor="ctr">
                    <a:solidFill>
                      <a:srgbClr val="FFFFFF"/>
                    </a:solidFill>
                  </a:tcPr>
                </a:tc>
              </a:tr>
              <a:tr h="542544">
                <a:tc>
                  <a:txBody>
                    <a:bodyPr/>
                    <a:lstStyle/>
                    <a:p>
                      <a:r>
                        <a:rPr sz="1200" b="0" i="0">
                          <a:solidFill>
                            <a:srgbClr val="1A1440"/>
                          </a:solidFill>
                          <a:latin typeface="Calibri"/>
                        </a:rPr>
                        <a:t>Marketing</a:t>
                      </a:r>
                    </a:p>
                  </a:txBody>
                  <a:tcPr marL="101600" marR="101600" marT="38100" marB="38100" anchor="ctr">
                    <a:solidFill>
                      <a:srgbClr val="F4F2FA"/>
                    </a:solidFill>
                  </a:tcPr>
                </a:tc>
                <a:tc>
                  <a:txBody>
                    <a:bodyPr/>
                    <a:lstStyle/>
                    <a:p>
                      <a:r>
                        <a:rPr sz="1200" b="0" i="0">
                          <a:solidFill>
                            <a:srgbClr val="1A1440"/>
                          </a:solidFill>
                          <a:latin typeface="Calibri"/>
                        </a:rPr>
                        <a:t>The hoarding promised a floor, and 140 drivers joined after it went up</a:t>
                      </a:r>
                    </a:p>
                  </a:txBody>
                  <a:tcPr marL="101600" marR="101600" marT="38100" marB="38100" anchor="ctr">
                    <a:solidFill>
                      <a:srgbClr val="F4F2FA"/>
                    </a:solidFill>
                  </a:tcPr>
                </a:tc>
                <a:tc>
                  <a:txBody>
                    <a:bodyPr/>
                    <a:lstStyle/>
                    <a:p>
                      <a:r>
                        <a:rPr sz="1200" b="0" i="0">
                          <a:solidFill>
                            <a:srgbClr val="1A1440"/>
                          </a:solidFill>
                          <a:latin typeface="Calibri"/>
                        </a:rPr>
                        <a:t>The floor stays for drivers who accept; none of the 140 joiners is in the idle tail</a:t>
                      </a:r>
                    </a:p>
                  </a:txBody>
                  <a:tcPr marL="101600" marR="101600" marT="38100" marB="38100" anchor="ctr">
                    <a:solidFill>
                      <a:srgbClr val="F4F2FA"/>
                    </a:solidFill>
                  </a:tcPr>
                </a:tc>
              </a:tr>
              <a:tr h="542544">
                <a:tc>
                  <a:txBody>
                    <a:bodyPr/>
                    <a:lstStyle/>
                    <a:p>
                      <a:r>
                        <a:rPr sz="1200" b="0" i="0">
                          <a:solidFill>
                            <a:srgbClr val="1A1440"/>
                          </a:solidFill>
                          <a:latin typeface="Calibri"/>
                        </a:rPr>
                        <a:t>Finance</a:t>
                      </a:r>
                    </a:p>
                  </a:txBody>
                  <a:tcPr marL="101600" marR="101600" marT="38100" marB="38100" anchor="ctr">
                    <a:solidFill>
                      <a:srgbClr val="FFFFFF"/>
                    </a:solidFill>
                  </a:tcPr>
                </a:tc>
                <a:tc>
                  <a:txBody>
                    <a:bodyPr/>
                    <a:lstStyle/>
                    <a:p>
                      <a:r>
                        <a:rPr sz="1200" b="0" i="0">
                          <a:solidFill>
                            <a:srgbClr val="1A1440"/>
                          </a:solidFill>
                          <a:latin typeface="Calibri"/>
                        </a:rPr>
                        <a:t>The monsoon ended inside the six weeks, and last year's weeks are not in the data</a:t>
                      </a:r>
                    </a:p>
                  </a:txBody>
                  <a:tcPr marL="101600" marR="101600" marT="38100" marB="38100" anchor="ctr">
                    <a:solidFill>
                      <a:srgbClr val="FFFFFF"/>
                    </a:solidFill>
                  </a:tcPr>
                </a:tc>
                <a:tc>
                  <a:txBody>
                    <a:bodyPr/>
                    <a:lstStyle/>
                    <a:p>
                      <a:r>
                        <a:rPr sz="1200" b="0" i="0">
                          <a:solidFill>
                            <a:srgbClr val="1A1440"/>
                          </a:solidFill>
                          <a:latin typeface="Calibri"/>
                        </a:rPr>
                        <a:t>In the last three weeks requests were back at the before level and trips per hour still ran at 1.56</a:t>
                      </a:r>
                    </a:p>
                  </a:txBody>
                  <a:tcPr marL="101600" marR="101600" marT="38100" marB="38100" anchor="ctr">
                    <a:solidFill>
                      <a:srgbClr val="FFFFFF"/>
                    </a:solidFill>
                  </a:tcPr>
                </a:tc>
              </a:tr>
            </a:tbl>
          </a:graphicData>
        </a:graphic>
      </p:graphicFrame>
      <p:sp>
        <p:nvSpPr>
          <p:cNvPr id="10" name="Rounded Rectangle 9"/>
          <p:cNvSpPr/>
          <p:nvPr/>
        </p:nvSpPr>
        <p:spPr>
          <a:xfrm>
            <a:off x="530352" y="4383024"/>
            <a:ext cx="11130991" cy="1430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511040"/>
            <a:ext cx="45720" cy="1173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501896"/>
            <a:ext cx="10564063" cy="1247140"/>
          </a:xfrm>
          <a:prstGeom prst="rect">
            <a:avLst/>
          </a:prstGeom>
          <a:noFill/>
        </p:spPr>
        <p:txBody>
          <a:bodyPr wrap="square" anchor="ctr" lIns="0" rIns="0" tIns="0" bIns="0">
            <a:spAutoFit/>
          </a:bodyPr>
          <a:lstStyle/>
          <a:p>
            <a:r>
              <a:rPr sz="1300" b="1">
                <a:solidFill>
                  <a:srgbClr val="5B3FD6"/>
                </a:solidFill>
                <a:latin typeface="Calibri"/>
              </a:rPr>
              <a:t>The answer is d. </a:t>
            </a:r>
            <a:r>
              <a:rPr sz="1300" b="0" i="0">
                <a:solidFill>
                  <a:srgbClr val="1A1440"/>
                </a:solidFill>
                <a:latin typeface="Calibri"/>
              </a:rPr>
              <a:t>A defence that sides with no one concedes each true part out loud and answers the rest from a line of evidence. Driver operations' true part has a place: 74 percent of the idle money went to driver-weeks in the three outer zones, which get few requests, and the outer zones' median wait fell furthest, from 6.6 to about 6 minutes, so that is the wait a change could cost first. Finance's row is the hardest: weekly requests fell four weeks running from 7 September, so the six-week rise of 1.8 percent hides that decline; the last three weeks answer it.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1" name="Oval 20"/>
          <p:cNvSpPr/>
          <p:nvPr/>
        </p:nvSpPr>
        <p:spPr>
          <a:xfrm>
            <a:off x="680285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objection holds?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S46  ·  51 / 59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scorer's card: four moves, ticked as heard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owner of a slide do when an objection lands?</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MOVE 1</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Restate</a:t>
            </a:r>
          </a:p>
        </p:txBody>
      </p:sp>
      <p:sp>
        <p:nvSpPr>
          <p:cNvPr id="14" name="TextBox 13"/>
          <p:cNvSpPr txBox="1"/>
          <p:nvPr/>
        </p:nvSpPr>
        <p:spPr>
          <a:xfrm>
            <a:off x="694944"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Say the objection back until its owner agrees with your version</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MOVE 2</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Answer</a:t>
            </a:r>
          </a:p>
        </p:txBody>
      </p:sp>
      <p:sp>
        <p:nvSpPr>
          <p:cNvPr id="19" name="TextBox 18"/>
          <p:cNvSpPr txBox="1"/>
          <p:nvPr/>
        </p:nvSpPr>
        <p:spPr>
          <a:xfrm>
            <a:off x="3523411"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Answer from the evidence, naming the line of the slide it rests on</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MOVE 3</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Concede</a:t>
            </a:r>
          </a:p>
        </p:txBody>
      </p:sp>
      <p:sp>
        <p:nvSpPr>
          <p:cNvPr id="24" name="TextBox 23"/>
          <p:cNvSpPr txBox="1"/>
          <p:nvPr/>
        </p:nvSpPr>
        <p:spPr>
          <a:xfrm>
            <a:off x="6351879"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Say the true part out loud, in plain words, without dropping the claim</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MOVE 4</a:t>
            </a:r>
          </a:p>
        </p:txBody>
      </p:sp>
      <p:sp>
        <p:nvSpPr>
          <p:cNvPr id="26" name="Oval 25"/>
          <p:cNvSpPr/>
          <p:nvPr/>
        </p:nvSpPr>
        <p:spPr>
          <a:xfrm>
            <a:off x="10237965"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FFFFFF"/>
                </a:solidFill>
                <a:latin typeface="Calibri"/>
              </a:rPr>
              <a:t>Change my mind</a:t>
            </a:r>
          </a:p>
        </p:txBody>
      </p:sp>
      <p:sp>
        <p:nvSpPr>
          <p:cNvPr id="29" name="TextBox 28"/>
          <p:cNvSpPr txBox="1"/>
          <p:nvPr/>
        </p:nvSpPr>
        <p:spPr>
          <a:xfrm>
            <a:off x="9180347" y="3277870"/>
            <a:ext cx="2316403" cy="366776"/>
          </a:xfrm>
          <a:prstGeom prst="rect">
            <a:avLst/>
          </a:prstGeom>
          <a:noFill/>
        </p:spPr>
        <p:txBody>
          <a:bodyPr wrap="square" anchor="t" lIns="0" rIns="0" tIns="0" bIns="0">
            <a:spAutoFit/>
          </a:bodyPr>
          <a:lstStyle/>
          <a:p>
            <a:pPr algn="l"/>
            <a:r>
              <a:rPr sz="1000" b="0" i="0">
                <a:solidFill>
                  <a:srgbClr val="CFC9EE"/>
                </a:solidFill>
                <a:latin typeface="Calibri"/>
              </a:rPr>
              <a:t>Name the fact that would move you, and how you would get it</a:t>
            </a:r>
          </a:p>
        </p:txBody>
      </p:sp>
      <p:sp>
        <p:nvSpPr>
          <p:cNvPr id="30" name="Rounded Rectangle 29"/>
          <p:cNvSpPr/>
          <p:nvPr/>
        </p:nvSpPr>
        <p:spPr>
          <a:xfrm>
            <a:off x="530352" y="4103624"/>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676656" y="423164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77824" y="4222496"/>
            <a:ext cx="10564063" cy="624840"/>
          </a:xfrm>
          <a:prstGeom prst="rect">
            <a:avLst/>
          </a:prstGeom>
          <a:noFill/>
        </p:spPr>
        <p:txBody>
          <a:bodyPr wrap="square" anchor="ctr" lIns="0" rIns="0" tIns="0" bIns="0">
            <a:spAutoFit/>
          </a:bodyPr>
          <a:lstStyle/>
          <a:p>
            <a:r>
              <a:rPr sz="1500" b="1">
                <a:solidFill>
                  <a:srgbClr val="5B3FD6"/>
                </a:solidFill>
                <a:latin typeface="Calibri"/>
              </a:rPr>
              <a:t>Chapter 3's four moves, on one card. </a:t>
            </a:r>
            <a:r>
              <a:rPr sz="1500" b="0" i="0">
                <a:solidFill>
                  <a:srgbClr val="1A1440"/>
                </a:solidFill>
                <a:latin typeface="Calibri"/>
              </a:rPr>
              <a:t>The scorer ticks each move as it is heard and never scores the final number.</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35" name="Oval 3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37" name="Oval 3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39" name="Oval 3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41" name="Oval 40"/>
          <p:cNvSpPr/>
          <p:nvPr/>
        </p:nvSpPr>
        <p:spPr>
          <a:xfrm>
            <a:off x="680285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91257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objection holds?</a:t>
            </a:r>
          </a:p>
        </p:txBody>
      </p:sp>
      <p:sp>
        <p:nvSpPr>
          <p:cNvPr id="43" name="TextBox 4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S47  ·  52 / 59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monsoon objection, answered in four moves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complete defence of finance's objection sound like?</a:t>
            </a:r>
          </a:p>
        </p:txBody>
      </p:sp>
      <p:sp>
        <p:nvSpPr>
          <p:cNvPr id="9" name="Rounded Rectangle 8"/>
          <p:cNvSpPr/>
          <p:nvPr/>
        </p:nvSpPr>
        <p:spPr>
          <a:xfrm>
            <a:off x="530352" y="1956816"/>
            <a:ext cx="11130991" cy="50546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24942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322580"/>
          </a:xfrm>
          <a:prstGeom prst="rect">
            <a:avLst/>
          </a:prstGeom>
          <a:noFill/>
        </p:spPr>
        <p:txBody>
          <a:bodyPr wrap="square" anchor="ctr" lIns="0" rIns="0" tIns="0" bIns="0">
            <a:spAutoFit/>
          </a:bodyPr>
          <a:lstStyle/>
          <a:p>
            <a:r>
              <a:rPr sz="1300" b="1">
                <a:solidFill>
                  <a:srgbClr val="5B3FD6"/>
                </a:solidFill>
                <a:latin typeface="Calibri"/>
              </a:rPr>
              <a:t>Restate. </a:t>
            </a:r>
            <a:r>
              <a:rPr sz="1300" b="0" i="0">
                <a:solidFill>
                  <a:srgbClr val="1A1440"/>
                </a:solidFill>
                <a:latin typeface="Calibri"/>
              </a:rPr>
              <a:t>"You are saying the fall in bookings per hour could be the season ending, and the scheme has not had a fair test."</a:t>
            </a:r>
          </a:p>
        </p:txBody>
      </p:sp>
      <p:sp>
        <p:nvSpPr>
          <p:cNvPr id="12" name="Rounded Rectangle 11"/>
          <p:cNvSpPr/>
          <p:nvPr/>
        </p:nvSpPr>
        <p:spPr>
          <a:xfrm>
            <a:off x="530352" y="2626868"/>
            <a:ext cx="11130991" cy="119888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2754884"/>
            <a:ext cx="45720" cy="94284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2745740"/>
            <a:ext cx="10564063" cy="1016000"/>
          </a:xfrm>
          <a:prstGeom prst="rect">
            <a:avLst/>
          </a:prstGeom>
          <a:noFill/>
        </p:spPr>
        <p:txBody>
          <a:bodyPr wrap="square" anchor="ctr" lIns="0" rIns="0" tIns="0" bIns="0">
            <a:spAutoFit/>
          </a:bodyPr>
          <a:lstStyle/>
          <a:p>
            <a:r>
              <a:rPr sz="1300" b="1">
                <a:solidFill>
                  <a:srgbClr val="5B3FD6"/>
                </a:solidFill>
                <a:latin typeface="Calibri"/>
              </a:rPr>
              <a:t>Answer. </a:t>
            </a:r>
            <a:r>
              <a:rPr sz="1300" b="0" i="0">
                <a:solidFill>
                  <a:srgbClr val="1A1440"/>
                </a:solidFill>
                <a:latin typeface="Calibri"/>
              </a:rPr>
              <a:t>"Two lines of evidence point at the scheme: in the last three weeks after the launch, requests were back at the before window's level and trips per online hour still ran at 1.56; and the 1,060 drivers who were there before the launch fell from 1.90 to 1.58 as a group, all of it in the 180 of the idle tail while the other 880 held at 1.90, so the new drivers do not explain it."</a:t>
            </a:r>
          </a:p>
        </p:txBody>
      </p:sp>
      <p:sp>
        <p:nvSpPr>
          <p:cNvPr id="15" name="Rounded Rectangle 14"/>
          <p:cNvSpPr/>
          <p:nvPr/>
        </p:nvSpPr>
        <p:spPr>
          <a:xfrm>
            <a:off x="530352" y="3990340"/>
            <a:ext cx="11130991" cy="50546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76656" y="4118356"/>
            <a:ext cx="45720" cy="24942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77824" y="4109212"/>
            <a:ext cx="10564063" cy="322580"/>
          </a:xfrm>
          <a:prstGeom prst="rect">
            <a:avLst/>
          </a:prstGeom>
          <a:noFill/>
        </p:spPr>
        <p:txBody>
          <a:bodyPr wrap="square" anchor="ctr" lIns="0" rIns="0" tIns="0" bIns="0">
            <a:spAutoFit/>
          </a:bodyPr>
          <a:lstStyle/>
          <a:p>
            <a:r>
              <a:rPr sz="1300" b="1">
                <a:solidFill>
                  <a:srgbClr val="5B3FD6"/>
                </a:solidFill>
                <a:latin typeface="Calibri"/>
              </a:rPr>
              <a:t>Concede. </a:t>
            </a:r>
            <a:r>
              <a:rPr sz="1300" b="0" i="0">
                <a:solidFill>
                  <a:srgbClr val="1A1440"/>
                </a:solidFill>
                <a:latin typeface="Calibri"/>
              </a:rPr>
              <a:t>"You are right that the monsoon ended inside the six weeks, and that last year's weeks are not in the data."</a:t>
            </a:r>
          </a:p>
        </p:txBody>
      </p:sp>
      <p:sp>
        <p:nvSpPr>
          <p:cNvPr id="18" name="Rounded Rectangle 17"/>
          <p:cNvSpPr/>
          <p:nvPr/>
        </p:nvSpPr>
        <p:spPr>
          <a:xfrm>
            <a:off x="530352" y="4660392"/>
            <a:ext cx="11130991" cy="73660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76656" y="4788408"/>
            <a:ext cx="45720" cy="48056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77824" y="4779264"/>
            <a:ext cx="10564063" cy="553720"/>
          </a:xfrm>
          <a:prstGeom prst="rect">
            <a:avLst/>
          </a:prstGeom>
          <a:noFill/>
        </p:spPr>
        <p:txBody>
          <a:bodyPr wrap="square" anchor="ctr" lIns="0" rIns="0" tIns="0" bIns="0">
            <a:spAutoFit/>
          </a:bodyPr>
          <a:lstStyle/>
          <a:p>
            <a:r>
              <a:rPr sz="1300" b="1">
                <a:solidFill>
                  <a:srgbClr val="5B3FD6"/>
                </a:solidFill>
                <a:latin typeface="Calibri"/>
              </a:rPr>
              <a:t>What would change my mind. </a:t>
            </a:r>
            <a:r>
              <a:rPr sz="1300" b="0" i="0">
                <a:solidFill>
                  <a:srgbClr val="1A1440"/>
                </a:solidFill>
                <a:latin typeface="Calibri"/>
              </a:rPr>
              <a:t>"Last year's same six weeks showing a fall of this size, a city where the rains ended without the scheme showing the same fall, or the test of the redesign showing no change in trips per online hour."</a:t>
            </a:r>
          </a:p>
        </p:txBody>
      </p:sp>
      <p:sp>
        <p:nvSpPr>
          <p:cNvPr id="21" name="Oval 2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23" name="Oval 2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25" name="Oval 2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27" name="Oval 2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9" name="Oval 28"/>
          <p:cNvSpPr/>
          <p:nvPr/>
        </p:nvSpPr>
        <p:spPr>
          <a:xfrm>
            <a:off x="680285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91257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objection holds?</a:t>
            </a:r>
          </a:p>
        </p:txBody>
      </p:sp>
      <p:sp>
        <p:nvSpPr>
          <p:cNvPr id="31" name="TextBox 3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S48  ·  53 / 59</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Studio round one: three seats, seven minutes each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each group run the round, and what does the scorer hold?</a:t>
            </a:r>
          </a:p>
        </p:txBody>
      </p:sp>
      <p:graphicFrame>
        <p:nvGraphicFramePr>
          <p:cNvPr id="9" name="Table 8"/>
          <p:cNvGraphicFramePr>
            <a:graphicFrameLocks noGrp="1"/>
          </p:cNvGraphicFramePr>
          <p:nvPr/>
        </p:nvGraphicFramePr>
        <p:xfrm>
          <a:off x="530352" y="1956816"/>
          <a:ext cx="11130990" cy="1479296"/>
        </p:xfrm>
        <a:graphic>
          <a:graphicData uri="http://schemas.openxmlformats.org/drawingml/2006/table">
            <a:tbl>
              <a:tblPr firstRow="0" bandRow="0">
                <a:tableStyleId>{2D5ABB26-0587-4C30-8999-92F81FD0307C}</a:tableStyleId>
              </a:tblPr>
              <a:tblGrid>
                <a:gridCol w="1358902"/>
                <a:gridCol w="7219605"/>
                <a:gridCol w="2552483"/>
              </a:tblGrid>
              <a:tr h="369824">
                <a:tc>
                  <a:txBody>
                    <a:bodyPr/>
                    <a:lstStyle/>
                    <a:p>
                      <a:r>
                        <a:rPr sz="1450" b="1" i="0">
                          <a:solidFill>
                            <a:srgbClr val="FFFFFF"/>
                          </a:solidFill>
                          <a:latin typeface="Calibri"/>
                        </a:rPr>
                        <a:t>Seat</a:t>
                      </a:r>
                    </a:p>
                  </a:txBody>
                  <a:tcPr marL="101600" marR="101600" marT="38100" marB="38100" anchor="ctr">
                    <a:solidFill>
                      <a:srgbClr val="1A0F5C"/>
                    </a:solidFill>
                  </a:tcPr>
                </a:tc>
                <a:tc>
                  <a:txBody>
                    <a:bodyPr/>
                    <a:lstStyle/>
                    <a:p>
                      <a:r>
                        <a:rPr sz="1450" b="1" i="0">
                          <a:solidFill>
                            <a:srgbClr val="FFFFFF"/>
                          </a:solidFill>
                          <a:latin typeface="Calibri"/>
                        </a:rPr>
                        <a:t>What it does</a:t>
                      </a:r>
                    </a:p>
                  </a:txBody>
                  <a:tcPr marL="101600" marR="101600" marT="38100" marB="38100" anchor="ctr">
                    <a:solidFill>
                      <a:srgbClr val="1A0F5C"/>
                    </a:solidFill>
                  </a:tcPr>
                </a:tc>
                <a:tc>
                  <a:txBody>
                    <a:bodyPr/>
                    <a:lstStyle/>
                    <a:p>
                      <a:r>
                        <a:rPr sz="1450" b="1" i="0">
                          <a:solidFill>
                            <a:srgbClr val="FFFFFF"/>
                          </a:solidFill>
                          <a:latin typeface="Calibri"/>
                        </a:rPr>
                        <a:t>What it holds</a:t>
                      </a:r>
                    </a:p>
                  </a:txBody>
                  <a:tcPr marL="101600" marR="101600" marT="38100" marB="38100" anchor="ctr">
                    <a:solidFill>
                      <a:srgbClr val="1A0F5C"/>
                    </a:solidFill>
                  </a:tcPr>
                </a:tc>
              </a:tr>
              <a:tr h="369824">
                <a:tc>
                  <a:txBody>
                    <a:bodyPr/>
                    <a:lstStyle/>
                    <a:p>
                      <a:r>
                        <a:rPr sz="1400" b="0" i="0">
                          <a:solidFill>
                            <a:srgbClr val="1A1440"/>
                          </a:solidFill>
                          <a:latin typeface="Calibri"/>
                        </a:rPr>
                        <a:t>Presenter</a:t>
                      </a:r>
                    </a:p>
                  </a:txBody>
                  <a:tcPr marL="101600" marR="101600" marT="38100" marB="38100" anchor="ctr">
                    <a:solidFill>
                      <a:srgbClr val="FFFFFF"/>
                    </a:solidFill>
                  </a:tcPr>
                </a:tc>
                <a:tc>
                  <a:txBody>
                    <a:bodyPr/>
                    <a:lstStyle/>
                    <a:p>
                      <a:r>
                        <a:rPr sz="1400" b="0" i="0">
                          <a:solidFill>
                            <a:srgbClr val="1A1440"/>
                          </a:solidFill>
                          <a:latin typeface="Calibri"/>
                        </a:rPr>
                        <a:t>Presents the rebuilt slide in five minutes, then answers one objection</a:t>
                      </a:r>
                    </a:p>
                  </a:txBody>
                  <a:tcPr marL="101600" marR="101600" marT="38100" marB="38100" anchor="ctr">
                    <a:solidFill>
                      <a:srgbClr val="FFFFFF"/>
                    </a:solidFill>
                  </a:tcPr>
                </a:tc>
                <a:tc>
                  <a:txBody>
                    <a:bodyPr/>
                    <a:lstStyle/>
                    <a:p>
                      <a:r>
                        <a:rPr sz="1400" b="0" i="0">
                          <a:solidFill>
                            <a:srgbClr val="1A1440"/>
                          </a:solidFill>
                          <a:latin typeface="Calibri"/>
                        </a:rPr>
                        <a:t>The slide</a:t>
                      </a:r>
                    </a:p>
                  </a:txBody>
                  <a:tcPr marL="101600" marR="101600" marT="38100" marB="38100" anchor="ctr">
                    <a:solidFill>
                      <a:srgbClr val="FFFFFF"/>
                    </a:solidFill>
                  </a:tcPr>
                </a:tc>
              </a:tr>
              <a:tr h="369824">
                <a:tc>
                  <a:txBody>
                    <a:bodyPr/>
                    <a:lstStyle/>
                    <a:p>
                      <a:r>
                        <a:rPr sz="1400" b="0" i="0">
                          <a:solidFill>
                            <a:srgbClr val="1A1440"/>
                          </a:solidFill>
                          <a:latin typeface="Calibri"/>
                        </a:rPr>
                        <a:t>Objector</a:t>
                      </a:r>
                    </a:p>
                  </a:txBody>
                  <a:tcPr marL="101600" marR="101600" marT="38100" marB="38100" anchor="ctr">
                    <a:solidFill>
                      <a:srgbClr val="F4F2FA"/>
                    </a:solidFill>
                  </a:tcPr>
                </a:tc>
                <a:tc>
                  <a:txBody>
                    <a:bodyPr/>
                    <a:lstStyle/>
                    <a:p>
                      <a:r>
                        <a:rPr sz="1400" b="0" i="0">
                          <a:solidFill>
                            <a:srgbClr val="1A1440"/>
                          </a:solidFill>
                          <a:latin typeface="Calibri"/>
                        </a:rPr>
                        <a:t>Reads one role's objection from its card and pushes back once</a:t>
                      </a:r>
                    </a:p>
                  </a:txBody>
                  <a:tcPr marL="101600" marR="101600" marT="38100" marB="38100" anchor="ctr">
                    <a:solidFill>
                      <a:srgbClr val="F4F2FA"/>
                    </a:solidFill>
                  </a:tcPr>
                </a:tc>
                <a:tc>
                  <a:txBody>
                    <a:bodyPr/>
                    <a:lstStyle/>
                    <a:p>
                      <a:r>
                        <a:rPr sz="1400" b="0" i="0">
                          <a:solidFill>
                            <a:srgbClr val="1A1440"/>
                          </a:solidFill>
                          <a:latin typeface="Calibri"/>
                        </a:rPr>
                        <a:t>One role card</a:t>
                      </a:r>
                    </a:p>
                  </a:txBody>
                  <a:tcPr marL="101600" marR="101600" marT="38100" marB="38100" anchor="ctr">
                    <a:solidFill>
                      <a:srgbClr val="F4F2FA"/>
                    </a:solidFill>
                  </a:tcPr>
                </a:tc>
              </a:tr>
              <a:tr h="369824">
                <a:tc>
                  <a:txBody>
                    <a:bodyPr/>
                    <a:lstStyle/>
                    <a:p>
                      <a:r>
                        <a:rPr sz="1400" b="0" i="0">
                          <a:solidFill>
                            <a:srgbClr val="1A1440"/>
                          </a:solidFill>
                          <a:latin typeface="Calibri"/>
                        </a:rPr>
                        <a:t>Scorer</a:t>
                      </a:r>
                    </a:p>
                  </a:txBody>
                  <a:tcPr marL="101600" marR="101600" marT="38100" marB="38100" anchor="ctr">
                    <a:solidFill>
                      <a:srgbClr val="FFFFFF"/>
                    </a:solidFill>
                  </a:tcPr>
                </a:tc>
                <a:tc>
                  <a:txBody>
                    <a:bodyPr/>
                    <a:lstStyle/>
                    <a:p>
                      <a:r>
                        <a:rPr sz="1400" b="0" i="0">
                          <a:solidFill>
                            <a:srgbClr val="1A1440"/>
                          </a:solidFill>
                          <a:latin typeface="Calibri"/>
                        </a:rPr>
                        <a:t>Ticks each move heard: restate, answer, concede, change my mind</a:t>
                      </a:r>
                    </a:p>
                  </a:txBody>
                  <a:tcPr marL="101600" marR="101600" marT="38100" marB="38100" anchor="ctr">
                    <a:solidFill>
                      <a:srgbClr val="FFFFFF"/>
                    </a:solidFill>
                  </a:tcPr>
                </a:tc>
                <a:tc>
                  <a:txBody>
                    <a:bodyPr/>
                    <a:lstStyle/>
                    <a:p>
                      <a:r>
                        <a:rPr sz="1400" b="0" i="0">
                          <a:solidFill>
                            <a:srgbClr val="1A1440"/>
                          </a:solidFill>
                          <a:latin typeface="Calibri"/>
                        </a:rPr>
                        <a:t>The four-moves card</a:t>
                      </a:r>
                    </a:p>
                  </a:txBody>
                  <a:tcPr marL="101600" marR="101600" marT="38100" marB="38100" anchor="ctr">
                    <a:solidFill>
                      <a:srgbClr val="FFFFFF"/>
                    </a:solidFill>
                  </a:tcPr>
                </a:tc>
              </a:tr>
            </a:tbl>
          </a:graphicData>
        </a:graphic>
      </p:graphicFrame>
      <p:sp>
        <p:nvSpPr>
          <p:cNvPr id="10" name="Rounded Rectangle 9"/>
          <p:cNvSpPr/>
          <p:nvPr/>
        </p:nvSpPr>
        <p:spPr>
          <a:xfrm>
            <a:off x="530352" y="3692144"/>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820160"/>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811016"/>
            <a:ext cx="10564063" cy="891540"/>
          </a:xfrm>
          <a:prstGeom prst="rect">
            <a:avLst/>
          </a:prstGeom>
          <a:noFill/>
        </p:spPr>
        <p:txBody>
          <a:bodyPr wrap="square" anchor="ctr" lIns="0" rIns="0" tIns="0" bIns="0">
            <a:spAutoFit/>
          </a:bodyPr>
          <a:lstStyle/>
          <a:p>
            <a:r>
              <a:rPr sz="1500" b="1">
                <a:solidFill>
                  <a:srgbClr val="5B3FD6"/>
                </a:solidFill>
                <a:latin typeface="Calibri"/>
              </a:rPr>
              <a:t>Three turns of seven minutes. </a:t>
            </a:r>
            <a:r>
              <a:rPr sz="1500" b="0" i="0">
                <a:solidFill>
                  <a:srgbClr val="1A1440"/>
                </a:solidFill>
                <a:latin typeface="Calibri"/>
              </a:rPr>
              <a:t>The studio is the morning's practice: build a slide, present it, take an objection, get scored, rebuild. After each turn the seats rotate inside the three, so every member presents once, objects once and scores once.</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1" name="Oval 20"/>
          <p:cNvSpPr/>
          <p:nvPr/>
        </p:nvSpPr>
        <p:spPr>
          <a:xfrm>
            <a:off x="680285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objection holds?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S49  ·  54 / 59</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which of these belongs in the appendix?</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Of four things the slide could carry, which one moves behind it?</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The caveat that the monsoon ended inside the window</a:t>
            </a:r>
          </a:p>
          <a:p>
            <a:pPr>
              <a:spcAft>
                <a:spcPts val="800"/>
              </a:spcAft>
            </a:pPr>
            <a:r>
              <a:rPr sz="1600" b="0" i="0">
                <a:solidFill>
                  <a:srgbClr val="1A1440"/>
                </a:solidFill>
                <a:latin typeface="Calibri"/>
              </a:rPr>
              <a:t>b) The per-driver-week and per-trip reads, with one line each on what moved them</a:t>
            </a:r>
          </a:p>
          <a:p>
            <a:pPr>
              <a:spcAft>
                <a:spcPts val="800"/>
              </a:spcAft>
            </a:pPr>
            <a:r>
              <a:rPr sz="1600" b="0" i="0">
                <a:solidFill>
                  <a:srgbClr val="1A1440"/>
                </a:solidFill>
                <a:latin typeface="Calibri"/>
              </a:rPr>
              <a:t>c) The action and its saving range</a:t>
            </a:r>
          </a:p>
          <a:p>
            <a:pPr>
              <a:spcAft>
                <a:spcPts val="800"/>
              </a:spcAft>
            </a:pPr>
            <a:r>
              <a:rPr sz="1600" b="0" i="0">
                <a:solidFill>
                  <a:srgbClr val="1A1440"/>
                </a:solidFill>
                <a:latin typeface="Calibri"/>
              </a:rPr>
              <a:t>d) The chart of bookings per peak online hour</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6" name="Oval 15"/>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18" name="Oval 17"/>
          <p:cNvSpPr/>
          <p:nvPr/>
        </p:nvSpPr>
        <p:spPr>
          <a:xfrm>
            <a:off x="680285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1257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objection holds?</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S50  ·  55 / 59</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caveat stays; detail goes in a drawer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sits behind the slide, page by page?</a:t>
            </a:r>
          </a:p>
        </p:txBody>
      </p:sp>
      <p:pic>
        <p:nvPicPr>
          <p:cNvPr id="9" name="mermaid diagram" descr="f1924848a388c978.png"/>
          <p:cNvPicPr>
            <a:picLocks noChangeAspect="1"/>
          </p:cNvPicPr>
          <p:nvPr/>
        </p:nvPicPr>
        <p:blipFill>
          <a:blip r:embed="rId5"/>
          <a:stretch>
            <a:fillRect/>
          </a:stretch>
        </p:blipFill>
        <p:spPr>
          <a:xfrm>
            <a:off x="3115146" y="1664208"/>
            <a:ext cx="5961401" cy="3250692"/>
          </a:xfrm>
          <a:prstGeom prst="rect">
            <a:avLst/>
          </a:prstGeom>
        </p:spPr>
      </p:pic>
      <p:sp>
        <p:nvSpPr>
          <p:cNvPr id="10" name="Rounded Rectangle 9"/>
          <p:cNvSpPr/>
          <p:nvPr/>
        </p:nvSpPr>
        <p:spPr>
          <a:xfrm>
            <a:off x="530352" y="496062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08863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079492"/>
            <a:ext cx="10564063" cy="891540"/>
          </a:xfrm>
          <a:prstGeom prst="rect">
            <a:avLst/>
          </a:prstGeom>
          <a:noFill/>
        </p:spPr>
        <p:txBody>
          <a:bodyPr wrap="square" anchor="ctr" lIns="0" rIns="0" tIns="0" bIns="0">
            <a:spAutoFit/>
          </a:bodyPr>
          <a:lstStyle/>
          <a:p>
            <a:r>
              <a:rPr sz="1500" b="1">
                <a:solidFill>
                  <a:srgbClr val="5B3FD6"/>
                </a:solidFill>
                <a:latin typeface="Calibri"/>
              </a:rPr>
              <a:t>The answer is b. </a:t>
            </a:r>
            <a:r>
              <a:rPr sz="1500" b="0" i="0">
                <a:solidFill>
                  <a:srgbClr val="1A1440"/>
                </a:solidFill>
                <a:latin typeface="Calibri"/>
              </a:rPr>
              <a:t>A caveat moved to the appendix is found there by its owner, who then calls the slide dishonest. Each appendix page is headed by the question one role will ask, so the analyst turns to it when the question comes.</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1" name="Oval 20"/>
          <p:cNvSpPr/>
          <p:nvPr/>
        </p:nvSpPr>
        <p:spPr>
          <a:xfrm>
            <a:off x="680285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objection holds?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S51  ·  56 / 59</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Cut five elements to the two that carry the claim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second draft argues that riders got little for the Rs 1.9 crore. Which two of its five elements carry that claim?</a:t>
            </a:r>
          </a:p>
        </p:txBody>
      </p:sp>
      <p:graphicFrame>
        <p:nvGraphicFramePr>
          <p:cNvPr id="9" name="Table 8"/>
          <p:cNvGraphicFramePr>
            <a:graphicFrameLocks noGrp="1"/>
          </p:cNvGraphicFramePr>
          <p:nvPr/>
        </p:nvGraphicFramePr>
        <p:xfrm>
          <a:off x="530352" y="1956816"/>
          <a:ext cx="11130990" cy="2218944"/>
        </p:xfrm>
        <a:graphic>
          <a:graphicData uri="http://schemas.openxmlformats.org/drawingml/2006/table">
            <a:tbl>
              <a:tblPr firstRow="0" bandRow="0">
                <a:tableStyleId>{2D5ABB26-0587-4C30-8999-92F81FD0307C}</a:tableStyleId>
              </a:tblPr>
              <a:tblGrid>
                <a:gridCol w="8695104"/>
                <a:gridCol w="2435886"/>
              </a:tblGrid>
              <a:tr h="369824">
                <a:tc>
                  <a:txBody>
                    <a:bodyPr/>
                    <a:lstStyle/>
                    <a:p>
                      <a:r>
                        <a:rPr sz="1450" b="1" i="0">
                          <a:solidFill>
                            <a:srgbClr val="FFFFFF"/>
                          </a:solidFill>
                          <a:latin typeface="Calibri"/>
                        </a:rPr>
                        <a:t>Element on the draft</a:t>
                      </a:r>
                    </a:p>
                  </a:txBody>
                  <a:tcPr marL="101600" marR="101600" marT="38100" marB="38100" anchor="ctr">
                    <a:solidFill>
                      <a:srgbClr val="1A0F5C"/>
                    </a:solidFill>
                  </a:tcPr>
                </a:tc>
                <a:tc>
                  <a:txBody>
                    <a:bodyPr/>
                    <a:lstStyle/>
                    <a:p>
                      <a:r>
                        <a:rPr sz="1450" b="1" i="0">
                          <a:solidFill>
                            <a:srgbClr val="FFFFFF"/>
                          </a:solidFill>
                          <a:latin typeface="Calibri"/>
                        </a:rPr>
                        <a:t>Keep or move?</a:t>
                      </a:r>
                    </a:p>
                  </a:txBody>
                  <a:tcPr marL="101600" marR="101600" marT="38100" marB="38100" anchor="ctr">
                    <a:solidFill>
                      <a:srgbClr val="1A0F5C"/>
                    </a:solidFill>
                  </a:tcPr>
                </a:tc>
              </a:tr>
              <a:tr h="369824">
                <a:tc>
                  <a:txBody>
                    <a:bodyPr/>
                    <a:lstStyle/>
                    <a:p>
                      <a:r>
                        <a:rPr sz="1400" b="0" i="0">
                          <a:solidFill>
                            <a:srgbClr val="1A1440"/>
                          </a:solidFill>
                          <a:latin typeface="Calibri"/>
                        </a:rPr>
                        <a:t>The line "peak online hours up 24 percent"</a:t>
                      </a:r>
                    </a:p>
                  </a:txBody>
                  <a:tcPr marL="101600" marR="101600" marT="38100" marB="38100" anchor="ctr">
                    <a:solidFill>
                      <a:srgbClr val="FFFFFF"/>
                    </a:solidFill>
                  </a:tcPr>
                </a:tc>
                <a:tc>
                  <a:txBody>
                    <a:bodyPr/>
                    <a:lstStyle/>
                    <a:p/>
                  </a:txBody>
                  <a:tcPr marL="101600" marR="101600" marT="38100" marB="38100" anchor="ctr">
                    <a:solidFill>
                      <a:srgbClr val="FFFFFF"/>
                    </a:solidFill>
                  </a:tcPr>
                </a:tc>
              </a:tr>
              <a:tr h="369824">
                <a:tc>
                  <a:txBody>
                    <a:bodyPr/>
                    <a:lstStyle/>
                    <a:p>
                      <a:r>
                        <a:rPr sz="1400" b="0" i="0">
                          <a:solidFill>
                            <a:srgbClr val="1A1440"/>
                          </a:solidFill>
                          <a:latin typeface="Calibri"/>
                        </a:rPr>
                        <a:t>Median rider wait at peak, 4.8 to 4.6 minutes</a:t>
                      </a:r>
                    </a:p>
                  </a:txBody>
                  <a:tcPr marL="101600" marR="101600" marT="38100" marB="38100" anchor="ctr">
                    <a:solidFill>
                      <a:srgbClr val="F4F2FA"/>
                    </a:solidFill>
                  </a:tcPr>
                </a:tc>
                <a:tc>
                  <a:txBody>
                    <a:bodyPr/>
                    <a:lstStyle/>
                    <a:p/>
                  </a:txBody>
                  <a:tcPr marL="101600" marR="101600" marT="38100" marB="38100" anchor="ctr">
                    <a:solidFill>
                      <a:srgbClr val="F4F2FA"/>
                    </a:solidFill>
                  </a:tcPr>
                </a:tc>
              </a:tr>
              <a:tr h="369824">
                <a:tc>
                  <a:txBody>
                    <a:bodyPr/>
                    <a:lstStyle/>
                    <a:p>
                      <a:r>
                        <a:rPr sz="1400" b="0" i="0">
                          <a:solidFill>
                            <a:srgbClr val="1A1440"/>
                          </a:solidFill>
                          <a:latin typeface="Calibri"/>
                        </a:rPr>
                        <a:t>Top-up for each extra trip: Rs 2,836, for a trip worth Rs 165</a:t>
                      </a:r>
                    </a:p>
                  </a:txBody>
                  <a:tcPr marL="101600" marR="101600" marT="38100" marB="38100" anchor="ctr">
                    <a:solidFill>
                      <a:srgbClr val="FFFFFF"/>
                    </a:solidFill>
                  </a:tcPr>
                </a:tc>
                <a:tc>
                  <a:txBody>
                    <a:bodyPr/>
                    <a:lstStyle/>
                    <a:p/>
                  </a:txBody>
                  <a:tcPr marL="101600" marR="101600" marT="38100" marB="38100" anchor="ctr">
                    <a:solidFill>
                      <a:srgbClr val="FFFFFF"/>
                    </a:solidFill>
                  </a:tcPr>
                </a:tc>
              </a:tr>
              <a:tr h="369824">
                <a:tc>
                  <a:txBody>
                    <a:bodyPr/>
                    <a:lstStyle/>
                    <a:p>
                      <a:r>
                        <a:rPr sz="1400" b="0" i="0">
                          <a:solidFill>
                            <a:srgbClr val="1A1440"/>
                          </a:solidFill>
                          <a:latin typeface="Calibri"/>
                        </a:rPr>
                        <a:t>The top-up split: 61 percent to low acceptance</a:t>
                      </a:r>
                    </a:p>
                  </a:txBody>
                  <a:tcPr marL="101600" marR="101600" marT="38100" marB="38100" anchor="ctr">
                    <a:solidFill>
                      <a:srgbClr val="F4F2FA"/>
                    </a:solidFill>
                  </a:tcPr>
                </a:tc>
                <a:tc>
                  <a:txBody>
                    <a:bodyPr/>
                    <a:lstStyle/>
                    <a:p/>
                  </a:txBody>
                  <a:tcPr marL="101600" marR="101600" marT="38100" marB="38100" anchor="ctr">
                    <a:solidFill>
                      <a:srgbClr val="F4F2FA"/>
                    </a:solidFill>
                  </a:tcPr>
                </a:tc>
              </a:tr>
              <a:tr h="369824">
                <a:tc>
                  <a:txBody>
                    <a:bodyPr/>
                    <a:lstStyle/>
                    <a:p>
                      <a:r>
                        <a:rPr sz="1400" b="0" i="0">
                          <a:solidFill>
                            <a:srgbClr val="1A1440"/>
                          </a:solidFill>
                          <a:latin typeface="Calibri"/>
                        </a:rPr>
                        <a:t>A table of acceptance share in each of the twelve zones, before and after</a:t>
                      </a:r>
                    </a:p>
                  </a:txBody>
                  <a:tcPr marL="101600" marR="101600" marT="38100" marB="38100" anchor="ctr">
                    <a:solidFill>
                      <a:srgbClr val="FFFFFF"/>
                    </a:solidFill>
                  </a:tcPr>
                </a:tc>
                <a:tc>
                  <a:txBody>
                    <a:bodyPr/>
                    <a:lstStyle/>
                    <a:p/>
                  </a:txBody>
                  <a:tcPr marL="101600" marR="101600" marT="38100" marB="38100" anchor="ctr">
                    <a:solidFill>
                      <a:srgbClr val="FFFFFF"/>
                    </a:solidFill>
                  </a:tcPr>
                </a:tc>
              </a:tr>
            </a:tbl>
          </a:graphicData>
        </a:graphic>
      </p:graphicFrame>
      <p:sp>
        <p:nvSpPr>
          <p:cNvPr id="10" name="Rounded Rectangle 9"/>
          <p:cNvSpPr/>
          <p:nvPr/>
        </p:nvSpPr>
        <p:spPr>
          <a:xfrm>
            <a:off x="530352" y="4431792"/>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559808"/>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550664"/>
            <a:ext cx="10564063" cy="358140"/>
          </a:xfrm>
          <a:prstGeom prst="rect">
            <a:avLst/>
          </a:prstGeom>
          <a:noFill/>
        </p:spPr>
        <p:txBody>
          <a:bodyPr wrap="square" anchor="ctr" lIns="0" rIns="0" tIns="0" bIns="0">
            <a:spAutoFit/>
          </a:bodyPr>
          <a:lstStyle/>
          <a:p>
            <a:r>
              <a:rPr sz="1500" b="1">
                <a:solidFill>
                  <a:srgbClr val="5B3FD6"/>
                </a:solidFill>
                <a:latin typeface="Calibri"/>
              </a:rPr>
              <a:t>Your task. </a:t>
            </a:r>
            <a:r>
              <a:rPr sz="1500" b="0" i="0">
                <a:solidFill>
                  <a:srgbClr val="1A1440"/>
                </a:solidFill>
                <a:latin typeface="Calibri"/>
              </a:rPr>
              <a:t>Keep two, and for every element you move, write the role whose appendix page receives it.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21" name="Oval 20"/>
          <p:cNvSpPr/>
          <p:nvPr/>
        </p:nvSpPr>
        <p:spPr>
          <a:xfrm>
            <a:off x="680285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objection holds?</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S52  ·  57 / 59</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Chapter 5 adds the appendix drawer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is left on the slide, and what is waiting behind it?</a:t>
            </a:r>
          </a:p>
        </p:txBody>
      </p:sp>
      <p:pic>
        <p:nvPicPr>
          <p:cNvPr id="9" name="mermaid diagram" descr="c2da78d826bfdefa.png"/>
          <p:cNvPicPr>
            <a:picLocks noChangeAspect="1"/>
          </p:cNvPicPr>
          <p:nvPr/>
        </p:nvPicPr>
        <p:blipFill>
          <a:blip r:embed="rId5"/>
          <a:stretch>
            <a:fillRect/>
          </a:stretch>
        </p:blipFill>
        <p:spPr>
          <a:xfrm>
            <a:off x="2152497" y="1956816"/>
            <a:ext cx="7886700" cy="1857375"/>
          </a:xfrm>
          <a:prstGeom prst="rect">
            <a:avLst/>
          </a:prstGeom>
        </p:spPr>
      </p:pic>
      <p:sp>
        <p:nvSpPr>
          <p:cNvPr id="10" name="TextBox 9"/>
          <p:cNvSpPr txBox="1"/>
          <p:nvPr/>
        </p:nvSpPr>
        <p:spPr>
          <a:xfrm>
            <a:off x="530352" y="3960495"/>
            <a:ext cx="11130991" cy="772160"/>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In the interview</a:t>
            </a:r>
            <a:r>
              <a:rPr sz="1600" b="0" i="0">
                <a:solidFill>
                  <a:srgbClr val="1A1440"/>
                </a:solidFill>
                <a:latin typeface="Calibri"/>
              </a:rPr>
              <a:t> [F]: what do you leave off the slide, and where does it go? Answer with the drawer: one page per question a named role will ask.</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19" name="Oval 18"/>
          <p:cNvSpPr/>
          <p:nvPr/>
        </p:nvSpPr>
        <p:spPr>
          <a:xfrm>
            <a:off x="680285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objection holds?</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S53  ·  58 / 59</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topics applied: claim, drawer, four moves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can you do now that you could not do at the start of the morning?</a:t>
            </a:r>
          </a:p>
        </p:txBody>
      </p:sp>
      <p:sp>
        <p:nvSpPr>
          <p:cNvPr id="9" name="Rounded Rectangle 8"/>
          <p:cNvSpPr/>
          <p:nvPr/>
        </p:nvSpPr>
        <p:spPr>
          <a:xfrm>
            <a:off x="53035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file-text_5c86fecc2881.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CHAPTERS 1 AND 4</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claim and its denominator</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The scheme pays for idle hours: Rs 314 to Rs 260 per peak online hour, the fare flat</a:t>
            </a:r>
          </a:p>
        </p:txBody>
      </p:sp>
      <p:sp>
        <p:nvSpPr>
          <p:cNvPr id="15" name="Rounded Rectangle 14"/>
          <p:cNvSpPr/>
          <p:nvPr/>
        </p:nvSpPr>
        <p:spPr>
          <a:xfrm>
            <a:off x="430164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shield_1aa1fb982097.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CHAPTERS 3 AND 5</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four moves</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Restate, answer, concede, say what would change your mind</a:t>
            </a:r>
          </a:p>
        </p:txBody>
      </p:sp>
      <p:sp>
        <p:nvSpPr>
          <p:cNvPr id="21" name="Rounded Rectangle 20"/>
          <p:cNvSpPr/>
          <p:nvPr/>
        </p:nvSpPr>
        <p:spPr>
          <a:xfrm>
            <a:off x="807293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archive_cfa7931e2038.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CHAPTERS 2 AND 5</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appendix drawer</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One page per question a role will ask; the caveat stays on the slide</a:t>
            </a:r>
          </a:p>
        </p:txBody>
      </p:sp>
      <p:sp>
        <p:nvSpPr>
          <p:cNvPr id="27" name="TextBox 26"/>
          <p:cNvSpPr txBox="1"/>
          <p:nvPr/>
        </p:nvSpPr>
        <p:spPr>
          <a:xfrm>
            <a:off x="530352" y="4104132"/>
            <a:ext cx="11130991" cy="772160"/>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The afternoon opens on round two of the studio, then asks the second question on the ticket:</a:t>
            </a:r>
            <a:r>
              <a:rPr sz="1600" b="0" i="0">
                <a:solidFill>
                  <a:srgbClr val="1A1440"/>
                </a:solidFill>
                <a:latin typeface="Calibri"/>
              </a:rPr>
              <a:t> how many drivers the evening peak needs, sized without a dataset.</a:t>
            </a:r>
          </a:p>
        </p:txBody>
      </p:sp>
      <p:sp>
        <p:nvSpPr>
          <p:cNvPr id="28" name="Oval 2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 slide carry?</a:t>
            </a:r>
          </a:p>
        </p:txBody>
      </p:sp>
      <p:sp>
        <p:nvSpPr>
          <p:cNvPr id="30" name="Oval 29"/>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does the rest go?</a:t>
            </a:r>
          </a:p>
        </p:txBody>
      </p:sp>
      <p:sp>
        <p:nvSpPr>
          <p:cNvPr id="32" name="Oval 31"/>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do you hold a claim?</a:t>
            </a:r>
          </a:p>
        </p:txBody>
      </p:sp>
      <p:sp>
        <p:nvSpPr>
          <p:cNvPr id="34" name="Oval 33"/>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Which number carries it?</a:t>
            </a:r>
          </a:p>
        </p:txBody>
      </p:sp>
      <p:sp>
        <p:nvSpPr>
          <p:cNvPr id="36" name="Oval 35"/>
          <p:cNvSpPr/>
          <p:nvPr/>
        </p:nvSpPr>
        <p:spPr>
          <a:xfrm>
            <a:off x="680285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912578"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Which objection holds?</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S54  ·  59 / 59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