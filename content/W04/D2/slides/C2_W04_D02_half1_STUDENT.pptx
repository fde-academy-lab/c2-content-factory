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The week's explorer, Monday's page at content/W04/D1/demos/C2_W04_D01_week_explorer_STUDENT.html: the home screen, Tuesday</a:t>
            </a:r>
          </a:p>
          <a:p>
            <a:r>
              <a:t>lit; its scenes T1 to T3 are Tuesday's.</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and the sharpest per-hour number is the added hours' own, (12,600 - 11,900) / 2 = 350. It is the</a:t>
            </a:r>
          </a:p>
          <a:p>
            <a:r>
              <a:t>most they can have sold: if the festival lifted the old ten hours too, the evening brought less.</a:t>
            </a:r>
          </a:p>
          <a:p>
            <a:r>
              <a:t>Rs 350 is sales, before the cost of the goods; the shop's records hold no figure for what the goods</a:t>
            </a:r>
          </a:p>
          <a:p>
            <a:r>
              <a:t>cost, so the slide cannot say yet whether the evening covers the helper's Rs 170 a day, and the</a:t>
            </a:r>
          </a:p>
          <a:p>
            <a:r>
              <a:t>action has to count it. 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Ramesh will raise it first, since it is the reason the son's Rs 700 may</a:t>
            </a:r>
          </a:p>
          <a:p>
            <a:r>
              <a:t>not last: a festival fortnight fell inside October, 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divide the sales by the customers, and divide the rise by the hours added. Notebook</a:t>
            </a:r>
          </a:p>
          <a:p>
            <a:r>
              <a:t>01 runs it on the 56 days and checks 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The range runs to a tenth of a lakh only because it is</a:t>
            </a:r>
          </a:p>
          <a:p>
            <a:r>
              <a:t>arithmetic on Monday's total; the per-trip rate is still unknown, since a rate set high pays back</a:t>
            </a:r>
          </a:p>
          <a:p>
            <a:r>
              <a:t>what the floor stops paying and a rate set low saves more than the range, so the sentence names it,</a:t>
            </a:r>
          </a:p>
          <a:p>
            <a:r>
              <a:t>and the test fixes it first at a rate that pays the drivers who already accept what the floor paid</a:t>
            </a:r>
          </a:p>
          <a:p>
            <a:r>
              <a:t>them. The saving is the scheme's, across the 1,200</a:t>
            </a:r>
          </a:p>
          <a:p>
            <a:r>
              <a:t>enrolled drivers in Monday's data; a test on half of them saves about half of it while it runs. S30</a:t>
            </a:r>
          </a:p>
          <a:p>
            <a:r>
              <a:t>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or why the 880 drivers whose fares averaged Rs 313.5 an hour drew Rs 74 lakh: the floor is</a:t>
            </a:r>
          </a:p>
          <a:p>
            <a:r>
              <a:t>checked window by window on the driver's share of the fares, so every slow window pays a top-up even</a:t>
            </a:r>
          </a:p>
          <a:p>
            <a:r>
              <a:t>when the driver's average hour clears Rs 300, and the share is below the fare. Monday's caveats say</a:t>
            </a:r>
          </a:p>
          <a:p>
            <a:r>
              <a:t>the share and the window record are not in the tables, so the top-up is read as Monday recorded it</a:t>
            </a:r>
          </a:p>
          <a:p>
            <a:r>
              <a:t>and never rebuilt from the bookings.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for all enrolled drivers; its</a:t>
            </a:r>
          </a:p>
          <a:p>
            <a:r>
              <a:t>assumption, a half to a fifth of the idle top-up still paid, is said aloud, since the box has no room</a:t>
            </a:r>
          </a:p>
          <a:p>
            <a:r>
              <a:t>for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Where the extra hours came from: the</a:t>
            </a:r>
          </a:p>
          <a:p>
            <a:r>
              <a:t>idle tail's 180 drivers doubled their online hours, to about 39 a week, while completing 12 percent</a:t>
            </a:r>
          </a:p>
          <a:p>
            <a:r>
              <a:t>fewer trips; the other 880 added under one hour a week. Ask which role will quote the amber</a:t>
            </a:r>
          </a:p>
          <a:p>
            <a:r>
              <a:t>line. Expect the driver-operations lead, since it is closest to what a driver takes home in a week;</a:t>
            </a:r>
          </a:p>
          <a:p>
            <a:r>
              <a:t>notebook 04's table gives each role its favourite. Explorer scene T2 lets learners pick the</a:t>
            </a:r>
          </a:p>
          <a:p>
            <a:r>
              <a:t>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recounted from Monday's tables when Tuesday's data</a:t>
            </a:r>
          </a:p>
          <a:p>
            <a:r>
              <a:t>was built.</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2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kirana shop (a neighbourhood grocery), a secondary school and a campus canteen carry the five topics, each counted by hand before any code.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868424"/>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13613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L1 to L6 in the notes mark the day's ladder, from a hand count anyone can do (L1) to the depth a hard interview asks (L6);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929384"/>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Uber, Hyderabad, the driver app's peak-hour earnings guarantee, one day on.</a:t>
            </a:r>
            <a:r>
              <a:rPr sz="1100" b="0" i="0">
                <a:solidFill>
                  <a:srgbClr val="1A1440"/>
                </a:solidFill>
                <a:latin typeface="Calibri"/>
              </a:rPr>
              <a:t> The scheme promises each enrolled driver Rs 300 per peak online hour and pays any shortfall as a top-up; Monday's redesign pays for completed peak trips instead, to drivers who accept at least half the requests offered, a rule called the acceptance floor; the idle tail is Monday's name for the 180 drivers who completed under one trip per online hour after the launch.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739896"/>
          <a:ext cx="5291175" cy="1810512"/>
        </p:xfrm>
        <a:graphic>
          <a:graphicData uri="http://schemas.openxmlformats.org/drawingml/2006/table">
            <a:tbl>
              <a:tblPr firstRow="0" bandRow="0">
                <a:tableStyleId>{2D5ABB26-0587-4C30-8999-92F81FD0307C}</a:tableStyleId>
              </a:tblPr>
              <a:tblGrid>
                <a:gridCol w="2392043"/>
                <a:gridCol w="1270942"/>
                <a:gridCol w="1628190"/>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1582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Monday's driver_weeks (peak_online_hours, peak_trips, peak_bookings_rs, topup_rs) and zone_weeks (peak_requests, median_wait_min). </a:t>
            </a:r>
            <a:r>
              <a:rPr sz="1000" b="1" i="0">
                <a:solidFill>
                  <a:srgbClr val="1A1440"/>
                </a:solidFill>
                <a:latin typeface="Calibri"/>
              </a:rPr>
              <a:t>Afternoon ask.</a:t>
            </a:r>
            <a:r>
              <a:rPr sz="1000" b="0" i="0">
                <a:solidFill>
                  <a:srgbClr val="1A1440"/>
                </a:solidFill>
                <a:latin typeface="Calibri"/>
              </a:rPr>
              <a:t> Estimate, in fifteen minutes, how many drivers must be online at the three-hour weekday evening peak for a median wait under five minutes. </a:t>
            </a:r>
            <a:r>
              <a:rPr sz="1000" b="1" i="0">
                <a:solidFill>
                  <a:srgbClr val="1A1440"/>
                </a:solidFill>
                <a:latin typeface="Calibri"/>
              </a:rPr>
              <a:t>Caveats.</a:t>
            </a:r>
            <a:r>
              <a:rPr sz="10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188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188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004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284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1930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060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340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2491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a neighbourhood grocery (invented), and opened it two more hours a day from October; he must decide whether the longer hours stay. His son argued for them and loses if they go.</a:t>
            </a:r>
          </a:p>
        </p:txBody>
      </p:sp>
      <p:sp>
        <p:nvSpPr>
          <p:cNvPr id="15" name="Rectangle 14"/>
          <p:cNvSpPr/>
          <p:nvPr/>
        </p:nvSpPr>
        <p:spPr>
          <a:xfrm>
            <a:off x="1853145" y="44119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5166106"/>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8783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380736"/>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7313000"/>
                <a:gridCol w="1656568"/>
                <a:gridCol w="2161422"/>
              </a:tblGrid>
              <a:tr h="335280">
                <a:tc>
                  <a:txBody>
                    <a:bodyPr/>
                    <a:lstStyle/>
                    <a:p>
                      <a:r>
                        <a:rPr sz="12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c>
                  <a:txBody>
                    <a:bodyPr/>
                    <a:lstStyle/>
                    <a:p>
                      <a:r>
                        <a:rPr sz="1250" b="1" i="0">
                          <a:solidFill>
                            <a:srgbClr val="FFFFFF"/>
                          </a:solidFill>
                          <a:latin typeface="Calibri"/>
                        </a:rPr>
                        <a:t>October</a:t>
                      </a:r>
                    </a:p>
                  </a:txBody>
                  <a:tcPr marL="101600" marR="101600" marT="38100" marB="38100" anchor="ctr">
                    <a:solidFill>
                      <a:srgbClr val="1A0F5C"/>
                    </a:solidFill>
                  </a:tcPr>
                </a:tc>
              </a:tr>
              <a:tr h="335280">
                <a:tc>
                  <a:txBody>
                    <a:bodyPr/>
                    <a:lstStyle/>
                    <a:p>
                      <a:r>
                        <a:rPr sz="1200" b="0" i="0">
                          <a:solidFill>
                            <a:srgbClr val="1A1440"/>
                          </a:solidFill>
                          <a:latin typeface="Calibri"/>
                        </a:rPr>
                        <a:t>Hours open a day</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r>
              <a:tr h="335280">
                <a:tc>
                  <a:txBody>
                    <a:bodyPr/>
                    <a:lstStyle/>
                    <a:p>
                      <a:r>
                        <a:rPr sz="1200" b="0" i="0">
                          <a:solidFill>
                            <a:srgbClr val="1A1440"/>
                          </a:solidFill>
                          <a:latin typeface="Calibri"/>
                        </a:rPr>
                        <a:t>Customers a day</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c>
                  <a:txBody>
                    <a:bodyPr/>
                    <a:lstStyle/>
                    <a:p>
                      <a:r>
                        <a:rPr sz="1200" b="0" i="0">
                          <a:solidFill>
                            <a:srgbClr val="1A1440"/>
                          </a:solidFill>
                          <a:latin typeface="Calibri"/>
                        </a:rPr>
                        <a:t>126</a:t>
                      </a:r>
                    </a:p>
                  </a:txBody>
                  <a:tcPr marL="101600" marR="101600" marT="38100" marB="38100" anchor="ctr">
                    <a:solidFill>
                      <a:srgbClr val="F4F2FA"/>
                    </a:solidFill>
                  </a:tcPr>
                </a:tc>
              </a:tr>
              <a:tr h="335280">
                <a:tc>
                  <a:txBody>
                    <a:bodyPr/>
                    <a:lstStyle/>
                    <a:p>
                      <a:r>
                        <a:rPr sz="1200" b="0" i="0">
                          <a:solidFill>
                            <a:srgbClr val="1A1440"/>
                          </a:solidFill>
                          <a:latin typeface="Calibri"/>
                        </a:rPr>
                        <a:t>Sales a day</a:t>
                      </a:r>
                    </a:p>
                  </a:txBody>
                  <a:tcPr marL="101600" marR="101600" marT="38100" marB="38100" anchor="ctr">
                    <a:solidFill>
                      <a:srgbClr val="FFFFFF"/>
                    </a:solidFill>
                  </a:tcPr>
                </a:tc>
                <a:tc>
                  <a:txBody>
                    <a:bodyPr/>
                    <a:lstStyle/>
                    <a:p>
                      <a:r>
                        <a:rPr sz="1200" b="0" i="0">
                          <a:solidFill>
                            <a:srgbClr val="1A1440"/>
                          </a:solidFill>
                          <a:latin typeface="Calibri"/>
                        </a:rPr>
                        <a:t>Rs 11,900</a:t>
                      </a:r>
                    </a:p>
                  </a:txBody>
                  <a:tcPr marL="101600" marR="101600" marT="38100" marB="38100" anchor="ctr">
                    <a:solidFill>
                      <a:srgbClr val="FFFFFF"/>
                    </a:solidFill>
                  </a:tcPr>
                </a:tc>
                <a:tc>
                  <a:txBody>
                    <a:bodyPr/>
                    <a:lstStyle/>
                    <a:p>
                      <a:r>
                        <a:rPr sz="1200" b="0" i="0">
                          <a:solidFill>
                            <a:srgbClr val="1A1440"/>
                          </a:solidFill>
                          <a:latin typeface="Calibri"/>
                        </a:rPr>
                        <a:t>Rs 12,600</a:t>
                      </a:r>
                    </a:p>
                  </a:txBody>
                  <a:tcPr marL="101600" marR="101600" marT="38100" marB="38100" anchor="ctr">
                    <a:solidFill>
                      <a:srgbClr val="FFFFFF"/>
                    </a:solidFill>
                  </a:tcPr>
                </a:tc>
              </a:tr>
              <a:tr h="335280">
                <a:tc>
                  <a:txBody>
                    <a:bodyPr/>
                    <a:lstStyle/>
                    <a:p>
                      <a:r>
                        <a:rPr sz="12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200" b="0" i="0">
                          <a:solidFill>
                            <a:srgbClr val="1A1440"/>
                          </a:solidFill>
                          <a:latin typeface="Calibri"/>
                        </a:rPr>
                        <a:t>Rs 1,190</a:t>
                      </a:r>
                    </a:p>
                  </a:txBody>
                  <a:tcPr marL="101600" marR="101600" marT="38100" marB="38100" anchor="ctr">
                    <a:solidFill>
                      <a:srgbClr val="F4F2FA"/>
                    </a:solidFill>
                  </a:tcPr>
                </a:tc>
                <a:tc>
                  <a:txBody>
                    <a:bodyPr/>
                    <a:lstStyle/>
                    <a:p>
                      <a:r>
                        <a:rPr sz="1200" b="0" i="0">
                          <a:solidFill>
                            <a:srgbClr val="1A1440"/>
                          </a:solidFill>
                          <a:latin typeface="Calibri"/>
                        </a:rPr>
                        <a:t>Rs 1,050</a:t>
                      </a:r>
                    </a:p>
                  </a:txBody>
                  <a:tcPr marL="101600" marR="101600" marT="38100" marB="38100" anchor="ctr">
                    <a:solidFill>
                      <a:srgbClr val="F4F2FA"/>
                    </a:solidFill>
                  </a:tcPr>
                </a:tc>
              </a:tr>
              <a:tr h="335280">
                <a:tc>
                  <a:txBody>
                    <a:bodyPr/>
                    <a:lstStyle/>
                    <a:p>
                      <a:r>
                        <a:rPr sz="12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r>
              <a:tr h="335280">
                <a:tc>
                  <a:txBody>
                    <a:bodyPr/>
                    <a:lstStyle/>
                    <a:p>
                      <a:r>
                        <a:rPr sz="1200" b="0" i="0">
                          <a:solidFill>
                            <a:srgbClr val="1A1440"/>
                          </a:solidFill>
                          <a:latin typeface="Calibri"/>
                        </a:rPr>
                        <a:t>Each of the two added hours: the Rs 700 rise / 2 hours</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at most Rs 350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186688"/>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Both are right, and the denominator decides which sentence the slide carries.</a:t>
            </a:r>
            <a:r>
              <a:rPr sz="1400" b="0" i="0">
                <a:solidFill>
                  <a:srgbClr val="1A1440"/>
                </a:solidFill>
                <a:latin typeface="Calibri"/>
              </a:rPr>
              <a:t> Per day the shop is up Rs 700, 5.9 percent; per hour it is down 11.8 percent; per customer it is flat. The decision is whether the two extra hours pay, so the evidence divides by what the decision buys: the two added hours sold at most Rs 350 each, against Rs 1,190 in each of the old ten. The average fell because quieter hours joined it, and the Rs 350 says how much quieter.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 on the shop's invented days?</a:t>
            </a:r>
          </a:p>
        </p:txBody>
      </p:sp>
      <p:sp>
        <p:nvSpPr>
          <p:cNvPr id="9" name="Rounded Rectangle 8"/>
          <p:cNvSpPr/>
          <p:nvPr/>
        </p:nvSpPr>
        <p:spPr>
          <a:xfrm>
            <a:off x="530352" y="182270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072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1576"/>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nobody has priced.</a:t>
            </a:r>
          </a:p>
        </p:txBody>
      </p:sp>
      <p:sp>
        <p:nvSpPr>
          <p:cNvPr id="12" name="Rounded Rectangle 11"/>
          <p:cNvSpPr/>
          <p:nvPr/>
        </p:nvSpPr>
        <p:spPr>
          <a:xfrm>
            <a:off x="530352" y="2723896"/>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8519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842768"/>
            <a:ext cx="10564063" cy="101600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Rs 700 is sales before the cost of the goods, part of it may be the festival, and a day's total hides what each added hour brings: at most Rs 350, against Rs 1,190 in each old hour. </a:t>
            </a:r>
            <a:r>
              <a:rPr sz="1300" b="1" i="0">
                <a:solidFill>
                  <a:srgbClr val="1A1440"/>
                </a:solidFill>
                <a:latin typeface="Calibri"/>
              </a:rPr>
              <a:t>The check:</a:t>
            </a:r>
            <a:r>
              <a:rPr sz="1300" b="0" i="0">
                <a:solidFill>
                  <a:srgbClr val="1A1440"/>
                </a:solidFill>
                <a:latin typeface="Calibri"/>
              </a:rPr>
              <a:t> divide by what the decision buys, here the two extra hours, before reading the number. </a:t>
            </a:r>
            <a:r>
              <a:rPr sz="1300" b="1" i="0">
                <a:solidFill>
                  <a:srgbClr val="1A1440"/>
                </a:solidFill>
                <a:latin typeface="Calibri"/>
              </a:rPr>
              <a:t>The fix:</a:t>
            </a:r>
            <a:r>
              <a:rPr sz="1300" b="0" i="0">
                <a:solidFill>
                  <a:srgbClr val="1A1440"/>
                </a:solidFill>
                <a:latin typeface="Calibri"/>
              </a:rPr>
              <a:t> the evidence is per hour, the added hours' Rs 350 beside the old hours' Rs 1,190, and the action counts the evening's sales on their own for a month.</a:t>
            </a:r>
          </a:p>
        </p:txBody>
      </p:sp>
      <p:sp>
        <p:nvSpPr>
          <p:cNvPr id="15" name="Rounded Rectangle 14"/>
          <p:cNvSpPr/>
          <p:nvPr/>
        </p:nvSpPr>
        <p:spPr>
          <a:xfrm>
            <a:off x="530352" y="4087368"/>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153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153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153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16552"/>
            <a:ext cx="10673791"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a:p>
            <a:pPr>
              <a:spcAft>
                <a:spcPts val="200"/>
              </a:spcAft>
            </a:pPr>
            <a:r>
              <a:rPr sz="1200" b="0" i="0">
                <a:solidFill>
                  <a:srgbClr val="E4E1F1"/>
                </a:solidFill>
                <a:latin typeface="Consolas"/>
              </a:rPr>
              <a:t>added = m.per_day.diff().iloc[-1] / m.hours.diff().iloc[-1]  # 350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divided by what the decision buys, with its window, or one chart.</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2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792224"/>
          <a:ext cx="11130990" cy="25745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611632">
                <a:tc>
                  <a:txBody>
                    <a:bodyPr/>
                    <a:lstStyle/>
                    <a:p>
                      <a:r>
                        <a:rPr sz="1400" b="0" i="0">
                          <a:solidFill>
                            <a:srgbClr val="1A1440"/>
                          </a:solidFill>
                          <a:latin typeface="Calibri"/>
                        </a:rPr>
                        <a:t>Nowhere: two in each month, so they explain none of the change, and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62280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75081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75081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75081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95198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469829" y="1664208"/>
            <a:ext cx="725203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1" i="0">
                <a:solidFill>
                  <a:srgbClr val="1A1440"/>
                </a:solidFill>
                <a:latin typeface="Calibri"/>
              </a:rPr>
              <a:t>Five of the six series leave, with the legend, the gridlines and the border; one line stays, with four short labels that read it: the two months' averages, the change and the festival.</a:t>
            </a:r>
            <a:r>
              <a:rPr sz="14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(invented).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 on the school's invented numbers?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the philosopher Daniel Dennett's guide to criticising an argument fairly,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 from the invented table?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across the enrolled drivers, Monday's arithmetic saves Rs 58 lakh to Rs 92.7 lakh over six weeks if a half to a fifth of the idle drivers' top-up is still paid, and the per-trip rate, not yet set, can move it within that range or beyond it."</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The supply headline</a:t>
            </a:r>
          </a:p>
        </p:txBody>
      </p:sp>
      <p:sp>
        <p:nvSpPr>
          <p:cNvPr id="14" name="TextBox 13"/>
          <p:cNvSpPr txBox="1"/>
          <p:nvPr/>
        </p:nvSpPr>
        <p:spPr>
          <a:xfrm>
            <a:off x="731519"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A clean hoarding line</a:t>
            </a:r>
          </a:p>
        </p:txBody>
      </p:sp>
      <p:sp>
        <p:nvSpPr>
          <p:cNvPr id="20" name="TextBox 19"/>
          <p:cNvSpPr txBox="1"/>
          <p:nvPr/>
        </p:nvSpPr>
        <p:spPr>
          <a:xfrm>
            <a:off x="4502810"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"Rs 300 an hour, guaranteed" now carries a condition: the Rs 300 floor holds only for drivers who accept at least half their offers</a:t>
            </a:r>
          </a:p>
        </p:txBody>
      </p:sp>
      <p:sp>
        <p:nvSpPr>
          <p:cNvPr id="21" name="Rounded Rectangle 20"/>
          <p:cNvSpPr/>
          <p:nvPr/>
        </p:nvSpPr>
        <p:spPr>
          <a:xfrm>
            <a:off x="807293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Its own number as the headline</a:t>
            </a:r>
          </a:p>
        </p:txBody>
      </p:sp>
      <p:sp>
        <p:nvSpPr>
          <p:cNvPr id="26" name="TextBox 25"/>
          <p:cNvSpPr txBox="1"/>
          <p:nvPr/>
        </p:nvSpPr>
        <p:spPr>
          <a:xfrm>
            <a:off x="8274100" y="3253994"/>
            <a:ext cx="3186074" cy="300735"/>
          </a:xfrm>
          <a:prstGeom prst="rect">
            <a:avLst/>
          </a:prstGeom>
          <a:noFill/>
        </p:spPr>
        <p:txBody>
          <a:bodyPr wrap="square" anchor="t" lIns="0" rIns="0" tIns="0" bIns="0">
            <a:spAutoFit/>
          </a:bodyPr>
          <a:lstStyle/>
          <a:p>
            <a:pPr algn="l"/>
            <a:r>
              <a:rPr sz="8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89146"/>
            <a:ext cx="11130991" cy="16433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17162"/>
            <a:ext cx="45720" cy="13873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08018"/>
            <a:ext cx="10564063" cy="1460500"/>
          </a:xfrm>
          <a:prstGeom prst="rect">
            <a:avLst/>
          </a:prstGeom>
          <a:noFill/>
        </p:spPr>
        <p:txBody>
          <a:bodyPr wrap="square" anchor="ctr" lIns="0" rIns="0" tIns="0" bIns="0">
            <a:spAutoFit/>
          </a:bodyPr>
          <a:lstStyle/>
          <a:p>
            <a:r>
              <a:rPr sz="1100" b="1">
                <a:solidFill>
                  <a:srgbClr val="5B3FD6"/>
                </a:solidFill>
                <a:latin typeface="Calibri"/>
              </a:rPr>
              <a:t>The scheme now. </a:t>
            </a:r>
            <a:r>
              <a:rPr sz="1100" b="0" i="0">
                <a:solidFill>
                  <a:srgbClr val="1A1440"/>
                </a:solidFill>
                <a:latin typeface="Calibri"/>
              </a:rPr>
              <a:t>An enrolled driver online through a whole peak window (two three-hour windows a day) is guaranteed Rs 300 per peak online hour, the floor; when the driver's trip earnings in a window fall short, Uber pays the gap as a </a:t>
            </a:r>
            <a:r>
              <a:rPr sz="1100" b="1" i="0">
                <a:solidFill>
                  <a:srgbClr val="1A1440"/>
                </a:solidFill>
                <a:latin typeface="Calibri"/>
              </a:rPr>
              <a:t>top-up</a:t>
            </a:r>
            <a:r>
              <a:rPr sz="1100" b="0" i="0">
                <a:solidFill>
                  <a:srgbClr val="1A1440"/>
                </a:solidFill>
                <a:latin typeface="Calibri"/>
              </a:rPr>
              <a:t>. The trip earnings are the driver's share of the fares, and neither that share nor the window-by-window record is in Monday's tables, so a week's top-up cannot be rebuilt from its bookings. </a:t>
            </a:r>
            <a:r>
              <a:rPr sz="1100" b="1" i="0">
                <a:solidFill>
                  <a:srgbClr val="1A1440"/>
                </a:solidFill>
                <a:latin typeface="Calibri"/>
              </a:rPr>
              <a:t>Monday's redesign,</a:t>
            </a:r>
            <a:r>
              <a:rPr sz="1100" b="0" i="0">
                <a:solidFill>
                  <a:srgbClr val="1A1440"/>
                </a:solidFill>
                <a:latin typeface="Calibri"/>
              </a:rPr>
              <a:t> as a driver hears it: "The floor now pays for trips you complete, if you say yes to most offers." Saying yes to at least half the requests offered is the </a:t>
            </a:r>
            <a:r>
              <a:rPr sz="1100" b="1" i="0">
                <a:solidFill>
                  <a:srgbClr val="1A1440"/>
                </a:solidFill>
                <a:latin typeface="Calibri"/>
              </a:rPr>
              <a:t>acceptance floor</a:t>
            </a:r>
            <a:r>
              <a:rPr sz="1100" b="0" i="0">
                <a:solidFill>
                  <a:srgbClr val="1A1440"/>
                </a:solidFill>
                <a:latin typeface="Calibri"/>
              </a:rPr>
              <a:t>. Three </a:t>
            </a:r>
            <a:r>
              <a:rPr sz="1100" b="1" i="0">
                <a:solidFill>
                  <a:srgbClr val="1A1440"/>
                </a:solidFill>
                <a:latin typeface="Calibri"/>
              </a:rPr>
              <a:t>guardrails</a:t>
            </a:r>
            <a:r>
              <a:rPr sz="1100" b="0" i="0">
                <a:solidFill>
                  <a:srgbClr val="1A1440"/>
                </a:solidFill>
                <a:latin typeface="Calibri"/>
              </a:rPr>
              <a:t>, numbers that must not get worse while trips rise, watch it: the acceptance share, the median rider wait at peak and top-up per completed trip. </a:t>
            </a:r>
            <a:r>
              <a:rPr sz="1100" b="1" i="0">
                <a:solidFill>
                  <a:srgbClr val="1A1440"/>
                </a:solidFill>
                <a:latin typeface="Calibri"/>
              </a:rPr>
              <a:t>The saving:</a:t>
            </a:r>
            <a:r>
              <a:rPr sz="11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All nine of Monday's dashboard numbers get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on all driver-weeks,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The average driver-week carried about four more online hours, most of them the idle tail's,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682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2921508"/>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95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0380"/>
            <a:ext cx="10564063"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rise itself sits with the other 880 drivers there before the launch, who drove about 4 percent more hours at an unchanged Rs 313.5 an hour; the idle tail doubled its hours for 12 percent fewer trips, so its weeks brought in less in fares.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368391"/>
                <a:gridCol w="4881299"/>
                <a:gridCol w="48812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The true part</a:t>
                      </a:r>
                    </a:p>
                  </a:txBody>
                  <a:tcPr marL="101600" marR="101600" marT="38100" marB="38100" anchor="ctr">
                    <a:solidFill>
                      <a:srgbClr val="1A0F5C"/>
                    </a:solidFill>
                  </a:tcPr>
                </a:tc>
                <a:tc>
                  <a:txBody>
                    <a:bodyPr/>
                    <a:lstStyle/>
                    <a:p>
                      <a:r>
                        <a:rPr sz="1250" b="1" i="0">
                          <a:solidFill>
                            <a:srgbClr val="FFFFFF"/>
                          </a:solidFill>
                          <a:latin typeface="Calibri"/>
                        </a:rPr>
                        <a:t>The part the evidence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200" b="0" i="0">
                          <a:solidFill>
                            <a:srgbClr val="1A1440"/>
                          </a:solidFill>
                          <a:latin typeface="Calibri"/>
                        </a:rPr>
                        <a:t>The other 880 of the 1,060 drivers there before the launch held at 1.90 trips per online hour and keep the floor if they accept</a:t>
                      </a:r>
                    </a:p>
                  </a:txBody>
                  <a:tcPr marL="101600" marR="101600" marT="38100" marB="38100" anchor="ctr">
                    <a:solidFill>
                      <a:srgbClr val="FFFFFF"/>
                    </a:solidFill>
                  </a:tcPr>
                </a:tc>
              </a:tr>
              <a:tr h="542544">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2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542544">
                <a:tc>
                  <a:txBody>
                    <a:bodyPr/>
                    <a:lstStyle/>
                    <a:p>
                      <a:r>
                        <a:rPr sz="1200" b="0" i="0">
                          <a:solidFill>
                            <a:srgbClr val="1A1440"/>
                          </a:solidFill>
                          <a:latin typeface="Calibri"/>
                        </a:rPr>
                        <a:t>Finance</a:t>
                      </a:r>
                    </a:p>
                  </a:txBody>
                  <a:tcPr marL="101600" marR="101600" marT="38100" marB="38100" anchor="ctr">
                    <a:solidFill>
                      <a:srgbClr val="FFFFFF"/>
                    </a:solidFill>
                  </a:tcPr>
                </a:tc>
                <a:tc>
                  <a:txBody>
                    <a:bodyPr/>
                    <a:lstStyle/>
                    <a:p>
                      <a:r>
                        <a:rPr sz="12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2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430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173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247140"/>
          </a:xfrm>
          <a:prstGeom prst="rect">
            <a:avLst/>
          </a:prstGeom>
          <a:noFill/>
        </p:spPr>
        <p:txBody>
          <a:bodyPr wrap="square" anchor="ctr" lIns="0" rIns="0" tIns="0" bIns="0">
            <a:spAutoFit/>
          </a:bodyPr>
          <a:lstStyle/>
          <a:p>
            <a:r>
              <a:rPr sz="1300" b="1">
                <a:solidFill>
                  <a:srgbClr val="5B3FD6"/>
                </a:solidFill>
                <a:latin typeface="Calibri"/>
              </a:rPr>
              <a:t>The answer is d. </a:t>
            </a:r>
            <a:r>
              <a:rPr sz="1300" b="0" i="0">
                <a:solidFill>
                  <a:srgbClr val="1A1440"/>
                </a:solidFill>
                <a:latin typeface="Calibri"/>
              </a:rPr>
              <a:t>A defence that sides with no one concedes each true part out loud and answers the rest from a line of evidence. Driver operations' true part has a place: 74 percent of the idle money went to driver-weeks in the three outer zones, which get few requests, and the outer zones' median wait fell furthest, from 6.6 to about 6 minutes, so that is the wait a change could cost first.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scorer ticks each of chapter 3's four moves as it is heard and never scores the final number.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1,060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round runs three turns of seven minutes.</a:t>
            </a:r>
            <a:r>
              <a:rPr sz="1600" b="0" i="0">
                <a:solidFill>
                  <a:srgbClr val="1A1440"/>
                </a:solidFill>
                <a:latin typeface="Calibri"/>
              </a:rPr>
              <a:t> The studio is the morning's practice: build a slide, present it, take an objection, get scored, rebuild. After each turn the seats rotate inside the three, so every member presents once, objects once and scores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defence and the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when the finance partner says "it is the monsoon"?</a:t>
            </a:r>
          </a:p>
        </p:txBody>
      </p:sp>
      <p:pic>
        <p:nvPicPr>
          <p:cNvPr id="9" name="mermaid diagram" descr="c19eb229eb44387a.png"/>
          <p:cNvPicPr>
            <a:picLocks noChangeAspect="1"/>
          </p:cNvPicPr>
          <p:nvPr/>
        </p:nvPicPr>
        <p:blipFill>
          <a:blip r:embed="rId5"/>
          <a:stretch>
            <a:fillRect/>
          </a:stretch>
        </p:blipFill>
        <p:spPr>
          <a:xfrm>
            <a:off x="780897" y="1824133"/>
            <a:ext cx="10629900" cy="2100262"/>
          </a:xfrm>
          <a:prstGeom prst="rect">
            <a:avLst/>
          </a:prstGeom>
        </p:spPr>
      </p:pic>
      <p:sp>
        <p:nvSpPr>
          <p:cNvPr id="10" name="TextBox 9"/>
          <p:cNvSpPr txBox="1"/>
          <p:nvPr/>
        </p:nvSpPr>
        <p:spPr>
          <a:xfrm>
            <a:off x="530352" y="4070699"/>
            <a:ext cx="11130991" cy="198729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5 adds</a:t>
            </a:r>
            <a:r>
              <a:rPr sz="1600" b="0" i="0">
                <a:solidFill>
                  <a:srgbClr val="1A1440"/>
                </a:solidFill>
                <a:latin typeface="Calibri"/>
              </a:rPr>
              <a:t> the defence (restate, answer, concede, what would change your mind), one appendix page for each role's question, and the monsoon kept on the slide as the caveat. </a:t>
            </a:r>
            <a:r>
              <a:rPr sz="1600" b="1" i="0">
                <a:solidFill>
                  <a:srgbClr val="1A1440"/>
                </a:solidFill>
                <a:latin typeface="Calibri"/>
              </a:rPr>
              <a:t>Said plainly:</a:t>
            </a:r>
            <a:r>
              <a:rPr sz="1600" b="0" i="0">
                <a:solidFill>
                  <a:srgbClr val="1A1440"/>
                </a:solidFill>
                <a:latin typeface="Calibri"/>
              </a:rPr>
              <a:t> "Part of the fall may be the season; with rider requests back at their old level in the last three weeks, trips per hour stayed low, so a test has to settle it."</a:t>
            </a:r>
          </a:p>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