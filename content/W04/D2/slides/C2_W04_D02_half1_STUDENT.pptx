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once that this is Monday's illustrative Uber case, one day on, and that the</a:t>
            </a:r>
          </a:p>
          <a:p>
            <a:r>
              <a:t>deliverable today is the slide the city head takes to the review. The morning is a studio: build,</a:t>
            </a:r>
          </a:p>
          <a:p>
            <a:r>
              <a:t>present, take the objection, get scored, rebuild. The afternoon is a dojo: a number sized from</a:t>
            </a:r>
          </a:p>
          <a:p>
            <a:r>
              <a:t>nothing, under a clock, then checked. No new technique arrives today. Then read the ticket top to</a:t>
            </a:r>
          </a:p>
          <a:p>
            <a:r>
              <a:t>bottom. Gross bookings are what riders paid for the trips,</a:t>
            </a:r>
          </a:p>
          <a:p>
            <a:r>
              <a:t>before Uber's share and before any top-up. An active driver-week is one driver with a row that</a:t>
            </a:r>
          </a:p>
          <a:p>
            <a:r>
              <a:t>week. Pause on the three reads of the same rupees: down, up, flat. Ask which of the three roles will</a:t>
            </a:r>
          </a:p>
          <a:p>
            <a:r>
              <a:t>quote which row; leave it open, chapter 2 answers it.</a:t>
            </a:r>
          </a:p>
          <a:p>
            <a:r>
              <a:t>Transition: where Tuesday sits on the week's 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Monday's node now carries the number the room produced and the decision it led to.</a:t>
            </a:r>
          </a:p>
          <a:p>
            <a:r>
              <a:t>Tuesday is lit; the days to the right stay dashed. Each chapter close today adds a line to Tuesday's</a:t>
            </a:r>
          </a:p>
          <a:p>
            <a:r>
              <a:t>node. The amber node is the TA lab, where the same studio runs on Kalpa Retail.</a:t>
            </a:r>
          </a:p>
          <a:p>
            <a:r>
              <a:t>Transition: where the day ends, so the room can see the climb.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once. The morning earns its four parts in order: the claim, one</a:t>
            </a:r>
          </a:p>
          <a:p>
            <a:r>
              <a:t>number with its denominator, the caveat, the action with its cost. The saving range is Monday's:</a:t>
            </a:r>
          </a:p>
          <a:p>
            <a:r>
              <a:t>Rs 1.16 crore went to driver-weeks that accepted under half their offers, and the range assumes a</a:t>
            </a:r>
          </a:p>
          <a:p>
            <a:r>
              <a:t>half to a fifth of that is still paid because those drivers start accepting: half still paid saves</a:t>
            </a:r>
          </a:p>
          <a:p>
            <a:r>
              <a:t>Rs 58 lakh, a fifth saves Rs 92.7 lakh. S4 shows the working.</a:t>
            </a:r>
          </a:p>
          <a:p>
            <a:r>
              <a:t>Transition: what each role loses, before anyone builds anything.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If a learner asks how a Rs 300 floor costs Rs 1.9 crore when an hour brought in Rs 260</a:t>
            </a:r>
          </a:p>
          <a:p>
            <a:r>
              <a:t>of fares: the floor is checked driver by driver, week by week, on the driver's own trip earnings, and</a:t>
            </a:r>
          </a:p>
          <a:p>
            <a:r>
              <a:t>the idle tail's 42,000 hours carried Rs 1.16 crore of it, about Rs 276 an hour. Cards hidden first.</a:t>
            </a:r>
          </a:p>
          <a:p>
            <a:r>
              <a:t>Groups of three spend 6 minutes listing what each role loses;</a:t>
            </a:r>
          </a:p>
          <a:p>
            <a:r>
              <a:t>take one loss per role from three groups and write them on the board (2 minutes), then show the</a:t>
            </a:r>
          </a:p>
          <a:p>
            <a:r>
              <a:t>cards (2 minutes). A loss the room names that the cards miss goes on the board as well: it will</a:t>
            </a:r>
          </a:p>
          <a:p>
            <a:r>
              <a:t>come back as an objection in chapter 2.</a:t>
            </a:r>
          </a:p>
          <a:p>
            <a:r>
              <a:t>Transition: chapter 1, the title is the claim.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Chapter 1 is L1 and L2 of the ladder: the title as the claim, and the</a:t>
            </a:r>
          </a:p>
          <a:p>
            <a:r>
              <a:t>denominator the slide names. Laptops closed until S13. Styles: Brilliant (the chapter opens on a</a:t>
            </a:r>
          </a:p>
          <a:p>
            <a:r>
              <a:t>question), Veritasium (predict, then reveal), StatQuest (the twelve rows summed aloud), Storytelling</a:t>
            </a:r>
          </a:p>
          <a:p>
            <a:r>
              <a:t>with Data and Minto (the makeover, the answer first). Explorer scene T1 runs beside S8 to S10 and</a:t>
            </a:r>
          </a:p>
          <a:p>
            <a:r>
              <a:t>scene T2 beside S14 and S15.</a:t>
            </a:r>
          </a:p>
          <a:p>
            <a:r>
              <a:t>Transition: a vote on four titles.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Hands for each letter, counts on the board. Expect votes on b, since it carries</a:t>
            </a:r>
          </a:p>
          <a:p>
            <a:r>
              <a:t>numbers. Say nothing about which is right.</a:t>
            </a:r>
          </a:p>
          <a:p>
            <a:r>
              <a:t>Transition: the hostel notice board.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two notices aloud. Then ask which of the four titles is like the first</a:t>
            </a:r>
          </a:p>
          <a:p>
            <a:r>
              <a:t>notice. Minto's site describes ideas organised as a pyramid under a single point</a:t>
            </a:r>
          </a:p>
          <a:p>
            <a:r>
              <a:t>(barbaraminto.com, checked 12 October 2026).</a:t>
            </a:r>
          </a:p>
          <a:p>
            <a:r>
              <a:t>Transition: the four parts a slide needs.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Build the board region by region: point at the anchor, then each part in order,</a:t>
            </a:r>
          </a:p>
          <a:p>
            <a:r>
              <a:t>then the pitfalls. This is the Week 1 four-part note (claim, evidence, caveat, action) made into one</a:t>
            </a:r>
          </a:p>
          <a:p>
            <a:r>
              <a:t>page.</a:t>
            </a:r>
          </a:p>
          <a:p>
            <a:r>
              <a:t>Transition: slide A, exactly as it arrived.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Give the room 30 seconds of silence with the slide, then ask what it is asking the</a:t>
            </a:r>
          </a:p>
          <a:p>
            <a:r>
              <a:t>city head to do. Every number here is Monday's. Explorer scene T1 starts from this slide.</a:t>
            </a:r>
          </a:p>
          <a:p>
            <a:r>
              <a:t>Transition: which two of the nine carry a claim.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group writes one letter. Expect a split between a and b. The point of the</a:t>
            </a:r>
          </a:p>
          <a:p>
            <a:r>
              <a:t>vote is that a carries two true numbers and no claim, which is why the room reaches for it.</a:t>
            </a:r>
          </a:p>
          <a:p>
            <a:r>
              <a:t>Transition: the rebuild.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is the worked example of the guided exercise: rebuild it with the room</a:t>
            </a:r>
          </a:p>
          <a:p>
            <a:r>
              <a:t>mirroring, part by part. Point at 1, 2, 3, 4 in order: the chart names its denominator in its title,</a:t>
            </a:r>
          </a:p>
          <a:p>
            <a:r>
              <a:t>the caveat sits beside the evidence, and the action states the saving with the assumption behind it. The drop lands in the launch week: the</a:t>
            </a:r>
          </a:p>
          <a:p>
            <a:r>
              <a:t>highest after week, Rs 271, sits below the lowest before week, Rs 310, which is why the chart, not</a:t>
            </a:r>
          </a:p>
          <a:p>
            <a:r>
              <a:t>the bar pair, is the evidence.</a:t>
            </a:r>
          </a:p>
          <a:p>
            <a:r>
              <a:t>Transition: two more slides, rebuilt by the groups.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Odd-numbered groups take slide B, even-numbered groups take slide C (next slide).</a:t>
            </a:r>
          </a:p>
          <a:p>
            <a:r>
              <a:t>Six minutes in total across S11 and S12 once both are on screen, then two groups read their</a:t>
            </a:r>
          </a:p>
          <a:p>
            <a:r>
              <a:t>rebuilt titles. The guided exercise file carries both slides.</a:t>
            </a:r>
          </a:p>
          <a:p>
            <a:r>
              <a:t>Transition: slide 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faded step: no drafted claim. Collect two titles. A strong one reads close</a:t>
            </a:r>
          </a:p>
          <a:p>
            <a:r>
              <a:t>to "180 drivers doubled their online hours while their trips fell": idle hours up 2.1 times</a:t>
            </a:r>
          </a:p>
          <a:p>
            <a:r>
              <a:t>(20,000 to 42,000), trips down 12 percent.</a:t>
            </a:r>
          </a:p>
          <a:p>
            <a:r>
              <a:t>Transition: the twelve rows, read in rupees.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Twelve driver-weeks: six drivers, the week of 10 August against the week of 21</a:t>
            </a:r>
          </a:p>
          <a:p>
            <a:r>
              <a:t>September. Count aloud, column by column: 60 and 74 hours, 114 and 88 trips, 18,810 and 14,520</a:t>
            </a:r>
          </a:p>
          <a:p>
            <a:r>
              <a:t>rupees. Divide three times for each week and say the three verdicts. E and F are Monday's two</a:t>
            </a:r>
          </a:p>
          <a:p>
            <a:r>
              <a:t>idle-tail drivers, which is why six drivers fall further than the city. These six drive about 10</a:t>
            </a:r>
          </a:p>
          <a:p>
            <a:r>
              <a:t>peak hours a week against the city's 18.6, so their rupees per driver-week sit below the city's:</a:t>
            </a:r>
          </a:p>
          <a:p>
            <a:r>
              <a:t>the hand count is for the method, and the city's numbers come next.</a:t>
            </a:r>
          </a:p>
          <a:p>
            <a:r>
              <a:t>Transition: the city does something the six did not.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Per driver-week means per active driver-week: one driver with a row that week.</a:t>
            </a:r>
          </a:p>
          <a:p>
            <a:r>
              <a:t>Each learner writes a letter. Expect votes on a, since new drivers are the obvious change.</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Trace the violet line first: a step at the launch, then flat. Then the amber line:</a:t>
            </a:r>
          </a:p>
          <a:p>
            <a:r>
              <a:t>up while hours climbed, down as trips per hour kept falling. Ask which role will quote the amber</a:t>
            </a:r>
          </a:p>
          <a:p>
            <a:r>
              <a:t>line. Expect the marketing lead. Explorer scene T2 lets learners pick the denominator.</a:t>
            </a:r>
          </a:p>
          <a:p>
            <a:r>
              <a:t>Transition: the trap in that amber 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Write the split on the board: Rs per driver-week = Rs per hour x hours per</a:t>
            </a:r>
          </a:p>
          <a:p>
            <a:r>
              <a:t>driver-week. Then the three growth rates: bookings 3.0, driver-weeks 2.2, ratio 0.8. An active</a:t>
            </a:r>
          </a:p>
          <a:p>
            <a:r>
              <a:t>driver-week is a driver with a row that week, never a sign-up to the guarantee.</a:t>
            </a:r>
          </a:p>
          <a:p>
            <a:r>
              <a:t>Transition: the second route to the same number.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asserts the two routes agree to the paisa. Say it as one line the</a:t>
            </a:r>
          </a:p>
          <a:p>
            <a:r>
              <a:t>slide's owner can repeat: the fare held, the trips per hour fell.</a:t>
            </a:r>
          </a:p>
          <a:p>
            <a:r>
              <a:t>Transition: what chapter 1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two learners to say the plain sentence aloud without the slide.</a:t>
            </a:r>
          </a:p>
          <a:p>
            <a:r>
              <a:t>Transition: chapter 2, the objections.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Chapter 2 is L3 of the ladder, with round one of the studio as L5 practice.</a:t>
            </a:r>
          </a:p>
          <a:p>
            <a:r>
              <a:t>Styles: Veritasium (predict which role the city head sides with), the case method (Monday's three</a:t>
            </a:r>
          </a:p>
          <a:p>
            <a:r>
              <a:t>roles return, each partly right), peer instruction (the vote and the revote).</a:t>
            </a:r>
          </a:p>
          <a:p>
            <a:r>
              <a:t>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two minutes with a neighbour, revote. Count both votes on the board. Expect</a:t>
            </a:r>
          </a:p>
          <a:p>
            <a:r>
              <a:t>votes on a, since it is the number everyone quotes.</a:t>
            </a:r>
          </a:p>
          <a:p>
            <a:r>
              <a:t>Transition: the true part of each objection.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row at a time. Every number here is Monday's or is computed from Monday's</a:t>
            </a:r>
          </a:p>
          <a:p>
            <a:r>
              <a:t>tables in the facts file: the 880 are the 1,200 drivers less the 180 in the idle tail and the 140</a:t>
            </a:r>
          </a:p>
          <a:p>
            <a:r>
              <a:t>joiners, and none of the joiners is in the tail. The 180 had also run at 1.90 trips an hour before</a:t>
            </a:r>
          </a:p>
          <a:p>
            <a:r>
              <a:t>the launch, so the tail is drivers who changed, never drivers who were always slow. Weekly requests</a:t>
            </a:r>
          </a:p>
          <a:p>
            <a:r>
              <a:t>in the last three weeks ran 41,161 to 42,602, against 41,155 to 42,719 before the launch.</a:t>
            </a:r>
          </a:p>
          <a:p>
            <a:r>
              <a:t>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scorer in each three holds a card with these four moves and ticks each one</a:t>
            </a:r>
          </a:p>
          <a:p>
            <a:r>
              <a:t>it hears; it never scores the final number.</a:t>
            </a:r>
          </a:p>
          <a:p>
            <a:r>
              <a:t>Transition: two ways to get it wrong.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both defences in character. The Kahoot's trap item asks whether the best</a:t>
            </a:r>
          </a:p>
          <a:p>
            <a:r>
              <a:t>defence never concedes anything; it is false.</a:t>
            </a:r>
          </a:p>
          <a:p>
            <a:r>
              <a:t>Transition: one full defence, modelled.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trainer models this defence first, conceding on purpose, then points at each</a:t>
            </a:r>
          </a:p>
          <a:p>
            <a:r>
              <a:t>move on the S21 card. Every number is Monday's L4 cut, from the facts file.</a:t>
            </a:r>
          </a:p>
          <a:p>
            <a:r>
              <a:t>Transition: round one of the studio.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23 minutes. Two minutes to form threes and hand out cards, then 3 x 7. Thirty-five learners</a:t>
            </a:r>
          </a:p>
          <a:p>
            <a:r>
              <a:t>make eleven threes and one pair; in the pair a TA takes the objector seat. Walk the room; note one</a:t>
            </a:r>
          </a:p>
          <a:p>
            <a:r>
              <a:t>strong concession and one retreat to use on S25.</a:t>
            </a:r>
          </a:p>
          <a:p>
            <a:r>
              <a:t>Transition: the pause after round one.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Name one example of each from the round, without names. Then the break.</a:t>
            </a:r>
          </a:p>
          <a:p>
            <a:r>
              <a:t>Transition: break, 10 minutes, then chapter 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Chapter 3 is L4 of the ladder. Styles: Veritasium (predict where a caveat goes),</a:t>
            </a:r>
          </a:p>
          <a:p>
            <a:r>
              <a:t>the case method (Amazon's memo as the opposite rule), Minto (one appendix page answers one</a:t>
            </a:r>
          </a:p>
          <a:p>
            <a:r>
              <a:t>question). The mid-session drill, cut five elements to two, runs on S30.</a:t>
            </a:r>
          </a:p>
          <a:p>
            <a:r>
              <a:t>Transition: a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on paper. Expect some votes for a, since caveats feel like detail.</a:t>
            </a:r>
          </a:p>
          <a:p>
            <a:r>
              <a:t>Transition: the answer, and the drawer it goes 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trap here is a caveat in the drawer. Walk the three pages and ask what each</a:t>
            </a:r>
          </a:p>
          <a:p>
            <a:r>
              <a:t>role's page must hold. The common wrong answer in an interview is "I put everything in the</a:t>
            </a:r>
          </a:p>
          <a:p>
            <a:r>
              <a:t>appendix".</a:t>
            </a:r>
          </a:p>
          <a:p>
            <a:r>
              <a:t>Transition: a company that bans slides.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which is better for Thursday, a slide or a memo? There is no single answer:</a:t>
            </a:r>
          </a:p>
          <a:p>
            <a:r>
              <a:t>the afternoon's written case is the memo form of this morning's slide.</a:t>
            </a:r>
          </a:p>
          <a:p>
            <a:r>
              <a:t>Transition: the drill.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mid-session drill 1, in exercises/unguided. Four minutes alone, two</a:t>
            </a:r>
          </a:p>
          <a:p>
            <a:r>
              <a:t>minutes comparing with a neighbour. Expect the 24 percent line kept by some: ask what claim it</a:t>
            </a:r>
          </a:p>
          <a:p>
            <a:r>
              <a:t>supports. The two that carry it: the wait barely moved, and each extra trip cost Rs 2,836 of top-up</a:t>
            </a:r>
          </a:p>
          <a:p>
            <a:r>
              <a:t>(Rs 1.9 crore over the 6,700 extra trips).</a:t>
            </a:r>
          </a:p>
          <a:p>
            <a:r>
              <a:t>Transition: what chapter 3 adds.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says the slide's four parts and the three appendix headings from</a:t>
            </a:r>
          </a:p>
          <a:p>
            <a:r>
              <a:t>memory.</a:t>
            </a:r>
          </a:p>
          <a:p>
            <a:r>
              <a:t>Transition: round two of the studio.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38 minutes. Three minutes to set up, 3 x 7 = 21 minutes of rounds, 8 minutes to rebuild,</a:t>
            </a:r>
          </a:p>
          <a:p>
            <a:r>
              <a:t>6 minutes for two groups to present their final slide to the room. Hold the slides for the</a:t>
            </a:r>
          </a:p>
          <a:p>
            <a:r>
              <a:t>afternoon gallery.</a:t>
            </a:r>
          </a:p>
          <a:p>
            <a:r>
              <a:t>Transition: where the morning ends.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three cards. Lunch.</a:t>
            </a:r>
          </a:p>
          <a:p>
            <a:r>
              <a:t>Transition: half two, the dojo.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one slide, five minutes, three objectors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city head asked for, and which number will land first?</a:t>
            </a:r>
          </a:p>
        </p:txBody>
      </p:sp>
      <p:sp>
        <p:nvSpPr>
          <p:cNvPr id="9" name="TextBox 8"/>
          <p:cNvSpPr txBox="1"/>
          <p:nvPr/>
        </p:nvSpPr>
        <p:spPr>
          <a:xfrm>
            <a:off x="530352" y="1682496"/>
            <a:ext cx="5291175" cy="1428496"/>
          </a:xfrm>
          <a:prstGeom prst="rect">
            <a:avLst/>
          </a:prstGeom>
          <a:noFill/>
        </p:spPr>
        <p:txBody>
          <a:bodyPr wrap="square" anchor="t" lIns="0" rIns="0" tIns="0" bIns="0">
            <a:spAutoFit/>
          </a:bodyPr>
          <a:lstStyle/>
          <a:p>
            <a:pPr>
              <a:spcAft>
                <a:spcPts val="700"/>
              </a:spcAft>
            </a:pPr>
            <a:r>
              <a:rPr sz="1400" b="1" i="0">
                <a:solidFill>
                  <a:srgbClr val="1A1440"/>
                </a:solidFill>
                <a:latin typeface="Calibri"/>
              </a:rPr>
              <a:t>Uber, Hyderabad, the driver app's peak-hour earnings guarantee, one day on.</a:t>
            </a:r>
            <a:r>
              <a:rPr sz="1400" b="0" i="0">
                <a:solidFill>
                  <a:srgbClr val="1A1440"/>
                </a:solidFill>
                <a:latin typeface="Calibri"/>
              </a:rPr>
              <a:t> Thursday's city review gets one slide, five minutes, and three people who each lose under it. Gross bookings are what riders paid; an active driver-week is one driver with a row that week.</a:t>
            </a:r>
          </a:p>
        </p:txBody>
      </p:sp>
      <p:graphicFrame>
        <p:nvGraphicFramePr>
          <p:cNvPr id="10" name="Table 9"/>
          <p:cNvGraphicFramePr>
            <a:graphicFrameLocks noGrp="1"/>
          </p:cNvGraphicFramePr>
          <p:nvPr/>
        </p:nvGraphicFramePr>
        <p:xfrm>
          <a:off x="530352" y="3239008"/>
          <a:ext cx="5291174" cy="1938528"/>
        </p:xfrm>
        <a:graphic>
          <a:graphicData uri="http://schemas.openxmlformats.org/drawingml/2006/table">
            <a:tbl>
              <a:tblPr firstRow="0" bandRow="0">
                <a:tableStyleId>{2D5ABB26-0587-4C30-8999-92F81FD0307C}</a:tableStyleId>
              </a:tblPr>
              <a:tblGrid>
                <a:gridCol w="2190445"/>
                <a:gridCol w="1351856"/>
                <a:gridCol w="1748873"/>
              </a:tblGrid>
              <a:tr h="310896">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438912">
                <a:tc>
                  <a:txBody>
                    <a:bodyPr/>
                    <a:lstStyle/>
                    <a:p>
                      <a:r>
                        <a:rPr sz="900" b="0" i="0">
                          <a:solidFill>
                            <a:srgbClr val="1A1440"/>
                          </a:solidFill>
                          <a:latin typeface="Calibri"/>
                        </a:rPr>
                        <a:t>Gross bookings per peak online hour</a:t>
                      </a:r>
                    </a:p>
                  </a:txBody>
                  <a:tcPr marL="101600" marR="101600" marT="38100" marB="38100" anchor="ctr">
                    <a:solidFill>
                      <a:srgbClr val="FFFFFF"/>
                    </a:solidFill>
                  </a:tcPr>
                </a:tc>
                <a:tc>
                  <a:txBody>
                    <a:bodyPr/>
                    <a:lstStyle/>
                    <a:p>
                      <a:r>
                        <a:rPr sz="900" b="0" i="0">
                          <a:solidFill>
                            <a:srgbClr val="1A1440"/>
                          </a:solidFill>
                          <a:latin typeface="Calibri"/>
                        </a:rPr>
                        <a:t>Rs 314</a:t>
                      </a:r>
                    </a:p>
                  </a:txBody>
                  <a:tcPr marL="101600" marR="101600" marT="38100" marB="38100" anchor="ctr">
                    <a:solidFill>
                      <a:srgbClr val="FFFFFF"/>
                    </a:solidFill>
                  </a:tcPr>
                </a:tc>
                <a:tc>
                  <a:txBody>
                    <a:bodyPr/>
                    <a:lstStyle/>
                    <a:p>
                      <a:r>
                        <a:rPr sz="900" b="0" i="0">
                          <a:solidFill>
                            <a:srgbClr val="1A1440"/>
                          </a:solidFill>
                          <a:latin typeface="Calibri"/>
                        </a:rPr>
                        <a:t>Rs 260, down 17 percent</a:t>
                      </a:r>
                    </a:p>
                  </a:txBody>
                  <a:tcPr marL="101600" marR="101600" marT="38100" marB="38100" anchor="ctr">
                    <a:solidFill>
                      <a:srgbClr val="FFFFFF"/>
                    </a:solidFill>
                  </a:tcPr>
                </a:tc>
              </a:tr>
              <a:tr h="438912">
                <a:tc>
                  <a:txBody>
                    <a:bodyPr/>
                    <a:lstStyle/>
                    <a:p>
                      <a:r>
                        <a:rPr sz="900" b="0" i="0">
                          <a:solidFill>
                            <a:srgbClr val="1A1440"/>
                          </a:solidFill>
                          <a:latin typeface="Calibri"/>
                        </a:rPr>
                        <a:t>Average peak fare (bookings per trip)</a:t>
                      </a:r>
                    </a:p>
                  </a:txBody>
                  <a:tcPr marL="101600" marR="101600" marT="38100" marB="38100" anchor="ctr">
                    <a:solidFill>
                      <a:srgbClr val="F4F2FA"/>
                    </a:solidFill>
                  </a:tcPr>
                </a:tc>
                <a:tc>
                  <a:txBody>
                    <a:bodyPr/>
                    <a:lstStyle/>
                    <a:p>
                      <a:r>
                        <a:rPr sz="900" b="0" i="0">
                          <a:solidFill>
                            <a:srgbClr val="1A1440"/>
                          </a:solidFill>
                          <a:latin typeface="Calibri"/>
                        </a:rPr>
                        <a:t>Rs 165</a:t>
                      </a:r>
                    </a:p>
                  </a:txBody>
                  <a:tcPr marL="101600" marR="101600" marT="38100" marB="38100" anchor="ctr">
                    <a:solidFill>
                      <a:srgbClr val="F4F2FA"/>
                    </a:solidFill>
                  </a:tcPr>
                </a:tc>
                <a:tc>
                  <a:txBody>
                    <a:bodyPr/>
                    <a:lstStyle/>
                    <a:p>
                      <a:r>
                        <a:rPr sz="900" b="0" i="0">
                          <a:solidFill>
                            <a:srgbClr val="1A1440"/>
                          </a:solidFill>
                          <a:latin typeface="Calibri"/>
                        </a:rPr>
                        <a:t>Rs 165, flat</a:t>
                      </a:r>
                    </a:p>
                  </a:txBody>
                  <a:tcPr marL="101600" marR="101600" marT="38100" marB="38100" anchor="ctr">
                    <a:solidFill>
                      <a:srgbClr val="F4F2FA"/>
                    </a:solidFill>
                  </a:tcPr>
                </a:tc>
              </a:tr>
              <a:tr h="438912">
                <a:tc>
                  <a:txBody>
                    <a:bodyPr/>
                    <a:lstStyle/>
                    <a:p>
                      <a:r>
                        <a:rPr sz="900" b="0" i="0">
                          <a:solidFill>
                            <a:srgbClr val="1A1440"/>
                          </a:solidFill>
                          <a:latin typeface="Calibri"/>
                        </a:rPr>
                        <a:t>Gross bookings per active driver-week</a:t>
                      </a:r>
                    </a:p>
                  </a:txBody>
                  <a:tcPr marL="101600" marR="101600" marT="38100" marB="38100" anchor="ctr">
                    <a:solidFill>
                      <a:srgbClr val="FFFFFF"/>
                    </a:solidFill>
                  </a:tcPr>
                </a:tc>
                <a:tc>
                  <a:txBody>
                    <a:bodyPr/>
                    <a:lstStyle/>
                    <a:p>
                      <a:r>
                        <a:rPr sz="900" b="0" i="0">
                          <a:solidFill>
                            <a:srgbClr val="1A1440"/>
                          </a:solidFill>
                          <a:latin typeface="Calibri"/>
                        </a:rPr>
                        <a:t>Rs 5,817</a:t>
                      </a:r>
                    </a:p>
                  </a:txBody>
                  <a:tcPr marL="101600" marR="101600" marT="38100" marB="38100" anchor="ctr">
                    <a:solidFill>
                      <a:srgbClr val="FFFFFF"/>
                    </a:solidFill>
                  </a:tcPr>
                </a:tc>
                <a:tc>
                  <a:txBody>
                    <a:bodyPr/>
                    <a:lstStyle/>
                    <a:p>
                      <a:r>
                        <a:rPr sz="900" b="0" i="0">
                          <a:solidFill>
                            <a:srgbClr val="1A1440"/>
                          </a:solidFill>
                          <a:latin typeface="Calibri"/>
                        </a:rPr>
                        <a:t>Rs 5,861, up 0.8 percent</a:t>
                      </a:r>
                    </a:p>
                  </a:txBody>
                  <a:tcPr marL="101600" marR="101600" marT="38100" marB="38100" anchor="ctr">
                    <a:solidFill>
                      <a:srgbClr val="FFFFFF"/>
                    </a:solidFill>
                  </a:tcPr>
                </a:tc>
              </a:tr>
              <a:tr h="310896">
                <a:tc>
                  <a:txBody>
                    <a:bodyPr/>
                    <a:lstStyle/>
                    <a:p>
                      <a:r>
                        <a:rPr sz="900" b="0" i="0">
                          <a:solidFill>
                            <a:srgbClr val="1A1440"/>
                          </a:solidFill>
                          <a:latin typeface="Calibri"/>
                        </a:rPr>
                        <a:t>Peak online hours</a:t>
                      </a:r>
                    </a:p>
                  </a:txBody>
                  <a:tcPr marL="101600" marR="101600" marT="38100" marB="38100" anchor="ctr">
                    <a:solidFill>
                      <a:srgbClr val="F4F2FA"/>
                    </a:solidFill>
                  </a:tcPr>
                </a:tc>
                <a:tc>
                  <a:txBody>
                    <a:bodyPr/>
                    <a:lstStyle/>
                    <a:p>
                      <a:r>
                        <a:rPr sz="900" b="0" i="0">
                          <a:solidFill>
                            <a:srgbClr val="1A1440"/>
                          </a:solidFill>
                          <a:latin typeface="Calibri"/>
                        </a:rPr>
                        <a:t>118,000</a:t>
                      </a:r>
                    </a:p>
                  </a:txBody>
                  <a:tcPr marL="101600" marR="101600" marT="38100" marB="38100" anchor="ctr">
                    <a:solidFill>
                      <a:srgbClr val="F4F2FA"/>
                    </a:solidFill>
                  </a:tcPr>
                </a:tc>
                <a:tc>
                  <a:txBody>
                    <a:bodyPr/>
                    <a:lstStyle/>
                    <a:p>
                      <a:r>
                        <a:rPr sz="900" b="0" i="0">
                          <a:solidFill>
                            <a:srgbClr val="1A1440"/>
                          </a:solidFill>
                          <a:latin typeface="Calibri"/>
                        </a:rPr>
                        <a:t>146,300, up 24 percent</a:t>
                      </a:r>
                    </a:p>
                  </a:txBody>
                  <a:tcPr marL="101600" marR="101600" marT="38100" marB="38100" anchor="ctr">
                    <a:solidFill>
                      <a:srgbClr val="F4F2FA"/>
                    </a:solidFill>
                  </a:tcPr>
                </a:tc>
              </a:tr>
            </a:tbl>
          </a:graphicData>
        </a:graphic>
      </p:graphicFrame>
      <p:sp>
        <p:nvSpPr>
          <p:cNvPr id="11" name="Rounded Rectangle 10"/>
          <p:cNvSpPr/>
          <p:nvPr/>
        </p:nvSpPr>
        <p:spPr>
          <a:xfrm>
            <a:off x="6370167" y="1682496"/>
            <a:ext cx="5291175" cy="189229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1810512"/>
            <a:ext cx="45720" cy="163626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1801368"/>
            <a:ext cx="4724247" cy="1709419"/>
          </a:xfrm>
          <a:prstGeom prst="rect">
            <a:avLst/>
          </a:prstGeom>
          <a:noFill/>
        </p:spPr>
        <p:txBody>
          <a:bodyPr wrap="square" anchor="ctr" lIns="0" rIns="0" tIns="0" bIns="0">
            <a:spAutoFit/>
          </a:bodyPr>
          <a:lstStyle/>
          <a:p>
            <a:r>
              <a:rPr sz="1300" b="1">
                <a:solidFill>
                  <a:srgbClr val="5B3FD6"/>
                </a:solidFill>
                <a:latin typeface="Calibri"/>
              </a:rPr>
              <a:t>Data. </a:t>
            </a:r>
            <a:r>
              <a:rPr sz="1300" b="0" i="0">
                <a:solidFill>
                  <a:srgbClr val="1A1440"/>
                </a:solidFill>
                <a:latin typeface="Calibri"/>
              </a:rPr>
              <a:t>Monday's driver_weeks (peak_online_hours, peak_trips, peak_bookings_rs, topup_rs) and zone_weeks (peak_requests, median_wait_min). </a:t>
            </a:r>
            <a:r>
              <a:rPr sz="1300" b="1" i="0">
                <a:solidFill>
                  <a:srgbClr val="1A1440"/>
                </a:solidFill>
                <a:latin typeface="Calibri"/>
              </a:rPr>
              <a:t>Afternoon ask.</a:t>
            </a:r>
            <a:r>
              <a:rPr sz="1300" b="0" i="0">
                <a:solidFill>
                  <a:srgbClr val="1A1440"/>
                </a:solidFill>
                <a:latin typeface="Calibri"/>
              </a:rPr>
              <a:t> Drivers online at the three-hour weekday evening peak for a median wait under five minutes, in fifteen minutes. </a:t>
            </a:r>
            <a:r>
              <a:rPr sz="1300" b="1" i="0">
                <a:solidFill>
                  <a:srgbClr val="1A1440"/>
                </a:solidFill>
                <a:latin typeface="Calibri"/>
              </a:rPr>
              <a:t>Caveats.</a:t>
            </a:r>
            <a:r>
              <a:rPr sz="1300" b="0" i="0">
                <a:solidFill>
                  <a:srgbClr val="1A1440"/>
                </a:solidFill>
                <a:latin typeface="Calibri"/>
              </a:rPr>
              <a:t> Each objection is partly right; no published figure checks the afternoon's answer.</a:t>
            </a:r>
          </a:p>
        </p:txBody>
      </p:sp>
      <p:sp>
        <p:nvSpPr>
          <p:cNvPr id="14" name="Rounded Rectangle 13"/>
          <p:cNvSpPr/>
          <p:nvPr/>
        </p:nvSpPr>
        <p:spPr>
          <a:xfrm>
            <a:off x="6370167" y="3739388"/>
            <a:ext cx="45720" cy="9296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626199" y="3739388"/>
            <a:ext cx="4980279" cy="929640"/>
          </a:xfrm>
          <a:prstGeom prst="rect">
            <a:avLst/>
          </a:prstGeom>
          <a:noFill/>
        </p:spPr>
        <p:txBody>
          <a:bodyPr wrap="square" anchor="t" lIns="0" rIns="0" tIns="0" bIns="0">
            <a:spAutoFit/>
          </a:bodyPr>
          <a:lstStyle/>
          <a:p>
            <a:r>
              <a:rPr sz="1400" b="0" i="1">
                <a:solidFill>
                  <a:srgbClr val="1A0F5C"/>
                </a:solidFill>
                <a:latin typeface="Georgia"/>
              </a:rPr>
              <a:t>Illustrative case: the company is real, the situation and the data are synthetic, built for this class.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8" name="Oval 1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Oval 1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Monday's number in, Tuesday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Monday's node earn?</a:t>
            </a:r>
          </a:p>
        </p:txBody>
      </p:sp>
      <p:pic>
        <p:nvPicPr>
          <p:cNvPr id="9" name="mermaid diagram" descr="4a6dd0cdefb73055.png"/>
          <p:cNvPicPr>
            <a:picLocks noChangeAspect="1"/>
          </p:cNvPicPr>
          <p:nvPr/>
        </p:nvPicPr>
        <p:blipFill>
          <a:blip r:embed="rId5"/>
          <a:stretch>
            <a:fillRect/>
          </a:stretch>
        </p:blipFill>
        <p:spPr>
          <a:xfrm>
            <a:off x="530352" y="1956816"/>
            <a:ext cx="11130991" cy="2536050"/>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a slide its losers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city head be able to say on Thursday?</a:t>
            </a:r>
          </a:p>
        </p:txBody>
      </p:sp>
      <p:sp>
        <p:nvSpPr>
          <p:cNvPr id="9" name="Rounded Rectangle 8"/>
          <p:cNvSpPr/>
          <p:nvPr/>
        </p:nvSpPr>
        <p:spPr>
          <a:xfrm>
            <a:off x="530352" y="195681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60527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gross bookings per peak online hour fell from Rs 314 to Rs 260 while the fare held at Rs 165. The monsoon ended inside the six weeks, so part of the fall may be the season. Test paying per completed peak trip with an acceptance floor: city-wide, it saves Rs 58 lakh to Rs 92.7 lakh over six weeks if a half to a fifth of the idle drivers' top-up is still paid."</a:t>
            </a:r>
          </a:p>
        </p:txBody>
      </p:sp>
      <p:sp>
        <p:nvSpPr>
          <p:cNvPr id="11" name="TextBox 10"/>
          <p:cNvSpPr txBox="1"/>
          <p:nvPr/>
        </p:nvSpPr>
        <p:spPr>
          <a:xfrm>
            <a:off x="530352" y="3708400"/>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By the end of the afternoon</a:t>
            </a:r>
            <a:r>
              <a:rPr sz="1600" b="0" i="0">
                <a:solidFill>
                  <a:srgbClr val="1A1440"/>
                </a:solidFill>
                <a:latin typeface="Calibri"/>
              </a:rPr>
              <a:t> you will also have estimated how many drivers the evening peak needs, said every assumption aloud, given a range, and checked it against the case's own data.</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6" name="Oval 1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role loses one thing it can point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three roles lose under Monday's definition?</a:t>
            </a:r>
          </a:p>
        </p:txBody>
      </p:sp>
      <p:sp>
        <p:nvSpPr>
          <p:cNvPr id="9" name="Rounded Rectangle 8"/>
          <p:cNvSpPr/>
          <p:nvPr/>
        </p:nvSpPr>
        <p:spPr>
          <a:xfrm>
            <a:off x="530352" y="1894586"/>
            <a:ext cx="3588410" cy="20177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0957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05482"/>
            <a:ext cx="237744" cy="237744"/>
          </a:xfrm>
          <a:prstGeom prst="rect">
            <a:avLst/>
          </a:prstGeom>
        </p:spPr>
      </p:pic>
      <p:sp>
        <p:nvSpPr>
          <p:cNvPr id="12" name="TextBox 11"/>
          <p:cNvSpPr txBox="1"/>
          <p:nvPr/>
        </p:nvSpPr>
        <p:spPr>
          <a:xfrm>
            <a:off x="731519" y="26626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00426"/>
            <a:ext cx="3186074" cy="234696"/>
          </a:xfrm>
          <a:prstGeom prst="rect">
            <a:avLst/>
          </a:prstGeom>
          <a:noFill/>
        </p:spPr>
        <p:txBody>
          <a:bodyPr wrap="square" anchor="t" lIns="0" rIns="0" tIns="0" bIns="0">
            <a:spAutoFit/>
          </a:bodyPr>
          <a:lstStyle/>
          <a:p>
            <a:pPr algn="l"/>
            <a:r>
              <a:rPr sz="1200" b="1" i="0">
                <a:solidFill>
                  <a:srgbClr val="1A0F5C"/>
                </a:solidFill>
                <a:latin typeface="Calibri"/>
              </a:rPr>
              <a:t>The supply headline</a:t>
            </a:r>
          </a:p>
        </p:txBody>
      </p:sp>
      <p:sp>
        <p:nvSpPr>
          <p:cNvPr id="14" name="TextBox 13"/>
          <p:cNvSpPr txBox="1"/>
          <p:nvPr/>
        </p:nvSpPr>
        <p:spPr>
          <a:xfrm>
            <a:off x="731519" y="3208274"/>
            <a:ext cx="3186074" cy="482346"/>
          </a:xfrm>
          <a:prstGeom prst="rect">
            <a:avLst/>
          </a:prstGeom>
          <a:noFill/>
        </p:spPr>
        <p:txBody>
          <a:bodyPr wrap="square" anchor="t" lIns="0" rIns="0" tIns="0" bIns="0">
            <a:spAutoFit/>
          </a:bodyPr>
          <a:lstStyle/>
          <a:p>
            <a:pPr algn="l"/>
            <a:r>
              <a:rPr sz="900" b="0" i="0">
                <a:solidFill>
                  <a:srgbClr val="6B6690"/>
                </a:solidFill>
                <a:latin typeface="Calibri"/>
              </a:rPr>
              <a:t>Peak online hours up 24 percent stops being the target, and the idle drivers' hours will fall when idle hours stop paying</a:t>
            </a:r>
          </a:p>
        </p:txBody>
      </p:sp>
      <p:sp>
        <p:nvSpPr>
          <p:cNvPr id="15" name="Rounded Rectangle 14"/>
          <p:cNvSpPr/>
          <p:nvPr/>
        </p:nvSpPr>
        <p:spPr>
          <a:xfrm>
            <a:off x="4301642" y="1894586"/>
            <a:ext cx="3588410" cy="20177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0957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_c13406686cbb.png"/>
          <p:cNvPicPr>
            <a:picLocks noChangeAspect="1"/>
          </p:cNvPicPr>
          <p:nvPr/>
        </p:nvPicPr>
        <p:blipFill>
          <a:blip r:embed="rId4"/>
          <a:stretch>
            <a:fillRect/>
          </a:stretch>
        </p:blipFill>
        <p:spPr>
          <a:xfrm>
            <a:off x="4612538" y="2205482"/>
            <a:ext cx="237744" cy="237744"/>
          </a:xfrm>
          <a:prstGeom prst="rect">
            <a:avLst/>
          </a:prstGeom>
        </p:spPr>
      </p:pic>
      <p:sp>
        <p:nvSpPr>
          <p:cNvPr id="18" name="TextBox 17"/>
          <p:cNvSpPr txBox="1"/>
          <p:nvPr/>
        </p:nvSpPr>
        <p:spPr>
          <a:xfrm>
            <a:off x="4502810" y="26626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00426"/>
            <a:ext cx="3186074" cy="234696"/>
          </a:xfrm>
          <a:prstGeom prst="rect">
            <a:avLst/>
          </a:prstGeom>
          <a:noFill/>
        </p:spPr>
        <p:txBody>
          <a:bodyPr wrap="square" anchor="t" lIns="0" rIns="0" tIns="0" bIns="0">
            <a:spAutoFit/>
          </a:bodyPr>
          <a:lstStyle/>
          <a:p>
            <a:pPr algn="l"/>
            <a:r>
              <a:rPr sz="1200" b="1" i="0">
                <a:solidFill>
                  <a:srgbClr val="1A0F5C"/>
                </a:solidFill>
                <a:latin typeface="Calibri"/>
              </a:rPr>
              <a:t>A clean hoarding line</a:t>
            </a:r>
          </a:p>
        </p:txBody>
      </p:sp>
      <p:sp>
        <p:nvSpPr>
          <p:cNvPr id="20" name="TextBox 19"/>
          <p:cNvSpPr txBox="1"/>
          <p:nvPr/>
        </p:nvSpPr>
        <p:spPr>
          <a:xfrm>
            <a:off x="4502810" y="3208274"/>
            <a:ext cx="3186074" cy="482346"/>
          </a:xfrm>
          <a:prstGeom prst="rect">
            <a:avLst/>
          </a:prstGeom>
          <a:noFill/>
        </p:spPr>
        <p:txBody>
          <a:bodyPr wrap="square" anchor="t" lIns="0" rIns="0" tIns="0" bIns="0">
            <a:spAutoFit/>
          </a:bodyPr>
          <a:lstStyle/>
          <a:p>
            <a:pPr algn="l"/>
            <a:r>
              <a:rPr sz="900" b="0" i="0">
                <a:solidFill>
                  <a:srgbClr val="6B6690"/>
                </a:solidFill>
                <a:latin typeface="Calibri"/>
              </a:rPr>
              <a:t>"Rs 300 an hour, guaranteed" now carries a condition: the Rs 300 floor holds only for drivers who accept most offers</a:t>
            </a:r>
          </a:p>
        </p:txBody>
      </p:sp>
      <p:sp>
        <p:nvSpPr>
          <p:cNvPr id="21" name="Rounded Rectangle 20"/>
          <p:cNvSpPr/>
          <p:nvPr/>
        </p:nvSpPr>
        <p:spPr>
          <a:xfrm>
            <a:off x="8072932" y="1894586"/>
            <a:ext cx="3588410" cy="20177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09575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_c13406686cbb.png"/>
          <p:cNvPicPr>
            <a:picLocks noChangeAspect="1"/>
          </p:cNvPicPr>
          <p:nvPr/>
        </p:nvPicPr>
        <p:blipFill>
          <a:blip r:embed="rId4"/>
          <a:stretch>
            <a:fillRect/>
          </a:stretch>
        </p:blipFill>
        <p:spPr>
          <a:xfrm>
            <a:off x="8383828" y="2205482"/>
            <a:ext cx="237744" cy="237744"/>
          </a:xfrm>
          <a:prstGeom prst="rect">
            <a:avLst/>
          </a:prstGeom>
        </p:spPr>
      </p:pic>
      <p:sp>
        <p:nvSpPr>
          <p:cNvPr id="24" name="TextBox 23"/>
          <p:cNvSpPr txBox="1"/>
          <p:nvPr/>
        </p:nvSpPr>
        <p:spPr>
          <a:xfrm>
            <a:off x="8274100" y="266268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00426"/>
            <a:ext cx="3186074" cy="234696"/>
          </a:xfrm>
          <a:prstGeom prst="rect">
            <a:avLst/>
          </a:prstGeom>
          <a:noFill/>
        </p:spPr>
        <p:txBody>
          <a:bodyPr wrap="square" anchor="t" lIns="0" rIns="0" tIns="0" bIns="0">
            <a:spAutoFit/>
          </a:bodyPr>
          <a:lstStyle/>
          <a:p>
            <a:pPr algn="l"/>
            <a:r>
              <a:rPr sz="1200" b="1" i="0">
                <a:solidFill>
                  <a:srgbClr val="1A0F5C"/>
                </a:solidFill>
                <a:latin typeface="Calibri"/>
              </a:rPr>
              <a:t>Its own number as the headline</a:t>
            </a:r>
          </a:p>
        </p:txBody>
      </p:sp>
      <p:sp>
        <p:nvSpPr>
          <p:cNvPr id="26" name="TextBox 25"/>
          <p:cNvSpPr txBox="1"/>
          <p:nvPr/>
        </p:nvSpPr>
        <p:spPr>
          <a:xfrm>
            <a:off x="8274100" y="3208274"/>
            <a:ext cx="3186074" cy="333756"/>
          </a:xfrm>
          <a:prstGeom prst="rect">
            <a:avLst/>
          </a:prstGeom>
          <a:noFill/>
        </p:spPr>
        <p:txBody>
          <a:bodyPr wrap="square" anchor="t" lIns="0" rIns="0" tIns="0" bIns="0">
            <a:spAutoFit/>
          </a:bodyPr>
          <a:lstStyle/>
          <a:p>
            <a:pPr algn="l"/>
            <a:r>
              <a:rPr sz="900" b="0" i="0">
                <a:solidFill>
                  <a:srgbClr val="6B6690"/>
                </a:solidFill>
                <a:latin typeface="Calibri"/>
              </a:rPr>
              <a:t>Top-up per trip becomes a guardrail, and the slide opens on bookings per online hour, Rs 314 to Rs 260</a:t>
            </a:r>
          </a:p>
        </p:txBody>
      </p:sp>
      <p:sp>
        <p:nvSpPr>
          <p:cNvPr id="27" name="Rounded Rectangle 26"/>
          <p:cNvSpPr/>
          <p:nvPr/>
        </p:nvSpPr>
        <p:spPr>
          <a:xfrm>
            <a:off x="530352" y="4095242"/>
            <a:ext cx="11130991" cy="189229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223258"/>
            <a:ext cx="45720" cy="163626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214114"/>
            <a:ext cx="10564063" cy="1709419"/>
          </a:xfrm>
          <a:prstGeom prst="rect">
            <a:avLst/>
          </a:prstGeom>
          <a:noFill/>
        </p:spPr>
        <p:txBody>
          <a:bodyPr wrap="square" anchor="ctr" lIns="0" rIns="0" tIns="0" bIns="0">
            <a:spAutoFit/>
          </a:bodyPr>
          <a:lstStyle/>
          <a:p>
            <a:r>
              <a:rPr sz="1300" b="1">
                <a:solidFill>
                  <a:srgbClr val="5B3FD6"/>
                </a:solidFill>
                <a:latin typeface="Calibri"/>
              </a:rPr>
              <a:t>The scheme now. </a:t>
            </a:r>
            <a:r>
              <a:rPr sz="1300" b="0" i="0">
                <a:solidFill>
                  <a:srgbClr val="1A1440"/>
                </a:solidFill>
                <a:latin typeface="Calibri"/>
              </a:rPr>
              <a:t>An enrolled driver online through a whole peak window (two three-hour windows a day) is guaranteed Rs 300 per peak online hour, the floor; when the driver's trip earnings fall short, Uber pays the gap as a </a:t>
            </a:r>
            <a:r>
              <a:rPr sz="1300" b="1" i="0">
                <a:solidFill>
                  <a:srgbClr val="1A1440"/>
                </a:solidFill>
                <a:latin typeface="Calibri"/>
              </a:rPr>
              <a:t>top-up</a:t>
            </a:r>
            <a:r>
              <a:rPr sz="1300" b="0" i="0">
                <a:solidFill>
                  <a:srgbClr val="1A1440"/>
                </a:solidFill>
                <a:latin typeface="Calibri"/>
              </a:rPr>
              <a:t>. </a:t>
            </a:r>
            <a:r>
              <a:rPr sz="1300" b="1" i="0">
                <a:solidFill>
                  <a:srgbClr val="1A1440"/>
                </a:solidFill>
                <a:latin typeface="Calibri"/>
              </a:rPr>
              <a:t>Monday's redesign,</a:t>
            </a:r>
            <a:r>
              <a:rPr sz="1300" b="0" i="0">
                <a:solidFill>
                  <a:srgbClr val="1A1440"/>
                </a:solidFill>
                <a:latin typeface="Calibri"/>
              </a:rPr>
              <a:t> as a driver hears it: "The floor now pays for trips you complete, if you say yes to most offers." Saying yes to at least half the requests offered is the </a:t>
            </a:r>
            <a:r>
              <a:rPr sz="1300" b="1" i="0">
                <a:solidFill>
                  <a:srgbClr val="1A1440"/>
                </a:solidFill>
                <a:latin typeface="Calibri"/>
              </a:rPr>
              <a:t>acceptance floor</a:t>
            </a:r>
            <a:r>
              <a:rPr sz="1300" b="0" i="0">
                <a:solidFill>
                  <a:srgbClr val="1A1440"/>
                </a:solidFill>
                <a:latin typeface="Calibri"/>
              </a:rPr>
              <a:t>. Three </a:t>
            </a:r>
            <a:r>
              <a:rPr sz="1300" b="1" i="0">
                <a:solidFill>
                  <a:srgbClr val="1A1440"/>
                </a:solidFill>
                <a:latin typeface="Calibri"/>
              </a:rPr>
              <a:t>guardrails</a:t>
            </a:r>
            <a:r>
              <a:rPr sz="1300" b="0" i="0">
                <a:solidFill>
                  <a:srgbClr val="1A1440"/>
                </a:solidFill>
                <a:latin typeface="Calibri"/>
              </a:rPr>
              <a:t>, numbers that must not get worse while trips rise, watch it: the acceptance share, the median rider wait at peak and top-up per completed trip. </a:t>
            </a:r>
            <a:r>
              <a:rPr sz="1300" b="1" i="0">
                <a:solidFill>
                  <a:srgbClr val="1A1440"/>
                </a:solidFill>
                <a:latin typeface="Calibri"/>
              </a:rPr>
              <a:t>The saving:</a:t>
            </a:r>
            <a:r>
              <a:rPr sz="1300" b="0" i="0">
                <a:solidFill>
                  <a:srgbClr val="1A1440"/>
                </a:solidFill>
                <a:latin typeface="Calibri"/>
              </a:rPr>
              <a:t> Rs 1.16 crore of top-up (115.9 lakh) went to driver-weeks that accepted under half their offers; if half of it is still paid, 115.9 / 2 = Rs 58 lakh is saved over six weeks, and if a fifth is, 115.9 x 4/5 = Rs 92.7 lakh.</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32" name="Oval 3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4" name="Oval 3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the one claim?</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is the one claim, and which number carries it, so that nine numbers become one sentence a city head can act on?</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the one claim?</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slide?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one slide, three objectors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four titles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has a slide on the top-up. Which title tells the city head what to do on the first read?</a:t>
            </a:r>
          </a:p>
        </p:txBody>
      </p:sp>
      <p:sp>
        <p:nvSpPr>
          <p:cNvPr id="9" name="TextBox 8"/>
          <p:cNvSpPr txBox="1"/>
          <p:nvPr/>
        </p:nvSpPr>
        <p:spPr>
          <a:xfrm>
            <a:off x="530352" y="1956816"/>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Top-up review, six weeks</a:t>
            </a:r>
          </a:p>
          <a:p>
            <a:pPr>
              <a:spcAft>
                <a:spcPts val="800"/>
              </a:spcAft>
            </a:pPr>
            <a:r>
              <a:rPr sz="1600" b="0" i="0">
                <a:solidFill>
                  <a:srgbClr val="1A1440"/>
                </a:solidFill>
                <a:latin typeface="Calibri"/>
              </a:rPr>
              <a:t>b) Top-up Rs 1.9 crore, 61 percent of it to drivers accepting under half their offers</a:t>
            </a:r>
          </a:p>
          <a:p>
            <a:pPr>
              <a:spcAft>
                <a:spcPts val="800"/>
              </a:spcAft>
            </a:pPr>
            <a:r>
              <a:rPr sz="1600" b="0" i="0">
                <a:solidFill>
                  <a:srgbClr val="1A1440"/>
                </a:solidFill>
                <a:latin typeface="Calibri"/>
              </a:rPr>
              <a:t>c) Most of the top-up pays drivers who decline offers: add an acceptance floor</a:t>
            </a:r>
          </a:p>
          <a:p>
            <a:pPr>
              <a:spcAft>
                <a:spcPts val="800"/>
              </a:spcAft>
            </a:pPr>
            <a:r>
              <a:rPr sz="1600" b="0" i="0">
                <a:solidFill>
                  <a:srgbClr val="1A1440"/>
                </a:solidFill>
                <a:latin typeface="Calibri"/>
              </a:rPr>
              <a:t>d) Driver payments update, October</a:t>
            </a:r>
          </a:p>
          <a:p>
            <a:pPr>
              <a:spcAft>
                <a:spcPts val="800"/>
              </a:spcAft>
            </a:pPr>
            <a:r>
              <a:rPr sz="1600" b="1" i="0">
                <a:solidFill>
                  <a:srgbClr val="1A1440"/>
                </a:solidFill>
                <a:latin typeface="Calibri"/>
              </a:rPr>
              <a:t>Write your letter down before the next slide.</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reader act on c and walk past a, b and d?</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 hostel notice board (invented for this class).</a:t>
            </a:r>
            <a:r>
              <a:rPr sz="1600" b="0" i="0">
                <a:solidFill>
                  <a:srgbClr val="1A1440"/>
                </a:solidFill>
                <a:latin typeface="Calibri"/>
              </a:rPr>
              <a:t> One notice reads "Breakfast survey results"; the warden walks past it for a week. The next reads "Rotis replace rice at Monday breakfast, so the kitchen moves two staff from the rice counter to the roti line"; the warden reads it once and moves two staff.</a:t>
            </a:r>
          </a:p>
        </p:txBody>
      </p:sp>
      <p:sp>
        <p:nvSpPr>
          <p:cNvPr id="10" name="Rounded Rectangle 9"/>
          <p:cNvSpPr/>
          <p:nvPr/>
        </p:nvSpPr>
        <p:spPr>
          <a:xfrm>
            <a:off x="530352" y="31333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613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52216"/>
            <a:ext cx="10564063" cy="891540"/>
          </a:xfrm>
          <a:prstGeom prst="rect">
            <a:avLst/>
          </a:prstGeom>
          <a:noFill/>
        </p:spPr>
        <p:txBody>
          <a:bodyPr wrap="square" anchor="ctr" lIns="0" rIns="0" tIns="0" bIns="0">
            <a:spAutoFit/>
          </a:bodyPr>
          <a:lstStyle/>
          <a:p>
            <a:r>
              <a:rPr sz="1500" b="1">
                <a:solidFill>
                  <a:srgbClr val="5B3FD6"/>
                </a:solidFill>
                <a:latin typeface="Calibri"/>
              </a:rPr>
              <a:t>The answer is c. </a:t>
            </a:r>
            <a:r>
              <a:rPr sz="1500" b="0" i="0">
                <a:solidFill>
                  <a:srgbClr val="1A1440"/>
                </a:solidFill>
                <a:latin typeface="Calibri"/>
              </a:rPr>
              <a:t>a and d name a topic. b reports two true numbers and leaves the reader to find the point. c says what is true and what to do about it, so a reader can act on the title alone. Barbara Minto's Pyramid Principle, a book on business writing, puts the single point first and the support beneath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slide carries four parts, in this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lets one slide carry a decision?</a:t>
            </a:r>
          </a:p>
        </p:txBody>
      </p:sp>
      <p:pic>
        <p:nvPicPr>
          <p:cNvPr id="9" name="mermaid diagram" descr="f2908926c4d4ae59.png"/>
          <p:cNvPicPr>
            <a:picLocks noChangeAspect="1"/>
          </p:cNvPicPr>
          <p:nvPr/>
        </p:nvPicPr>
        <p:blipFill>
          <a:blip r:embed="rId5"/>
          <a:stretch>
            <a:fillRect/>
          </a:stretch>
        </p:blipFill>
        <p:spPr>
          <a:xfrm>
            <a:off x="530352" y="1956816"/>
            <a:ext cx="11130991" cy="1805825"/>
          </a:xfrm>
          <a:prstGeom prst="rect">
            <a:avLst/>
          </a:prstGeom>
        </p:spPr>
      </p:pic>
      <p:sp>
        <p:nvSpPr>
          <p:cNvPr id="10" name="Rounded Rectangle 9"/>
          <p:cNvSpPr/>
          <p:nvPr/>
        </p:nvSpPr>
        <p:spPr>
          <a:xfrm>
            <a:off x="530352" y="390894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696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7817"/>
            <a:ext cx="10564063" cy="891540"/>
          </a:xfrm>
          <a:prstGeom prst="rect">
            <a:avLst/>
          </a:prstGeom>
          <a:noFill/>
        </p:spPr>
        <p:txBody>
          <a:bodyPr wrap="square" anchor="ctr" lIns="0" rIns="0" tIns="0" bIns="0">
            <a:spAutoFit/>
          </a:bodyPr>
          <a:lstStyle/>
          <a:p>
            <a:r>
              <a:rPr sz="1500" b="1">
                <a:solidFill>
                  <a:srgbClr val="5B3FD6"/>
                </a:solidFill>
                <a:latin typeface="Calibri"/>
              </a:rPr>
              <a:t>The order is the point. </a:t>
            </a:r>
            <a:r>
              <a:rPr sz="1500" b="0" i="0">
                <a:solidFill>
                  <a:srgbClr val="1A1440"/>
                </a:solidFill>
                <a:latin typeface="Calibri"/>
              </a:rPr>
              <a:t>Put the claim first: a slide that opens on its evidence makes the reader guess the point, and a caveat hidden in the appendix hands the person it affects a reason to call the slide dishonest.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A arrived with nine numbers and no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 city head meant to do with this slide?</a:t>
            </a:r>
          </a:p>
        </p:txBody>
      </p:sp>
      <p:pic>
        <p:nvPicPr>
          <p:cNvPr id="9" name="mermaid diagram" descr="C2_W04_D02_cluttered_slide_STUDENT.png"/>
          <p:cNvPicPr>
            <a:picLocks noChangeAspect="1"/>
          </p:cNvPicPr>
          <p:nvPr/>
        </p:nvPicPr>
        <p:blipFill>
          <a:blip r:embed="rId4"/>
          <a:stretch>
            <a:fillRect/>
          </a:stretch>
        </p:blipFill>
        <p:spPr>
          <a:xfrm>
            <a:off x="3259305" y="1664208"/>
            <a:ext cx="567308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as the operations analyst sent it</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Nine numbers from Monday's dashboard, each given the same weight, under a title that names a topic.</a:t>
            </a:r>
            <a:r>
              <a:rPr sz="1600" b="0" i="0">
                <a:solidFill>
                  <a:srgbClr val="1A1440"/>
                </a:solidFill>
                <a:latin typeface="Calibri"/>
              </a:rPr>
              <a:t> The reader cannot tell which number matters, and the first number the eye meets is the one Monday showed to be the wrong one to celebrate.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6" name="Oval 1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two of the nine numbers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slide may keep only two numbers, which two make the case?</a:t>
            </a:r>
          </a:p>
        </p:txBody>
      </p:sp>
      <p:sp>
        <p:nvSpPr>
          <p:cNvPr id="9" name="TextBox 8"/>
          <p:cNvSpPr txBox="1"/>
          <p:nvPr/>
        </p:nvSpPr>
        <p:spPr>
          <a:xfrm>
            <a:off x="530352" y="1956816"/>
            <a:ext cx="11130991" cy="259283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+24 percent and completed peak trips +3 percent</a:t>
            </a:r>
          </a:p>
          <a:p>
            <a:pPr>
              <a:spcAft>
                <a:spcPts val="800"/>
              </a:spcAft>
            </a:pPr>
            <a:r>
              <a:rPr sz="1600" b="0" i="0">
                <a:solidFill>
                  <a:srgbClr val="1A1440"/>
                </a:solidFill>
                <a:latin typeface="Calibri"/>
              </a:rPr>
              <a:t>b) Trips per peak online hour 1.90 to 1.58 and top-up to low acceptance 61 percent</a:t>
            </a:r>
          </a:p>
          <a:p>
            <a:pPr>
              <a:spcAft>
                <a:spcPts val="800"/>
              </a:spcAft>
            </a:pPr>
            <a:r>
              <a:rPr sz="1600" b="0" i="0">
                <a:solidFill>
                  <a:srgbClr val="1A1440"/>
                </a:solidFill>
                <a:latin typeface="Calibri"/>
              </a:rPr>
              <a:t>c) Median rider wait 4.8 to 4.6 minutes and new drivers since launch 140</a:t>
            </a:r>
          </a:p>
          <a:p>
            <a:pPr>
              <a:spcAft>
                <a:spcPts val="800"/>
              </a:spcAft>
            </a:pPr>
            <a:r>
              <a:rPr sz="1600" b="0" i="0">
                <a:solidFill>
                  <a:srgbClr val="1A1440"/>
                </a:solidFill>
                <a:latin typeface="Calibri"/>
              </a:rPr>
              <a:t>d) Acceptance share 86 to 73 percent and top-up paid Rs 1.9 crore</a:t>
            </a:r>
          </a:p>
          <a:p>
            <a:pPr>
              <a:spcAft>
                <a:spcPts val="800"/>
              </a:spcAft>
            </a:pPr>
            <a:r>
              <a:rPr sz="1600" b="0" i="0">
                <a:solidFill>
                  <a:srgbClr val="1A1440"/>
                </a:solidFill>
                <a:latin typeface="Calibri"/>
              </a:rPr>
              <a:t>The </a:t>
            </a:r>
            <a:r>
              <a:rPr sz="1600" b="1" i="0">
                <a:solidFill>
                  <a:srgbClr val="1A1440"/>
                </a:solidFill>
                <a:latin typeface="Calibri"/>
              </a:rPr>
              <a:t>acceptance share</a:t>
            </a:r>
            <a:r>
              <a:rPr sz="1600" b="0" i="0">
                <a:solidFill>
                  <a:srgbClr val="1A1440"/>
                </a:solidFill>
                <a:latin typeface="Calibri"/>
              </a:rPr>
              <a:t> is requests a driver accepted over requests offered to them. </a:t>
            </a:r>
            <a:r>
              <a:rPr sz="1600" b="1" i="0">
                <a:solidFill>
                  <a:srgbClr val="1A1440"/>
                </a:solidFill>
                <a:latin typeface="Calibri"/>
              </a:rPr>
              <a:t>Low acceptance</a:t>
            </a:r>
            <a:r>
              <a:rPr sz="1600" b="0" i="0">
                <a:solidFill>
                  <a:srgbClr val="1A1440"/>
                </a:solidFill>
                <a:latin typeface="Calibri"/>
              </a:rPr>
              <a:t> means a driver-week that accepted fewer than half the requests offered: after the launch, these are the idle tail's weeks.</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slide A rebuilt to one claim and its evidence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slide become when it keeps one claim, one number and its denominator?</a:t>
            </a:r>
          </a:p>
        </p:txBody>
      </p:sp>
      <p:pic>
        <p:nvPicPr>
          <p:cNvPr id="9" name="mermaid diagram" descr="C2_W04_D02_cleared_slide_STUDENT.png"/>
          <p:cNvPicPr>
            <a:picLocks noChangeAspect="1"/>
          </p:cNvPicPr>
          <p:nvPr/>
        </p:nvPicPr>
        <p:blipFill>
          <a:blip r:embed="rId4"/>
          <a:stretch>
            <a:fillRect/>
          </a:stretch>
        </p:blipFill>
        <p:spPr>
          <a:xfrm>
            <a:off x="2585686" y="1664208"/>
            <a:ext cx="7020321" cy="3378200"/>
          </a:xfrm>
          <a:prstGeom prst="rect">
            <a:avLst/>
          </a:prstGeom>
        </p:spPr>
      </p:pic>
      <p:sp>
        <p:nvSpPr>
          <p:cNvPr id="10" name="picture caption"/>
          <p:cNvSpPr txBox="1"/>
          <p:nvPr/>
        </p:nvSpPr>
        <p:spPr>
          <a:xfrm>
            <a:off x="530352" y="50789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rebuilt, the four parts numbered</a:t>
            </a:r>
          </a:p>
        </p:txBody>
      </p:sp>
      <p:sp>
        <p:nvSpPr>
          <p:cNvPr id="11" name="Rounded Rectangle 10"/>
          <p:cNvSpPr/>
          <p:nvPr/>
        </p:nvSpPr>
        <p:spPr>
          <a:xfrm>
            <a:off x="530352" y="5405120"/>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533136"/>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523992"/>
            <a:ext cx="10564063" cy="447040"/>
          </a:xfrm>
          <a:prstGeom prst="rect">
            <a:avLst/>
          </a:prstGeom>
          <a:noFill/>
        </p:spPr>
        <p:txBody>
          <a:bodyPr wrap="square" anchor="ctr" lIns="0" rIns="0" tIns="0" bIns="0">
            <a:spAutoFit/>
          </a:bodyPr>
          <a:lstStyle/>
          <a:p>
            <a:r>
              <a:rPr sz="1000" b="1">
                <a:solidFill>
                  <a:srgbClr val="5B3FD6"/>
                </a:solidFill>
                <a:latin typeface="Calibri"/>
              </a:rPr>
              <a:t>The answer is b. </a:t>
            </a:r>
            <a:r>
              <a:rPr sz="1000" b="0" i="0">
                <a:solidFill>
                  <a:srgbClr val="1A1440"/>
                </a:solidFill>
                <a:latin typeface="Calibri"/>
              </a:rPr>
              <a:t>Trips per online hour falling at a flat fare is bookings per online hour falling, Rs 314 to Rs 260: that is the chart. The 61 percent, the one number beside it, says where the top-up went. Option a is Monday's trap resold: online hours rose 24 percent while riders barely gained.</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8" name="Oval 1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B: nine numbers from finance's tab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finance's slide carry, and which number proves it?</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5754344"/>
                <a:gridCol w="2688323"/>
                <a:gridCol w="2688323"/>
              </a:tblGrid>
              <a:tr h="335280">
                <a:tc>
                  <a:txBody>
                    <a:bodyPr/>
                    <a:lstStyle/>
                    <a:p>
                      <a:r>
                        <a:rPr sz="1250" b="1" i="0">
                          <a:solidFill>
                            <a:srgbClr val="FFFFFF"/>
                          </a:solidFill>
                          <a:latin typeface="Calibri"/>
                        </a:rPr>
                        <a:t>Finance's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Gross peak bookings</a:t>
                      </a:r>
                    </a:p>
                  </a:txBody>
                  <a:tcPr marL="101600" marR="101600" marT="38100" marB="38100" anchor="ctr">
                    <a:solidFill>
                      <a:srgbClr val="FFFFFF"/>
                    </a:solidFill>
                  </a:tcPr>
                </a:tc>
                <a:tc>
                  <a:txBody>
                    <a:bodyPr/>
                    <a:lstStyle/>
                    <a:p>
                      <a:r>
                        <a:rPr sz="1200" b="0" i="0">
                          <a:solidFill>
                            <a:srgbClr val="1A1440"/>
                          </a:solidFill>
                          <a:latin typeface="Calibri"/>
                        </a:rPr>
                        <a:t>Rs 3.70 crore</a:t>
                      </a:r>
                    </a:p>
                  </a:txBody>
                  <a:tcPr marL="101600" marR="101600" marT="38100" marB="38100" anchor="ctr">
                    <a:solidFill>
                      <a:srgbClr val="FFFFFF"/>
                    </a:solidFill>
                  </a:tcPr>
                </a:tc>
                <a:tc>
                  <a:txBody>
                    <a:bodyPr/>
                    <a:lstStyle/>
                    <a:p>
                      <a:r>
                        <a:rPr sz="1200" b="0" i="0">
                          <a:solidFill>
                            <a:srgbClr val="1A1440"/>
                          </a:solidFill>
                          <a:latin typeface="Calibri"/>
                        </a:rPr>
                        <a:t>Rs 3.81 crore</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online hour</a:t>
                      </a:r>
                    </a:p>
                  </a:txBody>
                  <a:tcPr marL="101600" marR="101600" marT="38100" marB="38100" anchor="ctr">
                    <a:solidFill>
                      <a:srgbClr val="F4F2FA"/>
                    </a:solidFill>
                  </a:tcPr>
                </a:tc>
                <a:tc>
                  <a:txBody>
                    <a:bodyPr/>
                    <a:lstStyle/>
                    <a:p>
                      <a:r>
                        <a:rPr sz="1200" b="0" i="0">
                          <a:solidFill>
                            <a:srgbClr val="1A1440"/>
                          </a:solidFill>
                          <a:latin typeface="Calibri"/>
                        </a:rPr>
                        <a:t>Rs 314</a:t>
                      </a:r>
                    </a:p>
                  </a:txBody>
                  <a:tcPr marL="101600" marR="101600" marT="38100" marB="38100" anchor="ctr">
                    <a:solidFill>
                      <a:srgbClr val="F4F2FA"/>
                    </a:solidFill>
                  </a:tcPr>
                </a:tc>
                <a:tc>
                  <a:txBody>
                    <a:bodyPr/>
                    <a:lstStyle/>
                    <a:p>
                      <a:r>
                        <a:rPr sz="1200" b="0" i="0">
                          <a:solidFill>
                            <a:srgbClr val="1A1440"/>
                          </a:solidFill>
                          <a:latin typeface="Calibri"/>
                        </a:rPr>
                        <a:t>Rs 260</a:t>
                      </a:r>
                    </a:p>
                  </a:txBody>
                  <a:tcPr marL="101600" marR="101600" marT="38100" marB="38100" anchor="ctr">
                    <a:solidFill>
                      <a:srgbClr val="F4F2FA"/>
                    </a:solidFill>
                  </a:tcPr>
                </a:tc>
              </a:tr>
              <a:tr h="335280">
                <a:tc>
                  <a:txBody>
                    <a:bodyPr/>
                    <a:lstStyle/>
                    <a:p>
                      <a:r>
                        <a:rPr sz="1200" b="0" i="0">
                          <a:solidFill>
                            <a:srgbClr val="1A1440"/>
                          </a:solidFill>
                          <a:latin typeface="Calibri"/>
                        </a:rPr>
                        <a:t>Bookings per active driver-week</a:t>
                      </a:r>
                    </a:p>
                  </a:txBody>
                  <a:tcPr marL="101600" marR="101600" marT="38100" marB="38100" anchor="ctr">
                    <a:solidFill>
                      <a:srgbClr val="FFFFFF"/>
                    </a:solidFill>
                  </a:tcPr>
                </a:tc>
                <a:tc>
                  <a:txBody>
                    <a:bodyPr/>
                    <a:lstStyle/>
                    <a:p>
                      <a:r>
                        <a:rPr sz="1200" b="0" i="0">
                          <a:solidFill>
                            <a:srgbClr val="1A1440"/>
                          </a:solidFill>
                          <a:latin typeface="Calibri"/>
                        </a:rPr>
                        <a:t>Rs 5,817</a:t>
                      </a:r>
                    </a:p>
                  </a:txBody>
                  <a:tcPr marL="101600" marR="101600" marT="38100" marB="38100" anchor="ctr">
                    <a:solidFill>
                      <a:srgbClr val="FFFFFF"/>
                    </a:solidFill>
                  </a:tcPr>
                </a:tc>
                <a:tc>
                  <a:txBody>
                    <a:bodyPr/>
                    <a:lstStyle/>
                    <a:p>
                      <a:r>
                        <a:rPr sz="1200" b="0" i="0">
                          <a:solidFill>
                            <a:srgbClr val="1A1440"/>
                          </a:solidFill>
                          <a:latin typeface="Calibri"/>
                        </a:rPr>
                        <a:t>Rs 5,861</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trip</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r>
              <a:tr h="335280">
                <a:tc>
                  <a:txBody>
                    <a:bodyPr/>
                    <a:lstStyle/>
                    <a:p>
                      <a:r>
                        <a:rPr sz="1200" b="0" i="0">
                          <a:solidFill>
                            <a:srgbClr val="1A1440"/>
                          </a:solidFill>
                          <a:latin typeface="Calibri"/>
                        </a:rPr>
                        <a:t>Top-up paid</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Rs 1.9 crore</a:t>
                      </a:r>
                    </a:p>
                  </a:txBody>
                  <a:tcPr marL="101600" marR="101600" marT="38100" marB="38100" anchor="ctr">
                    <a:solidFill>
                      <a:srgbClr val="FFFFFF"/>
                    </a:solidFill>
                  </a:tcPr>
                </a:tc>
              </a:tr>
              <a:tr h="335280">
                <a:tc>
                  <a:txBody>
                    <a:bodyPr/>
                    <a:lstStyle/>
                    <a:p>
                      <a:r>
                        <a:rPr sz="1200" b="0" i="0">
                          <a:solidFill>
                            <a:srgbClr val="1A1440"/>
                          </a:solidFill>
                          <a:latin typeface="Calibri"/>
                        </a:rPr>
                        <a:t>Top-up per completed trip</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82.3</a:t>
                      </a:r>
                    </a:p>
                  </a:txBody>
                  <a:tcPr marL="101600" marR="101600" marT="38100" marB="38100" anchor="ctr">
                    <a:solidFill>
                      <a:srgbClr val="F4F2FA"/>
                    </a:solidFill>
                  </a:tcPr>
                </a:tc>
              </a:tr>
              <a:tr h="335280">
                <a:tc>
                  <a:txBody>
                    <a:bodyPr/>
                    <a:lstStyle/>
                    <a:p>
                      <a:r>
                        <a:rPr sz="1200" b="0" i="0">
                          <a:solidFill>
                            <a:srgbClr val="1A1440"/>
                          </a:solidFill>
                          <a:latin typeface="Calibri"/>
                        </a:rPr>
                        <a:t>Top-up to low acceptance</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Rs 1.16 crore</a:t>
                      </a:r>
                    </a:p>
                  </a:txBody>
                  <a:tcPr marL="101600" marR="101600" marT="38100" marB="38100" anchor="ctr">
                    <a:solidFill>
                      <a:srgbClr val="FFFFFF"/>
                    </a:solidFill>
                  </a:tcPr>
                </a:tc>
              </a:tr>
              <a:tr h="335280">
                <a:tc>
                  <a:txBody>
                    <a:bodyPr/>
                    <a:lstStyle/>
                    <a:p>
                      <a:r>
                        <a:rPr sz="1200" b="0" i="0">
                          <a:solidFill>
                            <a:srgbClr val="1A1440"/>
                          </a:solidFill>
                          <a:latin typeface="Calibri"/>
                        </a:rPr>
                        <a:t>Top-up to everyone else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74 lakh</a:t>
                      </a:r>
                    </a:p>
                  </a:txBody>
                  <a:tcPr marL="101600" marR="101600" marT="38100" marB="38100" anchor="ctr">
                    <a:solidFill>
                      <a:srgbClr val="F4F2FA"/>
                    </a:solidFill>
                  </a:tcPr>
                </a:tc>
              </a:tr>
              <a:tr h="335280">
                <a:tc>
                  <a:txBody>
                    <a:bodyPr/>
                    <a:lstStyle/>
                    <a:p>
                      <a:r>
                        <a:rPr sz="1200" b="0" i="0">
                          <a:solidFill>
                            <a:srgbClr val="1A1440"/>
                          </a:solidFill>
                          <a:latin typeface="Calibri"/>
                        </a:rPr>
                        <a:t>Rider requests</a:t>
                      </a:r>
                    </a:p>
                  </a:txBody>
                  <a:tcPr marL="101600" marR="101600" marT="38100" marB="38100" anchor="ctr">
                    <a:solidFill>
                      <a:srgbClr val="FFFFFF"/>
                    </a:solidFill>
                  </a:tcPr>
                </a:tc>
                <a:tc>
                  <a:txBody>
                    <a:bodyPr/>
                    <a:lstStyle/>
                    <a:p>
                      <a:r>
                        <a:rPr sz="1200" b="0" i="0">
                          <a:solidFill>
                            <a:srgbClr val="1A1440"/>
                          </a:solidFill>
                          <a:latin typeface="Calibri"/>
                        </a:rPr>
                        <a:t>251,910</a:t>
                      </a:r>
                    </a:p>
                  </a:txBody>
                  <a:tcPr marL="101600" marR="101600" marT="38100" marB="38100" anchor="ctr">
                    <a:solidFill>
                      <a:srgbClr val="FFFFFF"/>
                    </a:solidFill>
                  </a:tcPr>
                </a:tc>
                <a:tc>
                  <a:txBody>
                    <a:bodyPr/>
                    <a:lstStyle/>
                    <a:p>
                      <a:r>
                        <a:rPr sz="1200" b="0" i="0">
                          <a:solidFill>
                            <a:srgbClr val="1A1440"/>
                          </a:solidFill>
                          <a:latin typeface="Calibri"/>
                        </a:rPr>
                        <a:t>256,556</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Half worked. </a:t>
            </a:r>
            <a:r>
              <a:rPr sz="1300" b="0" i="0">
                <a:solidFill>
                  <a:srgbClr val="1A1440"/>
                </a:solidFill>
                <a:latin typeface="Calibri"/>
              </a:rPr>
              <a:t>The claim is drafted for you: "Most of the top-up went to driver-weeks that accepted fewer than half their offers." Choose the one number that proves it, and keep the monsoon caveat beside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C: nine numbers from driver operations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driver operations' slide carry, in a sentence of your own?</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7049047"/>
                <a:gridCol w="1707100"/>
                <a:gridCol w="2374843"/>
              </a:tblGrid>
              <a:tr h="335280">
                <a:tc>
                  <a:txBody>
                    <a:bodyPr/>
                    <a:lstStyle/>
                    <a:p>
                      <a:r>
                        <a:rPr sz="1250" b="1" i="0">
                          <a:solidFill>
                            <a:srgbClr val="FFFFFF"/>
                          </a:solidFill>
                          <a:latin typeface="Calibri"/>
                        </a:rPr>
                        <a:t>Driver operations'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Drivers</a:t>
                      </a:r>
                    </a:p>
                  </a:txBody>
                  <a:tcPr marL="101600" marR="101600" marT="38100" marB="38100" anchor="ctr">
                    <a:solidFill>
                      <a:srgbClr val="FFFFFF"/>
                    </a:solidFill>
                  </a:tcPr>
                </a:tc>
                <a:tc>
                  <a:txBody>
                    <a:bodyPr/>
                    <a:lstStyle/>
                    <a:p>
                      <a:r>
                        <a:rPr sz="1200" b="0" i="0">
                          <a:solidFill>
                            <a:srgbClr val="1A1440"/>
                          </a:solidFill>
                          <a:latin typeface="Calibri"/>
                        </a:rPr>
                        <a:t>1,060</a:t>
                      </a:r>
                    </a:p>
                  </a:txBody>
                  <a:tcPr marL="101600" marR="101600" marT="38100" marB="38100" anchor="ctr">
                    <a:solidFill>
                      <a:srgbClr val="FFFFFF"/>
                    </a:solidFill>
                  </a:tcPr>
                </a:tc>
                <a:tc>
                  <a:txBody>
                    <a:bodyPr/>
                    <a:lstStyle/>
                    <a:p>
                      <a:r>
                        <a:rPr sz="1200" b="0" i="0">
                          <a:solidFill>
                            <a:srgbClr val="1A1440"/>
                          </a:solidFill>
                          <a:latin typeface="Calibri"/>
                        </a:rPr>
                        <a:t>1,200 (140 new)</a:t>
                      </a:r>
                    </a:p>
                  </a:txBody>
                  <a:tcPr marL="101600" marR="101600" marT="38100" marB="38100" anchor="ctr">
                    <a:solidFill>
                      <a:srgbClr val="FFFFFF"/>
                    </a:solidFill>
                  </a:tcPr>
                </a:tc>
              </a:tr>
              <a:tr h="335280">
                <a:tc>
                  <a:txBody>
                    <a:bodyPr/>
                    <a:lstStyle/>
                    <a:p>
                      <a:r>
                        <a:rPr sz="1200" b="0" i="0">
                          <a:solidFill>
                            <a:srgbClr val="1A1440"/>
                          </a:solidFill>
                          <a:latin typeface="Calibri"/>
                        </a:rPr>
                        <a:t>Active driver-weeks</a:t>
                      </a:r>
                    </a:p>
                  </a:txBody>
                  <a:tcPr marL="101600" marR="101600" marT="38100" marB="38100" anchor="ctr">
                    <a:solidFill>
                      <a:srgbClr val="F4F2FA"/>
                    </a:solidFill>
                  </a:tcPr>
                </a:tc>
                <a:tc>
                  <a:txBody>
                    <a:bodyPr/>
                    <a:lstStyle/>
                    <a:p>
                      <a:r>
                        <a:rPr sz="1200" b="0" i="0">
                          <a:solidFill>
                            <a:srgbClr val="1A1440"/>
                          </a:solidFill>
                          <a:latin typeface="Calibri"/>
                        </a:rPr>
                        <a:t>6,360</a:t>
                      </a:r>
                    </a:p>
                  </a:txBody>
                  <a:tcPr marL="101600" marR="101600" marT="38100" marB="38100" anchor="ctr">
                    <a:solidFill>
                      <a:srgbClr val="F4F2FA"/>
                    </a:solidFill>
                  </a:tcPr>
                </a:tc>
                <a:tc>
                  <a:txBody>
                    <a:bodyPr/>
                    <a:lstStyle/>
                    <a:p>
                      <a:r>
                        <a:rPr sz="1200" b="0" i="0">
                          <a:solidFill>
                            <a:srgbClr val="1A1440"/>
                          </a:solidFill>
                          <a:latin typeface="Calibri"/>
                        </a:rPr>
                        <a:t>6,500</a:t>
                      </a:r>
                    </a:p>
                  </a:txBody>
                  <a:tcPr marL="101600" marR="101600" marT="38100" marB="38100" anchor="ctr">
                    <a:solidFill>
                      <a:srgbClr val="F4F2FA"/>
                    </a:solidFill>
                  </a:tcPr>
                </a:tc>
              </a:tr>
              <a:tr h="335280">
                <a:tc>
                  <a:txBody>
                    <a:bodyPr/>
                    <a:lstStyle/>
                    <a:p>
                      <a:r>
                        <a:rPr sz="1200" b="0" i="0">
                          <a:solidFill>
                            <a:srgbClr val="1A1440"/>
                          </a:solidFill>
                          <a:latin typeface="Calibri"/>
                        </a:rPr>
                        <a:t>Offers shown (a declined request is offered again)</a:t>
                      </a:r>
                    </a:p>
                  </a:txBody>
                  <a:tcPr marL="101600" marR="101600" marT="38100" marB="38100" anchor="ctr">
                    <a:solidFill>
                      <a:srgbClr val="FFFFFF"/>
                    </a:solidFill>
                  </a:tcPr>
                </a:tc>
                <a:tc>
                  <a:txBody>
                    <a:bodyPr/>
                    <a:lstStyle/>
                    <a:p>
                      <a:r>
                        <a:rPr sz="1200" b="0" i="0">
                          <a:solidFill>
                            <a:srgbClr val="1A1440"/>
                          </a:solidFill>
                          <a:latin typeface="Calibri"/>
                        </a:rPr>
                        <a:t>269,773</a:t>
                      </a:r>
                    </a:p>
                  </a:txBody>
                  <a:tcPr marL="101600" marR="101600" marT="38100" marB="38100" anchor="ctr">
                    <a:solidFill>
                      <a:srgbClr val="FFFFFF"/>
                    </a:solidFill>
                  </a:tcPr>
                </a:tc>
                <a:tc>
                  <a:txBody>
                    <a:bodyPr/>
                    <a:lstStyle/>
                    <a:p>
                      <a:r>
                        <a:rPr sz="1200" b="0" i="0">
                          <a:solidFill>
                            <a:srgbClr val="1A1440"/>
                          </a:solidFill>
                          <a:latin typeface="Calibri"/>
                        </a:rPr>
                        <a:t>347,583</a:t>
                      </a:r>
                    </a:p>
                  </a:txBody>
                  <a:tcPr marL="101600" marR="101600" marT="38100" marB="38100" anchor="ctr">
                    <a:solidFill>
                      <a:srgbClr val="FFFFFF"/>
                    </a:solidFill>
                  </a:tcPr>
                </a:tc>
              </a:tr>
              <a:tr h="335280">
                <a:tc>
                  <a:txBody>
                    <a:bodyPr/>
                    <a:lstStyle/>
                    <a:p>
                      <a:r>
                        <a:rPr sz="1200" b="0" i="0">
                          <a:solidFill>
                            <a:srgbClr val="1A1440"/>
                          </a:solidFill>
                          <a:latin typeface="Calibri"/>
                        </a:rPr>
                        <a:t>Acceptance share</a:t>
                      </a:r>
                    </a:p>
                  </a:txBody>
                  <a:tcPr marL="101600" marR="101600" marT="38100" marB="38100" anchor="ctr">
                    <a:solidFill>
                      <a:srgbClr val="F4F2FA"/>
                    </a:solidFill>
                  </a:tcPr>
                </a:tc>
                <a:tc>
                  <a:txBody>
                    <a:bodyPr/>
                    <a:lstStyle/>
                    <a:p>
                      <a:r>
                        <a:rPr sz="1200" b="0" i="0">
                          <a:solidFill>
                            <a:srgbClr val="1A1440"/>
                          </a:solidFill>
                          <a:latin typeface="Calibri"/>
                        </a:rPr>
                        <a:t>86 percent</a:t>
                      </a:r>
                    </a:p>
                  </a:txBody>
                  <a:tcPr marL="101600" marR="101600" marT="38100" marB="38100" anchor="ctr">
                    <a:solidFill>
                      <a:srgbClr val="F4F2FA"/>
                    </a:solidFill>
                  </a:tcPr>
                </a:tc>
                <a:tc>
                  <a:txBody>
                    <a:bodyPr/>
                    <a:lstStyle/>
                    <a:p>
                      <a:r>
                        <a:rPr sz="1200" b="0" i="0">
                          <a:solidFill>
                            <a:srgbClr val="1A1440"/>
                          </a:solidFill>
                          <a:latin typeface="Calibri"/>
                        </a:rPr>
                        <a:t>73 percent</a:t>
                      </a:r>
                    </a:p>
                  </a:txBody>
                  <a:tcPr marL="101600" marR="101600" marT="38100" marB="38100" anchor="ctr">
                    <a:solidFill>
                      <a:srgbClr val="F4F2FA"/>
                    </a:solidFill>
                  </a:tcPr>
                </a:tc>
              </a:tr>
              <a:tr h="335280">
                <a:tc>
                  <a:txBody>
                    <a:bodyPr/>
                    <a:lstStyle/>
                    <a:p>
                      <a:r>
                        <a:rPr sz="1200" b="0" i="0">
                          <a:solidFill>
                            <a:srgbClr val="1A1440"/>
                          </a:solidFill>
                          <a:latin typeface="Calibri"/>
                        </a:rPr>
                        <a:t>Driver cancels after accepting</a:t>
                      </a:r>
                    </a:p>
                  </a:txBody>
                  <a:tcPr marL="101600" marR="101600" marT="38100" marB="38100" anchor="ctr">
                    <a:solidFill>
                      <a:srgbClr val="FFFFFF"/>
                    </a:solidFill>
                  </a:tcPr>
                </a:tc>
                <a:tc>
                  <a:txBody>
                    <a:bodyPr/>
                    <a:lstStyle/>
                    <a:p>
                      <a:r>
                        <a:rPr sz="1200" b="0" i="0">
                          <a:solidFill>
                            <a:srgbClr val="1A1440"/>
                          </a:solidFill>
                          <a:latin typeface="Calibri"/>
                        </a:rPr>
                        <a:t>4 percent</a:t>
                      </a:r>
                    </a:p>
                  </a:txBody>
                  <a:tcPr marL="101600" marR="101600" marT="38100" marB="38100" anchor="ctr">
                    <a:solidFill>
                      <a:srgbClr val="FFFFFF"/>
                    </a:solidFill>
                  </a:tcPr>
                </a:tc>
                <a:tc>
                  <a:txBody>
                    <a:bodyPr/>
                    <a:lstStyle/>
                    <a:p>
                      <a:r>
                        <a:rPr sz="1200" b="0" i="0">
                          <a:solidFill>
                            <a:srgbClr val="1A1440"/>
                          </a:solidFill>
                          <a:latin typeface="Calibri"/>
                        </a:rPr>
                        <a:t>9 percent</a:t>
                      </a:r>
                    </a:p>
                  </a:txBody>
                  <a:tcPr marL="101600" marR="101600" marT="38100" marB="38100" anchor="ctr">
                    <a:solidFill>
                      <a:srgbClr val="FFFFFF"/>
                    </a:solidFill>
                  </a:tcPr>
                </a:tc>
              </a:tr>
              <a:tr h="335280">
                <a:tc>
                  <a:txBody>
                    <a:bodyPr/>
                    <a:lstStyle/>
                    <a:p>
                      <a:r>
                        <a:rPr sz="1200" b="0" i="0">
                          <a:solidFill>
                            <a:srgbClr val="1A1440"/>
                          </a:solidFill>
                          <a:latin typeface="Calibri"/>
                        </a:rPr>
                        <a:t>Drivers in the idle tail</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180</a:t>
                      </a:r>
                    </a:p>
                  </a:txBody>
                  <a:tcPr marL="101600" marR="101600" marT="38100" marB="38100" anchor="ctr">
                    <a:solidFill>
                      <a:srgbClr val="F4F2FA"/>
                    </a:solidFill>
                  </a:tcPr>
                </a:tc>
              </a:tr>
              <a:tr h="335280">
                <a:tc>
                  <a:txBody>
                    <a:bodyPr/>
                    <a:lstStyle/>
                    <a:p>
                      <a:r>
                        <a:rPr sz="1200" b="0" i="0">
                          <a:solidFill>
                            <a:srgbClr val="1A1440"/>
                          </a:solidFill>
                          <a:latin typeface="Calibri"/>
                        </a:rPr>
                        <a:t>Idle-tail online hours</a:t>
                      </a:r>
                    </a:p>
                  </a:txBody>
                  <a:tcPr marL="101600" marR="101600" marT="38100" marB="38100" anchor="ctr">
                    <a:solidFill>
                      <a:srgbClr val="FFFFFF"/>
                    </a:solidFill>
                  </a:tcPr>
                </a:tc>
                <a:tc>
                  <a:txBody>
                    <a:bodyPr/>
                    <a:lstStyle/>
                    <a:p>
                      <a:r>
                        <a:rPr sz="1200" b="0" i="0">
                          <a:solidFill>
                            <a:srgbClr val="1A1440"/>
                          </a:solidFill>
                          <a:latin typeface="Calibri"/>
                        </a:rPr>
                        <a:t>20,000</a:t>
                      </a:r>
                    </a:p>
                  </a:txBody>
                  <a:tcPr marL="101600" marR="101600" marT="38100" marB="38100" anchor="ctr">
                    <a:solidFill>
                      <a:srgbClr val="FFFFFF"/>
                    </a:solidFill>
                  </a:tcPr>
                </a:tc>
                <a:tc>
                  <a:txBody>
                    <a:bodyPr/>
                    <a:lstStyle/>
                    <a:p>
                      <a:r>
                        <a:rPr sz="1200" b="0" i="0">
                          <a:solidFill>
                            <a:srgbClr val="1A1440"/>
                          </a:solidFill>
                          <a:latin typeface="Calibri"/>
                        </a:rPr>
                        <a:t>42,000</a:t>
                      </a:r>
                    </a:p>
                  </a:txBody>
                  <a:tcPr marL="101600" marR="101600" marT="38100" marB="38100" anchor="ctr">
                    <a:solidFill>
                      <a:srgbClr val="FFFFFF"/>
                    </a:solidFill>
                  </a:tcPr>
                </a:tc>
              </a:tr>
              <a:tr h="335280">
                <a:tc>
                  <a:txBody>
                    <a:bodyPr/>
                    <a:lstStyle/>
                    <a:p>
                      <a:r>
                        <a:rPr sz="1200" b="0" i="0">
                          <a:solidFill>
                            <a:srgbClr val="1A1440"/>
                          </a:solidFill>
                          <a:latin typeface="Calibri"/>
                        </a:rPr>
                        <a:t>Idle-tail trips</a:t>
                      </a:r>
                    </a:p>
                  </a:txBody>
                  <a:tcPr marL="101600" marR="101600" marT="38100" marB="38100" anchor="ctr">
                    <a:solidFill>
                      <a:srgbClr val="F4F2FA"/>
                    </a:solidFill>
                  </a:tcPr>
                </a:tc>
                <a:tc>
                  <a:txBody>
                    <a:bodyPr/>
                    <a:lstStyle/>
                    <a:p>
                      <a:r>
                        <a:rPr sz="1200" b="0" i="0">
                          <a:solidFill>
                            <a:srgbClr val="1A1440"/>
                          </a:solidFill>
                          <a:latin typeface="Calibri"/>
                        </a:rPr>
                        <a:t>38,000</a:t>
                      </a:r>
                    </a:p>
                  </a:txBody>
                  <a:tcPr marL="101600" marR="101600" marT="38100" marB="38100" anchor="ctr">
                    <a:solidFill>
                      <a:srgbClr val="F4F2FA"/>
                    </a:solidFill>
                  </a:tcPr>
                </a:tc>
                <a:tc>
                  <a:txBody>
                    <a:bodyPr/>
                    <a:lstStyle/>
                    <a:p>
                      <a:r>
                        <a:rPr sz="1200" b="0" i="0">
                          <a:solidFill>
                            <a:srgbClr val="1A1440"/>
                          </a:solidFill>
                          <a:latin typeface="Calibri"/>
                        </a:rPr>
                        <a:t>33,440</a:t>
                      </a:r>
                    </a:p>
                  </a:txBody>
                  <a:tcPr marL="101600" marR="101600" marT="38100" marB="38100" anchor="ctr">
                    <a:solidFill>
                      <a:srgbClr val="F4F2FA"/>
                    </a:solidFill>
                  </a:tcPr>
                </a:tc>
              </a:tr>
              <a:tr h="335280">
                <a:tc>
                  <a:txBody>
                    <a:bodyPr/>
                    <a:lstStyle/>
                    <a:p>
                      <a:r>
                        <a:rPr sz="1200" b="0" i="0">
                          <a:solidFill>
                            <a:srgbClr val="1A1440"/>
                          </a:solidFill>
                          <a:latin typeface="Calibri"/>
                        </a:rPr>
                        <a:t>Unfulfilled requests</a:t>
                      </a:r>
                    </a:p>
                  </a:txBody>
                  <a:tcPr marL="101600" marR="101600" marT="38100" marB="38100" anchor="ctr">
                    <a:solidFill>
                      <a:srgbClr val="FFFFFF"/>
                    </a:solidFill>
                  </a:tcPr>
                </a:tc>
                <a:tc>
                  <a:txBody>
                    <a:bodyPr/>
                    <a:lstStyle/>
                    <a:p>
                      <a:r>
                        <a:rPr sz="1200" b="0" i="0">
                          <a:solidFill>
                            <a:srgbClr val="1A1440"/>
                          </a:solidFill>
                          <a:latin typeface="Calibri"/>
                        </a:rPr>
                        <a:t>11 percent</a:t>
                      </a:r>
                    </a:p>
                  </a:txBody>
                  <a:tcPr marL="101600" marR="101600" marT="38100" marB="38100" anchor="ctr">
                    <a:solidFill>
                      <a:srgbClr val="FFFFFF"/>
                    </a:solidFill>
                  </a:tcPr>
                </a:tc>
                <a:tc>
                  <a:txBody>
                    <a:bodyPr/>
                    <a:lstStyle/>
                    <a:p>
                      <a:r>
                        <a:rPr sz="1200" b="0" i="0">
                          <a:solidFill>
                            <a:srgbClr val="1A1440"/>
                          </a:solidFill>
                          <a:latin typeface="Calibri"/>
                        </a:rPr>
                        <a:t>10 percent</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Blank. </a:t>
            </a:r>
            <a:r>
              <a:rPr sz="1300" b="0" i="0">
                <a:solidFill>
                  <a:srgbClr val="1A1440"/>
                </a:solidFill>
                <a:latin typeface="Calibri"/>
              </a:rPr>
              <a:t>Write the claim yourself, keep two numbers, and name the caveat. The </a:t>
            </a:r>
            <a:r>
              <a:rPr sz="1300" b="1" i="0">
                <a:solidFill>
                  <a:srgbClr val="1A1440"/>
                </a:solidFill>
                <a:latin typeface="Calibri"/>
              </a:rPr>
              <a:t>idle tail</a:t>
            </a:r>
            <a:r>
              <a:rPr sz="1300" b="0" i="0">
                <a:solidFill>
                  <a:srgbClr val="1A1440"/>
                </a:solidFill>
                <a:latin typeface="Calibri"/>
              </a:rPr>
              <a:t> is Monday's name for the 180 drivers whose trips per online hour fell under 1.0 after the launch.</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twelve rows, read in rupees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six drivers, one week before the launch and one after, say when the denominator changes?</a:t>
            </a:r>
          </a:p>
        </p:txBody>
      </p:sp>
      <p:graphicFrame>
        <p:nvGraphicFramePr>
          <p:cNvPr id="9" name="Table 8"/>
          <p:cNvGraphicFramePr>
            <a:graphicFrameLocks noGrp="1"/>
          </p:cNvGraphicFramePr>
          <p:nvPr/>
        </p:nvGraphicFramePr>
        <p:xfrm>
          <a:off x="530352" y="1956816"/>
          <a:ext cx="11130990" cy="2682240"/>
        </p:xfrm>
        <a:graphic>
          <a:graphicData uri="http://schemas.openxmlformats.org/drawingml/2006/table">
            <a:tbl>
              <a:tblPr firstRow="0" bandRow="0">
                <a:tableStyleId>{2D5ABB26-0587-4C30-8999-92F81FD0307C}</a:tableStyleId>
              </a:tblPr>
              <a:tblGrid>
                <a:gridCol w="914400"/>
                <a:gridCol w="1425450"/>
                <a:gridCol w="1566346"/>
                <a:gridCol w="1566346"/>
                <a:gridCol w="1262878"/>
                <a:gridCol w="1566346"/>
                <a:gridCol w="1566346"/>
                <a:gridCol w="1262878"/>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10 Aug</a:t>
                      </a:r>
                    </a:p>
                  </a:txBody>
                  <a:tcPr marL="101600" marR="101600" marT="38100" marB="38100" anchor="ctr">
                    <a:solidFill>
                      <a:srgbClr val="1A0F5C"/>
                    </a:solidFill>
                  </a:tcPr>
                </a:tc>
                <a:tc>
                  <a:txBody>
                    <a:bodyPr/>
                    <a:lstStyle/>
                    <a:p>
                      <a:r>
                        <a:rPr sz="1250" b="1" i="0">
                          <a:solidFill>
                            <a:srgbClr val="FFFFFF"/>
                          </a:solidFill>
                          <a:latin typeface="Calibri"/>
                        </a:rPr>
                        <a:t>Trips, 10 Aug</a:t>
                      </a:r>
                    </a:p>
                  </a:txBody>
                  <a:tcPr marL="101600" marR="101600" marT="38100" marB="38100" anchor="ctr">
                    <a:solidFill>
                      <a:srgbClr val="1A0F5C"/>
                    </a:solidFill>
                  </a:tcPr>
                </a:tc>
                <a:tc>
                  <a:txBody>
                    <a:bodyPr/>
                    <a:lstStyle/>
                    <a:p>
                      <a:r>
                        <a:rPr sz="1250" b="1" i="0">
                          <a:solidFill>
                            <a:srgbClr val="FFFFFF"/>
                          </a:solidFill>
                          <a:latin typeface="Calibri"/>
                        </a:rPr>
                        <a:t>Rs, 10 Aug</a:t>
                      </a:r>
                    </a:p>
                  </a:txBody>
                  <a:tcPr marL="101600" marR="101600" marT="38100" marB="38100" anchor="ctr">
                    <a:solidFill>
                      <a:srgbClr val="1A0F5C"/>
                    </a:solidFill>
                  </a:tcPr>
                </a:tc>
                <a:tc>
                  <a:txBody>
                    <a:bodyPr/>
                    <a:lstStyle/>
                    <a:p>
                      <a:r>
                        <a:rPr sz="1250" b="1" i="0">
                          <a:solidFill>
                            <a:srgbClr val="FFFFFF"/>
                          </a:solidFill>
                          <a:latin typeface="Calibri"/>
                        </a:rPr>
                        <a:t>Hours, 21 Sep</a:t>
                      </a:r>
                    </a:p>
                  </a:txBody>
                  <a:tcPr marL="101600" marR="101600" marT="38100" marB="38100" anchor="ctr">
                    <a:solidFill>
                      <a:srgbClr val="1A0F5C"/>
                    </a:solidFill>
                  </a:tcPr>
                </a:tc>
                <a:tc>
                  <a:txBody>
                    <a:bodyPr/>
                    <a:lstStyle/>
                    <a:p>
                      <a:r>
                        <a:rPr sz="1250" b="1" i="0">
                          <a:solidFill>
                            <a:srgbClr val="FFFFFF"/>
                          </a:solidFill>
                          <a:latin typeface="Calibri"/>
                        </a:rPr>
                        <a:t>Trips, 21 Sep</a:t>
                      </a:r>
                    </a:p>
                  </a:txBody>
                  <a:tcPr marL="101600" marR="101600" marT="38100" marB="38100" anchor="ctr">
                    <a:solidFill>
                      <a:srgbClr val="1A0F5C"/>
                    </a:solidFill>
                  </a:tcPr>
                </a:tc>
                <a:tc>
                  <a:txBody>
                    <a:bodyPr/>
                    <a:lstStyle/>
                    <a:p>
                      <a:r>
                        <a:rPr sz="1250" b="1" i="0">
                          <a:solidFill>
                            <a:srgbClr val="FFFFFF"/>
                          </a:solidFill>
                          <a:latin typeface="Calibri"/>
                        </a:rPr>
                        <a:t>Rs, 21 Sep</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21</a:t>
                      </a:r>
                    </a:p>
                  </a:txBody>
                  <a:tcPr marL="101600" marR="101600" marT="38100" marB="38100" anchor="ctr">
                    <a:solidFill>
                      <a:srgbClr val="FFFFFF"/>
                    </a:solidFill>
                  </a:tcPr>
                </a:tc>
                <a:tc>
                  <a:txBody>
                    <a:bodyPr/>
                    <a:lstStyle/>
                    <a:p>
                      <a:r>
                        <a:rPr sz="1200" b="0" i="0">
                          <a:solidFill>
                            <a:srgbClr val="1A1440"/>
                          </a:solidFill>
                          <a:latin typeface="Calibri"/>
                        </a:rPr>
                        <a:t>3,465</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2,970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c>
                  <a:txBody>
                    <a:bodyPr/>
                    <a:lstStyle/>
                    <a:p>
                      <a:r>
                        <a:rPr sz="1200" b="0" i="0">
                          <a:solidFill>
                            <a:srgbClr val="1A1440"/>
                          </a:solidFill>
                          <a:latin typeface="Calibri"/>
                        </a:rPr>
                        <a:t>3,795</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19</a:t>
                      </a:r>
                    </a:p>
                  </a:txBody>
                  <a:tcPr marL="101600" marR="101600" marT="38100" marB="38100" anchor="ctr">
                    <a:solidFill>
                      <a:srgbClr val="F4F2FA"/>
                    </a:solidFill>
                  </a:tcPr>
                </a:tc>
                <a:tc>
                  <a:txBody>
                    <a:bodyPr/>
                    <a:lstStyle/>
                    <a:p>
                      <a:r>
                        <a:rPr sz="1200" b="0" i="0">
                          <a:solidFill>
                            <a:srgbClr val="1A1440"/>
                          </a:solidFill>
                          <a:latin typeface="Calibri"/>
                        </a:rPr>
                        <a:t>3,135</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3,300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2,970</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495</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330</a:t>
                      </a:r>
                    </a:p>
                  </a:txBody>
                  <a:tcPr marL="101600" marR="101600" marT="38100" marB="38100" anchor="ctr">
                    <a:solidFill>
                      <a:srgbClr val="F4F2FA"/>
                    </a:solidFill>
                  </a:tcPr>
                </a:tc>
              </a:tr>
              <a:tr h="335280">
                <a:tc>
                  <a:txBody>
                    <a:bodyPr/>
                    <a:lstStyle/>
                    <a:p>
                      <a:r>
                        <a:rPr sz="1200" b="1" i="0">
                          <a:solidFill>
                            <a:srgbClr val="1A1440"/>
                          </a:solidFill>
                          <a:latin typeface="Calibri"/>
                        </a:rPr>
                        <a:t>Total</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60</a:t>
                      </a:r>
                    </a:p>
                  </a:txBody>
                  <a:tcPr marL="101600" marR="101600" marT="38100" marB="38100" anchor="ctr">
                    <a:solidFill>
                      <a:srgbClr val="FFFFFF"/>
                    </a:solidFill>
                  </a:tcPr>
                </a:tc>
                <a:tc>
                  <a:txBody>
                    <a:bodyPr/>
                    <a:lstStyle/>
                    <a:p>
                      <a:r>
                        <a:rPr sz="1200" b="1" i="0">
                          <a:solidFill>
                            <a:srgbClr val="1A1440"/>
                          </a:solidFill>
                          <a:latin typeface="Calibri"/>
                        </a:rPr>
                        <a:t>114</a:t>
                      </a:r>
                    </a:p>
                  </a:txBody>
                  <a:tcPr marL="101600" marR="101600" marT="38100" marB="38100" anchor="ctr">
                    <a:solidFill>
                      <a:srgbClr val="FFFFFF"/>
                    </a:solidFill>
                  </a:tcPr>
                </a:tc>
                <a:tc>
                  <a:txBody>
                    <a:bodyPr/>
                    <a:lstStyle/>
                    <a:p>
                      <a:r>
                        <a:rPr sz="1200" b="1" i="0">
                          <a:solidFill>
                            <a:srgbClr val="1A1440"/>
                          </a:solidFill>
                          <a:latin typeface="Calibri"/>
                        </a:rPr>
                        <a:t>18,810</a:t>
                      </a:r>
                    </a:p>
                  </a:txBody>
                  <a:tcPr marL="101600" marR="101600" marT="38100" marB="38100" anchor="ctr">
                    <a:solidFill>
                      <a:srgbClr val="FFFFFF"/>
                    </a:solidFill>
                  </a:tcPr>
                </a:tc>
                <a:tc>
                  <a:txBody>
                    <a:bodyPr/>
                    <a:lstStyle/>
                    <a:p>
                      <a:r>
                        <a:rPr sz="1200" b="1" i="0">
                          <a:solidFill>
                            <a:srgbClr val="1A1440"/>
                          </a:solidFill>
                          <a:latin typeface="Calibri"/>
                        </a:rPr>
                        <a:t>74</a:t>
                      </a:r>
                    </a:p>
                  </a:txBody>
                  <a:tcPr marL="101600" marR="101600" marT="38100" marB="38100" anchor="ctr">
                    <a:solidFill>
                      <a:srgbClr val="FFFFFF"/>
                    </a:solidFill>
                  </a:tcPr>
                </a:tc>
                <a:tc>
                  <a:txBody>
                    <a:bodyPr/>
                    <a:lstStyle/>
                    <a:p>
                      <a:r>
                        <a:rPr sz="1200" b="1" i="0">
                          <a:solidFill>
                            <a:srgbClr val="1A1440"/>
                          </a:solidFill>
                          <a:latin typeface="Calibri"/>
                        </a:rPr>
                        <a:t>88</a:t>
                      </a:r>
                    </a:p>
                  </a:txBody>
                  <a:tcPr marL="101600" marR="101600" marT="38100" marB="38100" anchor="ctr">
                    <a:solidFill>
                      <a:srgbClr val="FFFFFF"/>
                    </a:solidFill>
                  </a:tcPr>
                </a:tc>
                <a:tc>
                  <a:txBody>
                    <a:bodyPr/>
                    <a:lstStyle/>
                    <a:p>
                      <a:r>
                        <a:rPr sz="1200" b="1" i="0">
                          <a:solidFill>
                            <a:srgbClr val="1A1440"/>
                          </a:solidFill>
                          <a:latin typeface="Calibri"/>
                        </a:rPr>
                        <a:t>14,520</a:t>
                      </a:r>
                    </a:p>
                  </a:txBody>
                  <a:tcPr marL="101600" marR="101600" marT="38100" marB="38100" anchor="ctr">
                    <a:solidFill>
                      <a:srgbClr val="FFFFFF"/>
                    </a:solidFill>
                  </a:tcPr>
                </a:tc>
              </a:tr>
            </a:tbl>
          </a:graphicData>
        </a:graphic>
      </p:graphicFrame>
      <p:sp>
        <p:nvSpPr>
          <p:cNvPr id="10" name="Rounded Rectangle 9"/>
          <p:cNvSpPr/>
          <p:nvPr/>
        </p:nvSpPr>
        <p:spPr>
          <a:xfrm>
            <a:off x="530352" y="48950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231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13960"/>
            <a:ext cx="10564063" cy="624840"/>
          </a:xfrm>
          <a:prstGeom prst="rect">
            <a:avLst/>
          </a:prstGeom>
          <a:noFill/>
        </p:spPr>
        <p:txBody>
          <a:bodyPr wrap="square" anchor="ctr" lIns="0" rIns="0" tIns="0" bIns="0">
            <a:spAutoFit/>
          </a:bodyPr>
          <a:lstStyle/>
          <a:p>
            <a:r>
              <a:rPr sz="1500" b="1">
                <a:solidFill>
                  <a:srgbClr val="5B3FD6"/>
                </a:solidFill>
                <a:latin typeface="Calibri"/>
              </a:rPr>
              <a:t>Per peak online hour: </a:t>
            </a:r>
            <a:r>
              <a:rPr sz="1500" b="0" i="0">
                <a:solidFill>
                  <a:srgbClr val="1A1440"/>
                </a:solidFill>
                <a:latin typeface="Calibri"/>
              </a:rPr>
              <a:t>18,810 / 60 = Rs 313.5, then 14,520 / 74 = Rs 196.2, down 37 percent. </a:t>
            </a:r>
            <a:r>
              <a:rPr sz="1500" b="1" i="0">
                <a:solidFill>
                  <a:srgbClr val="1A1440"/>
                </a:solidFill>
                <a:latin typeface="Calibri"/>
              </a:rPr>
              <a:t>Per driver-week:</a:t>
            </a:r>
            <a:r>
              <a:rPr sz="1500" b="0" i="0">
                <a:solidFill>
                  <a:srgbClr val="1A1440"/>
                </a:solidFill>
                <a:latin typeface="Calibri"/>
              </a:rPr>
              <a:t> 18,810 / 6 = Rs 3,135, then 14,520 / 6 = Rs 2,420, down 23 percent. </a:t>
            </a:r>
            <a:r>
              <a:rPr sz="1500" b="1" i="0">
                <a:solidFill>
                  <a:srgbClr val="1A1440"/>
                </a:solidFill>
                <a:latin typeface="Calibri"/>
              </a:rPr>
              <a:t>Per trip:</a:t>
            </a:r>
            <a:r>
              <a:rPr sz="1500" b="0" i="0">
                <a:solidFill>
                  <a:srgbClr val="1A1440"/>
                </a:solidFill>
                <a:latin typeface="Calibri"/>
              </a:rPr>
              <a:t> Rs 165 both times.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why does the city's per-driver-week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six drivers per driver-week fell 23 percent; on the city it rose 0.8 percent. Why?</a:t>
            </a:r>
          </a:p>
        </p:txBody>
      </p:sp>
      <p:sp>
        <p:nvSpPr>
          <p:cNvPr id="9" name="TextBox 8"/>
          <p:cNvSpPr txBox="1"/>
          <p:nvPr/>
        </p:nvSpPr>
        <p:spPr>
          <a:xfrm>
            <a:off x="530352" y="1956816"/>
            <a:ext cx="11130991" cy="259283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Before the city, an auto driver (invented).</a:t>
            </a:r>
            <a:r>
              <a:rPr sz="1600" b="0" i="0">
                <a:solidFill>
                  <a:srgbClr val="1A1440"/>
                </a:solidFill>
                <a:latin typeface="Calibri"/>
              </a:rPr>
              <a:t> Rs 1,800 on Monday from 20 rides in 9 hours, and Rs 1,800 on Tuesday from 18 rides in 12 hours: per day flat, per ride up from Rs 90 to Rs 100, per hour down from Rs 200 to Rs 150. The denominator picks the direction.</a:t>
            </a:r>
          </a:p>
          <a:p>
            <a:pPr>
              <a:spcAft>
                <a:spcPts val="800"/>
              </a:spcAft>
            </a:pPr>
            <a:r>
              <a:rPr sz="1600" b="0" i="0">
                <a:solidFill>
                  <a:srgbClr val="1A1440"/>
                </a:solidFill>
                <a:latin typeface="Calibri"/>
              </a:rPr>
              <a:t>a) The 140 new drivers earned more than the rest</a:t>
            </a:r>
          </a:p>
          <a:p>
            <a:pPr>
              <a:spcAft>
                <a:spcPts val="800"/>
              </a:spcAft>
            </a:pPr>
            <a:r>
              <a:rPr sz="1600" b="0" i="0">
                <a:solidFill>
                  <a:srgbClr val="1A1440"/>
                </a:solidFill>
                <a:latin typeface="Calibri"/>
              </a:rPr>
              <a:t>b) Each driver-week carried more online hours</a:t>
            </a:r>
          </a:p>
          <a:p>
            <a:pPr>
              <a:spcAft>
                <a:spcPts val="800"/>
              </a:spcAft>
            </a:pPr>
            <a:r>
              <a:rPr sz="1600" b="0" i="0">
                <a:solidFill>
                  <a:srgbClr val="1A1440"/>
                </a:solidFill>
                <a:latin typeface="Calibri"/>
              </a:rPr>
              <a:t>c) The fare rose after the launch</a:t>
            </a:r>
          </a:p>
          <a:p>
            <a:pPr>
              <a:spcAft>
                <a:spcPts val="800"/>
              </a:spcAft>
            </a:pPr>
            <a:r>
              <a:rPr sz="1600" b="0" i="0">
                <a:solidFill>
                  <a:srgbClr val="1A1440"/>
                </a:solidFill>
                <a:latin typeface="Calibri"/>
              </a:rPr>
              <a:t>d) Fewer drivers sat idle after the launch</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more hours a driver-week, less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per driver-week rise while per hour falls?</a:t>
            </a:r>
          </a:p>
        </p:txBody>
      </p:sp>
      <p:pic>
        <p:nvPicPr>
          <p:cNvPr id="9" name="mermaid diagram" descr="C2_W04_D02_three_reads_STUDENT.png"/>
          <p:cNvPicPr>
            <a:picLocks noChangeAspect="1"/>
          </p:cNvPicPr>
          <p:nvPr/>
        </p:nvPicPr>
        <p:blipFill>
          <a:blip r:embed="rId4"/>
          <a:stretch>
            <a:fillRect/>
          </a:stretch>
        </p:blipFill>
        <p:spPr>
          <a:xfrm>
            <a:off x="3121654" y="1664208"/>
            <a:ext cx="5948386"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read divided by its own before window</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Rupees per driver-week is rupees per hour times hours per driver-week, so the hours are Rs 5,817 / Rs 313.5 = 18.6 a driver-week before and Rs 5,861 / Rs 260.4 = 22.5 after. Each driver-week carried about four more online hours while each hour brought in 17 percent less. Each line is the week over its before-window average, times 100; the amber line rose, then slid below 100.</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8" name="Oval 1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"per driver-week is up, so it works"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rise in bookings per active driver-week say nothing good about the scheme?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"Bookings per driver-week rose from Rs 5,817 to Rs 5,861, so the guarantee is working; keep it as it is." Every rupee in that sentence is right, and it would keep the city paying for idle hours.</a:t>
            </a:r>
          </a:p>
        </p:txBody>
      </p:sp>
      <p:sp>
        <p:nvSpPr>
          <p:cNvPr id="12" name="Rounded Rectangle 11"/>
          <p:cNvSpPr/>
          <p:nvPr/>
        </p:nvSpPr>
        <p:spPr>
          <a:xfrm>
            <a:off x="530352" y="3195828"/>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14249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Bookings rose 3.0 percent and active driver-weeks 2.2 percent (6,360 to 6,500), so the ratio rose 0.8 percent (1.030 / 1.022 = 1.008). The rise was bought with hours: 21 percent more online hours a driver-week for 17 percent less per hour. The 140 drivers who joined after the launch drove about one week each, at Rs 4,314 a driver-week, so they pulled the read down; the drivers there before the launch rose 1.4 percent.</a:t>
            </a:r>
          </a:p>
        </p:txBody>
      </p:sp>
      <p:sp>
        <p:nvSpPr>
          <p:cNvPr id="15" name="Rounded Rectangle 14"/>
          <p:cNvSpPr/>
          <p:nvPr/>
        </p:nvSpPr>
        <p:spPr>
          <a:xfrm>
            <a:off x="530352" y="496824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09625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087112"/>
            <a:ext cx="10564063" cy="3581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The slide names the denominator the scheme pays for, the peak online hour, and says it aloud.</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fare times trips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fall in rupees per hour all trips, or some of it fare?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313.5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1.90 TRIPS PER HOUR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20 July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260.4</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1.578 TRIPS PER HOUR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31 August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165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FARE, BOTH WINDOWS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so the whole fall is trips per hour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Rupees per hour is the fare times trips per hour, so the two routes always agree; the split shows which half moved.</a:t>
            </a:r>
            <a:r>
              <a:rPr sz="1600" b="0" i="0">
                <a:solidFill>
                  <a:srgbClr val="1A1440"/>
                </a:solidFill>
                <a:latin typeface="Calibri"/>
              </a:rPr>
              <a:t> The fare held, so the whole fall is trips per hour, 1.90 to 1.578 (230,900 / 146,300, printed as 1.58). The finance partner will ask whether riders paid less; they did not.</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adds the claim and its denominator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now say in one sentence a driver would understand?</a:t>
            </a:r>
          </a:p>
        </p:txBody>
      </p:sp>
      <p:pic>
        <p:nvPicPr>
          <p:cNvPr id="9" name="mermaid diagram" descr="4d8a47354834f8c3.png"/>
          <p:cNvPicPr>
            <a:picLocks noChangeAspect="1"/>
          </p:cNvPicPr>
          <p:nvPr/>
        </p:nvPicPr>
        <p:blipFill>
          <a:blip r:embed="rId5"/>
          <a:stretch>
            <a:fillRect/>
          </a:stretch>
        </p:blipFill>
        <p:spPr>
          <a:xfrm>
            <a:off x="2152497" y="1956816"/>
            <a:ext cx="7886700" cy="2100262"/>
          </a:xfrm>
          <a:prstGeom prst="rect">
            <a:avLst/>
          </a:prstGeom>
        </p:spPr>
      </p:pic>
      <p:sp>
        <p:nvSpPr>
          <p:cNvPr id="10" name="TextBox 9"/>
          <p:cNvSpPr txBox="1"/>
          <p:nvPr/>
        </p:nvSpPr>
        <p:spPr>
          <a:xfrm>
            <a:off x="530352" y="4203382"/>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1 adds</a:t>
            </a:r>
            <a:r>
              <a:rPr sz="1600" b="0" i="0">
                <a:solidFill>
                  <a:srgbClr val="1A1440"/>
                </a:solidFill>
                <a:latin typeface="Calibri"/>
              </a:rPr>
              <a:t> the claim (the scheme pays for idle hours) and its denominator (Rs 314 to Rs 260 per peak online hour). </a:t>
            </a:r>
            <a:r>
              <a:rPr sz="1600" b="1" i="0">
                <a:solidFill>
                  <a:srgbClr val="1A1440"/>
                </a:solidFill>
                <a:latin typeface="Calibri"/>
              </a:rPr>
              <a:t>Said plainly:</a:t>
            </a:r>
            <a:r>
              <a:rPr sz="1600" b="0" i="0">
                <a:solidFill>
                  <a:srgbClr val="1A1440"/>
                </a:solidFill>
                <a:latin typeface="Calibri"/>
              </a:rPr>
              <a:t> "An hour online used to bring in Rs 314 of fares and now brings in Rs 260, because more of those hours have no rider." </a:t>
            </a:r>
            <a:r>
              <a:rPr sz="1600" b="1" i="0">
                <a:solidFill>
                  <a:srgbClr val="1A1440"/>
                </a:solidFill>
                <a:latin typeface="Calibri"/>
              </a:rPr>
              <a:t>In the interview</a:t>
            </a:r>
            <a:r>
              <a:rPr sz="1600" b="0" i="0">
                <a:solidFill>
                  <a:srgbClr val="1A1440"/>
                </a:solidFill>
                <a:latin typeface="Calibri"/>
              </a:rPr>
              <a:t> [S], a staple asked everywhere in this programme's interview tags: present a recommendation to a non-technical stakeholder in two minutes, opening on that sentence.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the one claim?</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objection holds?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objection is partly right, and which part, so that the defence stays honest in front of all three roles?</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one claim?</a:t>
            </a:r>
          </a:p>
        </p:txBody>
      </p:sp>
      <p:sp>
        <p:nvSpPr>
          <p:cNvPr id="11" name="Rounded Rectangle 10"/>
          <p:cNvSpPr/>
          <p:nvPr/>
        </p:nvSpPr>
        <p:spPr>
          <a:xfrm>
            <a:off x="250975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objection holds?</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slide?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one slide, three objectors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line best answers the monsoon?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finance partner says the fall is the monsoon ending. Which line of evidence answers it best?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Rider requests rose 1.8 percent across the six weeks after the launch, so demand never fell</a:t>
            </a:r>
          </a:p>
          <a:p>
            <a:pPr>
              <a:spcAft>
                <a:spcPts val="800"/>
              </a:spcAft>
            </a:pPr>
            <a:r>
              <a:rPr sz="1600" b="0" i="0">
                <a:solidFill>
                  <a:srgbClr val="1A1440"/>
                </a:solidFill>
                <a:latin typeface="Calibri"/>
              </a:rPr>
              <a:t>b) With requests back at the before level, the last three weeks still ran at 1.56 trips an hour</a:t>
            </a:r>
          </a:p>
          <a:p>
            <a:pPr>
              <a:spcAft>
                <a:spcPts val="800"/>
              </a:spcAft>
            </a:pPr>
            <a:r>
              <a:rPr sz="1600" b="0" i="0">
                <a:solidFill>
                  <a:srgbClr val="1A1440"/>
                </a:solidFill>
                <a:latin typeface="Calibri"/>
              </a:rPr>
              <a:t>c) Bookings per active driver-week rose 0.8 percent, so drivers still earned</a:t>
            </a:r>
          </a:p>
          <a:p>
            <a:pPr>
              <a:spcAft>
                <a:spcPts val="800"/>
              </a:spcAft>
            </a:pPr>
            <a:r>
              <a:rPr sz="1600" b="0" i="0">
                <a:solidFill>
                  <a:srgbClr val="1A1440"/>
                </a:solidFill>
                <a:latin typeface="Calibri"/>
              </a:rPr>
              <a:t>d) The 140 drivers who joined after the launch drove only some weeks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last three weeks answer the monsoon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each objection is true, and what evidence answers the rest?</a:t>
            </a:r>
          </a:p>
        </p:txBody>
      </p:sp>
      <p:graphicFrame>
        <p:nvGraphicFramePr>
          <p:cNvPr id="9" name="Table 8"/>
          <p:cNvGraphicFramePr>
            <a:graphicFrameLocks noGrp="1"/>
          </p:cNvGraphicFramePr>
          <p:nvPr/>
        </p:nvGraphicFramePr>
        <p:xfrm>
          <a:off x="530352" y="1931670"/>
          <a:ext cx="11130989" cy="2688336"/>
        </p:xfrm>
        <a:graphic>
          <a:graphicData uri="http://schemas.openxmlformats.org/drawingml/2006/table">
            <a:tbl>
              <a:tblPr firstRow="0" bandRow="0">
                <a:tableStyleId>{2D5ABB26-0587-4C30-8999-92F81FD0307C}</a:tableStyleId>
              </a:tblPr>
              <a:tblGrid>
                <a:gridCol w="1537309"/>
                <a:gridCol w="4796840"/>
                <a:gridCol w="4796840"/>
              </a:tblGrid>
              <a:tr h="369824">
                <a:tc>
                  <a:txBody>
                    <a:bodyPr/>
                    <a:lstStyle/>
                    <a:p>
                      <a:r>
                        <a:rPr sz="1450" b="1" i="0">
                          <a:solidFill>
                            <a:srgbClr val="FFFFFF"/>
                          </a:solidFill>
                          <a:latin typeface="Calibri"/>
                        </a:rPr>
                        <a:t>Role</a:t>
                      </a:r>
                    </a:p>
                  </a:txBody>
                  <a:tcPr marL="101600" marR="101600" marT="38100" marB="38100" anchor="ctr">
                    <a:solidFill>
                      <a:srgbClr val="1A0F5C"/>
                    </a:solidFill>
                  </a:tcPr>
                </a:tc>
                <a:tc>
                  <a:txBody>
                    <a:bodyPr/>
                    <a:lstStyle/>
                    <a:p>
                      <a:r>
                        <a:rPr sz="1450" b="1" i="0">
                          <a:solidFill>
                            <a:srgbClr val="FFFFFF"/>
                          </a:solidFill>
                          <a:latin typeface="Calibri"/>
                        </a:rPr>
                        <a:t>The true part</a:t>
                      </a:r>
                    </a:p>
                  </a:txBody>
                  <a:tcPr marL="101600" marR="101600" marT="38100" marB="38100" anchor="ctr">
                    <a:solidFill>
                      <a:srgbClr val="1A0F5C"/>
                    </a:solidFill>
                  </a:tcPr>
                </a:tc>
                <a:tc>
                  <a:txBody>
                    <a:bodyPr/>
                    <a:lstStyle/>
                    <a:p>
                      <a:r>
                        <a:rPr sz="1450" b="1" i="0">
                          <a:solidFill>
                            <a:srgbClr val="FFFFFF"/>
                          </a:solidFill>
                          <a:latin typeface="Calibri"/>
                        </a:rPr>
                        <a:t>The part the evidence answers</a:t>
                      </a:r>
                    </a:p>
                  </a:txBody>
                  <a:tcPr marL="101600" marR="101600" marT="38100" marB="38100" anchor="ctr">
                    <a:solidFill>
                      <a:srgbClr val="1A0F5C"/>
                    </a:solidFill>
                  </a:tcPr>
                </a:tc>
              </a:tr>
              <a:tr h="853440">
                <a:tc>
                  <a:txBody>
                    <a:bodyPr/>
                    <a:lstStyle/>
                    <a:p>
                      <a:r>
                        <a:rPr sz="1400" b="0" i="0">
                          <a:solidFill>
                            <a:srgbClr val="1A1440"/>
                          </a:solidFill>
                          <a:latin typeface="Calibri"/>
                        </a:rPr>
                        <a:t>Driver operations</a:t>
                      </a:r>
                    </a:p>
                  </a:txBody>
                  <a:tcPr marL="101600" marR="101600" marT="38100" marB="38100" anchor="ctr">
                    <a:solidFill>
                      <a:srgbClr val="FFFFFF"/>
                    </a:solidFill>
                  </a:tcPr>
                </a:tc>
                <a:tc>
                  <a:txBody>
                    <a:bodyPr/>
                    <a:lstStyle/>
                    <a:p>
                      <a:r>
                        <a:rPr sz="1400" b="0" i="0">
                          <a:solidFill>
                            <a:srgbClr val="1A1440"/>
                          </a:solidFill>
                          <a:latin typeface="Calibri"/>
                        </a:rPr>
                        <a:t>The 180 idle-tail drivers will log off: their idle hours are what stops being paid</a:t>
                      </a:r>
                    </a:p>
                  </a:txBody>
                  <a:tcPr marL="101600" marR="101600" marT="38100" marB="38100" anchor="ctr">
                    <a:solidFill>
                      <a:srgbClr val="FFFFFF"/>
                    </a:solidFill>
                  </a:tcPr>
                </a:tc>
                <a:tc>
                  <a:txBody>
                    <a:bodyPr/>
                    <a:lstStyle/>
                    <a:p>
                      <a:r>
                        <a:rPr sz="1400" b="0" i="0">
                          <a:solidFill>
                            <a:srgbClr val="1A1440"/>
                          </a:solidFill>
                          <a:latin typeface="Calibri"/>
                        </a:rPr>
                        <a:t>The other 880 drivers, there before the launch, held at 1.90 trips per online hour and keep the floor if they accept</a:t>
                      </a:r>
                    </a:p>
                  </a:txBody>
                  <a:tcPr marL="101600" marR="101600" marT="38100" marB="38100" anchor="ctr">
                    <a:solidFill>
                      <a:srgbClr val="FFFFFF"/>
                    </a:solidFill>
                  </a:tcPr>
                </a:tc>
              </a:tr>
              <a:tr h="611632">
                <a:tc>
                  <a:txBody>
                    <a:bodyPr/>
                    <a:lstStyle/>
                    <a:p>
                      <a:r>
                        <a:rPr sz="1400" b="0" i="0">
                          <a:solidFill>
                            <a:srgbClr val="1A1440"/>
                          </a:solidFill>
                          <a:latin typeface="Calibri"/>
                        </a:rPr>
                        <a:t>Marketing</a:t>
                      </a:r>
                    </a:p>
                  </a:txBody>
                  <a:tcPr marL="101600" marR="101600" marT="38100" marB="38100" anchor="ctr">
                    <a:solidFill>
                      <a:srgbClr val="F4F2FA"/>
                    </a:solidFill>
                  </a:tcPr>
                </a:tc>
                <a:tc>
                  <a:txBody>
                    <a:bodyPr/>
                    <a:lstStyle/>
                    <a:p>
                      <a:r>
                        <a:rPr sz="1400" b="0" i="0">
                          <a:solidFill>
                            <a:srgbClr val="1A1440"/>
                          </a:solidFill>
                          <a:latin typeface="Calibri"/>
                        </a:rPr>
                        <a:t>The hoarding promised a floor, and 140 drivers joined after it went up</a:t>
                      </a:r>
                    </a:p>
                  </a:txBody>
                  <a:tcPr marL="101600" marR="101600" marT="38100" marB="38100" anchor="ctr">
                    <a:solidFill>
                      <a:srgbClr val="F4F2FA"/>
                    </a:solidFill>
                  </a:tcPr>
                </a:tc>
                <a:tc>
                  <a:txBody>
                    <a:bodyPr/>
                    <a:lstStyle/>
                    <a:p>
                      <a:r>
                        <a:rPr sz="1400" b="0" i="0">
                          <a:solidFill>
                            <a:srgbClr val="1A1440"/>
                          </a:solidFill>
                          <a:latin typeface="Calibri"/>
                        </a:rPr>
                        <a:t>The floor stays for drivers who accept; none of the 140 joiners is in the idle tail</a:t>
                      </a:r>
                    </a:p>
                  </a:txBody>
                  <a:tcPr marL="101600" marR="101600" marT="38100" marB="38100" anchor="ctr">
                    <a:solidFill>
                      <a:srgbClr val="F4F2FA"/>
                    </a:solidFill>
                  </a:tcPr>
                </a:tc>
              </a:tr>
              <a:tr h="853440">
                <a:tc>
                  <a:txBody>
                    <a:bodyPr/>
                    <a:lstStyle/>
                    <a:p>
                      <a:r>
                        <a:rPr sz="1400" b="0" i="0">
                          <a:solidFill>
                            <a:srgbClr val="1A1440"/>
                          </a:solidFill>
                          <a:latin typeface="Calibri"/>
                        </a:rPr>
                        <a:t>Finance</a:t>
                      </a:r>
                    </a:p>
                  </a:txBody>
                  <a:tcPr marL="101600" marR="101600" marT="38100" marB="38100" anchor="ctr">
                    <a:solidFill>
                      <a:srgbClr val="FFFFFF"/>
                    </a:solidFill>
                  </a:tcPr>
                </a:tc>
                <a:tc>
                  <a:txBody>
                    <a:bodyPr/>
                    <a:lstStyle/>
                    <a:p>
                      <a:r>
                        <a:rPr sz="1400" b="0" i="0">
                          <a:solidFill>
                            <a:srgbClr val="1A1440"/>
                          </a:solidFill>
                          <a:latin typeface="Calibri"/>
                        </a:rPr>
                        <a:t>The monsoon ended inside the six weeks, and last year's weeks are not in the data</a:t>
                      </a:r>
                    </a:p>
                  </a:txBody>
                  <a:tcPr marL="101600" marR="101600" marT="38100" marB="38100" anchor="ctr">
                    <a:solidFill>
                      <a:srgbClr val="FFFFFF"/>
                    </a:solidFill>
                  </a:tcPr>
                </a:tc>
                <a:tc>
                  <a:txBody>
                    <a:bodyPr/>
                    <a:lstStyle/>
                    <a:p>
                      <a:r>
                        <a:rPr sz="1400" b="0" i="0">
                          <a:solidFill>
                            <a:srgbClr val="1A1440"/>
                          </a:solidFill>
                          <a:latin typeface="Calibri"/>
                        </a:rPr>
                        <a:t>In the last three weeks requests were back at the before level and trips per hour still ran at 1.56</a:t>
                      </a:r>
                    </a:p>
                  </a:txBody>
                  <a:tcPr marL="101600" marR="101600" marT="38100" marB="38100" anchor="ctr">
                    <a:solidFill>
                      <a:srgbClr val="FFFFFF"/>
                    </a:solidFill>
                  </a:tcPr>
                </a:tc>
              </a:tr>
            </a:tbl>
          </a:graphicData>
        </a:graphic>
      </p:graphicFrame>
      <p:sp>
        <p:nvSpPr>
          <p:cNvPr id="10" name="Rounded Rectangle 9"/>
          <p:cNvSpPr/>
          <p:nvPr/>
        </p:nvSpPr>
        <p:spPr>
          <a:xfrm>
            <a:off x="530352" y="487603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0405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94910"/>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Weekly requests fell four weeks running from 7 September, so a's six-week average hides a slide; in the last three weeks they sat inside the before window's weekly range, and trips per hour stayed at 1.56. c is the per-driver-week trap, and d explains the denominator, never the fall.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runs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owner of a slide do when an objection lands?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objection back until its owner agrees with your version</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Answer from the evidence, naming the line of the slide it rests on</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true part out loud, in plain words, without dropping the claim</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Name the fact that would move you, and how you would get it</a:t>
            </a:r>
          </a:p>
        </p:txBody>
      </p:sp>
      <p:sp>
        <p:nvSpPr>
          <p:cNvPr id="30" name="Rounded Rectangle 29"/>
          <p:cNvSpPr/>
          <p:nvPr/>
        </p:nvSpPr>
        <p:spPr>
          <a:xfrm>
            <a:off x="530352" y="410362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676656" y="423164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77824" y="4222496"/>
            <a:ext cx="10564063" cy="358140"/>
          </a:xfrm>
          <a:prstGeom prst="rect">
            <a:avLst/>
          </a:prstGeom>
          <a:noFill/>
        </p:spPr>
        <p:txBody>
          <a:bodyPr wrap="square" anchor="ctr" lIns="0" rIns="0" tIns="0" bIns="0">
            <a:spAutoFit/>
          </a:bodyPr>
          <a:lstStyle/>
          <a:p>
            <a:r>
              <a:rPr sz="1500" b="1">
                <a:solidFill>
                  <a:srgbClr val="5B3FD6"/>
                </a:solidFill>
                <a:latin typeface="Calibri"/>
              </a:rPr>
              <a:t>Move 4 is the one first defences skip. </a:t>
            </a:r>
            <a:r>
              <a:rPr sz="1500" b="0" i="0">
                <a:solidFill>
                  <a:srgbClr val="1A1440"/>
                </a:solidFill>
                <a:latin typeface="Calibri"/>
              </a:rPr>
              <a:t>It is also the move that tells the objector the claim can be tested.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35" name="Oval 3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37" name="Oval 3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conceding nothing, or everything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defences lose the room, and what does each cost?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Concedes nothing. </a:t>
            </a:r>
            <a:r>
              <a:rPr sz="1500" b="0" i="0">
                <a:solidFill>
                  <a:srgbClr val="1A1440"/>
                </a:solidFill>
                <a:latin typeface="Calibri"/>
              </a:rPr>
              <a:t>"The data is clear. The scheme pays for idle hours. The monsoon is irrelevant." The finance partner hears a claim repeated louder and stops listening; the slide is rejected as one-sided and the city keeps paying.</a:t>
            </a:r>
          </a:p>
        </p:txBody>
      </p:sp>
      <p:sp>
        <p:nvSpPr>
          <p:cNvPr id="12" name="Rounded Rectangle 11"/>
          <p:cNvSpPr/>
          <p:nvPr/>
        </p:nvSpPr>
        <p:spPr>
          <a:xfrm>
            <a:off x="530352" y="31958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624840"/>
          </a:xfrm>
          <a:prstGeom prst="rect">
            <a:avLst/>
          </a:prstGeom>
          <a:noFill/>
        </p:spPr>
        <p:txBody>
          <a:bodyPr wrap="square" anchor="ctr" lIns="0" rIns="0" tIns="0" bIns="0">
            <a:spAutoFit/>
          </a:bodyPr>
          <a:lstStyle/>
          <a:p>
            <a:r>
              <a:rPr sz="1500" b="1">
                <a:solidFill>
                  <a:srgbClr val="5B3FD6"/>
                </a:solidFill>
                <a:latin typeface="Calibri"/>
              </a:rPr>
              <a:t>Concedes everything. </a:t>
            </a:r>
            <a:r>
              <a:rPr sz="1500" b="0" i="0">
                <a:solidFill>
                  <a:srgbClr val="1A1440"/>
                </a:solidFill>
                <a:latin typeface="Calibri"/>
              </a:rPr>
              <a:t>"You may be right that it is the monsoon; let us wait another six weeks." The claim is gone, and six more weeks of the same top-up follow.</a:t>
            </a:r>
          </a:p>
        </p:txBody>
      </p:sp>
      <p:sp>
        <p:nvSpPr>
          <p:cNvPr id="15" name="Rounded Rectangle 14"/>
          <p:cNvSpPr/>
          <p:nvPr/>
        </p:nvSpPr>
        <p:spPr>
          <a:xfrm>
            <a:off x="530352" y="416813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29615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287011"/>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Did the reply name the true part and the line of evidence, in that order? The fix is the four moves.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20" name="Oval 19"/>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monsoon objection, answered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finance's objection sound like?</a:t>
            </a:r>
          </a:p>
        </p:txBody>
      </p:sp>
      <p:sp>
        <p:nvSpPr>
          <p:cNvPr id="9" name="Rounded Rectangle 8"/>
          <p:cNvSpPr/>
          <p:nvPr/>
        </p:nvSpPr>
        <p:spPr>
          <a:xfrm>
            <a:off x="530352" y="1812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40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30908"/>
            <a:ext cx="10564063" cy="624840"/>
          </a:xfrm>
          <a:prstGeom prst="rect">
            <a:avLst/>
          </a:prstGeom>
          <a:noFill/>
        </p:spPr>
        <p:txBody>
          <a:bodyPr wrap="square" anchor="ctr" lIns="0" rIns="0" tIns="0" bIns="0">
            <a:spAutoFit/>
          </a:bodyPr>
          <a:lstStyle/>
          <a:p>
            <a:r>
              <a:rPr sz="1500" b="1">
                <a:solidFill>
                  <a:srgbClr val="5B3FD6"/>
                </a:solidFill>
                <a:latin typeface="Calibri"/>
              </a:rPr>
              <a:t>Restate. </a:t>
            </a:r>
            <a:r>
              <a:rPr sz="1500" b="0" i="0">
                <a:solidFill>
                  <a:srgbClr val="1A1440"/>
                </a:solidFill>
                <a:latin typeface="Calibri"/>
              </a:rPr>
              <a:t>"You are saying the fall in bookings per hour could be the season ending, and the scheme has not had a fair test."</a:t>
            </a:r>
          </a:p>
        </p:txBody>
      </p:sp>
      <p:sp>
        <p:nvSpPr>
          <p:cNvPr id="12" name="Rounded Rectangle 11"/>
          <p:cNvSpPr/>
          <p:nvPr/>
        </p:nvSpPr>
        <p:spPr>
          <a:xfrm>
            <a:off x="530352" y="27843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1236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03220"/>
            <a:ext cx="10564063" cy="891540"/>
          </a:xfrm>
          <a:prstGeom prst="rect">
            <a:avLst/>
          </a:prstGeom>
          <a:noFill/>
        </p:spPr>
        <p:txBody>
          <a:bodyPr wrap="square" anchor="ctr" lIns="0" rIns="0" tIns="0" bIns="0">
            <a:spAutoFit/>
          </a:bodyPr>
          <a:lstStyle/>
          <a:p>
            <a:r>
              <a:rPr sz="1500" b="1">
                <a:solidFill>
                  <a:srgbClr val="5B3FD6"/>
                </a:solidFill>
                <a:latin typeface="Calibri"/>
              </a:rPr>
              <a:t>Answer. </a:t>
            </a:r>
            <a:r>
              <a:rPr sz="1500" b="0" i="0">
                <a:solidFill>
                  <a:srgbClr val="1A1440"/>
                </a:solidFill>
                <a:latin typeface="Calibri"/>
              </a:rPr>
              <a:t>"Two lines of evidence point at the scheme: in the last three weeks after the launch, requests were back at the before window's level and trips per online hour still ran at 1.56; and the drivers who were there before the launch fell from 1.90 to 1.58, so the new drivers do not explain it."</a:t>
            </a:r>
          </a:p>
        </p:txBody>
      </p:sp>
      <p:sp>
        <p:nvSpPr>
          <p:cNvPr id="15" name="Rounded Rectangle 14"/>
          <p:cNvSpPr/>
          <p:nvPr/>
        </p:nvSpPr>
        <p:spPr>
          <a:xfrm>
            <a:off x="530352" y="40233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1513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142232"/>
            <a:ext cx="10564063" cy="624840"/>
          </a:xfrm>
          <a:prstGeom prst="rect">
            <a:avLst/>
          </a:prstGeom>
          <a:noFill/>
        </p:spPr>
        <p:txBody>
          <a:bodyPr wrap="square" anchor="ctr" lIns="0" rIns="0" tIns="0" bIns="0">
            <a:spAutoFit/>
          </a:bodyPr>
          <a:lstStyle/>
          <a:p>
            <a:r>
              <a:rPr sz="1500" b="1">
                <a:solidFill>
                  <a:srgbClr val="5B3FD6"/>
                </a:solidFill>
                <a:latin typeface="Calibri"/>
              </a:rPr>
              <a:t>Concede. </a:t>
            </a:r>
            <a:r>
              <a:rPr sz="1500" b="0" i="0">
                <a:solidFill>
                  <a:srgbClr val="1A1440"/>
                </a:solidFill>
                <a:latin typeface="Calibri"/>
              </a:rPr>
              <a:t>"You are right that the monsoon ended inside the six weeks, and that last year's weeks are not in the data."</a:t>
            </a:r>
          </a:p>
        </p:txBody>
      </p:sp>
      <p:sp>
        <p:nvSpPr>
          <p:cNvPr id="18" name="Rounded Rectangle 17"/>
          <p:cNvSpPr/>
          <p:nvPr/>
        </p:nvSpPr>
        <p:spPr>
          <a:xfrm>
            <a:off x="530352" y="499567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76656" y="512368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77824" y="5114544"/>
            <a:ext cx="10564063" cy="891540"/>
          </a:xfrm>
          <a:prstGeom prst="rect">
            <a:avLst/>
          </a:prstGeom>
          <a:noFill/>
        </p:spPr>
        <p:txBody>
          <a:bodyPr wrap="square" anchor="ctr" lIns="0" rIns="0" tIns="0" bIns="0">
            <a:spAutoFit/>
          </a:bodyPr>
          <a:lstStyle/>
          <a:p>
            <a:r>
              <a:rPr sz="1500" b="1">
                <a:solidFill>
                  <a:srgbClr val="5B3FD6"/>
                </a:solidFill>
                <a:latin typeface="Calibri"/>
              </a:rPr>
              <a:t>What would change my mind. </a:t>
            </a:r>
            <a:r>
              <a:rPr sz="1500" b="0" i="0">
                <a:solidFill>
                  <a:srgbClr val="1A1440"/>
                </a:solidFill>
                <a:latin typeface="Calibri"/>
              </a:rPr>
              <a:t>"Last year's same six weeks showing a fall of this size, a city where the rains ended without the scheme showing the same fall, or the test of the redesign showing no change in trips per online hour."</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23" name="Oval 2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5" name="Oval 2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one: three seats, seven minutes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group run the round, and what does the scorer hold?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358902"/>
                <a:gridCol w="7219605"/>
                <a:gridCol w="2552483"/>
              </a:tblGrid>
              <a:tr h="369824">
                <a:tc>
                  <a:txBody>
                    <a:bodyPr/>
                    <a:lstStyle/>
                    <a:p>
                      <a:r>
                        <a:rPr sz="1450" b="1" i="0">
                          <a:solidFill>
                            <a:srgbClr val="FFFFFF"/>
                          </a:solidFill>
                          <a:latin typeface="Calibri"/>
                        </a:rPr>
                        <a:t>Seat</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holds</a:t>
                      </a:r>
                    </a:p>
                  </a:txBody>
                  <a:tcPr marL="101600" marR="101600" marT="38100" marB="38100" anchor="ctr">
                    <a:solidFill>
                      <a:srgbClr val="1A0F5C"/>
                    </a:solidFill>
                  </a:tcPr>
                </a:tc>
              </a:tr>
              <a:tr h="369824">
                <a:tc>
                  <a:txBody>
                    <a:bodyPr/>
                    <a:lstStyle/>
                    <a:p>
                      <a:r>
                        <a:rPr sz="1400" b="0" i="0">
                          <a:solidFill>
                            <a:srgbClr val="1A1440"/>
                          </a:solidFill>
                          <a:latin typeface="Calibri"/>
                        </a:rPr>
                        <a:t>Presenter</a:t>
                      </a:r>
                    </a:p>
                  </a:txBody>
                  <a:tcPr marL="101600" marR="101600" marT="38100" marB="38100" anchor="ctr">
                    <a:solidFill>
                      <a:srgbClr val="FFFFFF"/>
                    </a:solidFill>
                  </a:tcPr>
                </a:tc>
                <a:tc>
                  <a:txBody>
                    <a:bodyPr/>
                    <a:lstStyle/>
                    <a:p>
                      <a:r>
                        <a:rPr sz="1400" b="0" i="0">
                          <a:solidFill>
                            <a:srgbClr val="1A1440"/>
                          </a:solidFill>
                          <a:latin typeface="Calibri"/>
                        </a:rPr>
                        <a:t>Presents the rebuilt slide in five minutes, then answers one objection</a:t>
                      </a:r>
                    </a:p>
                  </a:txBody>
                  <a:tcPr marL="101600" marR="101600" marT="38100" marB="38100" anchor="ctr">
                    <a:solidFill>
                      <a:srgbClr val="FFFFFF"/>
                    </a:solidFill>
                  </a:tcPr>
                </a:tc>
                <a:tc>
                  <a:txBody>
                    <a:bodyPr/>
                    <a:lstStyle/>
                    <a:p>
                      <a:r>
                        <a:rPr sz="1400" b="0" i="0">
                          <a:solidFill>
                            <a:srgbClr val="1A1440"/>
                          </a:solidFill>
                          <a:latin typeface="Calibri"/>
                        </a:rPr>
                        <a:t>The slide</a:t>
                      </a:r>
                    </a:p>
                  </a:txBody>
                  <a:tcPr marL="101600" marR="101600" marT="38100" marB="38100" anchor="ctr">
                    <a:solidFill>
                      <a:srgbClr val="FFFFFF"/>
                    </a:solidFill>
                  </a:tcPr>
                </a:tc>
              </a:tr>
              <a:tr h="369824">
                <a:tc>
                  <a:txBody>
                    <a:bodyPr/>
                    <a:lstStyle/>
                    <a:p>
                      <a:r>
                        <a:rPr sz="1400" b="0" i="0">
                          <a:solidFill>
                            <a:srgbClr val="1A1440"/>
                          </a:solidFill>
                          <a:latin typeface="Calibri"/>
                        </a:rPr>
                        <a:t>Objector</a:t>
                      </a:r>
                    </a:p>
                  </a:txBody>
                  <a:tcPr marL="101600" marR="101600" marT="38100" marB="38100" anchor="ctr">
                    <a:solidFill>
                      <a:srgbClr val="F4F2FA"/>
                    </a:solidFill>
                  </a:tcPr>
                </a:tc>
                <a:tc>
                  <a:txBody>
                    <a:bodyPr/>
                    <a:lstStyle/>
                    <a:p>
                      <a:r>
                        <a:rPr sz="1400" b="0" i="0">
                          <a:solidFill>
                            <a:srgbClr val="1A1440"/>
                          </a:solidFill>
                          <a:latin typeface="Calibri"/>
                        </a:rPr>
                        <a:t>Reads one role's objection from its card and pushes back once</a:t>
                      </a:r>
                    </a:p>
                  </a:txBody>
                  <a:tcPr marL="101600" marR="101600" marT="38100" marB="38100" anchor="ctr">
                    <a:solidFill>
                      <a:srgbClr val="F4F2FA"/>
                    </a:solidFill>
                  </a:tcPr>
                </a:tc>
                <a:tc>
                  <a:txBody>
                    <a:bodyPr/>
                    <a:lstStyle/>
                    <a:p>
                      <a:r>
                        <a:rPr sz="1400" b="0" i="0">
                          <a:solidFill>
                            <a:srgbClr val="1A1440"/>
                          </a:solidFill>
                          <a:latin typeface="Calibri"/>
                        </a:rPr>
                        <a:t>One role card</a:t>
                      </a:r>
                    </a:p>
                  </a:txBody>
                  <a:tcPr marL="101600" marR="101600" marT="38100" marB="38100" anchor="ctr">
                    <a:solidFill>
                      <a:srgbClr val="F4F2FA"/>
                    </a:solidFill>
                  </a:tcPr>
                </a:tc>
              </a:tr>
              <a:tr h="369824">
                <a:tc>
                  <a:txBody>
                    <a:bodyPr/>
                    <a:lstStyle/>
                    <a:p>
                      <a:r>
                        <a:rPr sz="1400" b="0" i="0">
                          <a:solidFill>
                            <a:srgbClr val="1A1440"/>
                          </a:solidFill>
                          <a:latin typeface="Calibri"/>
                        </a:rPr>
                        <a:t>Scorer</a:t>
                      </a:r>
                    </a:p>
                  </a:txBody>
                  <a:tcPr marL="101600" marR="101600" marT="38100" marB="38100" anchor="ctr">
                    <a:solidFill>
                      <a:srgbClr val="FFFFFF"/>
                    </a:solidFill>
                  </a:tcPr>
                </a:tc>
                <a:tc>
                  <a:txBody>
                    <a:bodyPr/>
                    <a:lstStyle/>
                    <a:p>
                      <a:r>
                        <a:rPr sz="1400" b="0" i="0">
                          <a:solidFill>
                            <a:srgbClr val="1A1440"/>
                          </a:solidFill>
                          <a:latin typeface="Calibri"/>
                        </a:rPr>
                        <a:t>Ticks each move heard: restate, answer, concede, change my mind</a:t>
                      </a:r>
                    </a:p>
                  </a:txBody>
                  <a:tcPr marL="101600" marR="101600" marT="38100" marB="38100" anchor="ctr">
                    <a:solidFill>
                      <a:srgbClr val="FFFFFF"/>
                    </a:solidFill>
                  </a:tcPr>
                </a:tc>
                <a:tc>
                  <a:txBody>
                    <a:bodyPr/>
                    <a:lstStyle/>
                    <a:p>
                      <a:r>
                        <a:rPr sz="1400" b="0" i="0">
                          <a:solidFill>
                            <a:srgbClr val="1A1440"/>
                          </a:solidFill>
                          <a:latin typeface="Calibri"/>
                        </a:rPr>
                        <a:t>The four-moves card</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Three turns of seven minutes. </a:t>
            </a:r>
            <a:r>
              <a:rPr sz="1500" b="0" i="0">
                <a:solidFill>
                  <a:srgbClr val="1A1440"/>
                </a:solidFill>
                <a:latin typeface="Calibri"/>
              </a:rPr>
              <a:t>The studio is the morning's practice: build a slide, present it, take an objection, get scored, rebuild. After each turn the seats rotate inside the three, so every member presents once, objects once and scores once.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fails by retreating or by overclaiming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failing defences do, and which question fixes each?</a:t>
            </a:r>
          </a:p>
        </p:txBody>
      </p:sp>
      <p:graphicFrame>
        <p:nvGraphicFramePr>
          <p:cNvPr id="9" name="Table 8"/>
          <p:cNvGraphicFramePr>
            <a:graphicFrameLocks noGrp="1"/>
          </p:cNvGraphicFramePr>
          <p:nvPr/>
        </p:nvGraphicFramePr>
        <p:xfrm>
          <a:off x="530352" y="1956816"/>
          <a:ext cx="11130990" cy="1593088"/>
        </p:xfrm>
        <a:graphic>
          <a:graphicData uri="http://schemas.openxmlformats.org/drawingml/2006/table">
            <a:tbl>
              <a:tblPr firstRow="0" bandRow="0">
                <a:tableStyleId>{2D5ABB26-0587-4C30-8999-92F81FD0307C}</a:tableStyleId>
              </a:tblPr>
              <a:tblGrid>
                <a:gridCol w="1244002"/>
                <a:gridCol w="5116996"/>
                <a:gridCol w="4769992"/>
              </a:tblGrid>
              <a:tr h="369824">
                <a:tc>
                  <a:txBody>
                    <a:bodyPr/>
                    <a:lstStyle/>
                    <a:p>
                      <a:r>
                        <a:rPr sz="1450" b="1" i="0">
                          <a:solidFill>
                            <a:srgbClr val="FFFFFF"/>
                          </a:solidFill>
                          <a:latin typeface="Calibri"/>
                        </a:rPr>
                        <a:t>The failure</a:t>
                      </a:r>
                    </a:p>
                  </a:txBody>
                  <a:tcPr marL="101600" marR="101600" marT="38100" marB="38100" anchor="ctr">
                    <a:solidFill>
                      <a:srgbClr val="1A0F5C"/>
                    </a:solidFill>
                  </a:tcPr>
                </a:tc>
                <a:tc>
                  <a:txBody>
                    <a:bodyPr/>
                    <a:lstStyle/>
                    <a:p>
                      <a:r>
                        <a:rPr sz="1450" b="1" i="0">
                          <a:solidFill>
                            <a:srgbClr val="FFFFFF"/>
                          </a:solidFill>
                          <a:latin typeface="Calibri"/>
                        </a:rPr>
                        <a:t>What it sounds like</a:t>
                      </a:r>
                    </a:p>
                  </a:txBody>
                  <a:tcPr marL="101600" marR="101600" marT="38100" marB="38100" anchor="ctr">
                    <a:solidFill>
                      <a:srgbClr val="1A0F5C"/>
                    </a:solidFill>
                  </a:tcPr>
                </a:tc>
                <a:tc>
                  <a:txBody>
                    <a:bodyPr/>
                    <a:lstStyle/>
                    <a:p>
                      <a:r>
                        <a:rPr sz="1450" b="1" i="0">
                          <a:solidFill>
                            <a:srgbClr val="FFFFFF"/>
                          </a:solidFill>
                          <a:latin typeface="Calibri"/>
                        </a:rPr>
                        <a:t>The question that fixes it</a:t>
                      </a:r>
                    </a:p>
                  </a:txBody>
                  <a:tcPr marL="101600" marR="101600" marT="38100" marB="38100" anchor="ctr">
                    <a:solidFill>
                      <a:srgbClr val="1A0F5C"/>
                    </a:solidFill>
                  </a:tcPr>
                </a:tc>
              </a:tr>
              <a:tr h="611632">
                <a:tc>
                  <a:txBody>
                    <a:bodyPr/>
                    <a:lstStyle/>
                    <a:p>
                      <a:r>
                        <a:rPr sz="1400" b="0" i="0">
                          <a:solidFill>
                            <a:srgbClr val="1A1440"/>
                          </a:solidFill>
                          <a:latin typeface="Calibri"/>
                        </a:rPr>
                        <a:t>Retreat</a:t>
                      </a:r>
                    </a:p>
                  </a:txBody>
                  <a:tcPr marL="101600" marR="101600" marT="38100" marB="38100" anchor="ctr">
                    <a:solidFill>
                      <a:srgbClr val="FFFFFF"/>
                    </a:solidFill>
                  </a:tcPr>
                </a:tc>
                <a:tc>
                  <a:txBody>
                    <a:bodyPr/>
                    <a:lstStyle/>
                    <a:p>
                      <a:r>
                        <a:rPr sz="1400" b="0" i="0">
                          <a:solidFill>
                            <a:srgbClr val="1A1440"/>
                          </a:solidFill>
                          <a:latin typeface="Calibri"/>
                        </a:rPr>
                        <a:t>The presenter concedes the whole claim at the first push</a:t>
                      </a:r>
                    </a:p>
                  </a:txBody>
                  <a:tcPr marL="101600" marR="101600" marT="38100" marB="38100" anchor="ctr">
                    <a:solidFill>
                      <a:srgbClr val="FFFFFF"/>
                    </a:solidFill>
                  </a:tcPr>
                </a:tc>
                <a:tc>
                  <a:txBody>
                    <a:bodyPr/>
                    <a:lstStyle/>
                    <a:p>
                      <a:r>
                        <a:rPr sz="1400" b="0" i="0">
                          <a:solidFill>
                            <a:srgbClr val="1A1440"/>
                          </a:solidFill>
                          <a:latin typeface="Calibri"/>
                        </a:rPr>
                        <a:t>"Which line of your evidence did the objection touch?"</a:t>
                      </a:r>
                    </a:p>
                  </a:txBody>
                  <a:tcPr marL="101600" marR="101600" marT="38100" marB="38100" anchor="ctr">
                    <a:solidFill>
                      <a:srgbClr val="FFFFFF"/>
                    </a:solidFill>
                  </a:tcPr>
                </a:tc>
              </a:tr>
              <a:tr h="611632">
                <a:tc>
                  <a:txBody>
                    <a:bodyPr/>
                    <a:lstStyle/>
                    <a:p>
                      <a:r>
                        <a:rPr sz="1400" b="0" i="0">
                          <a:solidFill>
                            <a:srgbClr val="1A1440"/>
                          </a:solidFill>
                          <a:latin typeface="Calibri"/>
                        </a:rPr>
                        <a:t>Overclaim</a:t>
                      </a:r>
                    </a:p>
                  </a:txBody>
                  <a:tcPr marL="101600" marR="101600" marT="38100" marB="38100" anchor="ctr">
                    <a:solidFill>
                      <a:srgbClr val="F4F2FA"/>
                    </a:solidFill>
                  </a:tcPr>
                </a:tc>
                <a:tc>
                  <a:txBody>
                    <a:bodyPr/>
                    <a:lstStyle/>
                    <a:p>
                      <a:r>
                        <a:rPr sz="1400" b="0" i="0">
                          <a:solidFill>
                            <a:srgbClr val="1A1440"/>
                          </a:solidFill>
                          <a:latin typeface="Calibri"/>
                        </a:rPr>
                        <a:t>The presenter repeats the claim louder and concedes nothing</a:t>
                      </a:r>
                    </a:p>
                  </a:txBody>
                  <a:tcPr marL="101600" marR="101600" marT="38100" marB="38100" anchor="ctr">
                    <a:solidFill>
                      <a:srgbClr val="F4F2FA"/>
                    </a:solidFill>
                  </a:tcPr>
                </a:tc>
                <a:tc>
                  <a:txBody>
                    <a:bodyPr/>
                    <a:lstStyle/>
                    <a:p>
                      <a:r>
                        <a:rPr sz="1400" b="0" i="0">
                          <a:solidFill>
                            <a:srgbClr val="1A1440"/>
                          </a:solidFill>
                          <a:latin typeface="Calibri"/>
                        </a:rPr>
                        <a:t>"What would change your mind?"</a:t>
                      </a:r>
                    </a:p>
                  </a:txBody>
                  <a:tcPr marL="101600" marR="101600" marT="38100" marB="38100" anchor="ctr">
                    <a:solidFill>
                      <a:srgbClr val="F4F2FA"/>
                    </a:solidFill>
                  </a:tcPr>
                </a:tc>
              </a:tr>
            </a:tbl>
          </a:graphicData>
        </a:graphic>
      </p:graphicFrame>
      <p:sp>
        <p:nvSpPr>
          <p:cNvPr id="10" name="TextBox 9"/>
          <p:cNvSpPr txBox="1"/>
          <p:nvPr/>
        </p:nvSpPr>
        <p:spPr>
          <a:xfrm>
            <a:off x="530352" y="380593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2 adds the four moves to Tuesday's node:</a:t>
            </a:r>
            <a:r>
              <a:rPr sz="1600" b="0" i="0">
                <a:solidFill>
                  <a:srgbClr val="1A1440"/>
                </a:solidFill>
                <a:latin typeface="Calibri"/>
              </a:rPr>
              <a:t> restate, answer, concede, say what would change your mind. </a:t>
            </a:r>
            <a:r>
              <a:rPr sz="1600" b="1" i="0">
                <a:solidFill>
                  <a:srgbClr val="1A1440"/>
                </a:solidFill>
                <a:latin typeface="Calibri"/>
              </a:rPr>
              <a:t>In the interview</a:t>
            </a:r>
            <a:r>
              <a:rPr sz="1600" b="0" i="0">
                <a:solidFill>
                  <a:srgbClr val="1A1440"/>
                </a:solidFill>
                <a:latin typeface="Calibri"/>
              </a:rPr>
              <a:t> [F], frequent in GCC and product screens: a stakeholder's objection is partly right; how do you answer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leaves the slide?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leaves the slide?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leaves the slide and where does it go, so that nothing a role will ask about is hidden?</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the one claim?</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2" name="Rounded Rectangle 11"/>
          <p:cNvSpPr/>
          <p:nvPr/>
        </p:nvSpPr>
        <p:spPr>
          <a:xfrm>
            <a:off x="428799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leaves the slide?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one slide, three objectors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belongs in the appendix?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four things the slide could carry, which one moves behind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caveat that the monsoon ended inside the window</a:t>
            </a:r>
          </a:p>
          <a:p>
            <a:pPr>
              <a:spcAft>
                <a:spcPts val="800"/>
              </a:spcAft>
            </a:pPr>
            <a:r>
              <a:rPr sz="1600" b="0" i="0">
                <a:solidFill>
                  <a:srgbClr val="1A1440"/>
                </a:solidFill>
                <a:latin typeface="Calibri"/>
              </a:rPr>
              <a:t>b) The per-driver-week and per-trip reads, with one line each on what moved them</a:t>
            </a:r>
          </a:p>
          <a:p>
            <a:pPr>
              <a:spcAft>
                <a:spcPts val="800"/>
              </a:spcAft>
            </a:pPr>
            <a:r>
              <a:rPr sz="1600" b="0" i="0">
                <a:solidFill>
                  <a:srgbClr val="1A1440"/>
                </a:solidFill>
                <a:latin typeface="Calibri"/>
              </a:rPr>
              <a:t>c) The action and its saving range</a:t>
            </a:r>
          </a:p>
          <a:p>
            <a:pPr>
              <a:spcAft>
                <a:spcPts val="800"/>
              </a:spcAft>
            </a:pPr>
            <a:r>
              <a:rPr sz="1600" b="0" i="0">
                <a:solidFill>
                  <a:srgbClr val="1A1440"/>
                </a:solidFill>
                <a:latin typeface="Calibri"/>
              </a:rPr>
              <a:t>d) The chart of bookings per peak online hour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caveat stays; detail goes in a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sits behind the slide, page by page?</a:t>
            </a:r>
          </a:p>
        </p:txBody>
      </p:sp>
      <p:pic>
        <p:nvPicPr>
          <p:cNvPr id="9" name="mermaid diagram" descr="f1924848a388c978.png"/>
          <p:cNvPicPr>
            <a:picLocks noChangeAspect="1"/>
          </p:cNvPicPr>
          <p:nvPr/>
        </p:nvPicPr>
        <p:blipFill>
          <a:blip r:embed="rId5"/>
          <a:stretch>
            <a:fillRect/>
          </a:stretch>
        </p:blipFill>
        <p:spPr>
          <a:xfrm>
            <a:off x="3115146" y="1664208"/>
            <a:ext cx="5961401"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A caveat moved to the appendix is found there by its owner, who then calls the slide dishonest. Each appendix page is headed by the question one role will ask, so the analyst turns to it when the question comes.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reads a six-page memo in silence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would a company reject slides, and what does that teach a one-slide answer?</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its 2017 letter to shareholders, Amazon said it does no PowerPoint or slide presentations in meetings.</a:t>
            </a:r>
            <a:r>
              <a:rPr sz="1600" b="0" i="0">
                <a:solidFill>
                  <a:srgbClr val="1A1440"/>
                </a:solidFill>
                <a:latin typeface="Calibri"/>
              </a:rPr>
              <a:t> The owner writes a narratively structured six-page memo, the room reads it in silence at the start of the meeting, and the letter says a great memo probably takes a week or more to write.</a:t>
            </a:r>
          </a:p>
        </p:txBody>
      </p:sp>
      <p:sp>
        <p:nvSpPr>
          <p:cNvPr id="10" name="Rounded Rectangle 9"/>
          <p:cNvSpPr/>
          <p:nvPr/>
        </p:nvSpPr>
        <p:spPr>
          <a:xfrm>
            <a:off x="530352" y="31333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613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52216"/>
            <a:ext cx="10564063" cy="891540"/>
          </a:xfrm>
          <a:prstGeom prst="rect">
            <a:avLst/>
          </a:prstGeom>
          <a:noFill/>
        </p:spPr>
        <p:txBody>
          <a:bodyPr wrap="square" anchor="ctr" lIns="0" rIns="0" tIns="0" bIns="0">
            <a:spAutoFit/>
          </a:bodyPr>
          <a:lstStyle/>
          <a:p>
            <a:r>
              <a:rPr sz="1500" b="1">
                <a:solidFill>
                  <a:srgbClr val="5B3FD6"/>
                </a:solidFill>
                <a:latin typeface="Calibri"/>
              </a:rPr>
              <a:t>What it teaches the slide. </a:t>
            </a:r>
            <a:r>
              <a:rPr sz="1500" b="0" i="0">
                <a:solidFill>
                  <a:srgbClr val="1A1440"/>
                </a:solidFill>
                <a:latin typeface="Calibri"/>
              </a:rPr>
              <a:t>The memo forces full sentences where bullets hide the reasoning. The city head will read one slide in five minutes, so every element on it must earn its place the way a sentence earns its place in a memo.</a:t>
            </a:r>
          </a:p>
        </p:txBody>
      </p:sp>
      <p:sp>
        <p:nvSpPr>
          <p:cNvPr id="13" name="Rounded Rectangle 12"/>
          <p:cNvSpPr/>
          <p:nvPr/>
        </p:nvSpPr>
        <p:spPr>
          <a:xfrm>
            <a:off x="530352" y="4372356"/>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6384" y="4372356"/>
            <a:ext cx="10820095" cy="467359"/>
          </a:xfrm>
          <a:prstGeom prst="rect">
            <a:avLst/>
          </a:prstGeom>
          <a:noFill/>
        </p:spPr>
        <p:txBody>
          <a:bodyPr wrap="square" anchor="t" lIns="0" rIns="0" tIns="0" bIns="0">
            <a:spAutoFit/>
          </a:bodyPr>
          <a:lstStyle/>
          <a:p>
            <a:r>
              <a:rPr sz="1600" b="0" i="1">
                <a:solidFill>
                  <a:srgbClr val="1A0F5C"/>
                </a:solidFill>
                <a:latin typeface="Georgia"/>
              </a:rPr>
              <a:t>Source: Amazon's 2017 letter to shareholders, filed 18 April 2018 (checked 12 October 2026).</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Cut five elements to the two that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second draft argues that riders got little for the Rs 1.9 crore. Which two of its five elements carry that claim?</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8695104"/>
                <a:gridCol w="2435886"/>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Keep or move?</a:t>
                      </a:r>
                    </a:p>
                  </a:txBody>
                  <a:tcPr marL="101600" marR="101600" marT="38100" marB="38100" anchor="ctr">
                    <a:solidFill>
                      <a:srgbClr val="1A0F5C"/>
                    </a:solidFill>
                  </a:tcPr>
                </a:tc>
              </a:tr>
              <a:tr h="369824">
                <a:tc>
                  <a:txBody>
                    <a:bodyPr/>
                    <a:lstStyle/>
                    <a:p>
                      <a:r>
                        <a:rPr sz="1400" b="0" i="0">
                          <a:solidFill>
                            <a:srgbClr val="1A1440"/>
                          </a:solidFill>
                          <a:latin typeface="Calibri"/>
                        </a:rPr>
                        <a:t>The line "peak online hours up 24 percent"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Median rider wait at peak, 4.8 to 4.6 minutes</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Top-up for each extra trip: Rs 2,836, for a trip worth Rs 165</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The top-up split: 61 percent to low acceptance</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A pie of top-up by week</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358140"/>
          </a:xfrm>
          <a:prstGeom prst="rect">
            <a:avLst/>
          </a:prstGeom>
          <a:noFill/>
        </p:spPr>
        <p:txBody>
          <a:bodyPr wrap="square" anchor="ctr" lIns="0" rIns="0" tIns="0" bIns="0">
            <a:spAutoFit/>
          </a:bodyPr>
          <a:lstStyle/>
          <a:p>
            <a:r>
              <a:rPr sz="1500" b="1">
                <a:solidFill>
                  <a:srgbClr val="5B3FD6"/>
                </a:solidFill>
                <a:latin typeface="Calibri"/>
              </a:rPr>
              <a:t>Your task. </a:t>
            </a:r>
            <a:r>
              <a:rPr sz="1500" b="0" i="0">
                <a:solidFill>
                  <a:srgbClr val="1A1440"/>
                </a:solidFill>
                <a:latin typeface="Calibri"/>
              </a:rPr>
              <a:t>Keep two, and for every element you move, write the role whose appendix page receives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adds the appendix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left on the slide, and what is waiting behind it?</a:t>
            </a:r>
          </a:p>
        </p:txBody>
      </p:sp>
      <p:pic>
        <p:nvPicPr>
          <p:cNvPr id="9" name="mermaid diagram" descr="9801234a7adfc437.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the interview</a:t>
            </a:r>
            <a:r>
              <a:rPr sz="1600" b="0" i="0">
                <a:solidFill>
                  <a:srgbClr val="1A1440"/>
                </a:solidFill>
                <a:latin typeface="Calibri"/>
              </a:rPr>
              <a:t> [F]: what do you leave off the slide, and where does it go? Answer with the drawer: one page per question a named role will ask.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5" name="Oval 14"/>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two: the seats swap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presenter has sat in every objector's seat?</a:t>
            </a:r>
          </a:p>
        </p:txBody>
      </p:sp>
      <p:sp>
        <p:nvSpPr>
          <p:cNvPr id="9" name="TextBox 8"/>
          <p:cNvSpPr txBox="1"/>
          <p:nvPr/>
        </p:nvSpPr>
        <p:spPr>
          <a:xfrm>
            <a:off x="530352" y="1956816"/>
            <a:ext cx="11130991" cy="143459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Each group keeps its threes and its rotation.</a:t>
            </a:r>
            <a:r>
              <a:rPr sz="1600" b="0" i="0">
                <a:solidFill>
                  <a:srgbClr val="1A1440"/>
                </a:solidFill>
                <a:latin typeface="Calibri"/>
              </a:rPr>
              <a:t> Each presenter now shows the slide rebuilt after round one, and answers each objection by naming the appendix page, from the drawer on S27, that holds the detail.</a:t>
            </a:r>
          </a:p>
          <a:p>
            <a:pPr>
              <a:spcAft>
                <a:spcPts val="800"/>
              </a:spcAft>
            </a:pPr>
            <a:r>
              <a:rPr sz="1600" b="1" i="0">
                <a:solidFill>
                  <a:srgbClr val="1A1440"/>
                </a:solidFill>
                <a:latin typeface="Calibri"/>
              </a:rPr>
              <a:t>Three turns of seven minutes, rotating, then eight minutes to rebuild the slide</a:t>
            </a:r>
            <a:r>
              <a:rPr sz="1600" b="0" i="0">
                <a:solidFill>
                  <a:srgbClr val="1A1440"/>
                </a:solidFill>
                <a:latin typeface="Calibri"/>
              </a:rPr>
              <a:t> with what the objections showed.</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14" name="Oval 1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morning ends: three parts earned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do now that you could not do at the start of the morning?</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claim and its denominator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scheme pays for idle hours: Rs 314 to Rs 260 per peak online hour, the fare flat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_1aa1fb98209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four moves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Restate, answer, concede, say what would change your mind</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archive_cfa7931e203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appendix drawer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page per question a role will ask; the caveat stays on the slide</a:t>
            </a:r>
          </a:p>
        </p:txBody>
      </p:sp>
      <p:sp>
        <p:nvSpPr>
          <p:cNvPr id="27" name="TextBox 26"/>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afternoon asks the second question on the ticket:</a:t>
            </a:r>
            <a:r>
              <a:rPr sz="1600" b="0" i="0">
                <a:solidFill>
                  <a:srgbClr val="1A1440"/>
                </a:solidFill>
                <a:latin typeface="Calibri"/>
              </a:rPr>
              <a:t> how many drivers the evening peak needs, sized without a dataset.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the one claim?</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2" name="Oval 3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leaves the slide?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