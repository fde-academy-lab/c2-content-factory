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title and the subtitle: they are the</a:t>
            </a:r>
          </a:p>
          <a:p>
            <a:r>
              <a:t>row's Day focus, in its words. Say the order of the day once: five topics, each taught on an</a:t>
            </a:r>
          </a:p>
          <a:p>
            <a:r>
              <a:t>invented example and each with its own notebook, then Monday's Uber case one day on, then Kalpa in</a:t>
            </a:r>
          </a:p>
          <a:p>
            <a:r>
              <a:t>the lab. Transition: where Tuesday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The amber node is the TA lab, where the same</a:t>
            </a:r>
          </a:p>
          <a:p>
            <a:r>
              <a:t>studio runs on Kalpa Retail. Explorer: the home screen, Tuesday lit.</a:t>
            </a:r>
          </a:p>
          <a:p>
            <a:r>
              <a:t>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topics down the second column once: these are the curriculum's</a:t>
            </a:r>
          </a:p>
          <a:p>
            <a:r>
              <a:t>words, so a learner can find each one again by name. Chapters 1 to 3 run now, each on an invented</a:t>
            </a:r>
          </a:p>
          <a:p>
            <a:r>
              <a:t>example; chapters 6 and 7 open the afternoon after the second studio round, chapter 6 two chapters</a:t>
            </a:r>
          </a:p>
          <a:p>
            <a:r>
              <a:t>before chapter 8, which applies it, and chapter 7 two before chapter 9, so the studio's two rounds</a:t>
            </a:r>
          </a:p>
          <a:p>
            <a:r>
              <a:t>stay together and both afternoon topics are taught before the case uses them. A 10-minute break follows chapter 3. Transition: how the five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Walk the map left to right. The left box is what the room already has: Week 1</a:t>
            </a:r>
          </a:p>
          <a:p>
            <a:r>
              <a:t>Thursday's four-part note (claim, evidence, caveat, action), which today puts on one slide; the</a:t>
            </a:r>
          </a:p>
          <a:p>
            <a:r>
              <a:t>denominator every rate has named since Week 1 Monday, which today's evidence carries; and Monday's</a:t>
            </a:r>
          </a:p>
          <a:p>
            <a:r>
              <a:t>metric, which today's slide must get past the people who lose under it. The five dark boxes are</a:t>
            </a:r>
          </a:p>
          <a:p>
            <a:r>
              <a:t>today's topics in the curriculum's order. Every topic is applied to Uber's case, and the</a:t>
            </a:r>
          </a:p>
          <a:p>
            <a:r>
              <a:t>guesstimate runs once more on Kalpa in the lab; every build week ends on this slide and this</a:t>
            </a:r>
          </a:p>
          <a:p>
            <a:r>
              <a:t>defence. The guesstimate's map step has the shape of Week 1's revenue tree, a chain of factors</a:t>
            </a:r>
          </a:p>
          <a:p>
            <a:r>
              <a:t>multiplied, with guesses where the columns were. The map comes back at the close of each concept</a:t>
            </a:r>
          </a:p>
          <a:p>
            <a:r>
              <a:t>chapter with that chapter's box filled. Transition: the case these topics will be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it as the destination: Monday's illustrative Uber case, one day on, and the</a:t>
            </a:r>
          </a:p>
          <a:p>
            <a:r>
              <a:t>deliverable is the slide the city head takes to Thursday's review. Read the metric's first row and</a:t>
            </a:r>
          </a:p>
          <a:p>
            <a:r>
              <a:t>the ask, nothing more; chapter 4 opens by reading the ticket in full. Gross bookings are what riders</a:t>
            </a:r>
          </a:p>
          <a:p>
            <a:r>
              <a:t>paid for the trips, before Uber's share and before any top-up; an active driver-week is one driver</a:t>
            </a:r>
          </a:p>
          <a:p>
            <a:r>
              <a:t>with a row that week. Ask which of the three roles will quote which row of the table, and leave it</a:t>
            </a:r>
          </a:p>
          <a:p>
            <a:r>
              <a:t>open: chapter 5 answers it.</a:t>
            </a:r>
          </a:p>
          <a:p>
            <a:r>
              <a:t>Transition: chapter 1, the one-slide answer, on a kirana shop.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1 of 5, 35 minutes. Ramesh's shop and every number about it are</a:t>
            </a:r>
          </a:p>
          <a:p>
            <a:r>
              <a:t>invented, and every slide that shows one says so. Laptops stay shut until the code glimpse;</a:t>
            </a:r>
          </a:p>
          <a:p>
            <a:r>
              <a:t>notebook 01 runs the same count on the shop's 56 days afterwards or in the lab. Transition: who</a:t>
            </a:r>
          </a:p>
          <a:p>
            <a:r>
              <a:t>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Define the words as they arrive. A slide, in a company, is one page shown</a:t>
            </a:r>
          </a:p>
          <a:p>
            <a:r>
              <a:t>to the people who decide, for a few minutes, with others in the room who gain or lose by the</a:t>
            </a:r>
          </a:p>
          <a:p>
            <a:r>
              <a:t>decision; those people are the stakeholders. Read the four questions: each gets an answer on the</a:t>
            </a:r>
          </a:p>
          <a:p>
            <a:r>
              <a:t>shop's numbers before the next. Then name the test the chapter builds to: a slide has worked when</a:t>
            </a:r>
          </a:p>
          <a:p>
            <a:r>
              <a:t>the person who loses under it can repeat it accurately, even while disagreeing. Transition: four</a:t>
            </a:r>
          </a:p>
          <a:p>
            <a:r>
              <a:t>titles for Ramesh's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misconception aloud first, in the room's likely words: "more numbers make a</a:t>
            </a:r>
          </a:p>
          <a:p>
            <a:r>
              <a:t>slide more convincing, and a neutral title keeps the reader fair." Letter cards up, a minute</a:t>
            </a:r>
          </a:p>
          <a:p>
            <a:r>
              <a:t>arguing with a neighbour, letter cards up again; count both votes on the board. Expect b, since it</a:t>
            </a:r>
          </a:p>
          <a:p>
            <a:r>
              <a:t>carries the most numbers. Say nothing about which is right. Transition: the reveal, and two notices</a:t>
            </a:r>
          </a:p>
          <a:p>
            <a:r>
              <a:t>on a hostel board.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two notices aloud and ask which of the four titles is like the second one.</a:t>
            </a:r>
          </a:p>
          <a:p>
            <a:r>
              <a:t>This is answer-first communication, Barbara Minto's Pyramid Principle: Management Consulted's page</a:t>
            </a:r>
          </a:p>
          <a:p>
            <a:r>
              <a:t>on it (updated 2 September 2026, checked 13 October 2026) says it "starts with the conclusion first,</a:t>
            </a:r>
          </a:p>
          <a:p>
            <a:r>
              <a:t>then organizes supporting points underneath it". Transition: which number carries the 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hand count, aloud, row by row, the way Week 1 Monday counted every rate:</a:t>
            </a:r>
          </a:p>
          <a:p>
            <a:r>
              <a:t>11,900 / 10 = 1,190; 12,600 / 12 = 1,050; 11,900 / 119 = 100; 12,600 / 126 = 100. Have two</a:t>
            </a:r>
          </a:p>
          <a:p>
            <a:r>
              <a:t>learners say the son's sentence and the father's sentence, each with its denominator named. Then</a:t>
            </a:r>
          </a:p>
          <a:p>
            <a:r>
              <a:t>ask which denominator answers the question Ramesh faces, "do the two extra hours pay?": per hour.</a:t>
            </a:r>
          </a:p>
          <a:p>
            <a:r>
              <a:t>Callback: since Week 1, a rate without its denominator has been a rumour. A second example of the</a:t>
            </a:r>
          </a:p>
          <a:p>
            <a:r>
              <a:t>same shape, an auto driver's day (invented), sits in notebook 01's your-turn cell and the notes.</a:t>
            </a:r>
          </a:p>
          <a:p>
            <a:r>
              <a:t>Transition: the four parts, named.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Build the board region by region: the anchor, then each part in order, then the</a:t>
            </a:r>
          </a:p>
          <a:p>
            <a:r>
              <a:t>pitfalls. The name arrives last, as the shorthand for what the room just counted: the slide's four</a:t>
            </a:r>
          </a:p>
          <a:p>
            <a:r>
              <a:t>parts are claim, evidence, caveat and action. Transition: Ramesh's slide,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Point at 1, 2, 3, 4 in order. The chart is the shop's 56 days as one line of sales</a:t>
            </a:r>
          </a:p>
          <a:p>
            <a:r>
              <a:t>per hour, the change marked; the cluttered version of the same days is chapter 2's. The caveat sits</a:t>
            </a:r>
          </a:p>
          <a:p>
            <a:r>
              <a:t>beside the evidence because the son will raise it first: a festival fortnight fell inside October,</a:t>
            </a:r>
          </a:p>
          <a:p>
            <a:r>
              <a:t>so part of the Rs 700 may be the season. The action carries its cost, Rs 170 a day for the helper's</a:t>
            </a:r>
          </a:p>
          <a:p>
            <a:r>
              <a:t>two extra hours, and who signs. Ask two learners to say the title in the son's voice, then in the</a:t>
            </a:r>
          </a:p>
          <a:p>
            <a:r>
              <a:t>father's.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wrong sentence in the son's voice and ask what decision it would make.</a:t>
            </a:r>
          </a:p>
          <a:p>
            <a:r>
              <a:t>Then the code, one line at a time, said as a sentence: add up each month, divide by its days, divide again by</a:t>
            </a:r>
          </a:p>
          <a:p>
            <a:r>
              <a:t>the hours open, and divide the sales by the customers. Notebook 01 runs it on the 56 days and checks</a:t>
            </a:r>
          </a:p>
          <a:p>
            <a:r>
              <a:t>it against the hand count.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rules are the slide a learner photographs. Check question before moving on:</a:t>
            </a:r>
          </a:p>
          <a:p>
            <a:r>
              <a:t>"which of the four parts did the son's sentence leave out?" It left out the denominator the</a:t>
            </a:r>
          </a:p>
          <a:p>
            <a:r>
              <a:t>decision is priced in, and with it the caveat and the cost. Fill the map's first box. Transition:</a:t>
            </a:r>
          </a:p>
          <a:p>
            <a:r>
              <a:t>chapter 2,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2 of 5, 12 minutes. The same shop and the same invented numbers;</a:t>
            </a:r>
          </a:p>
          <a:p>
            <a:r>
              <a:t>only the question changes.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Choosing what to leave off is the skill: the row says so in as many</a:t>
            </a:r>
          </a:p>
          <a:p>
            <a:r>
              <a:t>words. Read the four questions; each is answered on the draft before the next. Transition: the</a:t>
            </a:r>
          </a:p>
          <a:p>
            <a:r>
              <a:t>draft itself.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first, said aloud: "put everything in the appendix to be safe,</a:t>
            </a:r>
          </a:p>
          <a:p>
            <a:r>
              <a:t>and move the caveat there, since it is only a detail." Letter cards up. Expect a split between a</a:t>
            </a:r>
          </a:p>
          <a:p>
            <a:r>
              <a:t>and b. Transition: the sort that decides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flow with one element at a time from the draft, then read the four</a:t>
            </a:r>
          </a:p>
          <a:p>
            <a:r>
              <a:t>sentences aloud. Option a is the trap: the two that carry the claim are right, and the caveat is</a:t>
            </a:r>
          </a:p>
          <a:p>
            <a:r>
              <a:t>forgotten. Transition: where the five that leave 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page is headed by its owner's question, so Ramesh can turn to it the moment</a:t>
            </a:r>
          </a:p>
          <a:p>
            <a:r>
              <a:t>the question comes. The four lines of code are the sort, one line per branch; notebook 02 runs them</a:t>
            </a:r>
          </a:p>
          <a:p>
            <a:r>
              <a:t>on the eight elements. Transition: the same rule on a chart.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Point at the left chart first and ask what it claims; nobody can say in</a:t>
            </a:r>
          </a:p>
          <a:p>
            <a:r>
              <a:t>five seconds. Then the right. The quote is from Storytelling with Data's post "a new year's</a:t>
            </a:r>
          </a:p>
          <a:p>
            <a:r>
              <a:t>resolution: declutter your graphics" (4 January 2011, checked 13 October 2026). Transition: the</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true or false with its reason: "the slide is still</a:t>
            </a:r>
          </a:p>
          <a:p>
            <a:r>
              <a:t>crowded after the cut, so the festival caveat moves to the appendix." False: the caveat stays</a:t>
            </a:r>
          </a:p>
          <a:p>
            <a:r>
              <a:t>whatever else leaves, and something else goes instead. Fill the map's second box. Transition:</a:t>
            </a:r>
          </a:p>
          <a:p>
            <a:r>
              <a:t>chapter 3, the defence.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3 of 5, 25 minutes. Gulmohar Secondary School and its weeks are</a:t>
            </a:r>
          </a:p>
          <a:p>
            <a:r>
              <a:t>invented.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Most objections are partly right, which is why repeating</a:t>
            </a:r>
          </a:p>
          <a:p>
            <a:r>
              <a:t>the claim louder fails; a concession is not a loss, because the claim rests on the evidence and</a:t>
            </a:r>
          </a:p>
          <a:p>
            <a:r>
              <a:t>survives the objector being right about one part. Transition: the staff meeting.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misconception first, as the row's Kahoot trap says it: "a strong presenter</a:t>
            </a:r>
          </a:p>
          <a:p>
            <a:r>
              <a:t>never concedes." Letter cards, two minutes arguing with a neighbour, letter cards again; count both</a:t>
            </a:r>
          </a:p>
          <a:p>
            <a:r>
              <a:t>votes on the board. Expect a split between a and c. Transition: the school's weeks.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hand count, aloud. Last year: weeks 6 to 8 average 85.0, weeks 3 to 5 average</a:t>
            </a:r>
          </a:p>
          <a:p>
            <a:r>
              <a:t>76.7, so exams add 8.3. This year: 89.3 against 81.3, so 8.0. Weeks 3 to 5, this year against last:</a:t>
            </a:r>
          </a:p>
          <a:p>
            <a:r>
              <a:t>81.3 against 76.7, 4.7 points, with weeks 1 and 2 at 76.5 in both years. Transition: the same</a:t>
            </a:r>
          </a:p>
          <a:p>
            <a:r>
              <a:t>numbers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grey line, then the violet one. Ask what the sports teacher was looking</a:t>
            </a:r>
          </a:p>
          <a:p>
            <a:r>
              <a:t>at: the jump at week 6, which both years share. The gap from week 3 is the evidence the defence</a:t>
            </a:r>
          </a:p>
          <a:p>
            <a:r>
              <a:t>stands on. 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four moves in character, then name them, the rule arriving last. Move 4 is</a:t>
            </a:r>
          </a:p>
          <a:p>
            <a:r>
              <a:t>the one first defences skip, and it is what tells the room the claim can be tested: Week 1</a:t>
            </a:r>
          </a:p>
          <a:p>
            <a:r>
              <a:t>Thursday's fair comparison, said aloud. Rapoport's first rule, as The Marginalian quotes Dennett's</a:t>
            </a:r>
          </a:p>
          <a:p>
            <a:r>
              <a:t>Intuition Pumps (checked 13 October 2026): re-express the target's position "so clearly, vividly,</a:t>
            </a:r>
          </a:p>
          <a:p>
            <a:r>
              <a:t>and fairly" that the target says "Thanks, I wish I'd thought of putting it that way"; the second</a:t>
            </a:r>
          </a:p>
          <a:p>
            <a:r>
              <a:t>lists the points of agreement. Transition: two ways to lose the room.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failures in character. The last line is the [D] interview question's</a:t>
            </a:r>
          </a:p>
          <a:p>
            <a:r>
              <a:t>answer in miniature: the person who loses under your claim controls the meeting, so the concession</a:t>
            </a:r>
          </a:p>
          <a:p>
            <a:r>
              <a:t>and the deciding test are agreed before it. The Kahoot's trap item asks whether the best defence</a:t>
            </a:r>
          </a:p>
          <a:p>
            <a:r>
              <a:t>never concedes anything; it is false. Transition: the two numbers, in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each line aloud as a sentence: one row per week, one column per year;</a:t>
            </a:r>
          </a:p>
          <a:p>
            <a:r>
              <a:t>the exam weeks against the three weeks before them; the early weeks this year against last year.</a:t>
            </a:r>
          </a:p>
          <a:p>
            <a:r>
              <a:t>Notebook 03 runs it and composes the four moves from the two numbers.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of the four moves does 'you may be right, let us wait'</a:t>
            </a:r>
          </a:p>
          <a:p>
            <a:r>
              <a:t>leave out?" It concedes everything and answers nothing, so moves 2 and 4 are missing. Fill the</a:t>
            </a:r>
          </a:p>
          <a:p>
            <a:r>
              <a:t>map's third box. Then the break, 10 minutes. Transition: after the break, the case: Uber's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levels L1 and L2 of the ladder, 40 minutes with the five on</a:t>
            </a:r>
          </a:p>
          <a:p>
            <a:r>
              <a:t>what each role loses. Laptops closed until the twelve rows. Styles: Brilliant (the chapter opens on</a:t>
            </a:r>
          </a:p>
          <a:p>
            <a:r>
              <a:t>a question), Veritasium (predict, then reveal), StatQuest (the twelve rows summed aloud),</a:t>
            </a:r>
          </a:p>
          <a:p>
            <a:r>
              <a:t>Storytelling with Data and Minto (the makeover, the answer first). Explorer scene T1 runs beside</a:t>
            </a:r>
          </a:p>
          <a:p>
            <a:r>
              <a:t>slide A's rebuild and scene T2 beside the per-driver-week prediction. Transition: what the chapter</a:t>
            </a:r>
          </a:p>
          <a:p>
            <a:r>
              <a:t>applies,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Go back to the ticket slide and read it in full now, top to bottom: the</a:t>
            </a:r>
          </a:p>
          <a:p>
            <a:r>
              <a:t>metric with its values before and after, the two tables and their columns, the ask, the caveats and</a:t>
            </a:r>
          </a:p>
          <a:p>
            <a:r>
              <a:t>the label line. Then the four questions. Every word the chapter needs was taught this morning:</a:t>
            </a:r>
          </a:p>
          <a:p>
            <a:r>
              <a:t>claim, evidence, caveat, action, the appendix.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half to a fifth of that is still paid because those drivers start accepting: half still paid saves</a:t>
            </a:r>
          </a:p>
          <a:p>
            <a:r>
              <a:t>Rs 58 lakh, a fifth saves Rs 92.7 lakh. S30 shows the working.</a:t>
            </a:r>
          </a:p>
          <a:p>
            <a:r>
              <a:t>Transition: what each role loses, chapter 1's loser test on real roles.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a learner asks how a Rs 300 floor costs Rs 1.9 crore when an hour brought in Rs 260</a:t>
            </a:r>
          </a:p>
          <a:p>
            <a:r>
              <a:t>of fares: the floor is checked driver by driver, week by week, on the driver's own trip earnings, and</a:t>
            </a:r>
          </a:p>
          <a:p>
            <a:r>
              <a:t>the idle tail's 42,000 hours carried Rs 1.16 crore of it, about Rs 276 an hour. Cards hidden first.</a:t>
            </a:r>
          </a:p>
          <a:p>
            <a:r>
              <a:t>Groups of three spend 3 minutes listing what each role loses, the loser test of chapter 1 on three</a:t>
            </a:r>
          </a:p>
          <a:p>
            <a:r>
              <a:t>real roles; take one loss per role from three groups and write them on the board (1 minute), then</a:t>
            </a:r>
          </a:p>
          <a:p>
            <a:r>
              <a:t>show the cards (1 minute). A loss the room names that the cards miss goes on the board as well: it</a:t>
            </a:r>
          </a:p>
          <a:p>
            <a:r>
              <a:t>will come back as an objection in chapter 5.</a:t>
            </a:r>
          </a:p>
          <a:p>
            <a:r>
              <a:t>Transition: four titles for finance's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Hands for each letter, counts on the board. Expect votes on b, since it carries</a:t>
            </a:r>
          </a:p>
          <a:p>
            <a:r>
              <a:t>numbers. Say nothing about which is right.</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line of recall: chapter 1's notice board and the four parts are on the</a:t>
            </a:r>
          </a:p>
          <a:p>
            <a:r>
              <a:t>board from the morning; point at the claim box. Minto's site describes ideas organised as a pyramid</a:t>
            </a:r>
          </a:p>
          <a:p>
            <a:r>
              <a:t>under a single point (barbaraminto.com, checked 13 October 2026).</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group writes one letter. Expect a split between a and b. The point of the</a:t>
            </a:r>
          </a:p>
          <a:p>
            <a:r>
              <a:t>vote is that a carries two true numbers and no claim, which is why the room reaches for it.</a:t>
            </a:r>
          </a:p>
          <a:p>
            <a:r>
              <a:t>Explorer scene T1 stays on slide A's nine numbers until every letter is in; nothing is unticked yet.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worked example of the guided exercise: rebuild it with the room</a:t>
            </a:r>
          </a:p>
          <a:p>
            <a:r>
              <a:t>mirroring, part by part, the four parts of chapter 1. Point at 1, 2, 3, 4 in order: the chart names its denominator in its title,</a:t>
            </a:r>
          </a:p>
          <a:p>
            <a:r>
              <a:t>the caveat sits beside the evidence, and the action states the saving with the assumption behind it. The drop lands in the launch week: the</a:t>
            </a:r>
          </a:p>
          <a:p>
            <a:r>
              <a:t>highest after week, Rs 271, sits below the lowest before week, Rs 310, which is why the chart, not</a:t>
            </a:r>
          </a:p>
          <a:p>
            <a:r>
              <a:t>the bar pair, is the evidence. In explorer scene T1, untick the seven numbers that leave, one at a time,</a:t>
            </a:r>
          </a:p>
          <a:p>
            <a:r>
              <a:t>as each part is pointed at.</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S36 and S37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Chapter 1's kirana read the same rupees per day, per hour</a:t>
            </a:r>
          </a:p>
          <a:p>
            <a:r>
              <a:t>and per customer; the same three divisions run here on twelve driver-weeks: six drivers, the week of 10 August against the week of 21</a:t>
            </a:r>
          </a:p>
          <a:p>
            <a:r>
              <a:t>September. Count aloud, column by column: 60 and 74 hours, 114 and 88 trips, 18,810 and 14,520</a:t>
            </a:r>
          </a:p>
          <a:p>
            <a:r>
              <a:t>rupees. Divide three times for each week and say the three verdicts. E and F are Monday's two</a:t>
            </a:r>
          </a:p>
          <a:p>
            <a:r>
              <a:t>idle-tail drivers, which is why six drivers fall further than the city. These six drive about 10</a:t>
            </a:r>
          </a:p>
          <a:p>
            <a:r>
              <a:t>peak hours a week against the city's 18.6, so their rupees per driver-week sit below the city's:</a:t>
            </a:r>
          </a:p>
          <a:p>
            <a:r>
              <a:t>the hand count is for the method, and the city's numbers come next.</a:t>
            </a:r>
          </a:p>
          <a:p>
            <a:r>
              <a:t>Transition: the city does something the six did not.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means per active driver-week: one driver with a row that week.</a:t>
            </a:r>
          </a:p>
          <a:p>
            <a:r>
              <a:t>Each learner writes a letter. Expect votes on a, since new drivers are the obvious change.</a:t>
            </a:r>
          </a:p>
          <a:p>
            <a:r>
              <a:t>Explorer scene T2, the denominator picker, stays closed until every letter is written; it opens on S40.</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violet line first: a step at the launch, then flat. Then the amber line:</a:t>
            </a:r>
          </a:p>
          <a:p>
            <a:r>
              <a:t>up while hours climbed, down as trips per hour kept falling. Ask which role will quote the amber</a:t>
            </a:r>
          </a:p>
          <a:p>
            <a:r>
              <a:t>line. Expect the marketing lead. Explorer scene T2 lets learners pick the denominator.</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the split on the board: Rs per driver-week = Rs per hour x hours per</a:t>
            </a:r>
          </a:p>
          <a:p>
            <a:r>
              <a:t>driver-week. Then the three growth rates: bookings 3.0, driver-weeks 2.2, ratio 0.8. An active</a:t>
            </a:r>
          </a:p>
          <a:p>
            <a:r>
              <a:t>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04 asserts the two routes agree to the paisa. Say it as one line the</a:t>
            </a:r>
          </a:p>
          <a:p>
            <a:r>
              <a:t>slide's owner can repeat: the fare held, the trips per hour fell.</a:t>
            </a:r>
          </a:p>
          <a:p>
            <a:r>
              <a:t>Transition: what chapter 4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to say the plain sentence aloud without the slide.</a:t>
            </a:r>
          </a:p>
          <a:p>
            <a:r>
              <a:t>Transition: chapter 5,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second case chapter, L3 of the ladder with round one of the studio as L5</a:t>
            </a:r>
          </a:p>
          <a:p>
            <a:r>
              <a:t>practice and the drawer as L4, 52 minutes: 40 on the objections and round one, 12 on the drawer and</a:t>
            </a:r>
          </a:p>
          <a:p>
            <a:r>
              <a:t>the drill. Styles: Veritasium (predict which role the city head sides with), the case method</a:t>
            </a:r>
          </a:p>
          <a:p>
            <a:r>
              <a:t>(Monday's three roles return, each partly right), peer instruction (the vote and the revote).</a:t>
            </a:r>
          </a:p>
          <a:p>
            <a:r>
              <a:t>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four moves were taught on the school this morning; here they meet</a:t>
            </a:r>
          </a:p>
          <a:p>
            <a:r>
              <a:t>three people with real stakes.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 Expect</a:t>
            </a:r>
          </a:p>
          <a:p>
            <a:r>
              <a:t>votes on c, since the monsoon sounds like the safest explanation.</a:t>
            </a:r>
          </a:p>
          <a:p>
            <a:r>
              <a:t>Transition: the true part of each objection.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880 are the 1,200 drivers less the 180 in the idle tail and the 140</a:t>
            </a:r>
          </a:p>
          <a:p>
            <a:r>
              <a:t>joiners, and none of the joiners is in the tail. The 180 had also run at 1.90 trips an hour before</a:t>
            </a:r>
          </a:p>
          <a:p>
            <a:r>
              <a:t>the launch, so the tail is drivers who changed, never drivers who were always slow. Weekly requests</a:t>
            </a:r>
          </a:p>
          <a:p>
            <a:r>
              <a:t>in the last three weeks ran 41,161 to 42,602, against 41,155 to 42,719 before the launch.</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Hand out the scorer's cards: chapter 3's four moves, taught on the school this</a:t>
            </a:r>
          </a:p>
          <a:p>
            <a:r>
              <a:t>morning. The two failures, overclaiming and retreating, were chapter 3's too.</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30 seconds. The trainer models this defence first, conceding on purpose, then points at each</a:t>
            </a:r>
          </a:p>
          <a:p>
            <a:r>
              <a:t>move on the S47 card. Every number is Monday's L4 cut, from the facts file.</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and after the round name one of each without names: a retreat</a:t>
            </a:r>
          </a:p>
          <a:p>
            <a:r>
              <a:t>is fixed by "which line of your evidence did the objection touch?", an overclaim by "what would</a:t>
            </a:r>
          </a:p>
          <a:p>
            <a:r>
              <a:t>change your mind?", chapter 3's two failures.</a:t>
            </a:r>
          </a:p>
          <a:p>
            <a:r>
              <a:t>Transition: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Chapter 2's sort, applied: the trap here is a caveat in the drawer. Walk the three pages and ask what each</a:t>
            </a:r>
          </a:p>
          <a:p>
            <a:r>
              <a:t>role's page must hold. The common wrong answer in an interview is "I put everything in the</a:t>
            </a:r>
          </a:p>
          <a:p>
            <a:r>
              <a:t>appendix".</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 The two that carry it: the wait barely moved, and each extra trip cost Rs 2,836 of top-up</a:t>
            </a:r>
          </a:p>
          <a:p>
            <a:r>
              <a:t>(Rs 1.9 crore over the 6,700 extra trips).</a:t>
            </a:r>
          </a:p>
          <a:p>
            <a:r>
              <a:t>Transition: what chapter 5 adds.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learner says the slide's four parts and the three appendix headings from</a:t>
            </a:r>
          </a:p>
          <a:p>
            <a:r>
              <a:t>memory.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three cards. Lunch.</a:t>
            </a:r>
          </a:p>
          <a:p>
            <a:r>
              <a:t>Transition: half two, round two of the studio, then the guesstimate.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 Id="rId6"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2.png"/><Relationship Id="rId6"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2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Stakeholder communication, then the first guesstimate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slide, five minutes, three people paid to disagree: can the answer survive, and can a number be sized from nothing?</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Taught on invented examples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kirana shop, a secondary school and a campus canteen carry the five topics, each counted by hand before any code.</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r_2853f22980e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Uber, Hyderabad, one day on</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Monday's redesign of the peak-hour guarantee goes to Thursday's city review on one slide; then a number is sized from nothing.</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ilding-2_19e68cdc22c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Kalpa Retail</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north-star slide presented to a TA, and the sign-ups a new store could win in its first year.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5" name="Oval 3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4a6dd0cdefb73055.png"/>
          <p:cNvPicPr>
            <a:picLocks noChangeAspect="1"/>
          </p:cNvPicPr>
          <p:nvPr/>
        </p:nvPicPr>
        <p:blipFill>
          <a:blip r:embed="rId5"/>
          <a:stretch>
            <a:fillRect/>
          </a:stretch>
        </p:blipFill>
        <p:spPr>
          <a:xfrm>
            <a:off x="530352" y="1956816"/>
            <a:ext cx="11130991" cy="2536050"/>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in five chapters, then Uber applies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Tuesday teach, in what order, for how long, and in which notebook?</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914400"/>
                <a:gridCol w="6624442"/>
                <a:gridCol w="1575434"/>
                <a:gridCol w="914400"/>
                <a:gridCol w="1102314"/>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in the curriculum's words</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The one-slide answer: claim, evidence, caveat, action</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What to leave out, and the appendix</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02</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Defending under challenge: restate, answer, concede, what would change your mind</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03</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guesstimate: clarify, map, calculate, validate</a:t>
                      </a:r>
                    </a:p>
                  </a:txBody>
                  <a:tcPr marL="101600" marR="101600" marT="38100" marB="38100" anchor="ctr">
                    <a:solidFill>
                      <a:srgbClr val="F4F2FA"/>
                    </a:solidFill>
                  </a:tcPr>
                </a:tc>
                <a:tc>
                  <a:txBody>
                    <a:bodyPr/>
                    <a:lstStyle/>
                    <a:p>
                      <a:r>
                        <a:rPr sz="1200" b="0" i="0">
                          <a:solidFill>
                            <a:srgbClr val="1A1440"/>
                          </a:solidFill>
                          <a:latin typeface="Calibri"/>
                        </a:rPr>
                        <a:t>6, after lunch</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06</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The AI-free written business case</a:t>
                      </a:r>
                    </a:p>
                  </a:txBody>
                  <a:tcPr marL="101600" marR="101600" marT="38100" marB="38100" anchor="ctr">
                    <a:solidFill>
                      <a:srgbClr val="FFFFFF"/>
                    </a:solidFill>
                  </a:tcPr>
                </a:tc>
                <a:tc>
                  <a:txBody>
                    <a:bodyPr/>
                    <a:lstStyle/>
                    <a:p>
                      <a:r>
                        <a:rPr sz="1200" b="0" i="0">
                          <a:solidFill>
                            <a:srgbClr val="1A1440"/>
                          </a:solidFill>
                          <a:latin typeface="Calibri"/>
                        </a:rPr>
                        <a:t>7, after lunch</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07</a:t>
                      </a:r>
                    </a:p>
                  </a:txBody>
                  <a:tcPr marL="101600" marR="101600" marT="38100" marB="38100" anchor="ctr">
                    <a:solidFill>
                      <a:srgbClr val="FFFFFF"/>
                    </a:solidFill>
                  </a:tcPr>
                </a:tc>
              </a:tr>
            </a:tbl>
          </a:graphicData>
        </a:graphic>
      </p:graphicFrame>
      <p:sp>
        <p:nvSpPr>
          <p:cNvPr id="10" name="TextBox 9"/>
          <p:cNvSpPr txBox="1"/>
          <p:nvPr/>
        </p:nvSpPr>
        <p:spPr>
          <a:xfrm>
            <a:off x="530352" y="4224528"/>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Chapters 4 and 5 apply topics 1 to 3 to Uber's slide before lunch; chapters 8 to 10 apply topics 4 and 5 after it, with topics 1 and 3 back in the page and the interview room; and the lab runs the guesstimate on Kalpa Retail in notebook 11. A slide numbered D is for self-study, and each interview line carries this programme's tag: [S] a staple asked everywhere, [F] frequent in product-company and global capability centre screens, [D] a differentiator.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joined to what came before and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what does it feed, and where is it applied?</a:t>
            </a:r>
          </a:p>
        </p:txBody>
      </p:sp>
      <p:pic>
        <p:nvPicPr>
          <p:cNvPr id="9" name="mermaid diagram" descr="e9beceaf40665de2.png"/>
          <p:cNvPicPr>
            <a:picLocks noChangeAspect="1"/>
          </p:cNvPicPr>
          <p:nvPr/>
        </p:nvPicPr>
        <p:blipFill>
          <a:blip r:embed="rId5"/>
          <a:stretch>
            <a:fillRect/>
          </a:stretch>
        </p:blipFill>
        <p:spPr>
          <a:xfrm>
            <a:off x="530352" y="1956816"/>
            <a:ext cx="11130991" cy="2603491"/>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682496"/>
            <a:ext cx="5291175" cy="1428496"/>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Uber, Hyderabad, the driver app's peak-hour earnings guarantee, one day on.</a:t>
            </a:r>
            <a:r>
              <a:rPr sz="1400" b="0" i="0">
                <a:solidFill>
                  <a:srgbClr val="1A1440"/>
                </a:solidFill>
                <a:latin typeface="Calibri"/>
              </a:rPr>
              <a:t> Thursday's city review gets one slide, five minutes, and three people who each lose under the redesign. Gross bookings are what riders paid; an active driver-week is one driver with a row that week.</a:t>
            </a:r>
          </a:p>
        </p:txBody>
      </p:sp>
      <p:graphicFrame>
        <p:nvGraphicFramePr>
          <p:cNvPr id="10" name="Table 9"/>
          <p:cNvGraphicFramePr>
            <a:graphicFrameLocks noGrp="1"/>
          </p:cNvGraphicFramePr>
          <p:nvPr/>
        </p:nvGraphicFramePr>
        <p:xfrm>
          <a:off x="530352" y="3239008"/>
          <a:ext cx="5291174" cy="1938528"/>
        </p:xfrm>
        <a:graphic>
          <a:graphicData uri="http://schemas.openxmlformats.org/drawingml/2006/table">
            <a:tbl>
              <a:tblPr firstRow="0" bandRow="0">
                <a:tableStyleId>{2D5ABB26-0587-4C30-8999-92F81FD0307C}</a:tableStyleId>
              </a:tblPr>
              <a:tblGrid>
                <a:gridCol w="2190445"/>
                <a:gridCol w="1351856"/>
                <a:gridCol w="1748873"/>
              </a:tblGrid>
              <a:tr h="310896">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900" b="0" i="0">
                          <a:solidFill>
                            <a:srgbClr val="1A1440"/>
                          </a:solidFill>
                          <a:latin typeface="Calibri"/>
                        </a:rPr>
                        <a:t>Rs 314</a:t>
                      </a:r>
                    </a:p>
                  </a:txBody>
                  <a:tcPr marL="101600" marR="101600" marT="38100" marB="38100" anchor="ctr">
                    <a:solidFill>
                      <a:srgbClr val="FFFFFF"/>
                    </a:solidFill>
                  </a:tcPr>
                </a:tc>
                <a:tc>
                  <a:txBody>
                    <a:bodyPr/>
                    <a:lstStyle/>
                    <a:p>
                      <a:r>
                        <a:rPr sz="900" b="0" i="0">
                          <a:solidFill>
                            <a:srgbClr val="1A1440"/>
                          </a:solidFill>
                          <a:latin typeface="Calibri"/>
                        </a:rPr>
                        <a:t>Rs 260, down 17 percent</a:t>
                      </a:r>
                    </a:p>
                  </a:txBody>
                  <a:tcPr marL="101600" marR="101600" marT="38100" marB="38100" anchor="ctr">
                    <a:solidFill>
                      <a:srgbClr val="FFFFFF"/>
                    </a:solidFill>
                  </a:tcPr>
                </a:tc>
              </a:tr>
              <a:tr h="438912">
                <a:tc>
                  <a:txBody>
                    <a:bodyPr/>
                    <a:lstStyle/>
                    <a:p>
                      <a:r>
                        <a:rPr sz="9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900" b="0" i="0">
                          <a:solidFill>
                            <a:srgbClr val="1A1440"/>
                          </a:solidFill>
                          <a:latin typeface="Calibri"/>
                        </a:rPr>
                        <a:t>Rs 165</a:t>
                      </a:r>
                    </a:p>
                  </a:txBody>
                  <a:tcPr marL="101600" marR="101600" marT="38100" marB="38100" anchor="ctr">
                    <a:solidFill>
                      <a:srgbClr val="F4F2FA"/>
                    </a:solidFill>
                  </a:tcPr>
                </a:tc>
                <a:tc>
                  <a:txBody>
                    <a:bodyPr/>
                    <a:lstStyle/>
                    <a:p>
                      <a:r>
                        <a:rPr sz="900" b="0" i="0">
                          <a:solidFill>
                            <a:srgbClr val="1A1440"/>
                          </a:solidFill>
                          <a:latin typeface="Calibri"/>
                        </a:rPr>
                        <a:t>Rs 165, flat</a:t>
                      </a:r>
                    </a:p>
                  </a:txBody>
                  <a:tcPr marL="101600" marR="101600" marT="38100" marB="38100" anchor="ctr">
                    <a:solidFill>
                      <a:srgbClr val="F4F2FA"/>
                    </a:solidFill>
                  </a:tcPr>
                </a:tc>
              </a:tr>
              <a:tr h="438912">
                <a:tc>
                  <a:txBody>
                    <a:bodyPr/>
                    <a:lstStyle/>
                    <a:p>
                      <a:r>
                        <a:rPr sz="9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900" b="0" i="0">
                          <a:solidFill>
                            <a:srgbClr val="1A1440"/>
                          </a:solidFill>
                          <a:latin typeface="Calibri"/>
                        </a:rPr>
                        <a:t>Rs 5,817</a:t>
                      </a:r>
                    </a:p>
                  </a:txBody>
                  <a:tcPr marL="101600" marR="101600" marT="38100" marB="38100" anchor="ctr">
                    <a:solidFill>
                      <a:srgbClr val="FFFFFF"/>
                    </a:solidFill>
                  </a:tcPr>
                </a:tc>
                <a:tc>
                  <a:txBody>
                    <a:bodyPr/>
                    <a:lstStyle/>
                    <a:p>
                      <a:r>
                        <a:rPr sz="900" b="0" i="0">
                          <a:solidFill>
                            <a:srgbClr val="1A1440"/>
                          </a:solidFill>
                          <a:latin typeface="Calibri"/>
                        </a:rPr>
                        <a:t>Rs 5,861, up 0.8 percent</a:t>
                      </a:r>
                    </a:p>
                  </a:txBody>
                  <a:tcPr marL="101600" marR="101600" marT="38100" marB="38100" anchor="ctr">
                    <a:solidFill>
                      <a:srgbClr val="FFFFFF"/>
                    </a:solidFill>
                  </a:tcPr>
                </a:tc>
              </a:tr>
              <a:tr h="310896">
                <a:tc>
                  <a:txBody>
                    <a:bodyPr/>
                    <a:lstStyle/>
                    <a:p>
                      <a:r>
                        <a:rPr sz="900" b="0" i="0">
                          <a:solidFill>
                            <a:srgbClr val="1A1440"/>
                          </a:solidFill>
                          <a:latin typeface="Calibri"/>
                        </a:rPr>
                        <a:t>Peak online hours</a:t>
                      </a:r>
                    </a:p>
                  </a:txBody>
                  <a:tcPr marL="101600" marR="101600" marT="38100" marB="38100" anchor="ctr">
                    <a:solidFill>
                      <a:srgbClr val="F4F2FA"/>
                    </a:solidFill>
                  </a:tcPr>
                </a:tc>
                <a:tc>
                  <a:txBody>
                    <a:bodyPr/>
                    <a:lstStyle/>
                    <a:p>
                      <a:r>
                        <a:rPr sz="900" b="0" i="0">
                          <a:solidFill>
                            <a:srgbClr val="1A1440"/>
                          </a:solidFill>
                          <a:latin typeface="Calibri"/>
                        </a:rPr>
                        <a:t>118,000</a:t>
                      </a:r>
                    </a:p>
                  </a:txBody>
                  <a:tcPr marL="101600" marR="101600" marT="38100" marB="38100" anchor="ctr">
                    <a:solidFill>
                      <a:srgbClr val="F4F2FA"/>
                    </a:solidFill>
                  </a:tcPr>
                </a:tc>
                <a:tc>
                  <a:txBody>
                    <a:bodyPr/>
                    <a:lstStyle/>
                    <a:p>
                      <a:r>
                        <a:rPr sz="900" b="0" i="0">
                          <a:solidFill>
                            <a:srgbClr val="1A1440"/>
                          </a:solidFill>
                          <a:latin typeface="Calibri"/>
                        </a:rPr>
                        <a:t>146,300, up 24 percent</a:t>
                      </a:r>
                    </a:p>
                  </a:txBody>
                  <a:tcPr marL="101600" marR="101600" marT="38100" marB="38100" anchor="ctr">
                    <a:solidFill>
                      <a:srgbClr val="F4F2FA"/>
                    </a:solidFill>
                  </a:tcPr>
                </a:tc>
              </a:tr>
            </a:tbl>
          </a:graphicData>
        </a:graphic>
      </p:graphicFrame>
      <p:sp>
        <p:nvSpPr>
          <p:cNvPr id="11" name="Rounded Rectangle 10"/>
          <p:cNvSpPr/>
          <p:nvPr/>
        </p:nvSpPr>
        <p:spPr>
          <a:xfrm>
            <a:off x="6370167" y="1682496"/>
            <a:ext cx="5291175" cy="18922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16362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1709419"/>
          </a:xfrm>
          <a:prstGeom prst="rect">
            <a:avLst/>
          </a:prstGeom>
          <a:noFill/>
        </p:spPr>
        <p:txBody>
          <a:bodyPr wrap="square" anchor="ctr" lIns="0" rIns="0" tIns="0" bIns="0">
            <a:spAutoFit/>
          </a:bodyPr>
          <a:lstStyle/>
          <a:p>
            <a:r>
              <a:rPr sz="1300" b="1">
                <a:solidFill>
                  <a:srgbClr val="5B3FD6"/>
                </a:solidFill>
                <a:latin typeface="Calibri"/>
              </a:rPr>
              <a:t>Data. </a:t>
            </a:r>
            <a:r>
              <a:rPr sz="1300" b="0" i="0">
                <a:solidFill>
                  <a:srgbClr val="1A1440"/>
                </a:solidFill>
                <a:latin typeface="Calibri"/>
              </a:rPr>
              <a:t>Monday's driver_weeks (peak_online_hours, peak_trips, peak_bookings_rs, topup_rs) and zone_weeks (peak_requests, median_wait_min). </a:t>
            </a:r>
            <a:r>
              <a:rPr sz="1300" b="1" i="0">
                <a:solidFill>
                  <a:srgbClr val="1A1440"/>
                </a:solidFill>
                <a:latin typeface="Calibri"/>
              </a:rPr>
              <a:t>Afternoon ask.</a:t>
            </a:r>
            <a:r>
              <a:rPr sz="1300" b="0" i="0">
                <a:solidFill>
                  <a:srgbClr val="1A1440"/>
                </a:solidFill>
                <a:latin typeface="Calibri"/>
              </a:rPr>
              <a:t> Estimate, in fifteen minutes, how many drivers must be online at the three-hour weekday evening peak for a median wait under five minutes. </a:t>
            </a:r>
            <a:r>
              <a:rPr sz="1300" b="1" i="0">
                <a:solidFill>
                  <a:srgbClr val="1A1440"/>
                </a:solidFill>
                <a:latin typeface="Calibri"/>
              </a:rPr>
              <a:t>Caveats.</a:t>
            </a:r>
            <a:r>
              <a:rPr sz="1300" b="0" i="0">
                <a:solidFill>
                  <a:srgbClr val="1A1440"/>
                </a:solidFill>
                <a:latin typeface="Calibri"/>
              </a:rPr>
              <a:t> Each objection is partly right; no published figure checks the afternoon's answer.</a:t>
            </a:r>
          </a:p>
        </p:txBody>
      </p:sp>
      <p:sp>
        <p:nvSpPr>
          <p:cNvPr id="14" name="Rounded Rectangle 13"/>
          <p:cNvSpPr/>
          <p:nvPr/>
        </p:nvSpPr>
        <p:spPr>
          <a:xfrm>
            <a:off x="6370167" y="3739388"/>
            <a:ext cx="45720" cy="9296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26199" y="3739388"/>
            <a:ext cx="4980279" cy="929640"/>
          </a:xfrm>
          <a:prstGeom prst="rect">
            <a:avLst/>
          </a:prstGeom>
          <a:noFill/>
        </p:spPr>
        <p:txBody>
          <a:bodyPr wrap="square" anchor="t" lIns="0" rIns="0" tIns="0" bIns="0">
            <a:spAutoFit/>
          </a:bodyPr>
          <a:lstStyle/>
          <a:p>
            <a:r>
              <a:rPr sz="14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one-slide answer: claim, evidence, caveat, action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slide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taught on Ramesh's kirana shop, invented for this chapter: one claim as the title, one number with its denominator, the caveat in sight and the action with its cost, so the person who loses under it can repeat it.</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slide carries one decision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one-slide answer: claim, evidence, caveat, action.</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owns a kirana shop (invented) and opened it two more hours a day from October; he must decide whether the longer hours stay. His son argued for them and loses if they go.</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claim?</a:t>
            </a:r>
          </a:p>
        </p:txBody>
      </p:sp>
      <p:sp>
        <p:nvSpPr>
          <p:cNvPr id="20" name="TextBox 19"/>
          <p:cNvSpPr txBox="1"/>
          <p:nvPr/>
        </p:nvSpPr>
        <p:spPr>
          <a:xfrm>
            <a:off x="694944" y="4955794"/>
            <a:ext cx="2316403" cy="531876"/>
          </a:xfrm>
          <a:prstGeom prst="rect">
            <a:avLst/>
          </a:prstGeom>
          <a:noFill/>
        </p:spPr>
        <p:txBody>
          <a:bodyPr wrap="square" anchor="t" lIns="0" rIns="0" tIns="0" bIns="0">
            <a:spAutoFit/>
          </a:bodyPr>
          <a:lstStyle/>
          <a:p>
            <a:pPr algn="l"/>
            <a:r>
              <a:rPr sz="1000" b="0" i="0">
                <a:solidFill>
                  <a:srgbClr val="6B6690"/>
                </a:solidFill>
                <a:latin typeface="Calibri"/>
              </a:rPr>
              <a:t>One sentence with a verb, as the title, saying what is true and what to do.</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is the evidence?</a:t>
            </a:r>
          </a:p>
        </p:txBody>
      </p:sp>
      <p:sp>
        <p:nvSpPr>
          <p:cNvPr id="25" name="TextBox 24"/>
          <p:cNvSpPr txBox="1"/>
          <p:nvPr/>
        </p:nvSpPr>
        <p:spPr>
          <a:xfrm>
            <a:off x="3523411"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One number with its denominator, or one chart, from a named window.</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caveat?</a:t>
            </a:r>
          </a:p>
        </p:txBody>
      </p:sp>
      <p:sp>
        <p:nvSpPr>
          <p:cNvPr id="30" name="TextBox 29"/>
          <p:cNvSpPr txBox="1"/>
          <p:nvPr/>
        </p:nvSpPr>
        <p:spPr>
          <a:xfrm>
            <a:off x="6351879"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one thing the evidence cannot show yet.</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action?</a:t>
            </a:r>
          </a:p>
        </p:txBody>
      </p:sp>
      <p:sp>
        <p:nvSpPr>
          <p:cNvPr id="35" name="TextBox 34"/>
          <p:cNvSpPr txBox="1"/>
          <p:nvPr/>
        </p:nvSpPr>
        <p:spPr>
          <a:xfrm>
            <a:off x="9180347"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to do, its cost in rupees and weeks, and who signs.</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title for Ramesh's slide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 opened two more hours a day in October (invented). Which title tells him what to do on the first read?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broken default. </a:t>
            </a:r>
            <a:r>
              <a:rPr sz="1500" b="0" i="0">
                <a:solidFill>
                  <a:srgbClr val="1A1440"/>
                </a:solidFill>
                <a:latin typeface="Calibri"/>
              </a:rPr>
              <a:t>A slide with no claim makes every reader hunt for a point, so the son reads one number and the father another.</a:t>
            </a:r>
          </a:p>
        </p:txBody>
      </p:sp>
      <p:sp>
        <p:nvSpPr>
          <p:cNvPr id="12" name="TextBox 11"/>
          <p:cNvSpPr txBox="1"/>
          <p:nvPr/>
        </p:nvSpPr>
        <p:spPr>
          <a:xfrm>
            <a:off x="530352" y="2929128"/>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Shop sales, October</a:t>
            </a:r>
          </a:p>
          <a:p>
            <a:pPr>
              <a:spcAft>
                <a:spcPts val="800"/>
              </a:spcAft>
            </a:pPr>
            <a:r>
              <a:rPr sz="1600" b="0" i="0">
                <a:solidFill>
                  <a:srgbClr val="1A1440"/>
                </a:solidFill>
                <a:latin typeface="Calibri"/>
              </a:rPr>
              <a:t>b) Sales Rs 12,600 a day, up Rs 700; 126 customers; 12 hours open</a:t>
            </a:r>
          </a:p>
          <a:p>
            <a:pPr>
              <a:spcAft>
                <a:spcPts val="800"/>
              </a:spcAft>
            </a:pPr>
            <a:r>
              <a:rPr sz="1600" b="0" i="0">
                <a:solidFill>
                  <a:srgbClr val="1A1440"/>
                </a:solidFill>
                <a:latin typeface="Calibri"/>
              </a:rPr>
              <a:t>c) The longer hours add Rs 700 a day but earn less per hour, so count the evening on its own before deciding</a:t>
            </a:r>
          </a:p>
          <a:p>
            <a:pPr>
              <a:spcAft>
                <a:spcPts val="800"/>
              </a:spcAft>
            </a:pPr>
            <a:r>
              <a:rPr sz="1600" b="0" i="0">
                <a:solidFill>
                  <a:srgbClr val="1A1440"/>
                </a:solidFill>
                <a:latin typeface="Calibri"/>
              </a:rPr>
              <a:t>d) Hours update</a:t>
            </a:r>
          </a:p>
          <a:p>
            <a:pPr>
              <a:spcAft>
                <a:spcPts val="800"/>
              </a:spcAft>
            </a:pPr>
            <a:r>
              <a:rPr sz="1600" b="1" i="0">
                <a:solidFill>
                  <a:srgbClr val="1A1440"/>
                </a:solidFill>
                <a:latin typeface="Calibri"/>
              </a:rPr>
              <a:t>Write your letter down before the next slide.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Ramesh act on c and walk past a, b and d?</a:t>
            </a:r>
          </a:p>
        </p:txBody>
      </p:sp>
      <p:graphicFrame>
        <p:nvGraphicFramePr>
          <p:cNvPr id="9" name="Table 8"/>
          <p:cNvGraphicFramePr>
            <a:graphicFrameLocks noGrp="1"/>
          </p:cNvGraphicFramePr>
          <p:nvPr/>
        </p:nvGraphicFramePr>
        <p:xfrm>
          <a:off x="530352" y="1956816"/>
          <a:ext cx="11130990" cy="2090928"/>
        </p:xfrm>
        <a:graphic>
          <a:graphicData uri="http://schemas.openxmlformats.org/drawingml/2006/table">
            <a:tbl>
              <a:tblPr firstRow="0" bandRow="0">
                <a:tableStyleId>{2D5ABB26-0587-4C30-8999-92F81FD0307C}</a:tableStyleId>
              </a:tblPr>
              <a:tblGrid>
                <a:gridCol w="6741423"/>
                <a:gridCol w="4389567"/>
              </a:tblGrid>
              <a:tr h="369824">
                <a:tc>
                  <a:txBody>
                    <a:bodyPr/>
                    <a:lstStyle/>
                    <a:p>
                      <a:r>
                        <a:rPr sz="1450" b="1" i="0">
                          <a:solidFill>
                            <a:srgbClr val="FFFFFF"/>
                          </a:solidFill>
                          <a:latin typeface="Calibri"/>
                        </a:rPr>
                        <a:t>Title</a:t>
                      </a:r>
                    </a:p>
                  </a:txBody>
                  <a:tcPr marL="101600" marR="101600" marT="38100" marB="38100" anchor="ctr">
                    <a:solidFill>
                      <a:srgbClr val="1A0F5C"/>
                    </a:solidFill>
                  </a:tcPr>
                </a:tc>
                <a:tc>
                  <a:txBody>
                    <a:bodyPr/>
                    <a:lstStyle/>
                    <a:p>
                      <a:r>
                        <a:rPr sz="1450" b="1" i="0">
                          <a:solidFill>
                            <a:srgbClr val="FFFFFF"/>
                          </a:solidFill>
                          <a:latin typeface="Calibri"/>
                        </a:rPr>
                        <a:t>What Ramesh learns from it</a:t>
                      </a:r>
                    </a:p>
                  </a:txBody>
                  <a:tcPr marL="101600" marR="101600" marT="38100" marB="38100" anchor="ctr">
                    <a:solidFill>
                      <a:srgbClr val="1A0F5C"/>
                    </a:solidFill>
                  </a:tcPr>
                </a:tc>
              </a:tr>
              <a:tr h="369824">
                <a:tc>
                  <a:txBody>
                    <a:bodyPr/>
                    <a:lstStyle/>
                    <a:p>
                      <a:r>
                        <a:rPr sz="1400" b="0" i="0">
                          <a:solidFill>
                            <a:srgbClr val="1A1440"/>
                          </a:solidFill>
                          <a:latin typeface="Calibri"/>
                        </a:rPr>
                        <a:t>a) Shop sales, October</a:t>
                      </a:r>
                    </a:p>
                  </a:txBody>
                  <a:tcPr marL="101600" marR="101600" marT="38100" marB="38100" anchor="ctr">
                    <a:solidFill>
                      <a:srgbClr val="FFFFFF"/>
                    </a:solidFill>
                  </a:tcPr>
                </a:tc>
                <a:tc>
                  <a:txBody>
                    <a:bodyPr/>
                    <a:lstStyle/>
                    <a:p>
                      <a:r>
                        <a:rPr sz="1400" b="0" i="0">
                          <a:solidFill>
                            <a:srgbClr val="1A1440"/>
                          </a:solidFill>
                          <a:latin typeface="Calibri"/>
                        </a:rPr>
                        <a:t>The topic, and nothing to do</a:t>
                      </a:r>
                    </a:p>
                  </a:txBody>
                  <a:tcPr marL="101600" marR="101600" marT="38100" marB="38100" anchor="ctr">
                    <a:solidFill>
                      <a:srgbClr val="FFFFFF"/>
                    </a:solidFill>
                  </a:tcPr>
                </a:tc>
              </a:tr>
              <a:tr h="369824">
                <a:tc>
                  <a:txBody>
                    <a:bodyPr/>
                    <a:lstStyle/>
                    <a:p>
                      <a:r>
                        <a:rPr sz="1400" b="0" i="0">
                          <a:solidFill>
                            <a:srgbClr val="1A1440"/>
                          </a:solidFill>
                          <a:latin typeface="Calibri"/>
                        </a:rPr>
                        <a:t>b) Sales Rs 12,600 a day, up Rs 700; 126 customers; 12 hours open</a:t>
                      </a:r>
                    </a:p>
                  </a:txBody>
                  <a:tcPr marL="101600" marR="101600" marT="38100" marB="38100" anchor="ctr">
                    <a:solidFill>
                      <a:srgbClr val="F4F2FA"/>
                    </a:solidFill>
                  </a:tcPr>
                </a:tc>
                <a:tc>
                  <a:txBody>
                    <a:bodyPr/>
                    <a:lstStyle/>
                    <a:p>
                      <a:r>
                        <a:rPr sz="1400" b="0" i="0">
                          <a:solidFill>
                            <a:srgbClr val="1A1440"/>
                          </a:solidFill>
                          <a:latin typeface="Calibri"/>
                        </a:rPr>
                        <a:t>Four true numbers and no point</a:t>
                      </a:r>
                    </a:p>
                  </a:txBody>
                  <a:tcPr marL="101600" marR="101600" marT="38100" marB="38100" anchor="ctr">
                    <a:solidFill>
                      <a:srgbClr val="F4F2FA"/>
                    </a:solidFill>
                  </a:tcPr>
                </a:tc>
              </a:tr>
              <a:tr h="611632">
                <a:tc>
                  <a:txBody>
                    <a:bodyPr/>
                    <a:lstStyle/>
                    <a:p>
                      <a:r>
                        <a:rPr sz="1400" b="0" i="0">
                          <a:solidFill>
                            <a:srgbClr val="1A1440"/>
                          </a:solidFill>
                          <a:latin typeface="Calibri"/>
                        </a:rPr>
                        <a:t>c) The longer hours add Rs 700 a day but earn less per hour, so count the evening on its own before deciding</a:t>
                      </a:r>
                    </a:p>
                  </a:txBody>
                  <a:tcPr marL="101600" marR="101600" marT="38100" marB="38100" anchor="ctr">
                    <a:solidFill>
                      <a:srgbClr val="FFFFFF"/>
                    </a:solidFill>
                  </a:tcPr>
                </a:tc>
                <a:tc>
                  <a:txBody>
                    <a:bodyPr/>
                    <a:lstStyle/>
                    <a:p>
                      <a:r>
                        <a:rPr sz="1400" b="0" i="0">
                          <a:solidFill>
                            <a:srgbClr val="1A1440"/>
                          </a:solidFill>
                          <a:latin typeface="Calibri"/>
                        </a:rPr>
                        <a:t>What is true, and what to do about it</a:t>
                      </a:r>
                    </a:p>
                  </a:txBody>
                  <a:tcPr marL="101600" marR="101600" marT="38100" marB="38100" anchor="ctr">
                    <a:solidFill>
                      <a:srgbClr val="FFFFFF"/>
                    </a:solidFill>
                  </a:tcPr>
                </a:tc>
              </a:tr>
              <a:tr h="369824">
                <a:tc>
                  <a:txBody>
                    <a:bodyPr/>
                    <a:lstStyle/>
                    <a:p>
                      <a:r>
                        <a:rPr sz="1400" b="0" i="0">
                          <a:solidFill>
                            <a:srgbClr val="1A1440"/>
                          </a:solidFill>
                          <a:latin typeface="Calibri"/>
                        </a:rPr>
                        <a:t>d) Hours update</a:t>
                      </a:r>
                    </a:p>
                  </a:txBody>
                  <a:tcPr marL="101600" marR="101600" marT="38100" marB="38100" anchor="ctr">
                    <a:solidFill>
                      <a:srgbClr val="F4F2FA"/>
                    </a:solidFill>
                  </a:tcPr>
                </a:tc>
                <a:tc>
                  <a:txBody>
                    <a:bodyPr/>
                    <a:lstStyle/>
                    <a:p>
                      <a:r>
                        <a:rPr sz="1400" b="0" i="0">
                          <a:solidFill>
                            <a:srgbClr val="1A1440"/>
                          </a:solidFill>
                          <a:latin typeface="Calibri"/>
                        </a:rPr>
                        <a:t>The topic again</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1158240"/>
          </a:xfrm>
          <a:prstGeom prst="rect">
            <a:avLst/>
          </a:prstGeom>
          <a:noFill/>
        </p:spPr>
        <p:txBody>
          <a:bodyPr wrap="square" anchor="ctr" lIns="0" rIns="0" tIns="0" bIns="0">
            <a:spAutoFit/>
          </a:bodyPr>
          <a:lstStyle/>
          <a:p>
            <a:r>
              <a:rPr sz="1500" b="1">
                <a:solidFill>
                  <a:srgbClr val="5B3FD6"/>
                </a:solidFill>
                <a:latin typeface="Calibri"/>
              </a:rPr>
              <a:t>A hostel notice board (invented). </a:t>
            </a:r>
            <a:r>
              <a:rPr sz="1500" b="0" i="0">
                <a:solidFill>
                  <a:srgbClr val="1A1440"/>
                </a:solidFill>
                <a:latin typeface="Calibri"/>
              </a:rPr>
              <a:t>One notice reads "Breakfast survey results"; the warden walks past it for a week. The next reads "Rotis replace rice at Monday breakfast, so the kitchen moves two staff from the rice counter to the roti line"; the warden reads it once and moves two staff. Title c is the second notice: answer first,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Per day up 5.9 percent, per hour down 11.8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son says the shop earns more; the father says each hour earns less. Who is right, counted by hand?</a:t>
            </a:r>
          </a:p>
        </p:txBody>
      </p:sp>
      <p:graphicFrame>
        <p:nvGraphicFramePr>
          <p:cNvPr id="9" name="Table 8"/>
          <p:cNvGraphicFramePr>
            <a:graphicFrameLocks noGrp="1"/>
          </p:cNvGraphicFramePr>
          <p:nvPr/>
        </p:nvGraphicFramePr>
        <p:xfrm>
          <a:off x="530352" y="1956816"/>
          <a:ext cx="11130989" cy="2218944"/>
        </p:xfrm>
        <a:graphic>
          <a:graphicData uri="http://schemas.openxmlformats.org/drawingml/2006/table">
            <a:tbl>
              <a:tblPr firstRow="0" bandRow="0">
                <a:tableStyleId>{2D5ABB26-0587-4C30-8999-92F81FD0307C}</a:tableStyleId>
              </a:tblPr>
              <a:tblGrid>
                <a:gridCol w="7716737"/>
                <a:gridCol w="1784429"/>
                <a:gridCol w="1629823"/>
              </a:tblGrid>
              <a:tr h="369824">
                <a:tc>
                  <a:txBody>
                    <a:bodyPr/>
                    <a:lstStyle/>
                    <a:p>
                      <a:r>
                        <a:rPr sz="1450" b="1" i="0">
                          <a:solidFill>
                            <a:srgbClr val="FFFFFF"/>
                          </a:solidFill>
                          <a:latin typeface="Calibri"/>
                        </a:rPr>
                        <a:t>Ramesh's shop, four weeks each side (invented)</a:t>
                      </a:r>
                    </a:p>
                  </a:txBody>
                  <a:tcPr marL="101600" marR="101600" marT="38100" marB="38100" anchor="ctr">
                    <a:solidFill>
                      <a:srgbClr val="1A0F5C"/>
                    </a:solidFill>
                  </a:tcPr>
                </a:tc>
                <a:tc>
                  <a:txBody>
                    <a:bodyPr/>
                    <a:lstStyle/>
                    <a:p>
                      <a:r>
                        <a:rPr sz="1450" b="1" i="0">
                          <a:solidFill>
                            <a:srgbClr val="FFFFFF"/>
                          </a:solidFill>
                          <a:latin typeface="Calibri"/>
                        </a:rPr>
                        <a:t>September</a:t>
                      </a:r>
                    </a:p>
                  </a:txBody>
                  <a:tcPr marL="101600" marR="101600" marT="38100" marB="38100" anchor="ctr">
                    <a:solidFill>
                      <a:srgbClr val="1A0F5C"/>
                    </a:solidFill>
                  </a:tcPr>
                </a:tc>
                <a:tc>
                  <a:txBody>
                    <a:bodyPr/>
                    <a:lstStyle/>
                    <a:p>
                      <a:r>
                        <a:rPr sz="1450" b="1" i="0">
                          <a:solidFill>
                            <a:srgbClr val="FFFFFF"/>
                          </a:solidFill>
                          <a:latin typeface="Calibri"/>
                        </a:rPr>
                        <a:t>October</a:t>
                      </a:r>
                    </a:p>
                  </a:txBody>
                  <a:tcPr marL="101600" marR="101600" marT="38100" marB="38100" anchor="ctr">
                    <a:solidFill>
                      <a:srgbClr val="1A0F5C"/>
                    </a:solidFill>
                  </a:tcPr>
                </a:tc>
              </a:tr>
              <a:tr h="369824">
                <a:tc>
                  <a:txBody>
                    <a:bodyPr/>
                    <a:lstStyle/>
                    <a:p>
                      <a:r>
                        <a:rPr sz="1400" b="0" i="0">
                          <a:solidFill>
                            <a:srgbClr val="1A1440"/>
                          </a:solidFill>
                          <a:latin typeface="Calibri"/>
                        </a:rPr>
                        <a:t>Hours open a day</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c>
                  <a:txBody>
                    <a:bodyPr/>
                    <a:lstStyle/>
                    <a:p>
                      <a:r>
                        <a:rPr sz="1400" b="0" i="0">
                          <a:solidFill>
                            <a:srgbClr val="1A1440"/>
                          </a:solidFill>
                          <a:latin typeface="Calibri"/>
                        </a:rPr>
                        <a:t>12</a:t>
                      </a:r>
                    </a:p>
                  </a:txBody>
                  <a:tcPr marL="101600" marR="101600" marT="38100" marB="38100" anchor="ctr">
                    <a:solidFill>
                      <a:srgbClr val="FFFFFF"/>
                    </a:solidFill>
                  </a:tcPr>
                </a:tc>
              </a:tr>
              <a:tr h="369824">
                <a:tc>
                  <a:txBody>
                    <a:bodyPr/>
                    <a:lstStyle/>
                    <a:p>
                      <a:r>
                        <a:rPr sz="1400" b="0" i="0">
                          <a:solidFill>
                            <a:srgbClr val="1A1440"/>
                          </a:solidFill>
                          <a:latin typeface="Calibri"/>
                        </a:rPr>
                        <a:t>Customers a day</a:t>
                      </a:r>
                    </a:p>
                  </a:txBody>
                  <a:tcPr marL="101600" marR="101600" marT="38100" marB="38100" anchor="ctr">
                    <a:solidFill>
                      <a:srgbClr val="F4F2FA"/>
                    </a:solidFill>
                  </a:tcPr>
                </a:tc>
                <a:tc>
                  <a:txBody>
                    <a:bodyPr/>
                    <a:lstStyle/>
                    <a:p>
                      <a:r>
                        <a:rPr sz="1400" b="0" i="0">
                          <a:solidFill>
                            <a:srgbClr val="1A1440"/>
                          </a:solidFill>
                          <a:latin typeface="Calibri"/>
                        </a:rPr>
                        <a:t>119</a:t>
                      </a:r>
                    </a:p>
                  </a:txBody>
                  <a:tcPr marL="101600" marR="101600" marT="38100" marB="38100" anchor="ctr">
                    <a:solidFill>
                      <a:srgbClr val="F4F2FA"/>
                    </a:solidFill>
                  </a:tcPr>
                </a:tc>
                <a:tc>
                  <a:txBody>
                    <a:bodyPr/>
                    <a:lstStyle/>
                    <a:p>
                      <a:r>
                        <a:rPr sz="1400" b="0" i="0">
                          <a:solidFill>
                            <a:srgbClr val="1A1440"/>
                          </a:solidFill>
                          <a:latin typeface="Calibri"/>
                        </a:rPr>
                        <a:t>126</a:t>
                      </a:r>
                    </a:p>
                  </a:txBody>
                  <a:tcPr marL="101600" marR="101600" marT="38100" marB="38100" anchor="ctr">
                    <a:solidFill>
                      <a:srgbClr val="F4F2FA"/>
                    </a:solidFill>
                  </a:tcPr>
                </a:tc>
              </a:tr>
              <a:tr h="369824">
                <a:tc>
                  <a:txBody>
                    <a:bodyPr/>
                    <a:lstStyle/>
                    <a:p>
                      <a:r>
                        <a:rPr sz="1400" b="0" i="0">
                          <a:solidFill>
                            <a:srgbClr val="1A1440"/>
                          </a:solidFill>
                          <a:latin typeface="Calibri"/>
                        </a:rPr>
                        <a:t>Sales a day</a:t>
                      </a:r>
                    </a:p>
                  </a:txBody>
                  <a:tcPr marL="101600" marR="101600" marT="38100" marB="38100" anchor="ctr">
                    <a:solidFill>
                      <a:srgbClr val="FFFFFF"/>
                    </a:solidFill>
                  </a:tcPr>
                </a:tc>
                <a:tc>
                  <a:txBody>
                    <a:bodyPr/>
                    <a:lstStyle/>
                    <a:p>
                      <a:r>
                        <a:rPr sz="1400" b="0" i="0">
                          <a:solidFill>
                            <a:srgbClr val="1A1440"/>
                          </a:solidFill>
                          <a:latin typeface="Calibri"/>
                        </a:rPr>
                        <a:t>Rs 11,900</a:t>
                      </a:r>
                    </a:p>
                  </a:txBody>
                  <a:tcPr marL="101600" marR="101600" marT="38100" marB="38100" anchor="ctr">
                    <a:solidFill>
                      <a:srgbClr val="FFFFFF"/>
                    </a:solidFill>
                  </a:tcPr>
                </a:tc>
                <a:tc>
                  <a:txBody>
                    <a:bodyPr/>
                    <a:lstStyle/>
                    <a:p>
                      <a:r>
                        <a:rPr sz="1400" b="0" i="0">
                          <a:solidFill>
                            <a:srgbClr val="1A1440"/>
                          </a:solidFill>
                          <a:latin typeface="Calibri"/>
                        </a:rPr>
                        <a:t>Rs 12,600</a:t>
                      </a:r>
                    </a:p>
                  </a:txBody>
                  <a:tcPr marL="101600" marR="101600" marT="38100" marB="38100" anchor="ctr">
                    <a:solidFill>
                      <a:srgbClr val="FFFFFF"/>
                    </a:solidFill>
                  </a:tcPr>
                </a:tc>
              </a:tr>
              <a:tr h="369824">
                <a:tc>
                  <a:txBody>
                    <a:bodyPr/>
                    <a:lstStyle/>
                    <a:p>
                      <a:r>
                        <a:rPr sz="1400" b="0" i="0">
                          <a:solidFill>
                            <a:srgbClr val="1A1440"/>
                          </a:solidFill>
                          <a:latin typeface="Calibri"/>
                        </a:rPr>
                        <a:t>Sales per hour: sales a day / hours open</a:t>
                      </a:r>
                    </a:p>
                  </a:txBody>
                  <a:tcPr marL="101600" marR="101600" marT="38100" marB="38100" anchor="ctr">
                    <a:solidFill>
                      <a:srgbClr val="F4F2FA"/>
                    </a:solidFill>
                  </a:tcPr>
                </a:tc>
                <a:tc>
                  <a:txBody>
                    <a:bodyPr/>
                    <a:lstStyle/>
                    <a:p>
                      <a:r>
                        <a:rPr sz="1400" b="0" i="0">
                          <a:solidFill>
                            <a:srgbClr val="1A1440"/>
                          </a:solidFill>
                          <a:latin typeface="Calibri"/>
                        </a:rPr>
                        <a:t>Rs 1,190</a:t>
                      </a:r>
                    </a:p>
                  </a:txBody>
                  <a:tcPr marL="101600" marR="101600" marT="38100" marB="38100" anchor="ctr">
                    <a:solidFill>
                      <a:srgbClr val="F4F2FA"/>
                    </a:solidFill>
                  </a:tcPr>
                </a:tc>
                <a:tc>
                  <a:txBody>
                    <a:bodyPr/>
                    <a:lstStyle/>
                    <a:p>
                      <a:r>
                        <a:rPr sz="1400" b="0" i="0">
                          <a:solidFill>
                            <a:srgbClr val="1A1440"/>
                          </a:solidFill>
                          <a:latin typeface="Calibri"/>
                        </a:rPr>
                        <a:t>Rs 1,050</a:t>
                      </a:r>
                    </a:p>
                  </a:txBody>
                  <a:tcPr marL="101600" marR="101600" marT="38100" marB="38100" anchor="ctr">
                    <a:solidFill>
                      <a:srgbClr val="F4F2FA"/>
                    </a:solidFill>
                  </a:tcPr>
                </a:tc>
              </a:tr>
              <a:tr h="369824">
                <a:tc>
                  <a:txBody>
                    <a:bodyPr/>
                    <a:lstStyle/>
                    <a:p>
                      <a:r>
                        <a:rPr sz="1400" b="0" i="0">
                          <a:solidFill>
                            <a:srgbClr val="1A1440"/>
                          </a:solidFill>
                          <a:latin typeface="Calibri"/>
                        </a:rPr>
                        <a:t>Sales per customer: sales a day / customers</a:t>
                      </a:r>
                    </a:p>
                  </a:txBody>
                  <a:tcPr marL="101600" marR="101600" marT="38100" marB="38100" anchor="ctr">
                    <a:solidFill>
                      <a:srgbClr val="FFFFFF"/>
                    </a:solidFill>
                  </a:tcPr>
                </a:tc>
                <a:tc>
                  <a:txBody>
                    <a:bodyPr/>
                    <a:lstStyle/>
                    <a:p>
                      <a:r>
                        <a:rPr sz="1400" b="0" i="0">
                          <a:solidFill>
                            <a:srgbClr val="1A1440"/>
                          </a:solidFill>
                          <a:latin typeface="Calibri"/>
                        </a:rPr>
                        <a:t>Rs 100</a:t>
                      </a:r>
                    </a:p>
                  </a:txBody>
                  <a:tcPr marL="101600" marR="101600" marT="38100" marB="38100" anchor="ctr">
                    <a:solidFill>
                      <a:srgbClr val="FFFFFF"/>
                    </a:solidFill>
                  </a:tcPr>
                </a:tc>
                <a:tc>
                  <a:txBody>
                    <a:bodyPr/>
                    <a:lstStyle/>
                    <a:p>
                      <a:r>
                        <a:rPr sz="1400" b="0" i="0">
                          <a:solidFill>
                            <a:srgbClr val="1A1440"/>
                          </a:solidFill>
                          <a:latin typeface="Calibri"/>
                        </a:rPr>
                        <a:t>Rs 100</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Both are right, and the denominator decides which sentence the slide carries.</a:t>
            </a:r>
            <a:r>
              <a:rPr sz="1600" b="0" i="0">
                <a:solidFill>
                  <a:srgbClr val="1A1440"/>
                </a:solidFill>
                <a:latin typeface="Calibri"/>
              </a:rPr>
              <a:t> Per day the shop is up Rs 700, 5.9 percent; per hour it is down 11.8 percent; per customer it is flat. The decision on the table is whether the two extra hours pay, so the evidence is priced per hour.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a9076d580e1c6695.png"/>
          <p:cNvPicPr>
            <a:picLocks noChangeAspect="1"/>
          </p:cNvPicPr>
          <p:nvPr/>
        </p:nvPicPr>
        <p:blipFill>
          <a:blip r:embed="rId5"/>
          <a:stretch>
            <a:fillRect/>
          </a:stretch>
        </p:blipFill>
        <p:spPr>
          <a:xfrm>
            <a:off x="530352" y="1956816"/>
            <a:ext cx="11130991" cy="1805825"/>
          </a:xfrm>
          <a:prstGeom prst="rect">
            <a:avLst/>
          </a:prstGeom>
        </p:spPr>
      </p:pic>
      <p:sp>
        <p:nvSpPr>
          <p:cNvPr id="10" name="TextBox 9"/>
          <p:cNvSpPr txBox="1"/>
          <p:nvPr/>
        </p:nvSpPr>
        <p:spPr>
          <a:xfrm>
            <a:off x="530352" y="3908945"/>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This is the one-slide answer: claim, evidence, caveat, action.</a:t>
            </a:r>
            <a:r>
              <a:rPr sz="1600" b="0" i="0">
                <a:solidFill>
                  <a:srgbClr val="1A1440"/>
                </a:solidFill>
                <a:latin typeface="Calibri"/>
              </a:rPr>
              <a:t> It is Week 1 Thursday's four-part note made into one page, and the order is the order a reader needs: what to believe, why, what it cannot show yet, and what to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slide, built in its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four parts say for Ramesh, and can the son repeat it?</a:t>
            </a:r>
          </a:p>
        </p:txBody>
      </p:sp>
      <p:pic>
        <p:nvPicPr>
          <p:cNvPr id="9" name="mermaid diagram" descr="C2_W04_D02_kirana_slide_STUDENT.png"/>
          <p:cNvPicPr>
            <a:picLocks noChangeAspect="1"/>
          </p:cNvPicPr>
          <p:nvPr/>
        </p:nvPicPr>
        <p:blipFill>
          <a:blip r:embed="rId4"/>
          <a:stretch>
            <a:fillRect/>
          </a:stretch>
        </p:blipFill>
        <p:spPr>
          <a:xfrm>
            <a:off x="2814141" y="1664208"/>
            <a:ext cx="6563412" cy="3342640"/>
          </a:xfrm>
          <a:prstGeom prst="rect">
            <a:avLst/>
          </a:prstGeom>
        </p:spPr>
      </p:pic>
      <p:sp>
        <p:nvSpPr>
          <p:cNvPr id="10" name="picture caption"/>
          <p:cNvSpPr txBox="1"/>
          <p:nvPr/>
        </p:nvSpPr>
        <p:spPr>
          <a:xfrm>
            <a:off x="530352" y="5043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Ramesh's slide in its four parts, numbered where each sits, every number invented</a:t>
            </a:r>
          </a:p>
        </p:txBody>
      </p:sp>
      <p:sp>
        <p:nvSpPr>
          <p:cNvPr id="11" name="Rounded Rectangle 10"/>
          <p:cNvSpPr/>
          <p:nvPr/>
        </p:nvSpPr>
        <p:spPr>
          <a:xfrm>
            <a:off x="530352" y="5369560"/>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497576"/>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488432"/>
            <a:ext cx="10564063" cy="482600"/>
          </a:xfrm>
          <a:prstGeom prst="rect">
            <a:avLst/>
          </a:prstGeom>
          <a:noFill/>
        </p:spPr>
        <p:txBody>
          <a:bodyPr wrap="square" anchor="ctr" lIns="0" rIns="0" tIns="0" bIns="0">
            <a:spAutoFit/>
          </a:bodyPr>
          <a:lstStyle/>
          <a:p>
            <a:r>
              <a:rPr sz="1100" b="1">
                <a:solidFill>
                  <a:srgbClr val="5B3FD6"/>
                </a:solidFill>
                <a:latin typeface="Calibri"/>
              </a:rPr>
              <a:t>The loser test. </a:t>
            </a:r>
            <a:r>
              <a:rPr sz="1100" b="0" i="0">
                <a:solidFill>
                  <a:srgbClr val="1A1440"/>
                </a:solidFill>
                <a:latin typeface="Calibri"/>
              </a:rPr>
              <a:t>The son argued for the longer hours, and he can repeat this title accurately while disagreeing with it, because it states his number, Rs 700 a day, beside his father's, the fall per hour.</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700 more a day, so the hours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 true number the wrong evidence for this decision?</a:t>
            </a:r>
          </a:p>
        </p:txBody>
      </p:sp>
      <p:sp>
        <p:nvSpPr>
          <p:cNvPr id="9" name="Rounded Rectangle 8"/>
          <p:cNvSpPr/>
          <p:nvPr/>
        </p:nvSpPr>
        <p:spPr>
          <a:xfrm>
            <a:off x="530352" y="1956816"/>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553720"/>
          </a:xfrm>
          <a:prstGeom prst="rect">
            <a:avLst/>
          </a:prstGeom>
          <a:noFill/>
        </p:spPr>
        <p:txBody>
          <a:bodyPr wrap="square" anchor="ctr" lIns="0" rIns="0" tIns="0" bIns="0">
            <a:spAutoFit/>
          </a:bodyPr>
          <a:lstStyle/>
          <a:p>
            <a:r>
              <a:rPr sz="1300" b="1">
                <a:solidFill>
                  <a:srgbClr val="5B3FD6"/>
                </a:solidFill>
                <a:latin typeface="Calibri"/>
              </a:rPr>
              <a:t>The plausible wrong answer. </a:t>
            </a:r>
            <a:r>
              <a:rPr sz="1300" b="0" i="0">
                <a:solidFill>
                  <a:srgbClr val="1A1440"/>
                </a:solidFill>
                <a:latin typeface="Calibri"/>
              </a:rPr>
              <a:t>"Sales a day rose from Rs 11,900 to Rs 12,600, so the longer hours work; keep them." Every rupee is right, and it would keep paying the helper for two hours while each hour of the day earns less than before.</a:t>
            </a:r>
          </a:p>
        </p:txBody>
      </p:sp>
      <p:sp>
        <p:nvSpPr>
          <p:cNvPr id="12" name="Rounded Rectangle 11"/>
          <p:cNvSpPr/>
          <p:nvPr/>
        </p:nvSpPr>
        <p:spPr>
          <a:xfrm>
            <a:off x="530352" y="2858008"/>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86024"/>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76880"/>
            <a:ext cx="10564063" cy="784860"/>
          </a:xfrm>
          <a:prstGeom prst="rect">
            <a:avLst/>
          </a:prstGeom>
          <a:noFill/>
        </p:spPr>
        <p:txBody>
          <a:bodyPr wrap="square" anchor="ctr" lIns="0" rIns="0" tIns="0" bIns="0">
            <a:spAutoFit/>
          </a:bodyPr>
          <a:lstStyle/>
          <a:p>
            <a:r>
              <a:rPr sz="1300" b="1">
                <a:solidFill>
                  <a:srgbClr val="5B3FD6"/>
                </a:solidFill>
                <a:latin typeface="Calibri"/>
              </a:rPr>
              <a:t>Why it is wrong. </a:t>
            </a:r>
            <a:r>
              <a:rPr sz="1300" b="0" i="0">
                <a:solidFill>
                  <a:srgbClr val="1A1440"/>
                </a:solidFill>
                <a:latin typeface="Calibri"/>
              </a:rPr>
              <a:t>The rise was bought with two more hours: per hour the shop earns 11.8 percent less. </a:t>
            </a:r>
            <a:r>
              <a:rPr sz="1300" b="1" i="0">
                <a:solidFill>
                  <a:srgbClr val="1A1440"/>
                </a:solidFill>
                <a:latin typeface="Calibri"/>
              </a:rPr>
              <a:t>The check:</a:t>
            </a:r>
            <a:r>
              <a:rPr sz="1300" b="0" i="0">
                <a:solidFill>
                  <a:srgbClr val="1A1440"/>
                </a:solidFill>
                <a:latin typeface="Calibri"/>
              </a:rPr>
              <a:t> name the denominator the decision is priced in, here the hour, before reading the number. </a:t>
            </a:r>
            <a:r>
              <a:rPr sz="1300" b="1" i="0">
                <a:solidFill>
                  <a:srgbClr val="1A1440"/>
                </a:solidFill>
                <a:latin typeface="Calibri"/>
              </a:rPr>
              <a:t>The fix:</a:t>
            </a:r>
            <a:r>
              <a:rPr sz="1300" b="0" i="0">
                <a:solidFill>
                  <a:srgbClr val="1A1440"/>
                </a:solidFill>
                <a:latin typeface="Calibri"/>
              </a:rPr>
              <a:t> the evidence is sales per hour, with sales per customer beside it.</a:t>
            </a:r>
          </a:p>
        </p:txBody>
      </p:sp>
      <p:sp>
        <p:nvSpPr>
          <p:cNvPr id="15" name="Rounded Rectangle 14"/>
          <p:cNvSpPr/>
          <p:nvPr/>
        </p:nvSpPr>
        <p:spPr>
          <a:xfrm>
            <a:off x="530352" y="3990340"/>
            <a:ext cx="11130991" cy="175564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11835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11835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11835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319524"/>
            <a:ext cx="10673791" cy="1353312"/>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m = days.groupby("month").agg(sales=("sales_rs", "sum"),</a:t>
            </a:r>
          </a:p>
          <a:p>
            <a:pPr>
              <a:spcAft>
                <a:spcPts val="200"/>
              </a:spcAft>
            </a:pPr>
            <a:r>
              <a:rPr sz="1200" b="0" i="0">
                <a:solidFill>
                  <a:srgbClr val="E4E1F1"/>
                </a:solidFill>
                <a:latin typeface="Consolas"/>
              </a:rPr>
              <a:t>        days=("day", "count"), hours=("hours_open", "mean"),</a:t>
            </a:r>
          </a:p>
          <a:p>
            <a:pPr>
              <a:spcAft>
                <a:spcPts val="200"/>
              </a:spcAft>
            </a:pPr>
            <a:r>
              <a:rPr sz="1200" b="0" i="0">
                <a:solidFill>
                  <a:srgbClr val="E4E1F1"/>
                </a:solidFill>
                <a:latin typeface="Consolas"/>
              </a:rPr>
              <a:t>        customers=("customers", "sum"))</a:t>
            </a:r>
          </a:p>
          <a:p>
            <a:pPr>
              <a:spcAft>
                <a:spcPts val="200"/>
              </a:spcAft>
            </a:pPr>
            <a:r>
              <a:rPr sz="1200" b="0" i="0">
                <a:solidFill>
                  <a:srgbClr val="E4E1F1"/>
                </a:solidFill>
                <a:latin typeface="Consolas"/>
              </a:rPr>
              <a:t>m["per_day"] = m.sales / m.days            # 11,900 and 12,600</a:t>
            </a:r>
          </a:p>
          <a:p>
            <a:pPr>
              <a:spcAft>
                <a:spcPts val="200"/>
              </a:spcAft>
            </a:pPr>
            <a:r>
              <a:rPr sz="1200" b="0" i="0">
                <a:solidFill>
                  <a:srgbClr val="E4E1F1"/>
                </a:solidFill>
                <a:latin typeface="Consolas"/>
              </a:rPr>
              <a:t>m["per_hour"] = m.per_day / m.hours        # 1,190 and 1,050</a:t>
            </a:r>
          </a:p>
          <a:p>
            <a:pPr>
              <a:spcAft>
                <a:spcPts val="200"/>
              </a:spcAft>
            </a:pPr>
            <a:r>
              <a:rPr sz="1200" b="0" i="0">
                <a:solidFill>
                  <a:srgbClr val="E4E1F1"/>
                </a:solidFill>
                <a:latin typeface="Consolas"/>
              </a:rPr>
              <a:t>m["per_customer"] = m.sales / m.customers  # 100 and 100</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4" name="Oval 2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8" name="Oval 2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slide its loser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1,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The title is the claim: a sentence with a verb that says what is true and what to do.</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The evidence is one number with its denominator and window, or one chart, chosen by the decision it prices.</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The caveat sits beside the evidence, in plain sight.</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The action names what to do, its cost in rupees and weeks, and who signs.</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Present a recommendation to a non-technical stakeholder in two minutes: open on the claim, then one number with its denominator.</a:t>
            </a:r>
          </a:p>
        </p:txBody>
      </p:sp>
      <p:pic>
        <p:nvPicPr>
          <p:cNvPr id="22" name="mermaid diagram" descr="b8fe85ec0ccfa74e.png"/>
          <p:cNvPicPr>
            <a:picLocks noChangeAspect="1"/>
          </p:cNvPicPr>
          <p:nvPr/>
        </p:nvPicPr>
        <p:blipFill>
          <a:blip r:embed="rId6"/>
          <a:stretch>
            <a:fillRect/>
          </a:stretch>
        </p:blipFill>
        <p:spPr>
          <a:xfrm>
            <a:off x="3118748" y="4639056"/>
            <a:ext cx="5954197" cy="1560576"/>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to leave out,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the rest go?</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What to leave out, and the appendix, on Ramesh's first draft (invented): every element supports the claim, answers a named person's question on a page behind the slide, or leaves; the caveat never leaves.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element stays, moves to a page, or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What to leave out, and the appendix.</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reads the slide in five minutes, and two readers who each look for their own question behind it: his son and the shop's accountant. An </a:t>
            </a:r>
            <a:r>
              <a:rPr sz="1500" b="1" i="0">
                <a:solidFill>
                  <a:srgbClr val="1A1440"/>
                </a:solidFill>
                <a:latin typeface="Calibri"/>
              </a:rPr>
              <a:t>appendix</a:t>
            </a:r>
            <a:r>
              <a:rPr sz="1500" b="0" i="0">
                <a:solidFill>
                  <a:srgbClr val="1A1440"/>
                </a:solidFill>
                <a:latin typeface="Calibri"/>
              </a:rPr>
              <a:t> is the set of pages behind the slide, shown only when someone asks.</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elements stay?</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eight on Ramesh's first draft.</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Where does each of the rest go?</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A page behind the slide, or nowhere.</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Can the caveat leave?</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Even when the slide is crowded.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Does a chart obey the same rule?</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Six series against one line.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the draft's eight elements stay?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Ramesh's first draft (invented) carries eight elements. How many belong on the slide itself?</a:t>
            </a:r>
          </a:p>
        </p:txBody>
      </p:sp>
      <p:graphicFrame>
        <p:nvGraphicFramePr>
          <p:cNvPr id="9" name="Table 8"/>
          <p:cNvGraphicFramePr>
            <a:graphicFrameLocks noGrp="1"/>
          </p:cNvGraphicFramePr>
          <p:nvPr/>
        </p:nvGraphicFramePr>
        <p:xfrm>
          <a:off x="530352" y="1900936"/>
          <a:ext cx="11130990" cy="3328416"/>
        </p:xfrm>
        <a:graphic>
          <a:graphicData uri="http://schemas.openxmlformats.org/drawingml/2006/table">
            <a:tbl>
              <a:tblPr firstRow="0" bandRow="0">
                <a:tableStyleId>{2D5ABB26-0587-4C30-8999-92F81FD0307C}</a:tableStyleId>
              </a:tblPr>
              <a:tblGrid>
                <a:gridCol w="4154401"/>
                <a:gridCol w="6976589"/>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What it shows</a:t>
                      </a:r>
                    </a:p>
                  </a:txBody>
                  <a:tcPr marL="101600" marR="101600" marT="38100" marB="38100" anchor="ctr">
                    <a:solidFill>
                      <a:srgbClr val="1A0F5C"/>
                    </a:solidFill>
                  </a:tcPr>
                </a:tc>
              </a:tr>
              <a:tr h="369824">
                <a:tc>
                  <a:txBody>
                    <a:bodyPr/>
                    <a:lstStyle/>
                    <a:p>
                      <a:r>
                        <a:rPr sz="1400" b="0" i="0">
                          <a:solidFill>
                            <a:srgbClr val="1A1440"/>
                          </a:solidFill>
                          <a:latin typeface="Calibri"/>
                        </a:rPr>
                        <a:t>Chart: sales per hour, by day</a:t>
                      </a:r>
                    </a:p>
                  </a:txBody>
                  <a:tcPr marL="101600" marR="101600" marT="38100" marB="38100" anchor="ctr">
                    <a:solidFill>
                      <a:srgbClr val="FFFFFF"/>
                    </a:solidFill>
                  </a:tcPr>
                </a:tc>
                <a:tc>
                  <a:txBody>
                    <a:bodyPr/>
                    <a:lstStyle/>
                    <a:p>
                      <a:r>
                        <a:rPr sz="1400" b="0" i="0">
                          <a:solidFill>
                            <a:srgbClr val="1A1440"/>
                          </a:solidFill>
                          <a:latin typeface="Calibri"/>
                        </a:rPr>
                        <a:t>Rs 1,190 an hour in September, Rs 1,050 in October</a:t>
                      </a:r>
                    </a:p>
                  </a:txBody>
                  <a:tcPr marL="101600" marR="101600" marT="38100" marB="38100" anchor="ctr">
                    <a:solidFill>
                      <a:srgbClr val="FFFFFF"/>
                    </a:solidFill>
                  </a:tcPr>
                </a:tc>
              </a:tr>
              <a:tr h="369824">
                <a:tc>
                  <a:txBody>
                    <a:bodyPr/>
                    <a:lstStyle/>
                    <a:p>
                      <a:r>
                        <a:rPr sz="1400" b="0" i="0">
                          <a:solidFill>
                            <a:srgbClr val="1A1440"/>
                          </a:solidFill>
                          <a:latin typeface="Calibri"/>
                        </a:rPr>
                        <a:t>Total sales, four weeks</a:t>
                      </a:r>
                    </a:p>
                  </a:txBody>
                  <a:tcPr marL="101600" marR="101600" marT="38100" marB="38100" anchor="ctr">
                    <a:solidFill>
                      <a:srgbClr val="F4F2FA"/>
                    </a:solidFill>
                  </a:tcPr>
                </a:tc>
                <a:tc>
                  <a:txBody>
                    <a:bodyPr/>
                    <a:lstStyle/>
                    <a:p>
                      <a:r>
                        <a:rPr sz="1400" b="0" i="0">
                          <a:solidFill>
                            <a:srgbClr val="1A1440"/>
                          </a:solidFill>
                          <a:latin typeface="Calibri"/>
                        </a:rPr>
                        <a:t>Rs 3.33 lakh in September, Rs 3.53 lakh in October</a:t>
                      </a:r>
                    </a:p>
                  </a:txBody>
                  <a:tcPr marL="101600" marR="101600" marT="38100" marB="38100" anchor="ctr">
                    <a:solidFill>
                      <a:srgbClr val="F4F2FA"/>
                    </a:solidFill>
                  </a:tcPr>
                </a:tc>
              </a:tr>
              <a:tr h="369824">
                <a:tc>
                  <a:txBody>
                    <a:bodyPr/>
                    <a:lstStyle/>
                    <a:p>
                      <a:r>
                        <a:rPr sz="1400" b="0" i="0">
                          <a:solidFill>
                            <a:srgbClr val="1A1440"/>
                          </a:solidFill>
                          <a:latin typeface="Calibri"/>
                        </a:rPr>
                        <a:t>Customers a day</a:t>
                      </a:r>
                    </a:p>
                  </a:txBody>
                  <a:tcPr marL="101600" marR="101600" marT="38100" marB="38100" anchor="ctr">
                    <a:solidFill>
                      <a:srgbClr val="FFFFFF"/>
                    </a:solidFill>
                  </a:tcPr>
                </a:tc>
                <a:tc>
                  <a:txBody>
                    <a:bodyPr/>
                    <a:lstStyle/>
                    <a:p>
                      <a:r>
                        <a:rPr sz="1400" b="0" i="0">
                          <a:solidFill>
                            <a:srgbClr val="1A1440"/>
                          </a:solidFill>
                          <a:latin typeface="Calibri"/>
                        </a:rPr>
                        <a:t>119 in September, 126 in October</a:t>
                      </a:r>
                    </a:p>
                  </a:txBody>
                  <a:tcPr marL="101600" marR="101600" marT="38100" marB="38100" anchor="ctr">
                    <a:solidFill>
                      <a:srgbClr val="FFFFFF"/>
                    </a:solidFill>
                  </a:tcPr>
                </a:tc>
              </a:tr>
              <a:tr h="369824">
                <a:tc>
                  <a:txBody>
                    <a:bodyPr/>
                    <a:lstStyle/>
                    <a:p>
                      <a:r>
                        <a:rPr sz="1400" b="0" i="0">
                          <a:solidFill>
                            <a:srgbClr val="1A1440"/>
                          </a:solidFill>
                          <a:latin typeface="Calibri"/>
                        </a:rPr>
                        <a:t>Rain days</a:t>
                      </a:r>
                    </a:p>
                  </a:txBody>
                  <a:tcPr marL="101600" marR="101600" marT="38100" marB="38100" anchor="ctr">
                    <a:solidFill>
                      <a:srgbClr val="F4F2FA"/>
                    </a:solidFill>
                  </a:tcPr>
                </a:tc>
                <a:tc>
                  <a:txBody>
                    <a:bodyPr/>
                    <a:lstStyle/>
                    <a:p>
                      <a:r>
                        <a:rPr sz="1400" b="0" i="0">
                          <a:solidFill>
                            <a:srgbClr val="1A1440"/>
                          </a:solidFill>
                          <a:latin typeface="Calibri"/>
                        </a:rPr>
                        <a:t>5 in September, 2 in October</a:t>
                      </a:r>
                    </a:p>
                  </a:txBody>
                  <a:tcPr marL="101600" marR="101600" marT="38100" marB="38100" anchor="ctr">
                    <a:solidFill>
                      <a:srgbClr val="F4F2FA"/>
                    </a:solidFill>
                  </a:tcPr>
                </a:tc>
              </a:tr>
              <a:tr h="369824">
                <a:tc>
                  <a:txBody>
                    <a:bodyPr/>
                    <a:lstStyle/>
                    <a:p>
                      <a:r>
                        <a:rPr sz="1400" b="0" i="0">
                          <a:solidFill>
                            <a:srgbClr val="1A1440"/>
                          </a:solidFill>
                          <a:latin typeface="Calibri"/>
                        </a:rPr>
                        <a:t>The son's hours at the counter</a:t>
                      </a:r>
                    </a:p>
                  </a:txBody>
                  <a:tcPr marL="101600" marR="101600" marT="38100" marB="38100" anchor="ctr">
                    <a:solidFill>
                      <a:srgbClr val="FFFFFF"/>
                    </a:solidFill>
                  </a:tcPr>
                </a:tc>
                <a:tc>
                  <a:txBody>
                    <a:bodyPr/>
                    <a:lstStyle/>
                    <a:p>
                      <a:r>
                        <a:rPr sz="1400" b="0" i="0">
                          <a:solidFill>
                            <a:srgbClr val="1A1440"/>
                          </a:solidFill>
                          <a:latin typeface="Calibri"/>
                        </a:rPr>
                        <a:t>4 a day in September, 6 in October</a:t>
                      </a:r>
                    </a:p>
                  </a:txBody>
                  <a:tcPr marL="101600" marR="101600" marT="38100" marB="38100" anchor="ctr">
                    <a:solidFill>
                      <a:srgbClr val="FFFFFF"/>
                    </a:solidFill>
                  </a:tcPr>
                </a:tc>
              </a:tr>
              <a:tr h="369824">
                <a:tc>
                  <a:txBody>
                    <a:bodyPr/>
                    <a:lstStyle/>
                    <a:p>
                      <a:r>
                        <a:rPr sz="1400" b="0" i="0">
                          <a:solidFill>
                            <a:srgbClr val="1A1440"/>
                          </a:solidFill>
                          <a:latin typeface="Calibri"/>
                        </a:rPr>
                        <a:t>The helper's wage</a:t>
                      </a:r>
                    </a:p>
                  </a:txBody>
                  <a:tcPr marL="101600" marR="101600" marT="38100" marB="38100" anchor="ctr">
                    <a:solidFill>
                      <a:srgbClr val="F4F2FA"/>
                    </a:solidFill>
                  </a:tcPr>
                </a:tc>
                <a:tc>
                  <a:txBody>
                    <a:bodyPr/>
                    <a:lstStyle/>
                    <a:p>
                      <a:r>
                        <a:rPr sz="1400" b="0" i="0">
                          <a:solidFill>
                            <a:srgbClr val="1A1440"/>
                          </a:solidFill>
                          <a:latin typeface="Calibri"/>
                        </a:rPr>
                        <a:t>Rs 85 an hour; the two extra hours cost Rs 170 a day</a:t>
                      </a:r>
                    </a:p>
                  </a:txBody>
                  <a:tcPr marL="101600" marR="101600" marT="38100" marB="38100" anchor="ctr">
                    <a:solidFill>
                      <a:srgbClr val="F4F2FA"/>
                    </a:solidFill>
                  </a:tcPr>
                </a:tc>
              </a:tr>
              <a:tr h="369824">
                <a:tc>
                  <a:txBody>
                    <a:bodyPr/>
                    <a:lstStyle/>
                    <a:p>
                      <a:r>
                        <a:rPr sz="1400" b="0" i="0">
                          <a:solidFill>
                            <a:srgbClr val="1A1440"/>
                          </a:solidFill>
                          <a:latin typeface="Calibri"/>
                        </a:rPr>
                        <a:t>The festival fortnight</a:t>
                      </a:r>
                    </a:p>
                  </a:txBody>
                  <a:tcPr marL="101600" marR="101600" marT="38100" marB="38100" anchor="ctr">
                    <a:solidFill>
                      <a:srgbClr val="FFFFFF"/>
                    </a:solidFill>
                  </a:tcPr>
                </a:tc>
                <a:tc>
                  <a:txBody>
                    <a:bodyPr/>
                    <a:lstStyle/>
                    <a:p>
                      <a:r>
                        <a:rPr sz="1400" b="0" i="0">
                          <a:solidFill>
                            <a:srgbClr val="1A1440"/>
                          </a:solidFill>
                          <a:latin typeface="Calibri"/>
                        </a:rPr>
                        <a:t>14 of October's 28 days</a:t>
                      </a:r>
                    </a:p>
                  </a:txBody>
                  <a:tcPr marL="101600" marR="101600" marT="38100" marB="38100" anchor="ctr">
                    <a:solidFill>
                      <a:srgbClr val="FFFFFF"/>
                    </a:solidFill>
                  </a:tcPr>
                </a:tc>
              </a:tr>
              <a:tr h="369824">
                <a:tc>
                  <a:txBody>
                    <a:bodyPr/>
                    <a:lstStyle/>
                    <a:p>
                      <a:r>
                        <a:rPr sz="1400" b="0" i="0">
                          <a:solidFill>
                            <a:srgbClr val="1A1440"/>
                          </a:solidFill>
                          <a:latin typeface="Calibri"/>
                        </a:rPr>
                        <a:t>Sales per customer</a:t>
                      </a:r>
                    </a:p>
                  </a:txBody>
                  <a:tcPr marL="101600" marR="101600" marT="38100" marB="38100" anchor="ctr">
                    <a:solidFill>
                      <a:srgbClr val="F4F2FA"/>
                    </a:solidFill>
                  </a:tcPr>
                </a:tc>
                <a:tc>
                  <a:txBody>
                    <a:bodyPr/>
                    <a:lstStyle/>
                    <a:p>
                      <a:r>
                        <a:rPr sz="1400" b="0" i="0">
                          <a:solidFill>
                            <a:srgbClr val="1A1440"/>
                          </a:solidFill>
                          <a:latin typeface="Calibri"/>
                        </a:rPr>
                        <a:t>Rs 100 in both months</a:t>
                      </a:r>
                    </a:p>
                  </a:txBody>
                  <a:tcPr marL="101600" marR="101600" marT="38100" marB="38100" anchor="ctr">
                    <a:solidFill>
                      <a:srgbClr val="F4F2FA"/>
                    </a:solidFill>
                  </a:tcPr>
                </a:tc>
              </a:tr>
            </a:tbl>
          </a:graphicData>
        </a:graphic>
      </p:graphicFrame>
      <p:sp>
        <p:nvSpPr>
          <p:cNvPr id="10" name="TextBox 9"/>
          <p:cNvSpPr txBox="1"/>
          <p:nvPr/>
        </p:nvSpPr>
        <p:spPr>
          <a:xfrm>
            <a:off x="530352" y="548538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2, the two that carry the claim   b) 3   c) 5   d) 8</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three stay, and the caveat never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element go, and why does the caveat skip the sort?</a:t>
            </a:r>
          </a:p>
        </p:txBody>
      </p:sp>
      <p:pic>
        <p:nvPicPr>
          <p:cNvPr id="9" name="mermaid diagram" descr="614c9666c8763efb.png"/>
          <p:cNvPicPr>
            <a:picLocks noChangeAspect="1"/>
          </p:cNvPicPr>
          <p:nvPr/>
        </p:nvPicPr>
        <p:blipFill>
          <a:blip r:embed="rId5"/>
          <a:stretch>
            <a:fillRect/>
          </a:stretch>
        </p:blipFill>
        <p:spPr>
          <a:xfrm>
            <a:off x="1357752" y="1664208"/>
            <a:ext cx="9476190"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Two elements carry the claim, the per-hour chart and sales per customer, and the festival fortnight stays as the caveat. Read as sentences: if the claim needs an element, it stays; if a named person will ask about it, it goes to that person's page; if neither, it leaves; and the caveat stays whatever else happens, because an owner who finds it in the drawer calls the slide dishonest.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pages behind the slide take four elements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page takes each element that leaves, and what does the rule look like as code?</a:t>
            </a:r>
          </a:p>
        </p:txBody>
      </p:sp>
      <p:graphicFrame>
        <p:nvGraphicFramePr>
          <p:cNvPr id="9" name="Table 8"/>
          <p:cNvGraphicFramePr>
            <a:graphicFrameLocks noGrp="1"/>
          </p:cNvGraphicFramePr>
          <p:nvPr/>
        </p:nvGraphicFramePr>
        <p:xfrm>
          <a:off x="530352" y="1913128"/>
          <a:ext cx="11130990" cy="2332736"/>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Where it goes</a:t>
                      </a:r>
                    </a:p>
                  </a:txBody>
                  <a:tcPr marL="101600" marR="101600" marT="38100" marB="38100" anchor="ctr">
                    <a:solidFill>
                      <a:srgbClr val="1A0F5C"/>
                    </a:solidFill>
                  </a:tcPr>
                </a:tc>
                <a:tc>
                  <a:txBody>
                    <a:bodyPr/>
                    <a:lstStyle/>
                    <a:p>
                      <a:r>
                        <a:rPr sz="1450" b="1" i="0">
                          <a:solidFill>
                            <a:srgbClr val="FFFFFF"/>
                          </a:solidFill>
                          <a:latin typeface="Calibri"/>
                        </a:rPr>
                        <a:t>Elements</a:t>
                      </a:r>
                    </a:p>
                  </a:txBody>
                  <a:tcPr marL="101600" marR="101600" marT="38100" marB="38100" anchor="ctr">
                    <a:solidFill>
                      <a:srgbClr val="1A0F5C"/>
                    </a:solidFill>
                  </a:tcPr>
                </a:tc>
              </a:tr>
              <a:tr h="611632">
                <a:tc>
                  <a:txBody>
                    <a:bodyPr/>
                    <a:lstStyle/>
                    <a:p>
                      <a:r>
                        <a:rPr sz="1400" b="0" i="0">
                          <a:solidFill>
                            <a:srgbClr val="1A1440"/>
                          </a:solidFill>
                          <a:latin typeface="Calibri"/>
                        </a:rPr>
                        <a:t>The slide</a:t>
                      </a:r>
                    </a:p>
                  </a:txBody>
                  <a:tcPr marL="101600" marR="101600" marT="38100" marB="38100" anchor="ctr">
                    <a:solidFill>
                      <a:srgbClr val="FFFFFF"/>
                    </a:solidFill>
                  </a:tcPr>
                </a:tc>
                <a:tc>
                  <a:txBody>
                    <a:bodyPr/>
                    <a:lstStyle/>
                    <a:p>
                      <a:r>
                        <a:rPr sz="1400" b="0" i="0">
                          <a:solidFill>
                            <a:srgbClr val="1A1440"/>
                          </a:solidFill>
                          <a:latin typeface="Calibri"/>
                        </a:rPr>
                        <a:t>The per-hour chart; sales per customer; the festival fortnight, as the caveat</a:t>
                      </a:r>
                    </a:p>
                  </a:txBody>
                  <a:tcPr marL="101600" marR="101600" marT="38100" marB="38100" anchor="ctr">
                    <a:solidFill>
                      <a:srgbClr val="FFFFFF"/>
                    </a:solidFill>
                  </a:tcPr>
                </a:tc>
              </a:tr>
              <a:tr h="369824">
                <a:tc>
                  <a:txBody>
                    <a:bodyPr/>
                    <a:lstStyle/>
                    <a:p>
                      <a:r>
                        <a:rPr sz="1400" b="0" i="0">
                          <a:solidFill>
                            <a:srgbClr val="1A1440"/>
                          </a:solidFill>
                          <a:latin typeface="Calibri"/>
                        </a:rPr>
                        <a:t>The son's page: did my extra hours bring customers?</a:t>
                      </a:r>
                    </a:p>
                  </a:txBody>
                  <a:tcPr marL="101600" marR="101600" marT="38100" marB="38100" anchor="ctr">
                    <a:solidFill>
                      <a:srgbClr val="F4F2FA"/>
                    </a:solidFill>
                  </a:tcPr>
                </a:tc>
                <a:tc>
                  <a:txBody>
                    <a:bodyPr/>
                    <a:lstStyle/>
                    <a:p>
                      <a:r>
                        <a:rPr sz="1400" b="0" i="0">
                          <a:solidFill>
                            <a:srgbClr val="1A1440"/>
                          </a:solidFill>
                          <a:latin typeface="Calibri"/>
                        </a:rPr>
                        <a:t>Customers a day; the son's hours at the counter</a:t>
                      </a:r>
                    </a:p>
                  </a:txBody>
                  <a:tcPr marL="101600" marR="101600" marT="38100" marB="38100" anchor="ctr">
                    <a:solidFill>
                      <a:srgbClr val="F4F2FA"/>
                    </a:solidFill>
                  </a:tcPr>
                </a:tc>
              </a:tr>
              <a:tr h="611632">
                <a:tc>
                  <a:txBody>
                    <a:bodyPr/>
                    <a:lstStyle/>
                    <a:p>
                      <a:r>
                        <a:rPr sz="1400" b="0" i="0">
                          <a:solidFill>
                            <a:srgbClr val="1A1440"/>
                          </a:solidFill>
                          <a:latin typeface="Calibri"/>
                        </a:rPr>
                        <a:t>The accounts page: what did the hours cost, and what did they bring?</a:t>
                      </a:r>
                    </a:p>
                  </a:txBody>
                  <a:tcPr marL="101600" marR="101600" marT="38100" marB="38100" anchor="ctr">
                    <a:solidFill>
                      <a:srgbClr val="FFFFFF"/>
                    </a:solidFill>
                  </a:tcPr>
                </a:tc>
                <a:tc>
                  <a:txBody>
                    <a:bodyPr/>
                    <a:lstStyle/>
                    <a:p>
                      <a:r>
                        <a:rPr sz="1400" b="0" i="0">
                          <a:solidFill>
                            <a:srgbClr val="1A1440"/>
                          </a:solidFill>
                          <a:latin typeface="Calibri"/>
                        </a:rPr>
                        <a:t>Total sales over four weeks; the helper's wage</a:t>
                      </a:r>
                    </a:p>
                  </a:txBody>
                  <a:tcPr marL="101600" marR="101600" marT="38100" marB="38100" anchor="ctr">
                    <a:solidFill>
                      <a:srgbClr val="FFFFFF"/>
                    </a:solidFill>
                  </a:tcPr>
                </a:tc>
              </a:tr>
              <a:tr h="369824">
                <a:tc>
                  <a:txBody>
                    <a:bodyPr/>
                    <a:lstStyle/>
                    <a:p>
                      <a:r>
                        <a:rPr sz="1400" b="0" i="0">
                          <a:solidFill>
                            <a:srgbClr val="1A1440"/>
                          </a:solidFill>
                          <a:latin typeface="Calibri"/>
                        </a:rPr>
                        <a:t>Nowhere: nobody will ask</a:t>
                      </a:r>
                    </a:p>
                  </a:txBody>
                  <a:tcPr marL="101600" marR="101600" marT="38100" marB="38100" anchor="ctr">
                    <a:solidFill>
                      <a:srgbClr val="F4F2FA"/>
                    </a:solidFill>
                  </a:tcPr>
                </a:tc>
                <a:tc>
                  <a:txBody>
                    <a:bodyPr/>
                    <a:lstStyle/>
                    <a:p>
                      <a:r>
                        <a:rPr sz="1400" b="0" i="0">
                          <a:solidFill>
                            <a:srgbClr val="1A1440"/>
                          </a:solidFill>
                          <a:latin typeface="Calibri"/>
                        </a:rPr>
                        <a:t>Rain days</a:t>
                      </a:r>
                    </a:p>
                  </a:txBody>
                  <a:tcPr marL="101600" marR="101600" marT="38100" marB="38100" anchor="ctr">
                    <a:solidFill>
                      <a:srgbClr val="F4F2FA"/>
                    </a:solidFill>
                  </a:tcPr>
                </a:tc>
              </a:tr>
            </a:tbl>
          </a:graphicData>
        </a:graphic>
      </p:graphicFrame>
      <p:sp>
        <p:nvSpPr>
          <p:cNvPr id="10" name="Rounded Rectangle 9"/>
          <p:cNvSpPr/>
          <p:nvPr/>
        </p:nvSpPr>
        <p:spPr>
          <a:xfrm>
            <a:off x="530352" y="450189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6299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6299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6299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83108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route(e):</a:t>
            </a:r>
          </a:p>
          <a:p>
            <a:pPr>
              <a:spcAft>
                <a:spcPts val="200"/>
              </a:spcAft>
            </a:pPr>
            <a:r>
              <a:rPr sz="1400" b="0" i="0">
                <a:solidFill>
                  <a:srgbClr val="E4E1F1"/>
                </a:solidFill>
                <a:latin typeface="Consolas"/>
              </a:rPr>
              <a:t>    if e.is_caveat == "yes" or e.supports_claim == "yes":</a:t>
            </a:r>
          </a:p>
          <a:p>
            <a:pPr>
              <a:spcAft>
                <a:spcPts val="200"/>
              </a:spcAft>
            </a:pPr>
            <a:r>
              <a:rPr sz="1400" b="0" i="0">
                <a:solidFill>
                  <a:srgbClr val="E4E1F1"/>
                </a:solidFill>
                <a:latin typeface="Consolas"/>
              </a:rPr>
              <a:t>        return "the slide"</a:t>
            </a:r>
          </a:p>
          <a:p>
            <a:pPr>
              <a:spcAft>
                <a:spcPts val="200"/>
              </a:spcAft>
            </a:pPr>
            <a:r>
              <a:rPr sz="1400" b="0" i="0">
                <a:solidFill>
                  <a:srgbClr val="E4E1F1"/>
                </a:solidFill>
                <a:latin typeface="Consolas"/>
              </a:rPr>
              <a:t>    return e.whose_question + "'s page" if e.whose_question else "leaves"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chart obeys the same rule: one line stays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the cluttered chart's ink carries the claim?</a:t>
            </a:r>
          </a:p>
        </p:txBody>
      </p:sp>
      <p:pic>
        <p:nvPicPr>
          <p:cNvPr id="9" name="mermaid diagram" descr="C2_W04_D02_kirana_makeover_STUDENT.png"/>
          <p:cNvPicPr>
            <a:picLocks noChangeAspect="1"/>
          </p:cNvPicPr>
          <p:nvPr/>
        </p:nvPicPr>
        <p:blipFill>
          <a:blip r:embed="rId4"/>
          <a:stretch>
            <a:fillRect/>
          </a:stretch>
        </p:blipFill>
        <p:spPr>
          <a:xfrm>
            <a:off x="2352231" y="1664208"/>
            <a:ext cx="748723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shop's 56 invented days drawn cluttered, then as the one line that carries the claim</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Five of the six series leave, with the legend, the gridlines and the border; one line and two labels stay.</a:t>
            </a:r>
            <a:r>
              <a:rPr sz="1600" b="0" i="0">
                <a:solidFill>
                  <a:srgbClr val="1A1440"/>
                </a:solidFill>
                <a:latin typeface="Calibri"/>
              </a:rPr>
              <a:t> Storytelling with Data's declutter test asks of each element, "Is it adding any informative value? If the answer is no, then take it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what leaves the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2,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An element stays only if the claim cannot stand without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 element a named person will ask about goes to that person's page, headed by their question.</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An element nobody will ask about leaves.</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caveat stays on the slide, even when the slide is crowded.</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[F] What do you leave off the slide, and where does it go?</a:t>
            </a:r>
          </a:p>
        </p:txBody>
      </p:sp>
      <p:pic>
        <p:nvPicPr>
          <p:cNvPr id="22" name="mermaid diagram" descr="18adbe11e297accf.png"/>
          <p:cNvPicPr>
            <a:picLocks noChangeAspect="1"/>
          </p:cNvPicPr>
          <p:nvPr/>
        </p:nvPicPr>
        <p:blipFill>
          <a:blip r:embed="rId6"/>
          <a:stretch>
            <a:fillRect/>
          </a:stretch>
        </p:blipFill>
        <p:spPr>
          <a:xfrm>
            <a:off x="3019899" y="4587240"/>
            <a:ext cx="6151895" cy="161239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Defending under challenge: restate, answer, concede, what would change your mind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you hold a claim?</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taught at Gulmohar Secondary School, invented for this chapter: an objection is usually partly right, and a defence that concedes its true part keeps the claim.</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objection is usually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Defending under challenge: restate, answer, concede, what would change your mind.</a:t>
            </a:r>
          </a:p>
        </p:txBody>
      </p:sp>
      <p:sp>
        <p:nvSpPr>
          <p:cNvPr id="12" name="Rounded Rectangle 11"/>
          <p:cNvSpPr/>
          <p:nvPr/>
        </p:nvSpPr>
        <p:spPr>
          <a:xfrm>
            <a:off x="530352" y="264541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7342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6428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teacher at Gulmohar Secondary School (invented) who claims at a staff meeting that the new timetable raised attendance, and the headmaster, who decides whether the timetable stays. An </a:t>
            </a:r>
            <a:r>
              <a:rPr sz="1500" b="1" i="0">
                <a:solidFill>
                  <a:srgbClr val="1A1440"/>
                </a:solidFill>
                <a:latin typeface="Calibri"/>
              </a:rPr>
              <a:t>objection</a:t>
            </a:r>
            <a:r>
              <a:rPr sz="1500" b="0" i="0">
                <a:solidFill>
                  <a:srgbClr val="1A1440"/>
                </a:solidFill>
                <a:latin typeface="Calibri"/>
              </a:rPr>
              <a:t> is the reason a listener gives for not accepting a claim, usually built on a number the objector can see. To </a:t>
            </a:r>
            <a:r>
              <a:rPr sz="1500" b="1" i="0">
                <a:solidFill>
                  <a:srgbClr val="1A1440"/>
                </a:solidFill>
                <a:latin typeface="Calibri"/>
              </a:rPr>
              <a:t>concede</a:t>
            </a:r>
            <a:r>
              <a:rPr sz="1500" b="0" i="0">
                <a:solidFill>
                  <a:srgbClr val="1A1440"/>
                </a:solidFill>
                <a:latin typeface="Calibri"/>
              </a:rPr>
              <a:t> is to say its true part out loud.</a:t>
            </a:r>
          </a:p>
        </p:txBody>
      </p:sp>
      <p:sp>
        <p:nvSpPr>
          <p:cNvPr id="15" name="Rectangle 14"/>
          <p:cNvSpPr/>
          <p:nvPr/>
        </p:nvSpPr>
        <p:spPr>
          <a:xfrm>
            <a:off x="1853145" y="471804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reply wins the room?</a:t>
            </a:r>
          </a:p>
        </p:txBody>
      </p:sp>
      <p:sp>
        <p:nvSpPr>
          <p:cNvPr id="20" name="TextBox 19"/>
          <p:cNvSpPr txBox="1"/>
          <p:nvPr/>
        </p:nvSpPr>
        <p:spPr>
          <a:xfrm>
            <a:off x="694944" y="5472176"/>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replies to one objection.</a:t>
            </a:r>
          </a:p>
        </p:txBody>
      </p:sp>
      <p:sp>
        <p:nvSpPr>
          <p:cNvPr id="21" name="TextBox 20"/>
          <p:cNvSpPr txBox="1"/>
          <p:nvPr/>
        </p:nvSpPr>
        <p:spPr>
          <a:xfrm>
            <a:off x="3358819"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part of the objection is true?</a:t>
            </a:r>
          </a:p>
        </p:txBody>
      </p:sp>
      <p:sp>
        <p:nvSpPr>
          <p:cNvPr id="25" name="TextBox 24"/>
          <p:cNvSpPr txBox="1"/>
          <p:nvPr/>
        </p:nvSpPr>
        <p:spPr>
          <a:xfrm>
            <a:off x="3523411"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Counted on two years of weeks.</a:t>
            </a:r>
          </a:p>
        </p:txBody>
      </p:sp>
      <p:sp>
        <p:nvSpPr>
          <p:cNvPr id="26" name="TextBox 25"/>
          <p:cNvSpPr txBox="1"/>
          <p:nvPr/>
        </p:nvSpPr>
        <p:spPr>
          <a:xfrm>
            <a:off x="6187287"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evidence answers the rest?</a:t>
            </a:r>
          </a:p>
        </p:txBody>
      </p:sp>
      <p:sp>
        <p:nvSpPr>
          <p:cNvPr id="30" name="TextBox 29"/>
          <p:cNvSpPr txBox="1"/>
          <p:nvPr/>
        </p:nvSpPr>
        <p:spPr>
          <a:xfrm>
            <a:off x="6351879"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weeks before any exam.</a:t>
            </a:r>
          </a:p>
        </p:txBody>
      </p:sp>
      <p:sp>
        <p:nvSpPr>
          <p:cNvPr id="31" name="TextBox 30"/>
          <p:cNvSpPr txBox="1"/>
          <p:nvPr/>
        </p:nvSpPr>
        <p:spPr>
          <a:xfrm>
            <a:off x="9015755"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would change the teacher's mind?</a:t>
            </a:r>
          </a:p>
        </p:txBody>
      </p:sp>
      <p:sp>
        <p:nvSpPr>
          <p:cNvPr id="35" name="TextBox 34"/>
          <p:cNvSpPr txBox="1"/>
          <p:nvPr/>
        </p:nvSpPr>
        <p:spPr>
          <a:xfrm>
            <a:off x="9180347"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A fact that can be checked.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reply wins the headmaster?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teacher says the new timetable, from week 3, raised attendance. The sports teacher objects: "Attendance rose because the exams began." Which reply wins?</a:t>
            </a:r>
          </a:p>
        </p:txBody>
      </p:sp>
      <p:sp>
        <p:nvSpPr>
          <p:cNvPr id="9" name="TextBox 8"/>
          <p:cNvSpPr txBox="1"/>
          <p:nvPr/>
        </p:nvSpPr>
        <p:spPr>
          <a:xfrm>
            <a:off x="530352" y="1956816"/>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numbers again, louder: attendance rose 12.8 points this term, from 76.5 to 89.3 percent</a:t>
            </a:r>
          </a:p>
          <a:p>
            <a:pPr>
              <a:spcAft>
                <a:spcPts val="800"/>
              </a:spcAft>
            </a:pPr>
            <a:r>
              <a:rPr sz="1600" b="0" i="0">
                <a:solidFill>
                  <a:srgbClr val="1A1440"/>
                </a:solidFill>
                <a:latin typeface="Calibri"/>
              </a:rPr>
              <a:t>b) Withdraw the claim until next term</a:t>
            </a:r>
          </a:p>
          <a:p>
            <a:pPr>
              <a:spcAft>
                <a:spcPts val="800"/>
              </a:spcAft>
            </a:pPr>
            <a:r>
              <a:rPr sz="1600" b="0" i="0">
                <a:solidFill>
                  <a:srgbClr val="1A1440"/>
                </a:solidFill>
                <a:latin typeface="Calibri"/>
              </a:rPr>
              <a:t>c) Agree that exam weeks run higher, show that the rise began before the exams, and name what would change your mind</a:t>
            </a:r>
          </a:p>
          <a:p>
            <a:pPr>
              <a:spcAft>
                <a:spcPts val="800"/>
              </a:spcAft>
            </a:pPr>
            <a:r>
              <a:rPr sz="1600" b="0" i="0">
                <a:solidFill>
                  <a:srgbClr val="1A1440"/>
                </a:solidFill>
                <a:latin typeface="Calibri"/>
              </a:rPr>
              <a:t>d) Ask for another term of data before anyone decides</a:t>
            </a:r>
          </a:p>
          <a:p>
            <a:pPr>
              <a:spcAft>
                <a:spcPts val="800"/>
              </a:spcAft>
            </a:pPr>
            <a:r>
              <a:rPr sz="1600" b="1" i="0">
                <a:solidFill>
                  <a:srgbClr val="1A1440"/>
                </a:solidFill>
                <a:latin typeface="Calibri"/>
              </a:rPr>
              <a:t>Vote, two minutes with a neighbour, then vote again.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concede the exams and keep weeks 3 to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objection is true, and which line of evidence answers the rest?</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3815791"/>
                <a:gridCol w="914400"/>
                <a:gridCol w="914400"/>
                <a:gridCol w="914400"/>
                <a:gridCol w="914400"/>
                <a:gridCol w="914400"/>
                <a:gridCol w="914400"/>
                <a:gridCol w="914400"/>
                <a:gridCol w="914400"/>
              </a:tblGrid>
              <a:tr h="335280">
                <a:tc>
                  <a:txBody>
                    <a:bodyPr/>
                    <a:lstStyle/>
                    <a:p>
                      <a:r>
                        <a:rPr sz="1250" b="1" i="0">
                          <a:solidFill>
                            <a:srgbClr val="FFFFFF"/>
                          </a:solidFill>
                          <a:latin typeface="Calibri"/>
                        </a:rPr>
                        <a:t>Week (invented)</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c>
                  <a:txBody>
                    <a:bodyPr/>
                    <a:lstStyle/>
                    <a:p>
                      <a:r>
                        <a:rPr sz="1250" b="1" i="0">
                          <a:solidFill>
                            <a:srgbClr val="FFFFFF"/>
                          </a:solidFill>
                          <a:latin typeface="Calibri"/>
                        </a:rPr>
                        <a:t>3</a:t>
                      </a:r>
                    </a:p>
                  </a:txBody>
                  <a:tcPr marL="101600" marR="101600" marT="38100" marB="38100" anchor="ctr">
                    <a:solidFill>
                      <a:srgbClr val="1A0F5C"/>
                    </a:solidFill>
                  </a:tcPr>
                </a:tc>
                <a:tc>
                  <a:txBody>
                    <a:bodyPr/>
                    <a:lstStyle/>
                    <a:p>
                      <a:r>
                        <a:rPr sz="1250" b="1" i="0">
                          <a:solidFill>
                            <a:srgbClr val="FFFFFF"/>
                          </a:solidFill>
                          <a:latin typeface="Calibri"/>
                        </a:rPr>
                        <a:t>4</a:t>
                      </a:r>
                    </a:p>
                  </a:txBody>
                  <a:tcPr marL="101600" marR="101600" marT="38100" marB="38100" anchor="ctr">
                    <a:solidFill>
                      <a:srgbClr val="1A0F5C"/>
                    </a:solidFill>
                  </a:tcPr>
                </a:tc>
                <a:tc>
                  <a:txBody>
                    <a:bodyPr/>
                    <a:lstStyle/>
                    <a:p>
                      <a:r>
                        <a:rPr sz="1250" b="1" i="0">
                          <a:solidFill>
                            <a:srgbClr val="FFFFFF"/>
                          </a:solidFill>
                          <a:latin typeface="Calibri"/>
                        </a:rPr>
                        <a:t>5</a:t>
                      </a:r>
                    </a:p>
                  </a:txBody>
                  <a:tcPr marL="101600" marR="101600" marT="38100" marB="38100" anchor="ctr">
                    <a:solidFill>
                      <a:srgbClr val="1A0F5C"/>
                    </a:solidFill>
                  </a:tcPr>
                </a:tc>
                <a:tc>
                  <a:txBody>
                    <a:bodyPr/>
                    <a:lstStyle/>
                    <a:p>
                      <a:r>
                        <a:rPr sz="1250" b="1" i="0">
                          <a:solidFill>
                            <a:srgbClr val="FFFFFF"/>
                          </a:solidFill>
                          <a:latin typeface="Calibri"/>
                        </a:rPr>
                        <a:t>6</a:t>
                      </a:r>
                    </a:p>
                  </a:txBody>
                  <a:tcPr marL="101600" marR="101600" marT="38100" marB="38100" anchor="ctr">
                    <a:solidFill>
                      <a:srgbClr val="1A0F5C"/>
                    </a:solidFill>
                  </a:tcPr>
                </a:tc>
                <a:tc>
                  <a:txBody>
                    <a:bodyPr/>
                    <a:lstStyle/>
                    <a:p>
                      <a:r>
                        <a:rPr sz="1250" b="1" i="0">
                          <a:solidFill>
                            <a:srgbClr val="FFFFFF"/>
                          </a:solidFill>
                          <a:latin typeface="Calibri"/>
                        </a:rPr>
                        <a:t>7</a:t>
                      </a:r>
                    </a:p>
                  </a:txBody>
                  <a:tcPr marL="101600" marR="101600" marT="38100" marB="38100" anchor="ctr">
                    <a:solidFill>
                      <a:srgbClr val="1A0F5C"/>
                    </a:solidFill>
                  </a:tcPr>
                </a:tc>
                <a:tc>
                  <a:txBody>
                    <a:bodyPr/>
                    <a:lstStyle/>
                    <a:p>
                      <a:r>
                        <a:rPr sz="1250" b="1" i="0">
                          <a:solidFill>
                            <a:srgbClr val="FFFFFF"/>
                          </a:solidFill>
                          <a:latin typeface="Calibri"/>
                        </a:rPr>
                        <a:t>8</a:t>
                      </a:r>
                    </a:p>
                  </a:txBody>
                  <a:tcPr marL="101600" marR="101600" marT="38100" marB="38100" anchor="ctr">
                    <a:solidFill>
                      <a:srgbClr val="1A0F5C"/>
                    </a:solidFill>
                  </a:tcPr>
                </a:tc>
              </a:tr>
              <a:tr h="335280">
                <a:tc>
                  <a:txBody>
                    <a:bodyPr/>
                    <a:lstStyle/>
                    <a:p>
                      <a:r>
                        <a:rPr sz="1200" b="0" i="0">
                          <a:solidFill>
                            <a:srgbClr val="1A1440"/>
                          </a:solidFill>
                          <a:latin typeface="Calibri"/>
                        </a:rPr>
                        <a:t>Last year, percent</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r>
              <a:tr h="335280">
                <a:tc>
                  <a:txBody>
                    <a:bodyPr/>
                    <a:lstStyle/>
                    <a:p>
                      <a:r>
                        <a:rPr sz="1200" b="0" i="0">
                          <a:solidFill>
                            <a:srgbClr val="1A1440"/>
                          </a:solidFill>
                          <a:latin typeface="Calibri"/>
                        </a:rPr>
                        <a:t>This year, percent</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82</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c>
                  <a:txBody>
                    <a:bodyPr/>
                    <a:lstStyle/>
                    <a:p>
                      <a:r>
                        <a:rPr sz="1200" b="0" i="0">
                          <a:solidFill>
                            <a:srgbClr val="1A1440"/>
                          </a:solidFill>
                          <a:latin typeface="Calibri"/>
                        </a:rPr>
                        <a:t>90</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new timetable began in week 3 this year; exams ran in weeks 6 to 8 in both years. </a:t>
            </a:r>
            <a:r>
              <a:rPr sz="1600" b="1" i="0">
                <a:solidFill>
                  <a:srgbClr val="1A1440"/>
                </a:solidFill>
                <a:latin typeface="Calibri"/>
              </a:rPr>
              <a:t>The true part:</a:t>
            </a:r>
            <a:r>
              <a:rPr sz="1600" b="0" i="0">
                <a:solidFill>
                  <a:srgbClr val="1A1440"/>
                </a:solidFill>
                <a:latin typeface="Calibri"/>
              </a:rPr>
              <a:t> the exam weeks run about 8 points above the three weeks before them in both years, 8.3 last year and 8.0 this year. </a:t>
            </a:r>
            <a:r>
              <a:rPr sz="1600" b="1" i="0">
                <a:solidFill>
                  <a:srgbClr val="1A1440"/>
                </a:solidFill>
                <a:latin typeface="Calibri"/>
              </a:rPr>
              <a:t>The rest:</a:t>
            </a:r>
            <a:r>
              <a:rPr sz="1600" b="0" i="0">
                <a:solidFill>
                  <a:srgbClr val="1A1440"/>
                </a:solidFill>
                <a:latin typeface="Calibri"/>
              </a:rPr>
              <a:t> weeks 3 to 5 this year sit 4 to 5 points above the same weeks last year, before any exam, 4.7 on average. </a:t>
            </a:r>
            <a:r>
              <a:rPr sz="1600" b="1" i="0">
                <a:solidFill>
                  <a:srgbClr val="1A1440"/>
                </a:solidFill>
                <a:latin typeface="Calibri"/>
              </a:rPr>
              <a:t>The answer is c.</a:t>
            </a:r>
            <a:r>
              <a:rPr sz="1600" b="0" i="0">
                <a:solidFill>
                  <a:srgbClr val="1A1440"/>
                </a:solidFill>
                <a:latin typeface="Calibri"/>
              </a:rPr>
              <a:t> a repeats the claim and concedes nothing; b and d retreat from evidence the teacher already holds.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rise began in week 3, before any exam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that the objection missed?</a:t>
            </a:r>
          </a:p>
        </p:txBody>
      </p:sp>
      <p:pic>
        <p:nvPicPr>
          <p:cNvPr id="9" name="mermaid diagram" descr="C2_W04_D02_school_two_years_STUDENT.png"/>
          <p:cNvPicPr>
            <a:picLocks noChangeAspect="1"/>
          </p:cNvPicPr>
          <p:nvPr/>
        </p:nvPicPr>
        <p:blipFill>
          <a:blip r:embed="rId4"/>
          <a:stretch>
            <a:fillRect/>
          </a:stretch>
        </p:blipFill>
        <p:spPr>
          <a:xfrm>
            <a:off x="3027570" y="1664208"/>
            <a:ext cx="613655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Gulmohar Secondary School's attendance over two years, the new timetable and the exams marked, invented</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1" i="0">
                <a:solidFill>
                  <a:srgbClr val="1A1440"/>
                </a:solidFill>
                <a:latin typeface="Calibri"/>
              </a:rPr>
              <a:t>The two lines agree where nothing changed and part where the timetable did.</a:t>
            </a:r>
            <a:r>
              <a:rPr sz="1600" b="0" i="0">
                <a:solidFill>
                  <a:srgbClr val="1A1440"/>
                </a:solidFill>
                <a:latin typeface="Calibri"/>
              </a:rPr>
              <a:t> Weeks 1 and 2 match; the exam weeks lift both years by about 8 points; only this year's line rises from week 3.</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 worked 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the sports teacher's objection sound like?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saying attendance rose because the exams began, so the timetable may have done nothing."</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"Weeks 3 to 5 this year sit 4 to 5 points above last year's same weeks, before any exam."</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right that exam weeks run about 8 points higher; they did in both years."</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696976"/>
          </a:xfrm>
          <a:prstGeom prst="rect">
            <a:avLst/>
          </a:prstGeom>
          <a:noFill/>
        </p:spPr>
        <p:txBody>
          <a:bodyPr wrap="square" anchor="t" lIns="0" rIns="0" tIns="0" bIns="0">
            <a:spAutoFit/>
          </a:bodyPr>
          <a:lstStyle/>
          <a:p>
            <a:pPr algn="l"/>
            <a:r>
              <a:rPr sz="1000" b="0" i="0">
                <a:solidFill>
                  <a:srgbClr val="CFC9EE"/>
                </a:solidFill>
                <a:latin typeface="Calibri"/>
              </a:rPr>
              <a:t>"If a school with the same exams and the old timetable showed the same rise in weeks 3 to 5, I would drop the claim."</a:t>
            </a:r>
          </a:p>
        </p:txBody>
      </p:sp>
      <p:sp>
        <p:nvSpPr>
          <p:cNvPr id="30" name="TextBox 29"/>
          <p:cNvSpPr txBox="1"/>
          <p:nvPr/>
        </p:nvSpPr>
        <p:spPr>
          <a:xfrm>
            <a:off x="530352" y="444906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These are the four moves: restate, answer, concede, what would change your mind.</a:t>
            </a:r>
            <a:r>
              <a:rPr sz="1600" b="0" i="0">
                <a:solidFill>
                  <a:srgbClr val="1A1440"/>
                </a:solidFill>
                <a:latin typeface="Calibri"/>
              </a:rPr>
              <a:t> Restating comes first because the objector has to agree with your version before any answer lands; Rapoport's rules, which the philosopher Daniel Dennett set out, open the same way.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3" name="Oval 3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5" name="Oval 3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37" name="Oval 3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9" name="Oval 3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overclaiming or retreating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 the school?</a:t>
            </a:r>
          </a:p>
        </p:txBody>
      </p:sp>
      <p:graphicFrame>
        <p:nvGraphicFramePr>
          <p:cNvPr id="9" name="Table 8"/>
          <p:cNvGraphicFramePr>
            <a:graphicFrameLocks noGrp="1"/>
          </p:cNvGraphicFramePr>
          <p:nvPr/>
        </p:nvGraphicFramePr>
        <p:xfrm>
          <a:off x="530352" y="1956816"/>
          <a:ext cx="11130990" cy="1834896"/>
        </p:xfrm>
        <a:graphic>
          <a:graphicData uri="http://schemas.openxmlformats.org/drawingml/2006/table">
            <a:tbl>
              <a:tblPr firstRow="0" bandRow="0">
                <a:tableStyleId>{2D5ABB26-0587-4C30-8999-92F81FD0307C}</a:tableStyleId>
              </a:tblPr>
              <a:tblGrid>
                <a:gridCol w="2383010"/>
                <a:gridCol w="3842736"/>
                <a:gridCol w="4905244"/>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What it costs the school</a:t>
                      </a:r>
                    </a:p>
                  </a:txBody>
                  <a:tcPr marL="101600" marR="101600" marT="38100" marB="38100" anchor="ctr">
                    <a:solidFill>
                      <a:srgbClr val="1A0F5C"/>
                    </a:solidFill>
                  </a:tcPr>
                </a:tc>
              </a:tr>
              <a:tr h="853440">
                <a:tc>
                  <a:txBody>
                    <a:bodyPr/>
                    <a:lstStyle/>
                    <a:p>
                      <a:r>
                        <a:rPr sz="1400" b="0" i="0">
                          <a:solidFill>
                            <a:srgbClr val="1A1440"/>
                          </a:solidFill>
                          <a:latin typeface="Calibri"/>
                        </a:rPr>
                        <a:t>Overclaim: concede nothing</a:t>
                      </a:r>
                    </a:p>
                  </a:txBody>
                  <a:tcPr marL="101600" marR="101600" marT="38100" marB="38100" anchor="ctr">
                    <a:solidFill>
                      <a:srgbClr val="FFFFFF"/>
                    </a:solidFill>
                  </a:tcPr>
                </a:tc>
                <a:tc>
                  <a:txBody>
                    <a:bodyPr/>
                    <a:lstStyle/>
                    <a:p>
                      <a:r>
                        <a:rPr sz="1400" b="0" i="0">
                          <a:solidFill>
                            <a:srgbClr val="1A1440"/>
                          </a:solidFill>
                          <a:latin typeface="Calibri"/>
                        </a:rPr>
                        <a:t>"Exams are irrelevant; the timetable did it."</a:t>
                      </a:r>
                    </a:p>
                  </a:txBody>
                  <a:tcPr marL="101600" marR="101600" marT="38100" marB="38100" anchor="ctr">
                    <a:solidFill>
                      <a:srgbClr val="FFFFFF"/>
                    </a:solidFill>
                  </a:tcPr>
                </a:tc>
                <a:tc>
                  <a:txBody>
                    <a:bodyPr/>
                    <a:lstStyle/>
                    <a:p>
                      <a:r>
                        <a:rPr sz="1400" b="0" i="0">
                          <a:solidFill>
                            <a:srgbClr val="1A1440"/>
                          </a:solidFill>
                          <a:latin typeface="Calibri"/>
                        </a:rPr>
                        <a:t>The headmaster hears a claim repeated louder, and the sports teacher, partly right, turns the staff room against the timetable</a:t>
                      </a:r>
                    </a:p>
                  </a:txBody>
                  <a:tcPr marL="101600" marR="101600" marT="38100" marB="38100" anchor="ctr">
                    <a:solidFill>
                      <a:srgbClr val="FFFFFF"/>
                    </a:solidFill>
                  </a:tcPr>
                </a:tc>
              </a:tr>
              <a:tr h="611632">
                <a:tc>
                  <a:txBody>
                    <a:bodyPr/>
                    <a:lstStyle/>
                    <a:p>
                      <a:r>
                        <a:rPr sz="1400" b="0" i="0">
                          <a:solidFill>
                            <a:srgbClr val="1A1440"/>
                          </a:solidFill>
                          <a:latin typeface="Calibri"/>
                        </a:rPr>
                        <a:t>Retreat: concede everything</a:t>
                      </a:r>
                    </a:p>
                  </a:txBody>
                  <a:tcPr marL="101600" marR="101600" marT="38100" marB="38100" anchor="ctr">
                    <a:solidFill>
                      <a:srgbClr val="F4F2FA"/>
                    </a:solidFill>
                  </a:tcPr>
                </a:tc>
                <a:tc>
                  <a:txBody>
                    <a:bodyPr/>
                    <a:lstStyle/>
                    <a:p>
                      <a:r>
                        <a:rPr sz="1400" b="0" i="0">
                          <a:solidFill>
                            <a:srgbClr val="1A1440"/>
                          </a:solidFill>
                          <a:latin typeface="Calibri"/>
                        </a:rPr>
                        <a:t>"You may be right; let us wait a term."</a:t>
                      </a:r>
                    </a:p>
                  </a:txBody>
                  <a:tcPr marL="101600" marR="101600" marT="38100" marB="38100" anchor="ctr">
                    <a:solidFill>
                      <a:srgbClr val="F4F2FA"/>
                    </a:solidFill>
                  </a:tcPr>
                </a:tc>
                <a:tc>
                  <a:txBody>
                    <a:bodyPr/>
                    <a:lstStyle/>
                    <a:p>
                      <a:r>
                        <a:rPr sz="1400" b="0" i="0">
                          <a:solidFill>
                            <a:srgbClr val="1A1440"/>
                          </a:solidFill>
                          <a:latin typeface="Calibri"/>
                        </a:rPr>
                        <a:t>A term of the old timetable, with the evidence for the new one never heard</a:t>
                      </a:r>
                    </a:p>
                  </a:txBody>
                  <a:tcPr marL="101600" marR="101600" marT="38100" marB="38100" anchor="ctr">
                    <a:solidFill>
                      <a:srgbClr val="F4F2FA"/>
                    </a:solidFill>
                  </a:tcPr>
                </a:tc>
              </a:tr>
            </a:tbl>
          </a:graphicData>
        </a:graphic>
      </p:graphicFrame>
      <p:sp>
        <p:nvSpPr>
          <p:cNvPr id="10" name="Rounded Rectangle 9"/>
          <p:cNvSpPr/>
          <p:nvPr/>
        </p:nvSpPr>
        <p:spPr>
          <a:xfrm>
            <a:off x="530352" y="40477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757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66616"/>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a:t>
            </a:r>
            <a:r>
              <a:rPr sz="1500" b="1" i="0">
                <a:solidFill>
                  <a:srgbClr val="1A1440"/>
                </a:solidFill>
                <a:latin typeface="Calibri"/>
              </a:rPr>
              <a:t>When the objector runs the meeting,</a:t>
            </a:r>
            <a:r>
              <a:rPr sz="1500" b="0" i="0">
                <a:solidFill>
                  <a:srgbClr val="1A1440"/>
                </a:solidFill>
                <a:latin typeface="Calibri"/>
              </a:rPr>
              <a:t> concede the true part first, keep their visible number on the page, and agree the test and the result that decides it before the meeting.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concession and the answer, in four lines of code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numbers does the defence stand on, computed?</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 = att.pivot(index="week", columns="year", values="attendance_pct")</a:t>
            </a:r>
          </a:p>
          <a:p>
            <a:pPr>
              <a:spcAft>
                <a:spcPts val="200"/>
              </a:spcAft>
            </a:pPr>
            <a:r>
              <a:rPr sz="1400" b="0" i="0">
                <a:solidFill>
                  <a:srgbClr val="E4E1F1"/>
                </a:solidFill>
                <a:latin typeface="Consolas"/>
              </a:rPr>
              <a:t>exam_lift = w.loc[6:8].mean() - w.loc[3:5].mean()     # 8.3 last year, 8.0 this year</a:t>
            </a:r>
          </a:p>
          <a:p>
            <a:pPr>
              <a:spcAft>
                <a:spcPts val="200"/>
              </a:spcAft>
            </a:pPr>
            <a:r>
              <a:rPr sz="1400" b="0" i="0">
                <a:solidFill>
                  <a:srgbClr val="E4E1F1"/>
                </a:solidFill>
                <a:latin typeface="Consolas"/>
              </a:rPr>
              <a:t>early = w.loc[3:5].mean()                             # weeks 3 to 5, both years</a:t>
            </a:r>
          </a:p>
          <a:p>
            <a:pPr>
              <a:spcAft>
                <a:spcPts val="200"/>
              </a:spcAft>
            </a:pPr>
            <a:r>
              <a:rPr sz="1400" b="0" i="0">
                <a:solidFill>
                  <a:srgbClr val="E4E1F1"/>
                </a:solidFill>
                <a:latin typeface="Consolas"/>
              </a:rPr>
              <a:t>rise = early["this year"] - early["last year"]        # 4.7 points, before any exam</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concession carries one number and the answer carries another.</a:t>
            </a:r>
            <a:r>
              <a:rPr sz="1600" b="0" i="0">
                <a:solidFill>
                  <a:srgbClr val="1A1440"/>
                </a:solidFill>
                <a:latin typeface="Calibri"/>
              </a:rPr>
              <a:t> Exams lift both years by about 8 points; the timetable's weeks sit 4.7 points above last year's before any exam.</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9" name="Oval 18"/>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holding a claim under challenge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3,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Restate the objection until its owner agrees with your version.</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Answer from a named line of the evidence, never from the claim repeated.</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Concede the true part out loud; the claim survives it.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Say the fact that would change your mind, so the claim can be tested.</a:t>
            </a:r>
          </a:p>
        </p:txBody>
      </p:sp>
      <p:sp>
        <p:nvSpPr>
          <p:cNvPr id="17" name="Rounded Rectangle 16"/>
          <p:cNvSpPr/>
          <p:nvPr/>
        </p:nvSpPr>
        <p:spPr>
          <a:xfrm>
            <a:off x="530352" y="35600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8922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400202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682752"/>
          </a:xfrm>
          <a:prstGeom prst="rect">
            <a:avLst/>
          </a:prstGeom>
          <a:noFill/>
        </p:spPr>
        <p:txBody>
          <a:bodyPr wrap="square" anchor="t" lIns="0" rIns="0" tIns="0" bIns="0">
            <a:spAutoFit/>
          </a:bodyPr>
          <a:lstStyle/>
          <a:p>
            <a:r>
              <a:rPr sz="1500" b="0" i="0">
                <a:solidFill>
                  <a:srgbClr val="1A1440"/>
                </a:solidFill>
                <a:latin typeface="Calibri"/>
              </a:rPr>
              <a:t>[F] A stakeholder's objection is partly right; how do you answer it? [D] The person who loses under your metric controls the meeting; how do you get it adopted anyway?</a:t>
            </a:r>
          </a:p>
        </p:txBody>
      </p:sp>
      <p:pic>
        <p:nvPicPr>
          <p:cNvPr id="22" name="mermaid diagram" descr="7a6795348fb3a5fa.png"/>
          <p:cNvPicPr>
            <a:picLocks noChangeAspect="1"/>
          </p:cNvPicPr>
          <p:nvPr/>
        </p:nvPicPr>
        <p:blipFill>
          <a:blip r:embed="rId6"/>
          <a:stretch>
            <a:fillRect/>
          </a:stretch>
        </p:blipFill>
        <p:spPr>
          <a:xfrm>
            <a:off x="3389223" y="4846320"/>
            <a:ext cx="5413248" cy="135331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Uber's slide, rebuilt with the one-slide answer and what to leave out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carries it?</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applied: Uber's slides A, B and C rebuilt to one claim, one number with its denominator, the caveat in sight and the action with its cost, so the city head can act on one slide.</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slide applies chapters 1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What to leave out, and the appendix (chapter 2).</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Hyderabad city head, who has one slide and five minutes at Thursday's city review, with the driver-operations lead, the marketing lead and the finance partner in the room, each losing something under the redesign.</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role lose?</a:t>
            </a:r>
          </a:p>
        </p:txBody>
      </p:sp>
      <p:sp>
        <p:nvSpPr>
          <p:cNvPr id="20" name="TextBox 19"/>
          <p:cNvSpPr txBox="1"/>
          <p:nvPr/>
        </p:nvSpPr>
        <p:spPr>
          <a:xfrm>
            <a:off x="694944"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loser test, on three real roles.</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title acts?</a:t>
            </a:r>
          </a:p>
        </p:txBody>
      </p:sp>
      <p:sp>
        <p:nvSpPr>
          <p:cNvPr id="25" name="TextBox 24"/>
          <p:cNvSpPr txBox="1"/>
          <p:nvPr/>
        </p:nvSpPr>
        <p:spPr>
          <a:xfrm>
            <a:off x="3523411"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1's claim, on finance's top-up.</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two numbers stay?</a:t>
            </a:r>
          </a:p>
        </p:txBody>
      </p:sp>
      <p:sp>
        <p:nvSpPr>
          <p:cNvPr id="30" name="TextBox 29"/>
          <p:cNvSpPr txBox="1"/>
          <p:nvPr/>
        </p:nvSpPr>
        <p:spPr>
          <a:xfrm>
            <a:off x="6351879"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Nine dashboard numbers cut to two.</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denominator?</a:t>
            </a:r>
          </a:p>
        </p:txBody>
      </p:sp>
      <p:sp>
        <p:nvSpPr>
          <p:cNvPr id="35" name="TextBox 34"/>
          <p:cNvSpPr txBox="1"/>
          <p:nvPr/>
        </p:nvSpPr>
        <p:spPr>
          <a:xfrm>
            <a:off x="9180347"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same rupees read three ways.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six weeks, so part of the fall may be the season. Test paying per completed peak trip with an acceptance floor: city-wide, it saves Rs 58 lakh to Rs 92.7 lakh over six weeks if a half to a fifth of the idle drivers' top-up is still paid."</a:t>
            </a:r>
          </a:p>
        </p:txBody>
      </p:sp>
      <p:sp>
        <p:nvSpPr>
          <p:cNvPr id="11" name="TextBox 10"/>
          <p:cNvSpPr txBox="1"/>
          <p:nvPr/>
        </p:nvSpPr>
        <p:spPr>
          <a:xfrm>
            <a:off x="530352" y="370840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estimated how many drivers the evening peak needs, said every assumption aloud, given a range, and checked it against the case's own data.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05482"/>
            <a:ext cx="237744" cy="237744"/>
          </a:xfrm>
          <a:prstGeom prst="rect">
            <a:avLst/>
          </a:prstGeom>
        </p:spPr>
      </p:pic>
      <p:sp>
        <p:nvSpPr>
          <p:cNvPr id="12" name="TextBox 11"/>
          <p:cNvSpPr txBox="1"/>
          <p:nvPr/>
        </p:nvSpPr>
        <p:spPr>
          <a:xfrm>
            <a:off x="731519"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The supply headline</a:t>
            </a:r>
          </a:p>
        </p:txBody>
      </p:sp>
      <p:sp>
        <p:nvSpPr>
          <p:cNvPr id="14" name="TextBox 13"/>
          <p:cNvSpPr txBox="1"/>
          <p:nvPr/>
        </p:nvSpPr>
        <p:spPr>
          <a:xfrm>
            <a:off x="731519" y="3208274"/>
            <a:ext cx="3186074" cy="482346"/>
          </a:xfrm>
          <a:prstGeom prst="rect">
            <a:avLst/>
          </a:prstGeom>
          <a:noFill/>
        </p:spPr>
        <p:txBody>
          <a:bodyPr wrap="square" anchor="t" lIns="0" rIns="0" tIns="0" bIns="0">
            <a:spAutoFit/>
          </a:bodyPr>
          <a:lstStyle/>
          <a:p>
            <a:pPr algn="l"/>
            <a:r>
              <a:rPr sz="9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05482"/>
            <a:ext cx="237744" cy="237744"/>
          </a:xfrm>
          <a:prstGeom prst="rect">
            <a:avLst/>
          </a:prstGeom>
        </p:spPr>
      </p:pic>
      <p:sp>
        <p:nvSpPr>
          <p:cNvPr id="18" name="TextBox 17"/>
          <p:cNvSpPr txBox="1"/>
          <p:nvPr/>
        </p:nvSpPr>
        <p:spPr>
          <a:xfrm>
            <a:off x="4502810"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A clean hoarding line</a:t>
            </a:r>
          </a:p>
        </p:txBody>
      </p:sp>
      <p:sp>
        <p:nvSpPr>
          <p:cNvPr id="20" name="TextBox 19"/>
          <p:cNvSpPr txBox="1"/>
          <p:nvPr/>
        </p:nvSpPr>
        <p:spPr>
          <a:xfrm>
            <a:off x="4502810" y="3208274"/>
            <a:ext cx="3186074" cy="482346"/>
          </a:xfrm>
          <a:prstGeom prst="rect">
            <a:avLst/>
          </a:prstGeom>
          <a:noFill/>
        </p:spPr>
        <p:txBody>
          <a:bodyPr wrap="square" anchor="t" lIns="0" rIns="0" tIns="0" bIns="0">
            <a:spAutoFit/>
          </a:bodyPr>
          <a:lstStyle/>
          <a:p>
            <a:pPr algn="l"/>
            <a:r>
              <a:rPr sz="900" b="0" i="0">
                <a:solidFill>
                  <a:srgbClr val="6B6690"/>
                </a:solidFill>
                <a:latin typeface="Calibri"/>
              </a:rPr>
              <a:t>"Rs 300 an hour, guaranteed" now carries a condition: the Rs 300 floor holds only for drivers who accept most offers</a:t>
            </a:r>
          </a:p>
        </p:txBody>
      </p:sp>
      <p:sp>
        <p:nvSpPr>
          <p:cNvPr id="21" name="Rounded Rectangle 20"/>
          <p:cNvSpPr/>
          <p:nvPr/>
        </p:nvSpPr>
        <p:spPr>
          <a:xfrm>
            <a:off x="807293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05482"/>
            <a:ext cx="237744" cy="237744"/>
          </a:xfrm>
          <a:prstGeom prst="rect">
            <a:avLst/>
          </a:prstGeom>
        </p:spPr>
      </p:pic>
      <p:sp>
        <p:nvSpPr>
          <p:cNvPr id="24" name="TextBox 23"/>
          <p:cNvSpPr txBox="1"/>
          <p:nvPr/>
        </p:nvSpPr>
        <p:spPr>
          <a:xfrm>
            <a:off x="8274100"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Its own number as the headline</a:t>
            </a:r>
          </a:p>
        </p:txBody>
      </p:sp>
      <p:sp>
        <p:nvSpPr>
          <p:cNvPr id="26" name="TextBox 25"/>
          <p:cNvSpPr txBox="1"/>
          <p:nvPr/>
        </p:nvSpPr>
        <p:spPr>
          <a:xfrm>
            <a:off x="8274100" y="3208274"/>
            <a:ext cx="3186074" cy="333756"/>
          </a:xfrm>
          <a:prstGeom prst="rect">
            <a:avLst/>
          </a:prstGeom>
          <a:noFill/>
        </p:spPr>
        <p:txBody>
          <a:bodyPr wrap="square" anchor="t" lIns="0" rIns="0" tIns="0" bIns="0">
            <a:spAutoFit/>
          </a:bodyPr>
          <a:lstStyle/>
          <a:p>
            <a:pPr algn="l"/>
            <a:r>
              <a:rPr sz="9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095242"/>
            <a:ext cx="11130991" cy="18922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23258"/>
            <a:ext cx="45720" cy="16362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14114"/>
            <a:ext cx="10564063" cy="1709419"/>
          </a:xfrm>
          <a:prstGeom prst="rect">
            <a:avLst/>
          </a:prstGeom>
          <a:noFill/>
        </p:spPr>
        <p:txBody>
          <a:bodyPr wrap="square" anchor="ctr" lIns="0" rIns="0" tIns="0" bIns="0">
            <a:spAutoFit/>
          </a:bodyPr>
          <a:lstStyle/>
          <a:p>
            <a:r>
              <a:rPr sz="1300" b="1">
                <a:solidFill>
                  <a:srgbClr val="5B3FD6"/>
                </a:solidFill>
                <a:latin typeface="Calibri"/>
              </a:rPr>
              <a:t>The scheme now. </a:t>
            </a:r>
            <a:r>
              <a:rPr sz="1300" b="0" i="0">
                <a:solidFill>
                  <a:srgbClr val="1A1440"/>
                </a:solidFill>
                <a:latin typeface="Calibri"/>
              </a:rPr>
              <a:t>An enrolled driver online through a whole peak window (two three-hour windows a day) is guaranteed Rs 300 per peak online hour, the floor; when the driver's trip earnings fall short, Uber pays the gap as a </a:t>
            </a:r>
            <a:r>
              <a:rPr sz="1300" b="1" i="0">
                <a:solidFill>
                  <a:srgbClr val="1A1440"/>
                </a:solidFill>
                <a:latin typeface="Calibri"/>
              </a:rPr>
              <a:t>top-up</a:t>
            </a:r>
            <a:r>
              <a:rPr sz="1300" b="0" i="0">
                <a:solidFill>
                  <a:srgbClr val="1A1440"/>
                </a:solidFill>
                <a:latin typeface="Calibri"/>
              </a:rPr>
              <a:t>. </a:t>
            </a:r>
            <a:r>
              <a:rPr sz="1300" b="1" i="0">
                <a:solidFill>
                  <a:srgbClr val="1A1440"/>
                </a:solidFill>
                <a:latin typeface="Calibri"/>
              </a:rPr>
              <a:t>Monday's redesign,</a:t>
            </a:r>
            <a:r>
              <a:rPr sz="1300" b="0" i="0">
                <a:solidFill>
                  <a:srgbClr val="1A1440"/>
                </a:solidFill>
                <a:latin typeface="Calibri"/>
              </a:rPr>
              <a:t> as a driver hears it: "The floor now pays for trips you complete, if you say yes to most offers." Saying yes to at least half the requests offered is the </a:t>
            </a:r>
            <a:r>
              <a:rPr sz="1300" b="1" i="0">
                <a:solidFill>
                  <a:srgbClr val="1A1440"/>
                </a:solidFill>
                <a:latin typeface="Calibri"/>
              </a:rPr>
              <a:t>acceptance floor</a:t>
            </a:r>
            <a:r>
              <a:rPr sz="1300" b="0" i="0">
                <a:solidFill>
                  <a:srgbClr val="1A1440"/>
                </a:solidFill>
                <a:latin typeface="Calibri"/>
              </a:rPr>
              <a:t>. Three </a:t>
            </a:r>
            <a:r>
              <a:rPr sz="1300" b="1" i="0">
                <a:solidFill>
                  <a:srgbClr val="1A1440"/>
                </a:solidFill>
                <a:latin typeface="Calibri"/>
              </a:rPr>
              <a:t>guardrails</a:t>
            </a:r>
            <a:r>
              <a:rPr sz="1300" b="0" i="0">
                <a:solidFill>
                  <a:srgbClr val="1A1440"/>
                </a:solidFill>
                <a:latin typeface="Calibri"/>
              </a:rPr>
              <a:t>, numbers that must not get worse while trips rise, watch it: the acceptance share, the median rider wait at peak and top-up per completed trip. </a:t>
            </a:r>
            <a:r>
              <a:rPr sz="1300" b="1" i="0">
                <a:solidFill>
                  <a:srgbClr val="1A1440"/>
                </a:solidFill>
                <a:latin typeface="Calibri"/>
              </a:rPr>
              <a:t>The saving:</a:t>
            </a:r>
            <a:r>
              <a:rPr sz="1300" b="0" i="0">
                <a:solidFill>
                  <a:srgbClr val="1A1440"/>
                </a:solidFill>
                <a:latin typeface="Calibri"/>
              </a:rPr>
              <a:t> Rs 1.16 crore of top-up (115.9 lakh) went to driver-weeks that accepted under half their offers; if half of it is still paid, 115.9 / 2 = Rs 58 lakh is saved over six weeks, and if a fifth is, 115.9 x 4/5 = Rs 92.7 lakh.</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4" name="Oval 3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6" name="Oval 3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8" name="Oval 3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a slide on the top-up. 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Top-up review, six weeks</a:t>
            </a:r>
          </a:p>
          <a:p>
            <a:pPr>
              <a:spcAft>
                <a:spcPts val="800"/>
              </a:spcAft>
            </a:pPr>
            <a:r>
              <a:rPr sz="1600" b="0" i="0">
                <a:solidFill>
                  <a:srgbClr val="1A1440"/>
                </a:solidFill>
                <a:latin typeface="Calibri"/>
              </a:rPr>
              <a:t>b) Top-up Rs 1.9 crore, 61 percent of it to drivers accepting under half their offers</a:t>
            </a:r>
          </a:p>
          <a:p>
            <a:pPr>
              <a:spcAft>
                <a:spcPts val="800"/>
              </a:spcAft>
            </a:pPr>
            <a:r>
              <a:rPr sz="1600" b="0" i="0">
                <a:solidFill>
                  <a:srgbClr val="1A1440"/>
                </a:solidFill>
                <a:latin typeface="Calibri"/>
              </a:rPr>
              <a:t>c) Most of the top-up pays drivers who decline offers: add an acceptance floor</a:t>
            </a:r>
          </a:p>
          <a:p>
            <a:pPr>
              <a:spcAft>
                <a:spcPts val="800"/>
              </a:spcAft>
            </a:pPr>
            <a:r>
              <a:rPr sz="1600" b="0" i="0">
                <a:solidFill>
                  <a:srgbClr val="1A1440"/>
                </a:solidFill>
                <a:latin typeface="Calibri"/>
              </a:rPr>
              <a:t>d) Driver payments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true numbers and leaves the reader to find the point. c says what is true and what to do about it, so a reader can act on the title alone: chapter 1's rule, the title is the claim, and Ramesh's title c on the kirana shop worked the same way.</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Nine numbers from Monday's dashboard, each given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+24 percent and completed peak trips +3 percent</a:t>
            </a:r>
          </a:p>
          <a:p>
            <a:pPr>
              <a:spcAft>
                <a:spcPts val="800"/>
              </a:spcAft>
            </a:pPr>
            <a:r>
              <a:rPr sz="1600" b="0" i="0">
                <a:solidFill>
                  <a:srgbClr val="1A1440"/>
                </a:solidFill>
                <a:latin typeface="Calibri"/>
              </a:rPr>
              <a:t>b) Trips per peak online hour 1.90 to 1.58 and top-up to low acceptance 61 percent</a:t>
            </a:r>
          </a:p>
          <a:p>
            <a:pPr>
              <a:spcAft>
                <a:spcPts val="800"/>
              </a:spcAft>
            </a:pPr>
            <a:r>
              <a:rPr sz="1600" b="0" i="0">
                <a:solidFill>
                  <a:srgbClr val="1A1440"/>
                </a:solidFill>
                <a:latin typeface="Calibri"/>
              </a:rPr>
              <a:t>c) Median rider wait 4.8 to 4.6 minutes and new drivers since launch 140</a:t>
            </a:r>
          </a:p>
          <a:p>
            <a:pPr>
              <a:spcAft>
                <a:spcPts val="800"/>
              </a:spcAft>
            </a:pPr>
            <a:r>
              <a:rPr sz="1600" b="0" i="0">
                <a:solidFill>
                  <a:srgbClr val="1A1440"/>
                </a:solidFill>
                <a:latin typeface="Calibri"/>
              </a:rPr>
              <a:t>d) Acceptance share 86 to 73 percent and top-up paid Rs 1.9 crore</a:t>
            </a:r>
          </a:p>
          <a:p>
            <a:pPr>
              <a:spcAft>
                <a:spcPts val="800"/>
              </a:spcAft>
            </a:pPr>
            <a:r>
              <a:rPr sz="1600" b="0" i="0">
                <a:solidFill>
                  <a:srgbClr val="1A1440"/>
                </a:solidFill>
                <a:latin typeface="Calibri"/>
              </a:rPr>
              <a:t>The </a:t>
            </a:r>
            <a:r>
              <a:rPr sz="1600" b="1" i="0">
                <a:solidFill>
                  <a:srgbClr val="1A1440"/>
                </a:solidFill>
                <a:latin typeface="Calibri"/>
              </a:rPr>
              <a:t>acceptance share</a:t>
            </a:r>
            <a:r>
              <a:rPr sz="1600" b="0" i="0">
                <a:solidFill>
                  <a:srgbClr val="1A1440"/>
                </a:solidFill>
                <a:latin typeface="Calibri"/>
              </a:rPr>
              <a:t> is requests a driver accepted over requests offered to them. </a:t>
            </a:r>
            <a:r>
              <a:rPr sz="1600" b="1" i="0">
                <a:solidFill>
                  <a:srgbClr val="1A1440"/>
                </a:solidFill>
                <a:latin typeface="Calibri"/>
              </a:rPr>
              <a:t>Low acceptance</a:t>
            </a:r>
            <a:r>
              <a:rPr sz="1600" b="0" i="0">
                <a:solidFill>
                  <a:srgbClr val="1A1440"/>
                </a:solidFill>
                <a:latin typeface="Calibri"/>
              </a:rPr>
              <a:t> means a driver-week that accepted fewer than half the requests offered: after the launch, these are the idle tail's weeks.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2585686" y="1664208"/>
            <a:ext cx="7020321"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At a flat fare, fewer trips per online hour means lower bookings per online hour, Rs 314 to Rs 260, and that fall is the chart. The 61 percent, the one number beside it, says where the top-up went. Option a is Monday's trap resold: online hours rose 24 percent while riders barely gained.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"Most of the top-up went to driver-weeks that accepted fewer than half their offers." Choose the one number that proves it, and keep the monsoon caveat beside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7049047"/>
                <a:gridCol w="1707100"/>
                <a:gridCol w="2374843"/>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1,060</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(a declined request is offered again)</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86 percent</a:t>
                      </a:r>
                    </a:p>
                  </a:txBody>
                  <a:tcPr marL="101600" marR="101600" marT="38100" marB="38100" anchor="ctr">
                    <a:solidFill>
                      <a:srgbClr val="F4F2FA"/>
                    </a:solidFill>
                  </a:tcPr>
                </a:tc>
                <a:tc>
                  <a:txBody>
                    <a:bodyPr/>
                    <a:lstStyle/>
                    <a:p>
                      <a:r>
                        <a:rPr sz="1200" b="0" i="0">
                          <a:solidFill>
                            <a:srgbClr val="1A1440"/>
                          </a:solidFill>
                          <a:latin typeface="Calibri"/>
                        </a:rPr>
                        <a:t>73 percent</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4 percent</a:t>
                      </a:r>
                    </a:p>
                  </a:txBody>
                  <a:tcPr marL="101600" marR="101600" marT="38100" marB="38100" anchor="ctr">
                    <a:solidFill>
                      <a:srgbClr val="FFFFFF"/>
                    </a:solidFill>
                  </a:tcPr>
                </a:tc>
                <a:tc>
                  <a:txBody>
                    <a:bodyPr/>
                    <a:lstStyle/>
                    <a:p>
                      <a:r>
                        <a:rPr sz="1200" b="0" i="0">
                          <a:solidFill>
                            <a:srgbClr val="1A1440"/>
                          </a:solidFill>
                          <a:latin typeface="Calibri"/>
                        </a:rPr>
                        <a:t>9 percent</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11 percent</a:t>
                      </a:r>
                    </a:p>
                  </a:txBody>
                  <a:tcPr marL="101600" marR="101600" marT="38100" marB="38100" anchor="ctr">
                    <a:solidFill>
                      <a:srgbClr val="FFFFFF"/>
                    </a:solidFill>
                  </a:tcPr>
                </a:tc>
                <a:tc>
                  <a:txBody>
                    <a:bodyPr/>
                    <a:lstStyle/>
                    <a:p>
                      <a:r>
                        <a:rPr sz="1200" b="0" i="0">
                          <a:solidFill>
                            <a:srgbClr val="1A1440"/>
                          </a:solidFill>
                          <a:latin typeface="Calibri"/>
                        </a:rPr>
                        <a:t>10 percent</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denominators, three verdicts on twelve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one week before the launch and one after, say when the denominator changes?</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1425450"/>
                <a:gridCol w="1566346"/>
                <a:gridCol w="1566346"/>
                <a:gridCol w="1262878"/>
                <a:gridCol w="1566346"/>
                <a:gridCol w="1566346"/>
                <a:gridCol w="1262878"/>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10 Aug</a:t>
                      </a:r>
                    </a:p>
                  </a:txBody>
                  <a:tcPr marL="101600" marR="101600" marT="38100" marB="38100" anchor="ctr">
                    <a:solidFill>
                      <a:srgbClr val="1A0F5C"/>
                    </a:solidFill>
                  </a:tcPr>
                </a:tc>
                <a:tc>
                  <a:txBody>
                    <a:bodyPr/>
                    <a:lstStyle/>
                    <a:p>
                      <a:r>
                        <a:rPr sz="1250" b="1" i="0">
                          <a:solidFill>
                            <a:srgbClr val="FFFFFF"/>
                          </a:solidFill>
                          <a:latin typeface="Calibri"/>
                        </a:rPr>
                        <a:t>Trips, 10 Aug</a:t>
                      </a:r>
                    </a:p>
                  </a:txBody>
                  <a:tcPr marL="101600" marR="101600" marT="38100" marB="38100" anchor="ctr">
                    <a:solidFill>
                      <a:srgbClr val="1A0F5C"/>
                    </a:solidFill>
                  </a:tcPr>
                </a:tc>
                <a:tc>
                  <a:txBody>
                    <a:bodyPr/>
                    <a:lstStyle/>
                    <a:p>
                      <a:r>
                        <a:rPr sz="1250" b="1" i="0">
                          <a:solidFill>
                            <a:srgbClr val="FFFFFF"/>
                          </a:solidFill>
                          <a:latin typeface="Calibri"/>
                        </a:rPr>
                        <a:t>Rs, 10 Aug</a:t>
                      </a:r>
                    </a:p>
                  </a:txBody>
                  <a:tcPr marL="101600" marR="101600" marT="38100" marB="38100" anchor="ctr">
                    <a:solidFill>
                      <a:srgbClr val="1A0F5C"/>
                    </a:solidFill>
                  </a:tcPr>
                </a:tc>
                <a:tc>
                  <a:txBody>
                    <a:bodyPr/>
                    <a:lstStyle/>
                    <a:p>
                      <a:r>
                        <a:rPr sz="1250" b="1" i="0">
                          <a:solidFill>
                            <a:srgbClr val="FFFFFF"/>
                          </a:solidFill>
                          <a:latin typeface="Calibri"/>
                        </a:rPr>
                        <a:t>Hours, 21 Sep</a:t>
                      </a:r>
                    </a:p>
                  </a:txBody>
                  <a:tcPr marL="101600" marR="101600" marT="38100" marB="38100" anchor="ctr">
                    <a:solidFill>
                      <a:srgbClr val="1A0F5C"/>
                    </a:solidFill>
                  </a:tcPr>
                </a:tc>
                <a:tc>
                  <a:txBody>
                    <a:bodyPr/>
                    <a:lstStyle/>
                    <a:p>
                      <a:r>
                        <a:rPr sz="1250" b="1" i="0">
                          <a:solidFill>
                            <a:srgbClr val="FFFFFF"/>
                          </a:solidFill>
                          <a:latin typeface="Calibri"/>
                        </a:rPr>
                        <a:t>Trips, 21 Sep</a:t>
                      </a:r>
                    </a:p>
                  </a:txBody>
                  <a:tcPr marL="101600" marR="101600" marT="38100" marB="38100" anchor="ctr">
                    <a:solidFill>
                      <a:srgbClr val="1A0F5C"/>
                    </a:solidFill>
                  </a:tcPr>
                </a:tc>
                <a:tc>
                  <a:txBody>
                    <a:bodyPr/>
                    <a:lstStyle/>
                    <a:p>
                      <a:r>
                        <a:rPr sz="1250" b="1" i="0">
                          <a:solidFill>
                            <a:srgbClr val="FFFFFF"/>
                          </a:solidFill>
                          <a:latin typeface="Calibri"/>
                        </a:rPr>
                        <a:t>Rs, 21 Sep</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does the city's per-driver-week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six drivers, rupees per driver-week fell 23 percent; city-wide, it rose 0.8 percent. Why?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Recall chapter 1: </a:t>
            </a:r>
            <a:r>
              <a:rPr sz="1500" b="0" i="0">
                <a:solidFill>
                  <a:srgbClr val="1A1440"/>
                </a:solidFill>
                <a:latin typeface="Calibri"/>
              </a:rPr>
              <a:t>the denominator picks the direction. Ramesh's shop rose per day and fell per hour on the same rupees.</a:t>
            </a:r>
          </a:p>
        </p:txBody>
      </p:sp>
      <p:sp>
        <p:nvSpPr>
          <p:cNvPr id="12" name="TextBox 11"/>
          <p:cNvSpPr txBox="1"/>
          <p:nvPr/>
        </p:nvSpPr>
        <p:spPr>
          <a:xfrm>
            <a:off x="530352" y="29291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140 new drivers earned more than the rest</a:t>
            </a:r>
          </a:p>
          <a:p>
            <a:pPr>
              <a:spcAft>
                <a:spcPts val="800"/>
              </a:spcAft>
            </a:pPr>
            <a:r>
              <a:rPr sz="1600" b="0" i="0">
                <a:solidFill>
                  <a:srgbClr val="1A1440"/>
                </a:solidFill>
                <a:latin typeface="Calibri"/>
              </a:rPr>
              <a:t>b) Each driver-week carried more online hours</a:t>
            </a:r>
          </a:p>
          <a:p>
            <a:pPr>
              <a:spcAft>
                <a:spcPts val="800"/>
              </a:spcAft>
            </a:pPr>
            <a:r>
              <a:rPr sz="1600" b="0" i="0">
                <a:solidFill>
                  <a:srgbClr val="1A1440"/>
                </a:solidFill>
                <a:latin typeface="Calibri"/>
              </a:rPr>
              <a:t>c) The fare rose after the launch</a:t>
            </a:r>
          </a:p>
          <a:p>
            <a:pPr>
              <a:spcAft>
                <a:spcPts val="800"/>
              </a:spcAft>
            </a:pPr>
            <a:r>
              <a:rPr sz="1600" b="0" i="0">
                <a:solidFill>
                  <a:srgbClr val="1A1440"/>
                </a:solidFill>
                <a:latin typeface="Calibri"/>
              </a:rPr>
              <a:t>d) Fewer drivers sat idle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hours a driver-week, less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rupees per driver-week rise while rupees per hour fall?</a:t>
            </a:r>
          </a:p>
        </p:txBody>
      </p:sp>
      <p:pic>
        <p:nvPicPr>
          <p:cNvPr id="9" name="mermaid diagram" descr="C2_W04_D02_three_reads_STUDENT.png"/>
          <p:cNvPicPr>
            <a:picLocks noChangeAspect="1"/>
          </p:cNvPicPr>
          <p:nvPr/>
        </p:nvPicPr>
        <p:blipFill>
          <a:blip r:embed="rId4"/>
          <a:stretch>
            <a:fillRect/>
          </a:stretch>
        </p:blipFill>
        <p:spPr>
          <a:xfrm>
            <a:off x="3121654" y="1664208"/>
            <a:ext cx="5948386"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Rupees per driver-week is rupees per hour times hours per driver-week, so the hours are Rs 5,817 / Rs 313.5 = 18.6 a driver-week before and Rs 5,861 / Rs 260.4 = 22.5 after. Each driver-week carried about four more online hours while each hour brought in 17 percent less. Each line is the week over its before-window average, times 100; the amber line rose, then slid below 100.</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good about the scheme?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3195828"/>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14249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Bookings rose 3.0 percent and active driver-weeks 2.2 percent (6,360 to 6,500), so the ratio rose 0.8 percent (1.030 / 1.022 = 1.008). The rise was bought with hours: 21 percent more online hours a driver-week for 17 percent less per hour. The 140 drivers who joined after the launch drove about one week each, at Rs 4,314 a driver-week, so they pulled the read down; for the drivers there before the launch, it rose 1.4 percent.</a:t>
            </a:r>
          </a:p>
        </p:txBody>
      </p:sp>
      <p:sp>
        <p:nvSpPr>
          <p:cNvPr id="15" name="Rounded Rectangle 14"/>
          <p:cNvSpPr/>
          <p:nvPr/>
        </p:nvSpPr>
        <p:spPr>
          <a:xfrm>
            <a:off x="530352" y="49682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0962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087112"/>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for, the peak online hour, and the presenter says it aloud.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2" name="Oval 2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4" name="Oval 23"/>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6" name="Oval 25"/>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1.578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Rupees per hour is the fare times trips per hour, so the two routes always agree; the split shows which half moved.</a:t>
            </a:r>
            <a:r>
              <a:rPr sz="1600" b="0" i="0">
                <a:solidFill>
                  <a:srgbClr val="1A1440"/>
                </a:solidFill>
                <a:latin typeface="Calibri"/>
              </a:rPr>
              <a:t> The fare held, so the whole fall is trips per hour, 1.90 to 1.578 (230,900 / 146,300, printed as 1.58). The finance partner will ask whether riders paid less; they did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8" name="Oval 2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092b409cb85c5f94.png"/>
          <p:cNvPicPr>
            <a:picLocks noChangeAspect="1"/>
          </p:cNvPicPr>
          <p:nvPr/>
        </p:nvPicPr>
        <p:blipFill>
          <a:blip r:embed="rId5"/>
          <a:stretch>
            <a:fillRect/>
          </a:stretch>
        </p:blipFill>
        <p:spPr>
          <a:xfrm>
            <a:off x="2152497" y="1956816"/>
            <a:ext cx="7886700" cy="2100262"/>
          </a:xfrm>
          <a:prstGeom prst="rect">
            <a:avLst/>
          </a:prstGeom>
        </p:spPr>
      </p:pic>
      <p:sp>
        <p:nvSpPr>
          <p:cNvPr id="10" name="TextBox 9"/>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4 adds</a:t>
            </a:r>
            <a:r>
              <a:rPr sz="1600" b="0" i="0">
                <a:solidFill>
                  <a:srgbClr val="1A1440"/>
                </a:solidFill>
                <a:latin typeface="Calibri"/>
              </a:rPr>
              <a:t> the claim (the scheme pays for idle hours) and its denominator (Rs 314 to Rs 260 per peak online hour). </a:t>
            </a:r>
            <a:r>
              <a:rPr sz="1600" b="1" i="0">
                <a:solidFill>
                  <a:srgbClr val="1A1440"/>
                </a:solidFill>
                <a:latin typeface="Calibri"/>
              </a:rPr>
              <a:t>Said plainly:</a:t>
            </a:r>
            <a:r>
              <a:rPr sz="1600" b="0" i="0">
                <a:solidFill>
                  <a:srgbClr val="1A1440"/>
                </a:solidFill>
                <a:latin typeface="Calibri"/>
              </a:rPr>
              <a:t> "An hour online used to bring in Rs 314 of fares and now brings in Rs 260, because more of those hours have no rider." </a:t>
            </a:r>
            <a:r>
              <a:rPr sz="1600" b="1" i="0">
                <a:solidFill>
                  <a:srgbClr val="1A1440"/>
                </a:solidFill>
                <a:latin typeface="Calibri"/>
              </a:rPr>
              <a:t>In the interview</a:t>
            </a:r>
            <a:r>
              <a:rPr sz="1600" b="0" i="0">
                <a:solidFill>
                  <a:srgbClr val="1A1440"/>
                </a:solidFill>
                <a:latin typeface="Calibri"/>
              </a:rPr>
              <a:t> [S], this programme's tag for a staple asked everywhere: present a recommendation to a non-technical stakeholder in two minutes, opening on that sentence.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Uber's three objections, answered by defending under challenge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applied: three roles, each partly right; the four moves in two studio rounds; and the appendix drawer with one page per role's question.</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defence applies chapters 3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Defending under challenge: restate, answer, concede, what would change your mind (chapter 3); What to leave out, and the appendix (chapter 2).</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analyst whose slide must survive three roles who each lose something under it, and the city head, who sides with nobody until the evidence is on the table.</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Whose side is the city head on?</a:t>
            </a:r>
          </a:p>
        </p:txBody>
      </p:sp>
      <p:sp>
        <p:nvSpPr>
          <p:cNvPr id="20" name="TextBox 19"/>
          <p:cNvSpPr txBox="1"/>
          <p:nvPr/>
        </p:nvSpPr>
        <p:spPr>
          <a:xfrm>
            <a:off x="694944"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Three objections, one vote.</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part of each is true?</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true part, conceded; the rest, answered.</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full defence sound like?</a:t>
            </a:r>
          </a:p>
        </p:txBody>
      </p:sp>
      <p:sp>
        <p:nvSpPr>
          <p:cNvPr id="30" name="TextBox 29"/>
          <p:cNvSpPr txBox="1"/>
          <p:nvPr/>
        </p:nvSpPr>
        <p:spPr>
          <a:xfrm>
            <a:off x="6351879"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four moves, modelled, then practised.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goes behind the slide?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One appendix page per role's question.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role will the city head side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the three objections land, whose side is the city head 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driver-operations lead: "Drivers will log off and supply at peak will fall"</a:t>
            </a:r>
          </a:p>
          <a:p>
            <a:pPr>
              <a:spcAft>
                <a:spcPts val="800"/>
              </a:spcAft>
            </a:pPr>
            <a:r>
              <a:rPr sz="1600" b="0" i="0">
                <a:solidFill>
                  <a:srgbClr val="1A1440"/>
                </a:solidFill>
                <a:latin typeface="Calibri"/>
              </a:rPr>
              <a:t>b) The marketing lead: "The guarantee is on every hoarding; changing it six weeks in looks like bait"</a:t>
            </a:r>
          </a:p>
          <a:p>
            <a:pPr>
              <a:spcAft>
                <a:spcPts val="800"/>
              </a:spcAft>
            </a:pPr>
            <a:r>
              <a:rPr sz="1600" b="0" i="0">
                <a:solidFill>
                  <a:srgbClr val="1A1440"/>
                </a:solidFill>
                <a:latin typeface="Calibri"/>
              </a:rPr>
              <a:t>c) The finance partner: "The fall in bookings per hour is the monsoon ending"</a:t>
            </a:r>
          </a:p>
          <a:p>
            <a:pPr>
              <a:spcAft>
                <a:spcPts val="800"/>
              </a:spcAft>
            </a:pPr>
            <a:r>
              <a:rPr sz="1600" b="0" i="0">
                <a:solidFill>
                  <a:srgbClr val="1A1440"/>
                </a:solidFill>
                <a:latin typeface="Calibri"/>
              </a:rPr>
              <a:t>d) None of them outright, because each objection is partly right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each objection is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31670"/>
          <a:ext cx="11130989" cy="2688336"/>
        </p:xfrm>
        <a:graphic>
          <a:graphicData uri="http://schemas.openxmlformats.org/drawingml/2006/table">
            <a:tbl>
              <a:tblPr firstRow="0" bandRow="0">
                <a:tableStyleId>{2D5ABB26-0587-4C30-8999-92F81FD0307C}</a:tableStyleId>
              </a:tblPr>
              <a:tblGrid>
                <a:gridCol w="1537309"/>
                <a:gridCol w="4796840"/>
                <a:gridCol w="4796840"/>
              </a:tblGrid>
              <a:tr h="369824">
                <a:tc>
                  <a:txBody>
                    <a:bodyPr/>
                    <a:lstStyle/>
                    <a:p>
                      <a:r>
                        <a:rPr sz="1450" b="1" i="0">
                          <a:solidFill>
                            <a:srgbClr val="FFFFFF"/>
                          </a:solidFill>
                          <a:latin typeface="Calibri"/>
                        </a:rPr>
                        <a:t>Role</a:t>
                      </a:r>
                    </a:p>
                  </a:txBody>
                  <a:tcPr marL="101600" marR="101600" marT="38100" marB="38100" anchor="ctr">
                    <a:solidFill>
                      <a:srgbClr val="1A0F5C"/>
                    </a:solidFill>
                  </a:tcPr>
                </a:tc>
                <a:tc>
                  <a:txBody>
                    <a:bodyPr/>
                    <a:lstStyle/>
                    <a:p>
                      <a:r>
                        <a:rPr sz="1450" b="1" i="0">
                          <a:solidFill>
                            <a:srgbClr val="FFFFFF"/>
                          </a:solidFill>
                          <a:latin typeface="Calibri"/>
                        </a:rPr>
                        <a:t>The true part</a:t>
                      </a:r>
                    </a:p>
                  </a:txBody>
                  <a:tcPr marL="101600" marR="101600" marT="38100" marB="38100" anchor="ctr">
                    <a:solidFill>
                      <a:srgbClr val="1A0F5C"/>
                    </a:solidFill>
                  </a:tcPr>
                </a:tc>
                <a:tc>
                  <a:txBody>
                    <a:bodyPr/>
                    <a:lstStyle/>
                    <a:p>
                      <a:r>
                        <a:rPr sz="1450" b="1" i="0">
                          <a:solidFill>
                            <a:srgbClr val="FFFFFF"/>
                          </a:solidFill>
                          <a:latin typeface="Calibri"/>
                        </a:rPr>
                        <a:t>The part the evidence answers</a:t>
                      </a:r>
                    </a:p>
                  </a:txBody>
                  <a:tcPr marL="101600" marR="101600" marT="38100" marB="38100" anchor="ctr">
                    <a:solidFill>
                      <a:srgbClr val="1A0F5C"/>
                    </a:solidFill>
                  </a:tcPr>
                </a:tc>
              </a:tr>
              <a:tr h="853440">
                <a:tc>
                  <a:txBody>
                    <a:bodyPr/>
                    <a:lstStyle/>
                    <a:p>
                      <a:r>
                        <a:rPr sz="1400" b="0" i="0">
                          <a:solidFill>
                            <a:srgbClr val="1A1440"/>
                          </a:solidFill>
                          <a:latin typeface="Calibri"/>
                        </a:rPr>
                        <a:t>Driver operations</a:t>
                      </a:r>
                    </a:p>
                  </a:txBody>
                  <a:tcPr marL="101600" marR="101600" marT="38100" marB="38100" anchor="ctr">
                    <a:solidFill>
                      <a:srgbClr val="FFFFFF"/>
                    </a:solidFill>
                  </a:tcPr>
                </a:tc>
                <a:tc>
                  <a:txBody>
                    <a:bodyPr/>
                    <a:lstStyle/>
                    <a:p>
                      <a:r>
                        <a:rPr sz="14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400" b="0" i="0">
                          <a:solidFill>
                            <a:srgbClr val="1A1440"/>
                          </a:solidFill>
                          <a:latin typeface="Calibri"/>
                        </a:rPr>
                        <a:t>The other 880 drivers, there before the launch, held at 1.90 trips per online hour and keep the floor if they accept</a:t>
                      </a:r>
                    </a:p>
                  </a:txBody>
                  <a:tcPr marL="101600" marR="101600" marT="38100" marB="38100" anchor="ctr">
                    <a:solidFill>
                      <a:srgbClr val="FFFFFF"/>
                    </a:solidFill>
                  </a:tcPr>
                </a:tc>
              </a:tr>
              <a:tr h="611632">
                <a:tc>
                  <a:txBody>
                    <a:bodyPr/>
                    <a:lstStyle/>
                    <a:p>
                      <a:r>
                        <a:rPr sz="1400" b="0" i="0">
                          <a:solidFill>
                            <a:srgbClr val="1A1440"/>
                          </a:solidFill>
                          <a:latin typeface="Calibri"/>
                        </a:rPr>
                        <a:t>Marketing</a:t>
                      </a:r>
                    </a:p>
                  </a:txBody>
                  <a:tcPr marL="101600" marR="101600" marT="38100" marB="38100" anchor="ctr">
                    <a:solidFill>
                      <a:srgbClr val="F4F2FA"/>
                    </a:solidFill>
                  </a:tcPr>
                </a:tc>
                <a:tc>
                  <a:txBody>
                    <a:bodyPr/>
                    <a:lstStyle/>
                    <a:p>
                      <a:r>
                        <a:rPr sz="14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4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853440">
                <a:tc>
                  <a:txBody>
                    <a:bodyPr/>
                    <a:lstStyle/>
                    <a:p>
                      <a:r>
                        <a:rPr sz="1400" b="0" i="0">
                          <a:solidFill>
                            <a:srgbClr val="1A1440"/>
                          </a:solidFill>
                          <a:latin typeface="Calibri"/>
                        </a:rPr>
                        <a:t>Finance</a:t>
                      </a:r>
                    </a:p>
                  </a:txBody>
                  <a:tcPr marL="101600" marR="101600" marT="38100" marB="38100" anchor="ctr">
                    <a:solidFill>
                      <a:srgbClr val="FFFFFF"/>
                    </a:solidFill>
                  </a:tcPr>
                </a:tc>
                <a:tc>
                  <a:txBody>
                    <a:bodyPr/>
                    <a:lstStyle/>
                    <a:p>
                      <a:r>
                        <a:rPr sz="1400" b="0" i="0">
                          <a:solidFill>
                            <a:srgbClr val="1A1440"/>
                          </a:solidFill>
                          <a:latin typeface="Calibri"/>
                        </a:rPr>
                        <a:t>The monsoon ended inside the six weeks, and last year's weeks are not in the data</a:t>
                      </a:r>
                    </a:p>
                  </a:txBody>
                  <a:tcPr marL="101600" marR="101600" marT="38100" marB="38100" anchor="ctr">
                    <a:solidFill>
                      <a:srgbClr val="FFFFFF"/>
                    </a:solidFill>
                  </a:tcPr>
                </a:tc>
                <a:tc>
                  <a:txBody>
                    <a:bodyPr/>
                    <a:lstStyle/>
                    <a:p>
                      <a:r>
                        <a:rPr sz="1400" b="0" i="0">
                          <a:solidFill>
                            <a:srgbClr val="1A1440"/>
                          </a:solidFill>
                          <a:latin typeface="Calibri"/>
                        </a:rPr>
                        <a:t>In the last three weeks requests were back at the before level and trips per hour still ran at 1.56</a:t>
                      </a:r>
                    </a:p>
                  </a:txBody>
                  <a:tcPr marL="101600" marR="101600" marT="38100" marB="38100" anchor="ctr">
                    <a:solidFill>
                      <a:srgbClr val="FFFFFF"/>
                    </a:solidFill>
                  </a:tcPr>
                </a:tc>
              </a:tr>
            </a:tbl>
          </a:graphicData>
        </a:graphic>
      </p:graphicFrame>
      <p:sp>
        <p:nvSpPr>
          <p:cNvPr id="10" name="Rounded Rectangle 9"/>
          <p:cNvSpPr/>
          <p:nvPr/>
        </p:nvSpPr>
        <p:spPr>
          <a:xfrm>
            <a:off x="530352" y="487603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0405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94910"/>
            <a:ext cx="10564063" cy="891540"/>
          </a:xfrm>
          <a:prstGeom prst="rect">
            <a:avLst/>
          </a:prstGeom>
          <a:noFill/>
        </p:spPr>
        <p:txBody>
          <a:bodyPr wrap="square" anchor="ctr" lIns="0" rIns="0" tIns="0" bIns="0">
            <a:spAutoFit/>
          </a:bodyPr>
          <a:lstStyle/>
          <a:p>
            <a:r>
              <a:rPr sz="1500" b="1">
                <a:solidFill>
                  <a:srgbClr val="5B3FD6"/>
                </a:solidFill>
                <a:latin typeface="Calibri"/>
              </a:rPr>
              <a:t>The answer is d. </a:t>
            </a:r>
            <a:r>
              <a:rPr sz="1500" b="0" i="0">
                <a:solidFill>
                  <a:srgbClr val="1A1440"/>
                </a:solidFill>
                <a:latin typeface="Calibri"/>
              </a:rPr>
              <a:t>A defence that sides with no one concedes each true part out loud and answers the rest from a line of evidence. Finance's row is the hardest: weekly requests fell four weeks running from 7 September, so the six-week rise of 1.8 percent hides that decline; the last three weeks answer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scorer's card: four moves, ticked as heard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Rounded Rectangle 29"/>
          <p:cNvSpPr/>
          <p:nvPr/>
        </p:nvSpPr>
        <p:spPr>
          <a:xfrm>
            <a:off x="530352" y="41036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2316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222496"/>
            <a:ext cx="10564063" cy="624840"/>
          </a:xfrm>
          <a:prstGeom prst="rect">
            <a:avLst/>
          </a:prstGeom>
          <a:noFill/>
        </p:spPr>
        <p:txBody>
          <a:bodyPr wrap="square" anchor="ctr" lIns="0" rIns="0" tIns="0" bIns="0">
            <a:spAutoFit/>
          </a:bodyPr>
          <a:lstStyle/>
          <a:p>
            <a:r>
              <a:rPr sz="1500" b="1">
                <a:solidFill>
                  <a:srgbClr val="5B3FD6"/>
                </a:solidFill>
                <a:latin typeface="Calibri"/>
              </a:rPr>
              <a:t>Chapter 3's four moves, on one card. </a:t>
            </a:r>
            <a:r>
              <a:rPr sz="1500" b="0" i="0">
                <a:solidFill>
                  <a:srgbClr val="1A1440"/>
                </a:solidFill>
                <a:latin typeface="Calibri"/>
              </a:rPr>
              <a:t>The scorer ticks each move as it is heard and never scores the final number.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7" name="Oval 3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1" name="Oval 4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9568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22580"/>
          </a:xfrm>
          <a:prstGeom prst="rect">
            <a:avLst/>
          </a:prstGeom>
          <a:noFill/>
        </p:spPr>
        <p:txBody>
          <a:bodyPr wrap="square" anchor="ctr" lIns="0" rIns="0" tIns="0" bIns="0">
            <a:spAutoFit/>
          </a:bodyPr>
          <a:lstStyle/>
          <a:p>
            <a:r>
              <a:rPr sz="1300" b="1">
                <a:solidFill>
                  <a:srgbClr val="5B3FD6"/>
                </a:solidFill>
                <a:latin typeface="Calibri"/>
              </a:rPr>
              <a:t>Restate. </a:t>
            </a:r>
            <a:r>
              <a:rPr sz="13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626868"/>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54884"/>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45740"/>
            <a:ext cx="10564063" cy="1016000"/>
          </a:xfrm>
          <a:prstGeom prst="rect">
            <a:avLst/>
          </a:prstGeom>
          <a:noFill/>
        </p:spPr>
        <p:txBody>
          <a:bodyPr wrap="square" anchor="ctr" lIns="0" rIns="0" tIns="0" bIns="0">
            <a:spAutoFit/>
          </a:bodyPr>
          <a:lstStyle/>
          <a:p>
            <a:r>
              <a:rPr sz="1300" b="1">
                <a:solidFill>
                  <a:srgbClr val="5B3FD6"/>
                </a:solidFill>
                <a:latin typeface="Calibri"/>
              </a:rPr>
              <a:t>Answer. </a:t>
            </a:r>
            <a:r>
              <a:rPr sz="1300" b="0" i="0">
                <a:solidFill>
                  <a:srgbClr val="1A1440"/>
                </a:solidFill>
                <a:latin typeface="Calibri"/>
              </a:rPr>
              <a:t>"Two lines of evidence point at the scheme: in the last three weeks after the launch, requests were back at the before window's level and trips per online hour still ran at 1.56; and the drivers who were there before the launch fell from 1.90 to 1.58 as a group, all of it in the 180 of the idle tail while the other 880 held at 1.90, so the new drivers do not explain it."</a:t>
            </a:r>
          </a:p>
        </p:txBody>
      </p:sp>
      <p:sp>
        <p:nvSpPr>
          <p:cNvPr id="15" name="Rounded Rectangle 14"/>
          <p:cNvSpPr/>
          <p:nvPr/>
        </p:nvSpPr>
        <p:spPr>
          <a:xfrm>
            <a:off x="530352" y="3990340"/>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118356"/>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109212"/>
            <a:ext cx="10564063" cy="322580"/>
          </a:xfrm>
          <a:prstGeom prst="rect">
            <a:avLst/>
          </a:prstGeom>
          <a:noFill/>
        </p:spPr>
        <p:txBody>
          <a:bodyPr wrap="square" anchor="ctr" lIns="0" rIns="0" tIns="0" bIns="0">
            <a:spAutoFit/>
          </a:bodyPr>
          <a:lstStyle/>
          <a:p>
            <a:r>
              <a:rPr sz="1300" b="1">
                <a:solidFill>
                  <a:srgbClr val="5B3FD6"/>
                </a:solidFill>
                <a:latin typeface="Calibri"/>
              </a:rPr>
              <a:t>Concede. </a:t>
            </a:r>
            <a:r>
              <a:rPr sz="1300" b="0" i="0">
                <a:solidFill>
                  <a:srgbClr val="1A1440"/>
                </a:solidFill>
                <a:latin typeface="Calibri"/>
              </a:rPr>
              <a:t>"You are right that the monsoon ended inside the six weeks, and that last year's weeks are not in the data."</a:t>
            </a:r>
          </a:p>
        </p:txBody>
      </p:sp>
      <p:sp>
        <p:nvSpPr>
          <p:cNvPr id="18" name="Rounded Rectangle 17"/>
          <p:cNvSpPr/>
          <p:nvPr/>
        </p:nvSpPr>
        <p:spPr>
          <a:xfrm>
            <a:off x="530352" y="4660392"/>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4788408"/>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4779264"/>
            <a:ext cx="10564063" cy="553720"/>
          </a:xfrm>
          <a:prstGeom prst="rect">
            <a:avLst/>
          </a:prstGeom>
          <a:noFill/>
        </p:spPr>
        <p:txBody>
          <a:bodyPr wrap="square" anchor="ctr" lIns="0" rIns="0" tIns="0" bIns="0">
            <a:spAutoFit/>
          </a:bodyPr>
          <a:lstStyle/>
          <a:p>
            <a:r>
              <a:rPr sz="1300" b="1">
                <a:solidFill>
                  <a:srgbClr val="5B3FD6"/>
                </a:solidFill>
                <a:latin typeface="Calibri"/>
              </a:rPr>
              <a:t>What would change my mind. </a:t>
            </a:r>
            <a:r>
              <a:rPr sz="1300" b="0" i="0">
                <a:solidFill>
                  <a:srgbClr val="1A1440"/>
                </a:solidFill>
                <a:latin typeface="Calibri"/>
              </a:rPr>
              <a:t>"Last year's same six weeks showing a fall of this size, a city where the rains ended without the scheme showing the same fall,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5" name="Oval 2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7" name="Oval 2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9" name="Oval 2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Three turns of seven minutes. </a:t>
            </a:r>
            <a:r>
              <a:rPr sz="1500" b="0" i="0">
                <a:solidFill>
                  <a:srgbClr val="1A1440"/>
                </a:solidFill>
                <a:latin typeface="Calibri"/>
              </a:rPr>
              <a:t>The studio is the morning's practice: build a slide, present it, take an objection, get scored, rebuild. After each turn the seats rotate inside the three, so every member presents once, objects once and scores once.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caveat that the monsoon ended inside the window</a:t>
            </a:r>
          </a:p>
          <a:p>
            <a:pPr>
              <a:spcAft>
                <a:spcPts val="800"/>
              </a:spcAft>
            </a:pPr>
            <a:r>
              <a:rPr sz="1600" b="0" i="0">
                <a:solidFill>
                  <a:srgbClr val="1A1440"/>
                </a:solidFill>
                <a:latin typeface="Calibri"/>
              </a:rPr>
              <a:t>b) The per-driver-week and per-trip reads, with one line each on what moved them</a:t>
            </a:r>
          </a:p>
          <a:p>
            <a:pPr>
              <a:spcAft>
                <a:spcPts val="800"/>
              </a:spcAft>
            </a:pPr>
            <a:r>
              <a:rPr sz="1600" b="0" i="0">
                <a:solidFill>
                  <a:srgbClr val="1A1440"/>
                </a:solidFill>
                <a:latin typeface="Calibri"/>
              </a:rPr>
              <a:t>c) The action and its saving range</a:t>
            </a:r>
          </a:p>
          <a:p>
            <a:pPr>
              <a:spcAft>
                <a:spcPts val="800"/>
              </a:spcAft>
            </a:pPr>
            <a:r>
              <a:rPr sz="1600" b="0" i="0">
                <a:solidFill>
                  <a:srgbClr val="1A1440"/>
                </a:solidFill>
                <a:latin typeface="Calibri"/>
              </a:rPr>
              <a:t>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f1924848a388c978.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second draft argues that riders got little for the Rs 1.9 crore. Which two of its five elements carry that claim?</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Median rider wait at peak, 4.8 to 4.6 minutes</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Top-up for each extra trip: Rs 2,836, for a trip worth Rs 165</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table of acceptance share in each of the twelve zones, before and after</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c2da78d826bfdefa.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topics applied: claim, drawer,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do now that you could not do at the start of the morning?</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1 AND 4</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 and its denominator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scheme pays for idle hours: Rs 314 to Rs 260 per peak online hour, the fare flat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3 AND 5</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four moves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Restate, answer, concede, say what would change your mind</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rchive_cfa7931e203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2 AND 5</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appendix drawer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page per question a role will ask; the caveat stays on the slide</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afternoon opens on round two of the studio, then asks the second question on the ticket:</a:t>
            </a:r>
            <a:r>
              <a:rPr sz="1600" b="0" i="0">
                <a:solidFill>
                  <a:srgbClr val="1A1440"/>
                </a:solidFill>
                <a:latin typeface="Calibri"/>
              </a:rPr>
              <a:t> how many drivers the evening peak needs, sized without a dataset.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4" name="Oval 33"/>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6" name="Oval 35"/>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